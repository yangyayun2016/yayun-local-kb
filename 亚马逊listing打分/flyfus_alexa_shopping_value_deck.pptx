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6f31b73b7f4000" /><Relationship Type="http://schemas.openxmlformats.org/officeDocument/2006/relationships/extended-properties" Target="/docProps/app.xml" Id="R433d33b0a60d4bb4" /><Relationship Type="http://schemas.openxmlformats.org/officeDocument/2006/relationships/officeDocument" Target="/ppt/presentation.xml" Id="Rade416aa62684c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9b665ccada4ca4"/>
  </p:sldMasterIdLst>
  <p:notesMasterIdLst>
    <p:notesMasterId xmlns:r="http://schemas.openxmlformats.org/officeDocument/2006/relationships" r:id="R987ae8ec5c104f40"/>
  </p:notesMasterIdLst>
  <p:sldIdLst>
    <p:sldId xmlns:r="http://schemas.openxmlformats.org/officeDocument/2006/relationships" id="256" r:id="R682831d9cf9a4c02"/>
    <p:sldId xmlns:r="http://schemas.openxmlformats.org/officeDocument/2006/relationships" id="257" r:id="R1bd9d2379b9f473f"/>
    <p:sldId xmlns:r="http://schemas.openxmlformats.org/officeDocument/2006/relationships" id="258" r:id="R21fa9bd3dd9e4ab7"/>
    <p:sldId xmlns:r="http://schemas.openxmlformats.org/officeDocument/2006/relationships" id="259" r:id="Rea625c63658e47b2"/>
    <p:sldId xmlns:r="http://schemas.openxmlformats.org/officeDocument/2006/relationships" id="260" r:id="R7e8d531f77a846f2"/>
    <p:sldId xmlns:r="http://schemas.openxmlformats.org/officeDocument/2006/relationships" id="261" r:id="R370d1ed91bdd4005"/>
    <p:sldId xmlns:r="http://schemas.openxmlformats.org/officeDocument/2006/relationships" id="262" r:id="R1bc1ae3900ad4e0d"/>
    <p:sldId xmlns:r="http://schemas.openxmlformats.org/officeDocument/2006/relationships" id="263" r:id="R18c174da063b43e0"/>
    <p:sldId xmlns:r="http://schemas.openxmlformats.org/officeDocument/2006/relationships" id="264" r:id="R86a0e017e5a94f17"/>
    <p:sldId xmlns:r="http://schemas.openxmlformats.org/officeDocument/2006/relationships" id="265" r:id="R4ac81e6ec58a4b90"/>
    <p:sldId xmlns:r="http://schemas.openxmlformats.org/officeDocument/2006/relationships" id="266" r:id="R2135906a4cea49de"/>
    <p:sldId xmlns:r="http://schemas.openxmlformats.org/officeDocument/2006/relationships" id="267" r:id="Rea764b63f69942a6"/>
    <p:sldId xmlns:r="http://schemas.openxmlformats.org/officeDocument/2006/relationships" id="268" r:id="R97a36048d5b9455d"/>
    <p:sldId xmlns:r="http://schemas.openxmlformats.org/officeDocument/2006/relationships" id="269" r:id="R47ac4d321fee477b"/>
    <p:sldId xmlns:r="http://schemas.openxmlformats.org/officeDocument/2006/relationships" id="270" r:id="Rf1ac5839d686425c"/>
    <p:sldId xmlns:r="http://schemas.openxmlformats.org/officeDocument/2006/relationships" id="271" r:id="R35a622d1a84d4d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b665ccada4ca4" /><Relationship Type="http://schemas.openxmlformats.org/officeDocument/2006/relationships/theme" Target="/ppt/theme/theme1.xml" Id="Rabfb7a73a1a3410d" /><Relationship Type="http://schemas.openxmlformats.org/officeDocument/2006/relationships/notesMaster" Target="/ppt/notesMasters/notesMaster1.xml" Id="R987ae8ec5c104f40" /><Relationship Type="http://schemas.openxmlformats.org/officeDocument/2006/relationships/presProps" Target="/ppt/presProps.xml" Id="Ra2b56b889670404a" /><Relationship Type="http://schemas.openxmlformats.org/officeDocument/2006/relationships/viewProps" Target="/ppt/viewProps.xml" Id="R24d7cd710c8c429f" /><Relationship Type="http://schemas.openxmlformats.org/officeDocument/2006/relationships/tableStyles" Target="/ppt/tableStyles.xml" Id="Rfe27e77a2b664e16" /><Relationship Type="http://schemas.openxmlformats.org/officeDocument/2006/relationships/slide" Target="/ppt/slides/slide1.xml" Id="R682831d9cf9a4c02" /><Relationship Type="http://schemas.openxmlformats.org/officeDocument/2006/relationships/slide" Target="/ppt/slides/slide2.xml" Id="R1bd9d2379b9f473f" /><Relationship Type="http://schemas.openxmlformats.org/officeDocument/2006/relationships/slide" Target="/ppt/slides/slide3.xml" Id="R21fa9bd3dd9e4ab7" /><Relationship Type="http://schemas.openxmlformats.org/officeDocument/2006/relationships/slide" Target="/ppt/slides/slide4.xml" Id="Rea625c63658e47b2" /><Relationship Type="http://schemas.openxmlformats.org/officeDocument/2006/relationships/slide" Target="/ppt/slides/slide5.xml" Id="R7e8d531f77a846f2" /><Relationship Type="http://schemas.openxmlformats.org/officeDocument/2006/relationships/slide" Target="/ppt/slides/slide6.xml" Id="R370d1ed91bdd4005" /><Relationship Type="http://schemas.openxmlformats.org/officeDocument/2006/relationships/slide" Target="/ppt/slides/slide7.xml" Id="R1bc1ae3900ad4e0d" /><Relationship Type="http://schemas.openxmlformats.org/officeDocument/2006/relationships/slide" Target="/ppt/slides/slide8.xml" Id="R18c174da063b43e0" /><Relationship Type="http://schemas.openxmlformats.org/officeDocument/2006/relationships/slide" Target="/ppt/slides/slide9.xml" Id="R86a0e017e5a94f17" /><Relationship Type="http://schemas.openxmlformats.org/officeDocument/2006/relationships/slide" Target="/ppt/slides/slide10.xml" Id="R4ac81e6ec58a4b90" /><Relationship Type="http://schemas.openxmlformats.org/officeDocument/2006/relationships/slide" Target="/ppt/slides/slide11.xml" Id="R2135906a4cea49de" /><Relationship Type="http://schemas.openxmlformats.org/officeDocument/2006/relationships/slide" Target="/ppt/slides/slide12.xml" Id="Rea764b63f69942a6" /><Relationship Type="http://schemas.openxmlformats.org/officeDocument/2006/relationships/slide" Target="/ppt/slides/slide13.xml" Id="R97a36048d5b9455d" /><Relationship Type="http://schemas.openxmlformats.org/officeDocument/2006/relationships/slide" Target="/ppt/slides/slide14.xml" Id="R47ac4d321fee477b" /><Relationship Type="http://schemas.openxmlformats.org/officeDocument/2006/relationships/slide" Target="/ppt/slides/slide15.xml" Id="Rf1ac5839d686425c" /><Relationship Type="http://schemas.openxmlformats.org/officeDocument/2006/relationships/slide" Target="/ppt/slides/slide16.xml" Id="R35a622d1a84d4d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163e65ff8bd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af092e7c0e42c2" /><Relationship Type="http://schemas.openxmlformats.org/officeDocument/2006/relationships/notesMaster" Target="/ppt/notesMasters/notesMaster1.xml" Id="R218528acce9247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b52fbdfae44960" /><Relationship Type="http://schemas.openxmlformats.org/officeDocument/2006/relationships/notesMaster" Target="/ppt/notesMasters/notesMaster1.xml" Id="R99e79e84e9994b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f2a56ba02d4505" /><Relationship Type="http://schemas.openxmlformats.org/officeDocument/2006/relationships/notesMaster" Target="/ppt/notesMasters/notesMaster1.xml" Id="R8542e50924f040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f04b4b1fb145cd" /><Relationship Type="http://schemas.openxmlformats.org/officeDocument/2006/relationships/notesMaster" Target="/ppt/notesMasters/notesMaster1.xml" Id="Rd767a49877c34f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60abcf635b4db2" /><Relationship Type="http://schemas.openxmlformats.org/officeDocument/2006/relationships/notesMaster" Target="/ppt/notesMasters/notesMaster1.xml" Id="Rea02bdd8a4d24e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20236f02b24061" /><Relationship Type="http://schemas.openxmlformats.org/officeDocument/2006/relationships/notesMaster" Target="/ppt/notesMasters/notesMaster1.xml" Id="R1ff563b3734248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e80f7014224420" /><Relationship Type="http://schemas.openxmlformats.org/officeDocument/2006/relationships/notesMaster" Target="/ppt/notesMasters/notesMaster1.xml" Id="Rf1841b6431c14c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b05c0379464e9f" /><Relationship Type="http://schemas.openxmlformats.org/officeDocument/2006/relationships/notesMaster" Target="/ppt/notesMasters/notesMaster1.xml" Id="Re0ea67bb9b2046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481d222bef4ee0" /><Relationship Type="http://schemas.openxmlformats.org/officeDocument/2006/relationships/notesMaster" Target="/ppt/notesMasters/notesMaster1.xml" Id="Rb508bdda9a484a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8cdce197014de0" /><Relationship Type="http://schemas.openxmlformats.org/officeDocument/2006/relationships/notesMaster" Target="/ppt/notesMasters/notesMaster1.xml" Id="Rfb2c556d0a154b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453af74dd04435" /><Relationship Type="http://schemas.openxmlformats.org/officeDocument/2006/relationships/notesMaster" Target="/ppt/notesMasters/notesMaster1.xml" Id="R099983be4def44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a1e1224ffd4cd2" /><Relationship Type="http://schemas.openxmlformats.org/officeDocument/2006/relationships/notesMaster" Target="/ppt/notesMasters/notesMaster1.xml" Id="R9e330256d20348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f21cd4bbd2409f" /><Relationship Type="http://schemas.openxmlformats.org/officeDocument/2006/relationships/notesMaster" Target="/ppt/notesMasters/notesMaster1.xml" Id="R59b986cb270241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f5935c21e240a1" /><Relationship Type="http://schemas.openxmlformats.org/officeDocument/2006/relationships/notesMaster" Target="/ppt/notesMasters/notesMaster1.xml" Id="Raa9867a31fb249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aef1527f7a42b0" /><Relationship Type="http://schemas.openxmlformats.org/officeDocument/2006/relationships/notesMaster" Target="/ppt/notesMasters/notesMaster1.xml" Id="Re5960862d7804d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73a8bcf1bd43e3" /><Relationship Type="http://schemas.openxmlformats.org/officeDocument/2006/relationships/notesMaster" Target="/ppt/notesMasters/notesMaster1.xml" Id="R9f6fb191150343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官方：Alexa for Shopping 使用说明；Amazon 官方：Alexa for Shopping 发布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官方：2025年 Rufus 帮助超过3亿客户；Amazon 官方：250M用户、149%月活增长、210%互动增长、60%购买倾向；Amazon 投资者关系：Q3官方披露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官方：研究、比较、自动购买等功能；Amazon 官方：在搜索栏提问、对比、价格历史、自动任务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Science：Rufus 使用商品目录、评论、Q&amp;A等证据；Amazon Sell：AI工具会使用Listing内容、评论和Q&amp;A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官方：搜索栏问问题、AI概览、价格历史、定时任务；Amazon 官方：个性化推荐、加购、跨站发现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官方：搜索结果和详情页的AI概览；Amazon 官方：主搜索栏可直接问AI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Science 论文：COSMO 系统、搜索相关性、搜索导航和线上实验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Sell：让Listing易于AI理解、直接回答买家问题；Seller Central：Rufus 可利用商品详情、评论、Q&amp;A等；Amazon Science：COSMO 论文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Sell：优化Listing、回答常见问题、获取高质量评论；Amazon Science：Rufus 从可靠信息源选择证据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FlyFus 官方：1000万+ Rufus问答、12.8亿+ Review、10分钟深度报告、证据链；Amazon Science：Rufus 使用商品目录、评论、Q&amp;A和全网信息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官方：按活动、事件、用途找商品；Amazon Science：COSMO 从用户行为理解购买意图；FlyFus 官方：从Rufus问答找未满足诉求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Sell：优化标题、描述、关键词，回答买家问题；FlyFus 官方：Listing深度体检和动作清单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Science：Rufus 使用商品目录、评论、Q&amp;A等证据；Amazon Science：COSMO 从用户行为理解购买意图；FlyFus 官方：Rufus问答与评论数据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Science：Rufus 使用商品目录、评论、Q&amp;A等证据；Amazon Science：COSMO 搜索意图理解；Amazon Sell：让AI更容易理解Listing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官方：Alexa for Shopping 已进入搜索栏、搜索结果、商品页和Echo Show；Amazon 官方：Rufus用户、互动、购买倾向快速增长；Amazon Sell：AI工具和Listing质量提升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官方：Alexa for Shopping；Amazon Science：Rufus技术与信息来源；Amazon Science：COSMO论文；FlyFus 官方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dae89b3a9408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B885211F-B2B8-48B2-8FC5-95A9C6B9CC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35B17F8-58B7-4D82-8EEE-7FE14502599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AABC3B-245A-4345-A3BF-1BEC9466994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69FE46-996D-464C-AC0D-D5F5AD44B71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a0febf31c584f87" /><Relationship Type="http://schemas.openxmlformats.org/officeDocument/2006/relationships/slideLayout" Target="/ppt/slideLayouts/slideLayout2.xml" Id="R06863d4f1ac44f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C378E6-B1F9-44D6-B86D-98191405F00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863d4f1ac44f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00e80d048a46d9" /><Relationship Type="http://schemas.openxmlformats.org/officeDocument/2006/relationships/image" Target="/ppt/media/image.png" Id="R00dfdfe375f943f6" /><Relationship Type="http://schemas.openxmlformats.org/officeDocument/2006/relationships/notesSlide" Target="/ppt/notesSlides/notesSlide1.xml" Id="Racf9b3d20b804c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5c11209d5842eb" /><Relationship Type="http://schemas.openxmlformats.org/officeDocument/2006/relationships/image" Target="/ppt/media/image2.png" Id="R239e12643ddd4e4f" /><Relationship Type="http://schemas.openxmlformats.org/officeDocument/2006/relationships/notesSlide" Target="/ppt/notesSlides/notesSlide2.xml" Id="R0788a5c1ffe841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4ae10e54de4dfa" /><Relationship Type="http://schemas.openxmlformats.org/officeDocument/2006/relationships/image" Target="/ppt/media/image3.png" Id="R63dacfd70c874908" /><Relationship Type="http://schemas.openxmlformats.org/officeDocument/2006/relationships/notesSlide" Target="/ppt/notesSlides/notesSlide3.xml" Id="Rad950bd52939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f88a1ae5c342a7" /><Relationship Type="http://schemas.openxmlformats.org/officeDocument/2006/relationships/image" Target="/ppt/media/image4.png" Id="R884bac3d99a94e85" /><Relationship Type="http://schemas.openxmlformats.org/officeDocument/2006/relationships/notesSlide" Target="/ppt/notesSlides/notesSlide4.xml" Id="Ra8646d6eef404a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515cb931bf4762" /><Relationship Type="http://schemas.openxmlformats.org/officeDocument/2006/relationships/image" Target="/ppt/media/image5.png" Id="R4440c9670b354f79" /><Relationship Type="http://schemas.openxmlformats.org/officeDocument/2006/relationships/notesSlide" Target="/ppt/notesSlides/notesSlide5.xml" Id="R7dbf1487a41a4d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96a6f75a754b4a" /><Relationship Type="http://schemas.openxmlformats.org/officeDocument/2006/relationships/image" Target="/ppt/media/image6.png" Id="R11201b51b2c14509" /><Relationship Type="http://schemas.openxmlformats.org/officeDocument/2006/relationships/notesSlide" Target="/ppt/notesSlides/notesSlide6.xml" Id="R828f9958ce3c43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3266c19ae45f8" /><Relationship Type="http://schemas.openxmlformats.org/officeDocument/2006/relationships/image" Target="/ppt/media/image7.png" Id="Rd7265000574843c5" /><Relationship Type="http://schemas.openxmlformats.org/officeDocument/2006/relationships/notesSlide" Target="/ppt/notesSlides/notesSlide7.xml" Id="R4fc1979fa72c41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3dedfc65dd4951" /><Relationship Type="http://schemas.openxmlformats.org/officeDocument/2006/relationships/image" Target="/ppt/media/image8.png" Id="Rc80a4b93621c4105" /><Relationship Type="http://schemas.openxmlformats.org/officeDocument/2006/relationships/notesSlide" Target="/ppt/notesSlides/notesSlide8.xml" Id="Reec551bbb14043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45ec2554954576" /><Relationship Type="http://schemas.openxmlformats.org/officeDocument/2006/relationships/image" Target="/ppt/media/image9.png" Id="R71bbde5fef804caa" /><Relationship Type="http://schemas.openxmlformats.org/officeDocument/2006/relationships/notesSlide" Target="/ppt/notesSlides/notesSlide9.xml" Id="R3481b53fec0b4f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155d2bdbb04ab6" /><Relationship Type="http://schemas.openxmlformats.org/officeDocument/2006/relationships/image" Target="/ppt/media/image10.png" Id="Rcb9db1bce0554cfd" /><Relationship Type="http://schemas.openxmlformats.org/officeDocument/2006/relationships/notesSlide" Target="/ppt/notesSlides/notesSlide10.xml" Id="R99d0c9f21b9545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f2759082546c3" /><Relationship Type="http://schemas.openxmlformats.org/officeDocument/2006/relationships/image" Target="/ppt/media/image11.png" Id="Rdc2139caa9e74131" /><Relationship Type="http://schemas.openxmlformats.org/officeDocument/2006/relationships/notesSlide" Target="/ppt/notesSlides/notesSlide11.xml" Id="Rbc43d1a2412d40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f6efe889dd41f5" /><Relationship Type="http://schemas.openxmlformats.org/officeDocument/2006/relationships/image" Target="/ppt/media/image12.png" Id="R83bbce77a98f4b07" /><Relationship Type="http://schemas.openxmlformats.org/officeDocument/2006/relationships/notesSlide" Target="/ppt/notesSlides/notesSlide12.xml" Id="Rece55f98ffe54a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cd8ff832664f2e" /><Relationship Type="http://schemas.openxmlformats.org/officeDocument/2006/relationships/image" Target="/ppt/media/image13.png" Id="R689e40ca45d04c9a" /><Relationship Type="http://schemas.openxmlformats.org/officeDocument/2006/relationships/notesSlide" Target="/ppt/notesSlides/notesSlide13.xml" Id="R786de5b0172046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1606ecd6ab4406" /><Relationship Type="http://schemas.openxmlformats.org/officeDocument/2006/relationships/image" Target="/ppt/media/image14.png" Id="Rb9d23bb7db874761" /><Relationship Type="http://schemas.openxmlformats.org/officeDocument/2006/relationships/notesSlide" Target="/ppt/notesSlides/notesSlide14.xml" Id="R9980103fa43c45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27f9d01a3c4226" /><Relationship Type="http://schemas.openxmlformats.org/officeDocument/2006/relationships/image" Target="/ppt/media/image15.png" Id="R397079e6be2f4464" /><Relationship Type="http://schemas.openxmlformats.org/officeDocument/2006/relationships/notesSlide" Target="/ppt/notesSlides/notesSlide15.xml" Id="R1cd26e1f5bbb42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e5ec10bec4c1d" /><Relationship Type="http://schemas.openxmlformats.org/officeDocument/2006/relationships/image" Target="/ppt/media/image16.png" Id="Rdc038981f13e4e09" /><Relationship Type="http://schemas.openxmlformats.org/officeDocument/2006/relationships/notesSlide" Target="/ppt/notesSlides/notesSlide16.xml" Id="R26eefd71575a4c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fdfe375f943f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4D0A2-90CB-483B-8AF7-C6C07FB4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5C4BB-C9E3-4331-B7B4-9A6731D3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55F6D-6B45-4408-A083-663D8DB9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FDE02-A1C2-4BBE-8B77-B2A259D0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8E395-CC2E-4A6D-8209-DD439433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FE5D5-9281-4B5D-8C42-50562B4F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5726B-2F14-4656-B5E7-2162F9E7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2000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8E36C-40A9-494E-917E-4480402F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给亚马逊卖家的AI导购时代增长课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B6021-DA22-4E9A-9E12-44A5DFD7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04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717"/>
                </a:solidFill>
              </a:defRPr>
            </a:pPr>
            <a:r>
              <a:rPr sz="3750" b="1">
                <a:solidFill>
                  <a:srgbClr val="171717"/>
                </a:solidFill>
              </a:rPr>
              <a:t>从“搜关键词”到“问AI”：卖家运营规则正在变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4A4E7-6A8E-42C9-9782-4F61A517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</a:defRPr>
            </a:pPr>
            <a:r>
              <a:rPr sz="1650" b="0">
                <a:solidFill>
                  <a:srgbClr val="2B2B2B"/>
                </a:solidFill>
              </a:rPr>
              <a:t>Amazon 已把 Rufus 升级整合为 Alexa for Shopping。它不只是聊天工具，而是在帮买家研究、比较、找优惠、加入购物车，甚至在目标价格自动购买。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DE4F4-799B-4EB5-AA8E-20D786A9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4000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149AB-132B-45CC-97B4-E18624F9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885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</a:defRPr>
            </a:pPr>
            <a:r>
              <a:rPr sz="1650" b="0">
                <a:solidFill>
                  <a:srgbClr val="2B2B2B"/>
                </a:solidFill>
              </a:rPr>
              <a:t>现在的窗口期：多数 Listing 还在按“关键词搜索”写页面。谁先把商品做成 AI 能理解、能引用、能推荐的清楚答案，谁就更容易在新入口里被看见。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75F8C-D8EF-4634-B18F-7C215E82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ED694-429E-408B-AEDE-64457B52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官方：Alexa for Shopping 使用说明；Amazon 官方：Alexa for Shopping 发布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9A35B-39E6-43F3-A860-3CBD51BE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772145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e12643ddd4e4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F912C-A4CE-41C9-973F-16A57A47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AA472-CE9F-49DD-ADA4-1851465A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D0E03-19E1-4DBC-98DE-5551A055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8641F-735A-4205-9DB2-DDA9AA14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D9CFC-A44A-47A0-811A-51545B94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F2EAC-C1AD-4BDE-AC83-84749364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0EBC2-26B6-4124-98EE-1E22D97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Amazon 官方数据：这不是小功能，而是在变成主购物入口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5F56F-9DF3-44B4-BA06-B1533F75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241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11919"/>
          </a:solidFill>
          <a:ln xmlns:a="http://schemas.openxmlformats.org/drawingml/2006/main" w="11430">
            <a:solidFill>
              <a:srgbClr val="E1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F92B5-88B3-4238-9DA5-D5C34970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1050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3亿+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F83EB-A1C2-4A8C-932F-94B5AD74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105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2025年用户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8F55E-6A44-477C-8EAB-E3305505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105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Rufus 在 2025 年帮助超过 3 亿客户研究、比较和购买商品。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E8E9A-119E-4F8B-967E-FA7963F4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95500"/>
            <a:ext cx="25241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70A9E-F2CC-407A-AB03-91BEEB70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21050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11919"/>
                </a:solidFill>
              </a:defRPr>
            </a:pPr>
            <a:r>
              <a:rPr sz="2550" b="1">
                <a:solidFill>
                  <a:srgbClr val="E11919"/>
                </a:solidFill>
              </a:rPr>
              <a:t>+149%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A9B1A-5B0D-4CA8-93BB-C447F7F1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81300"/>
            <a:ext cx="2105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月活增长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83627-8FF8-406C-BF2D-5B905FF3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24200"/>
            <a:ext cx="2105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Amazon 披露 Rufus 月平均用户同比增长 149%。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41A8E-39F8-4969-B0AD-5900AC1A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5241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FAC05-DE02-4B01-9047-1CFD523F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21050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11919"/>
                </a:solidFill>
              </a:defRPr>
            </a:pPr>
            <a:r>
              <a:rPr sz="2550" b="1">
                <a:solidFill>
                  <a:srgbClr val="E11919"/>
                </a:solidFill>
              </a:rPr>
              <a:t>+210%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6A15D-9045-4914-B840-8E5EC0A4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105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互动增长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B3FF6-5458-453A-84D8-5F0ACF13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24200"/>
            <a:ext cx="2105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Rufus 互动量同比增长 210%，说明买家正在习惯“问AI”。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21AF5-5F05-4241-9A62-BEDD0C78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95500"/>
            <a:ext cx="25241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4DC87-0CD4-4C77-A4D5-02AF28B2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24100"/>
            <a:ext cx="21050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11919"/>
                </a:solidFill>
              </a:defRPr>
            </a:pPr>
            <a:r>
              <a:rPr sz="2550" b="1">
                <a:solidFill>
                  <a:srgbClr val="E11919"/>
                </a:solidFill>
              </a:rPr>
              <a:t>+60%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080F8-D8F7-4D98-AF95-5A9B533F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81300"/>
            <a:ext cx="2105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购买倾向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7D1B79-9547-41D7-A8B7-D1332F6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24200"/>
            <a:ext cx="2105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使用 Rufus 的买家，在该次购物中完成购买的可能性高出 60% 以上。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9C89B-FF96-4C88-96E3-F3C2F25A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9050">
            <a:solidFill>
              <a:srgbClr val="E1191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B6DF0A-9F14-4B83-A5F7-FDDAE816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591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重要边界：Amazon 没有公开每个类目、每个 ASIN 的 Rufus 流量占比或转化率。但官方已经公开用户规模、互动增长、购买倾向和入口位置，这足够说明卖家不能再把它当“可有可无”。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8461D-EE3F-4265-B93E-5FF22A78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94032-3627-430C-801E-22FBC5D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官方：2025年 Rufus 帮助超过3亿客户；Amazon 官方：250M用户、149%月活增长、210%互动增长、60%购买倾向；Amazon 投资者关系：Q3官方披露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65A83F-1B72-4123-B82E-F4601C5E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964516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acfd70c87490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3DA44-6B28-4072-95F5-258A2A9A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909C0-4873-4F6E-9859-DD6074D8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60A96-57B1-4C2D-AC25-E4324FCC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DEC92-6FB9-43EA-AC2A-CC6E2422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6E3A3-D9B7-43DC-B264-310C008A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6D9AE-567A-4D2F-9B85-E1081A5A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8C34A-2FEC-417E-B67C-F6E9A503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一句话看懂：Amazon 想把购物入口从“列表”变成“助手”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056D0-7984-40C0-A307-09942918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EF065-203A-4718-AD0D-39A8D076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971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以前买家输入关键词，自己翻页比较；现在买家直接问：“我需要什么？”“哪款适合我？”“这个价格划算吗？”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AC727-BC45-442E-99C6-A53CFFC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371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45701-2755-4051-9E30-B193F2AB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DF30F-12DD-44C0-8603-AC4AB61B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帮买家研究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996AD-58FA-4E3A-932A-A0425EA0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990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回答产品问题、解释差异、做购买前功课。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12AF5-6F02-4EF0-B293-8360F7B5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00400"/>
            <a:ext cx="3371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8B8BA-34A6-449B-AC84-DBED380E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004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7DADE-B7D4-4A29-B663-3552AC3E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帮买家比较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5D750-02E3-47DA-8CED-EC7BA111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0950"/>
            <a:ext cx="2990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可从搜索结果里选多个商品，让 Alexa for Shopping 做对比。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6E699-E094-4337-B7FA-25D54591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0400"/>
            <a:ext cx="3371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92821-2616-46F9-8EAC-390F35C2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04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09396-6DEC-4EE6-AFD4-A977088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帮买家行动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DA35A-23B7-427E-B268-65877912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2990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加入购物车、设置价格提醒、目标价自动购买。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E7622-8BC8-400C-9369-E1FD4FC4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6B58A5-0CA3-49AE-B95C-2DBB33FA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官方：研究、比较、自动购买等功能；Amazon 官方：在搜索栏提问、对比、价格历史、自动任务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D3AF7A-7BC8-48B2-9C18-E9F6A902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292530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bac3d99a94e8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BD6EE-05E8-418D-8B3B-F9D1EAAF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B1ED5-E0D1-481C-BBF7-362FB7FB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BC936-4100-4B23-8ECF-87624C00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98D08-156D-4FF3-AEA9-C187F158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BF122-F64F-4B0F-9F70-01CCA65D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B97CA-D7E7-4EDE-904E-81012F47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C6F0D-B6BA-40A0-A77A-0711298A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Amazon 官方已经说得很清楚：AI导购吃的“证据”来自这些地方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C6057-EF0A-411E-B47A-DB2E0540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11919"/>
                </a:solidFill>
              </a:defRPr>
            </a:pPr>
            <a:r>
              <a:rPr sz="3600" b="1">
                <a:solidFill>
                  <a:srgbClr val="E11919"/>
                </a:solidFill>
              </a:rPr>
              <a:t>证据</a:t>
            </a:r>
          </a:p>
          <a:p xmlns:a="http://schemas.openxmlformats.org/drawingml/2006/main">
            <a:pPr algn="l">
              <a:defRPr sz="3600" b="1">
                <a:solidFill>
                  <a:srgbClr val="E11919"/>
                </a:solidFill>
              </a:defRPr>
            </a:pPr>
            <a:r>
              <a:rPr sz="3600" b="1">
                <a:solidFill>
                  <a:srgbClr val="E11919"/>
                </a:solidFill>
              </a:rPr>
              <a:t>越清楚</a:t>
            </a:r>
          </a:p>
          <a:p xmlns:a="http://schemas.openxmlformats.org/drawingml/2006/main">
            <a:pPr algn="l">
              <a:defRPr sz="3600" b="1">
                <a:solidFill>
                  <a:srgbClr val="E11919"/>
                </a:solidFill>
              </a:defRPr>
            </a:pPr>
            <a:r>
              <a:rPr sz="3600" b="1">
                <a:solidFill>
                  <a:srgbClr val="E11919"/>
                </a:solidFill>
              </a:rPr>
              <a:t>越容易被懂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92902-3E9B-4846-8A50-FD891BDA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5429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52BB9-B051-4686-A6B4-0818D07E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19350"/>
            <a:ext cx="4914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</a:defRPr>
            </a:pPr>
            <a:r>
              <a:rPr sz="1425" b="0">
                <a:solidFill>
                  <a:srgbClr val="2B2B2B"/>
                </a:solidFill>
              </a:rPr>
              <a:t>• 商品目录：标题、五点、描述、参数、图片文字、A+内容。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DB30A-182D-444B-9AD5-29FA150E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4914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</a:defRPr>
            </a:pPr>
            <a:r>
              <a:rPr sz="1425" b="0">
                <a:solidFill>
                  <a:srgbClr val="2B2B2B"/>
                </a:solidFill>
              </a:rPr>
              <a:t>• 买家评价：真实买后反馈，常见优点和槽点。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7388B-D398-4204-885B-6F08B752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4914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</a:defRPr>
            </a:pPr>
            <a:r>
              <a:rPr sz="1425" b="0">
                <a:solidFill>
                  <a:srgbClr val="2B2B2B"/>
                </a:solidFill>
              </a:rPr>
              <a:t>• 买家问答：别人问过的问题和答案。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BADFE-3F7A-488D-BDFD-B44FDD1B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76700"/>
            <a:ext cx="4914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</a:defRPr>
            </a:pPr>
            <a:r>
              <a:rPr sz="1425" b="0">
                <a:solidFill>
                  <a:srgbClr val="2B2B2B"/>
                </a:solidFill>
              </a:rPr>
              <a:t>• 全网信息：Amazon 也会结合公开网页信息。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16695-95B1-4736-9880-23D065D5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4914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</a:defRPr>
            </a:pPr>
            <a:r>
              <a:rPr sz="1425" b="0">
                <a:solidFill>
                  <a:srgbClr val="2B2B2B"/>
                </a:solidFill>
              </a:rPr>
              <a:t>• 卖家能直接控制的，是把 Listing 写清楚、把真实问题回答完整、让评论自然覆盖真实使用场景。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8B38E-CF6C-4AFB-815D-6F6C2636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EF9AC-F013-4B86-8BEE-353286C2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Science：Rufus 使用商品目录、评论、Q&amp;A等证据；Amazon Sell：AI工具会使用Listing内容、评论和Q&amp;A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F66FB-326C-4963-B6C9-189CDD6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696988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0c9670b354f7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14585-07A1-46C5-8A8B-270891E5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3632D-C420-4894-B9BF-FD3F1E5F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12D23-E255-4FEB-828A-51E574CE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74AF1-F565-4895-8FDF-8237C558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05458-5555-4FFA-84FF-B078D502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E88FD-E553-43BF-88C0-41825A7F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5ADC9-88CD-43C8-91CD-B8B82846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未来趋势：AI导购会越来越靠近“下单前最后一公里”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4AEAE-786A-4F0E-ADD2-5BAE5F5A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325EC-2FFE-481C-BA5A-1BFF739A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C28D1-D705-40D1-83A8-94DEFCFD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1919"/>
                </a:solidFill>
              </a:defRPr>
            </a:pPr>
            <a:r>
              <a:rPr sz="1050" b="1">
                <a:solidFill>
                  <a:srgbClr val="E11919"/>
                </a:solidFill>
              </a:rPr>
              <a:t>发现商品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2A1ED-9A03-42F8-A017-146C6292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按场景找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D439F-290B-4ADB-8209-88CDAAA3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143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如“生日派对需要什么”“徒步需要什么”。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1873D-13B6-48E5-BB72-BBACE803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4790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6D441-335E-4E8C-A605-275F856B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479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399F1-3F87-4EBA-8BAA-AF39DCCF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19350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1919"/>
                </a:solidFill>
              </a:defRPr>
            </a:pPr>
            <a:r>
              <a:rPr sz="1050" b="1">
                <a:solidFill>
                  <a:srgbClr val="E11919"/>
                </a:solidFill>
              </a:rPr>
              <a:t>辅助决策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9E530-C0F7-4C7F-8D52-36A42D59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24150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帮买家选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884AE-2FC8-4D50-8B72-82BB8417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62300"/>
            <a:ext cx="2143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比较功能、详情页AI概览、个性化解释。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6A489-ACAA-413E-8AD7-6DF0557C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649A73-67CC-4C39-90E3-2E5FE8CF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BEB62-4D4D-4370-BB73-AD8061D8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1919"/>
                </a:solidFill>
              </a:defRPr>
            </a:pPr>
            <a:r>
              <a:rPr sz="1050" b="1">
                <a:solidFill>
                  <a:srgbClr val="E11919"/>
                </a:solidFill>
              </a:rPr>
              <a:t>价格判断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B8004A-11F4-440C-86B4-9EFBF22E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看历史价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189130-FE42-46E8-9ED5-05EAE689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2143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30、90、365天价格历史和价格提醒。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6401D-77C6-4754-9A01-6DB2F9CA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4790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A3DA6-1491-4EBC-8629-B2024CB4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479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F05E75-29E5-4CCD-8177-8F22B0E7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19350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1919"/>
                </a:solidFill>
              </a:defRPr>
            </a:pPr>
            <a:r>
              <a:rPr sz="1050" b="1">
                <a:solidFill>
                  <a:srgbClr val="E11919"/>
                </a:solidFill>
              </a:rPr>
              <a:t>自动行动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F0630D-D90B-4B50-9896-74B6E8FF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24150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能代办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33EBEA-B4EE-470B-8E1C-C5040DF1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62300"/>
            <a:ext cx="2143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定期补货、自动加购、目标价购买。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28A3CC-3AC4-4935-A08F-426EE61E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38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</a:defRPr>
            </a:pPr>
            <a:r>
              <a:rPr sz="1500" b="0">
                <a:solidFill>
                  <a:srgbClr val="2B2B2B"/>
                </a:solidFill>
              </a:rPr>
              <a:t>卖家真正要怕的不是“AI替代搜索”，而是：买家还没翻到你的商品，AI 已经帮他缩小了选择范围。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484C5-81A7-4498-A060-14732E29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3F40CE-FAD3-402F-BBE4-ACA5FF23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官方：搜索栏问问题、AI概览、价格历史、定时任务；Amazon 官方：个性化推荐、加购、跨站发现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A6B885-E975-447F-AEDC-199002E6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759869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01b51b2c1450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F9F09-4B2F-425A-BF78-CB06DAD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81AE7-8DE0-4837-94D6-02B6B693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3914B-054C-4BDD-A1E1-6BBE358B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9AFCD-3FDC-41D4-99CD-DA7FC348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50F7D-188B-4247-8B6F-1F1C3E2E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A8819-64B2-4E8B-878E-82E220AF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9E1FC-1B5F-4530-A475-1EE9C343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流量结构的变化：排名仍重要，但“被AI回答”会抢走更多注意力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73DA6-0271-4CAD-8BA1-6C489161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52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95C28-8D36-4EF3-A67B-18F6AE3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旧入口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BE78A-2190-41EC-8DAA-2A93628E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3009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关键词 → 搜索结果页 → 买家翻页 → 点进详情页。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4BD09-608C-42AE-B9BC-CC17654D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86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DCC1E-AEEB-4D98-940D-22FA5E26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81250"/>
            <a:ext cx="3352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51DD6-9F6F-49CA-831C-69205B60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新入口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D4FA0-90B2-4181-9562-5437C34E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71800"/>
            <a:ext cx="3009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自然语言问题 → AI概览/对比/推荐 → 买家直接看答案。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C2A7E-89D6-48FD-ABEE-BA246BCD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86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60641-1DFA-4E26-87A9-CCE69E61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3352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1FF55-2A16-44A3-8C9B-6551BAC6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527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新竞争点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0B468-CA4E-44DF-A8EA-8256D2E1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71800"/>
            <a:ext cx="3009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谁的页面更像“答案”，谁更容易进入买家的考虑名单。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A06F6-00F4-4E45-8E03-1E2C53F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38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</a:defRPr>
            </a:pPr>
            <a:r>
              <a:rPr sz="1425" b="0">
                <a:solidFill>
                  <a:srgbClr val="2B2B2B"/>
                </a:solidFill>
              </a:rPr>
              <a:t>Amazon 官方已说明：AI 概览会出现在搜索结果顶部和商品详情页；Alexa for Shopping 可以直接在搜索栏回答问题。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7A527-CF3E-4780-8755-AD9C20F7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A2712-9B77-4358-A681-E5957D9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官方：搜索结果和详情页的AI概览；Amazon 官方：主搜索栏可直接问AI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B1A1F-4D39-45F4-A209-1210E298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822911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65000574843c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DEEC3-9539-48C6-A9B8-29408CC6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6FD14-8934-498A-9333-4A52F1AF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422E5-94B4-4A7F-8ADE-9DDA5D27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CF49A-82D9-4D20-A078-F75AC6D0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7CB3B-1D2A-4C04-BBDE-6FDDAC8A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96CBB-B58F-4952-A459-0F040E7D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8B4E3-93D7-4CD7-AE09-8FC1A397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不只是 Alexa/Rufus：COSMO 说明搜索本身也在按“需求”理解商品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34021-19A8-4F86-AEF6-1016CB7E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095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11919"/>
          </a:solidFill>
          <a:ln xmlns:a="http://schemas.openxmlformats.org/drawingml/2006/main" w="11430">
            <a:solidFill>
              <a:srgbClr val="E1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2434E-07CD-4355-97EA-F912FA27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COSMO 是什么？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87CF6-CB44-49C3-8708-9972CE59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3714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可以把它理解成 Amazon 用来理解“买家真实需求”的系统：不是只看词，而是从搜索、点击、购买、搭配购买里推断买家为什么买。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5BCFD-FDD7-4BEB-85DC-9EC7907C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71700"/>
            <a:ext cx="61341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452AD-B32E-48B8-8B9E-E7B73AB5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00300"/>
            <a:ext cx="563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• 例子：买家搜“camping”，不只是“露营”这个词，还可能代表气垫床、冬季露营、4人使用、湖边露营等具体需求。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2A161-DE41-4DB4-9EBC-3D6B8883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563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• 官方结果：COSMO 已用于 Amazon 搜索导航；在约 10% 美国流量的线上测试中，带来 0.7% 商品销售相对提升和 8% 导航互动提升。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7063E-A260-4E51-BCE3-B4EA134A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86200"/>
            <a:ext cx="563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• 更稳妥的说法：Amazon 没有说所有排名都由 COSMO 决定；但官方论文已说明，搜索相关性、推荐、搜索导航都在向“理解需求”靠拢。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CFFF0-AC89-44E0-B62B-4FF44BB4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E7706-B1EC-421D-901D-A388B30E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Science 论文：COSMO 系统、搜索相关性、搜索导航和线上实验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6DEBC-5286-46D8-91C9-3AA65FE1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1449961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a4b93621c410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0418A-38C0-482E-B0CB-ADA6A4FA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123AD-FAC9-4C83-ACE4-0E6BE440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1EAFD-CA64-42CA-9EDE-86501723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94573-7D48-4B42-A93A-88CFD6BF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83454-AB7F-4033-8683-97A65F92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FEE9F-C907-4108-935F-0E76F8D2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5A211-F7DF-4D94-8C25-5D504CD1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卖家要不要适应？答案是：要，而且要从内容证据开始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35B1A-60FF-431C-9344-FA28C384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2863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4145A-36FE-4292-949D-B795B19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90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不适应：继续只堆关键词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52079-3AC9-4EA9-A499-00F467B1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4905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买家问的是“场景问题”，你的页面只回答“我有什么参数”。AI很难判断你是不是最合适。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短期也许还能卖，因为老流量还在；但新入口会先把“回答更清楚”的商品推到买家面前。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03BD9-2DE9-4F0C-8489-2D56D243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286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D8CA1-FE4B-426F-B600-24B47839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09800"/>
            <a:ext cx="52863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8ADE3-8A95-45EC-8BF2-F4841BB1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81250"/>
            <a:ext cx="490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适应：把商品写成清楚答案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598FE-EF58-4CF5-8E9F-51AA0D43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0350"/>
            <a:ext cx="4905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标题、五点、图片、A+、Q&amp;A、评论都围绕真实问题展开：给谁用、什么场景、解决什么顾虑。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这不是投机，而是把商品证据补齐，让搜索和AI都更容易理解。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3F63E-95DF-4979-AF76-BD0F1595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09800"/>
            <a:ext cx="5286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B483A-DE41-4437-B40C-7A5B6E34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38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说明：Amazon 已公开 AI导购使用商品详情、评论和Q&amp;A；COSMO 论文显示搜索也在理解买家意图。单一动作不保证销量，但不补证据会让商品在新入口里越来越被动。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75F74-2027-483D-81CD-D6488E96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53F11-B33C-4CE5-A214-92CA7AA3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Sell：让Listing易于AI理解、直接回答买家问题；Seller Central：Rufus 可利用商品详情、评论、Q&amp;A等；Amazon Science：COSMO 论文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CC82E-2977-4A55-9303-B74757D3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3214325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bde5fef804ca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0F4FF-3D8F-4E68-9954-667D44C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8D46C-021D-4EB7-80BE-56E41425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D6A0C-7EA5-4C77-8E98-976978A6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9CA78-12D5-485A-BAE8-FAA28B46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EF174-EEA5-4061-9B1E-6DE0E415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7E628-E253-4B1C-80E4-CE018FB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34999-5F33-4137-89FB-2740AD90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卖家现在该怎么做：不是“骗AI”，而是把真实卖点讲完整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BEE7B-5DC5-4E1C-B5AC-6111917B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381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DF54A-36A6-4959-9214-68A67189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D27CB-F11F-4305-AE22-16B2FB6F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1. 先找买家怎么问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DB383-710F-42BB-A7A2-DAC4127C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000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不要只看大词。要看买家问“适合谁、适合什么场景、怕什么问题”。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72277-2810-4608-866D-629CA114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0300"/>
            <a:ext cx="3381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166AE-12F1-423A-806F-645195BF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03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B30B9-3A81-4CC9-87DC-00AB26AB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2. 再补页面证据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1D3B4-8999-45A9-8917-5D21A454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90850"/>
            <a:ext cx="3000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把核心场景写进标题、五点、图片文案、A+模块和问答。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2FD40-4CBC-43C8-9B1E-5343B443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3381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533925-B664-4165-93B7-5336955E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C51DC-2424-44E8-AA49-4EC026A9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717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3. 用真实反馈迭代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F256F-9037-4325-A55A-F957EE5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90850"/>
            <a:ext cx="3000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用评论验证：买家夸什么、骂什么、退货原因是什么。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BFF17-58B5-4D97-8008-6818D420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57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</a:defRPr>
            </a:pPr>
            <a:r>
              <a:rPr sz="1425" b="0">
                <a:solidFill>
                  <a:srgbClr val="2B2B2B"/>
                </a:solidFill>
              </a:rPr>
              <a:t>底线：不要刷评、不要堆无关词、不要夸大功能。AI导购时代更依赖真实证据，虚假内容会越来越难长期稳定。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BC7E4-120B-4751-B5AB-35B8FCF5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09488-15B7-474A-849D-7EBA12B2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Sell：优化Listing、回答常见问题、获取高质量评论；Amazon Science：Rufus 从可靠信息源选择证据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D3A365-EF46-4E39-B2AC-2547BA20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9021766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db1bce0554cf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28844-CCE1-47CA-AE5D-C74ADC17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27EE5-9231-45B7-9F26-1DAE356B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8D069-DDAE-4AA1-A1FF-5E573DCE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2D422-401F-484E-A0A5-57665D91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07BB8-AC64-4663-9B02-13BD58A1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F87B2-1A07-42A4-9BDE-C5CD3087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2AACF-3E58-4DDA-B2CF-E4E3585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FlyFus 不是普通选品/Listing工具，而是面向 AI导购的下一代产品开发和 Listing GEO 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66035-5C0F-4ACA-A841-071DAE8D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290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11919"/>
          </a:solidFill>
          <a:ln xmlns:a="http://schemas.openxmlformats.org/drawingml/2006/main" w="11430">
            <a:solidFill>
              <a:srgbClr val="E1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CF1BE-E4A1-41A6-8F25-0EBF0C8B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1000万+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812B5-BB78-4876-8D8A-E2CB512F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AI导购真实问答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98327-4473-401E-BAFE-0BBBEC41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3009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看买家在购买前到底怎么问、怎么比较、担心什么。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84F7F-BF5F-4E41-92AD-525348C2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52700"/>
            <a:ext cx="34290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11919"/>
          </a:solidFill>
          <a:ln xmlns:a="http://schemas.openxmlformats.org/drawingml/2006/main" w="11430">
            <a:solidFill>
              <a:srgbClr val="E1191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0E0F8-8007-424B-B443-30C188EB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12.8亿+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18C06-DE09-4116-B8BE-0CEC04A1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全球真实评论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951B-FD55-4A70-932E-5803242B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81400"/>
            <a:ext cx="3009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看买家买后真正满意什么、吐槽什么、为什么退。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AC0EA-4AC3-43C8-9A93-4AF69DC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52700"/>
            <a:ext cx="34290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11919"/>
          </a:solidFill>
          <a:ln xmlns:a="http://schemas.openxmlformats.org/drawingml/2006/main" w="11430">
            <a:solidFill>
              <a:srgbClr val="E1191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248D3-6CCB-4FD0-BBB2-645CC234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10分钟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B1EE4-FF62-45E9-B37F-AF54B7DF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生成深度报告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E68A7-70F8-47BB-8A0D-65AC8608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3009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输入 ASIN 或关键词，输出选品、Listing、广告动作建议。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30E62-A27A-44C5-A148-FF8168F7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GEO 可以理解为“AI生成答案优化”：不是只写更漂亮的文案，而是让商品在 AI 回答、比较、推荐时，有更完整、更可信、更容易被引用的证据。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4691C-3477-466D-AFCA-860AD67E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C000F-119B-470C-A549-167037D6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来源：FlyFus 官方：1000万+ Rufus问答、12.8亿+ Review、10分钟深度报告、证据链；Amazon Science：Rufus 使用商品目录、评论、Q&amp;A和全网信息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66C42-2D89-4A63-9D24-700839EF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0735686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139caa9e7413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BDAC6-2039-4460-A816-7B335039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A2B40-B49B-400F-A90A-4BE73D06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17A89-2254-42ED-AC0D-4DB68523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9475F-AABF-4BAF-8110-60ACBE39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0DE7F-2126-44FA-8269-D52B5CA7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B70A5-4CC0-4CE3-95EE-41B6F902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44B5B-1D88-4E3A-BBA9-182A9C0F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FlyFus 帮你做的第一件事：选品从“看爆款”变成“找未被满足的需求”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78C40-ED57-4638-B6F2-E78BDD9D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2863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1AEE8-189C-444A-89C0-E36BCD4A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90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传统选品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C2FB3-40AB-42D1-A8F8-65A26A44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4905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看销量榜、看搜索量、看竞品卖得好不好。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问题：大家都看得到，容易变成价格战。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54333-FECB-4C04-A965-EC58E68A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286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1E84C-2F6A-4CC8-ACF9-9401C85C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09800"/>
            <a:ext cx="52863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C7F95-34D7-4A07-BAA0-3D4969C4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81250"/>
            <a:ext cx="490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AI导购时代选品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BBA98-8679-4D2F-A0BA-B4A6E98C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0350"/>
            <a:ext cx="4905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找买家高频提问里“现有商品没讲清、没做好、没覆盖”的细分需求。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例如：人群、尺寸、安装方式、材质顾虑、宠物/儿童/老人/户外等具体场景。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40C16-565E-4855-8B6A-671F5A22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09800"/>
            <a:ext cx="5286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C9826-0AB7-4F60-A695-04ABB25C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38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“未被满足的需求”比“未被回答的问题”更准确：问题只是表面，背后才是买家愿意下单、加价或换品牌的真实原因。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A3EF9-D463-4FB5-9AA5-F28DCBBF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53618-CE7C-4DC6-8D84-F3AFD5F5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官方：按活动、事件、用途找商品；Amazon Science：COSMO 从用户行为理解购买意图；FlyFus 官方：从Rufus问答找未满足诉求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40B54-3503-46D6-B245-3CEED11C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6402759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bce77a98f4b0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8BC34-CC57-4782-BD9F-17C7DBBC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91639-0464-454F-8073-E574ADBA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D46BE-1EBE-4B1A-A5CC-3D2E3813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828DE-DCE4-4569-AFD5-8ABB9D18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E8BD0-DD0A-4407-A2CB-D984B647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3932D-E86D-49D0-A697-735A175F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A412E-8E23-404C-8D4C-8E1C3D07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FlyFus 帮你做的第二件事：把 Listing 改成 AI 和买家都能看懂的答案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E58D5-6C0F-49E7-A59B-DD8EAAE6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391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A9B4F-5BA4-45A2-BCBE-C8C13032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026C5-99C1-4107-A7D1-05B8F5E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从“功能堆叠”改成“问题回答”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B26A5-908B-43DF-99A5-040FAF5E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5010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不要只写“高质量、防水、耐用”。要写清楚：什么情况下防水？谁会需要？解决什么麻烦？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FFCF6-DAB6-4DBC-A709-A01597FA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391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E41DE-D70A-4C2D-9970-DED7733C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F8579-28DD-4E75-9DE2-0B297A58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从“关键词列表”改成“证据链”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ED899-3E8E-4304-9994-A85AFC68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5010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标题点明核心场景，五点解释理由，图片展示使用场景，A+补充对比，Q&amp;A回答顾虑。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5A74C-C84E-4E88-B659-A76A61FF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391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0D9AD-2859-4A17-B1A4-084347C3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7EE9B-CF00-4E52-A4E5-2B48A982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从“凭感觉优化”改成“按缺口改”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EBD40-372B-4528-A264-633521B3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5010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FlyFus 扫描买家问题和竞品评论，指出页面缺哪类人群、场景、参数或顾虑说明。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837BB-F370-4245-B189-6337B7FE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5391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DF899-777C-4007-9087-8CE1751C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D3395-8FE4-4790-BD91-370A8241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从“一次改完”改成“持续迭代”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80756E-BF94-4F7B-8C84-51019D70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5010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上线后继续看评论和问答变化，更新图片、文案、广告词和产品改良方向。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CE065-BE9F-4D3B-99E7-FEACB772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8F7E39-E7D5-4F77-A6EF-64DFA1AD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Sell：优化标题、描述、关键词，回答买家问题；FlyFus 官方：Listing深度体检和动作清单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83AD0B-56A5-4BAC-931F-BB78B8C2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4244239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e40ca45d04c9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208A4-53ED-4647-8C0D-3B82291A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8BDC6-BD2C-4DE4-A761-C9A149C4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DDF97-8BDD-477E-AC2C-10170FE1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E9BDE-A7BF-4693-856B-F94F398C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51882-92F9-4D5C-9CB1-9CEA6721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EF861-A2A6-41FD-8665-85C5706A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B1780-A75B-4FB0-AD45-9DCF1C6A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FlyFus 帮你做的第三件事：帮助卖家在现款基础上做新品迭代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0CFFD-4A02-47BD-827D-4CC16AF9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CD870-2FB0-4146-8142-3089E87F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971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真正的新品机会，不一定来自“重新发明一个品类”，而是从买家反复追问和差评抱怨里，找到现款还没满足好的改进方向。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8C18E-03B1-43F5-887C-CF46CB38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371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926C6-D918-428F-947E-A8CBD4E9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B7018-C35D-4350-A8C9-1BF5E2E1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发现可改进需求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43ABA-1CC5-46A1-B7A6-1470850B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990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从 Rufus / Alexa 问答里识别买家反复关心的人群、尺寸、材质、安装、兼容、使用场景。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9F48D-63F7-449F-BEFC-67380F43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00400"/>
            <a:ext cx="3371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246BD-2274-4C04-A292-AFA5537C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004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48153-DF29-4D6A-996D-1F24560C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判断改哪里最值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03FF3-FFB7-4395-A565-9BC3089A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0950"/>
            <a:ext cx="2990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用 12.8亿+ 评论验证：哪些痛点是真痛点，哪些只是少数个案，避免盲目改款。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1422F-723B-42F4-B10A-7FC67705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0400"/>
            <a:ext cx="3371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258A4-EE68-4B7C-B8FF-49A8EE6E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04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2CB4F-1379-4DFA-AA61-7F4A85BF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形成下一代产品方案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B83EE-6B60-4D69-A621-CAFBE619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2990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把需求转成颜色、规格、套装、配件、结构、说明书、包装和图片卖点的迭代清单。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F915BE-EF36-417F-825F-C64A374D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357D91-D5CA-44B7-B910-A815765F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Science：Rufus 使用商品目录、评论、Q&amp;A等证据；Amazon Science：COSMO 从用户行为理解购买意图；FlyFus 官方：Rufus问答与评论数据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5ABEA-CF58-4919-8029-7B30D402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4442393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23bb7db87476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70BE2-F384-4ACD-9355-95725D2E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D921E-87FD-4906-9D81-AC923DA7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B8CE9-38A0-47D0-BE81-28221F3B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4921A-D00C-452F-8E8D-3DAB10E3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09FB6-A31F-4073-80B9-2FFD80BA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794C5-0434-4E2E-AAE8-7987579A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EED08-0B1F-4446-901E-86AC0C93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“优化”与“不优化”的长期差别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861A6-7EB5-4188-8FDD-6DCB2824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86375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36677-B27B-40CF-9EEF-3B5DF287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86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203C6-46F1-453F-8757-DAF9C0CE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490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不优化 Alexa / Rufus / COSMO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AEBC2-623A-4192-9E76-21DBA7B6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• 页面只有泛词，缺少具体场景。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5EADA-7B6E-4E9F-AD03-260023C4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• 评论没有被系统化分析，痛点反复出现。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37BBF-BC64-442B-B235-9B06223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• 广告继续抢贵的大词，花费越来越高。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0CA69-7197-4D78-9D8F-84D9A617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• 买家问具体问题时，AI可能更愿意解释竞品。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B595D-8B8B-48CD-8448-C18D16BD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52650"/>
            <a:ext cx="5286375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0AD6D-31CC-43A0-AE99-D71F1CD5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52650"/>
            <a:ext cx="5286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92789-6941-4653-A4A3-D8473CAB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24100"/>
            <a:ext cx="490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围绕 AI导购和意图搜索优化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4AD9A-0D73-4CFE-8FA7-0B5FB44A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38450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• 页面能回答“适合谁、为什么适合”。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FF9D7-9364-4A34-BE7A-C496F2B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95650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• 评论痛点反哺产品改良和图片卖点。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E0D3A2-1D5E-43B2-85A1-72E54B37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752850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• 广告词、Listing、图片围绕同一类需求。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4AE0E-9173-4DF0-8C7E-B8B25989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210050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• 当买家问场景问题时，更有机会进入推荐和比较。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405C9-55B2-43DC-9261-9F548F4E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38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以上为运营推论，依据是 Amazon 官方披露的 AI导购信息来源、搜索意图理解系统和卖家优化建议；实际业绩需用曝光、点击率、转化率、自然单占比、广告花费等指标验证。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A19D77-7379-4034-8F8B-FC8901F5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7DF114-6071-4045-B624-8FFBEF0F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Science：Rufus 使用商品目录、评论、Q&amp;A等证据；Amazon Science：COSMO 搜索意图理解；Amazon Sell：让AI更容易理解Listing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6C1F1-F73E-4257-AC3D-E629B4F5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1902108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079e6be2f446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89866-55DF-4469-8D82-A0C66544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A1730-D3CA-45E4-B167-E4619845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64923-A84B-403C-8309-E3C5C6AF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A3788-C7C4-4A3F-9FAB-C28B62BD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9003E-1623-4B20-AA25-69449CE8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0215D-4526-463D-9750-3E4F006B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6FCED-4207-45C9-A325-3FB84E19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为什么现在必须行动：现在是“鹤立鸡群”，以后只是“补短板”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05046-5B41-4345-8737-581D8585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81375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E11919"/>
          </a:solidFill>
          <a:ln xmlns:a="http://schemas.openxmlformats.org/drawingml/2006/main" w="11430">
            <a:solidFill>
              <a:srgbClr val="E1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2B9A2-92A0-4E22-92A0-F5B01AF7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现在：低竞争窗口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BC531-A07E-44A1-AEE4-A7BBD0CE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3000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大多数卖家还在按老方法写 Listing。只要你先把场景、顾虑、对比、评论证据补齐，就容易显得更完整。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7D974-4A14-408C-A5FD-C47568BB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86000"/>
            <a:ext cx="3381375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45C75-BF3E-4F8B-9936-2B907D0B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过渡期：影响先发生在决策前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AD8A6-70F7-4B70-9CEA-2C95E686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76550"/>
            <a:ext cx="3000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你可能还没感觉销量大跌，但买家已经在搜索栏、AI概览、商品对比里被提前教育和筛选。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D39A8-F9D4-4EB5-8469-4D9BD21D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86000"/>
            <a:ext cx="3381375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16655-382A-4CEC-BC05-B953028B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以后：大家都会做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8BF9C-892A-4DA8-992A-6786ED5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76550"/>
            <a:ext cx="3000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当同类卖家都开始补 AI导购内容，再优化就只是追平标准；先发优势会变小，广告和内容成本会变高。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C982A-CE8D-448F-B124-2BD7B467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9050">
            <a:solidFill>
              <a:srgbClr val="E1191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BB7E7-319F-4FE2-8EF6-2E9CE6A1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10591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</a:defRPr>
            </a:pPr>
            <a:r>
              <a:rPr sz="1350" b="0">
                <a:solidFill>
                  <a:srgbClr val="2B2B2B"/>
                </a:solidFill>
              </a:rPr>
              <a:t>不要等报表提醒你。等到流量或转化明显下滑，往往说明买家的提问入口、AI可引用证据、竞品内容优势已经形成。现在做，是抢新入口；以后做，是补作业。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CB311B-E66C-43B8-A51F-576B536A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582CF-181F-41D7-90CC-79061815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官方：Alexa for Shopping 已进入搜索栏、搜索结果、商品页和Echo Show；Amazon 官方：Rufus用户、互动、购买倾向快速增长；Amazon Sell：AI工具和Listing质量提升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42BE1-46EF-47C5-B4F2-91C449F0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830594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E0EB4B-9719-4E53-9A36-7D21FFF0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38981f13e4e0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2AEB3-B071-4F9E-83F6-0B84445D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C18B0-28EF-4EC9-8DDB-B1C4B97D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34AC3-E7A7-4EBF-B0BA-0E36651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D5199-65D6-4EF8-AB89-5E38BE1E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F4227-C9ED-45D3-B186-A32457D0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BEBC0-F62A-4A28-862D-F717B9C1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11919"/>
                </a:solidFill>
              </a:defRPr>
            </a:pPr>
            <a:r>
              <a:rPr sz="1800" b="1">
                <a:solidFill>
                  <a:srgbClr val="E11919"/>
                </a:solidFill>
              </a:rPr>
              <a:t>FlyFus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C85ED-E6FB-45F0-B141-482B924A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结论：AI导购时代，卖家要从“抢位置”升级为“成为答案”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12BF4-DBD3-49FF-8290-5C61D216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81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C24A0-073F-4800-BF72-25B0C952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11919"/>
                </a:solidFill>
              </a:defRPr>
            </a:pPr>
            <a:r>
              <a:rPr sz="2550" b="1">
                <a:solidFill>
                  <a:srgbClr val="E11919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16803-316C-4E43-8B7D-7839139B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562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先看买家怎么问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41030-6F52-4521-AC66-A319FA36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3000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</a:defRPr>
            </a:pPr>
            <a:r>
              <a:rPr sz="1275" b="0">
                <a:solidFill>
                  <a:srgbClr val="2B2B2B"/>
                </a:solidFill>
              </a:rPr>
              <a:t>购前问答决定你要回答什么。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9A783-1CDF-4023-A869-FBBCBE34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47900"/>
            <a:ext cx="3381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E9060-FD75-421F-A6CA-52213F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3840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11919"/>
                </a:solidFill>
              </a:defRPr>
            </a:pPr>
            <a:r>
              <a:rPr sz="2550" b="1">
                <a:solidFill>
                  <a:srgbClr val="E11919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A728B-78E4-45E4-B3F2-275792BC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57450"/>
            <a:ext cx="2562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再看买家怎么评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EC334-6690-4C0E-82F1-4AECF33B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33700"/>
            <a:ext cx="3000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</a:defRPr>
            </a:pPr>
            <a:r>
              <a:rPr sz="1275" b="0">
                <a:solidFill>
                  <a:srgbClr val="2B2B2B"/>
                </a:solidFill>
              </a:rPr>
              <a:t>评论决定你要强化什么、改掉什么。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F1D98-F141-4F43-BB22-1ABA451B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47900"/>
            <a:ext cx="3381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4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FE235-95D5-4191-A9B3-AA6125B6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3840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11919"/>
                </a:solidFill>
              </a:defRPr>
            </a:pPr>
            <a:r>
              <a:rPr sz="2550" b="1">
                <a:solidFill>
                  <a:srgbClr val="E11919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0AAF6-40CC-40C8-A884-C1002876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2562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最后把内容做成证据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EDB4C-8B54-46D8-9F8B-95624CD0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33700"/>
            <a:ext cx="3000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</a:defRPr>
            </a:pPr>
            <a:r>
              <a:rPr sz="1275" b="0">
                <a:solidFill>
                  <a:srgbClr val="2B2B2B"/>
                </a:solidFill>
              </a:rPr>
              <a:t>Listing、图片、A+、Q&amp;A、广告词统一回答同一批真实需求。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A6D06-E222-47D1-BEA0-EBE1D0FA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57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</a:defRPr>
            </a:pPr>
            <a:r>
              <a:rPr sz="1575" b="0">
                <a:solidFill>
                  <a:srgbClr val="2B2B2B"/>
                </a:solidFill>
              </a:rPr>
              <a:t>FlyFus 的定位：不是让你迎合算法投机，而是帮你用真实买家数据，把产品和页面改成 Alexa for Shopping 更容易理解、COSMO式意图搜索更容易匹配、买家更容易相信的答案。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784FB-3644-4566-AA8B-B6660644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9F3DE-F13A-48E8-94CB-F10C56FF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来源：Amazon 官方：Alexa for Shopping；Amazon Science：Rufus技术与信息来源；Amazon Science：COSMO论文；FlyFus 官方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67A10D-3C9B-4A05-96FF-7BA71DEA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</a:defRPr>
            </a:pPr>
            <a:r>
              <a:rPr sz="900" b="0">
                <a:solidFill>
                  <a:srgbClr val="999999"/>
                </a:solidFill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482576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2026-06-09T08:57:10.9660000Z</dcterms:created>
  <dcterms:modified xsi:type="dcterms:W3CDTF">2026-06-09T08:57:10.9660000Z</dcterms:modified>
</coreProperties>
</file>