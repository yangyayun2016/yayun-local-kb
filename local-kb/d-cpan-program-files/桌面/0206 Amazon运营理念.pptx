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3"/>
    <p:sldId id="257" r:id="rId4"/>
    <p:sldId id="258" r:id="rId5"/>
    <p:sldId id="269" r:id="rId6"/>
    <p:sldId id="326" r:id="rId7"/>
    <p:sldId id="283" r:id="rId9"/>
    <p:sldId id="370" r:id="rId10"/>
    <p:sldId id="325" r:id="rId11"/>
    <p:sldId id="321" r:id="rId12"/>
    <p:sldId id="371" r:id="rId13"/>
    <p:sldId id="334" r:id="rId14"/>
    <p:sldId id="357" r:id="rId15"/>
    <p:sldId id="358" r:id="rId16"/>
    <p:sldId id="359" r:id="rId17"/>
    <p:sldId id="360" r:id="rId18"/>
    <p:sldId id="332" r:id="rId19"/>
    <p:sldId id="338" r:id="rId20"/>
    <p:sldId id="339" r:id="rId21"/>
    <p:sldId id="340" r:id="rId22"/>
    <p:sldId id="333" r:id="rId23"/>
    <p:sldId id="335" r:id="rId24"/>
    <p:sldId id="336" r:id="rId25"/>
    <p:sldId id="337" r:id="rId26"/>
    <p:sldId id="348" r:id="rId27"/>
    <p:sldId id="341" r:id="rId28"/>
    <p:sldId id="342" r:id="rId29"/>
    <p:sldId id="343" r:id="rId30"/>
    <p:sldId id="344" r:id="rId31"/>
    <p:sldId id="345" r:id="rId32"/>
    <p:sldId id="346" r:id="rId33"/>
    <p:sldId id="347" r:id="rId34"/>
    <p:sldId id="330" r:id="rId35"/>
    <p:sldId id="331" r:id="rId36"/>
    <p:sldId id="373" r:id="rId37"/>
    <p:sldId id="349" r:id="rId38"/>
    <p:sldId id="322" r:id="rId39"/>
    <p:sldId id="361" r:id="rId40"/>
    <p:sldId id="362" r:id="rId41"/>
    <p:sldId id="363" r:id="rId42"/>
    <p:sldId id="364" r:id="rId43"/>
    <p:sldId id="366" r:id="rId44"/>
    <p:sldId id="367" r:id="rId45"/>
    <p:sldId id="374" r:id="rId46"/>
    <p:sldId id="375" r:id="rId47"/>
    <p:sldId id="376" r:id="rId48"/>
    <p:sldId id="323" r:id="rId49"/>
    <p:sldId id="352" r:id="rId50"/>
    <p:sldId id="353" r:id="rId51"/>
    <p:sldId id="354" r:id="rId52"/>
    <p:sldId id="355" r:id="rId53"/>
    <p:sldId id="368" r:id="rId54"/>
    <p:sldId id="350" r:id="rId55"/>
    <p:sldId id="351" r:id="rId56"/>
    <p:sldId id="420" r:id="rId57"/>
    <p:sldId id="421" r:id="rId58"/>
    <p:sldId id="356" r:id="rId59"/>
    <p:sldId id="294" r:id="rId60"/>
    <p:sldId id="324" r:id="rId6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8AC8"/>
    <a:srgbClr val="0558CB"/>
    <a:srgbClr val="249264"/>
    <a:srgbClr val="384B5A"/>
    <a:srgbClr val="131A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89" autoAdjust="0"/>
    <p:restoredTop sz="94660"/>
  </p:normalViewPr>
  <p:slideViewPr>
    <p:cSldViewPr snapToGrid="0">
      <p:cViewPr>
        <p:scale>
          <a:sx n="48" d="100"/>
          <a:sy n="48" d="100"/>
        </p:scale>
        <p:origin x="2220" y="1524"/>
      </p:cViewPr>
      <p:guideLst/>
    </p:cSldViewPr>
  </p:slideViewPr>
  <p:notesTextViewPr>
    <p:cViewPr>
      <p:scale>
        <a:sx n="1" d="1"/>
        <a:sy n="1" d="1"/>
      </p:scale>
      <p:origin x="0" y="0"/>
    </p:cViewPr>
  </p:notesTextViewPr>
  <p:sorterViewPr>
    <p:cViewPr>
      <p:scale>
        <a:sx n="46" d="100"/>
        <a:sy n="4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2" Type="http://schemas.openxmlformats.org/officeDocument/2006/relationships/themeOverride" Target="../theme/themeOverride2.xml"/><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2" Type="http://schemas.openxmlformats.org/officeDocument/2006/relationships/themeOverride" Target="../theme/themeOverride3.xml"/><Relationship Id="rId1" Type="http://schemas.openxmlformats.org/officeDocument/2006/relationships/package" Target="../embeddings/Workbook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explosion val="0"/>
          <c:dPt>
            <c:idx val="0"/>
            <c:bubble3D val="0"/>
            <c:spPr>
              <a:solidFill>
                <a:schemeClr val="tx1">
                  <a:lumMod val="65000"/>
                  <a:lumOff val="35000"/>
                </a:schemeClr>
              </a:solidFill>
            </c:spPr>
          </c:dPt>
          <c:dPt>
            <c:idx val="1"/>
            <c:bubble3D val="0"/>
            <c:spPr>
              <a:pattFill prst="dkDnDiag">
                <a:fgClr>
                  <a:schemeClr val="bg1">
                    <a:lumMod val="85000"/>
                  </a:schemeClr>
                </a:fgClr>
                <a:bgClr>
                  <a:schemeClr val="bg2"/>
                </a:bgClr>
              </a:pattFill>
            </c:spPr>
          </c:dPt>
          <c:dLbls>
            <c:delete val="1"/>
          </c:dLbls>
          <c:cat>
            <c:numRef>
              <c:f>Sheet1!$A$2:$A$3</c:f>
              <c:numCache>
                <c:formatCode>General</c:formatCode>
                <c:ptCount val="2"/>
              </c:numCache>
            </c:numRef>
          </c:cat>
          <c:val>
            <c:numRef>
              <c:f>Sheet1!$B$2:$B$3</c:f>
              <c:numCache>
                <c:formatCode>General</c:formatCode>
                <c:ptCount val="2"/>
                <c:pt idx="0">
                  <c:v>73</c:v>
                </c:pt>
                <c:pt idx="1">
                  <c:v>27</c:v>
                </c:pt>
              </c:numCache>
            </c:numRef>
          </c:val>
        </c:ser>
        <c:dLbls>
          <c:showLegendKey val="0"/>
          <c:showVal val="0"/>
          <c:showCatName val="0"/>
          <c:showSerName val="0"/>
          <c:showPercent val="0"/>
          <c:showBubbleSize val="0"/>
          <c:showLeaderLines val="1"/>
        </c:dLbls>
        <c:firstSliceAng val="0"/>
        <c:holeSize val="82"/>
      </c:doughnutChart>
    </c:plotArea>
    <c:plotVisOnly val="1"/>
    <c:dispBlanksAs val="zero"/>
    <c:showDLblsOverMax val="0"/>
    <c:extLst>
      <c:ext uri="{0b15fc19-7d7d-44ad-8c2d-2c3a37ce22c3}">
        <chartProps xmlns="https://web.wps.cn/et/2018/main" chartId="{de2f79ce-b134-4b6d-b5ea-b42f4047b5c0}"/>
      </c:ext>
    </c:extLst>
  </c:chart>
  <c:txPr>
    <a:bodyPr/>
    <a:lstStyle/>
    <a:p>
      <a:pPr>
        <a:defRPr lang="zh-CN" sz="1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Column1</c:v>
                </c:pt>
              </c:strCache>
            </c:strRef>
          </c:tx>
          <c:explosion val="0"/>
          <c:dPt>
            <c:idx val="0"/>
            <c:bubble3D val="0"/>
            <c:spPr>
              <a:solidFill>
                <a:sysClr val="windowText" lastClr="000000">
                  <a:lumMod val="65000"/>
                  <a:lumOff val="35000"/>
                </a:sysClr>
              </a:solidFill>
            </c:spPr>
          </c:dPt>
          <c:dPt>
            <c:idx val="1"/>
            <c:bubble3D val="0"/>
            <c:spPr>
              <a:pattFill prst="dkDnDiag">
                <a:fgClr>
                  <a:schemeClr val="bg1">
                    <a:lumMod val="85000"/>
                  </a:schemeClr>
                </a:fgClr>
                <a:bgClr>
                  <a:schemeClr val="bg2"/>
                </a:bgClr>
              </a:pattFill>
            </c:spPr>
          </c:dPt>
          <c:dLbls>
            <c:delete val="1"/>
          </c:dLbls>
          <c:cat>
            <c:numRef>
              <c:f>Sheet1!$A$2:$A$3</c:f>
              <c:numCache>
                <c:formatCode>General</c:formatCode>
                <c:ptCount val="2"/>
              </c:numCache>
            </c:numRef>
          </c:cat>
          <c:val>
            <c:numRef>
              <c:f>Sheet1!$B$2:$B$3</c:f>
              <c:numCache>
                <c:formatCode>General</c:formatCode>
                <c:ptCount val="2"/>
                <c:pt idx="0">
                  <c:v>87</c:v>
                </c:pt>
                <c:pt idx="1">
                  <c:v>13</c:v>
                </c:pt>
              </c:numCache>
            </c:numRef>
          </c:val>
        </c:ser>
        <c:dLbls>
          <c:showLegendKey val="0"/>
          <c:showVal val="0"/>
          <c:showCatName val="0"/>
          <c:showSerName val="0"/>
          <c:showPercent val="0"/>
          <c:showBubbleSize val="0"/>
          <c:showLeaderLines val="1"/>
        </c:dLbls>
        <c:firstSliceAng val="0"/>
        <c:holeSize val="82"/>
      </c:doughnutChart>
    </c:plotArea>
    <c:plotVisOnly val="1"/>
    <c:dispBlanksAs val="zero"/>
    <c:showDLblsOverMax val="0"/>
    <c:extLst>
      <c:ext uri="{0b15fc19-7d7d-44ad-8c2d-2c3a37ce22c3}">
        <chartProps xmlns="https://web.wps.cn/et/2018/main" chartId="{ca9eee3b-b478-4f1f-9bf8-1c09fda6ae6e}"/>
      </c:ext>
    </c:extLst>
  </c:chart>
  <c:txPr>
    <a:bodyPr/>
    <a:lstStyle/>
    <a:p>
      <a:pPr>
        <a:defRPr lang="zh-CN" sz="1800"/>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Column1</c:v>
                </c:pt>
              </c:strCache>
            </c:strRef>
          </c:tx>
          <c:explosion val="0"/>
          <c:dPt>
            <c:idx val="0"/>
            <c:bubble3D val="0"/>
            <c:spPr>
              <a:solidFill>
                <a:sysClr val="windowText" lastClr="000000">
                  <a:lumMod val="65000"/>
                  <a:lumOff val="35000"/>
                </a:sysClr>
              </a:solidFill>
            </c:spPr>
          </c:dPt>
          <c:dPt>
            <c:idx val="1"/>
            <c:bubble3D val="0"/>
            <c:spPr>
              <a:pattFill prst="dkDnDiag">
                <a:fgClr>
                  <a:schemeClr val="bg1">
                    <a:lumMod val="85000"/>
                  </a:schemeClr>
                </a:fgClr>
                <a:bgClr>
                  <a:schemeClr val="bg2"/>
                </a:bgClr>
              </a:pattFill>
            </c:spPr>
          </c:dPt>
          <c:dLbls>
            <c:delete val="1"/>
          </c:dLbls>
          <c:cat>
            <c:numRef>
              <c:f>Sheet1!$A$2:$A$3</c:f>
              <c:numCache>
                <c:formatCode>General</c:formatCode>
                <c:ptCount val="2"/>
              </c:numCache>
            </c:numRef>
          </c:cat>
          <c:val>
            <c:numRef>
              <c:f>Sheet1!$B$2:$B$3</c:f>
              <c:numCache>
                <c:formatCode>General</c:formatCode>
                <c:ptCount val="2"/>
                <c:pt idx="0">
                  <c:v>35</c:v>
                </c:pt>
                <c:pt idx="1">
                  <c:v>65</c:v>
                </c:pt>
              </c:numCache>
            </c:numRef>
          </c:val>
        </c:ser>
        <c:dLbls>
          <c:showLegendKey val="0"/>
          <c:showVal val="0"/>
          <c:showCatName val="0"/>
          <c:showSerName val="0"/>
          <c:showPercent val="0"/>
          <c:showBubbleSize val="0"/>
          <c:showLeaderLines val="1"/>
        </c:dLbls>
        <c:firstSliceAng val="0"/>
        <c:holeSize val="82"/>
      </c:doughnutChart>
      <c:spPr>
        <a:noFill/>
        <a:ln w="25400">
          <a:noFill/>
        </a:ln>
      </c:spPr>
    </c:plotArea>
    <c:plotVisOnly val="1"/>
    <c:dispBlanksAs val="zero"/>
    <c:showDLblsOverMax val="0"/>
    <c:extLst>
      <c:ext uri="{0b15fc19-7d7d-44ad-8c2d-2c3a37ce22c3}">
        <chartProps xmlns="https://web.wps.cn/et/2018/main" chartId="{fe9ce8c1-b2c3-4de0-8fc0-a58e1452dacb}"/>
      </c:ext>
    </c:extLst>
  </c:chart>
  <c:txPr>
    <a:bodyPr/>
    <a:lstStyle/>
    <a:p>
      <a:pPr>
        <a:defRPr lang="zh-CN" sz="1800"/>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Column1</c:v>
                </c:pt>
              </c:strCache>
            </c:strRef>
          </c:tx>
          <c:explosion val="0"/>
          <c:dPt>
            <c:idx val="0"/>
            <c:bubble3D val="0"/>
            <c:spPr>
              <a:solidFill>
                <a:sysClr val="windowText" lastClr="000000">
                  <a:lumMod val="65000"/>
                  <a:lumOff val="35000"/>
                </a:sysClr>
              </a:solidFill>
            </c:spPr>
          </c:dPt>
          <c:dPt>
            <c:idx val="1"/>
            <c:bubble3D val="0"/>
            <c:spPr>
              <a:pattFill prst="dkDnDiag">
                <a:fgClr>
                  <a:schemeClr val="bg1">
                    <a:lumMod val="85000"/>
                  </a:schemeClr>
                </a:fgClr>
                <a:bgClr>
                  <a:schemeClr val="bg2"/>
                </a:bgClr>
              </a:pattFill>
            </c:spPr>
          </c:dPt>
          <c:dLbls>
            <c:delete val="1"/>
          </c:dLbls>
          <c:cat>
            <c:numRef>
              <c:f>Sheet1!$A$2:$A$3</c:f>
              <c:numCache>
                <c:formatCode>General</c:formatCode>
                <c:ptCount val="2"/>
              </c:numCache>
            </c:numRef>
          </c:cat>
          <c:val>
            <c:numRef>
              <c:f>Sheet1!$B$2:$B$3</c:f>
              <c:numCache>
                <c:formatCode>General</c:formatCode>
                <c:ptCount val="2"/>
                <c:pt idx="0">
                  <c:v>50</c:v>
                </c:pt>
                <c:pt idx="1">
                  <c:v>50</c:v>
                </c:pt>
              </c:numCache>
            </c:numRef>
          </c:val>
        </c:ser>
        <c:dLbls>
          <c:showLegendKey val="0"/>
          <c:showVal val="0"/>
          <c:showCatName val="0"/>
          <c:showSerName val="0"/>
          <c:showPercent val="0"/>
          <c:showBubbleSize val="0"/>
          <c:showLeaderLines val="1"/>
        </c:dLbls>
        <c:firstSliceAng val="0"/>
        <c:holeSize val="82"/>
      </c:doughnutChart>
    </c:plotArea>
    <c:plotVisOnly val="1"/>
    <c:dispBlanksAs val="zero"/>
    <c:showDLblsOverMax val="0"/>
    <c:extLst>
      <c:ext uri="{0b15fc19-7d7d-44ad-8c2d-2c3a37ce22c3}">
        <chartProps xmlns="https://web.wps.cn/et/2018/main" chartId="{08fbb6b8-4fc0-494c-988b-daf9e37a2a04}"/>
      </c:ext>
    </c:extLst>
  </c:chart>
  <c:txPr>
    <a:bodyPr/>
    <a:lstStyle/>
    <a:p>
      <a:pPr>
        <a:defRPr lang="zh-CN"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7BF046-E461-4890-93B0-498B5C6B648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0DDD9D-0F28-477C-B5F2-8B88361D654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D8D16-7B1D-4B80-BAA8-6A4CD89F6F7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BAE28C-3D3E-4DF5-86CA-388958D9FF2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D5ECE6-943B-49D7-A8A9-CDF5665F1A4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D8D16-7B1D-4B80-BAA8-6A4CD89F6F7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0E90C25-E008-435B-8C58-2D9C85EE25A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My First Template</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DDDFC7-F288-4EFC-B594-E1B44275110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BA86855-8D0F-4FB8-8AB6-33D9A113F64C}"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D8D16-7B1D-4B80-BAA8-6A4CD89F6F7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D5ECE6-943B-49D7-A8A9-CDF5665F1A4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D5ECE6-943B-49D7-A8A9-CDF5665F1A4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7BAE28C-3D3E-4DF5-86CA-388958D9FF29}"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0E90C25-E008-435B-8C58-2D9C85EE25A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0E90C25-E008-435B-8C58-2D9C85EE25A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D8D16-7B1D-4B80-BAA8-6A4CD89F6F7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9B787F-380B-41D6-AC13-D8B35AB2DD79}"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854CB16-7291-478B-BA08-B58146A058D8}"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6BE02D-20C0-F840-AFAC-BEA99C74FDC2}"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userDrawn="1"/>
        </p:nvSpPr>
        <p:spPr>
          <a:xfrm>
            <a:off x="0" y="0"/>
            <a:ext cx="12192000" cy="6858000"/>
          </a:xfrm>
          <a:prstGeom prst="rect">
            <a:avLst/>
          </a:prstGeom>
          <a:solidFill>
            <a:schemeClr val="bg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82880" y="197485"/>
            <a:ext cx="10515600" cy="594995"/>
          </a:xfrm>
        </p:spPr>
        <p:txBody>
          <a:bodyPr>
            <a:normAutofit/>
          </a:bodyPr>
          <a:lstStyle>
            <a:lvl1pPr>
              <a:defRPr sz="3200" b="1">
                <a:solidFill>
                  <a:schemeClr val="accent1"/>
                </a:solidFill>
              </a:defRPr>
            </a:lvl1p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act-Us">
    <p:spTree>
      <p:nvGrpSpPr>
        <p:cNvPr id="1" name=""/>
        <p:cNvGrpSpPr/>
        <p:nvPr/>
      </p:nvGrpSpPr>
      <p:grpSpPr>
        <a:xfrm>
          <a:off x="0" y="0"/>
          <a:ext cx="0" cy="0"/>
          <a:chOff x="0" y="0"/>
          <a:chExt cx="0" cy="0"/>
        </a:xfrm>
      </p:grpSpPr>
      <p:sp>
        <p:nvSpPr>
          <p:cNvPr id="15" name="Picture Placeholder 13"/>
          <p:cNvSpPr>
            <a:spLocks noGrp="1" noChangeAspect="1"/>
          </p:cNvSpPr>
          <p:nvPr>
            <p:ph type="pic" sz="quarter" idx="13"/>
          </p:nvPr>
        </p:nvSpPr>
        <p:spPr>
          <a:xfrm>
            <a:off x="-1" y="0"/>
            <a:ext cx="12192001" cy="3910013"/>
          </a:xfrm>
          <a:effectLst/>
        </p:spPr>
        <p:txBody>
          <a:bodyPr>
            <a:normAutofit/>
          </a:bodyPr>
          <a:lstStyle>
            <a:lvl1pPr marL="0" indent="0">
              <a:buNone/>
              <a:defRPr sz="2100">
                <a:ln>
                  <a:noFill/>
                </a:ln>
                <a:solidFill>
                  <a:schemeClr val="bg1">
                    <a:lumMod val="85000"/>
                  </a:schemeClr>
                </a:solidFill>
                <a:latin typeface="+mn-ea"/>
                <a:ea typeface="+mn-ea"/>
              </a:defRPr>
            </a:lvl1pPr>
          </a:lstStyle>
          <a:p>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2206170" y="1487838"/>
            <a:ext cx="2340244" cy="1751309"/>
          </a:xfrm>
          <a:custGeom>
            <a:avLst/>
            <a:gdLst>
              <a:gd name="connsiteX0" fmla="*/ 0 w 2340244"/>
              <a:gd name="connsiteY0" fmla="*/ 0 h 1751309"/>
              <a:gd name="connsiteX1" fmla="*/ 2340244 w 2340244"/>
              <a:gd name="connsiteY1" fmla="*/ 0 h 1751309"/>
              <a:gd name="connsiteX2" fmla="*/ 2340244 w 2340244"/>
              <a:gd name="connsiteY2" fmla="*/ 1751309 h 1751309"/>
              <a:gd name="connsiteX3" fmla="*/ 0 w 2340244"/>
              <a:gd name="connsiteY3" fmla="*/ 1751309 h 1751309"/>
            </a:gdLst>
            <a:ahLst/>
            <a:cxnLst>
              <a:cxn ang="0">
                <a:pos x="connsiteX0" y="connsiteY0"/>
              </a:cxn>
              <a:cxn ang="0">
                <a:pos x="connsiteX1" y="connsiteY1"/>
              </a:cxn>
              <a:cxn ang="0">
                <a:pos x="connsiteX2" y="connsiteY2"/>
              </a:cxn>
              <a:cxn ang="0">
                <a:pos x="connsiteX3" y="connsiteY3"/>
              </a:cxn>
            </a:cxnLst>
            <a:rect l="l" t="t" r="r" b="b"/>
            <a:pathLst>
              <a:path w="2340244" h="1751309">
                <a:moveTo>
                  <a:pt x="0" y="0"/>
                </a:moveTo>
                <a:lnTo>
                  <a:pt x="2340244" y="0"/>
                </a:lnTo>
                <a:lnTo>
                  <a:pt x="2340244" y="1751309"/>
                </a:lnTo>
                <a:lnTo>
                  <a:pt x="0" y="1751309"/>
                </a:lnTo>
                <a:close/>
              </a:path>
            </a:pathLst>
          </a:custGeom>
        </p:spPr>
        <p:txBody>
          <a:bodyPr wrap="square">
            <a:noAutofit/>
          </a:bodyPr>
          <a:lstStyle>
            <a:lvl1pPr>
              <a:defRPr sz="1400">
                <a:solidFill>
                  <a:schemeClr val="tx1">
                    <a:lumMod val="50000"/>
                    <a:lumOff val="50000"/>
                  </a:schemeClr>
                </a:solidFill>
              </a:defRPr>
            </a:lvl1pPr>
          </a:lstStyle>
          <a:p>
            <a:endParaRPr lang="zh-CN" altLang="en-US"/>
          </a:p>
        </p:txBody>
      </p:sp>
      <p:sp>
        <p:nvSpPr>
          <p:cNvPr id="2" name="矩形 1"/>
          <p:cNvSpPr/>
          <p:nvPr userDrawn="1"/>
        </p:nvSpPr>
        <p:spPr>
          <a:xfrm>
            <a:off x="262316" y="297180"/>
            <a:ext cx="1206631"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自定义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7" name="日期占位符 2"/>
          <p:cNvSpPr>
            <a:spLocks noGrp="1"/>
          </p:cNvSpPr>
          <p:nvPr>
            <p:ph type="dt" sz="half" idx="2"/>
          </p:nvPr>
        </p:nvSpPr>
        <p:spPr bwMode="auto">
          <a:xfrm>
            <a:off x="838200" y="6356350"/>
            <a:ext cx="2743200" cy="365125"/>
          </a:xfrm>
          <a:prstGeom prst="rect">
            <a:avLst/>
          </a:prstGeom>
          <a:ln>
            <a:miter lim="800000"/>
          </a:ln>
        </p:spPr>
        <p:txBody>
          <a:bodyPr vert="horz" wrap="square" lIns="91440" tIns="45720" rIns="91440" bIns="45720" numCol="1" anchor="ctr" anchorCtr="0" compatLnSpc="1"/>
          <a:lstStyle>
            <a:lvl1pPr>
              <a:defRPr/>
            </a:lvl1pPr>
          </a:lstStyle>
          <a:p>
            <a:pPr fontAlgn="base">
              <a:spcBef>
                <a:spcPct val="0"/>
              </a:spcBef>
              <a:spcAft>
                <a:spcPct val="0"/>
              </a:spcAft>
              <a:buFont typeface="Arial" panose="020B0604020202020204" pitchFamily="34" charset="0"/>
              <a:buNone/>
              <a:defRPr/>
            </a:pPr>
            <a:fld id="{69FEE8E9-A6BB-460D-B3B5-6F6B70813562}" type="datetime1">
              <a:rPr lang="zh-CN" altLang="en-US">
                <a:solidFill>
                  <a:prstClr val="black">
                    <a:tint val="75000"/>
                  </a:prstClr>
                </a:solidFill>
                <a:latin typeface="Arial" panose="020B0604020202020204" pitchFamily="34" charset="0"/>
              </a:rPr>
            </a:fld>
            <a:endParaRPr lang="zh-CN" altLang="en-US" sz="1800">
              <a:solidFill>
                <a:prstClr val="black"/>
              </a:solidFill>
              <a:latin typeface="Arial" panose="020B0604020202020204" pitchFamily="34" charset="0"/>
            </a:endParaRPr>
          </a:p>
        </p:txBody>
      </p:sp>
      <p:sp>
        <p:nvSpPr>
          <p:cNvPr id="8" name="页脚占位符 3"/>
          <p:cNvSpPr>
            <a:spLocks noGrp="1"/>
          </p:cNvSpPr>
          <p:nvPr>
            <p:ph type="ftr" sz="quarter" idx="3"/>
          </p:nvPr>
        </p:nvSpPr>
        <p:spPr bwMode="auto">
          <a:xfrm>
            <a:off x="4038600" y="6356350"/>
            <a:ext cx="4114800" cy="365125"/>
          </a:xfrm>
          <a:prstGeom prst="rect">
            <a:avLst/>
          </a:prstGeom>
          <a:ln>
            <a:miter lim="800000"/>
          </a:ln>
        </p:spPr>
        <p:txBody>
          <a:bodyPr vert="horz" wrap="square" lIns="91440" tIns="45720" rIns="91440" bIns="45720" numCol="1" anchor="ctr" anchorCtr="0" compatLnSpc="1"/>
          <a:lstStyle>
            <a:lvl1pPr>
              <a:defRPr/>
            </a:lvl1pPr>
          </a:lstStyle>
          <a:p>
            <a:pPr fontAlgn="base">
              <a:spcBef>
                <a:spcPct val="0"/>
              </a:spcBef>
              <a:spcAft>
                <a:spcPct val="0"/>
              </a:spcAft>
              <a:buFont typeface="Arial" panose="020B0604020202020204" pitchFamily="34" charset="0"/>
              <a:buNone/>
              <a:defRPr/>
            </a:pPr>
            <a:endParaRPr lang="zh-CN" altLang="zh-CN">
              <a:solidFill>
                <a:prstClr val="black">
                  <a:tint val="75000"/>
                </a:prstClr>
              </a:solidFill>
              <a:latin typeface="Arial" panose="020B0604020202020204" pitchFamily="34" charset="0"/>
            </a:endParaRPr>
          </a:p>
        </p:txBody>
      </p:sp>
      <p:sp>
        <p:nvSpPr>
          <p:cNvPr id="9" name="灯片编号占位符 4"/>
          <p:cNvSpPr>
            <a:spLocks noGrp="1"/>
          </p:cNvSpPr>
          <p:nvPr>
            <p:ph type="sldNum" sz="quarter" idx="4"/>
          </p:nvPr>
        </p:nvSpPr>
        <p:spPr bwMode="auto">
          <a:xfrm>
            <a:off x="8610600" y="6356350"/>
            <a:ext cx="2743200" cy="365125"/>
          </a:xfrm>
          <a:prstGeom prst="rect">
            <a:avLst/>
          </a:prstGeom>
          <a:ln>
            <a:miter lim="800000"/>
          </a:ln>
        </p:spPr>
        <p:txBody>
          <a:bodyPr vert="horz" wrap="square" lIns="91440" tIns="45720" rIns="91440" bIns="45720" numCol="1" anchor="ctr" anchorCtr="0" compatLnSpc="1"/>
          <a:lstStyle>
            <a:lvl1pPr>
              <a:defRPr smtClean="0"/>
            </a:lvl1pPr>
          </a:lstStyle>
          <a:p>
            <a:pPr fontAlgn="base">
              <a:spcBef>
                <a:spcPct val="0"/>
              </a:spcBef>
              <a:spcAft>
                <a:spcPct val="0"/>
              </a:spcAft>
              <a:buFont typeface="Arial" panose="020B0604020202020204" pitchFamily="34" charset="0"/>
              <a:buNone/>
              <a:defRPr/>
            </a:pPr>
            <a:fld id="{EAAADA2E-EA48-4AEB-B1AC-D51B635A98B9}" type="slidenum">
              <a:rPr lang="zh-CN" altLang="en-US">
                <a:solidFill>
                  <a:prstClr val="black">
                    <a:tint val="75000"/>
                  </a:prstClr>
                </a:solidFill>
                <a:latin typeface="Arial" panose="020B0604020202020204" pitchFamily="34" charset="0"/>
              </a:rPr>
            </a:fld>
            <a:endParaRPr lang="zh-CN" altLang="en-US" sz="1800">
              <a:solidFill>
                <a:prstClr val="black"/>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2.jpe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microsoft.com/office/2007/relationships/media" Target="../media/media1.mp3"/><Relationship Id="rId1" Type="http://schemas.openxmlformats.org/officeDocument/2006/relationships/audio" Target="../media/media1.mp3"/></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6.xml"/><Relationship Id="rId2" Type="http://schemas.openxmlformats.org/officeDocument/2006/relationships/image" Target="../media/image5.jpe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6.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hdphoto" Target="../media/image19.wdp"/><Relationship Id="rId5" Type="http://schemas.openxmlformats.org/officeDocument/2006/relationships/image" Target="../media/image18.png"/><Relationship Id="rId4" Type="http://schemas.microsoft.com/office/2007/relationships/hdphoto" Target="../media/image17.wdp"/><Relationship Id="rId3" Type="http://schemas.openxmlformats.org/officeDocument/2006/relationships/image" Target="../media/image16.png"/><Relationship Id="rId2" Type="http://schemas.microsoft.com/office/2007/relationships/hdphoto" Target="../media/image15.wdp"/><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chart" Target="../charts/chart4.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image" Target="../media/image23.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6.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image" Target="../media/image28.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6.xml"/><Relationship Id="rId2" Type="http://schemas.openxmlformats.org/officeDocument/2006/relationships/image" Target="../media/image29.png"/><Relationship Id="rId1" Type="http://schemas.openxmlformats.org/officeDocument/2006/relationships/tags" Target="../tags/tag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6.xml"/><Relationship Id="rId2" Type="http://schemas.openxmlformats.org/officeDocument/2006/relationships/image" Target="../media/image31.png"/><Relationship Id="rId1" Type="http://schemas.openxmlformats.org/officeDocument/2006/relationships/image" Target="../media/image30.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6.xml"/><Relationship Id="rId2" Type="http://schemas.openxmlformats.org/officeDocument/2006/relationships/tags" Target="../tags/tag4.xml"/><Relationship Id="rId1"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52.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6.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6.xml"/><Relationship Id="rId2" Type="http://schemas.openxmlformats.org/officeDocument/2006/relationships/image" Target="../media/image39.png"/><Relationship Id="rId1" Type="http://schemas.openxmlformats.org/officeDocument/2006/relationships/image" Target="../media/image38.png"/></Relationships>
</file>

<file path=ppt/slides/_rels/slide54.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47.png"/><Relationship Id="rId7" Type="http://schemas.openxmlformats.org/officeDocument/2006/relationships/image" Target="../media/image46.png"/><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41.png"/><Relationship Id="rId15" Type="http://schemas.openxmlformats.org/officeDocument/2006/relationships/notesSlide" Target="../notesSlides/notesSlide23.xml"/><Relationship Id="rId14" Type="http://schemas.openxmlformats.org/officeDocument/2006/relationships/slideLayout" Target="../slideLayouts/slideLayout6.xml"/><Relationship Id="rId13" Type="http://schemas.openxmlformats.org/officeDocument/2006/relationships/image" Target="../media/image52.png"/><Relationship Id="rId12" Type="http://schemas.openxmlformats.org/officeDocument/2006/relationships/image" Target="../media/image51.png"/><Relationship Id="rId11" Type="http://schemas.openxmlformats.org/officeDocument/2006/relationships/image" Target="../media/image50.png"/><Relationship Id="rId10" Type="http://schemas.openxmlformats.org/officeDocument/2006/relationships/image" Target="../media/image49.png"/><Relationship Id="rId1" Type="http://schemas.openxmlformats.org/officeDocument/2006/relationships/image" Target="../media/image40.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image" Target="../media/image53.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5.xml"/><Relationship Id="rId1" Type="http://schemas.openxmlformats.org/officeDocument/2006/relationships/image" Target="../media/image5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2.xml"/><Relationship Id="rId2" Type="http://schemas.openxmlformats.org/officeDocument/2006/relationships/image" Target="../media/image57.png"/><Relationship Id="rId1" Type="http://schemas.openxmlformats.org/officeDocument/2006/relationships/image" Target="../media/image5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
          <p:cNvSpPr txBox="1"/>
          <p:nvPr/>
        </p:nvSpPr>
        <p:spPr>
          <a:xfrm>
            <a:off x="2695309" y="3437238"/>
            <a:ext cx="7176059" cy="489585"/>
          </a:xfrm>
          <a:prstGeom prst="rect">
            <a:avLst/>
          </a:prstGeom>
          <a:noFill/>
        </p:spPr>
        <p:txBody>
          <a:bodyPr wrap="square" lIns="121908" tIns="60954" rIns="121908" bIns="60954" rtlCol="0">
            <a:spAutoFit/>
          </a:bodyPr>
          <a:lstStyle/>
          <a:p>
            <a:pPr algn="ctr"/>
            <a:r>
              <a:rPr lang="zh-CN" altLang="en-US" sz="2400" dirty="0">
                <a:solidFill>
                  <a:schemeClr val="accent1"/>
                </a:solidFill>
                <a:latin typeface="微软雅黑" panose="020B0503020204020204" charset="-122"/>
                <a:cs typeface="微软雅黑" panose="020B0503020204020204" charset="-122"/>
              </a:rPr>
              <a:t>精品模式 </a:t>
            </a:r>
            <a:r>
              <a:rPr lang="en-US" altLang="zh-CN" sz="2400" dirty="0">
                <a:solidFill>
                  <a:schemeClr val="accent1"/>
                </a:solidFill>
                <a:latin typeface="微软雅黑" panose="020B0503020204020204" charset="-122"/>
                <a:cs typeface="微软雅黑" panose="020B0503020204020204" charset="-122"/>
              </a:rPr>
              <a:t>| </a:t>
            </a:r>
            <a:r>
              <a:rPr lang="zh-CN" altLang="en-US" sz="2400" dirty="0">
                <a:solidFill>
                  <a:schemeClr val="accent1"/>
                </a:solidFill>
                <a:latin typeface="微软雅黑" panose="020B0503020204020204" charset="-122"/>
                <a:cs typeface="微软雅黑" panose="020B0503020204020204" charset="-122"/>
              </a:rPr>
              <a:t>爆款流程 </a:t>
            </a:r>
            <a:r>
              <a:rPr lang="en-US" altLang="zh-CN" sz="2400" dirty="0">
                <a:solidFill>
                  <a:schemeClr val="accent1"/>
                </a:solidFill>
                <a:latin typeface="微软雅黑" panose="020B0503020204020204" charset="-122"/>
                <a:cs typeface="微软雅黑" panose="020B0503020204020204" charset="-122"/>
              </a:rPr>
              <a:t>| </a:t>
            </a:r>
            <a:r>
              <a:rPr lang="zh-CN" altLang="en-US" sz="2400" dirty="0">
                <a:solidFill>
                  <a:schemeClr val="accent1"/>
                </a:solidFill>
                <a:latin typeface="微软雅黑" panose="020B0503020204020204" charset="-122"/>
                <a:cs typeface="微软雅黑" panose="020B0503020204020204" charset="-122"/>
              </a:rPr>
              <a:t>数据分析 </a:t>
            </a:r>
            <a:r>
              <a:rPr lang="en-US" altLang="zh-CN" sz="2400" dirty="0">
                <a:solidFill>
                  <a:schemeClr val="accent1"/>
                </a:solidFill>
                <a:latin typeface="微软雅黑" panose="020B0503020204020204" charset="-122"/>
                <a:cs typeface="微软雅黑" panose="020B0503020204020204" charset="-122"/>
              </a:rPr>
              <a:t>| </a:t>
            </a:r>
            <a:r>
              <a:rPr lang="zh-CN" altLang="en-US" sz="2400" dirty="0">
                <a:solidFill>
                  <a:schemeClr val="accent1"/>
                </a:solidFill>
                <a:latin typeface="微软雅黑" panose="020B0503020204020204" charset="-122"/>
                <a:cs typeface="微软雅黑" panose="020B0503020204020204" charset="-122"/>
              </a:rPr>
              <a:t>优化调整</a:t>
            </a:r>
            <a:endParaRPr lang="zh-CN" altLang="en-US" sz="2400" dirty="0">
              <a:solidFill>
                <a:schemeClr val="accent1"/>
              </a:solidFill>
              <a:latin typeface="微软雅黑" panose="020B0503020204020204" charset="-122"/>
              <a:cs typeface="微软雅黑" panose="020B0503020204020204" charset="-122"/>
            </a:endParaRPr>
          </a:p>
        </p:txBody>
      </p:sp>
      <p:sp>
        <p:nvSpPr>
          <p:cNvPr id="3" name="文本框 15"/>
          <p:cNvSpPr txBox="1"/>
          <p:nvPr/>
        </p:nvSpPr>
        <p:spPr>
          <a:xfrm>
            <a:off x="1563389" y="2430107"/>
            <a:ext cx="9439898" cy="1043940"/>
          </a:xfrm>
          <a:prstGeom prst="rect">
            <a:avLst/>
          </a:prstGeom>
          <a:noFill/>
        </p:spPr>
        <p:txBody>
          <a:bodyPr wrap="square" lIns="121908" tIns="60954" rIns="121908" bIns="60954" rtlCol="0">
            <a:spAutoFit/>
          </a:bodyPr>
          <a:lstStyle/>
          <a:p>
            <a:pPr algn="ctr"/>
            <a:r>
              <a:rPr lang="en-US" sz="6000" b="1" dirty="0">
                <a:ln w="12700">
                  <a:noFill/>
                  <a:prstDash val="solid"/>
                </a:ln>
                <a:solidFill>
                  <a:srgbClr val="384B5A"/>
                </a:solidFill>
                <a:latin typeface="+mj-ea"/>
              </a:rPr>
              <a:t>Amazon</a:t>
            </a:r>
            <a:r>
              <a:rPr lang="zh-CN" altLang="en-US" sz="6000" b="1" dirty="0">
                <a:ln w="12700">
                  <a:noFill/>
                  <a:prstDash val="solid"/>
                </a:ln>
                <a:solidFill>
                  <a:srgbClr val="384B5A"/>
                </a:solidFill>
                <a:latin typeface="+mj-ea"/>
              </a:rPr>
              <a:t>运营理念</a:t>
            </a:r>
            <a:endParaRPr lang="zh-CN" altLang="en-US" sz="6000" b="1" dirty="0">
              <a:ln w="12700">
                <a:noFill/>
                <a:prstDash val="solid"/>
              </a:ln>
              <a:solidFill>
                <a:srgbClr val="384B5A"/>
              </a:solidFill>
              <a:latin typeface="+mj-ea"/>
            </a:endParaRPr>
          </a:p>
        </p:txBody>
      </p:sp>
      <p:sp>
        <p:nvSpPr>
          <p:cNvPr id="4" name="矩形 3"/>
          <p:cNvSpPr/>
          <p:nvPr/>
        </p:nvSpPr>
        <p:spPr>
          <a:xfrm>
            <a:off x="3078982" y="4801467"/>
            <a:ext cx="6408712" cy="368300"/>
          </a:xfrm>
          <a:prstGeom prst="rect">
            <a:avLst/>
          </a:prstGeom>
        </p:spPr>
        <p:txBody>
          <a:bodyPr wrap="square">
            <a:spAutoFit/>
          </a:bodyPr>
          <a:lstStyle/>
          <a:p>
            <a:pPr algn="ctr"/>
            <a:r>
              <a:rPr lang="zh-CN" altLang="en-US" b="1" dirty="0">
                <a:solidFill>
                  <a:schemeClr val="tx1">
                    <a:lumMod val="50000"/>
                    <a:lumOff val="50000"/>
                  </a:schemeClr>
                </a:solidFill>
                <a:latin typeface="微软雅黑" panose="020B0503020204020204" charset="-122"/>
                <a:ea typeface="微软雅黑" panose="020B0503020204020204" charset="-122"/>
              </a:rPr>
              <a:t>讲师：孟想</a:t>
            </a:r>
            <a:endParaRPr lang="zh-CN" altLang="en-US" b="1" dirty="0">
              <a:solidFill>
                <a:schemeClr val="tx1">
                  <a:lumMod val="50000"/>
                  <a:lumOff val="50000"/>
                </a:schemeClr>
              </a:solidFill>
              <a:latin typeface="微软雅黑" panose="020B0503020204020204" charset="-122"/>
              <a:ea typeface="微软雅黑" panose="020B0503020204020204" charset="-122"/>
            </a:endParaRPr>
          </a:p>
        </p:txBody>
      </p:sp>
      <p:pic>
        <p:nvPicPr>
          <p:cNvPr id="5" name="Mark Petrie - A New Day No Drums">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8236226" y="-2183296"/>
            <a:ext cx="609600" cy="609600"/>
          </a:xfrm>
          <a:prstGeom prst="rect">
            <a:avLst/>
          </a:prstGeom>
        </p:spPr>
      </p:pic>
      <p:sp>
        <p:nvSpPr>
          <p:cNvPr id="6" name="矩形 5"/>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5"/>
                                            </p:tgtEl>
                                          </p:cBhvr>
                                        </p:cmd>
                                      </p:childTnLst>
                                    </p:cTn>
                                  </p:par>
                                </p:childTnLst>
                              </p:cTn>
                            </p:par>
                            <p:par>
                              <p:cTn id="7" fill="hold">
                                <p:stCondLst>
                                  <p:cond delay="0"/>
                                </p:stCondLst>
                                <p:childTnLst>
                                  <p:par>
                                    <p:cTn id="8" presetID="2" presetClass="entr" presetSubtype="8" fill="hold" grpId="0" nodeType="afterEffect" p14:presetBounceEnd="26000">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14:bounceEnd="26000">
                                          <p:cBhvr additive="base">
                                            <p:cTn id="10" dur="750" fill="hold"/>
                                            <p:tgtEl>
                                              <p:spTgt spid="3"/>
                                            </p:tgtEl>
                                            <p:attrNameLst>
                                              <p:attrName>ppt_x</p:attrName>
                                            </p:attrNameLst>
                                          </p:cBhvr>
                                          <p:tavLst>
                                            <p:tav tm="0">
                                              <p:val>
                                                <p:strVal val="0-#ppt_w/2"/>
                                              </p:val>
                                            </p:tav>
                                            <p:tav tm="100000">
                                              <p:val>
                                                <p:strVal val="#ppt_x"/>
                                              </p:val>
                                            </p:tav>
                                          </p:tavLst>
                                        </p:anim>
                                        <p:anim calcmode="lin" valueType="num" p14:bounceEnd="26000">
                                          <p:cBhvr additive="base">
                                            <p:cTn id="11" dur="750" fill="hold"/>
                                            <p:tgtEl>
                                              <p:spTgt spid="3"/>
                                            </p:tgtEl>
                                            <p:attrNameLst>
                                              <p:attrName>ppt_y</p:attrName>
                                            </p:attrNameLst>
                                          </p:cBhvr>
                                          <p:tavLst>
                                            <p:tav tm="0">
                                              <p:val>
                                                <p:strVal val="#ppt_y"/>
                                              </p:val>
                                            </p:tav>
                                            <p:tav tm="100000">
                                              <p:val>
                                                <p:strVal val="#ppt_y"/>
                                              </p:val>
                                            </p:tav>
                                          </p:tavLst>
                                        </p:anim>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anim calcmode="lin" valueType="num">
                                          <p:cBhvr>
                                            <p:cTn id="16" dur="500" fill="hold"/>
                                            <p:tgtEl>
                                              <p:spTgt spid="2"/>
                                            </p:tgtEl>
                                            <p:attrNameLst>
                                              <p:attrName>ppt_x</p:attrName>
                                            </p:attrNameLst>
                                          </p:cBhvr>
                                          <p:tavLst>
                                            <p:tav tm="0">
                                              <p:val>
                                                <p:strVal val="#ppt_x"/>
                                              </p:val>
                                            </p:tav>
                                            <p:tav tm="100000">
                                              <p:val>
                                                <p:strVal val="#ppt_x"/>
                                              </p:val>
                                            </p:tav>
                                          </p:tavLst>
                                        </p:anim>
                                        <p:anim calcmode="lin" valueType="num">
                                          <p:cBhvr>
                                            <p:cTn id="17" dur="500" fill="hold"/>
                                            <p:tgtEl>
                                              <p:spTgt spid="2"/>
                                            </p:tgtEl>
                                            <p:attrNameLst>
                                              <p:attrName>ppt_y</p:attrName>
                                            </p:attrNameLst>
                                          </p:cBhvr>
                                          <p:tavLst>
                                            <p:tav tm="0">
                                              <p:val>
                                                <p:strVal val="#ppt_y+.1"/>
                                              </p:val>
                                            </p:tav>
                                            <p:tav tm="100000">
                                              <p:val>
                                                <p:strVal val="#ppt_y"/>
                                              </p:val>
                                            </p:tav>
                                          </p:tavLst>
                                        </p:anim>
                                      </p:childTnLst>
                                    </p:cTn>
                                  </p:par>
                                </p:childTnLst>
                              </p:cTn>
                            </p:par>
                            <p:par>
                              <p:cTn id="18" fill="hold">
                                <p:stCondLst>
                                  <p:cond delay="1500"/>
                                </p:stCondLst>
                                <p:childTnLst>
                                  <p:par>
                                    <p:cTn id="19" presetID="22" presetClass="entr" presetSubtype="8"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
                    <p:cTn id="22" repeatCount="indefinite" fill="hold" display="0">
                      <p:stCondLst>
                        <p:cond delay="indefinite"/>
                      </p:stCondLst>
                      <p:endCondLst>
                        <p:cond evt="onStopAudio" delay="0">
                          <p:tgtEl>
                            <p:sldTgt/>
                          </p:tgtEl>
                        </p:cond>
                      </p:endCondLst>
                    </p:cTn>
                    <p:tgtEl>
                      <p:spTgt spid="5"/>
                    </p:tgtEl>
                  </p:cMediaNode>
                </p:audio>
              </p:childTnLst>
            </p:cTn>
          </p:par>
        </p:tnLst>
        <p:bldLst>
          <p:bldP spid="2" grpId="0"/>
          <p:bldP spid="3" grpId="0"/>
          <p:bldP spid="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5"/>
                                            </p:tgtEl>
                                          </p:cBhvr>
                                        </p:cmd>
                                      </p:childTnLst>
                                    </p:cTn>
                                  </p:par>
                                </p:childTnLst>
                              </p:cTn>
                            </p:par>
                            <p:par>
                              <p:cTn id="7" fill="hold">
                                <p:stCondLst>
                                  <p:cond delay="0"/>
                                </p:stCondLst>
                                <p:childTnLst>
                                  <p:par>
                                    <p:cTn id="8" presetID="2" presetClass="entr" presetSubtype="8"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750" fill="hold"/>
                                            <p:tgtEl>
                                              <p:spTgt spid="3"/>
                                            </p:tgtEl>
                                            <p:attrNameLst>
                                              <p:attrName>ppt_x</p:attrName>
                                            </p:attrNameLst>
                                          </p:cBhvr>
                                          <p:tavLst>
                                            <p:tav tm="0">
                                              <p:val>
                                                <p:strVal val="0-#ppt_w/2"/>
                                              </p:val>
                                            </p:tav>
                                            <p:tav tm="100000">
                                              <p:val>
                                                <p:strVal val="#ppt_x"/>
                                              </p:val>
                                            </p:tav>
                                          </p:tavLst>
                                        </p:anim>
                                        <p:anim calcmode="lin" valueType="num">
                                          <p:cBhvr additive="base">
                                            <p:cTn id="11" dur="750" fill="hold"/>
                                            <p:tgtEl>
                                              <p:spTgt spid="3"/>
                                            </p:tgtEl>
                                            <p:attrNameLst>
                                              <p:attrName>ppt_y</p:attrName>
                                            </p:attrNameLst>
                                          </p:cBhvr>
                                          <p:tavLst>
                                            <p:tav tm="0">
                                              <p:val>
                                                <p:strVal val="#ppt_y"/>
                                              </p:val>
                                            </p:tav>
                                            <p:tav tm="100000">
                                              <p:val>
                                                <p:strVal val="#ppt_y"/>
                                              </p:val>
                                            </p:tav>
                                          </p:tavLst>
                                        </p:anim>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anim calcmode="lin" valueType="num">
                                          <p:cBhvr>
                                            <p:cTn id="16" dur="500" fill="hold"/>
                                            <p:tgtEl>
                                              <p:spTgt spid="2"/>
                                            </p:tgtEl>
                                            <p:attrNameLst>
                                              <p:attrName>ppt_x</p:attrName>
                                            </p:attrNameLst>
                                          </p:cBhvr>
                                          <p:tavLst>
                                            <p:tav tm="0">
                                              <p:val>
                                                <p:strVal val="#ppt_x"/>
                                              </p:val>
                                            </p:tav>
                                            <p:tav tm="100000">
                                              <p:val>
                                                <p:strVal val="#ppt_x"/>
                                              </p:val>
                                            </p:tav>
                                          </p:tavLst>
                                        </p:anim>
                                        <p:anim calcmode="lin" valueType="num">
                                          <p:cBhvr>
                                            <p:cTn id="17" dur="500" fill="hold"/>
                                            <p:tgtEl>
                                              <p:spTgt spid="2"/>
                                            </p:tgtEl>
                                            <p:attrNameLst>
                                              <p:attrName>ppt_y</p:attrName>
                                            </p:attrNameLst>
                                          </p:cBhvr>
                                          <p:tavLst>
                                            <p:tav tm="0">
                                              <p:val>
                                                <p:strVal val="#ppt_y+.1"/>
                                              </p:val>
                                            </p:tav>
                                            <p:tav tm="100000">
                                              <p:val>
                                                <p:strVal val="#ppt_y"/>
                                              </p:val>
                                            </p:tav>
                                          </p:tavLst>
                                        </p:anim>
                                      </p:childTnLst>
                                    </p:cTn>
                                  </p:par>
                                </p:childTnLst>
                              </p:cTn>
                            </p:par>
                            <p:par>
                              <p:cTn id="18" fill="hold">
                                <p:stCondLst>
                                  <p:cond delay="1500"/>
                                </p:stCondLst>
                                <p:childTnLst>
                                  <p:par>
                                    <p:cTn id="19" presetID="22" presetClass="entr" presetSubtype="8"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
                    <p:cTn id="22" repeatCount="indefinite" fill="hold" display="0">
                      <p:stCondLst>
                        <p:cond delay="indefinite"/>
                      </p:stCondLst>
                      <p:endCondLst>
                        <p:cond evt="onStopAudio" delay="0">
                          <p:tgtEl>
                            <p:sldTgt/>
                          </p:tgtEl>
                        </p:cond>
                      </p:endCondLst>
                    </p:cTn>
                    <p:tgtEl>
                      <p:spTgt spid="5"/>
                    </p:tgtEl>
                  </p:cMediaNode>
                </p:audio>
              </p:childTnLst>
            </p:cTn>
          </p:par>
        </p:tnLst>
        <p:bldLst>
          <p:bldP spid="2" grpId="0"/>
          <p:bldP spid="3" grpId="0"/>
          <p:bldP spid="4"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2"/>
          <p:cNvSpPr txBox="1"/>
          <p:nvPr/>
        </p:nvSpPr>
        <p:spPr>
          <a:xfrm>
            <a:off x="1373743" y="2661383"/>
            <a:ext cx="1688283" cy="995209"/>
          </a:xfrm>
          <a:prstGeom prst="rect">
            <a:avLst/>
          </a:prstGeom>
          <a:noFill/>
        </p:spPr>
        <p:txBody>
          <a:bodyPr wrap="none" rtlCol="0">
            <a:spAutoFit/>
          </a:bodyPr>
          <a:lstStyle/>
          <a:p>
            <a:r>
              <a:rPr lang="zh-CN" altLang="en-US" sz="5865" b="1" dirty="0">
                <a:solidFill>
                  <a:schemeClr val="tx2"/>
                </a:solidFill>
                <a:latin typeface="微软雅黑" panose="020B0503020204020204" charset="-122"/>
                <a:ea typeface="微软雅黑" panose="020B0503020204020204" charset="-122"/>
              </a:rPr>
              <a:t>目</a:t>
            </a:r>
            <a:r>
              <a:rPr lang="zh-CN" altLang="en-US" sz="5865" b="1" dirty="0">
                <a:solidFill>
                  <a:schemeClr val="bg2"/>
                </a:solidFill>
                <a:latin typeface="微软雅黑" panose="020B0503020204020204" charset="-122"/>
                <a:ea typeface="微软雅黑" panose="020B0503020204020204" charset="-122"/>
              </a:rPr>
              <a:t>录</a:t>
            </a:r>
            <a:endParaRPr lang="zh-CN" altLang="en-US" sz="5865" b="1" dirty="0">
              <a:solidFill>
                <a:schemeClr val="bg2"/>
              </a:solidFill>
              <a:latin typeface="微软雅黑" panose="020B0503020204020204" charset="-122"/>
              <a:ea typeface="微软雅黑" panose="020B0503020204020204" charset="-122"/>
            </a:endParaRPr>
          </a:p>
        </p:txBody>
      </p:sp>
      <p:sp>
        <p:nvSpPr>
          <p:cNvPr id="3" name="矩形 2"/>
          <p:cNvSpPr/>
          <p:nvPr/>
        </p:nvSpPr>
        <p:spPr>
          <a:xfrm>
            <a:off x="3054492" y="2797090"/>
            <a:ext cx="2127505" cy="923330"/>
          </a:xfrm>
          <a:prstGeom prst="rect">
            <a:avLst/>
          </a:prstGeom>
        </p:spPr>
        <p:txBody>
          <a:bodyPr wrap="none">
            <a:spAutoFit/>
          </a:bodyPr>
          <a:lstStyle/>
          <a:p>
            <a:r>
              <a:rPr lang="en-US" altLang="zh-CN" sz="5400" dirty="0" err="1">
                <a:solidFill>
                  <a:schemeClr val="tx2"/>
                </a:solidFill>
                <a:latin typeface="Impact" panose="020B0806030902050204" pitchFamily="34" charset="0"/>
              </a:rPr>
              <a:t>c</a:t>
            </a:r>
            <a:r>
              <a:rPr lang="en-US" altLang="zh-CN" sz="3735" dirty="0" err="1">
                <a:solidFill>
                  <a:schemeClr val="accent1"/>
                </a:solidFill>
                <a:latin typeface="Impact" panose="020B0806030902050204" pitchFamily="34" charset="0"/>
              </a:rPr>
              <a:t>oncents</a:t>
            </a:r>
            <a:endParaRPr lang="en-US" altLang="zh-CN" sz="3735" dirty="0">
              <a:solidFill>
                <a:schemeClr val="accent1"/>
              </a:solidFill>
              <a:latin typeface="Impact" panose="020B0806030902050204" pitchFamily="34" charset="0"/>
            </a:endParaRPr>
          </a:p>
        </p:txBody>
      </p:sp>
      <p:sp>
        <p:nvSpPr>
          <p:cNvPr id="4" name="标题层"/>
          <p:cNvSpPr txBox="1"/>
          <p:nvPr/>
        </p:nvSpPr>
        <p:spPr bwMode="auto">
          <a:xfrm>
            <a:off x="5478827" y="1986420"/>
            <a:ext cx="799280" cy="666786"/>
          </a:xfrm>
          <a:prstGeom prst="rect">
            <a:avLst/>
          </a:prstGeom>
          <a:noFill/>
          <a:effectLst/>
        </p:spPr>
        <p:txBody>
          <a:bodyPr wrap="square">
            <a:spAutoFit/>
          </a:bodyPr>
          <a:lstStyle/>
          <a:p>
            <a:pPr algn="ctr" defTabSz="1218565">
              <a:defRPr/>
            </a:pPr>
            <a:r>
              <a:rPr lang="en-US" altLang="zh-CN" sz="3735" kern="0" dirty="0">
                <a:solidFill>
                  <a:schemeClr val="tx2"/>
                </a:solidFill>
                <a:latin typeface="Impact" panose="020B0806030902050204" pitchFamily="34" charset="0"/>
                <a:ea typeface="微软雅黑" panose="020B0503020204020204" charset="-122"/>
                <a:cs typeface="Arial" panose="020B0604020202020204" pitchFamily="34" charset="0"/>
              </a:rPr>
              <a:t>01</a:t>
            </a:r>
            <a:endParaRPr lang="zh-CN" altLang="en-US" sz="3735" kern="0" dirty="0">
              <a:solidFill>
                <a:schemeClr val="tx2"/>
              </a:solidFill>
              <a:latin typeface="Impact" panose="020B0806030902050204" pitchFamily="34" charset="0"/>
              <a:ea typeface="微软雅黑" panose="020B0503020204020204" charset="-122"/>
              <a:cs typeface="Arial" panose="020B0604020202020204" pitchFamily="34" charset="0"/>
            </a:endParaRPr>
          </a:p>
        </p:txBody>
      </p:sp>
      <p:cxnSp>
        <p:nvCxnSpPr>
          <p:cNvPr id="5" name="直接连接符 4"/>
          <p:cNvCxnSpPr/>
          <p:nvPr/>
        </p:nvCxnSpPr>
        <p:spPr>
          <a:xfrm>
            <a:off x="6357913" y="2057006"/>
            <a:ext cx="0" cy="556457"/>
          </a:xfrm>
          <a:prstGeom prst="line">
            <a:avLst/>
          </a:prstGeom>
          <a:noFill/>
          <a:ln w="9525" cap="flat" cmpd="sng" algn="ctr">
            <a:solidFill>
              <a:schemeClr val="bg2"/>
            </a:solidFill>
            <a:prstDash val="solid"/>
          </a:ln>
          <a:effectLst>
            <a:outerShdw blurRad="50800" dist="38100" dir="2700000" algn="tl" rotWithShape="0">
              <a:prstClr val="black">
                <a:alpha val="40000"/>
              </a:prstClr>
            </a:outerShdw>
          </a:effectLst>
        </p:spPr>
      </p:cxnSp>
      <p:sp>
        <p:nvSpPr>
          <p:cNvPr id="6" name="标题层"/>
          <p:cNvSpPr txBox="1"/>
          <p:nvPr/>
        </p:nvSpPr>
        <p:spPr bwMode="auto">
          <a:xfrm>
            <a:off x="6502433" y="2082431"/>
            <a:ext cx="3638152" cy="501650"/>
          </a:xfrm>
          <a:prstGeom prst="rect">
            <a:avLst/>
          </a:prstGeom>
          <a:noFill/>
          <a:effectLst/>
        </p:spPr>
        <p:txBody>
          <a:bodyPr wrap="square">
            <a:spAutoFit/>
          </a:bodyPr>
          <a:lstStyle/>
          <a:p>
            <a:pPr lvl="0">
              <a:defRPr/>
            </a:pPr>
            <a:r>
              <a:rPr lang="zh-CN" altLang="en-US" sz="2665" dirty="0">
                <a:solidFill>
                  <a:schemeClr val="accent1"/>
                </a:solidFill>
                <a:latin typeface="微软雅黑" panose="020B0503020204020204" charset="-122"/>
                <a:ea typeface="微软雅黑" panose="020B0503020204020204" charset="-122"/>
              </a:rPr>
              <a:t>精品模式</a:t>
            </a:r>
            <a:endParaRPr lang="zh-CN" altLang="en-US" sz="2665" dirty="0">
              <a:solidFill>
                <a:schemeClr val="accent1"/>
              </a:solidFill>
              <a:latin typeface="微软雅黑" panose="020B0503020204020204" charset="-122"/>
              <a:ea typeface="微软雅黑" panose="020B0503020204020204" charset="-122"/>
            </a:endParaRPr>
          </a:p>
        </p:txBody>
      </p:sp>
      <p:sp>
        <p:nvSpPr>
          <p:cNvPr id="7" name="标题层"/>
          <p:cNvSpPr txBox="1"/>
          <p:nvPr/>
        </p:nvSpPr>
        <p:spPr bwMode="auto">
          <a:xfrm>
            <a:off x="5478827" y="2696352"/>
            <a:ext cx="799280" cy="666786"/>
          </a:xfrm>
          <a:prstGeom prst="rect">
            <a:avLst/>
          </a:prstGeom>
          <a:noFill/>
          <a:effectLst/>
        </p:spPr>
        <p:txBody>
          <a:bodyPr wrap="square">
            <a:spAutoFit/>
          </a:bodyPr>
          <a:lstStyle/>
          <a:p>
            <a:pPr algn="ctr" defTabSz="1218565">
              <a:defRPr/>
            </a:pPr>
            <a:r>
              <a:rPr lang="en-US" altLang="zh-CN" sz="3735" kern="0" dirty="0">
                <a:solidFill>
                  <a:schemeClr val="tx2"/>
                </a:solidFill>
                <a:latin typeface="Impact" panose="020B0806030902050204" pitchFamily="34" charset="0"/>
                <a:ea typeface="微软雅黑" panose="020B0503020204020204" charset="-122"/>
                <a:cs typeface="Arial" panose="020B0604020202020204" pitchFamily="34" charset="0"/>
              </a:rPr>
              <a:t>02</a:t>
            </a:r>
            <a:endParaRPr lang="zh-CN" altLang="en-US" sz="3735" kern="0" dirty="0">
              <a:solidFill>
                <a:schemeClr val="tx2"/>
              </a:solidFill>
              <a:latin typeface="Impact" panose="020B0806030902050204" pitchFamily="34" charset="0"/>
              <a:ea typeface="微软雅黑" panose="020B0503020204020204" charset="-122"/>
              <a:cs typeface="Arial" panose="020B0604020202020204" pitchFamily="34" charset="0"/>
            </a:endParaRPr>
          </a:p>
        </p:txBody>
      </p:sp>
      <p:cxnSp>
        <p:nvCxnSpPr>
          <p:cNvPr id="8" name="直接连接符 7"/>
          <p:cNvCxnSpPr/>
          <p:nvPr/>
        </p:nvCxnSpPr>
        <p:spPr>
          <a:xfrm>
            <a:off x="6357913" y="2766938"/>
            <a:ext cx="0" cy="556457"/>
          </a:xfrm>
          <a:prstGeom prst="line">
            <a:avLst/>
          </a:prstGeom>
          <a:noFill/>
          <a:ln w="9525" cap="flat" cmpd="sng" algn="ctr">
            <a:solidFill>
              <a:schemeClr val="bg2"/>
            </a:solidFill>
            <a:prstDash val="solid"/>
          </a:ln>
          <a:effectLst>
            <a:outerShdw blurRad="50800" dist="38100" dir="2700000" algn="tl" rotWithShape="0">
              <a:prstClr val="black">
                <a:alpha val="40000"/>
              </a:prstClr>
            </a:outerShdw>
          </a:effectLst>
        </p:spPr>
      </p:cxnSp>
      <p:sp>
        <p:nvSpPr>
          <p:cNvPr id="9" name="标题层"/>
          <p:cNvSpPr txBox="1"/>
          <p:nvPr/>
        </p:nvSpPr>
        <p:spPr bwMode="auto">
          <a:xfrm>
            <a:off x="6502434" y="2797090"/>
            <a:ext cx="3360252" cy="501650"/>
          </a:xfrm>
          <a:prstGeom prst="rect">
            <a:avLst/>
          </a:prstGeom>
          <a:noFill/>
          <a:effectLst/>
        </p:spPr>
        <p:txBody>
          <a:bodyPr wrap="square">
            <a:spAutoFit/>
          </a:bodyPr>
          <a:lstStyle/>
          <a:p>
            <a:pPr>
              <a:defRPr/>
            </a:pPr>
            <a:r>
              <a:rPr lang="zh-CN" altLang="en-US" sz="2665" dirty="0">
                <a:solidFill>
                  <a:schemeClr val="accent1"/>
                </a:solidFill>
                <a:latin typeface="微软雅黑" panose="020B0503020204020204" charset="-122"/>
                <a:ea typeface="微软雅黑" panose="020B0503020204020204" charset="-122"/>
              </a:rPr>
              <a:t>爆款流程</a:t>
            </a:r>
            <a:endParaRPr lang="zh-CN" altLang="en-US" sz="2665" dirty="0">
              <a:solidFill>
                <a:schemeClr val="accent1"/>
              </a:solidFill>
              <a:latin typeface="微软雅黑" panose="020B0503020204020204" charset="-122"/>
              <a:ea typeface="微软雅黑" panose="020B0503020204020204" charset="-122"/>
            </a:endParaRPr>
          </a:p>
        </p:txBody>
      </p:sp>
      <p:sp>
        <p:nvSpPr>
          <p:cNvPr id="10" name="标题层"/>
          <p:cNvSpPr txBox="1"/>
          <p:nvPr/>
        </p:nvSpPr>
        <p:spPr bwMode="auto">
          <a:xfrm>
            <a:off x="5478827" y="3406284"/>
            <a:ext cx="799280" cy="666786"/>
          </a:xfrm>
          <a:prstGeom prst="rect">
            <a:avLst/>
          </a:prstGeom>
          <a:noFill/>
          <a:effectLst/>
        </p:spPr>
        <p:txBody>
          <a:bodyPr wrap="square">
            <a:spAutoFit/>
          </a:bodyPr>
          <a:lstStyle/>
          <a:p>
            <a:pPr algn="ctr" defTabSz="1218565">
              <a:defRPr/>
            </a:pPr>
            <a:r>
              <a:rPr lang="en-US" altLang="zh-CN" sz="3735" kern="0" dirty="0">
                <a:solidFill>
                  <a:schemeClr val="tx2"/>
                </a:solidFill>
                <a:latin typeface="Impact" panose="020B0806030902050204" pitchFamily="34" charset="0"/>
                <a:ea typeface="微软雅黑" panose="020B0503020204020204" charset="-122"/>
                <a:cs typeface="Arial" panose="020B0604020202020204" pitchFamily="34" charset="0"/>
              </a:rPr>
              <a:t>03</a:t>
            </a:r>
            <a:endParaRPr lang="zh-CN" altLang="en-US" sz="3735" kern="0" dirty="0">
              <a:solidFill>
                <a:schemeClr val="tx2"/>
              </a:solidFill>
              <a:latin typeface="Impact" panose="020B0806030902050204" pitchFamily="34" charset="0"/>
              <a:ea typeface="微软雅黑" panose="020B0503020204020204" charset="-122"/>
              <a:cs typeface="Arial" panose="020B0604020202020204" pitchFamily="34" charset="0"/>
            </a:endParaRPr>
          </a:p>
        </p:txBody>
      </p:sp>
      <p:cxnSp>
        <p:nvCxnSpPr>
          <p:cNvPr id="11" name="直接连接符 10"/>
          <p:cNvCxnSpPr/>
          <p:nvPr/>
        </p:nvCxnSpPr>
        <p:spPr>
          <a:xfrm>
            <a:off x="6357913" y="3476870"/>
            <a:ext cx="0" cy="556457"/>
          </a:xfrm>
          <a:prstGeom prst="line">
            <a:avLst/>
          </a:prstGeom>
          <a:noFill/>
          <a:ln w="9525" cap="flat" cmpd="sng" algn="ctr">
            <a:solidFill>
              <a:schemeClr val="bg2"/>
            </a:solidFill>
            <a:prstDash val="solid"/>
          </a:ln>
          <a:effectLst>
            <a:outerShdw blurRad="50800" dist="38100" dir="2700000" algn="tl" rotWithShape="0">
              <a:prstClr val="black">
                <a:alpha val="40000"/>
              </a:prstClr>
            </a:outerShdw>
          </a:effectLst>
        </p:spPr>
      </p:cxnSp>
      <p:sp>
        <p:nvSpPr>
          <p:cNvPr id="12" name="标题层"/>
          <p:cNvSpPr txBox="1"/>
          <p:nvPr/>
        </p:nvSpPr>
        <p:spPr bwMode="auto">
          <a:xfrm>
            <a:off x="6502434" y="3469164"/>
            <a:ext cx="3360252" cy="501650"/>
          </a:xfrm>
          <a:prstGeom prst="rect">
            <a:avLst/>
          </a:prstGeom>
          <a:noFill/>
          <a:effectLst/>
        </p:spPr>
        <p:txBody>
          <a:bodyPr wrap="square">
            <a:spAutoFit/>
          </a:bodyPr>
          <a:lstStyle/>
          <a:p>
            <a:pPr>
              <a:defRPr/>
            </a:pPr>
            <a:r>
              <a:rPr lang="zh-CN" altLang="en-US" sz="2665">
                <a:solidFill>
                  <a:schemeClr val="accent1"/>
                </a:solidFill>
                <a:latin typeface="微软雅黑" panose="020B0503020204020204" charset="-122"/>
                <a:ea typeface="微软雅黑" panose="020B0503020204020204" charset="-122"/>
              </a:rPr>
              <a:t>团队指标</a:t>
            </a:r>
            <a:endParaRPr lang="zh-CN" altLang="en-US" sz="2665" dirty="0">
              <a:solidFill>
                <a:schemeClr val="accent1"/>
              </a:solidFill>
              <a:latin typeface="微软雅黑" panose="020B0503020204020204" charset="-122"/>
              <a:ea typeface="微软雅黑" panose="020B0503020204020204" charset="-122"/>
            </a:endParaRPr>
          </a:p>
        </p:txBody>
      </p:sp>
      <p:sp>
        <p:nvSpPr>
          <p:cNvPr id="13" name="标题层"/>
          <p:cNvSpPr txBox="1"/>
          <p:nvPr/>
        </p:nvSpPr>
        <p:spPr bwMode="auto">
          <a:xfrm>
            <a:off x="5478827" y="4116216"/>
            <a:ext cx="799280" cy="666786"/>
          </a:xfrm>
          <a:prstGeom prst="rect">
            <a:avLst/>
          </a:prstGeom>
          <a:noFill/>
          <a:effectLst/>
        </p:spPr>
        <p:txBody>
          <a:bodyPr wrap="square">
            <a:spAutoFit/>
          </a:bodyPr>
          <a:lstStyle/>
          <a:p>
            <a:pPr algn="ctr" defTabSz="1218565">
              <a:defRPr/>
            </a:pPr>
            <a:r>
              <a:rPr lang="en-US" altLang="zh-CN" sz="3735" kern="0" dirty="0">
                <a:solidFill>
                  <a:schemeClr val="tx2"/>
                </a:solidFill>
                <a:latin typeface="Impact" panose="020B0806030902050204" pitchFamily="34" charset="0"/>
                <a:ea typeface="微软雅黑" panose="020B0503020204020204" charset="-122"/>
                <a:cs typeface="Arial" panose="020B0604020202020204" pitchFamily="34" charset="0"/>
              </a:rPr>
              <a:t>04</a:t>
            </a:r>
            <a:endParaRPr lang="zh-CN" altLang="en-US" sz="3735" kern="0" dirty="0">
              <a:solidFill>
                <a:schemeClr val="tx2"/>
              </a:solidFill>
              <a:latin typeface="Impact" panose="020B0806030902050204" pitchFamily="34" charset="0"/>
              <a:ea typeface="微软雅黑" panose="020B0503020204020204" charset="-122"/>
              <a:cs typeface="Arial" panose="020B0604020202020204" pitchFamily="34" charset="0"/>
            </a:endParaRPr>
          </a:p>
        </p:txBody>
      </p:sp>
      <p:cxnSp>
        <p:nvCxnSpPr>
          <p:cNvPr id="14" name="直接连接符 13"/>
          <p:cNvCxnSpPr/>
          <p:nvPr/>
        </p:nvCxnSpPr>
        <p:spPr>
          <a:xfrm>
            <a:off x="6357913" y="4186802"/>
            <a:ext cx="0" cy="556457"/>
          </a:xfrm>
          <a:prstGeom prst="line">
            <a:avLst/>
          </a:prstGeom>
          <a:noFill/>
          <a:ln w="9525" cap="flat" cmpd="sng" algn="ctr">
            <a:solidFill>
              <a:schemeClr val="bg2"/>
            </a:solidFill>
            <a:prstDash val="solid"/>
          </a:ln>
          <a:effectLst>
            <a:outerShdw blurRad="50800" dist="38100" dir="2700000" algn="tl" rotWithShape="0">
              <a:prstClr val="black">
                <a:alpha val="40000"/>
              </a:prstClr>
            </a:outerShdw>
          </a:effectLst>
        </p:spPr>
      </p:cxnSp>
      <p:sp>
        <p:nvSpPr>
          <p:cNvPr id="15" name="标题层"/>
          <p:cNvSpPr txBox="1"/>
          <p:nvPr/>
        </p:nvSpPr>
        <p:spPr bwMode="auto">
          <a:xfrm>
            <a:off x="6502434" y="4194666"/>
            <a:ext cx="3360252" cy="501650"/>
          </a:xfrm>
          <a:prstGeom prst="rect">
            <a:avLst/>
          </a:prstGeom>
          <a:noFill/>
          <a:effectLst/>
        </p:spPr>
        <p:txBody>
          <a:bodyPr wrap="square">
            <a:spAutoFit/>
          </a:bodyPr>
          <a:lstStyle/>
          <a:p>
            <a:pPr>
              <a:defRPr/>
            </a:pPr>
            <a:r>
              <a:rPr lang="zh-CN" altLang="en-US" sz="2665" dirty="0">
                <a:solidFill>
                  <a:schemeClr val="accent1"/>
                </a:solidFill>
                <a:latin typeface="微软雅黑" panose="020B0503020204020204" charset="-122"/>
                <a:ea typeface="微软雅黑" panose="020B0503020204020204" charset="-122"/>
              </a:rPr>
              <a:t>店铺维护</a:t>
            </a:r>
            <a:endParaRPr lang="zh-CN" altLang="en-US" sz="2665" dirty="0">
              <a:solidFill>
                <a:schemeClr val="accent1"/>
              </a:solidFill>
              <a:latin typeface="微软雅黑" panose="020B0503020204020204" charset="-122"/>
              <a:ea typeface="微软雅黑" panose="020B0503020204020204" charset="-122"/>
            </a:endParaRPr>
          </a:p>
        </p:txBody>
      </p:sp>
      <p:sp>
        <p:nvSpPr>
          <p:cNvPr id="16" name="矩形 15"/>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46000">
                                      <p:stCondLst>
                                        <p:cond delay="2000"/>
                                      </p:stCondLst>
                                      <p:childTnLst>
                                        <p:set>
                                          <p:cBhvr>
                                            <p:cTn id="6" dur="1" fill="hold">
                                              <p:stCondLst>
                                                <p:cond delay="0"/>
                                              </p:stCondLst>
                                            </p:cTn>
                                            <p:tgtEl>
                                              <p:spTgt spid="2"/>
                                            </p:tgtEl>
                                            <p:attrNameLst>
                                              <p:attrName>style.visibility</p:attrName>
                                            </p:attrNameLst>
                                          </p:cBhvr>
                                          <p:to>
                                            <p:strVal val="visible"/>
                                          </p:to>
                                        </p:set>
                                        <p:anim calcmode="lin" valueType="num" p14:bounceEnd="46000">
                                          <p:cBhvr additive="base">
                                            <p:cTn id="7" dur="500" fill="hold"/>
                                            <p:tgtEl>
                                              <p:spTgt spid="2"/>
                                            </p:tgtEl>
                                            <p:attrNameLst>
                                              <p:attrName>ppt_x</p:attrName>
                                            </p:attrNameLst>
                                          </p:cBhvr>
                                          <p:tavLst>
                                            <p:tav tm="0">
                                              <p:val>
                                                <p:strVal val="#ppt_x"/>
                                              </p:val>
                                            </p:tav>
                                            <p:tav tm="100000">
                                              <p:val>
                                                <p:strVal val="#ppt_x"/>
                                              </p:val>
                                            </p:tav>
                                          </p:tavLst>
                                        </p:anim>
                                        <p:anim calcmode="lin" valueType="num" p14:bounceEnd="46000">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14:presetBounceEnd="46000">
                                      <p:stCondLst>
                                        <p:cond delay="2300"/>
                                      </p:stCondLst>
                                      <p:childTnLst>
                                        <p:set>
                                          <p:cBhvr>
                                            <p:cTn id="10" dur="1" fill="hold">
                                              <p:stCondLst>
                                                <p:cond delay="0"/>
                                              </p:stCondLst>
                                            </p:cTn>
                                            <p:tgtEl>
                                              <p:spTgt spid="3"/>
                                            </p:tgtEl>
                                            <p:attrNameLst>
                                              <p:attrName>style.visibility</p:attrName>
                                            </p:attrNameLst>
                                          </p:cBhvr>
                                          <p:to>
                                            <p:strVal val="visible"/>
                                          </p:to>
                                        </p:set>
                                        <p:anim calcmode="lin" valueType="num" p14:bounceEnd="46000">
                                          <p:cBhvr additive="base">
                                            <p:cTn id="11" dur="500" fill="hold"/>
                                            <p:tgtEl>
                                              <p:spTgt spid="3"/>
                                            </p:tgtEl>
                                            <p:attrNameLst>
                                              <p:attrName>ppt_x</p:attrName>
                                            </p:attrNameLst>
                                          </p:cBhvr>
                                          <p:tavLst>
                                            <p:tav tm="0">
                                              <p:val>
                                                <p:strVal val="#ppt_x"/>
                                              </p:val>
                                            </p:tav>
                                            <p:tav tm="100000">
                                              <p:val>
                                                <p:strVal val="#ppt_x"/>
                                              </p:val>
                                            </p:tav>
                                          </p:tavLst>
                                        </p:anim>
                                        <p:anim calcmode="lin" valueType="num" p14:bounceEnd="46000">
                                          <p:cBhvr additive="base">
                                            <p:cTn id="12" dur="500" fill="hold"/>
                                            <p:tgtEl>
                                              <p:spTgt spid="3"/>
                                            </p:tgtEl>
                                            <p:attrNameLst>
                                              <p:attrName>ppt_y</p:attrName>
                                            </p:attrNameLst>
                                          </p:cBhvr>
                                          <p:tavLst>
                                            <p:tav tm="0">
                                              <p:val>
                                                <p:strVal val="0-#ppt_h/2"/>
                                              </p:val>
                                            </p:tav>
                                            <p:tav tm="100000">
                                              <p:val>
                                                <p:strVal val="#ppt_y"/>
                                              </p:val>
                                            </p:tav>
                                          </p:tavLst>
                                        </p:anim>
                                      </p:childTnLst>
                                    </p:cTn>
                                  </p:par>
                                  <p:par>
                                    <p:cTn id="13" presetID="47" presetClass="entr" presetSubtype="0" fill="hold" nodeType="withEffect">
                                      <p:stCondLst>
                                        <p:cond delay="28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anim calcmode="lin" valueType="num">
                                          <p:cBhvr>
                                            <p:cTn id="16" dur="600" fill="hold"/>
                                            <p:tgtEl>
                                              <p:spTgt spid="5"/>
                                            </p:tgtEl>
                                            <p:attrNameLst>
                                              <p:attrName>ppt_x</p:attrName>
                                            </p:attrNameLst>
                                          </p:cBhvr>
                                          <p:tavLst>
                                            <p:tav tm="0">
                                              <p:val>
                                                <p:strVal val="#ppt_x"/>
                                              </p:val>
                                            </p:tav>
                                            <p:tav tm="100000">
                                              <p:val>
                                                <p:strVal val="#ppt_x"/>
                                              </p:val>
                                            </p:tav>
                                          </p:tavLst>
                                        </p:anim>
                                        <p:anim calcmode="lin" valueType="num">
                                          <p:cBhvr>
                                            <p:cTn id="17" dur="600" fill="hold"/>
                                            <p:tgtEl>
                                              <p:spTgt spid="5"/>
                                            </p:tgtEl>
                                            <p:attrNameLst>
                                              <p:attrName>ppt_y</p:attrName>
                                            </p:attrNameLst>
                                          </p:cBhvr>
                                          <p:tavLst>
                                            <p:tav tm="0">
                                              <p:val>
                                                <p:strVal val="#ppt_y-.1"/>
                                              </p:val>
                                            </p:tav>
                                            <p:tav tm="100000">
                                              <p:val>
                                                <p:strVal val="#ppt_y"/>
                                              </p:val>
                                            </p:tav>
                                          </p:tavLst>
                                        </p:anim>
                                      </p:childTnLst>
                                    </p:cTn>
                                  </p:par>
                                  <p:par>
                                    <p:cTn id="18" presetID="2" presetClass="entr" presetSubtype="8" decel="52500" fill="hold" grpId="0" nodeType="withEffect">
                                      <p:stCondLst>
                                        <p:cond delay="340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400" fill="hold"/>
                                            <p:tgtEl>
                                              <p:spTgt spid="4"/>
                                            </p:tgtEl>
                                            <p:attrNameLst>
                                              <p:attrName>ppt_x</p:attrName>
                                            </p:attrNameLst>
                                          </p:cBhvr>
                                          <p:tavLst>
                                            <p:tav tm="0">
                                              <p:val>
                                                <p:strVal val="0-#ppt_w/2"/>
                                              </p:val>
                                            </p:tav>
                                            <p:tav tm="100000">
                                              <p:val>
                                                <p:strVal val="#ppt_x"/>
                                              </p:val>
                                            </p:tav>
                                          </p:tavLst>
                                        </p:anim>
                                        <p:anim calcmode="lin" valueType="num">
                                          <p:cBhvr additive="base">
                                            <p:cTn id="21" dur="400" fill="hold"/>
                                            <p:tgtEl>
                                              <p:spTgt spid="4"/>
                                            </p:tgtEl>
                                            <p:attrNameLst>
                                              <p:attrName>ppt_y</p:attrName>
                                            </p:attrNameLst>
                                          </p:cBhvr>
                                          <p:tavLst>
                                            <p:tav tm="0">
                                              <p:val>
                                                <p:strVal val="#ppt_y"/>
                                              </p:val>
                                            </p:tav>
                                            <p:tav tm="100000">
                                              <p:val>
                                                <p:strVal val="#ppt_y"/>
                                              </p:val>
                                            </p:tav>
                                          </p:tavLst>
                                        </p:anim>
                                      </p:childTnLst>
                                    </p:cTn>
                                  </p:par>
                                  <p:par>
                                    <p:cTn id="22" presetID="2" presetClass="entr" presetSubtype="2" decel="52500" fill="hold" grpId="0" nodeType="withEffect">
                                      <p:stCondLst>
                                        <p:cond delay="340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400" fill="hold"/>
                                            <p:tgtEl>
                                              <p:spTgt spid="6"/>
                                            </p:tgtEl>
                                            <p:attrNameLst>
                                              <p:attrName>ppt_x</p:attrName>
                                            </p:attrNameLst>
                                          </p:cBhvr>
                                          <p:tavLst>
                                            <p:tav tm="0">
                                              <p:val>
                                                <p:strVal val="1+#ppt_w/2"/>
                                              </p:val>
                                            </p:tav>
                                            <p:tav tm="100000">
                                              <p:val>
                                                <p:strVal val="#ppt_x"/>
                                              </p:val>
                                            </p:tav>
                                          </p:tavLst>
                                        </p:anim>
                                        <p:anim calcmode="lin" valueType="num">
                                          <p:cBhvr additive="base">
                                            <p:cTn id="25" dur="400" fill="hold"/>
                                            <p:tgtEl>
                                              <p:spTgt spid="6"/>
                                            </p:tgtEl>
                                            <p:attrNameLst>
                                              <p:attrName>ppt_y</p:attrName>
                                            </p:attrNameLst>
                                          </p:cBhvr>
                                          <p:tavLst>
                                            <p:tav tm="0">
                                              <p:val>
                                                <p:strVal val="#ppt_y"/>
                                              </p:val>
                                            </p:tav>
                                            <p:tav tm="100000">
                                              <p:val>
                                                <p:strVal val="#ppt_y"/>
                                              </p:val>
                                            </p:tav>
                                          </p:tavLst>
                                        </p:anim>
                                      </p:childTnLst>
                                    </p:cTn>
                                  </p:par>
                                  <p:par>
                                    <p:cTn id="26" presetID="47" presetClass="entr" presetSubtype="0" fill="hold" nodeType="withEffect">
                                      <p:stCondLst>
                                        <p:cond delay="470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600"/>
                                            <p:tgtEl>
                                              <p:spTgt spid="8"/>
                                            </p:tgtEl>
                                          </p:cBhvr>
                                        </p:animEffect>
                                        <p:anim calcmode="lin" valueType="num">
                                          <p:cBhvr>
                                            <p:cTn id="29" dur="600" fill="hold"/>
                                            <p:tgtEl>
                                              <p:spTgt spid="8"/>
                                            </p:tgtEl>
                                            <p:attrNameLst>
                                              <p:attrName>ppt_x</p:attrName>
                                            </p:attrNameLst>
                                          </p:cBhvr>
                                          <p:tavLst>
                                            <p:tav tm="0">
                                              <p:val>
                                                <p:strVal val="#ppt_x"/>
                                              </p:val>
                                            </p:tav>
                                            <p:tav tm="100000">
                                              <p:val>
                                                <p:strVal val="#ppt_x"/>
                                              </p:val>
                                            </p:tav>
                                          </p:tavLst>
                                        </p:anim>
                                        <p:anim calcmode="lin" valueType="num">
                                          <p:cBhvr>
                                            <p:cTn id="30" dur="600" fill="hold"/>
                                            <p:tgtEl>
                                              <p:spTgt spid="8"/>
                                            </p:tgtEl>
                                            <p:attrNameLst>
                                              <p:attrName>ppt_y</p:attrName>
                                            </p:attrNameLst>
                                          </p:cBhvr>
                                          <p:tavLst>
                                            <p:tav tm="0">
                                              <p:val>
                                                <p:strVal val="#ppt_y-.1"/>
                                              </p:val>
                                            </p:tav>
                                            <p:tav tm="100000">
                                              <p:val>
                                                <p:strVal val="#ppt_y"/>
                                              </p:val>
                                            </p:tav>
                                          </p:tavLst>
                                        </p:anim>
                                      </p:childTnLst>
                                    </p:cTn>
                                  </p:par>
                                  <p:par>
                                    <p:cTn id="31" presetID="2" presetClass="entr" presetSubtype="8" decel="52500" fill="hold" grpId="0" nodeType="withEffect">
                                      <p:stCondLst>
                                        <p:cond delay="520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400" fill="hold"/>
                                            <p:tgtEl>
                                              <p:spTgt spid="7"/>
                                            </p:tgtEl>
                                            <p:attrNameLst>
                                              <p:attrName>ppt_x</p:attrName>
                                            </p:attrNameLst>
                                          </p:cBhvr>
                                          <p:tavLst>
                                            <p:tav tm="0">
                                              <p:val>
                                                <p:strVal val="0-#ppt_w/2"/>
                                              </p:val>
                                            </p:tav>
                                            <p:tav tm="100000">
                                              <p:val>
                                                <p:strVal val="#ppt_x"/>
                                              </p:val>
                                            </p:tav>
                                          </p:tavLst>
                                        </p:anim>
                                        <p:anim calcmode="lin" valueType="num">
                                          <p:cBhvr additive="base">
                                            <p:cTn id="34" dur="400" fill="hold"/>
                                            <p:tgtEl>
                                              <p:spTgt spid="7"/>
                                            </p:tgtEl>
                                            <p:attrNameLst>
                                              <p:attrName>ppt_y</p:attrName>
                                            </p:attrNameLst>
                                          </p:cBhvr>
                                          <p:tavLst>
                                            <p:tav tm="0">
                                              <p:val>
                                                <p:strVal val="#ppt_y"/>
                                              </p:val>
                                            </p:tav>
                                            <p:tav tm="100000">
                                              <p:val>
                                                <p:strVal val="#ppt_y"/>
                                              </p:val>
                                            </p:tav>
                                          </p:tavLst>
                                        </p:anim>
                                      </p:childTnLst>
                                    </p:cTn>
                                  </p:par>
                                  <p:par>
                                    <p:cTn id="35" presetID="2" presetClass="entr" presetSubtype="2" decel="52500" fill="hold" grpId="0" nodeType="withEffect">
                                      <p:stCondLst>
                                        <p:cond delay="520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400" fill="hold"/>
                                            <p:tgtEl>
                                              <p:spTgt spid="9"/>
                                            </p:tgtEl>
                                            <p:attrNameLst>
                                              <p:attrName>ppt_x</p:attrName>
                                            </p:attrNameLst>
                                          </p:cBhvr>
                                          <p:tavLst>
                                            <p:tav tm="0">
                                              <p:val>
                                                <p:strVal val="1+#ppt_w/2"/>
                                              </p:val>
                                            </p:tav>
                                            <p:tav tm="100000">
                                              <p:val>
                                                <p:strVal val="#ppt_x"/>
                                              </p:val>
                                            </p:tav>
                                          </p:tavLst>
                                        </p:anim>
                                        <p:anim calcmode="lin" valueType="num">
                                          <p:cBhvr additive="base">
                                            <p:cTn id="38" dur="400" fill="hold"/>
                                            <p:tgtEl>
                                              <p:spTgt spid="9"/>
                                            </p:tgtEl>
                                            <p:attrNameLst>
                                              <p:attrName>ppt_y</p:attrName>
                                            </p:attrNameLst>
                                          </p:cBhvr>
                                          <p:tavLst>
                                            <p:tav tm="0">
                                              <p:val>
                                                <p:strVal val="#ppt_y"/>
                                              </p:val>
                                            </p:tav>
                                            <p:tav tm="100000">
                                              <p:val>
                                                <p:strVal val="#ppt_y"/>
                                              </p:val>
                                            </p:tav>
                                          </p:tavLst>
                                        </p:anim>
                                      </p:childTnLst>
                                    </p:cTn>
                                  </p:par>
                                  <p:par>
                                    <p:cTn id="39" presetID="47" presetClass="entr" presetSubtype="0" fill="hold" nodeType="withEffect">
                                      <p:stCondLst>
                                        <p:cond delay="620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600"/>
                                            <p:tgtEl>
                                              <p:spTgt spid="11"/>
                                            </p:tgtEl>
                                          </p:cBhvr>
                                        </p:animEffect>
                                        <p:anim calcmode="lin" valueType="num">
                                          <p:cBhvr>
                                            <p:cTn id="42" dur="600" fill="hold"/>
                                            <p:tgtEl>
                                              <p:spTgt spid="11"/>
                                            </p:tgtEl>
                                            <p:attrNameLst>
                                              <p:attrName>ppt_x</p:attrName>
                                            </p:attrNameLst>
                                          </p:cBhvr>
                                          <p:tavLst>
                                            <p:tav tm="0">
                                              <p:val>
                                                <p:strVal val="#ppt_x"/>
                                              </p:val>
                                            </p:tav>
                                            <p:tav tm="100000">
                                              <p:val>
                                                <p:strVal val="#ppt_x"/>
                                              </p:val>
                                            </p:tav>
                                          </p:tavLst>
                                        </p:anim>
                                        <p:anim calcmode="lin" valueType="num">
                                          <p:cBhvr>
                                            <p:cTn id="43" dur="600" fill="hold"/>
                                            <p:tgtEl>
                                              <p:spTgt spid="11"/>
                                            </p:tgtEl>
                                            <p:attrNameLst>
                                              <p:attrName>ppt_y</p:attrName>
                                            </p:attrNameLst>
                                          </p:cBhvr>
                                          <p:tavLst>
                                            <p:tav tm="0">
                                              <p:val>
                                                <p:strVal val="#ppt_y-.1"/>
                                              </p:val>
                                            </p:tav>
                                            <p:tav tm="100000">
                                              <p:val>
                                                <p:strVal val="#ppt_y"/>
                                              </p:val>
                                            </p:tav>
                                          </p:tavLst>
                                        </p:anim>
                                      </p:childTnLst>
                                    </p:cTn>
                                  </p:par>
                                  <p:par>
                                    <p:cTn id="44" presetID="2" presetClass="entr" presetSubtype="8" decel="52500" fill="hold" grpId="0" nodeType="withEffect">
                                      <p:stCondLst>
                                        <p:cond delay="6700"/>
                                      </p:stCondLst>
                                      <p:childTnLst>
                                        <p:set>
                                          <p:cBhvr>
                                            <p:cTn id="45" dur="1" fill="hold">
                                              <p:stCondLst>
                                                <p:cond delay="0"/>
                                              </p:stCondLst>
                                            </p:cTn>
                                            <p:tgtEl>
                                              <p:spTgt spid="10"/>
                                            </p:tgtEl>
                                            <p:attrNameLst>
                                              <p:attrName>style.visibility</p:attrName>
                                            </p:attrNameLst>
                                          </p:cBhvr>
                                          <p:to>
                                            <p:strVal val="visible"/>
                                          </p:to>
                                        </p:set>
                                        <p:anim calcmode="lin" valueType="num">
                                          <p:cBhvr additive="base">
                                            <p:cTn id="46" dur="400" fill="hold"/>
                                            <p:tgtEl>
                                              <p:spTgt spid="10"/>
                                            </p:tgtEl>
                                            <p:attrNameLst>
                                              <p:attrName>ppt_x</p:attrName>
                                            </p:attrNameLst>
                                          </p:cBhvr>
                                          <p:tavLst>
                                            <p:tav tm="0">
                                              <p:val>
                                                <p:strVal val="0-#ppt_w/2"/>
                                              </p:val>
                                            </p:tav>
                                            <p:tav tm="100000">
                                              <p:val>
                                                <p:strVal val="#ppt_x"/>
                                              </p:val>
                                            </p:tav>
                                          </p:tavLst>
                                        </p:anim>
                                        <p:anim calcmode="lin" valueType="num">
                                          <p:cBhvr additive="base">
                                            <p:cTn id="47" dur="400" fill="hold"/>
                                            <p:tgtEl>
                                              <p:spTgt spid="10"/>
                                            </p:tgtEl>
                                            <p:attrNameLst>
                                              <p:attrName>ppt_y</p:attrName>
                                            </p:attrNameLst>
                                          </p:cBhvr>
                                          <p:tavLst>
                                            <p:tav tm="0">
                                              <p:val>
                                                <p:strVal val="#ppt_y"/>
                                              </p:val>
                                            </p:tav>
                                            <p:tav tm="100000">
                                              <p:val>
                                                <p:strVal val="#ppt_y"/>
                                              </p:val>
                                            </p:tav>
                                          </p:tavLst>
                                        </p:anim>
                                      </p:childTnLst>
                                    </p:cTn>
                                  </p:par>
                                  <p:par>
                                    <p:cTn id="48" presetID="2" presetClass="entr" presetSubtype="2" decel="52500" fill="hold" grpId="0" nodeType="withEffect">
                                      <p:stCondLst>
                                        <p:cond delay="670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400" fill="hold"/>
                                            <p:tgtEl>
                                              <p:spTgt spid="12"/>
                                            </p:tgtEl>
                                            <p:attrNameLst>
                                              <p:attrName>ppt_x</p:attrName>
                                            </p:attrNameLst>
                                          </p:cBhvr>
                                          <p:tavLst>
                                            <p:tav tm="0">
                                              <p:val>
                                                <p:strVal val="1+#ppt_w/2"/>
                                              </p:val>
                                            </p:tav>
                                            <p:tav tm="100000">
                                              <p:val>
                                                <p:strVal val="#ppt_x"/>
                                              </p:val>
                                            </p:tav>
                                          </p:tavLst>
                                        </p:anim>
                                        <p:anim calcmode="lin" valueType="num">
                                          <p:cBhvr additive="base">
                                            <p:cTn id="51" dur="400" fill="hold"/>
                                            <p:tgtEl>
                                              <p:spTgt spid="12"/>
                                            </p:tgtEl>
                                            <p:attrNameLst>
                                              <p:attrName>ppt_y</p:attrName>
                                            </p:attrNameLst>
                                          </p:cBhvr>
                                          <p:tavLst>
                                            <p:tav tm="0">
                                              <p:val>
                                                <p:strVal val="#ppt_y"/>
                                              </p:val>
                                            </p:tav>
                                            <p:tav tm="100000">
                                              <p:val>
                                                <p:strVal val="#ppt_y"/>
                                              </p:val>
                                            </p:tav>
                                          </p:tavLst>
                                        </p:anim>
                                      </p:childTnLst>
                                    </p:cTn>
                                  </p:par>
                                  <p:par>
                                    <p:cTn id="52" presetID="47" presetClass="entr" presetSubtype="0" fill="hold" nodeType="withEffect">
                                      <p:stCondLst>
                                        <p:cond delay="780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600"/>
                                            <p:tgtEl>
                                              <p:spTgt spid="14"/>
                                            </p:tgtEl>
                                          </p:cBhvr>
                                        </p:animEffect>
                                        <p:anim calcmode="lin" valueType="num">
                                          <p:cBhvr>
                                            <p:cTn id="55" dur="600" fill="hold"/>
                                            <p:tgtEl>
                                              <p:spTgt spid="14"/>
                                            </p:tgtEl>
                                            <p:attrNameLst>
                                              <p:attrName>ppt_x</p:attrName>
                                            </p:attrNameLst>
                                          </p:cBhvr>
                                          <p:tavLst>
                                            <p:tav tm="0">
                                              <p:val>
                                                <p:strVal val="#ppt_x"/>
                                              </p:val>
                                            </p:tav>
                                            <p:tav tm="100000">
                                              <p:val>
                                                <p:strVal val="#ppt_x"/>
                                              </p:val>
                                            </p:tav>
                                          </p:tavLst>
                                        </p:anim>
                                        <p:anim calcmode="lin" valueType="num">
                                          <p:cBhvr>
                                            <p:cTn id="56" dur="600" fill="hold"/>
                                            <p:tgtEl>
                                              <p:spTgt spid="14"/>
                                            </p:tgtEl>
                                            <p:attrNameLst>
                                              <p:attrName>ppt_y</p:attrName>
                                            </p:attrNameLst>
                                          </p:cBhvr>
                                          <p:tavLst>
                                            <p:tav tm="0">
                                              <p:val>
                                                <p:strVal val="#ppt_y-.1"/>
                                              </p:val>
                                            </p:tav>
                                            <p:tav tm="100000">
                                              <p:val>
                                                <p:strVal val="#ppt_y"/>
                                              </p:val>
                                            </p:tav>
                                          </p:tavLst>
                                        </p:anim>
                                      </p:childTnLst>
                                    </p:cTn>
                                  </p:par>
                                  <p:par>
                                    <p:cTn id="57" presetID="2" presetClass="entr" presetSubtype="8" decel="52500" fill="hold" grpId="0" nodeType="withEffect">
                                      <p:stCondLst>
                                        <p:cond delay="830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400" fill="hold"/>
                                            <p:tgtEl>
                                              <p:spTgt spid="13"/>
                                            </p:tgtEl>
                                            <p:attrNameLst>
                                              <p:attrName>ppt_x</p:attrName>
                                            </p:attrNameLst>
                                          </p:cBhvr>
                                          <p:tavLst>
                                            <p:tav tm="0">
                                              <p:val>
                                                <p:strVal val="0-#ppt_w/2"/>
                                              </p:val>
                                            </p:tav>
                                            <p:tav tm="100000">
                                              <p:val>
                                                <p:strVal val="#ppt_x"/>
                                              </p:val>
                                            </p:tav>
                                          </p:tavLst>
                                        </p:anim>
                                        <p:anim calcmode="lin" valueType="num">
                                          <p:cBhvr additive="base">
                                            <p:cTn id="60" dur="400" fill="hold"/>
                                            <p:tgtEl>
                                              <p:spTgt spid="13"/>
                                            </p:tgtEl>
                                            <p:attrNameLst>
                                              <p:attrName>ppt_y</p:attrName>
                                            </p:attrNameLst>
                                          </p:cBhvr>
                                          <p:tavLst>
                                            <p:tav tm="0">
                                              <p:val>
                                                <p:strVal val="#ppt_y"/>
                                              </p:val>
                                            </p:tav>
                                            <p:tav tm="100000">
                                              <p:val>
                                                <p:strVal val="#ppt_y"/>
                                              </p:val>
                                            </p:tav>
                                          </p:tavLst>
                                        </p:anim>
                                      </p:childTnLst>
                                    </p:cTn>
                                  </p:par>
                                  <p:par>
                                    <p:cTn id="61" presetID="2" presetClass="entr" presetSubtype="2" decel="52500" fill="hold" grpId="0" nodeType="withEffect">
                                      <p:stCondLst>
                                        <p:cond delay="830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400" fill="hold"/>
                                            <p:tgtEl>
                                              <p:spTgt spid="15"/>
                                            </p:tgtEl>
                                            <p:attrNameLst>
                                              <p:attrName>ppt_x</p:attrName>
                                            </p:attrNameLst>
                                          </p:cBhvr>
                                          <p:tavLst>
                                            <p:tav tm="0">
                                              <p:val>
                                                <p:strVal val="1+#ppt_w/2"/>
                                              </p:val>
                                            </p:tav>
                                            <p:tav tm="100000">
                                              <p:val>
                                                <p:strVal val="#ppt_x"/>
                                              </p:val>
                                            </p:tav>
                                          </p:tavLst>
                                        </p:anim>
                                        <p:anim calcmode="lin" valueType="num">
                                          <p:cBhvr additive="base">
                                            <p:cTn id="64" dur="4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bldLvl="0" animBg="1"/>
          <p:bldP spid="7" grpId="0"/>
          <p:bldP spid="9" grpId="0" bldLvl="0" animBg="1"/>
          <p:bldP spid="10" grpId="0"/>
          <p:bldP spid="12" grpId="0" bldLvl="0" animBg="1"/>
          <p:bldP spid="13" grpId="0"/>
          <p:bldP spid="15" grpId="0" bldLvl="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20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23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0-#ppt_h/2"/>
                                              </p:val>
                                            </p:tav>
                                            <p:tav tm="100000">
                                              <p:val>
                                                <p:strVal val="#ppt_y"/>
                                              </p:val>
                                            </p:tav>
                                          </p:tavLst>
                                        </p:anim>
                                      </p:childTnLst>
                                    </p:cTn>
                                  </p:par>
                                  <p:par>
                                    <p:cTn id="13" presetID="47" presetClass="entr" presetSubtype="0" fill="hold" nodeType="withEffect">
                                      <p:stCondLst>
                                        <p:cond delay="28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anim calcmode="lin" valueType="num">
                                          <p:cBhvr>
                                            <p:cTn id="16" dur="600" fill="hold"/>
                                            <p:tgtEl>
                                              <p:spTgt spid="5"/>
                                            </p:tgtEl>
                                            <p:attrNameLst>
                                              <p:attrName>ppt_x</p:attrName>
                                            </p:attrNameLst>
                                          </p:cBhvr>
                                          <p:tavLst>
                                            <p:tav tm="0">
                                              <p:val>
                                                <p:strVal val="#ppt_x"/>
                                              </p:val>
                                            </p:tav>
                                            <p:tav tm="100000">
                                              <p:val>
                                                <p:strVal val="#ppt_x"/>
                                              </p:val>
                                            </p:tav>
                                          </p:tavLst>
                                        </p:anim>
                                        <p:anim calcmode="lin" valueType="num">
                                          <p:cBhvr>
                                            <p:cTn id="17" dur="600" fill="hold"/>
                                            <p:tgtEl>
                                              <p:spTgt spid="5"/>
                                            </p:tgtEl>
                                            <p:attrNameLst>
                                              <p:attrName>ppt_y</p:attrName>
                                            </p:attrNameLst>
                                          </p:cBhvr>
                                          <p:tavLst>
                                            <p:tav tm="0">
                                              <p:val>
                                                <p:strVal val="#ppt_y-.1"/>
                                              </p:val>
                                            </p:tav>
                                            <p:tav tm="100000">
                                              <p:val>
                                                <p:strVal val="#ppt_y"/>
                                              </p:val>
                                            </p:tav>
                                          </p:tavLst>
                                        </p:anim>
                                      </p:childTnLst>
                                    </p:cTn>
                                  </p:par>
                                  <p:par>
                                    <p:cTn id="18" presetID="2" presetClass="entr" presetSubtype="8" decel="52500" fill="hold" grpId="0" nodeType="withEffect">
                                      <p:stCondLst>
                                        <p:cond delay="340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400" fill="hold"/>
                                            <p:tgtEl>
                                              <p:spTgt spid="4"/>
                                            </p:tgtEl>
                                            <p:attrNameLst>
                                              <p:attrName>ppt_x</p:attrName>
                                            </p:attrNameLst>
                                          </p:cBhvr>
                                          <p:tavLst>
                                            <p:tav tm="0">
                                              <p:val>
                                                <p:strVal val="0-#ppt_w/2"/>
                                              </p:val>
                                            </p:tav>
                                            <p:tav tm="100000">
                                              <p:val>
                                                <p:strVal val="#ppt_x"/>
                                              </p:val>
                                            </p:tav>
                                          </p:tavLst>
                                        </p:anim>
                                        <p:anim calcmode="lin" valueType="num">
                                          <p:cBhvr additive="base">
                                            <p:cTn id="21" dur="400" fill="hold"/>
                                            <p:tgtEl>
                                              <p:spTgt spid="4"/>
                                            </p:tgtEl>
                                            <p:attrNameLst>
                                              <p:attrName>ppt_y</p:attrName>
                                            </p:attrNameLst>
                                          </p:cBhvr>
                                          <p:tavLst>
                                            <p:tav tm="0">
                                              <p:val>
                                                <p:strVal val="#ppt_y"/>
                                              </p:val>
                                            </p:tav>
                                            <p:tav tm="100000">
                                              <p:val>
                                                <p:strVal val="#ppt_y"/>
                                              </p:val>
                                            </p:tav>
                                          </p:tavLst>
                                        </p:anim>
                                      </p:childTnLst>
                                    </p:cTn>
                                  </p:par>
                                  <p:par>
                                    <p:cTn id="22" presetID="2" presetClass="entr" presetSubtype="2" decel="52500" fill="hold" grpId="0" nodeType="withEffect">
                                      <p:stCondLst>
                                        <p:cond delay="340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400" fill="hold"/>
                                            <p:tgtEl>
                                              <p:spTgt spid="6"/>
                                            </p:tgtEl>
                                            <p:attrNameLst>
                                              <p:attrName>ppt_x</p:attrName>
                                            </p:attrNameLst>
                                          </p:cBhvr>
                                          <p:tavLst>
                                            <p:tav tm="0">
                                              <p:val>
                                                <p:strVal val="1+#ppt_w/2"/>
                                              </p:val>
                                            </p:tav>
                                            <p:tav tm="100000">
                                              <p:val>
                                                <p:strVal val="#ppt_x"/>
                                              </p:val>
                                            </p:tav>
                                          </p:tavLst>
                                        </p:anim>
                                        <p:anim calcmode="lin" valueType="num">
                                          <p:cBhvr additive="base">
                                            <p:cTn id="25" dur="400" fill="hold"/>
                                            <p:tgtEl>
                                              <p:spTgt spid="6"/>
                                            </p:tgtEl>
                                            <p:attrNameLst>
                                              <p:attrName>ppt_y</p:attrName>
                                            </p:attrNameLst>
                                          </p:cBhvr>
                                          <p:tavLst>
                                            <p:tav tm="0">
                                              <p:val>
                                                <p:strVal val="#ppt_y"/>
                                              </p:val>
                                            </p:tav>
                                            <p:tav tm="100000">
                                              <p:val>
                                                <p:strVal val="#ppt_y"/>
                                              </p:val>
                                            </p:tav>
                                          </p:tavLst>
                                        </p:anim>
                                      </p:childTnLst>
                                    </p:cTn>
                                  </p:par>
                                  <p:par>
                                    <p:cTn id="26" presetID="47" presetClass="entr" presetSubtype="0" fill="hold" nodeType="withEffect">
                                      <p:stCondLst>
                                        <p:cond delay="470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600"/>
                                            <p:tgtEl>
                                              <p:spTgt spid="8"/>
                                            </p:tgtEl>
                                          </p:cBhvr>
                                        </p:animEffect>
                                        <p:anim calcmode="lin" valueType="num">
                                          <p:cBhvr>
                                            <p:cTn id="29" dur="600" fill="hold"/>
                                            <p:tgtEl>
                                              <p:spTgt spid="8"/>
                                            </p:tgtEl>
                                            <p:attrNameLst>
                                              <p:attrName>ppt_x</p:attrName>
                                            </p:attrNameLst>
                                          </p:cBhvr>
                                          <p:tavLst>
                                            <p:tav tm="0">
                                              <p:val>
                                                <p:strVal val="#ppt_x"/>
                                              </p:val>
                                            </p:tav>
                                            <p:tav tm="100000">
                                              <p:val>
                                                <p:strVal val="#ppt_x"/>
                                              </p:val>
                                            </p:tav>
                                          </p:tavLst>
                                        </p:anim>
                                        <p:anim calcmode="lin" valueType="num">
                                          <p:cBhvr>
                                            <p:cTn id="30" dur="600" fill="hold"/>
                                            <p:tgtEl>
                                              <p:spTgt spid="8"/>
                                            </p:tgtEl>
                                            <p:attrNameLst>
                                              <p:attrName>ppt_y</p:attrName>
                                            </p:attrNameLst>
                                          </p:cBhvr>
                                          <p:tavLst>
                                            <p:tav tm="0">
                                              <p:val>
                                                <p:strVal val="#ppt_y-.1"/>
                                              </p:val>
                                            </p:tav>
                                            <p:tav tm="100000">
                                              <p:val>
                                                <p:strVal val="#ppt_y"/>
                                              </p:val>
                                            </p:tav>
                                          </p:tavLst>
                                        </p:anim>
                                      </p:childTnLst>
                                    </p:cTn>
                                  </p:par>
                                  <p:par>
                                    <p:cTn id="31" presetID="2" presetClass="entr" presetSubtype="8" decel="52500" fill="hold" grpId="0" nodeType="withEffect">
                                      <p:stCondLst>
                                        <p:cond delay="520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400" fill="hold"/>
                                            <p:tgtEl>
                                              <p:spTgt spid="7"/>
                                            </p:tgtEl>
                                            <p:attrNameLst>
                                              <p:attrName>ppt_x</p:attrName>
                                            </p:attrNameLst>
                                          </p:cBhvr>
                                          <p:tavLst>
                                            <p:tav tm="0">
                                              <p:val>
                                                <p:strVal val="0-#ppt_w/2"/>
                                              </p:val>
                                            </p:tav>
                                            <p:tav tm="100000">
                                              <p:val>
                                                <p:strVal val="#ppt_x"/>
                                              </p:val>
                                            </p:tav>
                                          </p:tavLst>
                                        </p:anim>
                                        <p:anim calcmode="lin" valueType="num">
                                          <p:cBhvr additive="base">
                                            <p:cTn id="34" dur="400" fill="hold"/>
                                            <p:tgtEl>
                                              <p:spTgt spid="7"/>
                                            </p:tgtEl>
                                            <p:attrNameLst>
                                              <p:attrName>ppt_y</p:attrName>
                                            </p:attrNameLst>
                                          </p:cBhvr>
                                          <p:tavLst>
                                            <p:tav tm="0">
                                              <p:val>
                                                <p:strVal val="#ppt_y"/>
                                              </p:val>
                                            </p:tav>
                                            <p:tav tm="100000">
                                              <p:val>
                                                <p:strVal val="#ppt_y"/>
                                              </p:val>
                                            </p:tav>
                                          </p:tavLst>
                                        </p:anim>
                                      </p:childTnLst>
                                    </p:cTn>
                                  </p:par>
                                  <p:par>
                                    <p:cTn id="35" presetID="2" presetClass="entr" presetSubtype="2" decel="52500" fill="hold" grpId="0" nodeType="withEffect">
                                      <p:stCondLst>
                                        <p:cond delay="520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400" fill="hold"/>
                                            <p:tgtEl>
                                              <p:spTgt spid="9"/>
                                            </p:tgtEl>
                                            <p:attrNameLst>
                                              <p:attrName>ppt_x</p:attrName>
                                            </p:attrNameLst>
                                          </p:cBhvr>
                                          <p:tavLst>
                                            <p:tav tm="0">
                                              <p:val>
                                                <p:strVal val="1+#ppt_w/2"/>
                                              </p:val>
                                            </p:tav>
                                            <p:tav tm="100000">
                                              <p:val>
                                                <p:strVal val="#ppt_x"/>
                                              </p:val>
                                            </p:tav>
                                          </p:tavLst>
                                        </p:anim>
                                        <p:anim calcmode="lin" valueType="num">
                                          <p:cBhvr additive="base">
                                            <p:cTn id="38" dur="400" fill="hold"/>
                                            <p:tgtEl>
                                              <p:spTgt spid="9"/>
                                            </p:tgtEl>
                                            <p:attrNameLst>
                                              <p:attrName>ppt_y</p:attrName>
                                            </p:attrNameLst>
                                          </p:cBhvr>
                                          <p:tavLst>
                                            <p:tav tm="0">
                                              <p:val>
                                                <p:strVal val="#ppt_y"/>
                                              </p:val>
                                            </p:tav>
                                            <p:tav tm="100000">
                                              <p:val>
                                                <p:strVal val="#ppt_y"/>
                                              </p:val>
                                            </p:tav>
                                          </p:tavLst>
                                        </p:anim>
                                      </p:childTnLst>
                                    </p:cTn>
                                  </p:par>
                                  <p:par>
                                    <p:cTn id="39" presetID="47" presetClass="entr" presetSubtype="0" fill="hold" nodeType="withEffect">
                                      <p:stCondLst>
                                        <p:cond delay="620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600"/>
                                            <p:tgtEl>
                                              <p:spTgt spid="11"/>
                                            </p:tgtEl>
                                          </p:cBhvr>
                                        </p:animEffect>
                                        <p:anim calcmode="lin" valueType="num">
                                          <p:cBhvr>
                                            <p:cTn id="42" dur="600" fill="hold"/>
                                            <p:tgtEl>
                                              <p:spTgt spid="11"/>
                                            </p:tgtEl>
                                            <p:attrNameLst>
                                              <p:attrName>ppt_x</p:attrName>
                                            </p:attrNameLst>
                                          </p:cBhvr>
                                          <p:tavLst>
                                            <p:tav tm="0">
                                              <p:val>
                                                <p:strVal val="#ppt_x"/>
                                              </p:val>
                                            </p:tav>
                                            <p:tav tm="100000">
                                              <p:val>
                                                <p:strVal val="#ppt_x"/>
                                              </p:val>
                                            </p:tav>
                                          </p:tavLst>
                                        </p:anim>
                                        <p:anim calcmode="lin" valueType="num">
                                          <p:cBhvr>
                                            <p:cTn id="43" dur="600" fill="hold"/>
                                            <p:tgtEl>
                                              <p:spTgt spid="11"/>
                                            </p:tgtEl>
                                            <p:attrNameLst>
                                              <p:attrName>ppt_y</p:attrName>
                                            </p:attrNameLst>
                                          </p:cBhvr>
                                          <p:tavLst>
                                            <p:tav tm="0">
                                              <p:val>
                                                <p:strVal val="#ppt_y-.1"/>
                                              </p:val>
                                            </p:tav>
                                            <p:tav tm="100000">
                                              <p:val>
                                                <p:strVal val="#ppt_y"/>
                                              </p:val>
                                            </p:tav>
                                          </p:tavLst>
                                        </p:anim>
                                      </p:childTnLst>
                                    </p:cTn>
                                  </p:par>
                                  <p:par>
                                    <p:cTn id="44" presetID="2" presetClass="entr" presetSubtype="8" decel="52500" fill="hold" grpId="0" nodeType="withEffect">
                                      <p:stCondLst>
                                        <p:cond delay="6700"/>
                                      </p:stCondLst>
                                      <p:childTnLst>
                                        <p:set>
                                          <p:cBhvr>
                                            <p:cTn id="45" dur="1" fill="hold">
                                              <p:stCondLst>
                                                <p:cond delay="0"/>
                                              </p:stCondLst>
                                            </p:cTn>
                                            <p:tgtEl>
                                              <p:spTgt spid="10"/>
                                            </p:tgtEl>
                                            <p:attrNameLst>
                                              <p:attrName>style.visibility</p:attrName>
                                            </p:attrNameLst>
                                          </p:cBhvr>
                                          <p:to>
                                            <p:strVal val="visible"/>
                                          </p:to>
                                        </p:set>
                                        <p:anim calcmode="lin" valueType="num">
                                          <p:cBhvr additive="base">
                                            <p:cTn id="46" dur="400" fill="hold"/>
                                            <p:tgtEl>
                                              <p:spTgt spid="10"/>
                                            </p:tgtEl>
                                            <p:attrNameLst>
                                              <p:attrName>ppt_x</p:attrName>
                                            </p:attrNameLst>
                                          </p:cBhvr>
                                          <p:tavLst>
                                            <p:tav tm="0">
                                              <p:val>
                                                <p:strVal val="0-#ppt_w/2"/>
                                              </p:val>
                                            </p:tav>
                                            <p:tav tm="100000">
                                              <p:val>
                                                <p:strVal val="#ppt_x"/>
                                              </p:val>
                                            </p:tav>
                                          </p:tavLst>
                                        </p:anim>
                                        <p:anim calcmode="lin" valueType="num">
                                          <p:cBhvr additive="base">
                                            <p:cTn id="47" dur="400" fill="hold"/>
                                            <p:tgtEl>
                                              <p:spTgt spid="10"/>
                                            </p:tgtEl>
                                            <p:attrNameLst>
                                              <p:attrName>ppt_y</p:attrName>
                                            </p:attrNameLst>
                                          </p:cBhvr>
                                          <p:tavLst>
                                            <p:tav tm="0">
                                              <p:val>
                                                <p:strVal val="#ppt_y"/>
                                              </p:val>
                                            </p:tav>
                                            <p:tav tm="100000">
                                              <p:val>
                                                <p:strVal val="#ppt_y"/>
                                              </p:val>
                                            </p:tav>
                                          </p:tavLst>
                                        </p:anim>
                                      </p:childTnLst>
                                    </p:cTn>
                                  </p:par>
                                  <p:par>
                                    <p:cTn id="48" presetID="2" presetClass="entr" presetSubtype="2" decel="52500" fill="hold" grpId="0" nodeType="withEffect">
                                      <p:stCondLst>
                                        <p:cond delay="670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400" fill="hold"/>
                                            <p:tgtEl>
                                              <p:spTgt spid="12"/>
                                            </p:tgtEl>
                                            <p:attrNameLst>
                                              <p:attrName>ppt_x</p:attrName>
                                            </p:attrNameLst>
                                          </p:cBhvr>
                                          <p:tavLst>
                                            <p:tav tm="0">
                                              <p:val>
                                                <p:strVal val="1+#ppt_w/2"/>
                                              </p:val>
                                            </p:tav>
                                            <p:tav tm="100000">
                                              <p:val>
                                                <p:strVal val="#ppt_x"/>
                                              </p:val>
                                            </p:tav>
                                          </p:tavLst>
                                        </p:anim>
                                        <p:anim calcmode="lin" valueType="num">
                                          <p:cBhvr additive="base">
                                            <p:cTn id="51" dur="400" fill="hold"/>
                                            <p:tgtEl>
                                              <p:spTgt spid="12"/>
                                            </p:tgtEl>
                                            <p:attrNameLst>
                                              <p:attrName>ppt_y</p:attrName>
                                            </p:attrNameLst>
                                          </p:cBhvr>
                                          <p:tavLst>
                                            <p:tav tm="0">
                                              <p:val>
                                                <p:strVal val="#ppt_y"/>
                                              </p:val>
                                            </p:tav>
                                            <p:tav tm="100000">
                                              <p:val>
                                                <p:strVal val="#ppt_y"/>
                                              </p:val>
                                            </p:tav>
                                          </p:tavLst>
                                        </p:anim>
                                      </p:childTnLst>
                                    </p:cTn>
                                  </p:par>
                                  <p:par>
                                    <p:cTn id="52" presetID="47" presetClass="entr" presetSubtype="0" fill="hold" nodeType="withEffect">
                                      <p:stCondLst>
                                        <p:cond delay="780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600"/>
                                            <p:tgtEl>
                                              <p:spTgt spid="14"/>
                                            </p:tgtEl>
                                          </p:cBhvr>
                                        </p:animEffect>
                                        <p:anim calcmode="lin" valueType="num">
                                          <p:cBhvr>
                                            <p:cTn id="55" dur="600" fill="hold"/>
                                            <p:tgtEl>
                                              <p:spTgt spid="14"/>
                                            </p:tgtEl>
                                            <p:attrNameLst>
                                              <p:attrName>ppt_x</p:attrName>
                                            </p:attrNameLst>
                                          </p:cBhvr>
                                          <p:tavLst>
                                            <p:tav tm="0">
                                              <p:val>
                                                <p:strVal val="#ppt_x"/>
                                              </p:val>
                                            </p:tav>
                                            <p:tav tm="100000">
                                              <p:val>
                                                <p:strVal val="#ppt_x"/>
                                              </p:val>
                                            </p:tav>
                                          </p:tavLst>
                                        </p:anim>
                                        <p:anim calcmode="lin" valueType="num">
                                          <p:cBhvr>
                                            <p:cTn id="56" dur="600" fill="hold"/>
                                            <p:tgtEl>
                                              <p:spTgt spid="14"/>
                                            </p:tgtEl>
                                            <p:attrNameLst>
                                              <p:attrName>ppt_y</p:attrName>
                                            </p:attrNameLst>
                                          </p:cBhvr>
                                          <p:tavLst>
                                            <p:tav tm="0">
                                              <p:val>
                                                <p:strVal val="#ppt_y-.1"/>
                                              </p:val>
                                            </p:tav>
                                            <p:tav tm="100000">
                                              <p:val>
                                                <p:strVal val="#ppt_y"/>
                                              </p:val>
                                            </p:tav>
                                          </p:tavLst>
                                        </p:anim>
                                      </p:childTnLst>
                                    </p:cTn>
                                  </p:par>
                                  <p:par>
                                    <p:cTn id="57" presetID="2" presetClass="entr" presetSubtype="8" decel="52500" fill="hold" grpId="0" nodeType="withEffect">
                                      <p:stCondLst>
                                        <p:cond delay="830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400" fill="hold"/>
                                            <p:tgtEl>
                                              <p:spTgt spid="13"/>
                                            </p:tgtEl>
                                            <p:attrNameLst>
                                              <p:attrName>ppt_x</p:attrName>
                                            </p:attrNameLst>
                                          </p:cBhvr>
                                          <p:tavLst>
                                            <p:tav tm="0">
                                              <p:val>
                                                <p:strVal val="0-#ppt_w/2"/>
                                              </p:val>
                                            </p:tav>
                                            <p:tav tm="100000">
                                              <p:val>
                                                <p:strVal val="#ppt_x"/>
                                              </p:val>
                                            </p:tav>
                                          </p:tavLst>
                                        </p:anim>
                                        <p:anim calcmode="lin" valueType="num">
                                          <p:cBhvr additive="base">
                                            <p:cTn id="60" dur="400" fill="hold"/>
                                            <p:tgtEl>
                                              <p:spTgt spid="13"/>
                                            </p:tgtEl>
                                            <p:attrNameLst>
                                              <p:attrName>ppt_y</p:attrName>
                                            </p:attrNameLst>
                                          </p:cBhvr>
                                          <p:tavLst>
                                            <p:tav tm="0">
                                              <p:val>
                                                <p:strVal val="#ppt_y"/>
                                              </p:val>
                                            </p:tav>
                                            <p:tav tm="100000">
                                              <p:val>
                                                <p:strVal val="#ppt_y"/>
                                              </p:val>
                                            </p:tav>
                                          </p:tavLst>
                                        </p:anim>
                                      </p:childTnLst>
                                    </p:cTn>
                                  </p:par>
                                  <p:par>
                                    <p:cTn id="61" presetID="2" presetClass="entr" presetSubtype="2" decel="52500" fill="hold" grpId="0" nodeType="withEffect">
                                      <p:stCondLst>
                                        <p:cond delay="830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400" fill="hold"/>
                                            <p:tgtEl>
                                              <p:spTgt spid="15"/>
                                            </p:tgtEl>
                                            <p:attrNameLst>
                                              <p:attrName>ppt_x</p:attrName>
                                            </p:attrNameLst>
                                          </p:cBhvr>
                                          <p:tavLst>
                                            <p:tav tm="0">
                                              <p:val>
                                                <p:strVal val="1+#ppt_w/2"/>
                                              </p:val>
                                            </p:tav>
                                            <p:tav tm="100000">
                                              <p:val>
                                                <p:strVal val="#ppt_x"/>
                                              </p:val>
                                            </p:tav>
                                          </p:tavLst>
                                        </p:anim>
                                        <p:anim calcmode="lin" valueType="num">
                                          <p:cBhvr additive="base">
                                            <p:cTn id="64" dur="4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bldLvl="0" animBg="1"/>
          <p:bldP spid="7" grpId="0"/>
          <p:bldP spid="9" grpId="0" bldLvl="0" animBg="1"/>
          <p:bldP spid="10" grpId="0"/>
          <p:bldP spid="12" grpId="0" bldLvl="0" animBg="1"/>
          <p:bldP spid="13" grpId="0"/>
          <p:bldP spid="15" grpId="0" bldLvl="0" animBg="1"/>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8"/>
          <p:cNvSpPr>
            <a:spLocks noChangeArrowheads="1"/>
          </p:cNvSpPr>
          <p:nvPr/>
        </p:nvSpPr>
        <p:spPr bwMode="auto">
          <a:xfrm>
            <a:off x="4376014" y="2998913"/>
            <a:ext cx="272288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0"/>
              </a:spcBef>
              <a:buFont typeface="Arial" panose="020B0604020202020204" pitchFamily="34" charset="0"/>
              <a:buNone/>
            </a:pPr>
            <a:r>
              <a:rPr lang="zh-CN" altLang="en-US" sz="5000" b="1" dirty="0">
                <a:solidFill>
                  <a:schemeClr val="accent1"/>
                </a:solidFill>
                <a:latin typeface="Impact" panose="020B0806030902050204" pitchFamily="34" charset="0"/>
                <a:ea typeface="微软雅黑" panose="020B0503020204020204" charset="-122"/>
                <a:sym typeface="方正大黑简体" pitchFamily="65" charset="-122"/>
              </a:rPr>
              <a:t>精品模式</a:t>
            </a:r>
            <a:endParaRPr lang="zh-CN" altLang="en-US" sz="5000" b="1" dirty="0">
              <a:solidFill>
                <a:schemeClr val="accent1"/>
              </a:solidFill>
              <a:latin typeface="Impact" panose="020B0806030902050204" pitchFamily="34" charset="0"/>
              <a:ea typeface="微软雅黑" panose="020B0503020204020204" charset="-122"/>
              <a:sym typeface="方正大黑简体" pitchFamily="65" charset="-122"/>
            </a:endParaRPr>
          </a:p>
        </p:txBody>
      </p:sp>
      <p:sp>
        <p:nvSpPr>
          <p:cNvPr id="4" name="前言"/>
          <p:cNvSpPr>
            <a:spLocks noChangeArrowheads="1"/>
          </p:cNvSpPr>
          <p:nvPr/>
        </p:nvSpPr>
        <p:spPr bwMode="auto">
          <a:xfrm>
            <a:off x="7232449" y="3571148"/>
            <a:ext cx="12496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spcBef>
                <a:spcPct val="0"/>
              </a:spcBef>
              <a:buNone/>
            </a:pPr>
            <a:r>
              <a:rPr lang="zh-CN" altLang="en-US" sz="2800" dirty="0">
                <a:solidFill>
                  <a:schemeClr val="bg1">
                    <a:lumMod val="50000"/>
                  </a:schemeClr>
                </a:solidFill>
                <a:latin typeface="Impact" panose="020B0806030902050204" pitchFamily="34" charset="0"/>
              </a:rPr>
              <a:t>品牌化</a:t>
            </a:r>
            <a:endParaRPr lang="zh-CN" altLang="en-US" sz="2800" dirty="0">
              <a:solidFill>
                <a:schemeClr val="bg1">
                  <a:lumMod val="50000"/>
                </a:schemeClr>
              </a:solidFill>
              <a:latin typeface="Impact" panose="020B0806030902050204" pitchFamily="34" charset="0"/>
            </a:endParaRPr>
          </a:p>
        </p:txBody>
      </p:sp>
      <p:sp>
        <p:nvSpPr>
          <p:cNvPr id="5" name="标题层"/>
          <p:cNvSpPr txBox="1"/>
          <p:nvPr/>
        </p:nvSpPr>
        <p:spPr bwMode="auto">
          <a:xfrm>
            <a:off x="1620254" y="2440205"/>
            <a:ext cx="2621247" cy="1969758"/>
          </a:xfrm>
          <a:prstGeom prst="rect">
            <a:avLst/>
          </a:prstGeom>
          <a:noFill/>
          <a:effectLst/>
        </p:spPr>
        <p:txBody>
          <a:bodyPr wrap="square" lIns="121908" tIns="60954" rIns="121908" bIns="60954">
            <a:spAutoFit/>
          </a:bodyPr>
          <a:lstStyle/>
          <a:p>
            <a:pPr algn="r" defTabSz="1218565">
              <a:defRPr/>
            </a:pPr>
            <a:r>
              <a:rPr lang="en-US" altLang="zh-CN" sz="12000" kern="0" dirty="0">
                <a:solidFill>
                  <a:schemeClr val="tx2"/>
                </a:solidFill>
                <a:latin typeface="Impact" panose="020B0806030902050204" pitchFamily="34" charset="0"/>
                <a:ea typeface="微软雅黑" panose="020B0503020204020204" charset="-122"/>
                <a:cs typeface="Arial" panose="020B0604020202020204" pitchFamily="34" charset="0"/>
              </a:rPr>
              <a:t>0</a:t>
            </a:r>
            <a:r>
              <a:rPr lang="en-US" altLang="zh-CN" sz="12000" kern="0" dirty="0">
                <a:solidFill>
                  <a:schemeClr val="bg2"/>
                </a:solidFill>
                <a:latin typeface="Impact" panose="020B0806030902050204" pitchFamily="34" charset="0"/>
                <a:ea typeface="微软雅黑" panose="020B0503020204020204" charset="-122"/>
                <a:cs typeface="Arial" panose="020B0604020202020204" pitchFamily="34" charset="0"/>
              </a:rPr>
              <a:t>1</a:t>
            </a:r>
            <a:endParaRPr lang="zh-CN" altLang="en-US" sz="12000" kern="0" dirty="0">
              <a:solidFill>
                <a:schemeClr val="bg2"/>
              </a:solidFill>
              <a:latin typeface="Impact" panose="020B0806030902050204" pitchFamily="34" charset="0"/>
              <a:ea typeface="微软雅黑" panose="020B0503020204020204" charset="-122"/>
              <a:cs typeface="Arial" panose="020B0604020202020204" pitchFamily="34" charset="0"/>
            </a:endParaRPr>
          </a:p>
        </p:txBody>
      </p:sp>
      <p:sp>
        <p:nvSpPr>
          <p:cNvPr id="6" name="矩形 5"/>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25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400" fill="hold"/>
                                        <p:tgtEl>
                                          <p:spTgt spid="5"/>
                                        </p:tgtEl>
                                        <p:attrNameLst>
                                          <p:attrName>ppt_x</p:attrName>
                                        </p:attrNameLst>
                                      </p:cBhvr>
                                      <p:tavLst>
                                        <p:tav tm="0">
                                          <p:val>
                                            <p:strVal val="0-#ppt_w/2"/>
                                          </p:val>
                                        </p:tav>
                                        <p:tav tm="100000">
                                          <p:val>
                                            <p:strVal val="#ppt_x"/>
                                          </p:val>
                                        </p:tav>
                                      </p:tavLst>
                                    </p:anim>
                                    <p:anim calcmode="lin" valueType="num">
                                      <p:cBhvr additive="base">
                                        <p:cTn id="8" dur="4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1+#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ounded Rectangle 5"/>
          <p:cNvSpPr/>
          <p:nvPr/>
        </p:nvSpPr>
        <p:spPr>
          <a:xfrm>
            <a:off x="1126176" y="1683166"/>
            <a:ext cx="2032000" cy="2031689"/>
          </a:xfrm>
          <a:prstGeom prst="roundRect">
            <a:avLst/>
          </a:prstGeom>
          <a:solidFill>
            <a:schemeClr val="tx2"/>
          </a:solidFill>
          <a:ln w="25400" cap="flat" cmpd="sng" algn="ctr">
            <a:noFill/>
            <a:prstDash val="solid"/>
          </a:ln>
          <a:effectLst>
            <a:outerShdw blurRad="254000" dist="152400" dir="2700000" algn="tl" rotWithShape="0">
              <a:prstClr val="black">
                <a:alpha val="60000"/>
              </a:prstClr>
            </a:outerShdw>
          </a:effectLst>
        </p:spPr>
        <p:txBody>
          <a:bodyPr rtlCol="0" anchor="ctr"/>
          <a:lstStyle/>
          <a:p>
            <a:pPr algn="ctr">
              <a:defRPr/>
            </a:pPr>
            <a:endParaRPr lang="en-US" sz="1905" kern="0" dirty="0">
              <a:solidFill>
                <a:sysClr val="window" lastClr="FFFFFF"/>
              </a:solidFill>
              <a:latin typeface="微软雅黑" panose="020B0503020204020204" charset="-122"/>
              <a:ea typeface="微软雅黑" panose="020B0503020204020204" charset="-122"/>
            </a:endParaRPr>
          </a:p>
        </p:txBody>
      </p:sp>
      <p:sp>
        <p:nvSpPr>
          <p:cNvPr id="31" name="Rounded Rectangle 22"/>
          <p:cNvSpPr/>
          <p:nvPr/>
        </p:nvSpPr>
        <p:spPr>
          <a:xfrm>
            <a:off x="1126176" y="5591319"/>
            <a:ext cx="2032000" cy="101584"/>
          </a:xfrm>
          <a:prstGeom prst="roundRect">
            <a:avLst/>
          </a:prstGeom>
          <a:solidFill>
            <a:schemeClr val="accent1"/>
          </a:solidFill>
          <a:ln w="25400" cap="flat" cmpd="sng" algn="ctr">
            <a:noFill/>
            <a:prstDash val="solid"/>
          </a:ln>
          <a:effectLst>
            <a:outerShdw blurRad="254000" dist="152400" dir="2700000" algn="tl" rotWithShape="0">
              <a:prstClr val="black">
                <a:alpha val="60000"/>
              </a:prstClr>
            </a:outerShdw>
          </a:effectLst>
        </p:spPr>
        <p:txBody>
          <a:bodyPr rtlCol="0" anchor="ctr"/>
          <a:lstStyle/>
          <a:p>
            <a:pPr algn="ctr">
              <a:defRPr/>
            </a:pPr>
            <a:endParaRPr lang="en-US" sz="1905" kern="0" dirty="0">
              <a:solidFill>
                <a:schemeClr val="tx1">
                  <a:lumMod val="75000"/>
                  <a:lumOff val="25000"/>
                </a:schemeClr>
              </a:solidFill>
              <a:latin typeface="微软雅黑" panose="020B0503020204020204" charset="-122"/>
              <a:ea typeface="微软雅黑" panose="020B0503020204020204" charset="-122"/>
            </a:endParaRPr>
          </a:p>
        </p:txBody>
      </p:sp>
      <p:sp>
        <p:nvSpPr>
          <p:cNvPr id="67" name="TextBox 16"/>
          <p:cNvSpPr txBox="1">
            <a:spLocks noChangeArrowheads="1"/>
          </p:cNvSpPr>
          <p:nvPr/>
        </p:nvSpPr>
        <p:spPr bwMode="auto">
          <a:xfrm>
            <a:off x="1215708" y="2551541"/>
            <a:ext cx="185293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accent2"/>
                </a:solidFill>
                <a:latin typeface="Arial" panose="020B0604020202020204" pitchFamily="34" charset="0"/>
                <a:ea typeface="微软雅黑" panose="020B050302020402020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lang="zh-CN" sz="2400" b="1" dirty="0" smtClean="0">
                <a:solidFill>
                  <a:schemeClr val="bg1"/>
                </a:solidFill>
                <a:latin typeface="微软雅黑" panose="020B0503020204020204" charset="-122"/>
              </a:rPr>
              <a:t>供应链</a:t>
            </a:r>
            <a:endParaRPr lang="zh-CN" sz="2400" b="1" dirty="0">
              <a:solidFill>
                <a:schemeClr val="bg1"/>
              </a:solidFill>
              <a:latin typeface="微软雅黑" panose="020B0503020204020204" charset="-122"/>
            </a:endParaRPr>
          </a:p>
        </p:txBody>
      </p:sp>
      <p:sp>
        <p:nvSpPr>
          <p:cNvPr id="68" name="矩形 67"/>
          <p:cNvSpPr/>
          <p:nvPr/>
        </p:nvSpPr>
        <p:spPr>
          <a:xfrm>
            <a:off x="1133817" y="3960589"/>
            <a:ext cx="2016719" cy="953135"/>
          </a:xfrm>
          <a:prstGeom prst="rect">
            <a:avLst/>
          </a:prstGeom>
        </p:spPr>
        <p:txBody>
          <a:bodyPr wrap="square">
            <a:spAutoFit/>
          </a:bodyPr>
          <a:lstStyle/>
          <a:p>
            <a:pPr algn="ctr"/>
            <a:r>
              <a:rPr lang="zh-CN" altLang="en-US" sz="1400" dirty="0" smtClean="0">
                <a:solidFill>
                  <a:schemeClr val="tx1">
                    <a:lumMod val="75000"/>
                    <a:lumOff val="25000"/>
                  </a:schemeClr>
                </a:solidFill>
                <a:latin typeface="微软雅黑" panose="020B0503020204020204" charset="-122"/>
                <a:ea typeface="微软雅黑" panose="020B0503020204020204" charset="-122"/>
              </a:rPr>
              <a:t>优质的供应商生产优质的产品，好产品能爆单，质量好意味着产品能活多久。</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p:txBody>
      </p:sp>
      <p:sp>
        <p:nvSpPr>
          <p:cNvPr id="72" name="Freeform 160"/>
          <p:cNvSpPr>
            <a:spLocks noChangeAspect="1" noEditPoints="1"/>
          </p:cNvSpPr>
          <p:nvPr/>
        </p:nvSpPr>
        <p:spPr bwMode="auto">
          <a:xfrm>
            <a:off x="1953568" y="2029310"/>
            <a:ext cx="377216" cy="377216"/>
          </a:xfrm>
          <a:custGeom>
            <a:avLst/>
            <a:gdLst>
              <a:gd name="T0" fmla="*/ 71 w 1200"/>
              <a:gd name="T1" fmla="*/ 0 h 1200"/>
              <a:gd name="T2" fmla="*/ 467 w 1200"/>
              <a:gd name="T3" fmla="*/ 0 h 1200"/>
              <a:gd name="T4" fmla="*/ 537 w 1200"/>
              <a:gd name="T5" fmla="*/ 71 h 1200"/>
              <a:gd name="T6" fmla="*/ 537 w 1200"/>
              <a:gd name="T7" fmla="*/ 467 h 1200"/>
              <a:gd name="T8" fmla="*/ 467 w 1200"/>
              <a:gd name="T9" fmla="*/ 537 h 1200"/>
              <a:gd name="T10" fmla="*/ 71 w 1200"/>
              <a:gd name="T11" fmla="*/ 537 h 1200"/>
              <a:gd name="T12" fmla="*/ 0 w 1200"/>
              <a:gd name="T13" fmla="*/ 467 h 1200"/>
              <a:gd name="T14" fmla="*/ 0 w 1200"/>
              <a:gd name="T15" fmla="*/ 71 h 1200"/>
              <a:gd name="T16" fmla="*/ 71 w 1200"/>
              <a:gd name="T17" fmla="*/ 0 h 1200"/>
              <a:gd name="T18" fmla="*/ 734 w 1200"/>
              <a:gd name="T19" fmla="*/ 663 h 1200"/>
              <a:gd name="T20" fmla="*/ 1130 w 1200"/>
              <a:gd name="T21" fmla="*/ 663 h 1200"/>
              <a:gd name="T22" fmla="*/ 1200 w 1200"/>
              <a:gd name="T23" fmla="*/ 734 h 1200"/>
              <a:gd name="T24" fmla="*/ 1200 w 1200"/>
              <a:gd name="T25" fmla="*/ 1130 h 1200"/>
              <a:gd name="T26" fmla="*/ 1130 w 1200"/>
              <a:gd name="T27" fmla="*/ 1200 h 1200"/>
              <a:gd name="T28" fmla="*/ 734 w 1200"/>
              <a:gd name="T29" fmla="*/ 1200 h 1200"/>
              <a:gd name="T30" fmla="*/ 663 w 1200"/>
              <a:gd name="T31" fmla="*/ 1130 h 1200"/>
              <a:gd name="T32" fmla="*/ 663 w 1200"/>
              <a:gd name="T33" fmla="*/ 734 h 1200"/>
              <a:gd name="T34" fmla="*/ 734 w 1200"/>
              <a:gd name="T35" fmla="*/ 663 h 1200"/>
              <a:gd name="T36" fmla="*/ 71 w 1200"/>
              <a:gd name="T37" fmla="*/ 663 h 1200"/>
              <a:gd name="T38" fmla="*/ 467 w 1200"/>
              <a:gd name="T39" fmla="*/ 663 h 1200"/>
              <a:gd name="T40" fmla="*/ 537 w 1200"/>
              <a:gd name="T41" fmla="*/ 734 h 1200"/>
              <a:gd name="T42" fmla="*/ 537 w 1200"/>
              <a:gd name="T43" fmla="*/ 1130 h 1200"/>
              <a:gd name="T44" fmla="*/ 467 w 1200"/>
              <a:gd name="T45" fmla="*/ 1200 h 1200"/>
              <a:gd name="T46" fmla="*/ 71 w 1200"/>
              <a:gd name="T47" fmla="*/ 1200 h 1200"/>
              <a:gd name="T48" fmla="*/ 0 w 1200"/>
              <a:gd name="T49" fmla="*/ 1130 h 1200"/>
              <a:gd name="T50" fmla="*/ 0 w 1200"/>
              <a:gd name="T51" fmla="*/ 734 h 1200"/>
              <a:gd name="T52" fmla="*/ 71 w 1200"/>
              <a:gd name="T53" fmla="*/ 663 h 1200"/>
              <a:gd name="T54" fmla="*/ 734 w 1200"/>
              <a:gd name="T55" fmla="*/ 0 h 1200"/>
              <a:gd name="T56" fmla="*/ 1130 w 1200"/>
              <a:gd name="T57" fmla="*/ 0 h 1200"/>
              <a:gd name="T58" fmla="*/ 1200 w 1200"/>
              <a:gd name="T59" fmla="*/ 71 h 1200"/>
              <a:gd name="T60" fmla="*/ 1200 w 1200"/>
              <a:gd name="T61" fmla="*/ 467 h 1200"/>
              <a:gd name="T62" fmla="*/ 1130 w 1200"/>
              <a:gd name="T63" fmla="*/ 537 h 1200"/>
              <a:gd name="T64" fmla="*/ 734 w 1200"/>
              <a:gd name="T65" fmla="*/ 537 h 1200"/>
              <a:gd name="T66" fmla="*/ 663 w 1200"/>
              <a:gd name="T67" fmla="*/ 467 h 1200"/>
              <a:gd name="T68" fmla="*/ 663 w 1200"/>
              <a:gd name="T69" fmla="*/ 71 h 1200"/>
              <a:gd name="T70" fmla="*/ 734 w 1200"/>
              <a:gd name="T71" fmla="*/ 0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00" h="1200">
                <a:moveTo>
                  <a:pt x="71" y="0"/>
                </a:moveTo>
                <a:lnTo>
                  <a:pt x="467" y="0"/>
                </a:lnTo>
                <a:cubicBezTo>
                  <a:pt x="505" y="0"/>
                  <a:pt x="537" y="32"/>
                  <a:pt x="537" y="71"/>
                </a:cubicBezTo>
                <a:lnTo>
                  <a:pt x="537" y="467"/>
                </a:lnTo>
                <a:cubicBezTo>
                  <a:pt x="537" y="505"/>
                  <a:pt x="505" y="537"/>
                  <a:pt x="467" y="537"/>
                </a:cubicBezTo>
                <a:lnTo>
                  <a:pt x="71" y="537"/>
                </a:lnTo>
                <a:cubicBezTo>
                  <a:pt x="32" y="537"/>
                  <a:pt x="0" y="505"/>
                  <a:pt x="0" y="467"/>
                </a:cubicBezTo>
                <a:lnTo>
                  <a:pt x="0" y="71"/>
                </a:lnTo>
                <a:cubicBezTo>
                  <a:pt x="0" y="32"/>
                  <a:pt x="32" y="0"/>
                  <a:pt x="71" y="0"/>
                </a:cubicBezTo>
                <a:close/>
                <a:moveTo>
                  <a:pt x="734" y="663"/>
                </a:moveTo>
                <a:lnTo>
                  <a:pt x="1130" y="663"/>
                </a:lnTo>
                <a:cubicBezTo>
                  <a:pt x="1168" y="663"/>
                  <a:pt x="1200" y="695"/>
                  <a:pt x="1200" y="734"/>
                </a:cubicBezTo>
                <a:lnTo>
                  <a:pt x="1200" y="1130"/>
                </a:lnTo>
                <a:cubicBezTo>
                  <a:pt x="1200" y="1169"/>
                  <a:pt x="1168" y="1200"/>
                  <a:pt x="1130" y="1200"/>
                </a:cubicBezTo>
                <a:lnTo>
                  <a:pt x="734" y="1200"/>
                </a:lnTo>
                <a:cubicBezTo>
                  <a:pt x="695" y="1200"/>
                  <a:pt x="663" y="1169"/>
                  <a:pt x="663" y="1130"/>
                </a:cubicBezTo>
                <a:lnTo>
                  <a:pt x="663" y="734"/>
                </a:lnTo>
                <a:cubicBezTo>
                  <a:pt x="663" y="695"/>
                  <a:pt x="695" y="663"/>
                  <a:pt x="734" y="663"/>
                </a:cubicBezTo>
                <a:close/>
                <a:moveTo>
                  <a:pt x="71" y="663"/>
                </a:moveTo>
                <a:lnTo>
                  <a:pt x="467" y="663"/>
                </a:lnTo>
                <a:cubicBezTo>
                  <a:pt x="505" y="663"/>
                  <a:pt x="537" y="695"/>
                  <a:pt x="537" y="734"/>
                </a:cubicBezTo>
                <a:lnTo>
                  <a:pt x="537" y="1130"/>
                </a:lnTo>
                <a:cubicBezTo>
                  <a:pt x="537" y="1169"/>
                  <a:pt x="505" y="1200"/>
                  <a:pt x="467" y="1200"/>
                </a:cubicBezTo>
                <a:lnTo>
                  <a:pt x="71" y="1200"/>
                </a:lnTo>
                <a:cubicBezTo>
                  <a:pt x="32" y="1200"/>
                  <a:pt x="0" y="1169"/>
                  <a:pt x="0" y="1130"/>
                </a:cubicBezTo>
                <a:lnTo>
                  <a:pt x="0" y="734"/>
                </a:lnTo>
                <a:cubicBezTo>
                  <a:pt x="0" y="695"/>
                  <a:pt x="32" y="663"/>
                  <a:pt x="71" y="663"/>
                </a:cubicBezTo>
                <a:close/>
                <a:moveTo>
                  <a:pt x="734" y="0"/>
                </a:moveTo>
                <a:lnTo>
                  <a:pt x="1130" y="0"/>
                </a:lnTo>
                <a:cubicBezTo>
                  <a:pt x="1168" y="0"/>
                  <a:pt x="1200" y="32"/>
                  <a:pt x="1200" y="71"/>
                </a:cubicBezTo>
                <a:lnTo>
                  <a:pt x="1200" y="467"/>
                </a:lnTo>
                <a:cubicBezTo>
                  <a:pt x="1200" y="505"/>
                  <a:pt x="1168" y="537"/>
                  <a:pt x="1130" y="537"/>
                </a:cubicBezTo>
                <a:lnTo>
                  <a:pt x="734" y="537"/>
                </a:lnTo>
                <a:cubicBezTo>
                  <a:pt x="695" y="537"/>
                  <a:pt x="663" y="505"/>
                  <a:pt x="663" y="467"/>
                </a:cubicBezTo>
                <a:lnTo>
                  <a:pt x="663" y="71"/>
                </a:lnTo>
                <a:cubicBezTo>
                  <a:pt x="663" y="32"/>
                  <a:pt x="695" y="0"/>
                  <a:pt x="734"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Rounded Rectangle 6"/>
          <p:cNvSpPr/>
          <p:nvPr/>
        </p:nvSpPr>
        <p:spPr>
          <a:xfrm>
            <a:off x="3762059" y="1683166"/>
            <a:ext cx="2032000" cy="2031689"/>
          </a:xfrm>
          <a:prstGeom prst="roundRect">
            <a:avLst/>
          </a:prstGeom>
          <a:solidFill>
            <a:schemeClr val="accent2"/>
          </a:solidFill>
          <a:ln w="25400" cap="flat" cmpd="sng" algn="ctr">
            <a:noFill/>
            <a:prstDash val="solid"/>
          </a:ln>
          <a:effectLst>
            <a:outerShdw blurRad="254000" dist="152400" dir="2700000" algn="tl" rotWithShape="0">
              <a:prstClr val="black">
                <a:alpha val="60000"/>
              </a:prstClr>
            </a:outerShdw>
          </a:effectLst>
        </p:spPr>
        <p:txBody>
          <a:bodyPr rtlCol="0" anchor="ctr"/>
          <a:lstStyle/>
          <a:p>
            <a:pPr algn="ctr">
              <a:defRPr/>
            </a:pPr>
            <a:endParaRPr lang="en-US" sz="1905" kern="0" dirty="0">
              <a:solidFill>
                <a:sysClr val="window" lastClr="FFFFFF"/>
              </a:solidFill>
              <a:latin typeface="微软雅黑" panose="020B0503020204020204" charset="-122"/>
              <a:ea typeface="微软雅黑" panose="020B0503020204020204" charset="-122"/>
            </a:endParaRPr>
          </a:p>
        </p:txBody>
      </p:sp>
      <p:sp>
        <p:nvSpPr>
          <p:cNvPr id="37" name="Rounded Rectangle 23"/>
          <p:cNvSpPr/>
          <p:nvPr/>
        </p:nvSpPr>
        <p:spPr>
          <a:xfrm>
            <a:off x="3762059" y="5591319"/>
            <a:ext cx="2032000" cy="101584"/>
          </a:xfrm>
          <a:prstGeom prst="roundRect">
            <a:avLst/>
          </a:prstGeom>
          <a:solidFill>
            <a:schemeClr val="accent2"/>
          </a:solidFill>
          <a:ln w="25400" cap="flat" cmpd="sng" algn="ctr">
            <a:noFill/>
            <a:prstDash val="solid"/>
          </a:ln>
          <a:effectLst>
            <a:outerShdw blurRad="254000" dist="152400" dir="2700000" algn="tl" rotWithShape="0">
              <a:prstClr val="black">
                <a:alpha val="60000"/>
              </a:prstClr>
            </a:outerShdw>
          </a:effectLst>
        </p:spPr>
        <p:txBody>
          <a:bodyPr rtlCol="0" anchor="ctr"/>
          <a:lstStyle/>
          <a:p>
            <a:pPr algn="ctr"/>
            <a:endParaRPr lang="en-US" sz="1905" kern="0" dirty="0">
              <a:solidFill>
                <a:schemeClr val="tx1">
                  <a:lumMod val="75000"/>
                  <a:lumOff val="25000"/>
                </a:schemeClr>
              </a:solidFill>
              <a:latin typeface="微软雅黑" panose="020B0503020204020204" charset="-122"/>
              <a:ea typeface="微软雅黑" panose="020B0503020204020204" charset="-122"/>
            </a:endParaRPr>
          </a:p>
        </p:txBody>
      </p:sp>
      <p:sp>
        <p:nvSpPr>
          <p:cNvPr id="69" name="Freeform 127"/>
          <p:cNvSpPr>
            <a:spLocks noChangeAspect="1" noEditPoints="1"/>
          </p:cNvSpPr>
          <p:nvPr/>
        </p:nvSpPr>
        <p:spPr bwMode="auto">
          <a:xfrm>
            <a:off x="4565875" y="2007459"/>
            <a:ext cx="424368" cy="420918"/>
          </a:xfrm>
          <a:custGeom>
            <a:avLst/>
            <a:gdLst>
              <a:gd name="T0" fmla="*/ 598 w 1200"/>
              <a:gd name="T1" fmla="*/ 938 h 1200"/>
              <a:gd name="T2" fmla="*/ 27 w 1200"/>
              <a:gd name="T3" fmla="*/ 806 h 1200"/>
              <a:gd name="T4" fmla="*/ 0 w 1200"/>
              <a:gd name="T5" fmla="*/ 863 h 1200"/>
              <a:gd name="T6" fmla="*/ 0 w 1200"/>
              <a:gd name="T7" fmla="*/ 1013 h 1200"/>
              <a:gd name="T8" fmla="*/ 600 w 1200"/>
              <a:gd name="T9" fmla="*/ 1200 h 1200"/>
              <a:gd name="T10" fmla="*/ 1200 w 1200"/>
              <a:gd name="T11" fmla="*/ 1013 h 1200"/>
              <a:gd name="T12" fmla="*/ 1200 w 1200"/>
              <a:gd name="T13" fmla="*/ 863 h 1200"/>
              <a:gd name="T14" fmla="*/ 1172 w 1200"/>
              <a:gd name="T15" fmla="*/ 806 h 1200"/>
              <a:gd name="T16" fmla="*/ 598 w 1200"/>
              <a:gd name="T17" fmla="*/ 938 h 1200"/>
              <a:gd name="T18" fmla="*/ 598 w 1200"/>
              <a:gd name="T19" fmla="*/ 600 h 1200"/>
              <a:gd name="T20" fmla="*/ 27 w 1200"/>
              <a:gd name="T21" fmla="*/ 469 h 1200"/>
              <a:gd name="T22" fmla="*/ 0 w 1200"/>
              <a:gd name="T23" fmla="*/ 525 h 1200"/>
              <a:gd name="T24" fmla="*/ 0 w 1200"/>
              <a:gd name="T25" fmla="*/ 675 h 1200"/>
              <a:gd name="T26" fmla="*/ 600 w 1200"/>
              <a:gd name="T27" fmla="*/ 863 h 1200"/>
              <a:gd name="T28" fmla="*/ 1200 w 1200"/>
              <a:gd name="T29" fmla="*/ 675 h 1200"/>
              <a:gd name="T30" fmla="*/ 1200 w 1200"/>
              <a:gd name="T31" fmla="*/ 525 h 1200"/>
              <a:gd name="T32" fmla="*/ 1172 w 1200"/>
              <a:gd name="T33" fmla="*/ 469 h 1200"/>
              <a:gd name="T34" fmla="*/ 598 w 1200"/>
              <a:gd name="T35" fmla="*/ 600 h 1200"/>
              <a:gd name="T36" fmla="*/ 600 w 1200"/>
              <a:gd name="T37" fmla="*/ 0 h 1200"/>
              <a:gd name="T38" fmla="*/ 0 w 1200"/>
              <a:gd name="T39" fmla="*/ 188 h 1200"/>
              <a:gd name="T40" fmla="*/ 0 w 1200"/>
              <a:gd name="T41" fmla="*/ 338 h 1200"/>
              <a:gd name="T42" fmla="*/ 600 w 1200"/>
              <a:gd name="T43" fmla="*/ 525 h 1200"/>
              <a:gd name="T44" fmla="*/ 1200 w 1200"/>
              <a:gd name="T45" fmla="*/ 338 h 1200"/>
              <a:gd name="T46" fmla="*/ 1200 w 1200"/>
              <a:gd name="T47" fmla="*/ 188 h 1200"/>
              <a:gd name="T48" fmla="*/ 600 w 1200"/>
              <a:gd name="T49" fmla="*/ 0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00" h="1200">
                <a:moveTo>
                  <a:pt x="598" y="938"/>
                </a:moveTo>
                <a:cubicBezTo>
                  <a:pt x="330" y="938"/>
                  <a:pt x="103" y="883"/>
                  <a:pt x="27" y="806"/>
                </a:cubicBezTo>
                <a:cubicBezTo>
                  <a:pt x="9" y="824"/>
                  <a:pt x="0" y="843"/>
                  <a:pt x="0" y="863"/>
                </a:cubicBezTo>
                <a:lnTo>
                  <a:pt x="0" y="1013"/>
                </a:lnTo>
                <a:cubicBezTo>
                  <a:pt x="0" y="1116"/>
                  <a:pt x="269" y="1200"/>
                  <a:pt x="600" y="1200"/>
                </a:cubicBezTo>
                <a:cubicBezTo>
                  <a:pt x="932" y="1200"/>
                  <a:pt x="1200" y="1116"/>
                  <a:pt x="1200" y="1013"/>
                </a:cubicBezTo>
                <a:lnTo>
                  <a:pt x="1200" y="863"/>
                </a:lnTo>
                <a:cubicBezTo>
                  <a:pt x="1200" y="843"/>
                  <a:pt x="1190" y="824"/>
                  <a:pt x="1172" y="806"/>
                </a:cubicBezTo>
                <a:cubicBezTo>
                  <a:pt x="1095" y="883"/>
                  <a:pt x="867" y="938"/>
                  <a:pt x="598" y="938"/>
                </a:cubicBezTo>
                <a:close/>
                <a:moveTo>
                  <a:pt x="598" y="600"/>
                </a:moveTo>
                <a:cubicBezTo>
                  <a:pt x="330" y="600"/>
                  <a:pt x="103" y="545"/>
                  <a:pt x="27" y="469"/>
                </a:cubicBezTo>
                <a:cubicBezTo>
                  <a:pt x="9" y="487"/>
                  <a:pt x="0" y="506"/>
                  <a:pt x="0" y="525"/>
                </a:cubicBezTo>
                <a:lnTo>
                  <a:pt x="0" y="675"/>
                </a:lnTo>
                <a:cubicBezTo>
                  <a:pt x="0" y="779"/>
                  <a:pt x="269" y="863"/>
                  <a:pt x="600" y="863"/>
                </a:cubicBezTo>
                <a:cubicBezTo>
                  <a:pt x="932" y="863"/>
                  <a:pt x="1200" y="779"/>
                  <a:pt x="1200" y="675"/>
                </a:cubicBezTo>
                <a:lnTo>
                  <a:pt x="1200" y="525"/>
                </a:lnTo>
                <a:cubicBezTo>
                  <a:pt x="1200" y="506"/>
                  <a:pt x="1190" y="487"/>
                  <a:pt x="1172" y="469"/>
                </a:cubicBezTo>
                <a:cubicBezTo>
                  <a:pt x="1095" y="545"/>
                  <a:pt x="867" y="600"/>
                  <a:pt x="598" y="600"/>
                </a:cubicBezTo>
                <a:close/>
                <a:moveTo>
                  <a:pt x="600" y="0"/>
                </a:moveTo>
                <a:cubicBezTo>
                  <a:pt x="269" y="0"/>
                  <a:pt x="0" y="84"/>
                  <a:pt x="0" y="188"/>
                </a:cubicBezTo>
                <a:lnTo>
                  <a:pt x="0" y="338"/>
                </a:lnTo>
                <a:cubicBezTo>
                  <a:pt x="0" y="441"/>
                  <a:pt x="269" y="525"/>
                  <a:pt x="600" y="525"/>
                </a:cubicBezTo>
                <a:cubicBezTo>
                  <a:pt x="932" y="525"/>
                  <a:pt x="1200" y="441"/>
                  <a:pt x="1200" y="338"/>
                </a:cubicBezTo>
                <a:lnTo>
                  <a:pt x="1200" y="188"/>
                </a:lnTo>
                <a:cubicBezTo>
                  <a:pt x="1200" y="84"/>
                  <a:pt x="932" y="0"/>
                  <a:pt x="600"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73" name="TextBox 16"/>
          <p:cNvSpPr txBox="1">
            <a:spLocks noChangeArrowheads="1"/>
          </p:cNvSpPr>
          <p:nvPr/>
        </p:nvSpPr>
        <p:spPr bwMode="auto">
          <a:xfrm>
            <a:off x="3851591" y="2551541"/>
            <a:ext cx="185293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accent2"/>
                </a:solidFill>
                <a:latin typeface="Arial" panose="020B0604020202020204" pitchFamily="34" charset="0"/>
                <a:ea typeface="微软雅黑" panose="020B050302020402020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lang="en-US" altLang="zh-CN" sz="2400" b="1" dirty="0" smtClean="0">
                <a:solidFill>
                  <a:schemeClr val="bg1"/>
                </a:solidFill>
                <a:latin typeface="微软雅黑" panose="020B0503020204020204" charset="-122"/>
              </a:rPr>
              <a:t>FBA/</a:t>
            </a:r>
            <a:r>
              <a:rPr lang="zh-CN" sz="2400" b="1" dirty="0" smtClean="0">
                <a:solidFill>
                  <a:schemeClr val="bg1"/>
                </a:solidFill>
                <a:latin typeface="微软雅黑" panose="020B0503020204020204" charset="-122"/>
              </a:rPr>
              <a:t>物流</a:t>
            </a:r>
            <a:endParaRPr lang="zh-CN" sz="2400" b="1" dirty="0">
              <a:solidFill>
                <a:schemeClr val="bg1"/>
              </a:solidFill>
              <a:latin typeface="微软雅黑" panose="020B0503020204020204" charset="-122"/>
            </a:endParaRPr>
          </a:p>
        </p:txBody>
      </p:sp>
      <p:sp>
        <p:nvSpPr>
          <p:cNvPr id="76" name="矩形 75"/>
          <p:cNvSpPr/>
          <p:nvPr/>
        </p:nvSpPr>
        <p:spPr>
          <a:xfrm>
            <a:off x="3769700" y="3960589"/>
            <a:ext cx="2016719" cy="953135"/>
          </a:xfrm>
          <a:prstGeom prst="rect">
            <a:avLst/>
          </a:prstGeom>
        </p:spPr>
        <p:txBody>
          <a:bodyPr wrap="square">
            <a:spAutoFit/>
          </a:bodyPr>
          <a:lstStyle/>
          <a:p>
            <a:pPr algn="ctr"/>
            <a:r>
              <a:rPr lang="zh-CN" altLang="en-US" sz="1400" dirty="0">
                <a:solidFill>
                  <a:schemeClr val="tx1">
                    <a:lumMod val="75000"/>
                    <a:lumOff val="25000"/>
                  </a:schemeClr>
                </a:solidFill>
                <a:latin typeface="微软雅黑" panose="020B0503020204020204" charset="-122"/>
                <a:ea typeface="微软雅黑" panose="020B0503020204020204" charset="-122"/>
              </a:rPr>
              <a:t>各站点的流量预测与备货周期，海运与空运结合，避免缺货走红单应急。</a:t>
            </a:r>
            <a:endParaRPr lang="en-US" altLang="zh-CN" sz="1400" dirty="0">
              <a:solidFill>
                <a:schemeClr val="tx1">
                  <a:lumMod val="75000"/>
                  <a:lumOff val="25000"/>
                </a:schemeClr>
              </a:solidFill>
              <a:latin typeface="微软雅黑" panose="020B0503020204020204" charset="-122"/>
              <a:ea typeface="微软雅黑" panose="020B0503020204020204" charset="-122"/>
            </a:endParaRPr>
          </a:p>
        </p:txBody>
      </p:sp>
      <p:sp>
        <p:nvSpPr>
          <p:cNvPr id="44" name="Rounded Rectangle 7"/>
          <p:cNvSpPr/>
          <p:nvPr/>
        </p:nvSpPr>
        <p:spPr>
          <a:xfrm>
            <a:off x="6397942" y="1683166"/>
            <a:ext cx="2032000" cy="2031689"/>
          </a:xfrm>
          <a:prstGeom prst="roundRect">
            <a:avLst/>
          </a:prstGeom>
          <a:solidFill>
            <a:schemeClr val="accent3"/>
          </a:solidFill>
          <a:ln w="25400" cap="flat" cmpd="sng" algn="ctr">
            <a:noFill/>
            <a:prstDash val="solid"/>
          </a:ln>
          <a:effectLst>
            <a:outerShdw blurRad="254000" dist="152400" dir="2700000" algn="tl" rotWithShape="0">
              <a:prstClr val="black">
                <a:alpha val="60000"/>
              </a:prstClr>
            </a:outerShdw>
          </a:effectLst>
        </p:spPr>
        <p:txBody>
          <a:bodyPr rtlCol="0" anchor="ctr"/>
          <a:lstStyle/>
          <a:p>
            <a:pPr algn="ctr">
              <a:defRPr/>
            </a:pPr>
            <a:endParaRPr lang="en-US" sz="1905" kern="0" dirty="0">
              <a:solidFill>
                <a:sysClr val="window" lastClr="FFFFFF"/>
              </a:solidFill>
              <a:latin typeface="微软雅黑" panose="020B0503020204020204" charset="-122"/>
              <a:ea typeface="微软雅黑" panose="020B0503020204020204" charset="-122"/>
            </a:endParaRPr>
          </a:p>
        </p:txBody>
      </p:sp>
      <p:sp>
        <p:nvSpPr>
          <p:cNvPr id="43" name="Rounded Rectangle 24"/>
          <p:cNvSpPr/>
          <p:nvPr/>
        </p:nvSpPr>
        <p:spPr>
          <a:xfrm>
            <a:off x="6397942" y="5591319"/>
            <a:ext cx="2032000" cy="101584"/>
          </a:xfrm>
          <a:prstGeom prst="roundRect">
            <a:avLst/>
          </a:prstGeom>
          <a:solidFill>
            <a:schemeClr val="accent3"/>
          </a:solidFill>
          <a:ln w="25400" cap="flat" cmpd="sng" algn="ctr">
            <a:noFill/>
            <a:prstDash val="solid"/>
          </a:ln>
          <a:effectLst>
            <a:outerShdw blurRad="254000" dist="152400" dir="2700000" algn="tl" rotWithShape="0">
              <a:prstClr val="black">
                <a:alpha val="60000"/>
              </a:prstClr>
            </a:outerShdw>
          </a:effectLst>
        </p:spPr>
        <p:txBody>
          <a:bodyPr rtlCol="0" anchor="ctr"/>
          <a:lstStyle/>
          <a:p>
            <a:pPr algn="ctr"/>
            <a:endParaRPr lang="en-US" sz="1905" kern="0" dirty="0">
              <a:solidFill>
                <a:schemeClr val="tx1">
                  <a:lumMod val="75000"/>
                  <a:lumOff val="25000"/>
                </a:schemeClr>
              </a:solidFill>
              <a:latin typeface="微软雅黑" panose="020B0503020204020204" charset="-122"/>
              <a:ea typeface="微软雅黑" panose="020B0503020204020204" charset="-122"/>
            </a:endParaRPr>
          </a:p>
        </p:txBody>
      </p:sp>
      <p:sp>
        <p:nvSpPr>
          <p:cNvPr id="70" name="Freeform 102"/>
          <p:cNvSpPr>
            <a:spLocks noChangeAspect="1" noEditPoints="1"/>
          </p:cNvSpPr>
          <p:nvPr/>
        </p:nvSpPr>
        <p:spPr bwMode="auto">
          <a:xfrm>
            <a:off x="7178182" y="2016660"/>
            <a:ext cx="471520" cy="402517"/>
          </a:xfrm>
          <a:custGeom>
            <a:avLst/>
            <a:gdLst>
              <a:gd name="T0" fmla="*/ 1117 w 1200"/>
              <a:gd name="T1" fmla="*/ 516 h 1033"/>
              <a:gd name="T2" fmla="*/ 600 w 1200"/>
              <a:gd name="T3" fmla="*/ 0 h 1033"/>
              <a:gd name="T4" fmla="*/ 191 w 1200"/>
              <a:gd name="T5" fmla="*/ 202 h 1033"/>
              <a:gd name="T6" fmla="*/ 432 w 1200"/>
              <a:gd name="T7" fmla="*/ 131 h 1033"/>
              <a:gd name="T8" fmla="*/ 873 w 1200"/>
              <a:gd name="T9" fmla="*/ 516 h 1033"/>
              <a:gd name="T10" fmla="*/ 789 w 1200"/>
              <a:gd name="T11" fmla="*/ 516 h 1033"/>
              <a:gd name="T12" fmla="*/ 995 w 1200"/>
              <a:gd name="T13" fmla="*/ 722 h 1033"/>
              <a:gd name="T14" fmla="*/ 1200 w 1200"/>
              <a:gd name="T15" fmla="*/ 516 h 1033"/>
              <a:gd name="T16" fmla="*/ 1117 w 1200"/>
              <a:gd name="T17" fmla="*/ 516 h 1033"/>
              <a:gd name="T18" fmla="*/ 84 w 1200"/>
              <a:gd name="T19" fmla="*/ 516 h 1033"/>
              <a:gd name="T20" fmla="*/ 600 w 1200"/>
              <a:gd name="T21" fmla="*/ 1033 h 1033"/>
              <a:gd name="T22" fmla="*/ 1009 w 1200"/>
              <a:gd name="T23" fmla="*/ 831 h 1033"/>
              <a:gd name="T24" fmla="*/ 768 w 1200"/>
              <a:gd name="T25" fmla="*/ 902 h 1033"/>
              <a:gd name="T26" fmla="*/ 328 w 1200"/>
              <a:gd name="T27" fmla="*/ 516 h 1033"/>
              <a:gd name="T28" fmla="*/ 411 w 1200"/>
              <a:gd name="T29" fmla="*/ 516 h 1033"/>
              <a:gd name="T30" fmla="*/ 206 w 1200"/>
              <a:gd name="T31" fmla="*/ 311 h 1033"/>
              <a:gd name="T32" fmla="*/ 0 w 1200"/>
              <a:gd name="T33" fmla="*/ 516 h 1033"/>
              <a:gd name="T34" fmla="*/ 84 w 1200"/>
              <a:gd name="T35" fmla="*/ 516 h 10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00" h="1033">
                <a:moveTo>
                  <a:pt x="1117" y="516"/>
                </a:moveTo>
                <a:cubicBezTo>
                  <a:pt x="1117" y="231"/>
                  <a:pt x="886" y="0"/>
                  <a:pt x="600" y="0"/>
                </a:cubicBezTo>
                <a:cubicBezTo>
                  <a:pt x="434" y="0"/>
                  <a:pt x="286" y="79"/>
                  <a:pt x="191" y="202"/>
                </a:cubicBezTo>
                <a:cubicBezTo>
                  <a:pt x="261" y="157"/>
                  <a:pt x="343" y="131"/>
                  <a:pt x="432" y="131"/>
                </a:cubicBezTo>
                <a:cubicBezTo>
                  <a:pt x="658" y="131"/>
                  <a:pt x="844" y="299"/>
                  <a:pt x="873" y="516"/>
                </a:cubicBezTo>
                <a:lnTo>
                  <a:pt x="789" y="516"/>
                </a:lnTo>
                <a:lnTo>
                  <a:pt x="995" y="722"/>
                </a:lnTo>
                <a:lnTo>
                  <a:pt x="1200" y="516"/>
                </a:lnTo>
                <a:lnTo>
                  <a:pt x="1117" y="516"/>
                </a:lnTo>
                <a:close/>
                <a:moveTo>
                  <a:pt x="84" y="516"/>
                </a:moveTo>
                <a:cubicBezTo>
                  <a:pt x="84" y="801"/>
                  <a:pt x="315" y="1033"/>
                  <a:pt x="600" y="1033"/>
                </a:cubicBezTo>
                <a:cubicBezTo>
                  <a:pt x="767" y="1033"/>
                  <a:pt x="915" y="953"/>
                  <a:pt x="1009" y="831"/>
                </a:cubicBezTo>
                <a:cubicBezTo>
                  <a:pt x="940" y="875"/>
                  <a:pt x="857" y="902"/>
                  <a:pt x="768" y="902"/>
                </a:cubicBezTo>
                <a:cubicBezTo>
                  <a:pt x="543" y="902"/>
                  <a:pt x="357" y="734"/>
                  <a:pt x="328" y="516"/>
                </a:cubicBezTo>
                <a:lnTo>
                  <a:pt x="411" y="516"/>
                </a:lnTo>
                <a:lnTo>
                  <a:pt x="206" y="311"/>
                </a:lnTo>
                <a:lnTo>
                  <a:pt x="0" y="516"/>
                </a:lnTo>
                <a:lnTo>
                  <a:pt x="84" y="51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74" name="TextBox 16"/>
          <p:cNvSpPr txBox="1">
            <a:spLocks noChangeArrowheads="1"/>
          </p:cNvSpPr>
          <p:nvPr/>
        </p:nvSpPr>
        <p:spPr bwMode="auto">
          <a:xfrm>
            <a:off x="6487474" y="2551541"/>
            <a:ext cx="185293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accent2"/>
                </a:solidFill>
                <a:latin typeface="Arial" panose="020B0604020202020204" pitchFamily="34" charset="0"/>
                <a:ea typeface="微软雅黑" panose="020B050302020402020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lang="zh-CN" sz="2400" b="1" dirty="0" smtClean="0">
                <a:solidFill>
                  <a:schemeClr val="bg1"/>
                </a:solidFill>
                <a:latin typeface="微软雅黑" panose="020B0503020204020204" charset="-122"/>
              </a:rPr>
              <a:t>运营成本</a:t>
            </a:r>
            <a:endParaRPr lang="zh-CN" sz="2400" b="1" dirty="0">
              <a:solidFill>
                <a:schemeClr val="bg1"/>
              </a:solidFill>
              <a:latin typeface="微软雅黑" panose="020B0503020204020204" charset="-122"/>
            </a:endParaRPr>
          </a:p>
        </p:txBody>
      </p:sp>
      <p:sp>
        <p:nvSpPr>
          <p:cNvPr id="77" name="矩形 76"/>
          <p:cNvSpPr/>
          <p:nvPr/>
        </p:nvSpPr>
        <p:spPr>
          <a:xfrm>
            <a:off x="6405583" y="3960589"/>
            <a:ext cx="2016719" cy="953135"/>
          </a:xfrm>
          <a:prstGeom prst="rect">
            <a:avLst/>
          </a:prstGeom>
        </p:spPr>
        <p:txBody>
          <a:bodyPr wrap="square">
            <a:spAutoFit/>
          </a:bodyPr>
          <a:lstStyle/>
          <a:p>
            <a:pPr algn="ctr"/>
            <a:r>
              <a:rPr lang="zh-CN" altLang="en-US" sz="1400" dirty="0" smtClean="0">
                <a:solidFill>
                  <a:schemeClr val="tx1">
                    <a:lumMod val="75000"/>
                    <a:lumOff val="25000"/>
                  </a:schemeClr>
                </a:solidFill>
                <a:latin typeface="微软雅黑" panose="020B0503020204020204" charset="-122"/>
                <a:ea typeface="微软雅黑" panose="020B0503020204020204" charset="-122"/>
              </a:rPr>
              <a:t>拒绝盲目刷单，投入与产出比</a:t>
            </a:r>
            <a:endParaRPr lang="zh-CN" altLang="en-US" sz="1400" dirty="0" smtClean="0">
              <a:solidFill>
                <a:schemeClr val="tx1">
                  <a:lumMod val="75000"/>
                  <a:lumOff val="25000"/>
                </a:schemeClr>
              </a:solidFill>
              <a:latin typeface="微软雅黑" panose="020B0503020204020204" charset="-122"/>
              <a:ea typeface="微软雅黑" panose="020B0503020204020204" charset="-122"/>
            </a:endParaRPr>
          </a:p>
          <a:p>
            <a:pPr algn="ctr"/>
            <a:r>
              <a:rPr lang="zh-CN" altLang="en-US" sz="1400" dirty="0">
                <a:solidFill>
                  <a:schemeClr val="tx1">
                    <a:lumMod val="75000"/>
                    <a:lumOff val="25000"/>
                  </a:schemeClr>
                </a:solidFill>
                <a:latin typeface="微软雅黑" panose="020B0503020204020204" charset="-122"/>
                <a:ea typeface="微软雅黑" panose="020B0503020204020204" charset="-122"/>
              </a:rPr>
              <a:t>阶段性的广告预算与目标</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p:txBody>
      </p:sp>
      <p:sp>
        <p:nvSpPr>
          <p:cNvPr id="50" name="Rounded Rectangle 8"/>
          <p:cNvSpPr/>
          <p:nvPr/>
        </p:nvSpPr>
        <p:spPr>
          <a:xfrm>
            <a:off x="9033825" y="1683166"/>
            <a:ext cx="2031999" cy="2031689"/>
          </a:xfrm>
          <a:prstGeom prst="roundRect">
            <a:avLst/>
          </a:prstGeom>
          <a:solidFill>
            <a:schemeClr val="accent4"/>
          </a:solidFill>
          <a:ln w="25400" cap="flat" cmpd="sng" algn="ctr">
            <a:noFill/>
            <a:prstDash val="solid"/>
          </a:ln>
          <a:effectLst>
            <a:outerShdw blurRad="254000" dist="152400" dir="2700000" algn="tl" rotWithShape="0">
              <a:prstClr val="black">
                <a:alpha val="60000"/>
              </a:prstClr>
            </a:outerShdw>
          </a:effectLst>
        </p:spPr>
        <p:txBody>
          <a:bodyPr rtlCol="0" anchor="ctr"/>
          <a:lstStyle/>
          <a:p>
            <a:pPr algn="ctr">
              <a:defRPr/>
            </a:pPr>
            <a:endParaRPr lang="en-US" sz="1905" kern="0" dirty="0">
              <a:solidFill>
                <a:sysClr val="window" lastClr="FFFFFF"/>
              </a:solidFill>
              <a:latin typeface="微软雅黑" panose="020B0503020204020204" charset="-122"/>
              <a:ea typeface="微软雅黑" panose="020B0503020204020204" charset="-122"/>
            </a:endParaRPr>
          </a:p>
        </p:txBody>
      </p:sp>
      <p:sp>
        <p:nvSpPr>
          <p:cNvPr id="49" name="Rounded Rectangle 25"/>
          <p:cNvSpPr/>
          <p:nvPr/>
        </p:nvSpPr>
        <p:spPr>
          <a:xfrm>
            <a:off x="9033825" y="5591319"/>
            <a:ext cx="2031999" cy="101584"/>
          </a:xfrm>
          <a:prstGeom prst="roundRect">
            <a:avLst/>
          </a:prstGeom>
          <a:solidFill>
            <a:schemeClr val="accent4"/>
          </a:solidFill>
          <a:ln w="25400" cap="flat" cmpd="sng" algn="ctr">
            <a:noFill/>
            <a:prstDash val="solid"/>
          </a:ln>
          <a:effectLst>
            <a:outerShdw blurRad="254000" dist="152400" dir="2700000" algn="tl" rotWithShape="0">
              <a:prstClr val="black">
                <a:alpha val="60000"/>
              </a:prstClr>
            </a:outerShdw>
          </a:effectLst>
        </p:spPr>
        <p:txBody>
          <a:bodyPr rtlCol="0" anchor="ctr"/>
          <a:lstStyle/>
          <a:p>
            <a:pPr algn="ctr"/>
            <a:endParaRPr lang="en-US" sz="1905" kern="0" dirty="0">
              <a:solidFill>
                <a:schemeClr val="tx1">
                  <a:lumMod val="75000"/>
                  <a:lumOff val="25000"/>
                </a:schemeClr>
              </a:solidFill>
              <a:latin typeface="微软雅黑" panose="020B0503020204020204" charset="-122"/>
              <a:ea typeface="微软雅黑" panose="020B0503020204020204" charset="-122"/>
            </a:endParaRPr>
          </a:p>
        </p:txBody>
      </p:sp>
      <p:sp>
        <p:nvSpPr>
          <p:cNvPr id="71" name="Freeform 151"/>
          <p:cNvSpPr>
            <a:spLocks noChangeAspect="1" noEditPoints="1"/>
          </p:cNvSpPr>
          <p:nvPr/>
        </p:nvSpPr>
        <p:spPr bwMode="auto">
          <a:xfrm>
            <a:off x="9814064" y="1982158"/>
            <a:ext cx="471520" cy="471520"/>
          </a:xfrm>
          <a:custGeom>
            <a:avLst/>
            <a:gdLst>
              <a:gd name="T0" fmla="*/ 481 w 1200"/>
              <a:gd name="T1" fmla="*/ 481 h 1210"/>
              <a:gd name="T2" fmla="*/ 280 w 1200"/>
              <a:gd name="T3" fmla="*/ 481 h 1210"/>
              <a:gd name="T4" fmla="*/ 80 w 1200"/>
              <a:gd name="T5" fmla="*/ 281 h 1210"/>
              <a:gd name="T6" fmla="*/ 280 w 1200"/>
              <a:gd name="T7" fmla="*/ 80 h 1210"/>
              <a:gd name="T8" fmla="*/ 481 w 1200"/>
              <a:gd name="T9" fmla="*/ 281 h 1210"/>
              <a:gd name="T10" fmla="*/ 481 w 1200"/>
              <a:gd name="T11" fmla="*/ 481 h 1210"/>
              <a:gd name="T12" fmla="*/ 481 w 1200"/>
              <a:gd name="T13" fmla="*/ 930 h 1210"/>
              <a:gd name="T14" fmla="*/ 280 w 1200"/>
              <a:gd name="T15" fmla="*/ 1130 h 1210"/>
              <a:gd name="T16" fmla="*/ 80 w 1200"/>
              <a:gd name="T17" fmla="*/ 930 h 1210"/>
              <a:gd name="T18" fmla="*/ 280 w 1200"/>
              <a:gd name="T19" fmla="*/ 729 h 1210"/>
              <a:gd name="T20" fmla="*/ 481 w 1200"/>
              <a:gd name="T21" fmla="*/ 729 h 1210"/>
              <a:gd name="T22" fmla="*/ 481 w 1200"/>
              <a:gd name="T23" fmla="*/ 930 h 1210"/>
              <a:gd name="T24" fmla="*/ 561 w 1200"/>
              <a:gd name="T25" fmla="*/ 930 h 1210"/>
              <a:gd name="T26" fmla="*/ 561 w 1200"/>
              <a:gd name="T27" fmla="*/ 649 h 1210"/>
              <a:gd name="T28" fmla="*/ 280 w 1200"/>
              <a:gd name="T29" fmla="*/ 649 h 1210"/>
              <a:gd name="T30" fmla="*/ 0 w 1200"/>
              <a:gd name="T31" fmla="*/ 930 h 1210"/>
              <a:gd name="T32" fmla="*/ 280 w 1200"/>
              <a:gd name="T33" fmla="*/ 1210 h 1210"/>
              <a:gd name="T34" fmla="*/ 561 w 1200"/>
              <a:gd name="T35" fmla="*/ 930 h 1210"/>
              <a:gd name="T36" fmla="*/ 719 w 1200"/>
              <a:gd name="T37" fmla="*/ 729 h 1210"/>
              <a:gd name="T38" fmla="*/ 920 w 1200"/>
              <a:gd name="T39" fmla="*/ 729 h 1210"/>
              <a:gd name="T40" fmla="*/ 1120 w 1200"/>
              <a:gd name="T41" fmla="*/ 930 h 1210"/>
              <a:gd name="T42" fmla="*/ 920 w 1200"/>
              <a:gd name="T43" fmla="*/ 1130 h 1210"/>
              <a:gd name="T44" fmla="*/ 719 w 1200"/>
              <a:gd name="T45" fmla="*/ 930 h 1210"/>
              <a:gd name="T46" fmla="*/ 719 w 1200"/>
              <a:gd name="T47" fmla="*/ 729 h 1210"/>
              <a:gd name="T48" fmla="*/ 920 w 1200"/>
              <a:gd name="T49" fmla="*/ 1210 h 1210"/>
              <a:gd name="T50" fmla="*/ 1200 w 1200"/>
              <a:gd name="T51" fmla="*/ 930 h 1210"/>
              <a:gd name="T52" fmla="*/ 920 w 1200"/>
              <a:gd name="T53" fmla="*/ 649 h 1210"/>
              <a:gd name="T54" fmla="*/ 639 w 1200"/>
              <a:gd name="T55" fmla="*/ 649 h 1210"/>
              <a:gd name="T56" fmla="*/ 639 w 1200"/>
              <a:gd name="T57" fmla="*/ 930 h 1210"/>
              <a:gd name="T58" fmla="*/ 920 w 1200"/>
              <a:gd name="T59" fmla="*/ 1210 h 1210"/>
              <a:gd name="T60" fmla="*/ 719 w 1200"/>
              <a:gd name="T61" fmla="*/ 281 h 1210"/>
              <a:gd name="T62" fmla="*/ 920 w 1200"/>
              <a:gd name="T63" fmla="*/ 80 h 1210"/>
              <a:gd name="T64" fmla="*/ 1120 w 1200"/>
              <a:gd name="T65" fmla="*/ 281 h 1210"/>
              <a:gd name="T66" fmla="*/ 920 w 1200"/>
              <a:gd name="T67" fmla="*/ 481 h 1210"/>
              <a:gd name="T68" fmla="*/ 719 w 1200"/>
              <a:gd name="T69" fmla="*/ 481 h 1210"/>
              <a:gd name="T70" fmla="*/ 719 w 1200"/>
              <a:gd name="T71" fmla="*/ 281 h 1210"/>
              <a:gd name="T72" fmla="*/ 639 w 1200"/>
              <a:gd name="T73" fmla="*/ 281 h 1210"/>
              <a:gd name="T74" fmla="*/ 639 w 1200"/>
              <a:gd name="T75" fmla="*/ 561 h 1210"/>
              <a:gd name="T76" fmla="*/ 920 w 1200"/>
              <a:gd name="T77" fmla="*/ 561 h 1210"/>
              <a:gd name="T78" fmla="*/ 1200 w 1200"/>
              <a:gd name="T79" fmla="*/ 281 h 1210"/>
              <a:gd name="T80" fmla="*/ 920 w 1200"/>
              <a:gd name="T81" fmla="*/ 0 h 1210"/>
              <a:gd name="T82" fmla="*/ 639 w 1200"/>
              <a:gd name="T83" fmla="*/ 281 h 1210"/>
              <a:gd name="T84" fmla="*/ 280 w 1200"/>
              <a:gd name="T85" fmla="*/ 0 h 1210"/>
              <a:gd name="T86" fmla="*/ 0 w 1200"/>
              <a:gd name="T87" fmla="*/ 281 h 1210"/>
              <a:gd name="T88" fmla="*/ 280 w 1200"/>
              <a:gd name="T89" fmla="*/ 561 h 1210"/>
              <a:gd name="T90" fmla="*/ 561 w 1200"/>
              <a:gd name="T91" fmla="*/ 561 h 1210"/>
              <a:gd name="T92" fmla="*/ 561 w 1200"/>
              <a:gd name="T93" fmla="*/ 281 h 1210"/>
              <a:gd name="T94" fmla="*/ 280 w 1200"/>
              <a:gd name="T95" fmla="*/ 0 h 1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00" h="1210">
                <a:moveTo>
                  <a:pt x="481" y="481"/>
                </a:moveTo>
                <a:cubicBezTo>
                  <a:pt x="481" y="481"/>
                  <a:pt x="337" y="481"/>
                  <a:pt x="280" y="481"/>
                </a:cubicBezTo>
                <a:cubicBezTo>
                  <a:pt x="170" y="481"/>
                  <a:pt x="80" y="392"/>
                  <a:pt x="80" y="281"/>
                </a:cubicBezTo>
                <a:cubicBezTo>
                  <a:pt x="80" y="170"/>
                  <a:pt x="170" y="80"/>
                  <a:pt x="280" y="80"/>
                </a:cubicBezTo>
                <a:cubicBezTo>
                  <a:pt x="391" y="80"/>
                  <a:pt x="481" y="170"/>
                  <a:pt x="481" y="281"/>
                </a:cubicBezTo>
                <a:cubicBezTo>
                  <a:pt x="481" y="335"/>
                  <a:pt x="481" y="481"/>
                  <a:pt x="481" y="481"/>
                </a:cubicBezTo>
                <a:close/>
                <a:moveTo>
                  <a:pt x="481" y="930"/>
                </a:moveTo>
                <a:cubicBezTo>
                  <a:pt x="481" y="1040"/>
                  <a:pt x="391" y="1130"/>
                  <a:pt x="280" y="1130"/>
                </a:cubicBezTo>
                <a:cubicBezTo>
                  <a:pt x="170" y="1130"/>
                  <a:pt x="80" y="1040"/>
                  <a:pt x="80" y="930"/>
                </a:cubicBezTo>
                <a:cubicBezTo>
                  <a:pt x="80" y="819"/>
                  <a:pt x="170" y="729"/>
                  <a:pt x="280" y="729"/>
                </a:cubicBezTo>
                <a:cubicBezTo>
                  <a:pt x="337" y="729"/>
                  <a:pt x="481" y="729"/>
                  <a:pt x="481" y="729"/>
                </a:cubicBezTo>
                <a:cubicBezTo>
                  <a:pt x="481" y="729"/>
                  <a:pt x="481" y="876"/>
                  <a:pt x="481" y="930"/>
                </a:cubicBezTo>
                <a:close/>
                <a:moveTo>
                  <a:pt x="561" y="930"/>
                </a:moveTo>
                <a:cubicBezTo>
                  <a:pt x="561" y="854"/>
                  <a:pt x="561" y="649"/>
                  <a:pt x="561" y="649"/>
                </a:cubicBezTo>
                <a:cubicBezTo>
                  <a:pt x="561" y="649"/>
                  <a:pt x="360" y="649"/>
                  <a:pt x="280" y="649"/>
                </a:cubicBezTo>
                <a:cubicBezTo>
                  <a:pt x="126" y="649"/>
                  <a:pt x="0" y="775"/>
                  <a:pt x="0" y="930"/>
                </a:cubicBezTo>
                <a:cubicBezTo>
                  <a:pt x="0" y="1085"/>
                  <a:pt x="126" y="1210"/>
                  <a:pt x="280" y="1210"/>
                </a:cubicBezTo>
                <a:cubicBezTo>
                  <a:pt x="435" y="1210"/>
                  <a:pt x="561" y="1085"/>
                  <a:pt x="561" y="930"/>
                </a:cubicBezTo>
                <a:close/>
                <a:moveTo>
                  <a:pt x="719" y="729"/>
                </a:moveTo>
                <a:cubicBezTo>
                  <a:pt x="719" y="729"/>
                  <a:pt x="863" y="729"/>
                  <a:pt x="920" y="729"/>
                </a:cubicBezTo>
                <a:cubicBezTo>
                  <a:pt x="1031" y="729"/>
                  <a:pt x="1120" y="819"/>
                  <a:pt x="1120" y="930"/>
                </a:cubicBezTo>
                <a:cubicBezTo>
                  <a:pt x="1120" y="1040"/>
                  <a:pt x="1031" y="1130"/>
                  <a:pt x="920" y="1130"/>
                </a:cubicBezTo>
                <a:cubicBezTo>
                  <a:pt x="809" y="1130"/>
                  <a:pt x="719" y="1040"/>
                  <a:pt x="719" y="930"/>
                </a:cubicBezTo>
                <a:cubicBezTo>
                  <a:pt x="719" y="876"/>
                  <a:pt x="719" y="729"/>
                  <a:pt x="719" y="729"/>
                </a:cubicBezTo>
                <a:close/>
                <a:moveTo>
                  <a:pt x="920" y="1210"/>
                </a:moveTo>
                <a:cubicBezTo>
                  <a:pt x="1075" y="1210"/>
                  <a:pt x="1200" y="1085"/>
                  <a:pt x="1200" y="930"/>
                </a:cubicBezTo>
                <a:cubicBezTo>
                  <a:pt x="1200" y="775"/>
                  <a:pt x="1075" y="649"/>
                  <a:pt x="920" y="649"/>
                </a:cubicBezTo>
                <a:cubicBezTo>
                  <a:pt x="841" y="649"/>
                  <a:pt x="639" y="649"/>
                  <a:pt x="639" y="649"/>
                </a:cubicBezTo>
                <a:cubicBezTo>
                  <a:pt x="639" y="649"/>
                  <a:pt x="639" y="854"/>
                  <a:pt x="639" y="930"/>
                </a:cubicBezTo>
                <a:cubicBezTo>
                  <a:pt x="639" y="1085"/>
                  <a:pt x="765" y="1210"/>
                  <a:pt x="920" y="1210"/>
                </a:cubicBezTo>
                <a:close/>
                <a:moveTo>
                  <a:pt x="719" y="281"/>
                </a:moveTo>
                <a:cubicBezTo>
                  <a:pt x="719" y="170"/>
                  <a:pt x="809" y="80"/>
                  <a:pt x="920" y="80"/>
                </a:cubicBezTo>
                <a:cubicBezTo>
                  <a:pt x="1031" y="80"/>
                  <a:pt x="1120" y="170"/>
                  <a:pt x="1120" y="281"/>
                </a:cubicBezTo>
                <a:cubicBezTo>
                  <a:pt x="1120" y="392"/>
                  <a:pt x="1031" y="481"/>
                  <a:pt x="920" y="481"/>
                </a:cubicBezTo>
                <a:cubicBezTo>
                  <a:pt x="863" y="481"/>
                  <a:pt x="719" y="481"/>
                  <a:pt x="719" y="481"/>
                </a:cubicBezTo>
                <a:cubicBezTo>
                  <a:pt x="719" y="481"/>
                  <a:pt x="719" y="335"/>
                  <a:pt x="719" y="281"/>
                </a:cubicBezTo>
                <a:close/>
                <a:moveTo>
                  <a:pt x="639" y="281"/>
                </a:moveTo>
                <a:cubicBezTo>
                  <a:pt x="639" y="356"/>
                  <a:pt x="639" y="561"/>
                  <a:pt x="639" y="561"/>
                </a:cubicBezTo>
                <a:cubicBezTo>
                  <a:pt x="639" y="561"/>
                  <a:pt x="841" y="561"/>
                  <a:pt x="920" y="561"/>
                </a:cubicBezTo>
                <a:cubicBezTo>
                  <a:pt x="1075" y="561"/>
                  <a:pt x="1200" y="436"/>
                  <a:pt x="1200" y="281"/>
                </a:cubicBezTo>
                <a:cubicBezTo>
                  <a:pt x="1200" y="126"/>
                  <a:pt x="1075" y="0"/>
                  <a:pt x="920" y="0"/>
                </a:cubicBezTo>
                <a:cubicBezTo>
                  <a:pt x="765" y="0"/>
                  <a:pt x="639" y="126"/>
                  <a:pt x="639" y="281"/>
                </a:cubicBezTo>
                <a:close/>
                <a:moveTo>
                  <a:pt x="280" y="0"/>
                </a:moveTo>
                <a:cubicBezTo>
                  <a:pt x="126" y="0"/>
                  <a:pt x="0" y="126"/>
                  <a:pt x="0" y="281"/>
                </a:cubicBezTo>
                <a:cubicBezTo>
                  <a:pt x="0" y="436"/>
                  <a:pt x="126" y="561"/>
                  <a:pt x="280" y="561"/>
                </a:cubicBezTo>
                <a:cubicBezTo>
                  <a:pt x="360" y="561"/>
                  <a:pt x="561" y="561"/>
                  <a:pt x="561" y="561"/>
                </a:cubicBezTo>
                <a:cubicBezTo>
                  <a:pt x="561" y="561"/>
                  <a:pt x="561" y="356"/>
                  <a:pt x="561" y="281"/>
                </a:cubicBezTo>
                <a:cubicBezTo>
                  <a:pt x="561" y="126"/>
                  <a:pt x="435" y="0"/>
                  <a:pt x="280"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75" name="TextBox 16"/>
          <p:cNvSpPr txBox="1">
            <a:spLocks noChangeArrowheads="1"/>
          </p:cNvSpPr>
          <p:nvPr/>
        </p:nvSpPr>
        <p:spPr bwMode="auto">
          <a:xfrm>
            <a:off x="9123356" y="2551541"/>
            <a:ext cx="185293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accent2"/>
                </a:solidFill>
                <a:latin typeface="Arial" panose="020B0604020202020204" pitchFamily="34" charset="0"/>
                <a:ea typeface="微软雅黑" panose="020B050302020402020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lang="zh-CN" sz="2400" b="1" dirty="0" smtClean="0">
                <a:solidFill>
                  <a:schemeClr val="bg1"/>
                </a:solidFill>
                <a:latin typeface="微软雅黑" panose="020B0503020204020204" charset="-122"/>
              </a:rPr>
              <a:t>库销比</a:t>
            </a:r>
            <a:endParaRPr lang="zh-CN" sz="2400" b="1" dirty="0">
              <a:solidFill>
                <a:schemeClr val="bg1"/>
              </a:solidFill>
              <a:latin typeface="微软雅黑" panose="020B0503020204020204" charset="-122"/>
            </a:endParaRPr>
          </a:p>
        </p:txBody>
      </p:sp>
      <p:sp>
        <p:nvSpPr>
          <p:cNvPr id="78" name="矩形 77"/>
          <p:cNvSpPr/>
          <p:nvPr/>
        </p:nvSpPr>
        <p:spPr>
          <a:xfrm>
            <a:off x="9041465" y="3960589"/>
            <a:ext cx="2016719" cy="1383665"/>
          </a:xfrm>
          <a:prstGeom prst="rect">
            <a:avLst/>
          </a:prstGeom>
        </p:spPr>
        <p:txBody>
          <a:bodyPr wrap="square">
            <a:spAutoFit/>
          </a:bodyPr>
          <a:lstStyle/>
          <a:p>
            <a:pPr algn="ctr"/>
            <a:r>
              <a:rPr lang="en-US" altLang="zh-CN" sz="1400" dirty="0">
                <a:solidFill>
                  <a:schemeClr val="tx1">
                    <a:lumMod val="75000"/>
                    <a:lumOff val="25000"/>
                  </a:schemeClr>
                </a:solidFill>
                <a:latin typeface="微软雅黑" panose="020B0503020204020204" charset="-122"/>
                <a:ea typeface="微软雅黑" panose="020B0503020204020204" charset="-122"/>
              </a:rPr>
              <a:t>FBA</a:t>
            </a:r>
            <a:r>
              <a:rPr lang="zh-CN" altLang="en-US" sz="1400" dirty="0">
                <a:solidFill>
                  <a:schemeClr val="tx1">
                    <a:lumMod val="75000"/>
                    <a:lumOff val="25000"/>
                  </a:schemeClr>
                </a:solidFill>
                <a:latin typeface="微软雅黑" panose="020B0503020204020204" charset="-122"/>
                <a:ea typeface="微软雅黑" panose="020B0503020204020204" charset="-122"/>
              </a:rPr>
              <a:t>库存金额</a:t>
            </a:r>
            <a:r>
              <a:rPr lang="en-US" altLang="zh-CN" sz="1400" dirty="0">
                <a:solidFill>
                  <a:schemeClr val="tx1">
                    <a:lumMod val="75000"/>
                    <a:lumOff val="25000"/>
                  </a:schemeClr>
                </a:solidFill>
                <a:latin typeface="微软雅黑" panose="020B0503020204020204" charset="-122"/>
                <a:ea typeface="微软雅黑" panose="020B0503020204020204" charset="-122"/>
              </a:rPr>
              <a:t>(</a:t>
            </a:r>
            <a:r>
              <a:rPr lang="zh-CN" altLang="en-US" sz="1400" dirty="0">
                <a:solidFill>
                  <a:schemeClr val="tx1">
                    <a:lumMod val="75000"/>
                    <a:lumOff val="25000"/>
                  </a:schemeClr>
                </a:solidFill>
                <a:latin typeface="微软雅黑" panose="020B0503020204020204" charset="-122"/>
                <a:ea typeface="微软雅黑" panose="020B0503020204020204" charset="-122"/>
              </a:rPr>
              <a:t>从开始到现在的采购金额</a:t>
            </a:r>
            <a:r>
              <a:rPr lang="en-US" altLang="zh-CN" sz="1400" dirty="0">
                <a:solidFill>
                  <a:schemeClr val="tx1">
                    <a:lumMod val="75000"/>
                    <a:lumOff val="25000"/>
                  </a:schemeClr>
                </a:solidFill>
                <a:latin typeface="微软雅黑" panose="020B0503020204020204" charset="-122"/>
                <a:ea typeface="微软雅黑" panose="020B0503020204020204" charset="-122"/>
              </a:rPr>
              <a:t>)/30</a:t>
            </a:r>
            <a:r>
              <a:rPr lang="zh-CN" altLang="en-US" sz="1400" dirty="0">
                <a:solidFill>
                  <a:schemeClr val="tx1">
                    <a:lumMod val="75000"/>
                    <a:lumOff val="25000"/>
                  </a:schemeClr>
                </a:solidFill>
                <a:latin typeface="微软雅黑" panose="020B0503020204020204" charset="-122"/>
                <a:ea typeface="微软雅黑" panose="020B0503020204020204" charset="-122"/>
              </a:rPr>
              <a:t>天的销售金额</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pPr algn="ctr"/>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pPr algn="ctr"/>
            <a:r>
              <a:rPr lang="zh-CN" altLang="en-US" sz="1400" dirty="0">
                <a:solidFill>
                  <a:schemeClr val="tx1">
                    <a:lumMod val="75000"/>
                    <a:lumOff val="25000"/>
                  </a:schemeClr>
                </a:solidFill>
                <a:latin typeface="微软雅黑" panose="020B0503020204020204" charset="-122"/>
                <a:ea typeface="微软雅黑" panose="020B0503020204020204" charset="-122"/>
              </a:rPr>
              <a:t>合理备货，良性的横向发展</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p:txBody>
      </p:sp>
      <p:sp>
        <p:nvSpPr>
          <p:cNvPr id="2" name="标题 1"/>
          <p:cNvSpPr>
            <a:spLocks noGrp="1"/>
          </p:cNvSpPr>
          <p:nvPr>
            <p:ph type="title"/>
          </p:nvPr>
        </p:nvSpPr>
        <p:spPr/>
        <p:txBody>
          <a:bodyPr>
            <a:normAutofit fontScale="90000"/>
          </a:bodyPr>
          <a:lstStyle/>
          <a:p>
            <a:r>
              <a:rPr lang="zh-CN" altLang="en-US" dirty="0"/>
              <a:t>精品模式</a:t>
            </a:r>
            <a:endParaRPr lang="zh-CN" altLang="en-US" dirty="0"/>
          </a:p>
        </p:txBody>
      </p:sp>
      <p:sp>
        <p:nvSpPr>
          <p:cNvPr id="3" name="矩形 2"/>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250" fill="hold"/>
                                        <p:tgtEl>
                                          <p:spTgt spid="32"/>
                                        </p:tgtEl>
                                        <p:attrNameLst>
                                          <p:attrName>ppt_w</p:attrName>
                                        </p:attrNameLst>
                                      </p:cBhvr>
                                      <p:tavLst>
                                        <p:tav tm="0">
                                          <p:val>
                                            <p:fltVal val="0"/>
                                          </p:val>
                                        </p:tav>
                                        <p:tav tm="100000">
                                          <p:val>
                                            <p:strVal val="#ppt_w"/>
                                          </p:val>
                                        </p:tav>
                                      </p:tavLst>
                                    </p:anim>
                                    <p:anim calcmode="lin" valueType="num">
                                      <p:cBhvr>
                                        <p:cTn id="8" dur="250" fill="hold"/>
                                        <p:tgtEl>
                                          <p:spTgt spid="32"/>
                                        </p:tgtEl>
                                        <p:attrNameLst>
                                          <p:attrName>ppt_h</p:attrName>
                                        </p:attrNameLst>
                                      </p:cBhvr>
                                      <p:tavLst>
                                        <p:tav tm="0">
                                          <p:val>
                                            <p:fltVal val="0"/>
                                          </p:val>
                                        </p:tav>
                                        <p:tav tm="100000">
                                          <p:val>
                                            <p:strVal val="#ppt_h"/>
                                          </p:val>
                                        </p:tav>
                                      </p:tavLst>
                                    </p:anim>
                                    <p:animEffect transition="in" filter="fade">
                                      <p:cBhvr>
                                        <p:cTn id="9" dur="250"/>
                                        <p:tgtEl>
                                          <p:spTgt spid="32"/>
                                        </p:tgtEl>
                                      </p:cBhvr>
                                    </p:animEffect>
                                  </p:childTnLst>
                                </p:cTn>
                              </p:par>
                              <p:par>
                                <p:cTn id="10" presetID="6" presetClass="emph" presetSubtype="0" decel="100000" fill="hold" grpId="1" nodeType="withEffect">
                                  <p:stCondLst>
                                    <p:cond delay="200"/>
                                  </p:stCondLst>
                                  <p:childTnLst>
                                    <p:animScale>
                                      <p:cBhvr>
                                        <p:cTn id="11" dur="250" fill="hold"/>
                                        <p:tgtEl>
                                          <p:spTgt spid="32"/>
                                        </p:tgtEl>
                                      </p:cBhvr>
                                      <p:by x="120000" y="120000"/>
                                    </p:animScale>
                                  </p:childTnLst>
                                </p:cTn>
                              </p:par>
                              <p:par>
                                <p:cTn id="12" presetID="6" presetClass="emph" presetSubtype="0" decel="100000" fill="hold" grpId="2" nodeType="withEffect">
                                  <p:stCondLst>
                                    <p:cond delay="400"/>
                                  </p:stCondLst>
                                  <p:childTnLst>
                                    <p:animScale>
                                      <p:cBhvr>
                                        <p:cTn id="13" dur="250" fill="hold"/>
                                        <p:tgtEl>
                                          <p:spTgt spid="32"/>
                                        </p:tgtEl>
                                      </p:cBhvr>
                                      <p:by x="83000" y="83000"/>
                                    </p:animScale>
                                  </p:childTnLst>
                                </p:cTn>
                              </p:par>
                              <p:par>
                                <p:cTn id="14" presetID="53" presetClass="entr" presetSubtype="16" fill="hold" grpId="0" nodeType="withEffect">
                                  <p:stCondLst>
                                    <p:cond delay="400"/>
                                  </p:stCondLst>
                                  <p:childTnLst>
                                    <p:set>
                                      <p:cBhvr>
                                        <p:cTn id="15" dur="1" fill="hold">
                                          <p:stCondLst>
                                            <p:cond delay="0"/>
                                          </p:stCondLst>
                                        </p:cTn>
                                        <p:tgtEl>
                                          <p:spTgt spid="72"/>
                                        </p:tgtEl>
                                        <p:attrNameLst>
                                          <p:attrName>style.visibility</p:attrName>
                                        </p:attrNameLst>
                                      </p:cBhvr>
                                      <p:to>
                                        <p:strVal val="visible"/>
                                      </p:to>
                                    </p:set>
                                    <p:anim calcmode="lin" valueType="num">
                                      <p:cBhvr>
                                        <p:cTn id="16" dur="250" fill="hold"/>
                                        <p:tgtEl>
                                          <p:spTgt spid="72"/>
                                        </p:tgtEl>
                                        <p:attrNameLst>
                                          <p:attrName>ppt_w</p:attrName>
                                        </p:attrNameLst>
                                      </p:cBhvr>
                                      <p:tavLst>
                                        <p:tav tm="0">
                                          <p:val>
                                            <p:fltVal val="0"/>
                                          </p:val>
                                        </p:tav>
                                        <p:tav tm="100000">
                                          <p:val>
                                            <p:strVal val="#ppt_w"/>
                                          </p:val>
                                        </p:tav>
                                      </p:tavLst>
                                    </p:anim>
                                    <p:anim calcmode="lin" valueType="num">
                                      <p:cBhvr>
                                        <p:cTn id="17" dur="250" fill="hold"/>
                                        <p:tgtEl>
                                          <p:spTgt spid="72"/>
                                        </p:tgtEl>
                                        <p:attrNameLst>
                                          <p:attrName>ppt_h</p:attrName>
                                        </p:attrNameLst>
                                      </p:cBhvr>
                                      <p:tavLst>
                                        <p:tav tm="0">
                                          <p:val>
                                            <p:fltVal val="0"/>
                                          </p:val>
                                        </p:tav>
                                        <p:tav tm="100000">
                                          <p:val>
                                            <p:strVal val="#ppt_h"/>
                                          </p:val>
                                        </p:tav>
                                      </p:tavLst>
                                    </p:anim>
                                    <p:animEffect transition="in" filter="fade">
                                      <p:cBhvr>
                                        <p:cTn id="18" dur="250"/>
                                        <p:tgtEl>
                                          <p:spTgt spid="72"/>
                                        </p:tgtEl>
                                      </p:cBhvr>
                                    </p:animEffect>
                                  </p:childTnLst>
                                </p:cTn>
                              </p:par>
                              <p:par>
                                <p:cTn id="19" presetID="6" presetClass="emph" presetSubtype="0" decel="100000" fill="hold" grpId="1" nodeType="withEffect">
                                  <p:stCondLst>
                                    <p:cond delay="600"/>
                                  </p:stCondLst>
                                  <p:childTnLst>
                                    <p:animScale>
                                      <p:cBhvr>
                                        <p:cTn id="20" dur="250" fill="hold"/>
                                        <p:tgtEl>
                                          <p:spTgt spid="72"/>
                                        </p:tgtEl>
                                      </p:cBhvr>
                                      <p:by x="120000" y="120000"/>
                                    </p:animScale>
                                  </p:childTnLst>
                                </p:cTn>
                              </p:par>
                              <p:par>
                                <p:cTn id="21" presetID="6" presetClass="emph" presetSubtype="0" decel="100000" fill="hold" grpId="2" nodeType="withEffect">
                                  <p:stCondLst>
                                    <p:cond delay="800"/>
                                  </p:stCondLst>
                                  <p:childTnLst>
                                    <p:animScale>
                                      <p:cBhvr>
                                        <p:cTn id="22" dur="250" fill="hold"/>
                                        <p:tgtEl>
                                          <p:spTgt spid="72"/>
                                        </p:tgtEl>
                                      </p:cBhvr>
                                      <p:by x="83000" y="83000"/>
                                    </p:animScale>
                                  </p:childTnLst>
                                </p:cTn>
                              </p:par>
                              <p:par>
                                <p:cTn id="23" presetID="53" presetClass="entr" presetSubtype="16" fill="hold" grpId="0" nodeType="withEffect">
                                  <p:stCondLst>
                                    <p:cond delay="600"/>
                                  </p:stCondLst>
                                  <p:childTnLst>
                                    <p:set>
                                      <p:cBhvr>
                                        <p:cTn id="24" dur="1" fill="hold">
                                          <p:stCondLst>
                                            <p:cond delay="0"/>
                                          </p:stCondLst>
                                        </p:cTn>
                                        <p:tgtEl>
                                          <p:spTgt spid="67"/>
                                        </p:tgtEl>
                                        <p:attrNameLst>
                                          <p:attrName>style.visibility</p:attrName>
                                        </p:attrNameLst>
                                      </p:cBhvr>
                                      <p:to>
                                        <p:strVal val="visible"/>
                                      </p:to>
                                    </p:set>
                                    <p:anim calcmode="lin" valueType="num">
                                      <p:cBhvr>
                                        <p:cTn id="25" dur="250" fill="hold"/>
                                        <p:tgtEl>
                                          <p:spTgt spid="67"/>
                                        </p:tgtEl>
                                        <p:attrNameLst>
                                          <p:attrName>ppt_w</p:attrName>
                                        </p:attrNameLst>
                                      </p:cBhvr>
                                      <p:tavLst>
                                        <p:tav tm="0">
                                          <p:val>
                                            <p:fltVal val="0"/>
                                          </p:val>
                                        </p:tav>
                                        <p:tav tm="100000">
                                          <p:val>
                                            <p:strVal val="#ppt_w"/>
                                          </p:val>
                                        </p:tav>
                                      </p:tavLst>
                                    </p:anim>
                                    <p:anim calcmode="lin" valueType="num">
                                      <p:cBhvr>
                                        <p:cTn id="26" dur="250" fill="hold"/>
                                        <p:tgtEl>
                                          <p:spTgt spid="67"/>
                                        </p:tgtEl>
                                        <p:attrNameLst>
                                          <p:attrName>ppt_h</p:attrName>
                                        </p:attrNameLst>
                                      </p:cBhvr>
                                      <p:tavLst>
                                        <p:tav tm="0">
                                          <p:val>
                                            <p:fltVal val="0"/>
                                          </p:val>
                                        </p:tav>
                                        <p:tav tm="100000">
                                          <p:val>
                                            <p:strVal val="#ppt_h"/>
                                          </p:val>
                                        </p:tav>
                                      </p:tavLst>
                                    </p:anim>
                                    <p:animEffect transition="in" filter="fade">
                                      <p:cBhvr>
                                        <p:cTn id="27" dur="250"/>
                                        <p:tgtEl>
                                          <p:spTgt spid="67"/>
                                        </p:tgtEl>
                                      </p:cBhvr>
                                    </p:animEffect>
                                  </p:childTnLst>
                                </p:cTn>
                              </p:par>
                              <p:par>
                                <p:cTn id="28" presetID="6" presetClass="emph" presetSubtype="0" decel="100000" fill="hold" grpId="1" nodeType="withEffect">
                                  <p:stCondLst>
                                    <p:cond delay="800"/>
                                  </p:stCondLst>
                                  <p:childTnLst>
                                    <p:animScale>
                                      <p:cBhvr>
                                        <p:cTn id="29" dur="250" fill="hold"/>
                                        <p:tgtEl>
                                          <p:spTgt spid="67"/>
                                        </p:tgtEl>
                                      </p:cBhvr>
                                      <p:by x="120000" y="120000"/>
                                    </p:animScale>
                                  </p:childTnLst>
                                </p:cTn>
                              </p:par>
                              <p:par>
                                <p:cTn id="30" presetID="6" presetClass="emph" presetSubtype="0" decel="100000" fill="hold" grpId="2" nodeType="withEffect">
                                  <p:stCondLst>
                                    <p:cond delay="1000"/>
                                  </p:stCondLst>
                                  <p:childTnLst>
                                    <p:animScale>
                                      <p:cBhvr>
                                        <p:cTn id="31" dur="250" fill="hold"/>
                                        <p:tgtEl>
                                          <p:spTgt spid="67"/>
                                        </p:tgtEl>
                                      </p:cBhvr>
                                      <p:by x="83000" y="83000"/>
                                    </p:animScale>
                                  </p:childTnLst>
                                </p:cTn>
                              </p:par>
                            </p:childTnLst>
                          </p:cTn>
                        </p:par>
                        <p:par>
                          <p:cTn id="32" fill="hold">
                            <p:stCondLst>
                              <p:cond delay="500"/>
                            </p:stCondLst>
                            <p:childTnLst>
                              <p:par>
                                <p:cTn id="33" presetID="53" presetClass="entr" presetSubtype="16" fill="hold" grpId="0" nodeType="afterEffect">
                                  <p:stCondLst>
                                    <p:cond delay="0"/>
                                  </p:stCondLst>
                                  <p:iterate type="lt">
                                    <p:tmPct val="10000"/>
                                  </p:iterate>
                                  <p:childTnLst>
                                    <p:set>
                                      <p:cBhvr>
                                        <p:cTn id="34" dur="1" fill="hold">
                                          <p:stCondLst>
                                            <p:cond delay="0"/>
                                          </p:stCondLst>
                                        </p:cTn>
                                        <p:tgtEl>
                                          <p:spTgt spid="68"/>
                                        </p:tgtEl>
                                        <p:attrNameLst>
                                          <p:attrName>style.visibility</p:attrName>
                                        </p:attrNameLst>
                                      </p:cBhvr>
                                      <p:to>
                                        <p:strVal val="visible"/>
                                      </p:to>
                                    </p:set>
                                    <p:anim calcmode="lin" valueType="num">
                                      <p:cBhvr>
                                        <p:cTn id="35" dur="250" fill="hold"/>
                                        <p:tgtEl>
                                          <p:spTgt spid="68"/>
                                        </p:tgtEl>
                                        <p:attrNameLst>
                                          <p:attrName>ppt_w</p:attrName>
                                        </p:attrNameLst>
                                      </p:cBhvr>
                                      <p:tavLst>
                                        <p:tav tm="0">
                                          <p:val>
                                            <p:fltVal val="0"/>
                                          </p:val>
                                        </p:tav>
                                        <p:tav tm="100000">
                                          <p:val>
                                            <p:strVal val="#ppt_w"/>
                                          </p:val>
                                        </p:tav>
                                      </p:tavLst>
                                    </p:anim>
                                    <p:anim calcmode="lin" valueType="num">
                                      <p:cBhvr>
                                        <p:cTn id="36" dur="250" fill="hold"/>
                                        <p:tgtEl>
                                          <p:spTgt spid="68"/>
                                        </p:tgtEl>
                                        <p:attrNameLst>
                                          <p:attrName>ppt_h</p:attrName>
                                        </p:attrNameLst>
                                      </p:cBhvr>
                                      <p:tavLst>
                                        <p:tav tm="0">
                                          <p:val>
                                            <p:fltVal val="0"/>
                                          </p:val>
                                        </p:tav>
                                        <p:tav tm="100000">
                                          <p:val>
                                            <p:strVal val="#ppt_h"/>
                                          </p:val>
                                        </p:tav>
                                      </p:tavLst>
                                    </p:anim>
                                    <p:animEffect transition="in" filter="fade">
                                      <p:cBhvr>
                                        <p:cTn id="37" dur="250"/>
                                        <p:tgtEl>
                                          <p:spTgt spid="68"/>
                                        </p:tgtEl>
                                      </p:cBhvr>
                                    </p:animEffect>
                                  </p:childTnLst>
                                </p:cTn>
                              </p:par>
                            </p:childTnLst>
                          </p:cTn>
                        </p:par>
                        <p:par>
                          <p:cTn id="38" fill="hold">
                            <p:stCondLst>
                              <p:cond delay="2325"/>
                            </p:stCondLst>
                            <p:childTnLst>
                              <p:par>
                                <p:cTn id="39" presetID="53" presetClass="entr" presetSubtype="16"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 calcmode="lin" valueType="num">
                                      <p:cBhvr>
                                        <p:cTn id="41" dur="500" fill="hold"/>
                                        <p:tgtEl>
                                          <p:spTgt spid="31"/>
                                        </p:tgtEl>
                                        <p:attrNameLst>
                                          <p:attrName>ppt_w</p:attrName>
                                        </p:attrNameLst>
                                      </p:cBhvr>
                                      <p:tavLst>
                                        <p:tav tm="0">
                                          <p:val>
                                            <p:fltVal val="0"/>
                                          </p:val>
                                        </p:tav>
                                        <p:tav tm="100000">
                                          <p:val>
                                            <p:strVal val="#ppt_w"/>
                                          </p:val>
                                        </p:tav>
                                      </p:tavLst>
                                    </p:anim>
                                    <p:anim calcmode="lin" valueType="num">
                                      <p:cBhvr>
                                        <p:cTn id="42" dur="500" fill="hold"/>
                                        <p:tgtEl>
                                          <p:spTgt spid="31"/>
                                        </p:tgtEl>
                                        <p:attrNameLst>
                                          <p:attrName>ppt_h</p:attrName>
                                        </p:attrNameLst>
                                      </p:cBhvr>
                                      <p:tavLst>
                                        <p:tav tm="0">
                                          <p:val>
                                            <p:fltVal val="0"/>
                                          </p:val>
                                        </p:tav>
                                        <p:tav tm="100000">
                                          <p:val>
                                            <p:strVal val="#ppt_h"/>
                                          </p:val>
                                        </p:tav>
                                      </p:tavLst>
                                    </p:anim>
                                    <p:animEffect transition="in" filter="fade">
                                      <p:cBhvr>
                                        <p:cTn id="43" dur="500"/>
                                        <p:tgtEl>
                                          <p:spTgt spid="31"/>
                                        </p:tgtEl>
                                      </p:cBhvr>
                                    </p:animEffect>
                                  </p:childTnLst>
                                </p:cTn>
                              </p:par>
                              <p:par>
                                <p:cTn id="44" presetID="35" presetClass="path" presetSubtype="0" accel="50000" decel="50000" fill="hold" grpId="1" nodeType="withEffect">
                                  <p:stCondLst>
                                    <p:cond delay="0"/>
                                  </p:stCondLst>
                                  <p:childTnLst>
                                    <p:animMotion origin="layout" path="M 3.95833E-6 4.81481E-6 L 0.1306 4.81481E-6 " pathEditMode="relative" rAng="0" ptsTypes="AA">
                                      <p:cBhvr>
                                        <p:cTn id="45" dur="1000" spd="-100000" fill="hold"/>
                                        <p:tgtEl>
                                          <p:spTgt spid="31"/>
                                        </p:tgtEl>
                                        <p:attrNameLst>
                                          <p:attrName>ppt_x</p:attrName>
                                          <p:attrName>ppt_y</p:attrName>
                                        </p:attrNameLst>
                                      </p:cBhvr>
                                      <p:rCtr x="6523" y="0"/>
                                    </p:animMotion>
                                  </p:childTnLst>
                                </p:cTn>
                              </p:par>
                            </p:childTnLst>
                          </p:cTn>
                        </p:par>
                        <p:par>
                          <p:cTn id="46" fill="hold">
                            <p:stCondLst>
                              <p:cond delay="2825"/>
                            </p:stCondLst>
                            <p:childTnLst>
                              <p:par>
                                <p:cTn id="47" presetID="53" presetClass="entr" presetSubtype="16" fill="hold" grpId="0" nodeType="afterEffect">
                                  <p:stCondLst>
                                    <p:cond delay="0"/>
                                  </p:stCondLst>
                                  <p:childTnLst>
                                    <p:set>
                                      <p:cBhvr>
                                        <p:cTn id="48" dur="1" fill="hold">
                                          <p:stCondLst>
                                            <p:cond delay="0"/>
                                          </p:stCondLst>
                                        </p:cTn>
                                        <p:tgtEl>
                                          <p:spTgt spid="38"/>
                                        </p:tgtEl>
                                        <p:attrNameLst>
                                          <p:attrName>style.visibility</p:attrName>
                                        </p:attrNameLst>
                                      </p:cBhvr>
                                      <p:to>
                                        <p:strVal val="visible"/>
                                      </p:to>
                                    </p:set>
                                    <p:anim calcmode="lin" valueType="num">
                                      <p:cBhvr>
                                        <p:cTn id="49" dur="250" fill="hold"/>
                                        <p:tgtEl>
                                          <p:spTgt spid="38"/>
                                        </p:tgtEl>
                                        <p:attrNameLst>
                                          <p:attrName>ppt_w</p:attrName>
                                        </p:attrNameLst>
                                      </p:cBhvr>
                                      <p:tavLst>
                                        <p:tav tm="0">
                                          <p:val>
                                            <p:fltVal val="0"/>
                                          </p:val>
                                        </p:tav>
                                        <p:tav tm="100000">
                                          <p:val>
                                            <p:strVal val="#ppt_w"/>
                                          </p:val>
                                        </p:tav>
                                      </p:tavLst>
                                    </p:anim>
                                    <p:anim calcmode="lin" valueType="num">
                                      <p:cBhvr>
                                        <p:cTn id="50" dur="250" fill="hold"/>
                                        <p:tgtEl>
                                          <p:spTgt spid="38"/>
                                        </p:tgtEl>
                                        <p:attrNameLst>
                                          <p:attrName>ppt_h</p:attrName>
                                        </p:attrNameLst>
                                      </p:cBhvr>
                                      <p:tavLst>
                                        <p:tav tm="0">
                                          <p:val>
                                            <p:fltVal val="0"/>
                                          </p:val>
                                        </p:tav>
                                        <p:tav tm="100000">
                                          <p:val>
                                            <p:strVal val="#ppt_h"/>
                                          </p:val>
                                        </p:tav>
                                      </p:tavLst>
                                    </p:anim>
                                    <p:animEffect transition="in" filter="fade">
                                      <p:cBhvr>
                                        <p:cTn id="51" dur="250"/>
                                        <p:tgtEl>
                                          <p:spTgt spid="38"/>
                                        </p:tgtEl>
                                      </p:cBhvr>
                                    </p:animEffect>
                                  </p:childTnLst>
                                </p:cTn>
                              </p:par>
                              <p:par>
                                <p:cTn id="52" presetID="6" presetClass="emph" presetSubtype="0" decel="100000" fill="hold" grpId="1" nodeType="withEffect">
                                  <p:stCondLst>
                                    <p:cond delay="200"/>
                                  </p:stCondLst>
                                  <p:childTnLst>
                                    <p:animScale>
                                      <p:cBhvr>
                                        <p:cTn id="53" dur="250" fill="hold"/>
                                        <p:tgtEl>
                                          <p:spTgt spid="38"/>
                                        </p:tgtEl>
                                      </p:cBhvr>
                                      <p:by x="120000" y="120000"/>
                                    </p:animScale>
                                  </p:childTnLst>
                                </p:cTn>
                              </p:par>
                              <p:par>
                                <p:cTn id="54" presetID="6" presetClass="emph" presetSubtype="0" decel="100000" fill="hold" grpId="2" nodeType="withEffect">
                                  <p:stCondLst>
                                    <p:cond delay="400"/>
                                  </p:stCondLst>
                                  <p:childTnLst>
                                    <p:animScale>
                                      <p:cBhvr>
                                        <p:cTn id="55" dur="250" fill="hold"/>
                                        <p:tgtEl>
                                          <p:spTgt spid="38"/>
                                        </p:tgtEl>
                                      </p:cBhvr>
                                      <p:by x="83000" y="83000"/>
                                    </p:animScale>
                                  </p:childTnLst>
                                </p:cTn>
                              </p:par>
                              <p:par>
                                <p:cTn id="56" presetID="53" presetClass="entr" presetSubtype="16" fill="hold" grpId="0" nodeType="withEffect">
                                  <p:stCondLst>
                                    <p:cond delay="400"/>
                                  </p:stCondLst>
                                  <p:childTnLst>
                                    <p:set>
                                      <p:cBhvr>
                                        <p:cTn id="57" dur="1" fill="hold">
                                          <p:stCondLst>
                                            <p:cond delay="0"/>
                                          </p:stCondLst>
                                        </p:cTn>
                                        <p:tgtEl>
                                          <p:spTgt spid="69"/>
                                        </p:tgtEl>
                                        <p:attrNameLst>
                                          <p:attrName>style.visibility</p:attrName>
                                        </p:attrNameLst>
                                      </p:cBhvr>
                                      <p:to>
                                        <p:strVal val="visible"/>
                                      </p:to>
                                    </p:set>
                                    <p:anim calcmode="lin" valueType="num">
                                      <p:cBhvr>
                                        <p:cTn id="58" dur="250" fill="hold"/>
                                        <p:tgtEl>
                                          <p:spTgt spid="69"/>
                                        </p:tgtEl>
                                        <p:attrNameLst>
                                          <p:attrName>ppt_w</p:attrName>
                                        </p:attrNameLst>
                                      </p:cBhvr>
                                      <p:tavLst>
                                        <p:tav tm="0">
                                          <p:val>
                                            <p:fltVal val="0"/>
                                          </p:val>
                                        </p:tav>
                                        <p:tav tm="100000">
                                          <p:val>
                                            <p:strVal val="#ppt_w"/>
                                          </p:val>
                                        </p:tav>
                                      </p:tavLst>
                                    </p:anim>
                                    <p:anim calcmode="lin" valueType="num">
                                      <p:cBhvr>
                                        <p:cTn id="59" dur="250" fill="hold"/>
                                        <p:tgtEl>
                                          <p:spTgt spid="69"/>
                                        </p:tgtEl>
                                        <p:attrNameLst>
                                          <p:attrName>ppt_h</p:attrName>
                                        </p:attrNameLst>
                                      </p:cBhvr>
                                      <p:tavLst>
                                        <p:tav tm="0">
                                          <p:val>
                                            <p:fltVal val="0"/>
                                          </p:val>
                                        </p:tav>
                                        <p:tav tm="100000">
                                          <p:val>
                                            <p:strVal val="#ppt_h"/>
                                          </p:val>
                                        </p:tav>
                                      </p:tavLst>
                                    </p:anim>
                                    <p:animEffect transition="in" filter="fade">
                                      <p:cBhvr>
                                        <p:cTn id="60" dur="250"/>
                                        <p:tgtEl>
                                          <p:spTgt spid="69"/>
                                        </p:tgtEl>
                                      </p:cBhvr>
                                    </p:animEffect>
                                  </p:childTnLst>
                                </p:cTn>
                              </p:par>
                              <p:par>
                                <p:cTn id="61" presetID="6" presetClass="emph" presetSubtype="0" decel="100000" fill="hold" grpId="1" nodeType="withEffect">
                                  <p:stCondLst>
                                    <p:cond delay="600"/>
                                  </p:stCondLst>
                                  <p:childTnLst>
                                    <p:animScale>
                                      <p:cBhvr>
                                        <p:cTn id="62" dur="250" fill="hold"/>
                                        <p:tgtEl>
                                          <p:spTgt spid="69"/>
                                        </p:tgtEl>
                                      </p:cBhvr>
                                      <p:by x="120000" y="120000"/>
                                    </p:animScale>
                                  </p:childTnLst>
                                </p:cTn>
                              </p:par>
                              <p:par>
                                <p:cTn id="63" presetID="6" presetClass="emph" presetSubtype="0" decel="100000" fill="hold" grpId="2" nodeType="withEffect">
                                  <p:stCondLst>
                                    <p:cond delay="800"/>
                                  </p:stCondLst>
                                  <p:childTnLst>
                                    <p:animScale>
                                      <p:cBhvr>
                                        <p:cTn id="64" dur="250" fill="hold"/>
                                        <p:tgtEl>
                                          <p:spTgt spid="69"/>
                                        </p:tgtEl>
                                      </p:cBhvr>
                                      <p:by x="83000" y="83000"/>
                                    </p:animScale>
                                  </p:childTnLst>
                                </p:cTn>
                              </p:par>
                              <p:par>
                                <p:cTn id="65" presetID="53" presetClass="entr" presetSubtype="16" fill="hold" grpId="0" nodeType="withEffect">
                                  <p:stCondLst>
                                    <p:cond delay="600"/>
                                  </p:stCondLst>
                                  <p:childTnLst>
                                    <p:set>
                                      <p:cBhvr>
                                        <p:cTn id="66" dur="1" fill="hold">
                                          <p:stCondLst>
                                            <p:cond delay="0"/>
                                          </p:stCondLst>
                                        </p:cTn>
                                        <p:tgtEl>
                                          <p:spTgt spid="73"/>
                                        </p:tgtEl>
                                        <p:attrNameLst>
                                          <p:attrName>style.visibility</p:attrName>
                                        </p:attrNameLst>
                                      </p:cBhvr>
                                      <p:to>
                                        <p:strVal val="visible"/>
                                      </p:to>
                                    </p:set>
                                    <p:anim calcmode="lin" valueType="num">
                                      <p:cBhvr>
                                        <p:cTn id="67" dur="250" fill="hold"/>
                                        <p:tgtEl>
                                          <p:spTgt spid="73"/>
                                        </p:tgtEl>
                                        <p:attrNameLst>
                                          <p:attrName>ppt_w</p:attrName>
                                        </p:attrNameLst>
                                      </p:cBhvr>
                                      <p:tavLst>
                                        <p:tav tm="0">
                                          <p:val>
                                            <p:fltVal val="0"/>
                                          </p:val>
                                        </p:tav>
                                        <p:tav tm="100000">
                                          <p:val>
                                            <p:strVal val="#ppt_w"/>
                                          </p:val>
                                        </p:tav>
                                      </p:tavLst>
                                    </p:anim>
                                    <p:anim calcmode="lin" valueType="num">
                                      <p:cBhvr>
                                        <p:cTn id="68" dur="250" fill="hold"/>
                                        <p:tgtEl>
                                          <p:spTgt spid="73"/>
                                        </p:tgtEl>
                                        <p:attrNameLst>
                                          <p:attrName>ppt_h</p:attrName>
                                        </p:attrNameLst>
                                      </p:cBhvr>
                                      <p:tavLst>
                                        <p:tav tm="0">
                                          <p:val>
                                            <p:fltVal val="0"/>
                                          </p:val>
                                        </p:tav>
                                        <p:tav tm="100000">
                                          <p:val>
                                            <p:strVal val="#ppt_h"/>
                                          </p:val>
                                        </p:tav>
                                      </p:tavLst>
                                    </p:anim>
                                    <p:animEffect transition="in" filter="fade">
                                      <p:cBhvr>
                                        <p:cTn id="69" dur="250"/>
                                        <p:tgtEl>
                                          <p:spTgt spid="73"/>
                                        </p:tgtEl>
                                      </p:cBhvr>
                                    </p:animEffect>
                                  </p:childTnLst>
                                </p:cTn>
                              </p:par>
                              <p:par>
                                <p:cTn id="70" presetID="6" presetClass="emph" presetSubtype="0" decel="100000" fill="hold" grpId="1" nodeType="withEffect">
                                  <p:stCondLst>
                                    <p:cond delay="800"/>
                                  </p:stCondLst>
                                  <p:childTnLst>
                                    <p:animScale>
                                      <p:cBhvr>
                                        <p:cTn id="71" dur="250" fill="hold"/>
                                        <p:tgtEl>
                                          <p:spTgt spid="73"/>
                                        </p:tgtEl>
                                      </p:cBhvr>
                                      <p:by x="120000" y="120000"/>
                                    </p:animScale>
                                  </p:childTnLst>
                                </p:cTn>
                              </p:par>
                              <p:par>
                                <p:cTn id="72" presetID="6" presetClass="emph" presetSubtype="0" decel="100000" fill="hold" grpId="2" nodeType="withEffect">
                                  <p:stCondLst>
                                    <p:cond delay="1000"/>
                                  </p:stCondLst>
                                  <p:childTnLst>
                                    <p:animScale>
                                      <p:cBhvr>
                                        <p:cTn id="73" dur="250" fill="hold"/>
                                        <p:tgtEl>
                                          <p:spTgt spid="73"/>
                                        </p:tgtEl>
                                      </p:cBhvr>
                                      <p:by x="83000" y="83000"/>
                                    </p:animScale>
                                  </p:childTnLst>
                                </p:cTn>
                              </p:par>
                            </p:childTnLst>
                          </p:cTn>
                        </p:par>
                        <p:par>
                          <p:cTn id="74" fill="hold">
                            <p:stCondLst>
                              <p:cond delay="3325"/>
                            </p:stCondLst>
                            <p:childTnLst>
                              <p:par>
                                <p:cTn id="75" presetID="53" presetClass="entr" presetSubtype="16" fill="hold" grpId="0" nodeType="afterEffect">
                                  <p:stCondLst>
                                    <p:cond delay="0"/>
                                  </p:stCondLst>
                                  <p:iterate type="lt">
                                    <p:tmPct val="10000"/>
                                  </p:iterate>
                                  <p:childTnLst>
                                    <p:set>
                                      <p:cBhvr>
                                        <p:cTn id="76" dur="1" fill="hold">
                                          <p:stCondLst>
                                            <p:cond delay="0"/>
                                          </p:stCondLst>
                                        </p:cTn>
                                        <p:tgtEl>
                                          <p:spTgt spid="76"/>
                                        </p:tgtEl>
                                        <p:attrNameLst>
                                          <p:attrName>style.visibility</p:attrName>
                                        </p:attrNameLst>
                                      </p:cBhvr>
                                      <p:to>
                                        <p:strVal val="visible"/>
                                      </p:to>
                                    </p:set>
                                    <p:anim calcmode="lin" valueType="num">
                                      <p:cBhvr>
                                        <p:cTn id="77" dur="250" fill="hold"/>
                                        <p:tgtEl>
                                          <p:spTgt spid="76"/>
                                        </p:tgtEl>
                                        <p:attrNameLst>
                                          <p:attrName>ppt_w</p:attrName>
                                        </p:attrNameLst>
                                      </p:cBhvr>
                                      <p:tavLst>
                                        <p:tav tm="0">
                                          <p:val>
                                            <p:fltVal val="0"/>
                                          </p:val>
                                        </p:tav>
                                        <p:tav tm="100000">
                                          <p:val>
                                            <p:strVal val="#ppt_w"/>
                                          </p:val>
                                        </p:tav>
                                      </p:tavLst>
                                    </p:anim>
                                    <p:anim calcmode="lin" valueType="num">
                                      <p:cBhvr>
                                        <p:cTn id="78" dur="250" fill="hold"/>
                                        <p:tgtEl>
                                          <p:spTgt spid="76"/>
                                        </p:tgtEl>
                                        <p:attrNameLst>
                                          <p:attrName>ppt_h</p:attrName>
                                        </p:attrNameLst>
                                      </p:cBhvr>
                                      <p:tavLst>
                                        <p:tav tm="0">
                                          <p:val>
                                            <p:fltVal val="0"/>
                                          </p:val>
                                        </p:tav>
                                        <p:tav tm="100000">
                                          <p:val>
                                            <p:strVal val="#ppt_h"/>
                                          </p:val>
                                        </p:tav>
                                      </p:tavLst>
                                    </p:anim>
                                    <p:animEffect transition="in" filter="fade">
                                      <p:cBhvr>
                                        <p:cTn id="79" dur="250"/>
                                        <p:tgtEl>
                                          <p:spTgt spid="76"/>
                                        </p:tgtEl>
                                      </p:cBhvr>
                                    </p:animEffect>
                                  </p:childTnLst>
                                </p:cTn>
                              </p:par>
                            </p:childTnLst>
                          </p:cTn>
                        </p:par>
                        <p:par>
                          <p:cTn id="80" fill="hold">
                            <p:stCondLst>
                              <p:cond delay="5600"/>
                            </p:stCondLst>
                            <p:childTnLst>
                              <p:par>
                                <p:cTn id="81" presetID="53" presetClass="entr" presetSubtype="16" fill="hold" grpId="0" nodeType="afterEffect">
                                  <p:stCondLst>
                                    <p:cond delay="0"/>
                                  </p:stCondLst>
                                  <p:childTnLst>
                                    <p:set>
                                      <p:cBhvr>
                                        <p:cTn id="82" dur="1" fill="hold">
                                          <p:stCondLst>
                                            <p:cond delay="0"/>
                                          </p:stCondLst>
                                        </p:cTn>
                                        <p:tgtEl>
                                          <p:spTgt spid="37"/>
                                        </p:tgtEl>
                                        <p:attrNameLst>
                                          <p:attrName>style.visibility</p:attrName>
                                        </p:attrNameLst>
                                      </p:cBhvr>
                                      <p:to>
                                        <p:strVal val="visible"/>
                                      </p:to>
                                    </p:set>
                                    <p:anim calcmode="lin" valueType="num">
                                      <p:cBhvr>
                                        <p:cTn id="83" dur="500" fill="hold"/>
                                        <p:tgtEl>
                                          <p:spTgt spid="37"/>
                                        </p:tgtEl>
                                        <p:attrNameLst>
                                          <p:attrName>ppt_w</p:attrName>
                                        </p:attrNameLst>
                                      </p:cBhvr>
                                      <p:tavLst>
                                        <p:tav tm="0">
                                          <p:val>
                                            <p:fltVal val="0"/>
                                          </p:val>
                                        </p:tav>
                                        <p:tav tm="100000">
                                          <p:val>
                                            <p:strVal val="#ppt_w"/>
                                          </p:val>
                                        </p:tav>
                                      </p:tavLst>
                                    </p:anim>
                                    <p:anim calcmode="lin" valueType="num">
                                      <p:cBhvr>
                                        <p:cTn id="84" dur="500" fill="hold"/>
                                        <p:tgtEl>
                                          <p:spTgt spid="37"/>
                                        </p:tgtEl>
                                        <p:attrNameLst>
                                          <p:attrName>ppt_h</p:attrName>
                                        </p:attrNameLst>
                                      </p:cBhvr>
                                      <p:tavLst>
                                        <p:tav tm="0">
                                          <p:val>
                                            <p:fltVal val="0"/>
                                          </p:val>
                                        </p:tav>
                                        <p:tav tm="100000">
                                          <p:val>
                                            <p:strVal val="#ppt_h"/>
                                          </p:val>
                                        </p:tav>
                                      </p:tavLst>
                                    </p:anim>
                                    <p:animEffect transition="in" filter="fade">
                                      <p:cBhvr>
                                        <p:cTn id="85" dur="500"/>
                                        <p:tgtEl>
                                          <p:spTgt spid="37"/>
                                        </p:tgtEl>
                                      </p:cBhvr>
                                    </p:animEffect>
                                  </p:childTnLst>
                                </p:cTn>
                              </p:par>
                              <p:par>
                                <p:cTn id="86" presetID="35" presetClass="path" presetSubtype="0" accel="50000" decel="50000" fill="hold" grpId="1" nodeType="withEffect">
                                  <p:stCondLst>
                                    <p:cond delay="0"/>
                                  </p:stCondLst>
                                  <p:childTnLst>
                                    <p:animMotion origin="layout" path="M 3.95833E-6 4.81481E-6 L 0.1306 4.81481E-6 " pathEditMode="relative" rAng="0" ptsTypes="AA">
                                      <p:cBhvr>
                                        <p:cTn id="87" dur="1000" spd="-100000" fill="hold"/>
                                        <p:tgtEl>
                                          <p:spTgt spid="37"/>
                                        </p:tgtEl>
                                        <p:attrNameLst>
                                          <p:attrName>ppt_x</p:attrName>
                                          <p:attrName>ppt_y</p:attrName>
                                        </p:attrNameLst>
                                      </p:cBhvr>
                                      <p:rCtr x="6523" y="0"/>
                                    </p:animMotion>
                                  </p:childTnLst>
                                </p:cTn>
                              </p:par>
                            </p:childTnLst>
                          </p:cTn>
                        </p:par>
                        <p:par>
                          <p:cTn id="88" fill="hold">
                            <p:stCondLst>
                              <p:cond delay="6100"/>
                            </p:stCondLst>
                            <p:childTnLst>
                              <p:par>
                                <p:cTn id="89" presetID="53" presetClass="entr" presetSubtype="16" fill="hold" grpId="0" nodeType="afterEffect">
                                  <p:stCondLst>
                                    <p:cond delay="0"/>
                                  </p:stCondLst>
                                  <p:childTnLst>
                                    <p:set>
                                      <p:cBhvr>
                                        <p:cTn id="90" dur="1" fill="hold">
                                          <p:stCondLst>
                                            <p:cond delay="0"/>
                                          </p:stCondLst>
                                        </p:cTn>
                                        <p:tgtEl>
                                          <p:spTgt spid="44"/>
                                        </p:tgtEl>
                                        <p:attrNameLst>
                                          <p:attrName>style.visibility</p:attrName>
                                        </p:attrNameLst>
                                      </p:cBhvr>
                                      <p:to>
                                        <p:strVal val="visible"/>
                                      </p:to>
                                    </p:set>
                                    <p:anim calcmode="lin" valueType="num">
                                      <p:cBhvr>
                                        <p:cTn id="91" dur="250" fill="hold"/>
                                        <p:tgtEl>
                                          <p:spTgt spid="44"/>
                                        </p:tgtEl>
                                        <p:attrNameLst>
                                          <p:attrName>ppt_w</p:attrName>
                                        </p:attrNameLst>
                                      </p:cBhvr>
                                      <p:tavLst>
                                        <p:tav tm="0">
                                          <p:val>
                                            <p:fltVal val="0"/>
                                          </p:val>
                                        </p:tav>
                                        <p:tav tm="100000">
                                          <p:val>
                                            <p:strVal val="#ppt_w"/>
                                          </p:val>
                                        </p:tav>
                                      </p:tavLst>
                                    </p:anim>
                                    <p:anim calcmode="lin" valueType="num">
                                      <p:cBhvr>
                                        <p:cTn id="92" dur="250" fill="hold"/>
                                        <p:tgtEl>
                                          <p:spTgt spid="44"/>
                                        </p:tgtEl>
                                        <p:attrNameLst>
                                          <p:attrName>ppt_h</p:attrName>
                                        </p:attrNameLst>
                                      </p:cBhvr>
                                      <p:tavLst>
                                        <p:tav tm="0">
                                          <p:val>
                                            <p:fltVal val="0"/>
                                          </p:val>
                                        </p:tav>
                                        <p:tav tm="100000">
                                          <p:val>
                                            <p:strVal val="#ppt_h"/>
                                          </p:val>
                                        </p:tav>
                                      </p:tavLst>
                                    </p:anim>
                                    <p:animEffect transition="in" filter="fade">
                                      <p:cBhvr>
                                        <p:cTn id="93" dur="250"/>
                                        <p:tgtEl>
                                          <p:spTgt spid="44"/>
                                        </p:tgtEl>
                                      </p:cBhvr>
                                    </p:animEffect>
                                  </p:childTnLst>
                                </p:cTn>
                              </p:par>
                              <p:par>
                                <p:cTn id="94" presetID="6" presetClass="emph" presetSubtype="0" decel="100000" fill="hold" grpId="1" nodeType="withEffect">
                                  <p:stCondLst>
                                    <p:cond delay="200"/>
                                  </p:stCondLst>
                                  <p:childTnLst>
                                    <p:animScale>
                                      <p:cBhvr>
                                        <p:cTn id="95" dur="250" fill="hold"/>
                                        <p:tgtEl>
                                          <p:spTgt spid="44"/>
                                        </p:tgtEl>
                                      </p:cBhvr>
                                      <p:by x="120000" y="120000"/>
                                    </p:animScale>
                                  </p:childTnLst>
                                </p:cTn>
                              </p:par>
                              <p:par>
                                <p:cTn id="96" presetID="6" presetClass="emph" presetSubtype="0" decel="100000" fill="hold" grpId="2" nodeType="withEffect">
                                  <p:stCondLst>
                                    <p:cond delay="400"/>
                                  </p:stCondLst>
                                  <p:childTnLst>
                                    <p:animScale>
                                      <p:cBhvr>
                                        <p:cTn id="97" dur="250" fill="hold"/>
                                        <p:tgtEl>
                                          <p:spTgt spid="44"/>
                                        </p:tgtEl>
                                      </p:cBhvr>
                                      <p:by x="83000" y="83000"/>
                                    </p:animScale>
                                  </p:childTnLst>
                                </p:cTn>
                              </p:par>
                              <p:par>
                                <p:cTn id="98" presetID="53" presetClass="entr" presetSubtype="16" fill="hold" grpId="0" nodeType="withEffect">
                                  <p:stCondLst>
                                    <p:cond delay="400"/>
                                  </p:stCondLst>
                                  <p:childTnLst>
                                    <p:set>
                                      <p:cBhvr>
                                        <p:cTn id="99" dur="1" fill="hold">
                                          <p:stCondLst>
                                            <p:cond delay="0"/>
                                          </p:stCondLst>
                                        </p:cTn>
                                        <p:tgtEl>
                                          <p:spTgt spid="70"/>
                                        </p:tgtEl>
                                        <p:attrNameLst>
                                          <p:attrName>style.visibility</p:attrName>
                                        </p:attrNameLst>
                                      </p:cBhvr>
                                      <p:to>
                                        <p:strVal val="visible"/>
                                      </p:to>
                                    </p:set>
                                    <p:anim calcmode="lin" valueType="num">
                                      <p:cBhvr>
                                        <p:cTn id="100" dur="250" fill="hold"/>
                                        <p:tgtEl>
                                          <p:spTgt spid="70"/>
                                        </p:tgtEl>
                                        <p:attrNameLst>
                                          <p:attrName>ppt_w</p:attrName>
                                        </p:attrNameLst>
                                      </p:cBhvr>
                                      <p:tavLst>
                                        <p:tav tm="0">
                                          <p:val>
                                            <p:fltVal val="0"/>
                                          </p:val>
                                        </p:tav>
                                        <p:tav tm="100000">
                                          <p:val>
                                            <p:strVal val="#ppt_w"/>
                                          </p:val>
                                        </p:tav>
                                      </p:tavLst>
                                    </p:anim>
                                    <p:anim calcmode="lin" valueType="num">
                                      <p:cBhvr>
                                        <p:cTn id="101" dur="250" fill="hold"/>
                                        <p:tgtEl>
                                          <p:spTgt spid="70"/>
                                        </p:tgtEl>
                                        <p:attrNameLst>
                                          <p:attrName>ppt_h</p:attrName>
                                        </p:attrNameLst>
                                      </p:cBhvr>
                                      <p:tavLst>
                                        <p:tav tm="0">
                                          <p:val>
                                            <p:fltVal val="0"/>
                                          </p:val>
                                        </p:tav>
                                        <p:tav tm="100000">
                                          <p:val>
                                            <p:strVal val="#ppt_h"/>
                                          </p:val>
                                        </p:tav>
                                      </p:tavLst>
                                    </p:anim>
                                    <p:animEffect transition="in" filter="fade">
                                      <p:cBhvr>
                                        <p:cTn id="102" dur="250"/>
                                        <p:tgtEl>
                                          <p:spTgt spid="70"/>
                                        </p:tgtEl>
                                      </p:cBhvr>
                                    </p:animEffect>
                                  </p:childTnLst>
                                </p:cTn>
                              </p:par>
                              <p:par>
                                <p:cTn id="103" presetID="6" presetClass="emph" presetSubtype="0" decel="100000" fill="hold" grpId="1" nodeType="withEffect">
                                  <p:stCondLst>
                                    <p:cond delay="600"/>
                                  </p:stCondLst>
                                  <p:childTnLst>
                                    <p:animScale>
                                      <p:cBhvr>
                                        <p:cTn id="104" dur="250" fill="hold"/>
                                        <p:tgtEl>
                                          <p:spTgt spid="70"/>
                                        </p:tgtEl>
                                      </p:cBhvr>
                                      <p:by x="120000" y="120000"/>
                                    </p:animScale>
                                  </p:childTnLst>
                                </p:cTn>
                              </p:par>
                              <p:par>
                                <p:cTn id="105" presetID="6" presetClass="emph" presetSubtype="0" decel="100000" fill="hold" grpId="2" nodeType="withEffect">
                                  <p:stCondLst>
                                    <p:cond delay="800"/>
                                  </p:stCondLst>
                                  <p:childTnLst>
                                    <p:animScale>
                                      <p:cBhvr>
                                        <p:cTn id="106" dur="250" fill="hold"/>
                                        <p:tgtEl>
                                          <p:spTgt spid="70"/>
                                        </p:tgtEl>
                                      </p:cBhvr>
                                      <p:by x="83000" y="83000"/>
                                    </p:animScale>
                                  </p:childTnLst>
                                </p:cTn>
                              </p:par>
                              <p:par>
                                <p:cTn id="107" presetID="53" presetClass="entr" presetSubtype="16" fill="hold" grpId="0" nodeType="withEffect">
                                  <p:stCondLst>
                                    <p:cond delay="600"/>
                                  </p:stCondLst>
                                  <p:childTnLst>
                                    <p:set>
                                      <p:cBhvr>
                                        <p:cTn id="108" dur="1" fill="hold">
                                          <p:stCondLst>
                                            <p:cond delay="0"/>
                                          </p:stCondLst>
                                        </p:cTn>
                                        <p:tgtEl>
                                          <p:spTgt spid="74"/>
                                        </p:tgtEl>
                                        <p:attrNameLst>
                                          <p:attrName>style.visibility</p:attrName>
                                        </p:attrNameLst>
                                      </p:cBhvr>
                                      <p:to>
                                        <p:strVal val="visible"/>
                                      </p:to>
                                    </p:set>
                                    <p:anim calcmode="lin" valueType="num">
                                      <p:cBhvr>
                                        <p:cTn id="109" dur="250" fill="hold"/>
                                        <p:tgtEl>
                                          <p:spTgt spid="74"/>
                                        </p:tgtEl>
                                        <p:attrNameLst>
                                          <p:attrName>ppt_w</p:attrName>
                                        </p:attrNameLst>
                                      </p:cBhvr>
                                      <p:tavLst>
                                        <p:tav tm="0">
                                          <p:val>
                                            <p:fltVal val="0"/>
                                          </p:val>
                                        </p:tav>
                                        <p:tav tm="100000">
                                          <p:val>
                                            <p:strVal val="#ppt_w"/>
                                          </p:val>
                                        </p:tav>
                                      </p:tavLst>
                                    </p:anim>
                                    <p:anim calcmode="lin" valueType="num">
                                      <p:cBhvr>
                                        <p:cTn id="110" dur="250" fill="hold"/>
                                        <p:tgtEl>
                                          <p:spTgt spid="74"/>
                                        </p:tgtEl>
                                        <p:attrNameLst>
                                          <p:attrName>ppt_h</p:attrName>
                                        </p:attrNameLst>
                                      </p:cBhvr>
                                      <p:tavLst>
                                        <p:tav tm="0">
                                          <p:val>
                                            <p:fltVal val="0"/>
                                          </p:val>
                                        </p:tav>
                                        <p:tav tm="100000">
                                          <p:val>
                                            <p:strVal val="#ppt_h"/>
                                          </p:val>
                                        </p:tav>
                                      </p:tavLst>
                                    </p:anim>
                                    <p:animEffect transition="in" filter="fade">
                                      <p:cBhvr>
                                        <p:cTn id="111" dur="250"/>
                                        <p:tgtEl>
                                          <p:spTgt spid="74"/>
                                        </p:tgtEl>
                                      </p:cBhvr>
                                    </p:animEffect>
                                  </p:childTnLst>
                                </p:cTn>
                              </p:par>
                              <p:par>
                                <p:cTn id="112" presetID="6" presetClass="emph" presetSubtype="0" decel="100000" fill="hold" grpId="1" nodeType="withEffect">
                                  <p:stCondLst>
                                    <p:cond delay="800"/>
                                  </p:stCondLst>
                                  <p:childTnLst>
                                    <p:animScale>
                                      <p:cBhvr>
                                        <p:cTn id="113" dur="250" fill="hold"/>
                                        <p:tgtEl>
                                          <p:spTgt spid="74"/>
                                        </p:tgtEl>
                                      </p:cBhvr>
                                      <p:by x="120000" y="120000"/>
                                    </p:animScale>
                                  </p:childTnLst>
                                </p:cTn>
                              </p:par>
                              <p:par>
                                <p:cTn id="114" presetID="6" presetClass="emph" presetSubtype="0" decel="100000" fill="hold" grpId="2" nodeType="withEffect">
                                  <p:stCondLst>
                                    <p:cond delay="1000"/>
                                  </p:stCondLst>
                                  <p:childTnLst>
                                    <p:animScale>
                                      <p:cBhvr>
                                        <p:cTn id="115" dur="250" fill="hold"/>
                                        <p:tgtEl>
                                          <p:spTgt spid="74"/>
                                        </p:tgtEl>
                                      </p:cBhvr>
                                      <p:by x="83000" y="83000"/>
                                    </p:animScale>
                                  </p:childTnLst>
                                </p:cTn>
                              </p:par>
                            </p:childTnLst>
                          </p:cTn>
                        </p:par>
                        <p:par>
                          <p:cTn id="116" fill="hold">
                            <p:stCondLst>
                              <p:cond delay="6600"/>
                            </p:stCondLst>
                            <p:childTnLst>
                              <p:par>
                                <p:cTn id="117" presetID="53" presetClass="entr" presetSubtype="16" fill="hold" grpId="0" nodeType="afterEffect">
                                  <p:stCondLst>
                                    <p:cond delay="0"/>
                                  </p:stCondLst>
                                  <p:iterate type="lt">
                                    <p:tmPct val="10000"/>
                                  </p:iterate>
                                  <p:childTnLst>
                                    <p:set>
                                      <p:cBhvr>
                                        <p:cTn id="118" dur="1" fill="hold">
                                          <p:stCondLst>
                                            <p:cond delay="0"/>
                                          </p:stCondLst>
                                        </p:cTn>
                                        <p:tgtEl>
                                          <p:spTgt spid="77"/>
                                        </p:tgtEl>
                                        <p:attrNameLst>
                                          <p:attrName>style.visibility</p:attrName>
                                        </p:attrNameLst>
                                      </p:cBhvr>
                                      <p:to>
                                        <p:strVal val="visible"/>
                                      </p:to>
                                    </p:set>
                                    <p:anim calcmode="lin" valueType="num">
                                      <p:cBhvr>
                                        <p:cTn id="119" dur="250" fill="hold"/>
                                        <p:tgtEl>
                                          <p:spTgt spid="77"/>
                                        </p:tgtEl>
                                        <p:attrNameLst>
                                          <p:attrName>ppt_w</p:attrName>
                                        </p:attrNameLst>
                                      </p:cBhvr>
                                      <p:tavLst>
                                        <p:tav tm="0">
                                          <p:val>
                                            <p:fltVal val="0"/>
                                          </p:val>
                                        </p:tav>
                                        <p:tav tm="100000">
                                          <p:val>
                                            <p:strVal val="#ppt_w"/>
                                          </p:val>
                                        </p:tav>
                                      </p:tavLst>
                                    </p:anim>
                                    <p:anim calcmode="lin" valueType="num">
                                      <p:cBhvr>
                                        <p:cTn id="120" dur="250" fill="hold"/>
                                        <p:tgtEl>
                                          <p:spTgt spid="77"/>
                                        </p:tgtEl>
                                        <p:attrNameLst>
                                          <p:attrName>ppt_h</p:attrName>
                                        </p:attrNameLst>
                                      </p:cBhvr>
                                      <p:tavLst>
                                        <p:tav tm="0">
                                          <p:val>
                                            <p:fltVal val="0"/>
                                          </p:val>
                                        </p:tav>
                                        <p:tav tm="100000">
                                          <p:val>
                                            <p:strVal val="#ppt_h"/>
                                          </p:val>
                                        </p:tav>
                                      </p:tavLst>
                                    </p:anim>
                                    <p:animEffect transition="in" filter="fade">
                                      <p:cBhvr>
                                        <p:cTn id="121" dur="250"/>
                                        <p:tgtEl>
                                          <p:spTgt spid="77"/>
                                        </p:tgtEl>
                                      </p:cBhvr>
                                    </p:animEffect>
                                  </p:childTnLst>
                                </p:cTn>
                              </p:par>
                            </p:childTnLst>
                          </p:cTn>
                        </p:par>
                        <p:par>
                          <p:cTn id="122" fill="hold">
                            <p:stCondLst>
                              <p:cond delay="8675"/>
                            </p:stCondLst>
                            <p:childTnLst>
                              <p:par>
                                <p:cTn id="123" presetID="53" presetClass="entr" presetSubtype="16" fill="hold" grpId="0" nodeType="afterEffect">
                                  <p:stCondLst>
                                    <p:cond delay="0"/>
                                  </p:stCondLst>
                                  <p:childTnLst>
                                    <p:set>
                                      <p:cBhvr>
                                        <p:cTn id="124" dur="1" fill="hold">
                                          <p:stCondLst>
                                            <p:cond delay="0"/>
                                          </p:stCondLst>
                                        </p:cTn>
                                        <p:tgtEl>
                                          <p:spTgt spid="43"/>
                                        </p:tgtEl>
                                        <p:attrNameLst>
                                          <p:attrName>style.visibility</p:attrName>
                                        </p:attrNameLst>
                                      </p:cBhvr>
                                      <p:to>
                                        <p:strVal val="visible"/>
                                      </p:to>
                                    </p:set>
                                    <p:anim calcmode="lin" valueType="num">
                                      <p:cBhvr>
                                        <p:cTn id="125" dur="500" fill="hold"/>
                                        <p:tgtEl>
                                          <p:spTgt spid="43"/>
                                        </p:tgtEl>
                                        <p:attrNameLst>
                                          <p:attrName>ppt_w</p:attrName>
                                        </p:attrNameLst>
                                      </p:cBhvr>
                                      <p:tavLst>
                                        <p:tav tm="0">
                                          <p:val>
                                            <p:fltVal val="0"/>
                                          </p:val>
                                        </p:tav>
                                        <p:tav tm="100000">
                                          <p:val>
                                            <p:strVal val="#ppt_w"/>
                                          </p:val>
                                        </p:tav>
                                      </p:tavLst>
                                    </p:anim>
                                    <p:anim calcmode="lin" valueType="num">
                                      <p:cBhvr>
                                        <p:cTn id="126" dur="500" fill="hold"/>
                                        <p:tgtEl>
                                          <p:spTgt spid="43"/>
                                        </p:tgtEl>
                                        <p:attrNameLst>
                                          <p:attrName>ppt_h</p:attrName>
                                        </p:attrNameLst>
                                      </p:cBhvr>
                                      <p:tavLst>
                                        <p:tav tm="0">
                                          <p:val>
                                            <p:fltVal val="0"/>
                                          </p:val>
                                        </p:tav>
                                        <p:tav tm="100000">
                                          <p:val>
                                            <p:strVal val="#ppt_h"/>
                                          </p:val>
                                        </p:tav>
                                      </p:tavLst>
                                    </p:anim>
                                    <p:animEffect transition="in" filter="fade">
                                      <p:cBhvr>
                                        <p:cTn id="127" dur="500"/>
                                        <p:tgtEl>
                                          <p:spTgt spid="43"/>
                                        </p:tgtEl>
                                      </p:cBhvr>
                                    </p:animEffect>
                                  </p:childTnLst>
                                </p:cTn>
                              </p:par>
                              <p:par>
                                <p:cTn id="128" presetID="35" presetClass="path" presetSubtype="0" accel="50000" decel="50000" fill="hold" grpId="1" nodeType="withEffect">
                                  <p:stCondLst>
                                    <p:cond delay="0"/>
                                  </p:stCondLst>
                                  <p:childTnLst>
                                    <p:animMotion origin="layout" path="M 3.95833E-6 4.81481E-6 L 0.1306 4.81481E-6 " pathEditMode="relative" rAng="0" ptsTypes="AA">
                                      <p:cBhvr>
                                        <p:cTn id="129" dur="1000" spd="-100000" fill="hold"/>
                                        <p:tgtEl>
                                          <p:spTgt spid="43"/>
                                        </p:tgtEl>
                                        <p:attrNameLst>
                                          <p:attrName>ppt_x</p:attrName>
                                          <p:attrName>ppt_y</p:attrName>
                                        </p:attrNameLst>
                                      </p:cBhvr>
                                      <p:rCtr x="6523" y="0"/>
                                    </p:animMotion>
                                  </p:childTnLst>
                                </p:cTn>
                              </p:par>
                            </p:childTnLst>
                          </p:cTn>
                        </p:par>
                        <p:par>
                          <p:cTn id="130" fill="hold">
                            <p:stCondLst>
                              <p:cond delay="9175"/>
                            </p:stCondLst>
                            <p:childTnLst>
                              <p:par>
                                <p:cTn id="131" presetID="53" presetClass="entr" presetSubtype="16" fill="hold" grpId="0" nodeType="afterEffect">
                                  <p:stCondLst>
                                    <p:cond delay="0"/>
                                  </p:stCondLst>
                                  <p:childTnLst>
                                    <p:set>
                                      <p:cBhvr>
                                        <p:cTn id="132" dur="1" fill="hold">
                                          <p:stCondLst>
                                            <p:cond delay="0"/>
                                          </p:stCondLst>
                                        </p:cTn>
                                        <p:tgtEl>
                                          <p:spTgt spid="50"/>
                                        </p:tgtEl>
                                        <p:attrNameLst>
                                          <p:attrName>style.visibility</p:attrName>
                                        </p:attrNameLst>
                                      </p:cBhvr>
                                      <p:to>
                                        <p:strVal val="visible"/>
                                      </p:to>
                                    </p:set>
                                    <p:anim calcmode="lin" valueType="num">
                                      <p:cBhvr>
                                        <p:cTn id="133" dur="250" fill="hold"/>
                                        <p:tgtEl>
                                          <p:spTgt spid="50"/>
                                        </p:tgtEl>
                                        <p:attrNameLst>
                                          <p:attrName>ppt_w</p:attrName>
                                        </p:attrNameLst>
                                      </p:cBhvr>
                                      <p:tavLst>
                                        <p:tav tm="0">
                                          <p:val>
                                            <p:fltVal val="0"/>
                                          </p:val>
                                        </p:tav>
                                        <p:tav tm="100000">
                                          <p:val>
                                            <p:strVal val="#ppt_w"/>
                                          </p:val>
                                        </p:tav>
                                      </p:tavLst>
                                    </p:anim>
                                    <p:anim calcmode="lin" valueType="num">
                                      <p:cBhvr>
                                        <p:cTn id="134" dur="250" fill="hold"/>
                                        <p:tgtEl>
                                          <p:spTgt spid="50"/>
                                        </p:tgtEl>
                                        <p:attrNameLst>
                                          <p:attrName>ppt_h</p:attrName>
                                        </p:attrNameLst>
                                      </p:cBhvr>
                                      <p:tavLst>
                                        <p:tav tm="0">
                                          <p:val>
                                            <p:fltVal val="0"/>
                                          </p:val>
                                        </p:tav>
                                        <p:tav tm="100000">
                                          <p:val>
                                            <p:strVal val="#ppt_h"/>
                                          </p:val>
                                        </p:tav>
                                      </p:tavLst>
                                    </p:anim>
                                    <p:animEffect transition="in" filter="fade">
                                      <p:cBhvr>
                                        <p:cTn id="135" dur="250"/>
                                        <p:tgtEl>
                                          <p:spTgt spid="50"/>
                                        </p:tgtEl>
                                      </p:cBhvr>
                                    </p:animEffect>
                                  </p:childTnLst>
                                </p:cTn>
                              </p:par>
                              <p:par>
                                <p:cTn id="136" presetID="6" presetClass="emph" presetSubtype="0" decel="100000" fill="hold" grpId="1" nodeType="withEffect">
                                  <p:stCondLst>
                                    <p:cond delay="200"/>
                                  </p:stCondLst>
                                  <p:childTnLst>
                                    <p:animScale>
                                      <p:cBhvr>
                                        <p:cTn id="137" dur="250" fill="hold"/>
                                        <p:tgtEl>
                                          <p:spTgt spid="50"/>
                                        </p:tgtEl>
                                      </p:cBhvr>
                                      <p:by x="120000" y="120000"/>
                                    </p:animScale>
                                  </p:childTnLst>
                                </p:cTn>
                              </p:par>
                              <p:par>
                                <p:cTn id="138" presetID="6" presetClass="emph" presetSubtype="0" decel="100000" fill="hold" grpId="2" nodeType="withEffect">
                                  <p:stCondLst>
                                    <p:cond delay="400"/>
                                  </p:stCondLst>
                                  <p:childTnLst>
                                    <p:animScale>
                                      <p:cBhvr>
                                        <p:cTn id="139" dur="250" fill="hold"/>
                                        <p:tgtEl>
                                          <p:spTgt spid="50"/>
                                        </p:tgtEl>
                                      </p:cBhvr>
                                      <p:by x="83000" y="83000"/>
                                    </p:animScale>
                                  </p:childTnLst>
                                </p:cTn>
                              </p:par>
                              <p:par>
                                <p:cTn id="140" presetID="53" presetClass="entr" presetSubtype="16" fill="hold" grpId="0" nodeType="withEffect">
                                  <p:stCondLst>
                                    <p:cond delay="400"/>
                                  </p:stCondLst>
                                  <p:childTnLst>
                                    <p:set>
                                      <p:cBhvr>
                                        <p:cTn id="141" dur="1" fill="hold">
                                          <p:stCondLst>
                                            <p:cond delay="0"/>
                                          </p:stCondLst>
                                        </p:cTn>
                                        <p:tgtEl>
                                          <p:spTgt spid="71"/>
                                        </p:tgtEl>
                                        <p:attrNameLst>
                                          <p:attrName>style.visibility</p:attrName>
                                        </p:attrNameLst>
                                      </p:cBhvr>
                                      <p:to>
                                        <p:strVal val="visible"/>
                                      </p:to>
                                    </p:set>
                                    <p:anim calcmode="lin" valueType="num">
                                      <p:cBhvr>
                                        <p:cTn id="142" dur="250" fill="hold"/>
                                        <p:tgtEl>
                                          <p:spTgt spid="71"/>
                                        </p:tgtEl>
                                        <p:attrNameLst>
                                          <p:attrName>ppt_w</p:attrName>
                                        </p:attrNameLst>
                                      </p:cBhvr>
                                      <p:tavLst>
                                        <p:tav tm="0">
                                          <p:val>
                                            <p:fltVal val="0"/>
                                          </p:val>
                                        </p:tav>
                                        <p:tav tm="100000">
                                          <p:val>
                                            <p:strVal val="#ppt_w"/>
                                          </p:val>
                                        </p:tav>
                                      </p:tavLst>
                                    </p:anim>
                                    <p:anim calcmode="lin" valueType="num">
                                      <p:cBhvr>
                                        <p:cTn id="143" dur="250" fill="hold"/>
                                        <p:tgtEl>
                                          <p:spTgt spid="71"/>
                                        </p:tgtEl>
                                        <p:attrNameLst>
                                          <p:attrName>ppt_h</p:attrName>
                                        </p:attrNameLst>
                                      </p:cBhvr>
                                      <p:tavLst>
                                        <p:tav tm="0">
                                          <p:val>
                                            <p:fltVal val="0"/>
                                          </p:val>
                                        </p:tav>
                                        <p:tav tm="100000">
                                          <p:val>
                                            <p:strVal val="#ppt_h"/>
                                          </p:val>
                                        </p:tav>
                                      </p:tavLst>
                                    </p:anim>
                                    <p:animEffect transition="in" filter="fade">
                                      <p:cBhvr>
                                        <p:cTn id="144" dur="250"/>
                                        <p:tgtEl>
                                          <p:spTgt spid="71"/>
                                        </p:tgtEl>
                                      </p:cBhvr>
                                    </p:animEffect>
                                  </p:childTnLst>
                                </p:cTn>
                              </p:par>
                              <p:par>
                                <p:cTn id="145" presetID="6" presetClass="emph" presetSubtype="0" decel="100000" fill="hold" grpId="1" nodeType="withEffect">
                                  <p:stCondLst>
                                    <p:cond delay="600"/>
                                  </p:stCondLst>
                                  <p:childTnLst>
                                    <p:animScale>
                                      <p:cBhvr>
                                        <p:cTn id="146" dur="250" fill="hold"/>
                                        <p:tgtEl>
                                          <p:spTgt spid="71"/>
                                        </p:tgtEl>
                                      </p:cBhvr>
                                      <p:by x="120000" y="120000"/>
                                    </p:animScale>
                                  </p:childTnLst>
                                </p:cTn>
                              </p:par>
                              <p:par>
                                <p:cTn id="147" presetID="6" presetClass="emph" presetSubtype="0" decel="100000" fill="hold" grpId="2" nodeType="withEffect">
                                  <p:stCondLst>
                                    <p:cond delay="800"/>
                                  </p:stCondLst>
                                  <p:childTnLst>
                                    <p:animScale>
                                      <p:cBhvr>
                                        <p:cTn id="148" dur="250" fill="hold"/>
                                        <p:tgtEl>
                                          <p:spTgt spid="71"/>
                                        </p:tgtEl>
                                      </p:cBhvr>
                                      <p:by x="83000" y="83000"/>
                                    </p:animScale>
                                  </p:childTnLst>
                                </p:cTn>
                              </p:par>
                              <p:par>
                                <p:cTn id="149" presetID="53" presetClass="entr" presetSubtype="16" fill="hold" grpId="0" nodeType="withEffect">
                                  <p:stCondLst>
                                    <p:cond delay="600"/>
                                  </p:stCondLst>
                                  <p:childTnLst>
                                    <p:set>
                                      <p:cBhvr>
                                        <p:cTn id="150" dur="1" fill="hold">
                                          <p:stCondLst>
                                            <p:cond delay="0"/>
                                          </p:stCondLst>
                                        </p:cTn>
                                        <p:tgtEl>
                                          <p:spTgt spid="75"/>
                                        </p:tgtEl>
                                        <p:attrNameLst>
                                          <p:attrName>style.visibility</p:attrName>
                                        </p:attrNameLst>
                                      </p:cBhvr>
                                      <p:to>
                                        <p:strVal val="visible"/>
                                      </p:to>
                                    </p:set>
                                    <p:anim calcmode="lin" valueType="num">
                                      <p:cBhvr>
                                        <p:cTn id="151" dur="250" fill="hold"/>
                                        <p:tgtEl>
                                          <p:spTgt spid="75"/>
                                        </p:tgtEl>
                                        <p:attrNameLst>
                                          <p:attrName>ppt_w</p:attrName>
                                        </p:attrNameLst>
                                      </p:cBhvr>
                                      <p:tavLst>
                                        <p:tav tm="0">
                                          <p:val>
                                            <p:fltVal val="0"/>
                                          </p:val>
                                        </p:tav>
                                        <p:tav tm="100000">
                                          <p:val>
                                            <p:strVal val="#ppt_w"/>
                                          </p:val>
                                        </p:tav>
                                      </p:tavLst>
                                    </p:anim>
                                    <p:anim calcmode="lin" valueType="num">
                                      <p:cBhvr>
                                        <p:cTn id="152" dur="250" fill="hold"/>
                                        <p:tgtEl>
                                          <p:spTgt spid="75"/>
                                        </p:tgtEl>
                                        <p:attrNameLst>
                                          <p:attrName>ppt_h</p:attrName>
                                        </p:attrNameLst>
                                      </p:cBhvr>
                                      <p:tavLst>
                                        <p:tav tm="0">
                                          <p:val>
                                            <p:fltVal val="0"/>
                                          </p:val>
                                        </p:tav>
                                        <p:tav tm="100000">
                                          <p:val>
                                            <p:strVal val="#ppt_h"/>
                                          </p:val>
                                        </p:tav>
                                      </p:tavLst>
                                    </p:anim>
                                    <p:animEffect transition="in" filter="fade">
                                      <p:cBhvr>
                                        <p:cTn id="153" dur="250"/>
                                        <p:tgtEl>
                                          <p:spTgt spid="75"/>
                                        </p:tgtEl>
                                      </p:cBhvr>
                                    </p:animEffect>
                                  </p:childTnLst>
                                </p:cTn>
                              </p:par>
                              <p:par>
                                <p:cTn id="154" presetID="6" presetClass="emph" presetSubtype="0" decel="100000" fill="hold" grpId="1" nodeType="withEffect">
                                  <p:stCondLst>
                                    <p:cond delay="800"/>
                                  </p:stCondLst>
                                  <p:childTnLst>
                                    <p:animScale>
                                      <p:cBhvr>
                                        <p:cTn id="155" dur="250" fill="hold"/>
                                        <p:tgtEl>
                                          <p:spTgt spid="75"/>
                                        </p:tgtEl>
                                      </p:cBhvr>
                                      <p:by x="120000" y="120000"/>
                                    </p:animScale>
                                  </p:childTnLst>
                                </p:cTn>
                              </p:par>
                              <p:par>
                                <p:cTn id="156" presetID="6" presetClass="emph" presetSubtype="0" decel="100000" fill="hold" grpId="2" nodeType="withEffect">
                                  <p:stCondLst>
                                    <p:cond delay="1000"/>
                                  </p:stCondLst>
                                  <p:childTnLst>
                                    <p:animScale>
                                      <p:cBhvr>
                                        <p:cTn id="157" dur="250" fill="hold"/>
                                        <p:tgtEl>
                                          <p:spTgt spid="75"/>
                                        </p:tgtEl>
                                      </p:cBhvr>
                                      <p:by x="83000" y="83000"/>
                                    </p:animScale>
                                  </p:childTnLst>
                                </p:cTn>
                              </p:par>
                            </p:childTnLst>
                          </p:cTn>
                        </p:par>
                        <p:par>
                          <p:cTn id="158" fill="hold">
                            <p:stCondLst>
                              <p:cond delay="9675"/>
                            </p:stCondLst>
                            <p:childTnLst>
                              <p:par>
                                <p:cTn id="159" presetID="53" presetClass="entr" presetSubtype="16" fill="hold" grpId="0" nodeType="afterEffect">
                                  <p:stCondLst>
                                    <p:cond delay="0"/>
                                  </p:stCondLst>
                                  <p:iterate type="lt">
                                    <p:tmPct val="10000"/>
                                  </p:iterate>
                                  <p:childTnLst>
                                    <p:set>
                                      <p:cBhvr>
                                        <p:cTn id="160" dur="1" fill="hold">
                                          <p:stCondLst>
                                            <p:cond delay="0"/>
                                          </p:stCondLst>
                                        </p:cTn>
                                        <p:tgtEl>
                                          <p:spTgt spid="78"/>
                                        </p:tgtEl>
                                        <p:attrNameLst>
                                          <p:attrName>style.visibility</p:attrName>
                                        </p:attrNameLst>
                                      </p:cBhvr>
                                      <p:to>
                                        <p:strVal val="visible"/>
                                      </p:to>
                                    </p:set>
                                    <p:anim calcmode="lin" valueType="num">
                                      <p:cBhvr>
                                        <p:cTn id="161" dur="250" fill="hold"/>
                                        <p:tgtEl>
                                          <p:spTgt spid="78"/>
                                        </p:tgtEl>
                                        <p:attrNameLst>
                                          <p:attrName>ppt_w</p:attrName>
                                        </p:attrNameLst>
                                      </p:cBhvr>
                                      <p:tavLst>
                                        <p:tav tm="0">
                                          <p:val>
                                            <p:fltVal val="0"/>
                                          </p:val>
                                        </p:tav>
                                        <p:tav tm="100000">
                                          <p:val>
                                            <p:strVal val="#ppt_w"/>
                                          </p:val>
                                        </p:tav>
                                      </p:tavLst>
                                    </p:anim>
                                    <p:anim calcmode="lin" valueType="num">
                                      <p:cBhvr>
                                        <p:cTn id="162" dur="250" fill="hold"/>
                                        <p:tgtEl>
                                          <p:spTgt spid="78"/>
                                        </p:tgtEl>
                                        <p:attrNameLst>
                                          <p:attrName>ppt_h</p:attrName>
                                        </p:attrNameLst>
                                      </p:cBhvr>
                                      <p:tavLst>
                                        <p:tav tm="0">
                                          <p:val>
                                            <p:fltVal val="0"/>
                                          </p:val>
                                        </p:tav>
                                        <p:tav tm="100000">
                                          <p:val>
                                            <p:strVal val="#ppt_h"/>
                                          </p:val>
                                        </p:tav>
                                      </p:tavLst>
                                    </p:anim>
                                    <p:animEffect transition="in" filter="fade">
                                      <p:cBhvr>
                                        <p:cTn id="163" dur="250"/>
                                        <p:tgtEl>
                                          <p:spTgt spid="78"/>
                                        </p:tgtEl>
                                      </p:cBhvr>
                                    </p:animEffect>
                                  </p:childTnLst>
                                </p:cTn>
                              </p:par>
                            </p:childTnLst>
                          </p:cTn>
                        </p:par>
                        <p:par>
                          <p:cTn id="164" fill="hold">
                            <p:stCondLst>
                              <p:cond delay="12175"/>
                            </p:stCondLst>
                            <p:childTnLst>
                              <p:par>
                                <p:cTn id="165" presetID="53" presetClass="entr" presetSubtype="16" fill="hold" grpId="0" nodeType="afterEffect">
                                  <p:stCondLst>
                                    <p:cond delay="0"/>
                                  </p:stCondLst>
                                  <p:childTnLst>
                                    <p:set>
                                      <p:cBhvr>
                                        <p:cTn id="166" dur="1" fill="hold">
                                          <p:stCondLst>
                                            <p:cond delay="0"/>
                                          </p:stCondLst>
                                        </p:cTn>
                                        <p:tgtEl>
                                          <p:spTgt spid="49"/>
                                        </p:tgtEl>
                                        <p:attrNameLst>
                                          <p:attrName>style.visibility</p:attrName>
                                        </p:attrNameLst>
                                      </p:cBhvr>
                                      <p:to>
                                        <p:strVal val="visible"/>
                                      </p:to>
                                    </p:set>
                                    <p:anim calcmode="lin" valueType="num">
                                      <p:cBhvr>
                                        <p:cTn id="167" dur="500" fill="hold"/>
                                        <p:tgtEl>
                                          <p:spTgt spid="49"/>
                                        </p:tgtEl>
                                        <p:attrNameLst>
                                          <p:attrName>ppt_w</p:attrName>
                                        </p:attrNameLst>
                                      </p:cBhvr>
                                      <p:tavLst>
                                        <p:tav tm="0">
                                          <p:val>
                                            <p:fltVal val="0"/>
                                          </p:val>
                                        </p:tav>
                                        <p:tav tm="100000">
                                          <p:val>
                                            <p:strVal val="#ppt_w"/>
                                          </p:val>
                                        </p:tav>
                                      </p:tavLst>
                                    </p:anim>
                                    <p:anim calcmode="lin" valueType="num">
                                      <p:cBhvr>
                                        <p:cTn id="168" dur="500" fill="hold"/>
                                        <p:tgtEl>
                                          <p:spTgt spid="49"/>
                                        </p:tgtEl>
                                        <p:attrNameLst>
                                          <p:attrName>ppt_h</p:attrName>
                                        </p:attrNameLst>
                                      </p:cBhvr>
                                      <p:tavLst>
                                        <p:tav tm="0">
                                          <p:val>
                                            <p:fltVal val="0"/>
                                          </p:val>
                                        </p:tav>
                                        <p:tav tm="100000">
                                          <p:val>
                                            <p:strVal val="#ppt_h"/>
                                          </p:val>
                                        </p:tav>
                                      </p:tavLst>
                                    </p:anim>
                                    <p:animEffect transition="in" filter="fade">
                                      <p:cBhvr>
                                        <p:cTn id="169" dur="500"/>
                                        <p:tgtEl>
                                          <p:spTgt spid="49"/>
                                        </p:tgtEl>
                                      </p:cBhvr>
                                    </p:animEffect>
                                  </p:childTnLst>
                                </p:cTn>
                              </p:par>
                              <p:par>
                                <p:cTn id="170" presetID="35" presetClass="path" presetSubtype="0" accel="50000" decel="50000" fill="hold" grpId="1" nodeType="withEffect">
                                  <p:stCondLst>
                                    <p:cond delay="0"/>
                                  </p:stCondLst>
                                  <p:childTnLst>
                                    <p:animMotion origin="layout" path="M 3.95833E-6 4.81481E-6 L 0.1306 4.81481E-6 " pathEditMode="relative" rAng="0" ptsTypes="AA">
                                      <p:cBhvr>
                                        <p:cTn id="171" dur="1000" spd="-100000" fill="hold"/>
                                        <p:tgtEl>
                                          <p:spTgt spid="49"/>
                                        </p:tgtEl>
                                        <p:attrNameLst>
                                          <p:attrName>ppt_x</p:attrName>
                                          <p:attrName>ppt_y</p:attrName>
                                        </p:attrNameLst>
                                      </p:cBhvr>
                                      <p:rCtr x="652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2" grpId="2" animBg="1"/>
      <p:bldP spid="31" grpId="0" animBg="1"/>
      <p:bldP spid="31" grpId="1" animBg="1"/>
      <p:bldP spid="67" grpId="0"/>
      <p:bldP spid="67" grpId="1"/>
      <p:bldP spid="67" grpId="2"/>
      <p:bldP spid="68" grpId="0"/>
      <p:bldP spid="72" grpId="0" animBg="1"/>
      <p:bldP spid="72" grpId="1" animBg="1"/>
      <p:bldP spid="72" grpId="2" animBg="1"/>
      <p:bldP spid="38" grpId="0" animBg="1"/>
      <p:bldP spid="38" grpId="1" animBg="1"/>
      <p:bldP spid="38" grpId="2" animBg="1"/>
      <p:bldP spid="37" grpId="0" animBg="1"/>
      <p:bldP spid="37" grpId="1" animBg="1"/>
      <p:bldP spid="69" grpId="0" animBg="1"/>
      <p:bldP spid="69" grpId="1" animBg="1"/>
      <p:bldP spid="69" grpId="2" animBg="1"/>
      <p:bldP spid="73" grpId="0"/>
      <p:bldP spid="73" grpId="1"/>
      <p:bldP spid="73" grpId="2"/>
      <p:bldP spid="76" grpId="0"/>
      <p:bldP spid="44" grpId="0" animBg="1"/>
      <p:bldP spid="44" grpId="1" animBg="1"/>
      <p:bldP spid="44" grpId="2" animBg="1"/>
      <p:bldP spid="43" grpId="0" animBg="1"/>
      <p:bldP spid="43" grpId="1" animBg="1"/>
      <p:bldP spid="70" grpId="0" animBg="1"/>
      <p:bldP spid="70" grpId="1" animBg="1"/>
      <p:bldP spid="70" grpId="2" animBg="1"/>
      <p:bldP spid="74" grpId="0"/>
      <p:bldP spid="74" grpId="1"/>
      <p:bldP spid="74" grpId="2"/>
      <p:bldP spid="77" grpId="0"/>
      <p:bldP spid="50" grpId="0" animBg="1"/>
      <p:bldP spid="50" grpId="1" animBg="1"/>
      <p:bldP spid="50" grpId="2" animBg="1"/>
      <p:bldP spid="49" grpId="0" animBg="1"/>
      <p:bldP spid="49" grpId="1" animBg="1"/>
      <p:bldP spid="71" grpId="0" animBg="1"/>
      <p:bldP spid="71" grpId="1" animBg="1"/>
      <p:bldP spid="71" grpId="2" animBg="1"/>
      <p:bldP spid="75" grpId="0"/>
      <p:bldP spid="75" grpId="1"/>
      <p:bldP spid="75" grpId="2"/>
      <p:bldP spid="7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689426" y="1332570"/>
            <a:ext cx="4367487" cy="1558163"/>
            <a:chOff x="677641" y="1295105"/>
            <a:chExt cx="4368056" cy="1558163"/>
          </a:xfrm>
        </p:grpSpPr>
        <p:sp>
          <p:nvSpPr>
            <p:cNvPr id="797" name="任意多边形 796"/>
            <p:cNvSpPr/>
            <p:nvPr/>
          </p:nvSpPr>
          <p:spPr bwMode="auto">
            <a:xfrm>
              <a:off x="677641" y="1607186"/>
              <a:ext cx="4368056" cy="1246082"/>
            </a:xfrm>
            <a:custGeom>
              <a:avLst/>
              <a:gdLst>
                <a:gd name="connsiteX0" fmla="*/ 155759 w 4368056"/>
                <a:gd name="connsiteY0" fmla="*/ 0 h 1246082"/>
                <a:gd name="connsiteX1" fmla="*/ 4368056 w 4368056"/>
                <a:gd name="connsiteY1" fmla="*/ 0 h 1246082"/>
                <a:gd name="connsiteX2" fmla="*/ 4368056 w 4368056"/>
                <a:gd name="connsiteY2" fmla="*/ 1246082 h 1246082"/>
                <a:gd name="connsiteX3" fmla="*/ 155759 w 4368056"/>
                <a:gd name="connsiteY3" fmla="*/ 1246082 h 1246082"/>
                <a:gd name="connsiteX4" fmla="*/ 155759 w 4368056"/>
                <a:gd name="connsiteY4" fmla="*/ 778800 h 1246082"/>
                <a:gd name="connsiteX5" fmla="*/ 0 w 4368056"/>
                <a:gd name="connsiteY5" fmla="*/ 623041 h 1246082"/>
                <a:gd name="connsiteX6" fmla="*/ 155759 w 4368056"/>
                <a:gd name="connsiteY6" fmla="*/ 467282 h 124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68056" h="1246082">
                  <a:moveTo>
                    <a:pt x="155759" y="0"/>
                  </a:moveTo>
                  <a:lnTo>
                    <a:pt x="4368056" y="0"/>
                  </a:lnTo>
                  <a:lnTo>
                    <a:pt x="4368056" y="1246082"/>
                  </a:lnTo>
                  <a:lnTo>
                    <a:pt x="155759" y="1246082"/>
                  </a:lnTo>
                  <a:lnTo>
                    <a:pt x="155759" y="778800"/>
                  </a:lnTo>
                  <a:lnTo>
                    <a:pt x="0" y="623041"/>
                  </a:lnTo>
                  <a:lnTo>
                    <a:pt x="155759" y="467282"/>
                  </a:lnTo>
                  <a:close/>
                </a:path>
              </a:pathLst>
            </a:custGeom>
            <a:solidFill>
              <a:schemeClr val="bg1">
                <a:lumMod val="95000"/>
              </a:schemeClr>
            </a:solidFill>
            <a:ln>
              <a:noFill/>
            </a:ln>
            <a:effectLst>
              <a:outerShdw blurRad="63500" sx="102000" sy="102000" algn="ctr" rotWithShape="0">
                <a:prstClr val="black">
                  <a:alpha val="40000"/>
                </a:prstClr>
              </a:outerShdw>
            </a:effectLst>
          </p:spPr>
          <p:txBody>
            <a:bodyPr vert="horz" wrap="square" lIns="91440" tIns="45720" rIns="91440" bIns="45720" numCol="1" anchor="t" anchorCtr="0" compatLnSpc="1">
              <a:noAutofit/>
            </a:bodyPr>
            <a:lstStyle/>
            <a:p>
              <a:endParaRPr lang="zh-CN" altLang="en-US">
                <a:cs typeface="+mn-ea"/>
                <a:sym typeface="+mn-lt"/>
              </a:endParaRPr>
            </a:p>
          </p:txBody>
        </p:sp>
        <p:sp>
          <p:nvSpPr>
            <p:cNvPr id="476" name="Rectangle 1064"/>
            <p:cNvSpPr>
              <a:spLocks noChangeArrowheads="1"/>
            </p:cNvSpPr>
            <p:nvPr/>
          </p:nvSpPr>
          <p:spPr bwMode="auto">
            <a:xfrm>
              <a:off x="833400" y="1295401"/>
              <a:ext cx="4212297" cy="31152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8" name="矩形 7"/>
            <p:cNvSpPr/>
            <p:nvPr/>
          </p:nvSpPr>
          <p:spPr>
            <a:xfrm>
              <a:off x="930332" y="1295105"/>
              <a:ext cx="716373" cy="370840"/>
            </a:xfrm>
            <a:prstGeom prst="rect">
              <a:avLst/>
            </a:prstGeom>
          </p:spPr>
          <p:txBody>
            <a:bodyPr wrap="none">
              <a:spAutoFit/>
            </a:bodyPr>
            <a:lstStyle/>
            <a:p>
              <a:pPr>
                <a:lnSpc>
                  <a:spcPct val="130000"/>
                </a:lnSpc>
              </a:pPr>
              <a:r>
                <a:rPr lang="zh-CN" altLang="en-US" sz="1400" b="1" dirty="0">
                  <a:solidFill>
                    <a:schemeClr val="bg1"/>
                  </a:solidFill>
                  <a:cs typeface="+mn-ea"/>
                  <a:sym typeface="+mn-lt"/>
                </a:rPr>
                <a:t>库销比</a:t>
              </a:r>
              <a:endParaRPr lang="zh-CN" altLang="en-US" sz="1400" b="1" dirty="0">
                <a:solidFill>
                  <a:schemeClr val="bg1"/>
                </a:solidFill>
                <a:cs typeface="+mn-ea"/>
                <a:sym typeface="+mn-lt"/>
              </a:endParaRPr>
            </a:p>
          </p:txBody>
        </p:sp>
        <p:sp>
          <p:nvSpPr>
            <p:cNvPr id="800" name="矩形 799"/>
            <p:cNvSpPr/>
            <p:nvPr/>
          </p:nvSpPr>
          <p:spPr>
            <a:xfrm>
              <a:off x="930351" y="2030934"/>
              <a:ext cx="4018394" cy="306705"/>
            </a:xfrm>
            <a:prstGeom prst="rect">
              <a:avLst/>
            </a:prstGeom>
          </p:spPr>
          <p:txBody>
            <a:bodyPr wrap="square">
              <a:spAutoFit/>
            </a:bodyPr>
            <a:lstStyle/>
            <a:p>
              <a:pPr algn="just"/>
              <a:r>
                <a:rPr lang="zh-CN" altLang="en-US" sz="1400" dirty="0">
                  <a:solidFill>
                    <a:schemeClr val="tx1">
                      <a:lumMod val="60000"/>
                      <a:lumOff val="40000"/>
                    </a:schemeClr>
                  </a:solidFill>
                  <a:cs typeface="+mn-ea"/>
                  <a:sym typeface="+mn-lt"/>
                </a:rPr>
                <a:t>库存总金额</a:t>
              </a:r>
              <a:r>
                <a:rPr lang="en-US" altLang="zh-CN" sz="1400" dirty="0">
                  <a:solidFill>
                    <a:schemeClr val="tx1">
                      <a:lumMod val="60000"/>
                      <a:lumOff val="40000"/>
                    </a:schemeClr>
                  </a:solidFill>
                  <a:cs typeface="+mn-ea"/>
                  <a:sym typeface="+mn-lt"/>
                </a:rPr>
                <a:t>/</a:t>
              </a:r>
              <a:r>
                <a:rPr lang="zh-CN" altLang="en-US" sz="1400" dirty="0">
                  <a:solidFill>
                    <a:schemeClr val="tx1">
                      <a:lumMod val="60000"/>
                      <a:lumOff val="40000"/>
                    </a:schemeClr>
                  </a:solidFill>
                  <a:cs typeface="+mn-ea"/>
                  <a:sym typeface="+mn-lt"/>
                </a:rPr>
                <a:t>销量总金额</a:t>
              </a:r>
              <a:r>
                <a:rPr lang="en-US" altLang="zh-CN" sz="1400" dirty="0">
                  <a:solidFill>
                    <a:schemeClr val="tx1">
                      <a:lumMod val="60000"/>
                      <a:lumOff val="40000"/>
                    </a:schemeClr>
                  </a:solidFill>
                  <a:cs typeface="+mn-ea"/>
                  <a:sym typeface="+mn-lt"/>
                </a:rPr>
                <a:t>=</a:t>
              </a:r>
              <a:r>
                <a:rPr lang="zh-CN" altLang="en-US" sz="1400" dirty="0">
                  <a:solidFill>
                    <a:schemeClr val="tx1">
                      <a:lumMod val="60000"/>
                      <a:lumOff val="40000"/>
                    </a:schemeClr>
                  </a:solidFill>
                  <a:cs typeface="+mn-ea"/>
                  <a:sym typeface="+mn-lt"/>
                </a:rPr>
                <a:t>库销比</a:t>
              </a:r>
              <a:endParaRPr lang="zh-CN" altLang="en-US" sz="1400" dirty="0">
                <a:solidFill>
                  <a:schemeClr val="tx1">
                    <a:lumMod val="60000"/>
                    <a:lumOff val="40000"/>
                  </a:schemeClr>
                </a:solidFill>
                <a:cs typeface="+mn-ea"/>
                <a:sym typeface="+mn-lt"/>
              </a:endParaRPr>
            </a:p>
          </p:txBody>
        </p:sp>
      </p:grpSp>
      <p:grpSp>
        <p:nvGrpSpPr>
          <p:cNvPr id="6" name="组合 5"/>
          <p:cNvGrpSpPr/>
          <p:nvPr/>
        </p:nvGrpSpPr>
        <p:grpSpPr>
          <a:xfrm>
            <a:off x="1768167" y="5099563"/>
            <a:ext cx="5992423" cy="1317749"/>
            <a:chOff x="668750" y="5022092"/>
            <a:chExt cx="5993204" cy="1317749"/>
          </a:xfrm>
        </p:grpSpPr>
        <p:sp>
          <p:nvSpPr>
            <p:cNvPr id="799" name="任意多边形 798"/>
            <p:cNvSpPr>
              <a:spLocks noChangeArrowheads="1"/>
            </p:cNvSpPr>
            <p:nvPr/>
          </p:nvSpPr>
          <p:spPr bwMode="auto">
            <a:xfrm>
              <a:off x="668750" y="5093759"/>
              <a:ext cx="4368059" cy="1246082"/>
            </a:xfrm>
            <a:custGeom>
              <a:avLst/>
              <a:gdLst>
                <a:gd name="connsiteX0" fmla="*/ 155760 w 4368059"/>
                <a:gd name="connsiteY0" fmla="*/ 467281 h 1246082"/>
                <a:gd name="connsiteX1" fmla="*/ 155760 w 4368059"/>
                <a:gd name="connsiteY1" fmla="*/ 778801 h 1246082"/>
                <a:gd name="connsiteX2" fmla="*/ 0 w 4368059"/>
                <a:gd name="connsiteY2" fmla="*/ 623041 h 1246082"/>
                <a:gd name="connsiteX3" fmla="*/ 155762 w 4368059"/>
                <a:gd name="connsiteY3" fmla="*/ 0 h 1246082"/>
                <a:gd name="connsiteX4" fmla="*/ 4368059 w 4368059"/>
                <a:gd name="connsiteY4" fmla="*/ 0 h 1246082"/>
                <a:gd name="connsiteX5" fmla="*/ 4368059 w 4368059"/>
                <a:gd name="connsiteY5" fmla="*/ 1246082 h 1246082"/>
                <a:gd name="connsiteX6" fmla="*/ 155762 w 4368059"/>
                <a:gd name="connsiteY6" fmla="*/ 1246082 h 124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68059" h="1246082">
                  <a:moveTo>
                    <a:pt x="155760" y="467281"/>
                  </a:moveTo>
                  <a:lnTo>
                    <a:pt x="155760" y="778801"/>
                  </a:lnTo>
                  <a:lnTo>
                    <a:pt x="0" y="623041"/>
                  </a:lnTo>
                  <a:close/>
                  <a:moveTo>
                    <a:pt x="155762" y="0"/>
                  </a:moveTo>
                  <a:lnTo>
                    <a:pt x="4368059" y="0"/>
                  </a:lnTo>
                  <a:lnTo>
                    <a:pt x="4368059" y="1246082"/>
                  </a:lnTo>
                  <a:lnTo>
                    <a:pt x="155762" y="1246082"/>
                  </a:lnTo>
                  <a:close/>
                </a:path>
              </a:pathLst>
            </a:custGeom>
            <a:solidFill>
              <a:schemeClr val="bg1">
                <a:lumMod val="95000"/>
              </a:schemeClr>
            </a:solidFill>
            <a:ln>
              <a:noFill/>
            </a:ln>
            <a:effectLst>
              <a:outerShdw blurRad="63500" sx="102000" sy="102000" algn="ctr" rotWithShape="0">
                <a:prstClr val="black">
                  <a:alpha val="40000"/>
                </a:prstClr>
              </a:outerShdw>
            </a:effectLst>
          </p:spPr>
          <p:txBody>
            <a:bodyPr vert="horz" wrap="square" lIns="91440" tIns="45720" rIns="91440" bIns="45720" numCol="1" anchor="t" anchorCtr="0" compatLnSpc="1">
              <a:noAutofit/>
            </a:bodyPr>
            <a:lstStyle/>
            <a:p>
              <a:endParaRPr lang="zh-CN" altLang="en-US">
                <a:cs typeface="+mn-ea"/>
                <a:sym typeface="+mn-lt"/>
              </a:endParaRPr>
            </a:p>
          </p:txBody>
        </p:sp>
        <p:sp>
          <p:nvSpPr>
            <p:cNvPr id="637" name="Rectangle 1226"/>
            <p:cNvSpPr>
              <a:spLocks noChangeArrowheads="1"/>
            </p:cNvSpPr>
            <p:nvPr/>
          </p:nvSpPr>
          <p:spPr bwMode="auto">
            <a:xfrm>
              <a:off x="823877" y="5093759"/>
              <a:ext cx="4212297" cy="311520"/>
            </a:xfrm>
            <a:prstGeom prst="rect">
              <a:avLst/>
            </a:prstGeom>
            <a:solidFill>
              <a:schemeClr val="accent4"/>
            </a:solidFill>
            <a:ln>
              <a:noFill/>
            </a:ln>
          </p:spPr>
          <p:txBody>
            <a:bodyPr vert="horz" wrap="square" lIns="91440" tIns="45720" rIns="91440" bIns="45720" numCol="1" anchor="t" anchorCtr="0" compatLnSpc="1"/>
            <a:lstStyle/>
            <a:p>
              <a:endParaRPr lang="zh-CN" altLang="en-US">
                <a:cs typeface="+mn-ea"/>
                <a:sym typeface="+mn-lt"/>
              </a:endParaRPr>
            </a:p>
          </p:txBody>
        </p:sp>
        <p:sp>
          <p:nvSpPr>
            <p:cNvPr id="801" name="矩形 800"/>
            <p:cNvSpPr/>
            <p:nvPr/>
          </p:nvSpPr>
          <p:spPr>
            <a:xfrm>
              <a:off x="5056465" y="5022092"/>
              <a:ext cx="1605489" cy="370840"/>
            </a:xfrm>
            <a:prstGeom prst="rect">
              <a:avLst/>
            </a:prstGeom>
          </p:spPr>
          <p:txBody>
            <a:bodyPr wrap="none">
              <a:spAutoFit/>
            </a:bodyPr>
            <a:lstStyle/>
            <a:p>
              <a:pPr>
                <a:lnSpc>
                  <a:spcPct val="130000"/>
                </a:lnSpc>
              </a:pPr>
              <a:r>
                <a:rPr lang="zh-CN" altLang="en-US" sz="1400" b="1" dirty="0">
                  <a:solidFill>
                    <a:schemeClr val="bg1"/>
                  </a:solidFill>
                  <a:cs typeface="+mn-ea"/>
                  <a:sym typeface="+mn-lt"/>
                </a:rPr>
                <a:t>单击此处添加文字</a:t>
              </a:r>
              <a:endParaRPr lang="en-US" altLang="zh-CN" sz="1400" b="1" dirty="0">
                <a:solidFill>
                  <a:schemeClr val="bg1"/>
                </a:solidFill>
                <a:cs typeface="+mn-ea"/>
                <a:sym typeface="+mn-lt"/>
              </a:endParaRPr>
            </a:p>
          </p:txBody>
        </p:sp>
        <p:sp>
          <p:nvSpPr>
            <p:cNvPr id="802" name="矩形 801"/>
            <p:cNvSpPr/>
            <p:nvPr/>
          </p:nvSpPr>
          <p:spPr>
            <a:xfrm>
              <a:off x="1017992" y="5556626"/>
              <a:ext cx="4018394" cy="737235"/>
            </a:xfrm>
            <a:prstGeom prst="rect">
              <a:avLst/>
            </a:prstGeom>
          </p:spPr>
          <p:txBody>
            <a:bodyPr wrap="square">
              <a:spAutoFit/>
            </a:bodyPr>
            <a:lstStyle/>
            <a:p>
              <a:pPr algn="just"/>
              <a:r>
                <a:rPr lang="en-US" altLang="zh-CN" sz="1400" dirty="0">
                  <a:solidFill>
                    <a:schemeClr val="tx1">
                      <a:lumMod val="60000"/>
                      <a:lumOff val="40000"/>
                    </a:schemeClr>
                  </a:solidFill>
                  <a:cs typeface="+mn-ea"/>
                  <a:sym typeface="+mn-lt"/>
                </a:rPr>
                <a:t>1.</a:t>
              </a:r>
              <a:r>
                <a:rPr lang="zh-CN" altLang="en-US" sz="1400" dirty="0">
                  <a:solidFill>
                    <a:schemeClr val="tx1">
                      <a:lumMod val="60000"/>
                      <a:lumOff val="40000"/>
                    </a:schemeClr>
                  </a:solidFill>
                  <a:cs typeface="+mn-ea"/>
                  <a:sym typeface="+mn-lt"/>
                </a:rPr>
                <a:t>库存总金额</a:t>
              </a:r>
              <a:r>
                <a:rPr lang="en-US" altLang="zh-CN" sz="1400" dirty="0">
                  <a:solidFill>
                    <a:schemeClr val="tx1">
                      <a:lumMod val="60000"/>
                      <a:lumOff val="40000"/>
                    </a:schemeClr>
                  </a:solidFill>
                  <a:cs typeface="+mn-ea"/>
                  <a:sym typeface="+mn-lt"/>
                </a:rPr>
                <a:t>/</a:t>
              </a:r>
              <a:r>
                <a:rPr lang="zh-CN" altLang="en-US" sz="1400" dirty="0">
                  <a:solidFill>
                    <a:schemeClr val="tx1">
                      <a:lumMod val="60000"/>
                      <a:lumOff val="40000"/>
                    </a:schemeClr>
                  </a:solidFill>
                  <a:cs typeface="+mn-ea"/>
                  <a:sym typeface="+mn-lt"/>
                </a:rPr>
                <a:t>销量总金额</a:t>
              </a:r>
              <a:r>
                <a:rPr lang="en-US" altLang="zh-CN" sz="1400" dirty="0">
                  <a:solidFill>
                    <a:schemeClr val="tx1">
                      <a:lumMod val="60000"/>
                      <a:lumOff val="40000"/>
                    </a:schemeClr>
                  </a:solidFill>
                  <a:cs typeface="+mn-ea"/>
                  <a:sym typeface="+mn-lt"/>
                </a:rPr>
                <a:t>=</a:t>
              </a:r>
              <a:r>
                <a:rPr lang="en-US" sz="1400" dirty="0">
                  <a:solidFill>
                    <a:schemeClr val="tx1">
                      <a:lumMod val="60000"/>
                      <a:lumOff val="40000"/>
                    </a:schemeClr>
                  </a:solidFill>
                  <a:cs typeface="+mn-ea"/>
                  <a:sym typeface="+mn-lt"/>
                </a:rPr>
                <a:t>0.5</a:t>
              </a:r>
              <a:endParaRPr lang="en-US" sz="1400" dirty="0">
                <a:solidFill>
                  <a:schemeClr val="tx1">
                    <a:lumMod val="60000"/>
                    <a:lumOff val="40000"/>
                  </a:schemeClr>
                </a:solidFill>
                <a:cs typeface="+mn-ea"/>
                <a:sym typeface="+mn-lt"/>
              </a:endParaRPr>
            </a:p>
            <a:p>
              <a:pPr algn="just"/>
              <a:r>
                <a:rPr lang="en-US" sz="1400" dirty="0">
                  <a:solidFill>
                    <a:schemeClr val="tx1">
                      <a:lumMod val="60000"/>
                      <a:lumOff val="40000"/>
                    </a:schemeClr>
                  </a:solidFill>
                  <a:cs typeface="+mn-ea"/>
                  <a:sym typeface="+mn-lt"/>
                </a:rPr>
                <a:t>2.</a:t>
              </a:r>
              <a:r>
                <a:rPr lang="zh-CN" altLang="en-US" sz="1400" dirty="0">
                  <a:solidFill>
                    <a:schemeClr val="tx1">
                      <a:lumMod val="60000"/>
                      <a:lumOff val="40000"/>
                    </a:schemeClr>
                  </a:solidFill>
                  <a:cs typeface="+mn-ea"/>
                  <a:sym typeface="+mn-lt"/>
                </a:rPr>
                <a:t>前期</a:t>
              </a:r>
              <a:r>
                <a:rPr lang="en-US" altLang="zh-CN" sz="1400" dirty="0">
                  <a:solidFill>
                    <a:schemeClr val="tx1">
                      <a:lumMod val="60000"/>
                      <a:lumOff val="40000"/>
                    </a:schemeClr>
                  </a:solidFill>
                  <a:cs typeface="+mn-ea"/>
                  <a:sym typeface="+mn-lt"/>
                </a:rPr>
                <a:t>40</a:t>
              </a:r>
              <a:r>
                <a:rPr lang="zh-CN" altLang="en-US" sz="1400" dirty="0">
                  <a:solidFill>
                    <a:schemeClr val="tx1">
                      <a:lumMod val="60000"/>
                      <a:lumOff val="40000"/>
                    </a:schemeClr>
                  </a:solidFill>
                  <a:cs typeface="+mn-ea"/>
                  <a:sym typeface="+mn-lt"/>
                </a:rPr>
                <a:t>万库存金额必须达到预期销售额，再继续放宽权限</a:t>
              </a:r>
              <a:endParaRPr lang="zh-CN" altLang="en-US" sz="1400" dirty="0">
                <a:solidFill>
                  <a:schemeClr val="tx1">
                    <a:lumMod val="60000"/>
                    <a:lumOff val="40000"/>
                  </a:schemeClr>
                </a:solidFill>
                <a:cs typeface="+mn-ea"/>
                <a:sym typeface="+mn-lt"/>
              </a:endParaRPr>
            </a:p>
          </p:txBody>
        </p:sp>
      </p:grpSp>
      <p:grpSp>
        <p:nvGrpSpPr>
          <p:cNvPr id="5" name="组合 4"/>
          <p:cNvGrpSpPr/>
          <p:nvPr/>
        </p:nvGrpSpPr>
        <p:grpSpPr>
          <a:xfrm>
            <a:off x="32425" y="3406372"/>
            <a:ext cx="4367487" cy="1272415"/>
            <a:chOff x="2950316" y="3141576"/>
            <a:chExt cx="4368056" cy="1272415"/>
          </a:xfrm>
        </p:grpSpPr>
        <p:sp>
          <p:nvSpPr>
            <p:cNvPr id="798" name="任意多边形 797"/>
            <p:cNvSpPr>
              <a:spLocks noChangeArrowheads="1"/>
            </p:cNvSpPr>
            <p:nvPr/>
          </p:nvSpPr>
          <p:spPr bwMode="auto">
            <a:xfrm>
              <a:off x="2950316" y="3167909"/>
              <a:ext cx="4368056" cy="1246082"/>
            </a:xfrm>
            <a:custGeom>
              <a:avLst/>
              <a:gdLst>
                <a:gd name="connsiteX0" fmla="*/ 0 w 4368056"/>
                <a:gd name="connsiteY0" fmla="*/ 0 h 1246082"/>
                <a:gd name="connsiteX1" fmla="*/ 4212297 w 4368056"/>
                <a:gd name="connsiteY1" fmla="*/ 0 h 1246082"/>
                <a:gd name="connsiteX2" fmla="*/ 4212297 w 4368056"/>
                <a:gd name="connsiteY2" fmla="*/ 467282 h 1246082"/>
                <a:gd name="connsiteX3" fmla="*/ 4368056 w 4368056"/>
                <a:gd name="connsiteY3" fmla="*/ 623041 h 1246082"/>
                <a:gd name="connsiteX4" fmla="*/ 4212297 w 4368056"/>
                <a:gd name="connsiteY4" fmla="*/ 778800 h 1246082"/>
                <a:gd name="connsiteX5" fmla="*/ 4212297 w 4368056"/>
                <a:gd name="connsiteY5" fmla="*/ 1246082 h 1246082"/>
                <a:gd name="connsiteX6" fmla="*/ 0 w 4368056"/>
                <a:gd name="connsiteY6" fmla="*/ 1246082 h 124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68056" h="1246082">
                  <a:moveTo>
                    <a:pt x="0" y="0"/>
                  </a:moveTo>
                  <a:lnTo>
                    <a:pt x="4212297" y="0"/>
                  </a:lnTo>
                  <a:lnTo>
                    <a:pt x="4212297" y="467282"/>
                  </a:lnTo>
                  <a:lnTo>
                    <a:pt x="4368056" y="623041"/>
                  </a:lnTo>
                  <a:lnTo>
                    <a:pt x="4212297" y="778800"/>
                  </a:lnTo>
                  <a:lnTo>
                    <a:pt x="4212297" y="1246082"/>
                  </a:lnTo>
                  <a:lnTo>
                    <a:pt x="0" y="1246082"/>
                  </a:lnTo>
                  <a:close/>
                </a:path>
              </a:pathLst>
            </a:custGeom>
            <a:solidFill>
              <a:schemeClr val="bg1">
                <a:lumMod val="95000"/>
              </a:schemeClr>
            </a:solidFill>
            <a:ln>
              <a:noFill/>
            </a:ln>
            <a:effectLst>
              <a:outerShdw blurRad="63500" sx="102000" sy="102000" algn="ctr" rotWithShape="0">
                <a:prstClr val="black">
                  <a:alpha val="40000"/>
                </a:prstClr>
              </a:outerShdw>
            </a:effectLst>
          </p:spPr>
          <p:txBody>
            <a:bodyPr vert="horz" wrap="square" lIns="91440" tIns="45720" rIns="91440" bIns="45720" numCol="1" anchor="t" anchorCtr="0" compatLnSpc="1">
              <a:noAutofit/>
            </a:bodyPr>
            <a:lstStyle/>
            <a:p>
              <a:endParaRPr lang="zh-CN" altLang="en-US">
                <a:cs typeface="+mn-ea"/>
                <a:sym typeface="+mn-lt"/>
              </a:endParaRPr>
            </a:p>
          </p:txBody>
        </p:sp>
        <p:sp>
          <p:nvSpPr>
            <p:cNvPr id="311" name="Rectangle 899"/>
            <p:cNvSpPr>
              <a:spLocks noChangeArrowheads="1"/>
            </p:cNvSpPr>
            <p:nvPr/>
          </p:nvSpPr>
          <p:spPr bwMode="auto">
            <a:xfrm>
              <a:off x="2950317" y="3167909"/>
              <a:ext cx="4212297" cy="311520"/>
            </a:xfrm>
            <a:prstGeom prst="rect">
              <a:avLst/>
            </a:prstGeom>
            <a:solidFill>
              <a:schemeClr val="accent3"/>
            </a:solidFill>
            <a:ln>
              <a:noFill/>
            </a:ln>
          </p:spPr>
          <p:txBody>
            <a:bodyPr vert="horz" wrap="square" lIns="91440" tIns="45720" rIns="91440" bIns="45720" numCol="1" anchor="t" anchorCtr="0" compatLnSpc="1"/>
            <a:lstStyle/>
            <a:p>
              <a:endParaRPr lang="zh-CN" altLang="en-US">
                <a:cs typeface="+mn-ea"/>
                <a:sym typeface="+mn-lt"/>
              </a:endParaRPr>
            </a:p>
          </p:txBody>
        </p:sp>
        <p:sp>
          <p:nvSpPr>
            <p:cNvPr id="803" name="矩形 802"/>
            <p:cNvSpPr/>
            <p:nvPr/>
          </p:nvSpPr>
          <p:spPr>
            <a:xfrm>
              <a:off x="6112658" y="3141576"/>
              <a:ext cx="894196" cy="370840"/>
            </a:xfrm>
            <a:prstGeom prst="rect">
              <a:avLst/>
            </a:prstGeom>
          </p:spPr>
          <p:txBody>
            <a:bodyPr wrap="none">
              <a:spAutoFit/>
            </a:bodyPr>
            <a:lstStyle/>
            <a:p>
              <a:pPr algn="r">
                <a:lnSpc>
                  <a:spcPct val="130000"/>
                </a:lnSpc>
              </a:pPr>
              <a:r>
                <a:rPr lang="zh-CN" altLang="en-US" sz="1400" b="1" dirty="0">
                  <a:solidFill>
                    <a:schemeClr val="bg1"/>
                  </a:solidFill>
                  <a:cs typeface="+mn-ea"/>
                  <a:sym typeface="+mn-lt"/>
                </a:rPr>
                <a:t>看似健康</a:t>
              </a:r>
              <a:endParaRPr lang="zh-CN" altLang="en-US" sz="1400" b="1" dirty="0">
                <a:solidFill>
                  <a:schemeClr val="bg1"/>
                </a:solidFill>
                <a:cs typeface="+mn-ea"/>
                <a:sym typeface="+mn-lt"/>
              </a:endParaRPr>
            </a:p>
          </p:txBody>
        </p:sp>
        <p:sp>
          <p:nvSpPr>
            <p:cNvPr id="804" name="矩形 803"/>
            <p:cNvSpPr/>
            <p:nvPr/>
          </p:nvSpPr>
          <p:spPr>
            <a:xfrm>
              <a:off x="3048248" y="3625579"/>
              <a:ext cx="4018394" cy="306705"/>
            </a:xfrm>
            <a:prstGeom prst="rect">
              <a:avLst/>
            </a:prstGeom>
          </p:spPr>
          <p:txBody>
            <a:bodyPr wrap="square">
              <a:spAutoFit/>
            </a:bodyPr>
            <a:lstStyle/>
            <a:p>
              <a:pPr algn="just"/>
              <a:r>
                <a:rPr lang="zh-CN" altLang="en-US" sz="1400" dirty="0">
                  <a:solidFill>
                    <a:schemeClr val="tx1">
                      <a:lumMod val="60000"/>
                      <a:lumOff val="40000"/>
                    </a:schemeClr>
                  </a:solidFill>
                  <a:cs typeface="+mn-ea"/>
                  <a:sym typeface="+mn-lt"/>
                </a:rPr>
                <a:t>库存总金额</a:t>
              </a:r>
              <a:r>
                <a:rPr lang="en-US" altLang="zh-CN" sz="1400" dirty="0">
                  <a:solidFill>
                    <a:schemeClr val="tx1">
                      <a:lumMod val="60000"/>
                      <a:lumOff val="40000"/>
                    </a:schemeClr>
                  </a:solidFill>
                  <a:cs typeface="+mn-ea"/>
                  <a:sym typeface="+mn-lt"/>
                </a:rPr>
                <a:t>/</a:t>
              </a:r>
              <a:r>
                <a:rPr lang="zh-CN" altLang="en-US" sz="1400" dirty="0">
                  <a:solidFill>
                    <a:schemeClr val="tx1">
                      <a:lumMod val="60000"/>
                      <a:lumOff val="40000"/>
                    </a:schemeClr>
                  </a:solidFill>
                  <a:cs typeface="+mn-ea"/>
                  <a:sym typeface="+mn-lt"/>
                </a:rPr>
                <a:t>销量总金额</a:t>
              </a:r>
              <a:r>
                <a:rPr lang="en-US" altLang="zh-CN" sz="1400" dirty="0">
                  <a:solidFill>
                    <a:schemeClr val="tx1">
                      <a:lumMod val="60000"/>
                      <a:lumOff val="40000"/>
                    </a:schemeClr>
                  </a:solidFill>
                  <a:cs typeface="+mn-ea"/>
                  <a:sym typeface="+mn-lt"/>
                </a:rPr>
                <a:t>=1.0</a:t>
              </a:r>
              <a:endParaRPr lang="zh-CN" altLang="en-US" sz="1400" dirty="0">
                <a:solidFill>
                  <a:schemeClr val="tx1">
                    <a:lumMod val="60000"/>
                    <a:lumOff val="40000"/>
                  </a:schemeClr>
                </a:solidFill>
                <a:cs typeface="+mn-ea"/>
                <a:sym typeface="+mn-lt"/>
              </a:endParaRPr>
            </a:p>
          </p:txBody>
        </p:sp>
      </p:grpSp>
      <p:sp>
        <p:nvSpPr>
          <p:cNvPr id="3" name="标题 2"/>
          <p:cNvSpPr>
            <a:spLocks noGrp="1"/>
          </p:cNvSpPr>
          <p:nvPr>
            <p:ph type="title"/>
          </p:nvPr>
        </p:nvSpPr>
        <p:spPr/>
        <p:txBody>
          <a:bodyPr>
            <a:normAutofit fontScale="90000"/>
          </a:bodyPr>
          <a:lstStyle/>
          <a:p>
            <a:r>
              <a:rPr lang="zh-CN" altLang="en-US" dirty="0">
                <a:sym typeface="+mn-lt"/>
              </a:rPr>
              <a:t>库销比</a:t>
            </a:r>
            <a:endParaRPr lang="zh-CN" altLang="en-US" dirty="0">
              <a:sym typeface="+mn-lt"/>
            </a:endParaRPr>
          </a:p>
        </p:txBody>
      </p:sp>
      <p:sp>
        <p:nvSpPr>
          <p:cNvPr id="2" name="矩形 1"/>
          <p:cNvSpPr/>
          <p:nvPr/>
        </p:nvSpPr>
        <p:spPr>
          <a:xfrm rot="1620000">
            <a:off x="7947978"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pic>
        <p:nvPicPr>
          <p:cNvPr id="9" name="图片 8"/>
          <p:cNvPicPr>
            <a:picLocks noChangeAspect="1"/>
          </p:cNvPicPr>
          <p:nvPr/>
        </p:nvPicPr>
        <p:blipFill>
          <a:blip r:embed="rId1"/>
          <a:stretch>
            <a:fillRect/>
          </a:stretch>
        </p:blipFill>
        <p:spPr>
          <a:xfrm>
            <a:off x="6297613" y="2496185"/>
            <a:ext cx="5715635" cy="4736465"/>
          </a:xfrm>
          <a:prstGeom prst="rect">
            <a:avLst/>
          </a:prstGeom>
        </p:spPr>
      </p:pic>
      <p:pic>
        <p:nvPicPr>
          <p:cNvPr id="11" name="图片 10" descr="1"/>
          <p:cNvPicPr>
            <a:picLocks noChangeAspect="1"/>
          </p:cNvPicPr>
          <p:nvPr/>
        </p:nvPicPr>
        <p:blipFill>
          <a:blip r:embed="rId2"/>
          <a:stretch>
            <a:fillRect/>
          </a:stretch>
        </p:blipFill>
        <p:spPr>
          <a:xfrm>
            <a:off x="6297613" y="1426845"/>
            <a:ext cx="5715000" cy="1069340"/>
          </a:xfrm>
          <a:prstGeom prst="rect">
            <a:avLst/>
          </a:prstGeom>
        </p:spPr>
      </p:pic>
      <p:grpSp>
        <p:nvGrpSpPr>
          <p:cNvPr id="34" name="组合 33"/>
          <p:cNvGrpSpPr/>
          <p:nvPr/>
        </p:nvGrpSpPr>
        <p:grpSpPr>
          <a:xfrm>
            <a:off x="1478275" y="1560831"/>
            <a:ext cx="3118186" cy="4991100"/>
            <a:chOff x="4511304" y="1295401"/>
            <a:chExt cx="3118592" cy="4991100"/>
          </a:xfrm>
        </p:grpSpPr>
        <p:sp>
          <p:nvSpPr>
            <p:cNvPr id="35" name="Rectangle 896"/>
            <p:cNvSpPr>
              <a:spLocks noChangeArrowheads="1"/>
            </p:cNvSpPr>
            <p:nvPr/>
          </p:nvSpPr>
          <p:spPr bwMode="auto">
            <a:xfrm>
              <a:off x="4511304" y="1295401"/>
              <a:ext cx="155760" cy="124608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cs typeface="+mn-ea"/>
                <a:sym typeface="+mn-lt"/>
              </a:endParaRPr>
            </a:p>
          </p:txBody>
        </p:sp>
        <p:sp>
          <p:nvSpPr>
            <p:cNvPr id="36" name="Rectangle 898"/>
            <p:cNvSpPr>
              <a:spLocks noChangeArrowheads="1"/>
            </p:cNvSpPr>
            <p:nvPr/>
          </p:nvSpPr>
          <p:spPr bwMode="auto">
            <a:xfrm>
              <a:off x="7474136" y="3167909"/>
              <a:ext cx="155760" cy="1246082"/>
            </a:xfrm>
            <a:prstGeom prst="rect">
              <a:avLst/>
            </a:prstGeom>
            <a:solidFill>
              <a:schemeClr val="accent3"/>
            </a:solidFill>
            <a:ln>
              <a:noFill/>
            </a:ln>
          </p:spPr>
          <p:txBody>
            <a:bodyPr vert="horz" wrap="square" lIns="91440" tIns="45720" rIns="91440" bIns="45720" numCol="1" anchor="t" anchorCtr="0" compatLnSpc="1"/>
            <a:p>
              <a:endParaRPr lang="zh-CN" altLang="en-US">
                <a:cs typeface="+mn-ea"/>
                <a:sym typeface="+mn-lt"/>
              </a:endParaRPr>
            </a:p>
          </p:txBody>
        </p:sp>
        <p:sp>
          <p:nvSpPr>
            <p:cNvPr id="37" name="Freeform 1059"/>
            <p:cNvSpPr/>
            <p:nvPr/>
          </p:nvSpPr>
          <p:spPr bwMode="auto">
            <a:xfrm>
              <a:off x="4650134" y="2541483"/>
              <a:ext cx="2840931" cy="626427"/>
            </a:xfrm>
            <a:custGeom>
              <a:avLst/>
              <a:gdLst>
                <a:gd name="T0" fmla="*/ 839 w 839"/>
                <a:gd name="T1" fmla="*/ 185 h 185"/>
                <a:gd name="T2" fmla="*/ 830 w 839"/>
                <a:gd name="T3" fmla="*/ 185 h 185"/>
                <a:gd name="T4" fmla="*/ 830 w 839"/>
                <a:gd name="T5" fmla="*/ 97 h 185"/>
                <a:gd name="T6" fmla="*/ 461 w 839"/>
                <a:gd name="T7" fmla="*/ 97 h 185"/>
                <a:gd name="T8" fmla="*/ 461 w 839"/>
                <a:gd name="T9" fmla="*/ 51 h 185"/>
                <a:gd name="T10" fmla="*/ 424 w 839"/>
                <a:gd name="T11" fmla="*/ 51 h 185"/>
                <a:gd name="T12" fmla="*/ 424 w 839"/>
                <a:gd name="T13" fmla="*/ 143 h 185"/>
                <a:gd name="T14" fmla="*/ 369 w 839"/>
                <a:gd name="T15" fmla="*/ 143 h 185"/>
                <a:gd name="T16" fmla="*/ 369 w 839"/>
                <a:gd name="T17" fmla="*/ 97 h 185"/>
                <a:gd name="T18" fmla="*/ 0 w 839"/>
                <a:gd name="T19" fmla="*/ 97 h 185"/>
                <a:gd name="T20" fmla="*/ 0 w 839"/>
                <a:gd name="T21" fmla="*/ 0 h 185"/>
                <a:gd name="T22" fmla="*/ 9 w 839"/>
                <a:gd name="T23" fmla="*/ 0 h 185"/>
                <a:gd name="T24" fmla="*/ 9 w 839"/>
                <a:gd name="T25" fmla="*/ 88 h 185"/>
                <a:gd name="T26" fmla="*/ 378 w 839"/>
                <a:gd name="T27" fmla="*/ 88 h 185"/>
                <a:gd name="T28" fmla="*/ 378 w 839"/>
                <a:gd name="T29" fmla="*/ 134 h 185"/>
                <a:gd name="T30" fmla="*/ 415 w 839"/>
                <a:gd name="T31" fmla="*/ 134 h 185"/>
                <a:gd name="T32" fmla="*/ 415 w 839"/>
                <a:gd name="T33" fmla="*/ 42 h 185"/>
                <a:gd name="T34" fmla="*/ 470 w 839"/>
                <a:gd name="T35" fmla="*/ 42 h 185"/>
                <a:gd name="T36" fmla="*/ 470 w 839"/>
                <a:gd name="T37" fmla="*/ 88 h 185"/>
                <a:gd name="T38" fmla="*/ 839 w 839"/>
                <a:gd name="T39" fmla="*/ 88 h 185"/>
                <a:gd name="T40" fmla="*/ 839 w 839"/>
                <a:gd name="T41"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39" h="185">
                  <a:moveTo>
                    <a:pt x="839" y="185"/>
                  </a:moveTo>
                  <a:lnTo>
                    <a:pt x="830" y="185"/>
                  </a:lnTo>
                  <a:lnTo>
                    <a:pt x="830" y="97"/>
                  </a:lnTo>
                  <a:lnTo>
                    <a:pt x="461" y="97"/>
                  </a:lnTo>
                  <a:lnTo>
                    <a:pt x="461" y="51"/>
                  </a:lnTo>
                  <a:lnTo>
                    <a:pt x="424" y="51"/>
                  </a:lnTo>
                  <a:lnTo>
                    <a:pt x="424" y="143"/>
                  </a:lnTo>
                  <a:lnTo>
                    <a:pt x="369" y="143"/>
                  </a:lnTo>
                  <a:lnTo>
                    <a:pt x="369" y="97"/>
                  </a:lnTo>
                  <a:lnTo>
                    <a:pt x="0" y="97"/>
                  </a:lnTo>
                  <a:lnTo>
                    <a:pt x="0" y="0"/>
                  </a:lnTo>
                  <a:lnTo>
                    <a:pt x="9" y="0"/>
                  </a:lnTo>
                  <a:lnTo>
                    <a:pt x="9" y="88"/>
                  </a:lnTo>
                  <a:lnTo>
                    <a:pt x="378" y="88"/>
                  </a:lnTo>
                  <a:lnTo>
                    <a:pt x="378" y="134"/>
                  </a:lnTo>
                  <a:lnTo>
                    <a:pt x="415" y="134"/>
                  </a:lnTo>
                  <a:lnTo>
                    <a:pt x="415" y="42"/>
                  </a:lnTo>
                  <a:lnTo>
                    <a:pt x="470" y="42"/>
                  </a:lnTo>
                  <a:lnTo>
                    <a:pt x="470" y="88"/>
                  </a:lnTo>
                  <a:lnTo>
                    <a:pt x="839" y="88"/>
                  </a:lnTo>
                  <a:lnTo>
                    <a:pt x="839" y="185"/>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cs typeface="+mn-ea"/>
                <a:sym typeface="+mn-lt"/>
              </a:endParaRPr>
            </a:p>
          </p:txBody>
        </p:sp>
        <p:sp>
          <p:nvSpPr>
            <p:cNvPr id="38" name="Freeform 1060"/>
            <p:cNvSpPr/>
            <p:nvPr/>
          </p:nvSpPr>
          <p:spPr bwMode="auto">
            <a:xfrm>
              <a:off x="4650134" y="4413992"/>
              <a:ext cx="2840931" cy="626427"/>
            </a:xfrm>
            <a:custGeom>
              <a:avLst/>
              <a:gdLst>
                <a:gd name="T0" fmla="*/ 9 w 839"/>
                <a:gd name="T1" fmla="*/ 185 h 185"/>
                <a:gd name="T2" fmla="*/ 0 w 839"/>
                <a:gd name="T3" fmla="*/ 185 h 185"/>
                <a:gd name="T4" fmla="*/ 0 w 839"/>
                <a:gd name="T5" fmla="*/ 88 h 185"/>
                <a:gd name="T6" fmla="*/ 369 w 839"/>
                <a:gd name="T7" fmla="*/ 88 h 185"/>
                <a:gd name="T8" fmla="*/ 369 w 839"/>
                <a:gd name="T9" fmla="*/ 42 h 185"/>
                <a:gd name="T10" fmla="*/ 424 w 839"/>
                <a:gd name="T11" fmla="*/ 42 h 185"/>
                <a:gd name="T12" fmla="*/ 424 w 839"/>
                <a:gd name="T13" fmla="*/ 134 h 185"/>
                <a:gd name="T14" fmla="*/ 461 w 839"/>
                <a:gd name="T15" fmla="*/ 134 h 185"/>
                <a:gd name="T16" fmla="*/ 461 w 839"/>
                <a:gd name="T17" fmla="*/ 88 h 185"/>
                <a:gd name="T18" fmla="*/ 830 w 839"/>
                <a:gd name="T19" fmla="*/ 88 h 185"/>
                <a:gd name="T20" fmla="*/ 830 w 839"/>
                <a:gd name="T21" fmla="*/ 0 h 185"/>
                <a:gd name="T22" fmla="*/ 839 w 839"/>
                <a:gd name="T23" fmla="*/ 0 h 185"/>
                <a:gd name="T24" fmla="*/ 839 w 839"/>
                <a:gd name="T25" fmla="*/ 97 h 185"/>
                <a:gd name="T26" fmla="*/ 470 w 839"/>
                <a:gd name="T27" fmla="*/ 97 h 185"/>
                <a:gd name="T28" fmla="*/ 470 w 839"/>
                <a:gd name="T29" fmla="*/ 143 h 185"/>
                <a:gd name="T30" fmla="*/ 415 w 839"/>
                <a:gd name="T31" fmla="*/ 143 h 185"/>
                <a:gd name="T32" fmla="*/ 415 w 839"/>
                <a:gd name="T33" fmla="*/ 51 h 185"/>
                <a:gd name="T34" fmla="*/ 378 w 839"/>
                <a:gd name="T35" fmla="*/ 51 h 185"/>
                <a:gd name="T36" fmla="*/ 378 w 839"/>
                <a:gd name="T37" fmla="*/ 97 h 185"/>
                <a:gd name="T38" fmla="*/ 9 w 839"/>
                <a:gd name="T39" fmla="*/ 97 h 185"/>
                <a:gd name="T40" fmla="*/ 9 w 839"/>
                <a:gd name="T41"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39" h="185">
                  <a:moveTo>
                    <a:pt x="9" y="185"/>
                  </a:moveTo>
                  <a:lnTo>
                    <a:pt x="0" y="185"/>
                  </a:lnTo>
                  <a:lnTo>
                    <a:pt x="0" y="88"/>
                  </a:lnTo>
                  <a:lnTo>
                    <a:pt x="369" y="88"/>
                  </a:lnTo>
                  <a:lnTo>
                    <a:pt x="369" y="42"/>
                  </a:lnTo>
                  <a:lnTo>
                    <a:pt x="424" y="42"/>
                  </a:lnTo>
                  <a:lnTo>
                    <a:pt x="424" y="134"/>
                  </a:lnTo>
                  <a:lnTo>
                    <a:pt x="461" y="134"/>
                  </a:lnTo>
                  <a:lnTo>
                    <a:pt x="461" y="88"/>
                  </a:lnTo>
                  <a:lnTo>
                    <a:pt x="830" y="88"/>
                  </a:lnTo>
                  <a:lnTo>
                    <a:pt x="830" y="0"/>
                  </a:lnTo>
                  <a:lnTo>
                    <a:pt x="839" y="0"/>
                  </a:lnTo>
                  <a:lnTo>
                    <a:pt x="839" y="97"/>
                  </a:lnTo>
                  <a:lnTo>
                    <a:pt x="470" y="97"/>
                  </a:lnTo>
                  <a:lnTo>
                    <a:pt x="470" y="143"/>
                  </a:lnTo>
                  <a:lnTo>
                    <a:pt x="415" y="143"/>
                  </a:lnTo>
                  <a:lnTo>
                    <a:pt x="415" y="51"/>
                  </a:lnTo>
                  <a:lnTo>
                    <a:pt x="378" y="51"/>
                  </a:lnTo>
                  <a:lnTo>
                    <a:pt x="378" y="97"/>
                  </a:lnTo>
                  <a:lnTo>
                    <a:pt x="9" y="97"/>
                  </a:lnTo>
                  <a:lnTo>
                    <a:pt x="9" y="185"/>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cs typeface="+mn-ea"/>
                <a:sym typeface="+mn-lt"/>
              </a:endParaRPr>
            </a:p>
          </p:txBody>
        </p:sp>
        <p:sp>
          <p:nvSpPr>
            <p:cNvPr id="39" name="Rectangle 1061"/>
            <p:cNvSpPr>
              <a:spLocks noChangeArrowheads="1"/>
            </p:cNvSpPr>
            <p:nvPr/>
          </p:nvSpPr>
          <p:spPr bwMode="auto">
            <a:xfrm>
              <a:off x="4588423" y="5040419"/>
              <a:ext cx="155760" cy="1246082"/>
            </a:xfrm>
            <a:prstGeom prst="rect">
              <a:avLst/>
            </a:prstGeom>
            <a:solidFill>
              <a:schemeClr val="accent4"/>
            </a:solidFill>
            <a:ln>
              <a:noFill/>
            </a:ln>
          </p:spPr>
          <p:txBody>
            <a:bodyPr vert="horz" wrap="square" lIns="91440" tIns="45720" rIns="91440" bIns="45720" numCol="1" anchor="t" anchorCtr="0" compatLnSpc="1"/>
            <a:p>
              <a:endParaRPr lang="zh-CN" altLang="en-US">
                <a:cs typeface="+mn-ea"/>
                <a:sym typeface="+mn-lt"/>
              </a:endParaRPr>
            </a:p>
          </p:txBody>
        </p:sp>
      </p:grpSp>
      <p:sp>
        <p:nvSpPr>
          <p:cNvPr id="46" name="矩形 45"/>
          <p:cNvSpPr/>
          <p:nvPr/>
        </p:nvSpPr>
        <p:spPr>
          <a:xfrm>
            <a:off x="1942084" y="5141300"/>
            <a:ext cx="716280" cy="370840"/>
          </a:xfrm>
          <a:prstGeom prst="rect">
            <a:avLst/>
          </a:prstGeom>
        </p:spPr>
        <p:txBody>
          <a:bodyPr wrap="none">
            <a:spAutoFit/>
          </a:bodyPr>
          <a:p>
            <a:pPr>
              <a:lnSpc>
                <a:spcPct val="130000"/>
              </a:lnSpc>
            </a:pPr>
            <a:r>
              <a:rPr lang="zh-CN" altLang="en-US" sz="1400" b="1" dirty="0">
                <a:solidFill>
                  <a:schemeClr val="bg1"/>
                </a:solidFill>
                <a:cs typeface="+mn-ea"/>
                <a:sym typeface="+mn-lt"/>
              </a:rPr>
              <a:t>限制点</a:t>
            </a:r>
            <a:endParaRPr lang="zh-CN" altLang="en-US" sz="1400" b="1"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20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4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1+#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2" presetClass="entr" presetSubtype="1"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up)">
                                      <p:cBhvr>
                                        <p:cTn id="1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椭圆 7"/>
          <p:cNvSpPr/>
          <p:nvPr/>
        </p:nvSpPr>
        <p:spPr>
          <a:xfrm>
            <a:off x="3441873" y="3440071"/>
            <a:ext cx="5140769" cy="1208639"/>
          </a:xfrm>
          <a:custGeom>
            <a:avLst/>
            <a:gdLst>
              <a:gd name="connsiteX0" fmla="*/ 5141438 w 5232878"/>
              <a:gd name="connsiteY0" fmla="*/ 0 h 1208638"/>
              <a:gd name="connsiteX1" fmla="*/ 2570719 w 5232878"/>
              <a:gd name="connsiteY1" fmla="*/ 1208638 h 1208638"/>
              <a:gd name="connsiteX2" fmla="*/ 0 w 5232878"/>
              <a:gd name="connsiteY2" fmla="*/ 0 h 1208638"/>
              <a:gd name="connsiteX3" fmla="*/ 5232878 w 5232878"/>
              <a:gd name="connsiteY3" fmla="*/ 91440 h 1208638"/>
              <a:gd name="connsiteX0-1" fmla="*/ 5141438 w 5141438"/>
              <a:gd name="connsiteY0-2" fmla="*/ 0 h 1208638"/>
              <a:gd name="connsiteX1-3" fmla="*/ 2570719 w 5141438"/>
              <a:gd name="connsiteY1-4" fmla="*/ 1208638 h 1208638"/>
              <a:gd name="connsiteX2-5" fmla="*/ 0 w 5141438"/>
              <a:gd name="connsiteY2-6" fmla="*/ 0 h 1208638"/>
            </a:gdLst>
            <a:ahLst/>
            <a:cxnLst>
              <a:cxn ang="0">
                <a:pos x="connsiteX0-1" y="connsiteY0-2"/>
              </a:cxn>
              <a:cxn ang="0">
                <a:pos x="connsiteX1-3" y="connsiteY1-4"/>
              </a:cxn>
              <a:cxn ang="0">
                <a:pos x="connsiteX2-5" y="connsiteY2-6"/>
              </a:cxn>
            </a:cxnLst>
            <a:rect l="l" t="t" r="r" b="b"/>
            <a:pathLst>
              <a:path w="5141438" h="1208638">
                <a:moveTo>
                  <a:pt x="5141438" y="0"/>
                </a:moveTo>
                <a:cubicBezTo>
                  <a:pt x="4741027" y="708082"/>
                  <a:pt x="3740838" y="1208638"/>
                  <a:pt x="2570719" y="1208638"/>
                </a:cubicBezTo>
                <a:cubicBezTo>
                  <a:pt x="1400600" y="1208638"/>
                  <a:pt x="400411" y="708082"/>
                  <a:pt x="0" y="0"/>
                </a:cubicBezTo>
              </a:path>
            </a:pathLst>
          </a:custGeom>
          <a:noFill/>
          <a:ln w="19050">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cxnSp>
        <p:nvCxnSpPr>
          <p:cNvPr id="57" name="直接连接符 56"/>
          <p:cNvCxnSpPr>
            <a:endCxn id="56" idx="1"/>
          </p:cNvCxnSpPr>
          <p:nvPr/>
        </p:nvCxnSpPr>
        <p:spPr>
          <a:xfrm>
            <a:off x="6008567" y="2841137"/>
            <a:ext cx="3690" cy="1807573"/>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8" name="TextBox 40"/>
          <p:cNvSpPr txBox="1"/>
          <p:nvPr/>
        </p:nvSpPr>
        <p:spPr>
          <a:xfrm>
            <a:off x="1747581" y="3946871"/>
            <a:ext cx="1943963" cy="551815"/>
          </a:xfrm>
          <a:prstGeom prst="rect">
            <a:avLst/>
          </a:prstGeom>
          <a:noFill/>
        </p:spPr>
        <p:txBody>
          <a:bodyPr wrap="square" lIns="91431" tIns="45715" rIns="91431" bIns="4571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Bef>
                <a:spcPts val="1000"/>
              </a:spcBef>
            </a:pPr>
            <a:r>
              <a:rPr lang="zh-CN" altLang="en-US" sz="2000" b="1" kern="0" noProof="1">
                <a:solidFill>
                  <a:schemeClr val="tx1">
                    <a:lumMod val="50000"/>
                    <a:lumOff val="50000"/>
                  </a:schemeClr>
                </a:solidFill>
              </a:rPr>
              <a:t>确认产品</a:t>
            </a:r>
            <a:endParaRPr lang="zh-CN" altLang="en-US" sz="2000" b="1" dirty="0">
              <a:solidFill>
                <a:srgbClr val="7F7F7F"/>
              </a:solidFill>
              <a:latin typeface="微软雅黑" panose="020B0503020204020204" charset="-122"/>
              <a:cs typeface="宋体" panose="02010600030101010101" pitchFamily="2" charset="-122"/>
            </a:endParaRPr>
          </a:p>
        </p:txBody>
      </p:sp>
      <p:grpSp>
        <p:nvGrpSpPr>
          <p:cNvPr id="87" name="组合 86"/>
          <p:cNvGrpSpPr/>
          <p:nvPr/>
        </p:nvGrpSpPr>
        <p:grpSpPr>
          <a:xfrm>
            <a:off x="4962167" y="1121393"/>
            <a:ext cx="2084243" cy="2084515"/>
            <a:chOff x="2848131" y="1860029"/>
            <a:chExt cx="3807502" cy="3807502"/>
          </a:xfrm>
        </p:grpSpPr>
        <p:grpSp>
          <p:nvGrpSpPr>
            <p:cNvPr id="88" name="组合 87"/>
            <p:cNvGrpSpPr/>
            <p:nvPr/>
          </p:nvGrpSpPr>
          <p:grpSpPr>
            <a:xfrm>
              <a:off x="2848131" y="1860029"/>
              <a:ext cx="3807502" cy="3807502"/>
              <a:chOff x="2848131" y="1860029"/>
              <a:chExt cx="3807502" cy="3807502"/>
            </a:xfrm>
          </p:grpSpPr>
          <p:sp>
            <p:nvSpPr>
              <p:cNvPr id="96" name="椭圆 95"/>
              <p:cNvSpPr/>
              <p:nvPr/>
            </p:nvSpPr>
            <p:spPr>
              <a:xfrm>
                <a:off x="2848131" y="1860029"/>
                <a:ext cx="3807502" cy="3807502"/>
              </a:xfrm>
              <a:prstGeom prst="ellipse">
                <a:avLst/>
              </a:prstGeom>
              <a:gradFill flip="none" rotWithShape="1">
                <a:gsLst>
                  <a:gs pos="0">
                    <a:schemeClr val="bg1"/>
                  </a:gs>
                  <a:gs pos="100000">
                    <a:srgbClr val="E0E0E0"/>
                  </a:gs>
                </a:gsLst>
                <a:lin ang="5400000" scaled="1"/>
                <a:tileRect/>
              </a:gradFill>
              <a:ln>
                <a:no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a:off x="2936824" y="1948722"/>
                <a:ext cx="3630118" cy="3630118"/>
              </a:xfrm>
              <a:prstGeom prst="ellipse">
                <a:avLst/>
              </a:prstGeom>
              <a:gradFill flip="none" rotWithShape="1">
                <a:gsLst>
                  <a:gs pos="0">
                    <a:schemeClr val="bg1"/>
                  </a:gs>
                  <a:gs pos="100000">
                    <a:srgbClr val="DDDEDD"/>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2" name="文本框 91"/>
            <p:cNvSpPr txBox="1"/>
            <p:nvPr/>
          </p:nvSpPr>
          <p:spPr>
            <a:xfrm>
              <a:off x="3707822" y="3335068"/>
              <a:ext cx="2103116" cy="953412"/>
            </a:xfrm>
            <a:prstGeom prst="rect">
              <a:avLst/>
            </a:prstGeom>
            <a:noFill/>
          </p:spPr>
          <p:txBody>
            <a:bodyPr wrap="none" rtlCol="0">
              <a:spAutoFit/>
            </a:bodyPr>
            <a:lstStyle/>
            <a:p>
              <a:pPr algn="ctr"/>
              <a:r>
                <a:rPr lang="en-US" altLang="zh-CN" sz="2800" b="1">
                  <a:sym typeface="+mn-ea"/>
                </a:rPr>
                <a:t>Order</a:t>
              </a:r>
              <a:endParaRPr lang="en-US" altLang="zh-CN" sz="2800" dirty="0">
                <a:solidFill>
                  <a:schemeClr val="tx2"/>
                </a:solidFill>
              </a:endParaRPr>
            </a:p>
          </p:txBody>
        </p:sp>
      </p:grpSp>
      <p:grpSp>
        <p:nvGrpSpPr>
          <p:cNvPr id="8" name="组合 7"/>
          <p:cNvGrpSpPr/>
          <p:nvPr/>
        </p:nvGrpSpPr>
        <p:grpSpPr>
          <a:xfrm>
            <a:off x="2800879" y="2874508"/>
            <a:ext cx="1075004" cy="1075144"/>
            <a:chOff x="2800449" y="3260788"/>
            <a:chExt cx="1075144" cy="1075144"/>
          </a:xfrm>
        </p:grpSpPr>
        <p:grpSp>
          <p:nvGrpSpPr>
            <p:cNvPr id="59" name="组合 58"/>
            <p:cNvGrpSpPr/>
            <p:nvPr/>
          </p:nvGrpSpPr>
          <p:grpSpPr>
            <a:xfrm>
              <a:off x="2800449" y="3260788"/>
              <a:ext cx="1075144" cy="1075144"/>
              <a:chOff x="3724322" y="1908536"/>
              <a:chExt cx="1329153" cy="1329153"/>
            </a:xfrm>
          </p:grpSpPr>
          <p:sp>
            <p:nvSpPr>
              <p:cNvPr id="81" name="椭圆 80"/>
              <p:cNvSpPr/>
              <p:nvPr/>
            </p:nvSpPr>
            <p:spPr>
              <a:xfrm>
                <a:off x="3724322"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2" name="椭圆 81"/>
              <p:cNvSpPr/>
              <p:nvPr/>
            </p:nvSpPr>
            <p:spPr>
              <a:xfrm>
                <a:off x="3839838" y="2024052"/>
                <a:ext cx="1098122" cy="1098122"/>
              </a:xfrm>
              <a:prstGeom prst="ellipse">
                <a:avLst/>
              </a:prstGeom>
              <a:solidFill>
                <a:schemeClr val="accent1"/>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sp>
          <p:nvSpPr>
            <p:cNvPr id="105" name="Freeform 12"/>
            <p:cNvSpPr>
              <a:spLocks noEditPoints="1"/>
            </p:cNvSpPr>
            <p:nvPr/>
          </p:nvSpPr>
          <p:spPr bwMode="black">
            <a:xfrm>
              <a:off x="3115247" y="3529914"/>
              <a:ext cx="450199" cy="498101"/>
            </a:xfrm>
            <a:custGeom>
              <a:avLst/>
              <a:gdLst>
                <a:gd name="T0" fmla="*/ 709 w 709"/>
                <a:gd name="T1" fmla="*/ 570 h 709"/>
                <a:gd name="T2" fmla="*/ 373 w 709"/>
                <a:gd name="T3" fmla="*/ 709 h 709"/>
                <a:gd name="T4" fmla="*/ 373 w 709"/>
                <a:gd name="T5" fmla="*/ 294 h 709"/>
                <a:gd name="T6" fmla="*/ 709 w 709"/>
                <a:gd name="T7" fmla="*/ 154 h 709"/>
                <a:gd name="T8" fmla="*/ 709 w 709"/>
                <a:gd name="T9" fmla="*/ 570 h 709"/>
                <a:gd name="T10" fmla="*/ 335 w 709"/>
                <a:gd name="T11" fmla="*/ 294 h 709"/>
                <a:gd name="T12" fmla="*/ 0 w 709"/>
                <a:gd name="T13" fmla="*/ 154 h 709"/>
                <a:gd name="T14" fmla="*/ 0 w 709"/>
                <a:gd name="T15" fmla="*/ 570 h 709"/>
                <a:gd name="T16" fmla="*/ 335 w 709"/>
                <a:gd name="T17" fmla="*/ 709 h 709"/>
                <a:gd name="T18" fmla="*/ 335 w 709"/>
                <a:gd name="T19" fmla="*/ 294 h 709"/>
                <a:gd name="T20" fmla="*/ 354 w 709"/>
                <a:gd name="T21" fmla="*/ 0 h 709"/>
                <a:gd name="T22" fmla="*/ 0 w 709"/>
                <a:gd name="T23" fmla="*/ 126 h 709"/>
                <a:gd name="T24" fmla="*/ 354 w 709"/>
                <a:gd name="T25" fmla="*/ 268 h 709"/>
                <a:gd name="T26" fmla="*/ 709 w 709"/>
                <a:gd name="T27" fmla="*/ 126 h 709"/>
                <a:gd name="T28" fmla="*/ 354 w 709"/>
                <a:gd name="T29" fmla="*/ 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9" h="709">
                  <a:moveTo>
                    <a:pt x="709" y="570"/>
                  </a:moveTo>
                  <a:lnTo>
                    <a:pt x="373" y="709"/>
                  </a:lnTo>
                  <a:lnTo>
                    <a:pt x="373" y="294"/>
                  </a:lnTo>
                  <a:lnTo>
                    <a:pt x="709" y="154"/>
                  </a:lnTo>
                  <a:lnTo>
                    <a:pt x="709" y="570"/>
                  </a:lnTo>
                  <a:close/>
                  <a:moveTo>
                    <a:pt x="335" y="294"/>
                  </a:moveTo>
                  <a:lnTo>
                    <a:pt x="0" y="154"/>
                  </a:lnTo>
                  <a:lnTo>
                    <a:pt x="0" y="570"/>
                  </a:lnTo>
                  <a:lnTo>
                    <a:pt x="335" y="709"/>
                  </a:lnTo>
                  <a:lnTo>
                    <a:pt x="335" y="294"/>
                  </a:lnTo>
                  <a:close/>
                  <a:moveTo>
                    <a:pt x="354" y="0"/>
                  </a:moveTo>
                  <a:lnTo>
                    <a:pt x="0" y="126"/>
                  </a:lnTo>
                  <a:lnTo>
                    <a:pt x="354" y="268"/>
                  </a:lnTo>
                  <a:lnTo>
                    <a:pt x="709" y="126"/>
                  </a:lnTo>
                  <a:lnTo>
                    <a:pt x="354" y="0"/>
                  </a:lnTo>
                  <a:close/>
                </a:path>
              </a:pathLst>
            </a:custGeom>
            <a:solidFill>
              <a:srgbClr val="FFFFFF"/>
            </a:solidFill>
            <a:ln>
              <a:noFill/>
            </a:ln>
          </p:spPr>
          <p:txBody>
            <a:bodyPr vert="horz" wrap="square" lIns="82305" tIns="41153" rIns="82305" bIns="41153" numCol="1" anchor="t" anchorCtr="0" compatLnSpc="1"/>
            <a:lst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065"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765" algn="l" defTabSz="685165" rtl="0" eaLnBrk="1" latinLnBrk="0" hangingPunct="1">
                <a:defRPr sz="1400" kern="1200">
                  <a:solidFill>
                    <a:schemeClr val="tx1"/>
                  </a:solidFill>
                  <a:latin typeface="+mn-lt"/>
                  <a:ea typeface="+mn-ea"/>
                  <a:cs typeface="+mn-cs"/>
                </a:defRPr>
              </a:lvl7pPr>
              <a:lvl8pPr marL="2399030" algn="l" defTabSz="685165" rtl="0" eaLnBrk="1" latinLnBrk="0" hangingPunct="1">
                <a:defRPr sz="1400" kern="1200">
                  <a:solidFill>
                    <a:schemeClr val="tx1"/>
                  </a:solidFill>
                  <a:latin typeface="+mn-lt"/>
                  <a:ea typeface="+mn-ea"/>
                  <a:cs typeface="+mn-cs"/>
                </a:defRPr>
              </a:lvl8pPr>
              <a:lvl9pPr marL="2741930" algn="l" defTabSz="685165" rtl="0" eaLnBrk="1" latinLnBrk="0" hangingPunct="1">
                <a:defRPr sz="1400" kern="1200">
                  <a:solidFill>
                    <a:schemeClr val="tx1"/>
                  </a:solidFill>
                  <a:latin typeface="+mn-lt"/>
                  <a:ea typeface="+mn-ea"/>
                  <a:cs typeface="+mn-cs"/>
                </a:defRPr>
              </a:lvl9pPr>
            </a:lstStyle>
            <a:p>
              <a:endParaRPr lang="en-US" sz="2400"/>
            </a:p>
          </p:txBody>
        </p:sp>
      </p:grpSp>
      <p:grpSp>
        <p:nvGrpSpPr>
          <p:cNvPr id="9" name="组合 8"/>
          <p:cNvGrpSpPr/>
          <p:nvPr/>
        </p:nvGrpSpPr>
        <p:grpSpPr>
          <a:xfrm>
            <a:off x="4279244" y="3757881"/>
            <a:ext cx="1075004" cy="1075144"/>
            <a:chOff x="4279007" y="4144161"/>
            <a:chExt cx="1075144" cy="1075144"/>
          </a:xfrm>
        </p:grpSpPr>
        <p:grpSp>
          <p:nvGrpSpPr>
            <p:cNvPr id="111" name="组合 110"/>
            <p:cNvGrpSpPr/>
            <p:nvPr/>
          </p:nvGrpSpPr>
          <p:grpSpPr>
            <a:xfrm>
              <a:off x="4279007" y="4144161"/>
              <a:ext cx="1075144" cy="1075144"/>
              <a:chOff x="3724322" y="1908536"/>
              <a:chExt cx="1329153" cy="1329153"/>
            </a:xfrm>
          </p:grpSpPr>
          <p:sp>
            <p:nvSpPr>
              <p:cNvPr id="113" name="椭圆 112"/>
              <p:cNvSpPr/>
              <p:nvPr/>
            </p:nvSpPr>
            <p:spPr>
              <a:xfrm>
                <a:off x="3724322"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4" name="椭圆 113"/>
              <p:cNvSpPr/>
              <p:nvPr/>
            </p:nvSpPr>
            <p:spPr>
              <a:xfrm>
                <a:off x="3839838" y="2024052"/>
                <a:ext cx="1098122" cy="1098122"/>
              </a:xfrm>
              <a:prstGeom prst="ellipse">
                <a:avLst/>
              </a:prstGeom>
              <a:solidFill>
                <a:schemeClr val="accent2"/>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pic>
          <p:nvPicPr>
            <p:cNvPr id="115" name="Picture 5" descr="C:\Users\Jonahs\Dropbox\Projects SCOTT\MEET Windows Azure\source\Background\tile-icon-CDN.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503176" y="4333642"/>
              <a:ext cx="638782" cy="63861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组合 12"/>
          <p:cNvGrpSpPr/>
          <p:nvPr/>
        </p:nvGrpSpPr>
        <p:grpSpPr>
          <a:xfrm>
            <a:off x="6517570" y="3849245"/>
            <a:ext cx="1075004" cy="1075144"/>
            <a:chOff x="6517624" y="4235525"/>
            <a:chExt cx="1075144" cy="1075144"/>
          </a:xfrm>
        </p:grpSpPr>
        <p:grpSp>
          <p:nvGrpSpPr>
            <p:cNvPr id="118" name="组合 117"/>
            <p:cNvGrpSpPr/>
            <p:nvPr/>
          </p:nvGrpSpPr>
          <p:grpSpPr>
            <a:xfrm>
              <a:off x="6517624" y="4235525"/>
              <a:ext cx="1075144" cy="1075144"/>
              <a:chOff x="3724322" y="1908536"/>
              <a:chExt cx="1329153" cy="1329153"/>
            </a:xfrm>
          </p:grpSpPr>
          <p:sp>
            <p:nvSpPr>
              <p:cNvPr id="120" name="椭圆 119"/>
              <p:cNvSpPr/>
              <p:nvPr/>
            </p:nvSpPr>
            <p:spPr>
              <a:xfrm>
                <a:off x="3724322"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1" name="椭圆 120"/>
              <p:cNvSpPr/>
              <p:nvPr/>
            </p:nvSpPr>
            <p:spPr>
              <a:xfrm>
                <a:off x="3839838" y="2039752"/>
                <a:ext cx="1098122" cy="1098122"/>
              </a:xfrm>
              <a:prstGeom prst="ellipse">
                <a:avLst/>
              </a:prstGeom>
              <a:solidFill>
                <a:schemeClr val="accent3"/>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pic>
          <p:nvPicPr>
            <p:cNvPr id="122" name="Picture 10" descr="C:\Users\Jonahs\Dropbox\Projects SCOTT\MEET Windows Azure\source\Background\tile-icon-network.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31404" y="4453789"/>
              <a:ext cx="638782" cy="63861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组合 13"/>
          <p:cNvGrpSpPr/>
          <p:nvPr/>
        </p:nvGrpSpPr>
        <p:grpSpPr>
          <a:xfrm>
            <a:off x="8045139" y="2874508"/>
            <a:ext cx="1075004" cy="1075144"/>
            <a:chOff x="8045392" y="3260788"/>
            <a:chExt cx="1075144" cy="1075144"/>
          </a:xfrm>
        </p:grpSpPr>
        <p:grpSp>
          <p:nvGrpSpPr>
            <p:cNvPr id="164" name="组合 163"/>
            <p:cNvGrpSpPr/>
            <p:nvPr/>
          </p:nvGrpSpPr>
          <p:grpSpPr>
            <a:xfrm>
              <a:off x="8045392" y="3260788"/>
              <a:ext cx="1075144" cy="1075144"/>
              <a:chOff x="3724322" y="1908536"/>
              <a:chExt cx="1329153" cy="1329153"/>
            </a:xfrm>
          </p:grpSpPr>
          <p:sp>
            <p:nvSpPr>
              <p:cNvPr id="166" name="椭圆 165"/>
              <p:cNvSpPr/>
              <p:nvPr/>
            </p:nvSpPr>
            <p:spPr>
              <a:xfrm>
                <a:off x="3724322"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7" name="椭圆 166"/>
              <p:cNvSpPr/>
              <p:nvPr/>
            </p:nvSpPr>
            <p:spPr>
              <a:xfrm>
                <a:off x="3839838" y="2024052"/>
                <a:ext cx="1098122" cy="1098122"/>
              </a:xfrm>
              <a:prstGeom prst="ellipse">
                <a:avLst/>
              </a:prstGeom>
              <a:solidFill>
                <a:schemeClr val="accent4"/>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sp>
          <p:nvSpPr>
            <p:cNvPr id="169" name="Freeform 45"/>
            <p:cNvSpPr>
              <a:spLocks noEditPoints="1"/>
            </p:cNvSpPr>
            <p:nvPr/>
          </p:nvSpPr>
          <p:spPr bwMode="black">
            <a:xfrm>
              <a:off x="8341545" y="3499152"/>
              <a:ext cx="470167" cy="507079"/>
            </a:xfrm>
            <a:custGeom>
              <a:avLst/>
              <a:gdLst>
                <a:gd name="T0" fmla="*/ 135 w 140"/>
                <a:gd name="T1" fmla="*/ 85 h 151"/>
                <a:gd name="T2" fmla="*/ 140 w 140"/>
                <a:gd name="T3" fmla="*/ 96 h 151"/>
                <a:gd name="T4" fmla="*/ 134 w 140"/>
                <a:gd name="T5" fmla="*/ 106 h 151"/>
                <a:gd name="T6" fmla="*/ 137 w 140"/>
                <a:gd name="T7" fmla="*/ 117 h 151"/>
                <a:gd name="T8" fmla="*/ 129 w 140"/>
                <a:gd name="T9" fmla="*/ 128 h 151"/>
                <a:gd name="T10" fmla="*/ 128 w 140"/>
                <a:gd name="T11" fmla="*/ 137 h 151"/>
                <a:gd name="T12" fmla="*/ 116 w 140"/>
                <a:gd name="T13" fmla="*/ 148 h 151"/>
                <a:gd name="T14" fmla="*/ 65 w 140"/>
                <a:gd name="T15" fmla="*/ 148 h 151"/>
                <a:gd name="T16" fmla="*/ 33 w 140"/>
                <a:gd name="T17" fmla="*/ 142 h 151"/>
                <a:gd name="T18" fmla="*/ 33 w 140"/>
                <a:gd name="T19" fmla="*/ 82 h 151"/>
                <a:gd name="T20" fmla="*/ 34 w 140"/>
                <a:gd name="T21" fmla="*/ 82 h 151"/>
                <a:gd name="T22" fmla="*/ 34 w 140"/>
                <a:gd name="T23" fmla="*/ 82 h 151"/>
                <a:gd name="T24" fmla="*/ 37 w 140"/>
                <a:gd name="T25" fmla="*/ 82 h 151"/>
                <a:gd name="T26" fmla="*/ 60 w 140"/>
                <a:gd name="T27" fmla="*/ 48 h 151"/>
                <a:gd name="T28" fmla="*/ 68 w 140"/>
                <a:gd name="T29" fmla="*/ 39 h 151"/>
                <a:gd name="T30" fmla="*/ 81 w 140"/>
                <a:gd name="T31" fmla="*/ 3 h 151"/>
                <a:gd name="T32" fmla="*/ 97 w 140"/>
                <a:gd name="T33" fmla="*/ 8 h 151"/>
                <a:gd name="T34" fmla="*/ 99 w 140"/>
                <a:gd name="T35" fmla="*/ 35 h 151"/>
                <a:gd name="T36" fmla="*/ 90 w 140"/>
                <a:gd name="T37" fmla="*/ 60 h 151"/>
                <a:gd name="T38" fmla="*/ 130 w 140"/>
                <a:gd name="T39" fmla="*/ 62 h 151"/>
                <a:gd name="T40" fmla="*/ 140 w 140"/>
                <a:gd name="T41" fmla="*/ 77 h 151"/>
                <a:gd name="T42" fmla="*/ 135 w 140"/>
                <a:gd name="T43" fmla="*/ 85 h 151"/>
                <a:gd name="T44" fmla="*/ 30 w 140"/>
                <a:gd name="T45" fmla="*/ 137 h 151"/>
                <a:gd name="T46" fmla="*/ 30 w 140"/>
                <a:gd name="T47" fmla="*/ 137 h 151"/>
                <a:gd name="T48" fmla="*/ 30 w 140"/>
                <a:gd name="T49" fmla="*/ 82 h 151"/>
                <a:gd name="T50" fmla="*/ 23 w 140"/>
                <a:gd name="T51" fmla="*/ 76 h 151"/>
                <a:gd name="T52" fmla="*/ 7 w 140"/>
                <a:gd name="T53" fmla="*/ 76 h 151"/>
                <a:gd name="T54" fmla="*/ 0 w 140"/>
                <a:gd name="T55" fmla="*/ 82 h 151"/>
                <a:gd name="T56" fmla="*/ 0 w 140"/>
                <a:gd name="T57" fmla="*/ 137 h 151"/>
                <a:gd name="T58" fmla="*/ 7 w 140"/>
                <a:gd name="T59" fmla="*/ 144 h 151"/>
                <a:gd name="T60" fmla="*/ 23 w 140"/>
                <a:gd name="T61" fmla="*/ 144 h 151"/>
                <a:gd name="T62" fmla="*/ 30 w 140"/>
                <a:gd name="T63" fmla="*/ 137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0" h="151">
                  <a:moveTo>
                    <a:pt x="135" y="85"/>
                  </a:moveTo>
                  <a:cubicBezTo>
                    <a:pt x="135" y="88"/>
                    <a:pt x="140" y="93"/>
                    <a:pt x="140" y="96"/>
                  </a:cubicBezTo>
                  <a:cubicBezTo>
                    <a:pt x="140" y="99"/>
                    <a:pt x="134" y="103"/>
                    <a:pt x="134" y="106"/>
                  </a:cubicBezTo>
                  <a:cubicBezTo>
                    <a:pt x="133" y="109"/>
                    <a:pt x="137" y="114"/>
                    <a:pt x="137" y="117"/>
                  </a:cubicBezTo>
                  <a:cubicBezTo>
                    <a:pt x="137" y="121"/>
                    <a:pt x="130" y="125"/>
                    <a:pt x="129" y="128"/>
                  </a:cubicBezTo>
                  <a:cubicBezTo>
                    <a:pt x="128" y="130"/>
                    <a:pt x="129" y="135"/>
                    <a:pt x="128" y="137"/>
                  </a:cubicBezTo>
                  <a:cubicBezTo>
                    <a:pt x="127" y="141"/>
                    <a:pt x="120" y="147"/>
                    <a:pt x="116" y="148"/>
                  </a:cubicBezTo>
                  <a:cubicBezTo>
                    <a:pt x="104" y="151"/>
                    <a:pt x="65" y="148"/>
                    <a:pt x="65" y="148"/>
                  </a:cubicBezTo>
                  <a:cubicBezTo>
                    <a:pt x="65" y="148"/>
                    <a:pt x="65" y="148"/>
                    <a:pt x="33" y="142"/>
                  </a:cubicBezTo>
                  <a:cubicBezTo>
                    <a:pt x="33" y="142"/>
                    <a:pt x="33" y="142"/>
                    <a:pt x="33" y="82"/>
                  </a:cubicBezTo>
                  <a:cubicBezTo>
                    <a:pt x="33" y="82"/>
                    <a:pt x="33" y="82"/>
                    <a:pt x="34" y="82"/>
                  </a:cubicBezTo>
                  <a:cubicBezTo>
                    <a:pt x="34" y="82"/>
                    <a:pt x="34" y="82"/>
                    <a:pt x="34" y="82"/>
                  </a:cubicBezTo>
                  <a:cubicBezTo>
                    <a:pt x="34" y="82"/>
                    <a:pt x="34" y="82"/>
                    <a:pt x="37" y="82"/>
                  </a:cubicBezTo>
                  <a:cubicBezTo>
                    <a:pt x="41" y="81"/>
                    <a:pt x="49" y="75"/>
                    <a:pt x="60" y="48"/>
                  </a:cubicBezTo>
                  <a:cubicBezTo>
                    <a:pt x="61" y="44"/>
                    <a:pt x="65" y="42"/>
                    <a:pt x="68" y="39"/>
                  </a:cubicBezTo>
                  <a:cubicBezTo>
                    <a:pt x="75" y="34"/>
                    <a:pt x="79" y="27"/>
                    <a:pt x="81" y="3"/>
                  </a:cubicBezTo>
                  <a:cubicBezTo>
                    <a:pt x="81" y="0"/>
                    <a:pt x="91" y="1"/>
                    <a:pt x="97" y="8"/>
                  </a:cubicBezTo>
                  <a:cubicBezTo>
                    <a:pt x="102" y="14"/>
                    <a:pt x="102" y="26"/>
                    <a:pt x="99" y="35"/>
                  </a:cubicBezTo>
                  <a:cubicBezTo>
                    <a:pt x="96" y="41"/>
                    <a:pt x="87" y="55"/>
                    <a:pt x="90" y="60"/>
                  </a:cubicBezTo>
                  <a:cubicBezTo>
                    <a:pt x="90" y="60"/>
                    <a:pt x="124" y="59"/>
                    <a:pt x="130" y="62"/>
                  </a:cubicBezTo>
                  <a:cubicBezTo>
                    <a:pt x="134" y="63"/>
                    <a:pt x="140" y="72"/>
                    <a:pt x="140" y="77"/>
                  </a:cubicBezTo>
                  <a:cubicBezTo>
                    <a:pt x="140" y="79"/>
                    <a:pt x="136" y="83"/>
                    <a:pt x="135" y="85"/>
                  </a:cubicBezTo>
                  <a:close/>
                  <a:moveTo>
                    <a:pt x="30" y="137"/>
                  </a:moveTo>
                  <a:cubicBezTo>
                    <a:pt x="30" y="137"/>
                    <a:pt x="30" y="137"/>
                    <a:pt x="30" y="137"/>
                  </a:cubicBezTo>
                  <a:cubicBezTo>
                    <a:pt x="30" y="137"/>
                    <a:pt x="30" y="137"/>
                    <a:pt x="30" y="82"/>
                  </a:cubicBezTo>
                  <a:cubicBezTo>
                    <a:pt x="30" y="79"/>
                    <a:pt x="27" y="76"/>
                    <a:pt x="23" y="76"/>
                  </a:cubicBezTo>
                  <a:cubicBezTo>
                    <a:pt x="23" y="76"/>
                    <a:pt x="23" y="76"/>
                    <a:pt x="7" y="76"/>
                  </a:cubicBezTo>
                  <a:cubicBezTo>
                    <a:pt x="3" y="76"/>
                    <a:pt x="0" y="79"/>
                    <a:pt x="0" y="82"/>
                  </a:cubicBezTo>
                  <a:cubicBezTo>
                    <a:pt x="0" y="82"/>
                    <a:pt x="0" y="82"/>
                    <a:pt x="0" y="137"/>
                  </a:cubicBezTo>
                  <a:cubicBezTo>
                    <a:pt x="0" y="141"/>
                    <a:pt x="3" y="144"/>
                    <a:pt x="7" y="144"/>
                  </a:cubicBezTo>
                  <a:cubicBezTo>
                    <a:pt x="7" y="144"/>
                    <a:pt x="7" y="144"/>
                    <a:pt x="23" y="144"/>
                  </a:cubicBezTo>
                  <a:cubicBezTo>
                    <a:pt x="27" y="144"/>
                    <a:pt x="30" y="141"/>
                    <a:pt x="30" y="13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68" tIns="34285" rIns="68568" bIns="34285" numCol="1" anchor="t" anchorCtr="0" compatLnSpc="1"/>
            <a:lstStyle>
              <a:defPPr>
                <a:defRPr lang="en-US"/>
              </a:defPPr>
              <a:lvl1pPr marL="0" algn="l" defTabSz="685165" rtl="0" eaLnBrk="1" latinLnBrk="0" hangingPunct="1">
                <a:defRPr sz="1400" kern="1200">
                  <a:solidFill>
                    <a:schemeClr val="tx1"/>
                  </a:solidFill>
                  <a:latin typeface="+mn-lt"/>
                  <a:ea typeface="+mn-ea"/>
                  <a:cs typeface="+mn-cs"/>
                </a:defRPr>
              </a:lvl1pPr>
              <a:lvl2pPr marL="342900" algn="l" defTabSz="685165" rtl="0" eaLnBrk="1" latinLnBrk="0" hangingPunct="1">
                <a:defRPr sz="1400" kern="1200">
                  <a:solidFill>
                    <a:schemeClr val="tx1"/>
                  </a:solidFill>
                  <a:latin typeface="+mn-lt"/>
                  <a:ea typeface="+mn-ea"/>
                  <a:cs typeface="+mn-cs"/>
                </a:defRPr>
              </a:lvl2pPr>
              <a:lvl3pPr marL="685800" algn="l" defTabSz="685165" rtl="0" eaLnBrk="1" latinLnBrk="0" hangingPunct="1">
                <a:defRPr sz="1400" kern="1200">
                  <a:solidFill>
                    <a:schemeClr val="tx1"/>
                  </a:solidFill>
                  <a:latin typeface="+mn-lt"/>
                  <a:ea typeface="+mn-ea"/>
                  <a:cs typeface="+mn-cs"/>
                </a:defRPr>
              </a:lvl3pPr>
              <a:lvl4pPr marL="1028065" algn="l" defTabSz="685165" rtl="0" eaLnBrk="1" latinLnBrk="0" hangingPunct="1">
                <a:defRPr sz="1400" kern="1200">
                  <a:solidFill>
                    <a:schemeClr val="tx1"/>
                  </a:solidFill>
                  <a:latin typeface="+mn-lt"/>
                  <a:ea typeface="+mn-ea"/>
                  <a:cs typeface="+mn-cs"/>
                </a:defRPr>
              </a:lvl4pPr>
              <a:lvl5pPr marL="1370965" algn="l" defTabSz="685165" rtl="0" eaLnBrk="1" latinLnBrk="0" hangingPunct="1">
                <a:defRPr sz="1400" kern="1200">
                  <a:solidFill>
                    <a:schemeClr val="tx1"/>
                  </a:solidFill>
                  <a:latin typeface="+mn-lt"/>
                  <a:ea typeface="+mn-ea"/>
                  <a:cs typeface="+mn-cs"/>
                </a:defRPr>
              </a:lvl5pPr>
              <a:lvl6pPr marL="1713865" algn="l" defTabSz="685165" rtl="0" eaLnBrk="1" latinLnBrk="0" hangingPunct="1">
                <a:defRPr sz="1400" kern="1200">
                  <a:solidFill>
                    <a:schemeClr val="tx1"/>
                  </a:solidFill>
                  <a:latin typeface="+mn-lt"/>
                  <a:ea typeface="+mn-ea"/>
                  <a:cs typeface="+mn-cs"/>
                </a:defRPr>
              </a:lvl6pPr>
              <a:lvl7pPr marL="2056765" algn="l" defTabSz="685165" rtl="0" eaLnBrk="1" latinLnBrk="0" hangingPunct="1">
                <a:defRPr sz="1400" kern="1200">
                  <a:solidFill>
                    <a:schemeClr val="tx1"/>
                  </a:solidFill>
                  <a:latin typeface="+mn-lt"/>
                  <a:ea typeface="+mn-ea"/>
                  <a:cs typeface="+mn-cs"/>
                </a:defRPr>
              </a:lvl7pPr>
              <a:lvl8pPr marL="2399030" algn="l" defTabSz="685165" rtl="0" eaLnBrk="1" latinLnBrk="0" hangingPunct="1">
                <a:defRPr sz="1400" kern="1200">
                  <a:solidFill>
                    <a:schemeClr val="tx1"/>
                  </a:solidFill>
                  <a:latin typeface="+mn-lt"/>
                  <a:ea typeface="+mn-ea"/>
                  <a:cs typeface="+mn-cs"/>
                </a:defRPr>
              </a:lvl8pPr>
              <a:lvl9pPr marL="2741930" algn="l" defTabSz="685165" rtl="0" eaLnBrk="1" latinLnBrk="0" hangingPunct="1">
                <a:defRPr sz="1400" kern="1200">
                  <a:solidFill>
                    <a:schemeClr val="tx1"/>
                  </a:solidFill>
                  <a:latin typeface="+mn-lt"/>
                  <a:ea typeface="+mn-ea"/>
                  <a:cs typeface="+mn-cs"/>
                </a:defRPr>
              </a:lvl9pPr>
            </a:lstStyle>
            <a:p>
              <a:pPr defTabSz="685165"/>
              <a:endParaRPr lang="en-US"/>
            </a:p>
          </p:txBody>
        </p:sp>
      </p:grpSp>
      <p:sp>
        <p:nvSpPr>
          <p:cNvPr id="2" name="标题 1"/>
          <p:cNvSpPr>
            <a:spLocks noGrp="1"/>
          </p:cNvSpPr>
          <p:nvPr>
            <p:ph type="title"/>
          </p:nvPr>
        </p:nvSpPr>
        <p:spPr/>
        <p:txBody>
          <a:bodyPr>
            <a:normAutofit fontScale="90000"/>
          </a:bodyPr>
          <a:lstStyle/>
          <a:p>
            <a:r>
              <a:rPr lang="zh-CN" altLang="en-US" dirty="0"/>
              <a:t>精品模式</a:t>
            </a:r>
            <a:endParaRPr lang="zh-CN" altLang="en-US" dirty="0"/>
          </a:p>
        </p:txBody>
      </p:sp>
      <p:sp>
        <p:nvSpPr>
          <p:cNvPr id="3" name="矩形 2"/>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5" name="TextBox 40"/>
          <p:cNvSpPr txBox="1"/>
          <p:nvPr/>
        </p:nvSpPr>
        <p:spPr>
          <a:xfrm>
            <a:off x="4279326" y="5134321"/>
            <a:ext cx="1943963" cy="551815"/>
          </a:xfrm>
          <a:prstGeom prst="rect">
            <a:avLst/>
          </a:prstGeom>
          <a:noFill/>
        </p:spPr>
        <p:txBody>
          <a:bodyPr wrap="square" lIns="91431" tIns="45715" rIns="91431" bIns="4571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Bef>
                <a:spcPts val="1000"/>
              </a:spcBef>
            </a:pPr>
            <a:r>
              <a:rPr lang="zh-CN" altLang="en-US" sz="2000" b="1" dirty="0">
                <a:solidFill>
                  <a:srgbClr val="7F7F7F"/>
                </a:solidFill>
                <a:latin typeface="微软雅黑" panose="020B0503020204020204" charset="-122"/>
                <a:cs typeface="宋体" panose="02010600030101010101" pitchFamily="2" charset="-122"/>
              </a:rPr>
              <a:t>类目流量</a:t>
            </a:r>
            <a:endParaRPr lang="zh-CN" altLang="en-US" sz="2000" b="1" dirty="0">
              <a:solidFill>
                <a:srgbClr val="7F7F7F"/>
              </a:solidFill>
              <a:latin typeface="微软雅黑" panose="020B0503020204020204" charset="-122"/>
              <a:cs typeface="宋体" panose="02010600030101010101" pitchFamily="2" charset="-122"/>
            </a:endParaRPr>
          </a:p>
        </p:txBody>
      </p:sp>
      <p:sp>
        <p:nvSpPr>
          <p:cNvPr id="6" name="TextBox 40"/>
          <p:cNvSpPr txBox="1"/>
          <p:nvPr/>
        </p:nvSpPr>
        <p:spPr>
          <a:xfrm>
            <a:off x="6611046" y="5134321"/>
            <a:ext cx="1943963" cy="551815"/>
          </a:xfrm>
          <a:prstGeom prst="rect">
            <a:avLst/>
          </a:prstGeom>
          <a:noFill/>
        </p:spPr>
        <p:txBody>
          <a:bodyPr wrap="square" lIns="91431" tIns="45715" rIns="91431" bIns="4571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Bef>
                <a:spcPts val="1000"/>
              </a:spcBef>
            </a:pPr>
            <a:r>
              <a:rPr lang="zh-CN" altLang="en-US" sz="2000" b="1" kern="0" noProof="1">
                <a:solidFill>
                  <a:schemeClr val="tx1">
                    <a:lumMod val="50000"/>
                    <a:lumOff val="50000"/>
                  </a:schemeClr>
                </a:solidFill>
              </a:rPr>
              <a:t>采购数量</a:t>
            </a:r>
            <a:endParaRPr lang="zh-CN" altLang="en-US" sz="2000" b="1" dirty="0">
              <a:solidFill>
                <a:srgbClr val="7F7F7F"/>
              </a:solidFill>
              <a:latin typeface="微软雅黑" panose="020B0503020204020204" charset="-122"/>
              <a:cs typeface="宋体" panose="02010600030101010101" pitchFamily="2" charset="-122"/>
            </a:endParaRPr>
          </a:p>
        </p:txBody>
      </p:sp>
      <p:sp>
        <p:nvSpPr>
          <p:cNvPr id="7" name="TextBox 40"/>
          <p:cNvSpPr txBox="1"/>
          <p:nvPr/>
        </p:nvSpPr>
        <p:spPr>
          <a:xfrm>
            <a:off x="9027221" y="3955126"/>
            <a:ext cx="1943963" cy="551815"/>
          </a:xfrm>
          <a:prstGeom prst="rect">
            <a:avLst/>
          </a:prstGeom>
          <a:noFill/>
        </p:spPr>
        <p:txBody>
          <a:bodyPr wrap="square" lIns="91431" tIns="45715" rIns="91431" bIns="4571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Bef>
                <a:spcPts val="1000"/>
              </a:spcBef>
            </a:pPr>
            <a:r>
              <a:rPr lang="zh-CN" altLang="en-US" sz="2000" b="1" kern="0" noProof="1">
                <a:solidFill>
                  <a:schemeClr val="tx1">
                    <a:lumMod val="50000"/>
                    <a:lumOff val="50000"/>
                  </a:schemeClr>
                </a:solidFill>
              </a:rPr>
              <a:t>预期目标</a:t>
            </a:r>
            <a:r>
              <a:rPr lang="en-US" altLang="zh-CN" sz="2000" b="1" kern="0" noProof="1">
                <a:solidFill>
                  <a:schemeClr val="tx1">
                    <a:lumMod val="50000"/>
                    <a:lumOff val="50000"/>
                  </a:schemeClr>
                </a:solidFill>
              </a:rPr>
              <a:t>-</a:t>
            </a:r>
            <a:r>
              <a:rPr lang="zh-CN" altLang="en-US" sz="2000" b="1" kern="0" noProof="1">
                <a:solidFill>
                  <a:schemeClr val="tx1">
                    <a:lumMod val="50000"/>
                    <a:lumOff val="50000"/>
                  </a:schemeClr>
                </a:solidFill>
              </a:rPr>
              <a:t>补货</a:t>
            </a:r>
            <a:endParaRPr lang="zh-CN" altLang="en-US" sz="2000" b="1" kern="0" noProof="1" dirty="0">
              <a:solidFill>
                <a:schemeClr val="tx1">
                  <a:lumMod val="50000"/>
                  <a:lumOff val="50000"/>
                </a:schemeClr>
              </a:solidFill>
              <a:latin typeface="微软雅黑" panose="020B0503020204020204"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 calcmode="lin" valueType="num">
                                      <p:cBhvr>
                                        <p:cTn id="7" dur="500" fill="hold"/>
                                        <p:tgtEl>
                                          <p:spTgt spid="87"/>
                                        </p:tgtEl>
                                        <p:attrNameLst>
                                          <p:attrName>ppt_w</p:attrName>
                                        </p:attrNameLst>
                                      </p:cBhvr>
                                      <p:tavLst>
                                        <p:tav tm="0">
                                          <p:val>
                                            <p:fltVal val="0"/>
                                          </p:val>
                                        </p:tav>
                                        <p:tav tm="100000">
                                          <p:val>
                                            <p:strVal val="#ppt_w"/>
                                          </p:val>
                                        </p:tav>
                                      </p:tavLst>
                                    </p:anim>
                                    <p:anim calcmode="lin" valueType="num">
                                      <p:cBhvr>
                                        <p:cTn id="8" dur="500" fill="hold"/>
                                        <p:tgtEl>
                                          <p:spTgt spid="87"/>
                                        </p:tgtEl>
                                        <p:attrNameLst>
                                          <p:attrName>ppt_h</p:attrName>
                                        </p:attrNameLst>
                                      </p:cBhvr>
                                      <p:tavLst>
                                        <p:tav tm="0">
                                          <p:val>
                                            <p:fltVal val="0"/>
                                          </p:val>
                                        </p:tav>
                                        <p:tav tm="100000">
                                          <p:val>
                                            <p:strVal val="#ppt_h"/>
                                          </p:val>
                                        </p:tav>
                                      </p:tavLst>
                                    </p:anim>
                                    <p:animEffect transition="in" filter="fade">
                                      <p:cBhvr>
                                        <p:cTn id="9" dur="500"/>
                                        <p:tgtEl>
                                          <p:spTgt spid="87"/>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57"/>
                                        </p:tgtEl>
                                        <p:attrNameLst>
                                          <p:attrName>style.visibility</p:attrName>
                                        </p:attrNameLst>
                                      </p:cBhvr>
                                      <p:to>
                                        <p:strVal val="visible"/>
                                      </p:to>
                                    </p:set>
                                    <p:animEffect transition="in" filter="wipe(up)">
                                      <p:cBhvr>
                                        <p:cTn id="14" dur="500"/>
                                        <p:tgtEl>
                                          <p:spTgt spid="5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animEffect transition="in" filter="fade">
                                      <p:cBhvr>
                                        <p:cTn id="21" dur="500"/>
                                        <p:tgtEl>
                                          <p:spTgt spid="8"/>
                                        </p:tgtEl>
                                      </p:cBhvr>
                                    </p:animEffect>
                                  </p:childTnLst>
                                </p:cTn>
                              </p:par>
                              <p:par>
                                <p:cTn id="22" presetID="53" presetClass="entr" presetSubtype="16"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500" fill="hold"/>
                                        <p:tgtEl>
                                          <p:spTgt spid="9"/>
                                        </p:tgtEl>
                                        <p:attrNameLst>
                                          <p:attrName>ppt_w</p:attrName>
                                        </p:attrNameLst>
                                      </p:cBhvr>
                                      <p:tavLst>
                                        <p:tav tm="0">
                                          <p:val>
                                            <p:fltVal val="0"/>
                                          </p:val>
                                        </p:tav>
                                        <p:tav tm="100000">
                                          <p:val>
                                            <p:strVal val="#ppt_w"/>
                                          </p:val>
                                        </p:tav>
                                      </p:tavLst>
                                    </p:anim>
                                    <p:anim calcmode="lin" valueType="num">
                                      <p:cBhvr>
                                        <p:cTn id="25" dur="500" fill="hold"/>
                                        <p:tgtEl>
                                          <p:spTgt spid="9"/>
                                        </p:tgtEl>
                                        <p:attrNameLst>
                                          <p:attrName>ppt_h</p:attrName>
                                        </p:attrNameLst>
                                      </p:cBhvr>
                                      <p:tavLst>
                                        <p:tav tm="0">
                                          <p:val>
                                            <p:fltVal val="0"/>
                                          </p:val>
                                        </p:tav>
                                        <p:tav tm="100000">
                                          <p:val>
                                            <p:strVal val="#ppt_h"/>
                                          </p:val>
                                        </p:tav>
                                      </p:tavLst>
                                    </p:anim>
                                    <p:animEffect transition="in" filter="fade">
                                      <p:cBhvr>
                                        <p:cTn id="26" dur="500"/>
                                        <p:tgtEl>
                                          <p:spTgt spid="9"/>
                                        </p:tgtEl>
                                      </p:cBhvr>
                                    </p:animEffect>
                                  </p:childTnLst>
                                </p:cTn>
                              </p:par>
                              <p:par>
                                <p:cTn id="27" presetID="53" presetClass="entr" presetSubtype="16"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par>
                                <p:cTn id="32" presetID="53" presetClass="entr" presetSubtype="16"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p:cTn id="34" dur="500" fill="hold"/>
                                        <p:tgtEl>
                                          <p:spTgt spid="14"/>
                                        </p:tgtEl>
                                        <p:attrNameLst>
                                          <p:attrName>ppt_w</p:attrName>
                                        </p:attrNameLst>
                                      </p:cBhvr>
                                      <p:tavLst>
                                        <p:tav tm="0">
                                          <p:val>
                                            <p:fltVal val="0"/>
                                          </p:val>
                                        </p:tav>
                                        <p:tav tm="100000">
                                          <p:val>
                                            <p:strVal val="#ppt_w"/>
                                          </p:val>
                                        </p:tav>
                                      </p:tavLst>
                                    </p:anim>
                                    <p:anim calcmode="lin" valueType="num">
                                      <p:cBhvr>
                                        <p:cTn id="35" dur="500" fill="hold"/>
                                        <p:tgtEl>
                                          <p:spTgt spid="14"/>
                                        </p:tgtEl>
                                        <p:attrNameLst>
                                          <p:attrName>ppt_h</p:attrName>
                                        </p:attrNameLst>
                                      </p:cBhvr>
                                      <p:tavLst>
                                        <p:tav tm="0">
                                          <p:val>
                                            <p:fltVal val="0"/>
                                          </p:val>
                                        </p:tav>
                                        <p:tav tm="100000">
                                          <p:val>
                                            <p:strVal val="#ppt_h"/>
                                          </p:val>
                                        </p:tav>
                                      </p:tavLst>
                                    </p:anim>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6"/>
                                        </p:tgtEl>
                                        <p:attrNameLst>
                                          <p:attrName>style.visibility</p:attrName>
                                        </p:attrNameLst>
                                      </p:cBhvr>
                                      <p:to>
                                        <p:strVal val="visible"/>
                                      </p:to>
                                    </p:set>
                                    <p:animEffect transition="in" filter="wipe(left)">
                                      <p:cBhvr>
                                        <p:cTn id="41" dur="500"/>
                                        <p:tgtEl>
                                          <p:spTgt spid="56"/>
                                        </p:tgtEl>
                                      </p:cBhvr>
                                    </p:animEffect>
                                  </p:childTnLst>
                                </p:cTn>
                              </p:par>
                            </p:childTnLst>
                          </p:cTn>
                        </p:par>
                      </p:childTnLst>
                    </p:cTn>
                  </p:par>
                  <p:par>
                    <p:cTn id="42" fill="hold">
                      <p:stCondLst>
                        <p:cond delay="indefinite"/>
                      </p:stCondLst>
                      <p:childTnLst>
                        <p:par>
                          <p:cTn id="43" fill="hold">
                            <p:stCondLst>
                              <p:cond delay="0"/>
                            </p:stCondLst>
                            <p:childTnLst>
                              <p:par>
                                <p:cTn id="44" presetID="47" presetClass="entr" presetSubtype="0" fill="hold" grpId="0" nodeType="clickEffect">
                                  <p:stCondLst>
                                    <p:cond delay="0"/>
                                  </p:stCondLst>
                                  <p:childTnLst>
                                    <p:set>
                                      <p:cBhvr>
                                        <p:cTn id="45" dur="1" fill="hold">
                                          <p:stCondLst>
                                            <p:cond delay="0"/>
                                          </p:stCondLst>
                                        </p:cTn>
                                        <p:tgtEl>
                                          <p:spTgt spid="68"/>
                                        </p:tgtEl>
                                        <p:attrNameLst>
                                          <p:attrName>style.visibility</p:attrName>
                                        </p:attrNameLst>
                                      </p:cBhvr>
                                      <p:to>
                                        <p:strVal val="visible"/>
                                      </p:to>
                                    </p:set>
                                    <p:animEffect transition="in" filter="fade">
                                      <p:cBhvr>
                                        <p:cTn id="46" dur="1000"/>
                                        <p:tgtEl>
                                          <p:spTgt spid="68"/>
                                        </p:tgtEl>
                                      </p:cBhvr>
                                    </p:animEffect>
                                    <p:anim calcmode="lin" valueType="num">
                                      <p:cBhvr>
                                        <p:cTn id="47" dur="1000" fill="hold"/>
                                        <p:tgtEl>
                                          <p:spTgt spid="68"/>
                                        </p:tgtEl>
                                        <p:attrNameLst>
                                          <p:attrName>ppt_x</p:attrName>
                                        </p:attrNameLst>
                                      </p:cBhvr>
                                      <p:tavLst>
                                        <p:tav tm="0">
                                          <p:val>
                                            <p:strVal val="#ppt_x"/>
                                          </p:val>
                                        </p:tav>
                                        <p:tav tm="100000">
                                          <p:val>
                                            <p:strVal val="#ppt_x"/>
                                          </p:val>
                                        </p:tav>
                                      </p:tavLst>
                                    </p:anim>
                                    <p:anim calcmode="lin" valueType="num">
                                      <p:cBhvr>
                                        <p:cTn id="48"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7" presetClass="entr" presetSubtype="0" fill="hold" grpId="0"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fade">
                                      <p:cBhvr>
                                        <p:cTn id="53" dur="1000"/>
                                        <p:tgtEl>
                                          <p:spTgt spid="5"/>
                                        </p:tgtEl>
                                      </p:cBhvr>
                                    </p:animEffect>
                                    <p:anim calcmode="lin" valueType="num">
                                      <p:cBhvr>
                                        <p:cTn id="54" dur="1000" fill="hold"/>
                                        <p:tgtEl>
                                          <p:spTgt spid="5"/>
                                        </p:tgtEl>
                                        <p:attrNameLst>
                                          <p:attrName>ppt_x</p:attrName>
                                        </p:attrNameLst>
                                      </p:cBhvr>
                                      <p:tavLst>
                                        <p:tav tm="0">
                                          <p:val>
                                            <p:strVal val="#ppt_x"/>
                                          </p:val>
                                        </p:tav>
                                        <p:tav tm="100000">
                                          <p:val>
                                            <p:strVal val="#ppt_x"/>
                                          </p:val>
                                        </p:tav>
                                      </p:tavLst>
                                    </p:anim>
                                    <p:anim calcmode="lin" valueType="num">
                                      <p:cBhvr>
                                        <p:cTn id="5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7" presetClass="entr" presetSubtype="0" fill="hold" grpId="0" nodeType="click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fade">
                                      <p:cBhvr>
                                        <p:cTn id="60" dur="1000"/>
                                        <p:tgtEl>
                                          <p:spTgt spid="6"/>
                                        </p:tgtEl>
                                      </p:cBhvr>
                                    </p:animEffect>
                                    <p:anim calcmode="lin" valueType="num">
                                      <p:cBhvr>
                                        <p:cTn id="61" dur="1000" fill="hold"/>
                                        <p:tgtEl>
                                          <p:spTgt spid="6"/>
                                        </p:tgtEl>
                                        <p:attrNameLst>
                                          <p:attrName>ppt_x</p:attrName>
                                        </p:attrNameLst>
                                      </p:cBhvr>
                                      <p:tavLst>
                                        <p:tav tm="0">
                                          <p:val>
                                            <p:strVal val="#ppt_x"/>
                                          </p:val>
                                        </p:tav>
                                        <p:tav tm="100000">
                                          <p:val>
                                            <p:strVal val="#ppt_x"/>
                                          </p:val>
                                        </p:tav>
                                      </p:tavLst>
                                    </p:anim>
                                    <p:anim calcmode="lin" valueType="num">
                                      <p:cBhvr>
                                        <p:cTn id="6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7" presetClass="entr" presetSubtype="0"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fade">
                                      <p:cBhvr>
                                        <p:cTn id="67" dur="1000"/>
                                        <p:tgtEl>
                                          <p:spTgt spid="7"/>
                                        </p:tgtEl>
                                      </p:cBhvr>
                                    </p:animEffect>
                                    <p:anim calcmode="lin" valueType="num">
                                      <p:cBhvr>
                                        <p:cTn id="68" dur="1000" fill="hold"/>
                                        <p:tgtEl>
                                          <p:spTgt spid="7"/>
                                        </p:tgtEl>
                                        <p:attrNameLst>
                                          <p:attrName>ppt_x</p:attrName>
                                        </p:attrNameLst>
                                      </p:cBhvr>
                                      <p:tavLst>
                                        <p:tav tm="0">
                                          <p:val>
                                            <p:strVal val="#ppt_x"/>
                                          </p:val>
                                        </p:tav>
                                        <p:tav tm="100000">
                                          <p:val>
                                            <p:strVal val="#ppt_x"/>
                                          </p:val>
                                        </p:tav>
                                      </p:tavLst>
                                    </p:anim>
                                    <p:anim calcmode="lin" valueType="num">
                                      <p:cBhvr>
                                        <p:cTn id="6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68" grpId="0"/>
      <p:bldP spid="5" grpId="0"/>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39791" y="3199244"/>
            <a:ext cx="11110913" cy="806450"/>
            <a:chOff x="444098" y="3162300"/>
            <a:chExt cx="11110913" cy="806450"/>
          </a:xfrm>
        </p:grpSpPr>
        <p:sp>
          <p:nvSpPr>
            <p:cNvPr id="5" name="Freeform 5"/>
            <p:cNvSpPr/>
            <p:nvPr/>
          </p:nvSpPr>
          <p:spPr bwMode="auto">
            <a:xfrm>
              <a:off x="496486" y="3162300"/>
              <a:ext cx="1222375" cy="373063"/>
            </a:xfrm>
            <a:custGeom>
              <a:avLst/>
              <a:gdLst>
                <a:gd name="T0" fmla="*/ 2452 w 3360"/>
                <a:gd name="T1" fmla="*/ 0 h 1014"/>
                <a:gd name="T2" fmla="*/ 2226 w 3360"/>
                <a:gd name="T3" fmla="*/ 30 h 1014"/>
                <a:gd name="T4" fmla="*/ 2420 w 3360"/>
                <a:gd name="T5" fmla="*/ 496 h 1014"/>
                <a:gd name="T6" fmla="*/ 2050 w 3360"/>
                <a:gd name="T7" fmla="*/ 72 h 1014"/>
                <a:gd name="T8" fmla="*/ 1698 w 3360"/>
                <a:gd name="T9" fmla="*/ 180 h 1014"/>
                <a:gd name="T10" fmla="*/ 1889 w 3360"/>
                <a:gd name="T11" fmla="*/ 640 h 1014"/>
                <a:gd name="T12" fmla="*/ 1538 w 3360"/>
                <a:gd name="T13" fmla="*/ 237 h 1014"/>
                <a:gd name="T14" fmla="*/ 1114 w 3360"/>
                <a:gd name="T15" fmla="*/ 407 h 1014"/>
                <a:gd name="T16" fmla="*/ 1275 w 3360"/>
                <a:gd name="T17" fmla="*/ 793 h 1014"/>
                <a:gd name="T18" fmla="*/ 988 w 3360"/>
                <a:gd name="T19" fmla="*/ 463 h 1014"/>
                <a:gd name="T20" fmla="*/ 656 w 3360"/>
                <a:gd name="T21" fmla="*/ 624 h 1014"/>
                <a:gd name="T22" fmla="*/ 771 w 3360"/>
                <a:gd name="T23" fmla="*/ 897 h 1014"/>
                <a:gd name="T24" fmla="*/ 572 w 3360"/>
                <a:gd name="T25" fmla="*/ 669 h 1014"/>
                <a:gd name="T26" fmla="*/ 0 w 3360"/>
                <a:gd name="T27" fmla="*/ 1014 h 1014"/>
                <a:gd name="T28" fmla="*/ 3360 w 3360"/>
                <a:gd name="T29" fmla="*/ 1014 h 1014"/>
                <a:gd name="T30" fmla="*/ 2452 w 3360"/>
                <a:gd name="T31" fmla="*/ 0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60" h="1014">
                  <a:moveTo>
                    <a:pt x="2452" y="0"/>
                  </a:moveTo>
                  <a:cubicBezTo>
                    <a:pt x="2398" y="0"/>
                    <a:pt x="2321" y="10"/>
                    <a:pt x="2226" y="30"/>
                  </a:cubicBezTo>
                  <a:cubicBezTo>
                    <a:pt x="2319" y="261"/>
                    <a:pt x="2420" y="496"/>
                    <a:pt x="2420" y="496"/>
                  </a:cubicBezTo>
                  <a:lnTo>
                    <a:pt x="2050" y="72"/>
                  </a:lnTo>
                  <a:cubicBezTo>
                    <a:pt x="1945" y="101"/>
                    <a:pt x="1826" y="137"/>
                    <a:pt x="1698" y="180"/>
                  </a:cubicBezTo>
                  <a:cubicBezTo>
                    <a:pt x="1790" y="409"/>
                    <a:pt x="1889" y="640"/>
                    <a:pt x="1889" y="640"/>
                  </a:cubicBezTo>
                  <a:lnTo>
                    <a:pt x="1538" y="237"/>
                  </a:lnTo>
                  <a:cubicBezTo>
                    <a:pt x="1403" y="287"/>
                    <a:pt x="1260" y="344"/>
                    <a:pt x="1114" y="407"/>
                  </a:cubicBezTo>
                  <a:cubicBezTo>
                    <a:pt x="1196" y="610"/>
                    <a:pt x="1275" y="793"/>
                    <a:pt x="1275" y="793"/>
                  </a:cubicBezTo>
                  <a:lnTo>
                    <a:pt x="988" y="463"/>
                  </a:lnTo>
                  <a:cubicBezTo>
                    <a:pt x="878" y="514"/>
                    <a:pt x="767" y="567"/>
                    <a:pt x="656" y="624"/>
                  </a:cubicBezTo>
                  <a:cubicBezTo>
                    <a:pt x="719" y="777"/>
                    <a:pt x="771" y="897"/>
                    <a:pt x="771" y="897"/>
                  </a:cubicBezTo>
                  <a:lnTo>
                    <a:pt x="572" y="669"/>
                  </a:lnTo>
                  <a:cubicBezTo>
                    <a:pt x="375" y="774"/>
                    <a:pt x="181" y="889"/>
                    <a:pt x="0" y="1014"/>
                  </a:cubicBezTo>
                  <a:lnTo>
                    <a:pt x="3360" y="1014"/>
                  </a:lnTo>
                  <a:cubicBezTo>
                    <a:pt x="3360" y="1014"/>
                    <a:pt x="2786" y="0"/>
                    <a:pt x="2452" y="0"/>
                  </a:cubicBezTo>
                  <a:close/>
                </a:path>
              </a:pathLst>
            </a:custGeom>
            <a:solidFill>
              <a:schemeClr val="accent2"/>
            </a:solidFill>
            <a:ln w="19050">
              <a:gradFill flip="none" rotWithShape="1">
                <a:gsLst>
                  <a:gs pos="0">
                    <a:schemeClr val="bg1">
                      <a:lumMod val="75000"/>
                    </a:schemeClr>
                  </a:gs>
                  <a:gs pos="100000">
                    <a:schemeClr val="bg1"/>
                  </a:gs>
                </a:gsLst>
                <a:lin ang="2700000" scaled="1"/>
                <a:tileRect/>
              </a:gradFill>
            </a:ln>
            <a:effectLst>
              <a:innerShdw blurRad="635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6" name="Freeform 6"/>
            <p:cNvSpPr/>
            <p:nvPr/>
          </p:nvSpPr>
          <p:spPr bwMode="auto">
            <a:xfrm>
              <a:off x="496486" y="3594100"/>
              <a:ext cx="1222375" cy="374650"/>
            </a:xfrm>
            <a:custGeom>
              <a:avLst/>
              <a:gdLst>
                <a:gd name="T0" fmla="*/ 2452 w 3360"/>
                <a:gd name="T1" fmla="*/ 1014 h 1014"/>
                <a:gd name="T2" fmla="*/ 2226 w 3360"/>
                <a:gd name="T3" fmla="*/ 983 h 1014"/>
                <a:gd name="T4" fmla="*/ 2420 w 3360"/>
                <a:gd name="T5" fmla="*/ 517 h 1014"/>
                <a:gd name="T6" fmla="*/ 2050 w 3360"/>
                <a:gd name="T7" fmla="*/ 941 h 1014"/>
                <a:gd name="T8" fmla="*/ 1698 w 3360"/>
                <a:gd name="T9" fmla="*/ 833 h 1014"/>
                <a:gd name="T10" fmla="*/ 1889 w 3360"/>
                <a:gd name="T11" fmla="*/ 373 h 1014"/>
                <a:gd name="T12" fmla="*/ 1538 w 3360"/>
                <a:gd name="T13" fmla="*/ 776 h 1014"/>
                <a:gd name="T14" fmla="*/ 1114 w 3360"/>
                <a:gd name="T15" fmla="*/ 606 h 1014"/>
                <a:gd name="T16" fmla="*/ 1275 w 3360"/>
                <a:gd name="T17" fmla="*/ 220 h 1014"/>
                <a:gd name="T18" fmla="*/ 988 w 3360"/>
                <a:gd name="T19" fmla="*/ 550 h 1014"/>
                <a:gd name="T20" fmla="*/ 656 w 3360"/>
                <a:gd name="T21" fmla="*/ 389 h 1014"/>
                <a:gd name="T22" fmla="*/ 771 w 3360"/>
                <a:gd name="T23" fmla="*/ 116 h 1014"/>
                <a:gd name="T24" fmla="*/ 572 w 3360"/>
                <a:gd name="T25" fmla="*/ 345 h 1014"/>
                <a:gd name="T26" fmla="*/ 0 w 3360"/>
                <a:gd name="T27" fmla="*/ 0 h 1014"/>
                <a:gd name="T28" fmla="*/ 3360 w 3360"/>
                <a:gd name="T29" fmla="*/ 0 h 1014"/>
                <a:gd name="T30" fmla="*/ 2452 w 3360"/>
                <a:gd name="T31" fmla="*/ 1014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60" h="1014">
                  <a:moveTo>
                    <a:pt x="2452" y="1014"/>
                  </a:moveTo>
                  <a:cubicBezTo>
                    <a:pt x="2398" y="1014"/>
                    <a:pt x="2321" y="1003"/>
                    <a:pt x="2226" y="983"/>
                  </a:cubicBezTo>
                  <a:cubicBezTo>
                    <a:pt x="2319" y="752"/>
                    <a:pt x="2420" y="517"/>
                    <a:pt x="2420" y="517"/>
                  </a:cubicBezTo>
                  <a:lnTo>
                    <a:pt x="2050" y="941"/>
                  </a:lnTo>
                  <a:cubicBezTo>
                    <a:pt x="1945" y="913"/>
                    <a:pt x="1826" y="877"/>
                    <a:pt x="1698" y="833"/>
                  </a:cubicBezTo>
                  <a:cubicBezTo>
                    <a:pt x="1790" y="604"/>
                    <a:pt x="1889" y="373"/>
                    <a:pt x="1889" y="373"/>
                  </a:cubicBezTo>
                  <a:lnTo>
                    <a:pt x="1538" y="776"/>
                  </a:lnTo>
                  <a:cubicBezTo>
                    <a:pt x="1403" y="727"/>
                    <a:pt x="1260" y="670"/>
                    <a:pt x="1114" y="606"/>
                  </a:cubicBezTo>
                  <a:cubicBezTo>
                    <a:pt x="1196" y="404"/>
                    <a:pt x="1275" y="220"/>
                    <a:pt x="1275" y="220"/>
                  </a:cubicBezTo>
                  <a:lnTo>
                    <a:pt x="988" y="550"/>
                  </a:lnTo>
                  <a:cubicBezTo>
                    <a:pt x="878" y="500"/>
                    <a:pt x="767" y="446"/>
                    <a:pt x="656" y="389"/>
                  </a:cubicBezTo>
                  <a:cubicBezTo>
                    <a:pt x="719" y="236"/>
                    <a:pt x="771" y="116"/>
                    <a:pt x="771" y="116"/>
                  </a:cubicBezTo>
                  <a:lnTo>
                    <a:pt x="572" y="345"/>
                  </a:lnTo>
                  <a:cubicBezTo>
                    <a:pt x="375" y="240"/>
                    <a:pt x="181" y="124"/>
                    <a:pt x="0" y="0"/>
                  </a:cubicBezTo>
                  <a:lnTo>
                    <a:pt x="3360" y="0"/>
                  </a:lnTo>
                  <a:cubicBezTo>
                    <a:pt x="3360" y="0"/>
                    <a:pt x="2786" y="1014"/>
                    <a:pt x="2452" y="1014"/>
                  </a:cubicBezTo>
                  <a:close/>
                </a:path>
              </a:pathLst>
            </a:custGeom>
            <a:solidFill>
              <a:schemeClr val="accent1"/>
            </a:solidFill>
            <a:ln w="19050">
              <a:noFill/>
            </a:ln>
            <a:effectLst>
              <a:innerShdw blurRad="635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 name="Freeform 7"/>
            <p:cNvSpPr/>
            <p:nvPr/>
          </p:nvSpPr>
          <p:spPr bwMode="auto">
            <a:xfrm>
              <a:off x="444098" y="3535363"/>
              <a:ext cx="10968038" cy="58738"/>
            </a:xfrm>
            <a:custGeom>
              <a:avLst/>
              <a:gdLst>
                <a:gd name="T0" fmla="*/ 80 w 30160"/>
                <a:gd name="T1" fmla="*/ 160 h 160"/>
                <a:gd name="T2" fmla="*/ 0 w 30160"/>
                <a:gd name="T3" fmla="*/ 80 h 160"/>
                <a:gd name="T4" fmla="*/ 80 w 30160"/>
                <a:gd name="T5" fmla="*/ 0 h 160"/>
                <a:gd name="T6" fmla="*/ 30080 w 30160"/>
                <a:gd name="T7" fmla="*/ 0 h 160"/>
                <a:gd name="T8" fmla="*/ 30160 w 30160"/>
                <a:gd name="T9" fmla="*/ 80 h 160"/>
                <a:gd name="T10" fmla="*/ 30080 w 30160"/>
                <a:gd name="T11" fmla="*/ 160 h 160"/>
                <a:gd name="T12" fmla="*/ 80 w 30160"/>
                <a:gd name="T13" fmla="*/ 160 h 160"/>
              </a:gdLst>
              <a:ahLst/>
              <a:cxnLst>
                <a:cxn ang="0">
                  <a:pos x="T0" y="T1"/>
                </a:cxn>
                <a:cxn ang="0">
                  <a:pos x="T2" y="T3"/>
                </a:cxn>
                <a:cxn ang="0">
                  <a:pos x="T4" y="T5"/>
                </a:cxn>
                <a:cxn ang="0">
                  <a:pos x="T6" y="T7"/>
                </a:cxn>
                <a:cxn ang="0">
                  <a:pos x="T8" y="T9"/>
                </a:cxn>
                <a:cxn ang="0">
                  <a:pos x="T10" y="T11"/>
                </a:cxn>
                <a:cxn ang="0">
                  <a:pos x="T12" y="T13"/>
                </a:cxn>
              </a:cxnLst>
              <a:rect l="0" t="0" r="r" b="b"/>
              <a:pathLst>
                <a:path w="30160" h="160">
                  <a:moveTo>
                    <a:pt x="80" y="160"/>
                  </a:moveTo>
                  <a:cubicBezTo>
                    <a:pt x="36" y="160"/>
                    <a:pt x="0" y="124"/>
                    <a:pt x="0" y="80"/>
                  </a:cubicBezTo>
                  <a:cubicBezTo>
                    <a:pt x="0" y="36"/>
                    <a:pt x="36" y="0"/>
                    <a:pt x="80" y="0"/>
                  </a:cubicBezTo>
                  <a:lnTo>
                    <a:pt x="30080" y="0"/>
                  </a:lnTo>
                  <a:cubicBezTo>
                    <a:pt x="30124" y="0"/>
                    <a:pt x="30160" y="36"/>
                    <a:pt x="30160" y="80"/>
                  </a:cubicBezTo>
                  <a:cubicBezTo>
                    <a:pt x="30160" y="124"/>
                    <a:pt x="30124" y="160"/>
                    <a:pt x="30080" y="160"/>
                  </a:cubicBezTo>
                  <a:lnTo>
                    <a:pt x="80" y="160"/>
                  </a:lnTo>
                  <a:close/>
                </a:path>
              </a:pathLst>
            </a:custGeom>
            <a:solidFill>
              <a:schemeClr val="tx1">
                <a:lumMod val="50000"/>
                <a:lumOff val="50000"/>
              </a:schemeClr>
            </a:solidFill>
            <a:ln w="19050">
              <a:noFill/>
            </a:ln>
            <a:effectLst>
              <a:innerShdw blurRad="635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8" name="Freeform 8"/>
            <p:cNvSpPr/>
            <p:nvPr/>
          </p:nvSpPr>
          <p:spPr bwMode="auto">
            <a:xfrm>
              <a:off x="11270848" y="3438525"/>
              <a:ext cx="284163" cy="252413"/>
            </a:xfrm>
            <a:custGeom>
              <a:avLst/>
              <a:gdLst>
                <a:gd name="T0" fmla="*/ 784 w 784"/>
                <a:gd name="T1" fmla="*/ 343 h 686"/>
                <a:gd name="T2" fmla="*/ 0 w 784"/>
                <a:gd name="T3" fmla="*/ 686 h 686"/>
                <a:gd name="T4" fmla="*/ 248 w 784"/>
                <a:gd name="T5" fmla="*/ 343 h 686"/>
                <a:gd name="T6" fmla="*/ 0 w 784"/>
                <a:gd name="T7" fmla="*/ 0 h 686"/>
                <a:gd name="T8" fmla="*/ 784 w 784"/>
                <a:gd name="T9" fmla="*/ 343 h 686"/>
              </a:gdLst>
              <a:ahLst/>
              <a:cxnLst>
                <a:cxn ang="0">
                  <a:pos x="T0" y="T1"/>
                </a:cxn>
                <a:cxn ang="0">
                  <a:pos x="T2" y="T3"/>
                </a:cxn>
                <a:cxn ang="0">
                  <a:pos x="T4" y="T5"/>
                </a:cxn>
                <a:cxn ang="0">
                  <a:pos x="T6" y="T7"/>
                </a:cxn>
                <a:cxn ang="0">
                  <a:pos x="T8" y="T9"/>
                </a:cxn>
              </a:cxnLst>
              <a:rect l="0" t="0" r="r" b="b"/>
              <a:pathLst>
                <a:path w="784" h="686">
                  <a:moveTo>
                    <a:pt x="784" y="343"/>
                  </a:moveTo>
                  <a:lnTo>
                    <a:pt x="0" y="686"/>
                  </a:lnTo>
                  <a:lnTo>
                    <a:pt x="248" y="343"/>
                  </a:lnTo>
                  <a:lnTo>
                    <a:pt x="0" y="0"/>
                  </a:lnTo>
                  <a:lnTo>
                    <a:pt x="784" y="343"/>
                  </a:lnTo>
                  <a:close/>
                </a:path>
              </a:pathLst>
            </a:custGeom>
            <a:solidFill>
              <a:schemeClr val="tx1">
                <a:lumMod val="50000"/>
                <a:lumOff val="50000"/>
              </a:schemeClr>
            </a:solidFill>
            <a:ln w="19050">
              <a:noFill/>
            </a:ln>
            <a:effectLst>
              <a:innerShdw blurRad="635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sp>
        <p:nvSpPr>
          <p:cNvPr id="9" name="椭圆 8"/>
          <p:cNvSpPr/>
          <p:nvPr/>
        </p:nvSpPr>
        <p:spPr>
          <a:xfrm>
            <a:off x="3309540" y="3423214"/>
            <a:ext cx="298185" cy="298185"/>
          </a:xfrm>
          <a:prstGeom prst="ellipse">
            <a:avLst/>
          </a:prstGeom>
          <a:solidFill>
            <a:schemeClr val="accent1"/>
          </a:solidFill>
          <a:ln w="19050">
            <a:gradFill flip="none" rotWithShape="1">
              <a:gsLst>
                <a:gs pos="0">
                  <a:schemeClr val="bg1">
                    <a:lumMod val="75000"/>
                  </a:schemeClr>
                </a:gs>
                <a:gs pos="100000">
                  <a:schemeClr val="bg1"/>
                </a:gs>
              </a:gsLst>
              <a:lin ang="2700000" scaled="1"/>
              <a:tileRect/>
            </a:gradFill>
          </a:ln>
          <a:effectLst>
            <a:innerShdw blurRad="635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405457" y="3423214"/>
            <a:ext cx="298185" cy="298185"/>
          </a:xfrm>
          <a:prstGeom prst="ellipse">
            <a:avLst/>
          </a:prstGeom>
          <a:solidFill>
            <a:schemeClr val="accent2"/>
          </a:solidFill>
          <a:ln w="19050">
            <a:gradFill flip="none" rotWithShape="1">
              <a:gsLst>
                <a:gs pos="0">
                  <a:schemeClr val="bg1">
                    <a:lumMod val="75000"/>
                  </a:schemeClr>
                </a:gs>
                <a:gs pos="100000">
                  <a:schemeClr val="bg1"/>
                </a:gs>
              </a:gsLst>
              <a:lin ang="2700000" scaled="1"/>
              <a:tileRect/>
            </a:gradFill>
          </a:ln>
          <a:effectLst>
            <a:innerShdw blurRad="635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7501374" y="3423214"/>
            <a:ext cx="298185" cy="298185"/>
          </a:xfrm>
          <a:prstGeom prst="ellipse">
            <a:avLst/>
          </a:prstGeom>
          <a:solidFill>
            <a:schemeClr val="accent3"/>
          </a:solidFill>
          <a:ln w="19050">
            <a:gradFill flip="none" rotWithShape="1">
              <a:gsLst>
                <a:gs pos="0">
                  <a:schemeClr val="bg1">
                    <a:lumMod val="75000"/>
                  </a:schemeClr>
                </a:gs>
                <a:gs pos="100000">
                  <a:schemeClr val="bg1"/>
                </a:gs>
              </a:gsLst>
              <a:lin ang="2700000" scaled="1"/>
              <a:tileRect/>
            </a:gradFill>
          </a:ln>
          <a:effectLst>
            <a:innerShdw blurRad="635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9597291" y="3423214"/>
            <a:ext cx="298185" cy="298185"/>
          </a:xfrm>
          <a:prstGeom prst="ellipse">
            <a:avLst/>
          </a:prstGeom>
          <a:solidFill>
            <a:schemeClr val="accent4"/>
          </a:solidFill>
          <a:ln w="19050">
            <a:gradFill flip="none" rotWithShape="1">
              <a:gsLst>
                <a:gs pos="0">
                  <a:schemeClr val="bg1">
                    <a:lumMod val="75000"/>
                  </a:schemeClr>
                </a:gs>
                <a:gs pos="100000">
                  <a:schemeClr val="bg1"/>
                </a:gs>
              </a:gsLst>
              <a:lin ang="2700000" scaled="1"/>
              <a:tileRect/>
            </a:gradFill>
          </a:ln>
          <a:effectLst>
            <a:innerShdw blurRad="635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116"/>
          <p:cNvSpPr>
            <a:spLocks noChangeAspect="1"/>
          </p:cNvSpPr>
          <p:nvPr/>
        </p:nvSpPr>
        <p:spPr bwMode="auto">
          <a:xfrm>
            <a:off x="9358131" y="1873249"/>
            <a:ext cx="776504" cy="1440000"/>
          </a:xfrm>
          <a:custGeom>
            <a:avLst/>
            <a:gdLst>
              <a:gd name="T0" fmla="*/ 1504 w 3008"/>
              <a:gd name="T1" fmla="*/ 5619 h 5619"/>
              <a:gd name="T2" fmla="*/ 0 w 3008"/>
              <a:gd name="T3" fmla="*/ 1504 h 5619"/>
              <a:gd name="T4" fmla="*/ 1504 w 3008"/>
              <a:gd name="T5" fmla="*/ 0 h 5619"/>
              <a:gd name="T6" fmla="*/ 3008 w 3008"/>
              <a:gd name="T7" fmla="*/ 1504 h 5619"/>
              <a:gd name="T8" fmla="*/ 1504 w 3008"/>
              <a:gd name="T9" fmla="*/ 5619 h 5619"/>
            </a:gdLst>
            <a:ahLst/>
            <a:cxnLst>
              <a:cxn ang="0">
                <a:pos x="T0" y="T1"/>
              </a:cxn>
              <a:cxn ang="0">
                <a:pos x="T2" y="T3"/>
              </a:cxn>
              <a:cxn ang="0">
                <a:pos x="T4" y="T5"/>
              </a:cxn>
              <a:cxn ang="0">
                <a:pos x="T6" y="T7"/>
              </a:cxn>
              <a:cxn ang="0">
                <a:pos x="T8" y="T9"/>
              </a:cxn>
            </a:cxnLst>
            <a:rect l="0" t="0" r="r" b="b"/>
            <a:pathLst>
              <a:path w="3008" h="5619">
                <a:moveTo>
                  <a:pt x="1504" y="5619"/>
                </a:moveTo>
                <a:cubicBezTo>
                  <a:pt x="1101" y="4550"/>
                  <a:pt x="0" y="2701"/>
                  <a:pt x="0" y="1504"/>
                </a:cubicBezTo>
                <a:cubicBezTo>
                  <a:pt x="0" y="673"/>
                  <a:pt x="674" y="0"/>
                  <a:pt x="1504" y="0"/>
                </a:cubicBezTo>
                <a:cubicBezTo>
                  <a:pt x="2335" y="0"/>
                  <a:pt x="3008" y="673"/>
                  <a:pt x="3008" y="1504"/>
                </a:cubicBezTo>
                <a:cubicBezTo>
                  <a:pt x="3008" y="2702"/>
                  <a:pt x="1907" y="4550"/>
                  <a:pt x="1504" y="5619"/>
                </a:cubicBezTo>
                <a:close/>
              </a:path>
            </a:pathLst>
          </a:custGeom>
          <a:solidFill>
            <a:schemeClr val="accent4"/>
          </a:solidFill>
          <a:ln w="31750">
            <a:gradFill flip="none" rotWithShape="1">
              <a:gsLst>
                <a:gs pos="0">
                  <a:schemeClr val="bg1"/>
                </a:gs>
                <a:gs pos="100000">
                  <a:schemeClr val="bg1">
                    <a:lumMod val="75000"/>
                  </a:schemeClr>
                </a:gs>
              </a:gsLst>
              <a:lin ang="5400000" scaled="0"/>
              <a:tileRect/>
            </a:gradFill>
          </a:ln>
          <a:effectLst>
            <a:outerShdw blurRad="228600" dist="762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116"/>
          <p:cNvSpPr>
            <a:spLocks noChangeAspect="1"/>
          </p:cNvSpPr>
          <p:nvPr/>
        </p:nvSpPr>
        <p:spPr bwMode="auto">
          <a:xfrm>
            <a:off x="5166297" y="1873249"/>
            <a:ext cx="776504" cy="1440000"/>
          </a:xfrm>
          <a:custGeom>
            <a:avLst/>
            <a:gdLst>
              <a:gd name="T0" fmla="*/ 1504 w 3008"/>
              <a:gd name="T1" fmla="*/ 5619 h 5619"/>
              <a:gd name="T2" fmla="*/ 0 w 3008"/>
              <a:gd name="T3" fmla="*/ 1504 h 5619"/>
              <a:gd name="T4" fmla="*/ 1504 w 3008"/>
              <a:gd name="T5" fmla="*/ 0 h 5619"/>
              <a:gd name="T6" fmla="*/ 3008 w 3008"/>
              <a:gd name="T7" fmla="*/ 1504 h 5619"/>
              <a:gd name="T8" fmla="*/ 1504 w 3008"/>
              <a:gd name="T9" fmla="*/ 5619 h 5619"/>
            </a:gdLst>
            <a:ahLst/>
            <a:cxnLst>
              <a:cxn ang="0">
                <a:pos x="T0" y="T1"/>
              </a:cxn>
              <a:cxn ang="0">
                <a:pos x="T2" y="T3"/>
              </a:cxn>
              <a:cxn ang="0">
                <a:pos x="T4" y="T5"/>
              </a:cxn>
              <a:cxn ang="0">
                <a:pos x="T6" y="T7"/>
              </a:cxn>
              <a:cxn ang="0">
                <a:pos x="T8" y="T9"/>
              </a:cxn>
            </a:cxnLst>
            <a:rect l="0" t="0" r="r" b="b"/>
            <a:pathLst>
              <a:path w="3008" h="5619">
                <a:moveTo>
                  <a:pt x="1504" y="5619"/>
                </a:moveTo>
                <a:cubicBezTo>
                  <a:pt x="1101" y="4550"/>
                  <a:pt x="0" y="2701"/>
                  <a:pt x="0" y="1504"/>
                </a:cubicBezTo>
                <a:cubicBezTo>
                  <a:pt x="0" y="673"/>
                  <a:pt x="674" y="0"/>
                  <a:pt x="1504" y="0"/>
                </a:cubicBezTo>
                <a:cubicBezTo>
                  <a:pt x="2335" y="0"/>
                  <a:pt x="3008" y="673"/>
                  <a:pt x="3008" y="1504"/>
                </a:cubicBezTo>
                <a:cubicBezTo>
                  <a:pt x="3008" y="2702"/>
                  <a:pt x="1907" y="4550"/>
                  <a:pt x="1504" y="5619"/>
                </a:cubicBezTo>
                <a:close/>
              </a:path>
            </a:pathLst>
          </a:custGeom>
          <a:solidFill>
            <a:schemeClr val="accent2"/>
          </a:solidFill>
          <a:ln w="31750">
            <a:gradFill flip="none" rotWithShape="1">
              <a:gsLst>
                <a:gs pos="0">
                  <a:schemeClr val="bg1"/>
                </a:gs>
                <a:gs pos="100000">
                  <a:schemeClr val="bg1">
                    <a:lumMod val="75000"/>
                  </a:schemeClr>
                </a:gs>
              </a:gsLst>
              <a:lin ang="5400000" scaled="0"/>
              <a:tileRect/>
            </a:gradFill>
          </a:ln>
          <a:effectLst>
            <a:outerShdw blurRad="228600" dist="762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reeform 116"/>
          <p:cNvSpPr>
            <a:spLocks noChangeAspect="1"/>
          </p:cNvSpPr>
          <p:nvPr/>
        </p:nvSpPr>
        <p:spPr bwMode="auto">
          <a:xfrm flipV="1">
            <a:off x="3070380" y="3802185"/>
            <a:ext cx="776504" cy="1440000"/>
          </a:xfrm>
          <a:custGeom>
            <a:avLst/>
            <a:gdLst>
              <a:gd name="T0" fmla="*/ 1504 w 3008"/>
              <a:gd name="T1" fmla="*/ 5619 h 5619"/>
              <a:gd name="T2" fmla="*/ 0 w 3008"/>
              <a:gd name="T3" fmla="*/ 1504 h 5619"/>
              <a:gd name="T4" fmla="*/ 1504 w 3008"/>
              <a:gd name="T5" fmla="*/ 0 h 5619"/>
              <a:gd name="T6" fmla="*/ 3008 w 3008"/>
              <a:gd name="T7" fmla="*/ 1504 h 5619"/>
              <a:gd name="T8" fmla="*/ 1504 w 3008"/>
              <a:gd name="T9" fmla="*/ 5619 h 5619"/>
            </a:gdLst>
            <a:ahLst/>
            <a:cxnLst>
              <a:cxn ang="0">
                <a:pos x="T0" y="T1"/>
              </a:cxn>
              <a:cxn ang="0">
                <a:pos x="T2" y="T3"/>
              </a:cxn>
              <a:cxn ang="0">
                <a:pos x="T4" y="T5"/>
              </a:cxn>
              <a:cxn ang="0">
                <a:pos x="T6" y="T7"/>
              </a:cxn>
              <a:cxn ang="0">
                <a:pos x="T8" y="T9"/>
              </a:cxn>
            </a:cxnLst>
            <a:rect l="0" t="0" r="r" b="b"/>
            <a:pathLst>
              <a:path w="3008" h="5619">
                <a:moveTo>
                  <a:pt x="1504" y="5619"/>
                </a:moveTo>
                <a:cubicBezTo>
                  <a:pt x="1101" y="4550"/>
                  <a:pt x="0" y="2701"/>
                  <a:pt x="0" y="1504"/>
                </a:cubicBezTo>
                <a:cubicBezTo>
                  <a:pt x="0" y="673"/>
                  <a:pt x="674" y="0"/>
                  <a:pt x="1504" y="0"/>
                </a:cubicBezTo>
                <a:cubicBezTo>
                  <a:pt x="2335" y="0"/>
                  <a:pt x="3008" y="673"/>
                  <a:pt x="3008" y="1504"/>
                </a:cubicBezTo>
                <a:cubicBezTo>
                  <a:pt x="3008" y="2702"/>
                  <a:pt x="1907" y="4550"/>
                  <a:pt x="1504" y="5619"/>
                </a:cubicBezTo>
                <a:close/>
              </a:path>
            </a:pathLst>
          </a:custGeom>
          <a:solidFill>
            <a:schemeClr val="accent1"/>
          </a:solidFill>
          <a:ln w="31750">
            <a:gradFill flip="none" rotWithShape="1">
              <a:gsLst>
                <a:gs pos="0">
                  <a:schemeClr val="bg1"/>
                </a:gs>
                <a:gs pos="100000">
                  <a:schemeClr val="bg1">
                    <a:lumMod val="75000"/>
                  </a:schemeClr>
                </a:gs>
              </a:gsLst>
              <a:lin ang="16200000" scaled="0"/>
              <a:tileRect/>
            </a:gradFill>
          </a:ln>
          <a:effectLst>
            <a:outerShdw blurRad="228600" dist="762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116"/>
          <p:cNvSpPr>
            <a:spLocks noChangeAspect="1"/>
          </p:cNvSpPr>
          <p:nvPr/>
        </p:nvSpPr>
        <p:spPr bwMode="auto">
          <a:xfrm flipV="1">
            <a:off x="7262214" y="3802185"/>
            <a:ext cx="776504" cy="1440000"/>
          </a:xfrm>
          <a:custGeom>
            <a:avLst/>
            <a:gdLst>
              <a:gd name="T0" fmla="*/ 1504 w 3008"/>
              <a:gd name="T1" fmla="*/ 5619 h 5619"/>
              <a:gd name="T2" fmla="*/ 0 w 3008"/>
              <a:gd name="T3" fmla="*/ 1504 h 5619"/>
              <a:gd name="T4" fmla="*/ 1504 w 3008"/>
              <a:gd name="T5" fmla="*/ 0 h 5619"/>
              <a:gd name="T6" fmla="*/ 3008 w 3008"/>
              <a:gd name="T7" fmla="*/ 1504 h 5619"/>
              <a:gd name="T8" fmla="*/ 1504 w 3008"/>
              <a:gd name="T9" fmla="*/ 5619 h 5619"/>
            </a:gdLst>
            <a:ahLst/>
            <a:cxnLst>
              <a:cxn ang="0">
                <a:pos x="T0" y="T1"/>
              </a:cxn>
              <a:cxn ang="0">
                <a:pos x="T2" y="T3"/>
              </a:cxn>
              <a:cxn ang="0">
                <a:pos x="T4" y="T5"/>
              </a:cxn>
              <a:cxn ang="0">
                <a:pos x="T6" y="T7"/>
              </a:cxn>
              <a:cxn ang="0">
                <a:pos x="T8" y="T9"/>
              </a:cxn>
            </a:cxnLst>
            <a:rect l="0" t="0" r="r" b="b"/>
            <a:pathLst>
              <a:path w="3008" h="5619">
                <a:moveTo>
                  <a:pt x="1504" y="5619"/>
                </a:moveTo>
                <a:cubicBezTo>
                  <a:pt x="1101" y="4550"/>
                  <a:pt x="0" y="2701"/>
                  <a:pt x="0" y="1504"/>
                </a:cubicBezTo>
                <a:cubicBezTo>
                  <a:pt x="0" y="673"/>
                  <a:pt x="674" y="0"/>
                  <a:pt x="1504" y="0"/>
                </a:cubicBezTo>
                <a:cubicBezTo>
                  <a:pt x="2335" y="0"/>
                  <a:pt x="3008" y="673"/>
                  <a:pt x="3008" y="1504"/>
                </a:cubicBezTo>
                <a:cubicBezTo>
                  <a:pt x="3008" y="2702"/>
                  <a:pt x="1907" y="4550"/>
                  <a:pt x="1504" y="5619"/>
                </a:cubicBezTo>
                <a:close/>
              </a:path>
            </a:pathLst>
          </a:custGeom>
          <a:solidFill>
            <a:schemeClr val="accent3"/>
          </a:solidFill>
          <a:ln w="31750">
            <a:gradFill flip="none" rotWithShape="1">
              <a:gsLst>
                <a:gs pos="0">
                  <a:schemeClr val="bg1"/>
                </a:gs>
                <a:gs pos="100000">
                  <a:schemeClr val="bg1">
                    <a:lumMod val="75000"/>
                  </a:schemeClr>
                </a:gs>
              </a:gsLst>
              <a:lin ang="16200000" scaled="0"/>
              <a:tileRect/>
            </a:gradFill>
          </a:ln>
          <a:effectLst>
            <a:outerShdw blurRad="228600" dist="762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3098955" y="4566867"/>
            <a:ext cx="717929" cy="460375"/>
          </a:xfrm>
          <a:prstGeom prst="rect">
            <a:avLst/>
          </a:prstGeom>
        </p:spPr>
        <p:txBody>
          <a:bodyPr wrap="square">
            <a:spAutoFit/>
          </a:bodyPr>
          <a:lstStyle/>
          <a:p>
            <a:pPr algn="ctr"/>
            <a:r>
              <a:rPr lang="en-US" altLang="zh-CN" sz="2400" spc="-150" dirty="0">
                <a:solidFill>
                  <a:schemeClr val="bg1"/>
                </a:solidFill>
                <a:latin typeface="方正兰亭中黑_GBK" panose="02000000000000000000" pitchFamily="2" charset="-122"/>
                <a:ea typeface="方正兰亭中黑_GBK" panose="02000000000000000000" pitchFamily="2" charset="-122"/>
              </a:rPr>
              <a:t>A</a:t>
            </a:r>
            <a:endParaRPr lang="en-US" altLang="zh-CN" sz="2400" spc="-150" dirty="0">
              <a:solidFill>
                <a:schemeClr val="bg1"/>
              </a:solidFill>
              <a:latin typeface="方正兰亭中黑_GBK" panose="02000000000000000000" pitchFamily="2" charset="-122"/>
              <a:ea typeface="方正兰亭中黑_GBK" panose="02000000000000000000" pitchFamily="2" charset="-122"/>
            </a:endParaRPr>
          </a:p>
        </p:txBody>
      </p:sp>
      <p:sp>
        <p:nvSpPr>
          <p:cNvPr id="18" name="矩形 17"/>
          <p:cNvSpPr/>
          <p:nvPr/>
        </p:nvSpPr>
        <p:spPr>
          <a:xfrm>
            <a:off x="7320789" y="4566867"/>
            <a:ext cx="717929" cy="460375"/>
          </a:xfrm>
          <a:prstGeom prst="rect">
            <a:avLst/>
          </a:prstGeom>
        </p:spPr>
        <p:txBody>
          <a:bodyPr wrap="square">
            <a:spAutoFit/>
          </a:bodyPr>
          <a:lstStyle/>
          <a:p>
            <a:pPr algn="ctr"/>
            <a:r>
              <a:rPr lang="en-US" sz="2400" spc="-150" dirty="0" smtClean="0">
                <a:solidFill>
                  <a:schemeClr val="bg1"/>
                </a:solidFill>
                <a:latin typeface="方正兰亭中黑_GBK" panose="02000000000000000000" pitchFamily="2" charset="-122"/>
                <a:ea typeface="方正兰亭中黑_GBK" panose="02000000000000000000" pitchFamily="2" charset="-122"/>
              </a:rPr>
              <a:t>C</a:t>
            </a:r>
            <a:endParaRPr lang="en-US" sz="2400" spc="-150" dirty="0">
              <a:solidFill>
                <a:schemeClr val="bg1"/>
              </a:solidFill>
              <a:latin typeface="方正兰亭中黑_GBK" panose="02000000000000000000" pitchFamily="2" charset="-122"/>
              <a:ea typeface="方正兰亭中黑_GBK" panose="02000000000000000000" pitchFamily="2" charset="-122"/>
            </a:endParaRPr>
          </a:p>
        </p:txBody>
      </p:sp>
      <p:sp>
        <p:nvSpPr>
          <p:cNvPr id="19" name="矩形 18"/>
          <p:cNvSpPr/>
          <p:nvPr/>
        </p:nvSpPr>
        <p:spPr>
          <a:xfrm>
            <a:off x="5194872" y="2103095"/>
            <a:ext cx="717929" cy="460375"/>
          </a:xfrm>
          <a:prstGeom prst="rect">
            <a:avLst/>
          </a:prstGeom>
        </p:spPr>
        <p:txBody>
          <a:bodyPr wrap="square">
            <a:spAutoFit/>
          </a:bodyPr>
          <a:lstStyle/>
          <a:p>
            <a:pPr algn="ctr"/>
            <a:r>
              <a:rPr lang="en-US" sz="2400" spc="-150" dirty="0" smtClean="0">
                <a:solidFill>
                  <a:schemeClr val="bg1"/>
                </a:solidFill>
                <a:latin typeface="方正兰亭中黑_GBK" panose="02000000000000000000" pitchFamily="2" charset="-122"/>
                <a:ea typeface="方正兰亭中黑_GBK" panose="02000000000000000000" pitchFamily="2" charset="-122"/>
              </a:rPr>
              <a:t>B</a:t>
            </a:r>
            <a:endParaRPr lang="en-US" sz="2400" spc="-150" dirty="0">
              <a:solidFill>
                <a:schemeClr val="bg1"/>
              </a:solidFill>
              <a:latin typeface="方正兰亭中黑_GBK" panose="02000000000000000000" pitchFamily="2" charset="-122"/>
              <a:ea typeface="方正兰亭中黑_GBK" panose="02000000000000000000" pitchFamily="2" charset="-122"/>
            </a:endParaRPr>
          </a:p>
        </p:txBody>
      </p:sp>
      <p:sp>
        <p:nvSpPr>
          <p:cNvPr id="20" name="矩形 19"/>
          <p:cNvSpPr/>
          <p:nvPr/>
        </p:nvSpPr>
        <p:spPr>
          <a:xfrm>
            <a:off x="9387418" y="2103095"/>
            <a:ext cx="717929" cy="460375"/>
          </a:xfrm>
          <a:prstGeom prst="rect">
            <a:avLst/>
          </a:prstGeom>
        </p:spPr>
        <p:txBody>
          <a:bodyPr wrap="square">
            <a:spAutoFit/>
          </a:bodyPr>
          <a:lstStyle/>
          <a:p>
            <a:pPr algn="ctr"/>
            <a:r>
              <a:rPr lang="en-US" sz="2400" spc="-150" dirty="0" smtClean="0">
                <a:solidFill>
                  <a:schemeClr val="bg1"/>
                </a:solidFill>
                <a:latin typeface="方正兰亭中黑_GBK" panose="02000000000000000000" pitchFamily="2" charset="-122"/>
                <a:ea typeface="方正兰亭中黑_GBK" panose="02000000000000000000" pitchFamily="2" charset="-122"/>
              </a:rPr>
              <a:t>D</a:t>
            </a:r>
            <a:endParaRPr lang="en-US" sz="2400" spc="-150" dirty="0">
              <a:solidFill>
                <a:schemeClr val="bg1"/>
              </a:solidFill>
              <a:latin typeface="方正兰亭中黑_GBK" panose="02000000000000000000" pitchFamily="2" charset="-122"/>
              <a:ea typeface="方正兰亭中黑_GBK" panose="02000000000000000000" pitchFamily="2" charset="-122"/>
            </a:endParaRPr>
          </a:p>
        </p:txBody>
      </p:sp>
      <p:sp>
        <p:nvSpPr>
          <p:cNvPr id="21" name="矩形 20"/>
          <p:cNvSpPr/>
          <p:nvPr/>
        </p:nvSpPr>
        <p:spPr>
          <a:xfrm>
            <a:off x="2563153" y="2497417"/>
            <a:ext cx="1799194" cy="275590"/>
          </a:xfrm>
          <a:prstGeom prst="rect">
            <a:avLst/>
          </a:prstGeom>
        </p:spPr>
        <p:txBody>
          <a:bodyPr wrap="square">
            <a:spAutoFit/>
          </a:bodyPr>
          <a:lstStyle/>
          <a:p>
            <a:pPr algn="ctr"/>
            <a:r>
              <a:rPr lang="zh-CN" altLang="en-US" sz="1200" dirty="0" smtClean="0">
                <a:latin typeface="微软雅黑" panose="020B0503020204020204" charset="-122"/>
                <a:ea typeface="微软雅黑" panose="020B0503020204020204" charset="-122"/>
              </a:rPr>
              <a:t>关键词热度</a:t>
            </a:r>
            <a:endParaRPr lang="zh-CN" altLang="en-US" sz="1200" dirty="0">
              <a:latin typeface="微软雅黑" panose="020B0503020204020204" charset="-122"/>
              <a:ea typeface="微软雅黑" panose="020B0503020204020204" charset="-122"/>
            </a:endParaRPr>
          </a:p>
        </p:txBody>
      </p:sp>
      <p:sp>
        <p:nvSpPr>
          <p:cNvPr id="22" name="矩形 21"/>
          <p:cNvSpPr/>
          <p:nvPr/>
        </p:nvSpPr>
        <p:spPr>
          <a:xfrm>
            <a:off x="2563154" y="2185009"/>
            <a:ext cx="1799194" cy="337185"/>
          </a:xfrm>
          <a:prstGeom prst="rect">
            <a:avLst/>
          </a:prstGeom>
        </p:spPr>
        <p:txBody>
          <a:bodyPr wrap="square">
            <a:spAutoFit/>
          </a:bodyPr>
          <a:lstStyle/>
          <a:p>
            <a:pPr algn="ctr"/>
            <a:r>
              <a:rPr lang="zh-CN" altLang="en-US" sz="1600" b="1" dirty="0">
                <a:solidFill>
                  <a:schemeClr val="accent1"/>
                </a:solidFill>
                <a:latin typeface="微软雅黑" panose="020B0503020204020204" charset="-122"/>
                <a:ea typeface="微软雅黑" panose="020B0503020204020204" charset="-122"/>
              </a:rPr>
              <a:t>确定类目</a:t>
            </a:r>
            <a:endParaRPr lang="zh-CN" altLang="en-US" sz="1600" b="1" dirty="0">
              <a:solidFill>
                <a:schemeClr val="accent1"/>
              </a:solidFill>
              <a:latin typeface="微软雅黑" panose="020B0503020204020204" charset="-122"/>
              <a:ea typeface="微软雅黑" panose="020B0503020204020204" charset="-122"/>
            </a:endParaRPr>
          </a:p>
        </p:txBody>
      </p:sp>
      <p:sp>
        <p:nvSpPr>
          <p:cNvPr id="23" name="矩形 22"/>
          <p:cNvSpPr/>
          <p:nvPr/>
        </p:nvSpPr>
        <p:spPr>
          <a:xfrm>
            <a:off x="6750867" y="2497417"/>
            <a:ext cx="1799194" cy="275590"/>
          </a:xfrm>
          <a:prstGeom prst="rect">
            <a:avLst/>
          </a:prstGeom>
        </p:spPr>
        <p:txBody>
          <a:bodyPr wrap="square">
            <a:spAutoFit/>
          </a:bodyPr>
          <a:lstStyle/>
          <a:p>
            <a:pPr algn="ctr"/>
            <a:r>
              <a:rPr lang="zh-CN" altLang="en-US" sz="1200" dirty="0" smtClean="0">
                <a:latin typeface="微软雅黑" panose="020B0503020204020204" charset="-122"/>
                <a:ea typeface="微软雅黑" panose="020B0503020204020204" charset="-122"/>
              </a:rPr>
              <a:t>利润空间</a:t>
            </a:r>
            <a:endParaRPr lang="zh-CN" altLang="en-US" sz="1200" dirty="0">
              <a:latin typeface="微软雅黑" panose="020B0503020204020204" charset="-122"/>
              <a:ea typeface="微软雅黑" panose="020B0503020204020204" charset="-122"/>
            </a:endParaRPr>
          </a:p>
        </p:txBody>
      </p:sp>
      <p:sp>
        <p:nvSpPr>
          <p:cNvPr id="24" name="矩形 23"/>
          <p:cNvSpPr/>
          <p:nvPr/>
        </p:nvSpPr>
        <p:spPr>
          <a:xfrm>
            <a:off x="6750868" y="2185009"/>
            <a:ext cx="1799194" cy="337185"/>
          </a:xfrm>
          <a:prstGeom prst="rect">
            <a:avLst/>
          </a:prstGeom>
        </p:spPr>
        <p:txBody>
          <a:bodyPr wrap="square">
            <a:spAutoFit/>
          </a:bodyPr>
          <a:lstStyle/>
          <a:p>
            <a:pPr algn="ctr"/>
            <a:r>
              <a:rPr lang="zh-CN" altLang="en-US" sz="1600" b="1" dirty="0" smtClean="0">
                <a:solidFill>
                  <a:schemeClr val="accent1"/>
                </a:solidFill>
                <a:latin typeface="微软雅黑" panose="020B0503020204020204" charset="-122"/>
                <a:ea typeface="微软雅黑" panose="020B0503020204020204" charset="-122"/>
              </a:rPr>
              <a:t>运营成本预算</a:t>
            </a:r>
            <a:endParaRPr lang="zh-CN" altLang="en-US" sz="1600" b="1" dirty="0">
              <a:solidFill>
                <a:schemeClr val="accent1"/>
              </a:solidFill>
              <a:latin typeface="微软雅黑" panose="020B0503020204020204" charset="-122"/>
              <a:ea typeface="微软雅黑" panose="020B0503020204020204" charset="-122"/>
            </a:endParaRPr>
          </a:p>
        </p:txBody>
      </p:sp>
      <p:sp>
        <p:nvSpPr>
          <p:cNvPr id="25" name="矩形 24"/>
          <p:cNvSpPr/>
          <p:nvPr/>
        </p:nvSpPr>
        <p:spPr>
          <a:xfrm>
            <a:off x="4654951" y="4263527"/>
            <a:ext cx="1799194" cy="275590"/>
          </a:xfrm>
          <a:prstGeom prst="rect">
            <a:avLst/>
          </a:prstGeom>
        </p:spPr>
        <p:txBody>
          <a:bodyPr wrap="square">
            <a:spAutoFit/>
          </a:bodyPr>
          <a:lstStyle/>
          <a:p>
            <a:pPr algn="ctr"/>
            <a:r>
              <a:rPr lang="zh-CN" altLang="en-US" sz="1200" dirty="0">
                <a:latin typeface="微软雅黑" panose="020B0503020204020204" charset="-122"/>
                <a:ea typeface="微软雅黑" panose="020B0503020204020204" charset="-122"/>
              </a:rPr>
              <a:t>重量，体积</a:t>
            </a:r>
            <a:endParaRPr lang="zh-CN" altLang="en-US" sz="1200" dirty="0">
              <a:latin typeface="微软雅黑" panose="020B0503020204020204" charset="-122"/>
              <a:ea typeface="微软雅黑" panose="020B0503020204020204" charset="-122"/>
            </a:endParaRPr>
          </a:p>
        </p:txBody>
      </p:sp>
      <p:sp>
        <p:nvSpPr>
          <p:cNvPr id="26" name="矩形 25"/>
          <p:cNvSpPr/>
          <p:nvPr/>
        </p:nvSpPr>
        <p:spPr>
          <a:xfrm>
            <a:off x="4654952" y="3951119"/>
            <a:ext cx="1799194" cy="337185"/>
          </a:xfrm>
          <a:prstGeom prst="rect">
            <a:avLst/>
          </a:prstGeom>
        </p:spPr>
        <p:txBody>
          <a:bodyPr wrap="square">
            <a:spAutoFit/>
          </a:bodyPr>
          <a:lstStyle/>
          <a:p>
            <a:pPr algn="ctr"/>
            <a:r>
              <a:rPr lang="zh-CN" altLang="en-US" sz="1600" b="1" dirty="0" smtClean="0">
                <a:solidFill>
                  <a:schemeClr val="accent1"/>
                </a:solidFill>
                <a:latin typeface="微软雅黑" panose="020B0503020204020204" charset="-122"/>
                <a:ea typeface="微软雅黑" panose="020B0503020204020204" charset="-122"/>
              </a:rPr>
              <a:t>成本价</a:t>
            </a:r>
            <a:endParaRPr lang="zh-CN" altLang="en-US" sz="1600" b="1" dirty="0">
              <a:solidFill>
                <a:schemeClr val="accent1"/>
              </a:solidFill>
              <a:latin typeface="微软雅黑" panose="020B0503020204020204" charset="-122"/>
              <a:ea typeface="微软雅黑" panose="020B0503020204020204" charset="-122"/>
            </a:endParaRPr>
          </a:p>
        </p:txBody>
      </p:sp>
      <p:sp>
        <p:nvSpPr>
          <p:cNvPr id="27" name="矩形 26"/>
          <p:cNvSpPr/>
          <p:nvPr/>
        </p:nvSpPr>
        <p:spPr>
          <a:xfrm>
            <a:off x="8846784" y="4263527"/>
            <a:ext cx="1799194" cy="460375"/>
          </a:xfrm>
          <a:prstGeom prst="rect">
            <a:avLst/>
          </a:prstGeom>
        </p:spPr>
        <p:txBody>
          <a:bodyPr wrap="square">
            <a:spAutoFit/>
          </a:bodyPr>
          <a:lstStyle/>
          <a:p>
            <a:pPr algn="ctr"/>
            <a:r>
              <a:rPr lang="zh-CN" altLang="en-US" sz="1200" dirty="0" smtClean="0">
                <a:latin typeface="微软雅黑" panose="020B0503020204020204" charset="-122"/>
                <a:ea typeface="微软雅黑" panose="020B0503020204020204" charset="-122"/>
              </a:rPr>
              <a:t>供应商资源，配合力度，改善计划</a:t>
            </a:r>
            <a:endParaRPr lang="zh-CN" altLang="en-US" sz="1200" dirty="0">
              <a:latin typeface="微软雅黑" panose="020B0503020204020204" charset="-122"/>
              <a:ea typeface="微软雅黑" panose="020B0503020204020204" charset="-122"/>
            </a:endParaRPr>
          </a:p>
        </p:txBody>
      </p:sp>
      <p:sp>
        <p:nvSpPr>
          <p:cNvPr id="28" name="矩形 27"/>
          <p:cNvSpPr/>
          <p:nvPr/>
        </p:nvSpPr>
        <p:spPr>
          <a:xfrm>
            <a:off x="8846785" y="3951119"/>
            <a:ext cx="1799194" cy="337185"/>
          </a:xfrm>
          <a:prstGeom prst="rect">
            <a:avLst/>
          </a:prstGeom>
        </p:spPr>
        <p:txBody>
          <a:bodyPr wrap="square">
            <a:spAutoFit/>
          </a:bodyPr>
          <a:lstStyle/>
          <a:p>
            <a:pPr algn="ctr"/>
            <a:r>
              <a:rPr lang="zh-CN" altLang="en-US" sz="1600" b="1" dirty="0" smtClean="0">
                <a:solidFill>
                  <a:schemeClr val="accent1"/>
                </a:solidFill>
                <a:latin typeface="微软雅黑" panose="020B0503020204020204" charset="-122"/>
                <a:ea typeface="微软雅黑" panose="020B0503020204020204" charset="-122"/>
              </a:rPr>
              <a:t>市场痛点</a:t>
            </a:r>
            <a:endParaRPr lang="zh-CN" altLang="en-US" sz="1600" b="1" dirty="0">
              <a:solidFill>
                <a:schemeClr val="accent1"/>
              </a:solidFill>
              <a:latin typeface="微软雅黑" panose="020B0503020204020204" charset="-122"/>
              <a:ea typeface="微软雅黑" panose="020B0503020204020204" charset="-122"/>
            </a:endParaRPr>
          </a:p>
        </p:txBody>
      </p:sp>
      <p:sp>
        <p:nvSpPr>
          <p:cNvPr id="29" name="标题 28"/>
          <p:cNvSpPr>
            <a:spLocks noGrp="1"/>
          </p:cNvSpPr>
          <p:nvPr>
            <p:ph type="title"/>
          </p:nvPr>
        </p:nvSpPr>
        <p:spPr/>
        <p:txBody>
          <a:bodyPr>
            <a:normAutofit fontScale="90000"/>
          </a:bodyPr>
          <a:lstStyle/>
          <a:p>
            <a:r>
              <a:rPr lang="zh-CN" altLang="en-US" dirty="0"/>
              <a:t>市场调研</a:t>
            </a:r>
            <a:endParaRPr lang="zh-CN" altLang="en-US" dirty="0"/>
          </a:p>
        </p:txBody>
      </p:sp>
      <p:sp>
        <p:nvSpPr>
          <p:cNvPr id="2" name="矩形 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3" name="文本框 2"/>
          <p:cNvSpPr txBox="1"/>
          <p:nvPr/>
        </p:nvSpPr>
        <p:spPr>
          <a:xfrm>
            <a:off x="1051560" y="5409565"/>
            <a:ext cx="10088880" cy="368300"/>
          </a:xfrm>
          <a:prstGeom prst="rect">
            <a:avLst/>
          </a:prstGeom>
          <a:noFill/>
        </p:spPr>
        <p:txBody>
          <a:bodyPr wrap="none" rtlCol="0">
            <a:spAutoFit/>
          </a:bodyPr>
          <a:p>
            <a:r>
              <a:rPr lang="zh-CN" altLang="en-US"/>
              <a:t>类目流量</a:t>
            </a:r>
            <a:r>
              <a:rPr lang="en-US" altLang="zh-CN"/>
              <a:t>--</a:t>
            </a:r>
            <a:r>
              <a:rPr lang="zh-CN" altLang="en-US"/>
              <a:t>竞争对手分析</a:t>
            </a:r>
            <a:r>
              <a:rPr lang="en-US" altLang="zh-CN"/>
              <a:t>--</a:t>
            </a:r>
            <a:r>
              <a:rPr lang="zh-CN" altLang="en-US"/>
              <a:t>拿货成本</a:t>
            </a:r>
            <a:r>
              <a:rPr lang="en-US" altLang="zh-CN"/>
              <a:t>--</a:t>
            </a:r>
            <a:r>
              <a:rPr lang="zh-CN" altLang="en-US"/>
              <a:t>运营成本预算</a:t>
            </a:r>
            <a:r>
              <a:rPr lang="en-US" altLang="zh-CN"/>
              <a:t>--</a:t>
            </a:r>
            <a:r>
              <a:rPr lang="zh-CN" altLang="en-US"/>
              <a:t>利润空间</a:t>
            </a:r>
            <a:r>
              <a:rPr lang="en-US" altLang="zh-CN"/>
              <a:t>--</a:t>
            </a:r>
            <a:r>
              <a:rPr lang="zh-CN" altLang="en-US"/>
              <a:t>市场痛点</a:t>
            </a:r>
            <a:r>
              <a:rPr lang="en-US" altLang="zh-CN"/>
              <a:t>--</a:t>
            </a:r>
            <a:r>
              <a:rPr lang="zh-CN" altLang="en-US"/>
              <a:t>交期</a:t>
            </a:r>
            <a:r>
              <a:rPr lang="en-US" altLang="zh-CN"/>
              <a:t>--</a:t>
            </a:r>
            <a:r>
              <a:rPr lang="zh-CN" altLang="en-US"/>
              <a:t>拿货数量</a:t>
            </a:r>
            <a:r>
              <a:rPr lang="en-US" altLang="zh-CN"/>
              <a:t>--</a:t>
            </a:r>
            <a:r>
              <a:rPr lang="zh-CN" altLang="en-US"/>
              <a:t>确认采购</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50"/>
                                        <p:tgtEl>
                                          <p:spTgt spid="9"/>
                                        </p:tgtEl>
                                      </p:cBhvr>
                                    </p:animEffect>
                                  </p:childTnLst>
                                </p:cTn>
                              </p:par>
                            </p:childTnLst>
                          </p:cTn>
                        </p:par>
                        <p:par>
                          <p:cTn id="13" fill="hold">
                            <p:stCondLst>
                              <p:cond delay="1000"/>
                            </p:stCondLst>
                            <p:childTnLst>
                              <p:par>
                                <p:cTn id="14" presetID="47" presetClass="entr" presetSubtype="0"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250"/>
                                        <p:tgtEl>
                                          <p:spTgt spid="15"/>
                                        </p:tgtEl>
                                      </p:cBhvr>
                                    </p:animEffect>
                                    <p:anim calcmode="lin" valueType="num">
                                      <p:cBhvr>
                                        <p:cTn id="17" dur="250" fill="hold"/>
                                        <p:tgtEl>
                                          <p:spTgt spid="15"/>
                                        </p:tgtEl>
                                        <p:attrNameLst>
                                          <p:attrName>ppt_x</p:attrName>
                                        </p:attrNameLst>
                                      </p:cBhvr>
                                      <p:tavLst>
                                        <p:tav tm="0">
                                          <p:val>
                                            <p:strVal val="#ppt_x"/>
                                          </p:val>
                                        </p:tav>
                                        <p:tav tm="100000">
                                          <p:val>
                                            <p:strVal val="#ppt_x"/>
                                          </p:val>
                                        </p:tav>
                                      </p:tavLst>
                                    </p:anim>
                                    <p:anim calcmode="lin" valueType="num">
                                      <p:cBhvr>
                                        <p:cTn id="18" dur="250" fill="hold"/>
                                        <p:tgtEl>
                                          <p:spTgt spid="15"/>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250"/>
                                        <p:tgtEl>
                                          <p:spTgt spid="17"/>
                                        </p:tgtEl>
                                      </p:cBhvr>
                                    </p:animEffect>
                                  </p:childTnLst>
                                </p:cTn>
                              </p:par>
                            </p:childTnLst>
                          </p:cTn>
                        </p:par>
                        <p:par>
                          <p:cTn id="23" fill="hold">
                            <p:stCondLst>
                              <p:cond delay="2000"/>
                            </p:stCondLst>
                            <p:childTnLst>
                              <p:par>
                                <p:cTn id="24" presetID="42" presetClass="entr" presetSubtype="0" fill="hold" grpId="0"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250"/>
                                        <p:tgtEl>
                                          <p:spTgt spid="22"/>
                                        </p:tgtEl>
                                      </p:cBhvr>
                                    </p:animEffect>
                                    <p:anim calcmode="lin" valueType="num">
                                      <p:cBhvr>
                                        <p:cTn id="27" dur="250" fill="hold"/>
                                        <p:tgtEl>
                                          <p:spTgt spid="22"/>
                                        </p:tgtEl>
                                        <p:attrNameLst>
                                          <p:attrName>ppt_x</p:attrName>
                                        </p:attrNameLst>
                                      </p:cBhvr>
                                      <p:tavLst>
                                        <p:tav tm="0">
                                          <p:val>
                                            <p:strVal val="#ppt_x"/>
                                          </p:val>
                                        </p:tav>
                                        <p:tav tm="100000">
                                          <p:val>
                                            <p:strVal val="#ppt_x"/>
                                          </p:val>
                                        </p:tav>
                                      </p:tavLst>
                                    </p:anim>
                                    <p:anim calcmode="lin" valueType="num">
                                      <p:cBhvr>
                                        <p:cTn id="28" dur="250" fill="hold"/>
                                        <p:tgtEl>
                                          <p:spTgt spid="22"/>
                                        </p:tgtEl>
                                        <p:attrNameLst>
                                          <p:attrName>ppt_y</p:attrName>
                                        </p:attrNameLst>
                                      </p:cBhvr>
                                      <p:tavLst>
                                        <p:tav tm="0">
                                          <p:val>
                                            <p:strVal val="#ppt_y+.1"/>
                                          </p:val>
                                        </p:tav>
                                        <p:tav tm="100000">
                                          <p:val>
                                            <p:strVal val="#ppt_y"/>
                                          </p:val>
                                        </p:tav>
                                      </p:tavLst>
                                    </p:anim>
                                  </p:childTnLst>
                                </p:cTn>
                              </p:par>
                            </p:childTnLst>
                          </p:cTn>
                        </p:par>
                        <p:par>
                          <p:cTn id="29" fill="hold">
                            <p:stCondLst>
                              <p:cond delay="2500"/>
                            </p:stCondLst>
                            <p:childTnLst>
                              <p:par>
                                <p:cTn id="30" presetID="42" presetClass="entr" presetSubtype="0" fill="hold" grpId="0" nodeType="after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250"/>
                                        <p:tgtEl>
                                          <p:spTgt spid="21"/>
                                        </p:tgtEl>
                                      </p:cBhvr>
                                    </p:animEffect>
                                    <p:anim calcmode="lin" valueType="num">
                                      <p:cBhvr>
                                        <p:cTn id="33" dur="250" fill="hold"/>
                                        <p:tgtEl>
                                          <p:spTgt spid="21"/>
                                        </p:tgtEl>
                                        <p:attrNameLst>
                                          <p:attrName>ppt_x</p:attrName>
                                        </p:attrNameLst>
                                      </p:cBhvr>
                                      <p:tavLst>
                                        <p:tav tm="0">
                                          <p:val>
                                            <p:strVal val="#ppt_x"/>
                                          </p:val>
                                        </p:tav>
                                        <p:tav tm="100000">
                                          <p:val>
                                            <p:strVal val="#ppt_x"/>
                                          </p:val>
                                        </p:tav>
                                      </p:tavLst>
                                    </p:anim>
                                    <p:anim calcmode="lin" valueType="num">
                                      <p:cBhvr>
                                        <p:cTn id="34" dur="250" fill="hold"/>
                                        <p:tgtEl>
                                          <p:spTgt spid="21"/>
                                        </p:tgtEl>
                                        <p:attrNameLst>
                                          <p:attrName>ppt_y</p:attrName>
                                        </p:attrNameLst>
                                      </p:cBhvr>
                                      <p:tavLst>
                                        <p:tav tm="0">
                                          <p:val>
                                            <p:strVal val="#ppt_y+.1"/>
                                          </p:val>
                                        </p:tav>
                                        <p:tav tm="100000">
                                          <p:val>
                                            <p:strVal val="#ppt_y"/>
                                          </p:val>
                                        </p:tav>
                                      </p:tavLst>
                                    </p:anim>
                                  </p:childTnLst>
                                </p:cTn>
                              </p:par>
                            </p:childTnLst>
                          </p:cTn>
                        </p:par>
                        <p:par>
                          <p:cTn id="35" fill="hold">
                            <p:stCondLst>
                              <p:cond delay="3000"/>
                            </p:stCondLst>
                            <p:childTnLst>
                              <p:par>
                                <p:cTn id="36" presetID="10" presetClass="entr" presetSubtype="0" fill="hold" grpId="0"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50"/>
                                        <p:tgtEl>
                                          <p:spTgt spid="10"/>
                                        </p:tgtEl>
                                      </p:cBhvr>
                                    </p:animEffect>
                                  </p:childTnLst>
                                </p:cTn>
                              </p:par>
                            </p:childTnLst>
                          </p:cTn>
                        </p:par>
                        <p:par>
                          <p:cTn id="39" fill="hold">
                            <p:stCondLst>
                              <p:cond delay="3500"/>
                            </p:stCondLst>
                            <p:childTnLst>
                              <p:par>
                                <p:cTn id="40" presetID="42" presetClass="entr" presetSubtype="0"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50"/>
                                        <p:tgtEl>
                                          <p:spTgt spid="14"/>
                                        </p:tgtEl>
                                      </p:cBhvr>
                                    </p:animEffect>
                                    <p:anim calcmode="lin" valueType="num">
                                      <p:cBhvr>
                                        <p:cTn id="43" dur="250" fill="hold"/>
                                        <p:tgtEl>
                                          <p:spTgt spid="14"/>
                                        </p:tgtEl>
                                        <p:attrNameLst>
                                          <p:attrName>ppt_x</p:attrName>
                                        </p:attrNameLst>
                                      </p:cBhvr>
                                      <p:tavLst>
                                        <p:tav tm="0">
                                          <p:val>
                                            <p:strVal val="#ppt_x"/>
                                          </p:val>
                                        </p:tav>
                                        <p:tav tm="100000">
                                          <p:val>
                                            <p:strVal val="#ppt_x"/>
                                          </p:val>
                                        </p:tav>
                                      </p:tavLst>
                                    </p:anim>
                                    <p:anim calcmode="lin" valueType="num">
                                      <p:cBhvr>
                                        <p:cTn id="44" dur="250" fill="hold"/>
                                        <p:tgtEl>
                                          <p:spTgt spid="14"/>
                                        </p:tgtEl>
                                        <p:attrNameLst>
                                          <p:attrName>ppt_y</p:attrName>
                                        </p:attrNameLst>
                                      </p:cBhvr>
                                      <p:tavLst>
                                        <p:tav tm="0">
                                          <p:val>
                                            <p:strVal val="#ppt_y+.1"/>
                                          </p:val>
                                        </p:tav>
                                        <p:tav tm="100000">
                                          <p:val>
                                            <p:strVal val="#ppt_y"/>
                                          </p:val>
                                        </p:tav>
                                      </p:tavLst>
                                    </p:anim>
                                  </p:childTnLst>
                                </p:cTn>
                              </p:par>
                            </p:childTnLst>
                          </p:cTn>
                        </p:par>
                        <p:par>
                          <p:cTn id="45" fill="hold">
                            <p:stCondLst>
                              <p:cond delay="4000"/>
                            </p:stCondLst>
                            <p:childTnLst>
                              <p:par>
                                <p:cTn id="46" presetID="10" presetClass="entr" presetSubtype="0" fill="hold" grpId="0" nodeType="after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250"/>
                                        <p:tgtEl>
                                          <p:spTgt spid="19"/>
                                        </p:tgtEl>
                                      </p:cBhvr>
                                    </p:animEffect>
                                  </p:childTnLst>
                                </p:cTn>
                              </p:par>
                            </p:childTnLst>
                          </p:cTn>
                        </p:par>
                        <p:par>
                          <p:cTn id="49" fill="hold">
                            <p:stCondLst>
                              <p:cond delay="4500"/>
                            </p:stCondLst>
                            <p:childTnLst>
                              <p:par>
                                <p:cTn id="50" presetID="47" presetClass="entr" presetSubtype="0" fill="hold" grpId="0" nodeType="after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250"/>
                                        <p:tgtEl>
                                          <p:spTgt spid="26"/>
                                        </p:tgtEl>
                                      </p:cBhvr>
                                    </p:animEffect>
                                    <p:anim calcmode="lin" valueType="num">
                                      <p:cBhvr>
                                        <p:cTn id="53" dur="250" fill="hold"/>
                                        <p:tgtEl>
                                          <p:spTgt spid="26"/>
                                        </p:tgtEl>
                                        <p:attrNameLst>
                                          <p:attrName>ppt_x</p:attrName>
                                        </p:attrNameLst>
                                      </p:cBhvr>
                                      <p:tavLst>
                                        <p:tav tm="0">
                                          <p:val>
                                            <p:strVal val="#ppt_x"/>
                                          </p:val>
                                        </p:tav>
                                        <p:tav tm="100000">
                                          <p:val>
                                            <p:strVal val="#ppt_x"/>
                                          </p:val>
                                        </p:tav>
                                      </p:tavLst>
                                    </p:anim>
                                    <p:anim calcmode="lin" valueType="num">
                                      <p:cBhvr>
                                        <p:cTn id="54" dur="250" fill="hold"/>
                                        <p:tgtEl>
                                          <p:spTgt spid="26"/>
                                        </p:tgtEl>
                                        <p:attrNameLst>
                                          <p:attrName>ppt_y</p:attrName>
                                        </p:attrNameLst>
                                      </p:cBhvr>
                                      <p:tavLst>
                                        <p:tav tm="0">
                                          <p:val>
                                            <p:strVal val="#ppt_y-.1"/>
                                          </p:val>
                                        </p:tav>
                                        <p:tav tm="100000">
                                          <p:val>
                                            <p:strVal val="#ppt_y"/>
                                          </p:val>
                                        </p:tav>
                                      </p:tavLst>
                                    </p:anim>
                                  </p:childTnLst>
                                </p:cTn>
                              </p:par>
                            </p:childTnLst>
                          </p:cTn>
                        </p:par>
                        <p:par>
                          <p:cTn id="55" fill="hold">
                            <p:stCondLst>
                              <p:cond delay="5000"/>
                            </p:stCondLst>
                            <p:childTnLst>
                              <p:par>
                                <p:cTn id="56" presetID="47" presetClass="entr" presetSubtype="0" fill="hold" grpId="0" nodeType="after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250"/>
                                        <p:tgtEl>
                                          <p:spTgt spid="25"/>
                                        </p:tgtEl>
                                      </p:cBhvr>
                                    </p:animEffect>
                                    <p:anim calcmode="lin" valueType="num">
                                      <p:cBhvr>
                                        <p:cTn id="59" dur="250" fill="hold"/>
                                        <p:tgtEl>
                                          <p:spTgt spid="25"/>
                                        </p:tgtEl>
                                        <p:attrNameLst>
                                          <p:attrName>ppt_x</p:attrName>
                                        </p:attrNameLst>
                                      </p:cBhvr>
                                      <p:tavLst>
                                        <p:tav tm="0">
                                          <p:val>
                                            <p:strVal val="#ppt_x"/>
                                          </p:val>
                                        </p:tav>
                                        <p:tav tm="100000">
                                          <p:val>
                                            <p:strVal val="#ppt_x"/>
                                          </p:val>
                                        </p:tav>
                                      </p:tavLst>
                                    </p:anim>
                                    <p:anim calcmode="lin" valueType="num">
                                      <p:cBhvr>
                                        <p:cTn id="60" dur="250" fill="hold"/>
                                        <p:tgtEl>
                                          <p:spTgt spid="25"/>
                                        </p:tgtEl>
                                        <p:attrNameLst>
                                          <p:attrName>ppt_y</p:attrName>
                                        </p:attrNameLst>
                                      </p:cBhvr>
                                      <p:tavLst>
                                        <p:tav tm="0">
                                          <p:val>
                                            <p:strVal val="#ppt_y-.1"/>
                                          </p:val>
                                        </p:tav>
                                        <p:tav tm="100000">
                                          <p:val>
                                            <p:strVal val="#ppt_y"/>
                                          </p:val>
                                        </p:tav>
                                      </p:tavLst>
                                    </p:anim>
                                  </p:childTnLst>
                                </p:cTn>
                              </p:par>
                            </p:childTnLst>
                          </p:cTn>
                        </p:par>
                        <p:par>
                          <p:cTn id="61" fill="hold">
                            <p:stCondLst>
                              <p:cond delay="5500"/>
                            </p:stCondLst>
                            <p:childTnLst>
                              <p:par>
                                <p:cTn id="62" presetID="10" presetClass="entr" presetSubtype="0" fill="hold" grpId="0" nodeType="after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250"/>
                                        <p:tgtEl>
                                          <p:spTgt spid="11"/>
                                        </p:tgtEl>
                                      </p:cBhvr>
                                    </p:animEffect>
                                  </p:childTnLst>
                                </p:cTn>
                              </p:par>
                            </p:childTnLst>
                          </p:cTn>
                        </p:par>
                        <p:par>
                          <p:cTn id="65" fill="hold">
                            <p:stCondLst>
                              <p:cond delay="6000"/>
                            </p:stCondLst>
                            <p:childTnLst>
                              <p:par>
                                <p:cTn id="66" presetID="47" presetClass="entr" presetSubtype="0" fill="hold" grpId="0"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250"/>
                                        <p:tgtEl>
                                          <p:spTgt spid="16"/>
                                        </p:tgtEl>
                                      </p:cBhvr>
                                    </p:animEffect>
                                    <p:anim calcmode="lin" valueType="num">
                                      <p:cBhvr>
                                        <p:cTn id="69" dur="250" fill="hold"/>
                                        <p:tgtEl>
                                          <p:spTgt spid="16"/>
                                        </p:tgtEl>
                                        <p:attrNameLst>
                                          <p:attrName>ppt_x</p:attrName>
                                        </p:attrNameLst>
                                      </p:cBhvr>
                                      <p:tavLst>
                                        <p:tav tm="0">
                                          <p:val>
                                            <p:strVal val="#ppt_x"/>
                                          </p:val>
                                        </p:tav>
                                        <p:tav tm="100000">
                                          <p:val>
                                            <p:strVal val="#ppt_x"/>
                                          </p:val>
                                        </p:tav>
                                      </p:tavLst>
                                    </p:anim>
                                    <p:anim calcmode="lin" valueType="num">
                                      <p:cBhvr>
                                        <p:cTn id="70" dur="250" fill="hold"/>
                                        <p:tgtEl>
                                          <p:spTgt spid="16"/>
                                        </p:tgtEl>
                                        <p:attrNameLst>
                                          <p:attrName>ppt_y</p:attrName>
                                        </p:attrNameLst>
                                      </p:cBhvr>
                                      <p:tavLst>
                                        <p:tav tm="0">
                                          <p:val>
                                            <p:strVal val="#ppt_y-.1"/>
                                          </p:val>
                                        </p:tav>
                                        <p:tav tm="100000">
                                          <p:val>
                                            <p:strVal val="#ppt_y"/>
                                          </p:val>
                                        </p:tav>
                                      </p:tavLst>
                                    </p:anim>
                                  </p:childTnLst>
                                </p:cTn>
                              </p:par>
                            </p:childTnLst>
                          </p:cTn>
                        </p:par>
                        <p:par>
                          <p:cTn id="71" fill="hold">
                            <p:stCondLst>
                              <p:cond delay="6500"/>
                            </p:stCondLst>
                            <p:childTnLst>
                              <p:par>
                                <p:cTn id="72" presetID="10" presetClass="entr" presetSubtype="0" fill="hold" grpId="0" nodeType="after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250"/>
                                        <p:tgtEl>
                                          <p:spTgt spid="18"/>
                                        </p:tgtEl>
                                      </p:cBhvr>
                                    </p:animEffect>
                                  </p:childTnLst>
                                </p:cTn>
                              </p:par>
                            </p:childTnLst>
                          </p:cTn>
                        </p:par>
                        <p:par>
                          <p:cTn id="75" fill="hold">
                            <p:stCondLst>
                              <p:cond delay="7000"/>
                            </p:stCondLst>
                            <p:childTnLst>
                              <p:par>
                                <p:cTn id="76" presetID="42" presetClass="entr" presetSubtype="0" fill="hold" grpId="0" nodeType="after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250"/>
                                        <p:tgtEl>
                                          <p:spTgt spid="24"/>
                                        </p:tgtEl>
                                      </p:cBhvr>
                                    </p:animEffect>
                                    <p:anim calcmode="lin" valueType="num">
                                      <p:cBhvr>
                                        <p:cTn id="79" dur="250" fill="hold"/>
                                        <p:tgtEl>
                                          <p:spTgt spid="24"/>
                                        </p:tgtEl>
                                        <p:attrNameLst>
                                          <p:attrName>ppt_x</p:attrName>
                                        </p:attrNameLst>
                                      </p:cBhvr>
                                      <p:tavLst>
                                        <p:tav tm="0">
                                          <p:val>
                                            <p:strVal val="#ppt_x"/>
                                          </p:val>
                                        </p:tav>
                                        <p:tav tm="100000">
                                          <p:val>
                                            <p:strVal val="#ppt_x"/>
                                          </p:val>
                                        </p:tav>
                                      </p:tavLst>
                                    </p:anim>
                                    <p:anim calcmode="lin" valueType="num">
                                      <p:cBhvr>
                                        <p:cTn id="80" dur="250" fill="hold"/>
                                        <p:tgtEl>
                                          <p:spTgt spid="24"/>
                                        </p:tgtEl>
                                        <p:attrNameLst>
                                          <p:attrName>ppt_y</p:attrName>
                                        </p:attrNameLst>
                                      </p:cBhvr>
                                      <p:tavLst>
                                        <p:tav tm="0">
                                          <p:val>
                                            <p:strVal val="#ppt_y+.1"/>
                                          </p:val>
                                        </p:tav>
                                        <p:tav tm="100000">
                                          <p:val>
                                            <p:strVal val="#ppt_y"/>
                                          </p:val>
                                        </p:tav>
                                      </p:tavLst>
                                    </p:anim>
                                  </p:childTnLst>
                                </p:cTn>
                              </p:par>
                            </p:childTnLst>
                          </p:cTn>
                        </p:par>
                        <p:par>
                          <p:cTn id="81" fill="hold">
                            <p:stCondLst>
                              <p:cond delay="7500"/>
                            </p:stCondLst>
                            <p:childTnLst>
                              <p:par>
                                <p:cTn id="82" presetID="42" presetClass="entr" presetSubtype="0" fill="hold" grpId="0" nodeType="after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250"/>
                                        <p:tgtEl>
                                          <p:spTgt spid="23"/>
                                        </p:tgtEl>
                                      </p:cBhvr>
                                    </p:animEffect>
                                    <p:anim calcmode="lin" valueType="num">
                                      <p:cBhvr>
                                        <p:cTn id="85" dur="250" fill="hold"/>
                                        <p:tgtEl>
                                          <p:spTgt spid="23"/>
                                        </p:tgtEl>
                                        <p:attrNameLst>
                                          <p:attrName>ppt_x</p:attrName>
                                        </p:attrNameLst>
                                      </p:cBhvr>
                                      <p:tavLst>
                                        <p:tav tm="0">
                                          <p:val>
                                            <p:strVal val="#ppt_x"/>
                                          </p:val>
                                        </p:tav>
                                        <p:tav tm="100000">
                                          <p:val>
                                            <p:strVal val="#ppt_x"/>
                                          </p:val>
                                        </p:tav>
                                      </p:tavLst>
                                    </p:anim>
                                    <p:anim calcmode="lin" valueType="num">
                                      <p:cBhvr>
                                        <p:cTn id="86" dur="250" fill="hold"/>
                                        <p:tgtEl>
                                          <p:spTgt spid="23"/>
                                        </p:tgtEl>
                                        <p:attrNameLst>
                                          <p:attrName>ppt_y</p:attrName>
                                        </p:attrNameLst>
                                      </p:cBhvr>
                                      <p:tavLst>
                                        <p:tav tm="0">
                                          <p:val>
                                            <p:strVal val="#ppt_y+.1"/>
                                          </p:val>
                                        </p:tav>
                                        <p:tav tm="100000">
                                          <p:val>
                                            <p:strVal val="#ppt_y"/>
                                          </p:val>
                                        </p:tav>
                                      </p:tavLst>
                                    </p:anim>
                                  </p:childTnLst>
                                </p:cTn>
                              </p:par>
                            </p:childTnLst>
                          </p:cTn>
                        </p:par>
                        <p:par>
                          <p:cTn id="87" fill="hold">
                            <p:stCondLst>
                              <p:cond delay="8000"/>
                            </p:stCondLst>
                            <p:childTnLst>
                              <p:par>
                                <p:cTn id="88" presetID="10" presetClass="entr" presetSubtype="0" fill="hold" grpId="0" nodeType="afterEffect">
                                  <p:stCondLst>
                                    <p:cond delay="0"/>
                                  </p:stCondLst>
                                  <p:childTnLst>
                                    <p:set>
                                      <p:cBhvr>
                                        <p:cTn id="89" dur="1" fill="hold">
                                          <p:stCondLst>
                                            <p:cond delay="0"/>
                                          </p:stCondLst>
                                        </p:cTn>
                                        <p:tgtEl>
                                          <p:spTgt spid="12"/>
                                        </p:tgtEl>
                                        <p:attrNameLst>
                                          <p:attrName>style.visibility</p:attrName>
                                        </p:attrNameLst>
                                      </p:cBhvr>
                                      <p:to>
                                        <p:strVal val="visible"/>
                                      </p:to>
                                    </p:set>
                                    <p:animEffect transition="in" filter="fade">
                                      <p:cBhvr>
                                        <p:cTn id="90" dur="250"/>
                                        <p:tgtEl>
                                          <p:spTgt spid="12"/>
                                        </p:tgtEl>
                                      </p:cBhvr>
                                    </p:animEffect>
                                  </p:childTnLst>
                                </p:cTn>
                              </p:par>
                            </p:childTnLst>
                          </p:cTn>
                        </p:par>
                        <p:par>
                          <p:cTn id="91" fill="hold">
                            <p:stCondLst>
                              <p:cond delay="8500"/>
                            </p:stCondLst>
                            <p:childTnLst>
                              <p:par>
                                <p:cTn id="92" presetID="42" presetClass="entr" presetSubtype="0" fill="hold" grpId="0" nodeType="afterEffect">
                                  <p:stCondLst>
                                    <p:cond delay="0"/>
                                  </p:stCondLst>
                                  <p:childTnLst>
                                    <p:set>
                                      <p:cBhvr>
                                        <p:cTn id="93" dur="1" fill="hold">
                                          <p:stCondLst>
                                            <p:cond delay="0"/>
                                          </p:stCondLst>
                                        </p:cTn>
                                        <p:tgtEl>
                                          <p:spTgt spid="13"/>
                                        </p:tgtEl>
                                        <p:attrNameLst>
                                          <p:attrName>style.visibility</p:attrName>
                                        </p:attrNameLst>
                                      </p:cBhvr>
                                      <p:to>
                                        <p:strVal val="visible"/>
                                      </p:to>
                                    </p:set>
                                    <p:animEffect transition="in" filter="fade">
                                      <p:cBhvr>
                                        <p:cTn id="94" dur="250"/>
                                        <p:tgtEl>
                                          <p:spTgt spid="13"/>
                                        </p:tgtEl>
                                      </p:cBhvr>
                                    </p:animEffect>
                                    <p:anim calcmode="lin" valueType="num">
                                      <p:cBhvr>
                                        <p:cTn id="95" dur="250" fill="hold"/>
                                        <p:tgtEl>
                                          <p:spTgt spid="13"/>
                                        </p:tgtEl>
                                        <p:attrNameLst>
                                          <p:attrName>ppt_x</p:attrName>
                                        </p:attrNameLst>
                                      </p:cBhvr>
                                      <p:tavLst>
                                        <p:tav tm="0">
                                          <p:val>
                                            <p:strVal val="#ppt_x"/>
                                          </p:val>
                                        </p:tav>
                                        <p:tav tm="100000">
                                          <p:val>
                                            <p:strVal val="#ppt_x"/>
                                          </p:val>
                                        </p:tav>
                                      </p:tavLst>
                                    </p:anim>
                                    <p:anim calcmode="lin" valueType="num">
                                      <p:cBhvr>
                                        <p:cTn id="96" dur="250" fill="hold"/>
                                        <p:tgtEl>
                                          <p:spTgt spid="13"/>
                                        </p:tgtEl>
                                        <p:attrNameLst>
                                          <p:attrName>ppt_y</p:attrName>
                                        </p:attrNameLst>
                                      </p:cBhvr>
                                      <p:tavLst>
                                        <p:tav tm="0">
                                          <p:val>
                                            <p:strVal val="#ppt_y+.1"/>
                                          </p:val>
                                        </p:tav>
                                        <p:tav tm="100000">
                                          <p:val>
                                            <p:strVal val="#ppt_y"/>
                                          </p:val>
                                        </p:tav>
                                      </p:tavLst>
                                    </p:anim>
                                  </p:childTnLst>
                                </p:cTn>
                              </p:par>
                            </p:childTnLst>
                          </p:cTn>
                        </p:par>
                        <p:par>
                          <p:cTn id="97" fill="hold">
                            <p:stCondLst>
                              <p:cond delay="9000"/>
                            </p:stCondLst>
                            <p:childTnLst>
                              <p:par>
                                <p:cTn id="98" presetID="10" presetClass="entr" presetSubtype="0" fill="hold" grpId="0" nodeType="afterEffect">
                                  <p:stCondLst>
                                    <p:cond delay="0"/>
                                  </p:stCondLst>
                                  <p:childTnLst>
                                    <p:set>
                                      <p:cBhvr>
                                        <p:cTn id="99" dur="1" fill="hold">
                                          <p:stCondLst>
                                            <p:cond delay="0"/>
                                          </p:stCondLst>
                                        </p:cTn>
                                        <p:tgtEl>
                                          <p:spTgt spid="20"/>
                                        </p:tgtEl>
                                        <p:attrNameLst>
                                          <p:attrName>style.visibility</p:attrName>
                                        </p:attrNameLst>
                                      </p:cBhvr>
                                      <p:to>
                                        <p:strVal val="visible"/>
                                      </p:to>
                                    </p:set>
                                    <p:animEffect transition="in" filter="fade">
                                      <p:cBhvr>
                                        <p:cTn id="100" dur="250"/>
                                        <p:tgtEl>
                                          <p:spTgt spid="20"/>
                                        </p:tgtEl>
                                      </p:cBhvr>
                                    </p:animEffect>
                                  </p:childTnLst>
                                </p:cTn>
                              </p:par>
                            </p:childTnLst>
                          </p:cTn>
                        </p:par>
                        <p:par>
                          <p:cTn id="101" fill="hold">
                            <p:stCondLst>
                              <p:cond delay="9500"/>
                            </p:stCondLst>
                            <p:childTnLst>
                              <p:par>
                                <p:cTn id="102" presetID="47" presetClass="entr" presetSubtype="0" fill="hold" grpId="0" nodeType="afterEffect">
                                  <p:stCondLst>
                                    <p:cond delay="0"/>
                                  </p:stCondLst>
                                  <p:childTnLst>
                                    <p:set>
                                      <p:cBhvr>
                                        <p:cTn id="103" dur="1" fill="hold">
                                          <p:stCondLst>
                                            <p:cond delay="0"/>
                                          </p:stCondLst>
                                        </p:cTn>
                                        <p:tgtEl>
                                          <p:spTgt spid="28"/>
                                        </p:tgtEl>
                                        <p:attrNameLst>
                                          <p:attrName>style.visibility</p:attrName>
                                        </p:attrNameLst>
                                      </p:cBhvr>
                                      <p:to>
                                        <p:strVal val="visible"/>
                                      </p:to>
                                    </p:set>
                                    <p:animEffect transition="in" filter="fade">
                                      <p:cBhvr>
                                        <p:cTn id="104" dur="250"/>
                                        <p:tgtEl>
                                          <p:spTgt spid="28"/>
                                        </p:tgtEl>
                                      </p:cBhvr>
                                    </p:animEffect>
                                    <p:anim calcmode="lin" valueType="num">
                                      <p:cBhvr>
                                        <p:cTn id="105" dur="250" fill="hold"/>
                                        <p:tgtEl>
                                          <p:spTgt spid="28"/>
                                        </p:tgtEl>
                                        <p:attrNameLst>
                                          <p:attrName>ppt_x</p:attrName>
                                        </p:attrNameLst>
                                      </p:cBhvr>
                                      <p:tavLst>
                                        <p:tav tm="0">
                                          <p:val>
                                            <p:strVal val="#ppt_x"/>
                                          </p:val>
                                        </p:tav>
                                        <p:tav tm="100000">
                                          <p:val>
                                            <p:strVal val="#ppt_x"/>
                                          </p:val>
                                        </p:tav>
                                      </p:tavLst>
                                    </p:anim>
                                    <p:anim calcmode="lin" valueType="num">
                                      <p:cBhvr>
                                        <p:cTn id="106" dur="250" fill="hold"/>
                                        <p:tgtEl>
                                          <p:spTgt spid="28"/>
                                        </p:tgtEl>
                                        <p:attrNameLst>
                                          <p:attrName>ppt_y</p:attrName>
                                        </p:attrNameLst>
                                      </p:cBhvr>
                                      <p:tavLst>
                                        <p:tav tm="0">
                                          <p:val>
                                            <p:strVal val="#ppt_y-.1"/>
                                          </p:val>
                                        </p:tav>
                                        <p:tav tm="100000">
                                          <p:val>
                                            <p:strVal val="#ppt_y"/>
                                          </p:val>
                                        </p:tav>
                                      </p:tavLst>
                                    </p:anim>
                                  </p:childTnLst>
                                </p:cTn>
                              </p:par>
                            </p:childTnLst>
                          </p:cTn>
                        </p:par>
                        <p:par>
                          <p:cTn id="107" fill="hold">
                            <p:stCondLst>
                              <p:cond delay="10000"/>
                            </p:stCondLst>
                            <p:childTnLst>
                              <p:par>
                                <p:cTn id="108" presetID="47" presetClass="entr" presetSubtype="0" fill="hold" grpId="0" nodeType="afterEffect">
                                  <p:stCondLst>
                                    <p:cond delay="0"/>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250"/>
                                        <p:tgtEl>
                                          <p:spTgt spid="27"/>
                                        </p:tgtEl>
                                      </p:cBhvr>
                                    </p:animEffect>
                                    <p:anim calcmode="lin" valueType="num">
                                      <p:cBhvr>
                                        <p:cTn id="111" dur="250" fill="hold"/>
                                        <p:tgtEl>
                                          <p:spTgt spid="27"/>
                                        </p:tgtEl>
                                        <p:attrNameLst>
                                          <p:attrName>ppt_x</p:attrName>
                                        </p:attrNameLst>
                                      </p:cBhvr>
                                      <p:tavLst>
                                        <p:tav tm="0">
                                          <p:val>
                                            <p:strVal val="#ppt_x"/>
                                          </p:val>
                                        </p:tav>
                                        <p:tav tm="100000">
                                          <p:val>
                                            <p:strVal val="#ppt_x"/>
                                          </p:val>
                                        </p:tav>
                                      </p:tavLst>
                                    </p:anim>
                                    <p:anim calcmode="lin" valueType="num">
                                      <p:cBhvr>
                                        <p:cTn id="112" dur="25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4757626" y="2340429"/>
            <a:ext cx="6455381" cy="3491712"/>
            <a:chOff x="4757450" y="2340429"/>
            <a:chExt cx="6456221" cy="3491712"/>
          </a:xfrm>
          <a:solidFill>
            <a:schemeClr val="accent2"/>
          </a:solidFill>
        </p:grpSpPr>
        <p:sp>
          <p:nvSpPr>
            <p:cNvPr id="13" name="矩形 12"/>
            <p:cNvSpPr/>
            <p:nvPr/>
          </p:nvSpPr>
          <p:spPr>
            <a:xfrm flipV="1">
              <a:off x="7433772" y="2346777"/>
              <a:ext cx="672172" cy="45719"/>
            </a:xfrm>
            <a:prstGeom prst="rect">
              <a:avLst/>
            </a:prstGeom>
            <a:grpFill/>
            <a:ln>
              <a:noFill/>
            </a:ln>
            <a:effectLst/>
            <a:scene3d>
              <a:camera prst="orthographicFront">
                <a:rot lat="0" lon="0" rev="0"/>
              </a:camera>
              <a:lightRig rig="glow" dir="t">
                <a:rot lat="0" lon="0" rev="14100000"/>
              </a:lightRig>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rgbClr val="FFFFFF"/>
                </a:solidFill>
                <a:latin typeface="+mn-ea"/>
              </a:endParaRPr>
            </a:p>
          </p:txBody>
        </p:sp>
        <p:grpSp>
          <p:nvGrpSpPr>
            <p:cNvPr id="2" name="组合 1"/>
            <p:cNvGrpSpPr/>
            <p:nvPr/>
          </p:nvGrpSpPr>
          <p:grpSpPr>
            <a:xfrm>
              <a:off x="4757450" y="2340429"/>
              <a:ext cx="6456221" cy="3491712"/>
              <a:chOff x="4757450" y="2340429"/>
              <a:chExt cx="6456221" cy="3491712"/>
            </a:xfrm>
            <a:grpFill/>
          </p:grpSpPr>
          <p:sp>
            <p:nvSpPr>
              <p:cNvPr id="3" name="矩形 2"/>
              <p:cNvSpPr/>
              <p:nvPr/>
            </p:nvSpPr>
            <p:spPr>
              <a:xfrm>
                <a:off x="8035139" y="2340429"/>
                <a:ext cx="3178532" cy="793024"/>
              </a:xfrm>
              <a:prstGeom prst="rect">
                <a:avLst/>
              </a:prstGeom>
              <a:grpFill/>
              <a:ln>
                <a:noFill/>
              </a:ln>
              <a:effectLst/>
              <a:scene3d>
                <a:camera prst="orthographicFront">
                  <a:rot lat="0" lon="0" rev="0"/>
                </a:camera>
                <a:lightRig rig="glow" dir="t">
                  <a:rot lat="0" lon="0" rev="14100000"/>
                </a:lightRig>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rgbClr val="FFFFFF"/>
                  </a:solidFill>
                  <a:latin typeface="+mn-ea"/>
                </a:endParaRPr>
              </a:p>
            </p:txBody>
          </p:sp>
          <p:sp>
            <p:nvSpPr>
              <p:cNvPr id="4" name="矩形 3"/>
              <p:cNvSpPr/>
              <p:nvPr/>
            </p:nvSpPr>
            <p:spPr>
              <a:xfrm>
                <a:off x="8035139" y="3133453"/>
                <a:ext cx="3178532" cy="793024"/>
              </a:xfrm>
              <a:prstGeom prst="rect">
                <a:avLst/>
              </a:prstGeom>
              <a:solidFill>
                <a:schemeClr val="accent3"/>
              </a:solidFill>
              <a:ln>
                <a:noFill/>
              </a:ln>
              <a:effectLst/>
              <a:scene3d>
                <a:camera prst="orthographicFront">
                  <a:rot lat="0" lon="0" rev="0"/>
                </a:camera>
                <a:lightRig rig="glow" dir="t">
                  <a:rot lat="0" lon="0" rev="14100000"/>
                </a:lightRig>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rgbClr val="FFFFFF"/>
                  </a:solidFill>
                  <a:latin typeface="+mn-ea"/>
                </a:endParaRPr>
              </a:p>
            </p:txBody>
          </p:sp>
          <p:sp>
            <p:nvSpPr>
              <p:cNvPr id="5" name="矩形 4"/>
              <p:cNvSpPr/>
              <p:nvPr/>
            </p:nvSpPr>
            <p:spPr>
              <a:xfrm>
                <a:off x="8035139" y="3926478"/>
                <a:ext cx="3178532" cy="793024"/>
              </a:xfrm>
              <a:prstGeom prst="rect">
                <a:avLst/>
              </a:prstGeom>
              <a:solidFill>
                <a:schemeClr val="accent4"/>
              </a:solidFill>
              <a:ln>
                <a:noFill/>
              </a:ln>
              <a:effectLst/>
              <a:scene3d>
                <a:camera prst="orthographicFront">
                  <a:rot lat="0" lon="0" rev="0"/>
                </a:camera>
                <a:lightRig rig="glow" dir="t">
                  <a:rot lat="0" lon="0" rev="14100000"/>
                </a:lightRig>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rgbClr val="FFFFFF"/>
                  </a:solidFill>
                  <a:latin typeface="+mn-ea"/>
                </a:endParaRPr>
              </a:p>
            </p:txBody>
          </p:sp>
          <p:sp>
            <p:nvSpPr>
              <p:cNvPr id="6" name="矩形 5"/>
              <p:cNvSpPr/>
              <p:nvPr/>
            </p:nvSpPr>
            <p:spPr>
              <a:xfrm>
                <a:off x="8035139" y="4719502"/>
                <a:ext cx="3178532" cy="793024"/>
              </a:xfrm>
              <a:prstGeom prst="rect">
                <a:avLst/>
              </a:prstGeom>
              <a:solidFill>
                <a:schemeClr val="accent5"/>
              </a:solidFill>
              <a:ln>
                <a:noFill/>
              </a:ln>
              <a:effectLst/>
              <a:scene3d>
                <a:camera prst="orthographicFront">
                  <a:rot lat="0" lon="0" rev="0"/>
                </a:camera>
                <a:lightRig rig="glow" dir="t">
                  <a:rot lat="0" lon="0" rev="14100000"/>
                </a:lightRig>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rgbClr val="FFFFFF"/>
                  </a:solidFill>
                  <a:latin typeface="+mn-ea"/>
                </a:endParaRPr>
              </a:p>
            </p:txBody>
          </p:sp>
          <p:sp>
            <p:nvSpPr>
              <p:cNvPr id="8" name="椭圆 7"/>
              <p:cNvSpPr/>
              <p:nvPr/>
            </p:nvSpPr>
            <p:spPr>
              <a:xfrm>
                <a:off x="8461527" y="5512526"/>
                <a:ext cx="319615" cy="319615"/>
              </a:xfrm>
              <a:prstGeom prst="ellipse">
                <a:avLst/>
              </a:prstGeom>
              <a:solidFill>
                <a:schemeClr val="accent5"/>
              </a:solidFill>
              <a:ln>
                <a:noFill/>
              </a:ln>
              <a:effectLst/>
              <a:scene3d>
                <a:camera prst="orthographicFront">
                  <a:rot lat="0" lon="0" rev="0"/>
                </a:camera>
                <a:lightRig rig="glow" dir="t">
                  <a:rot lat="0" lon="0" rev="14100000"/>
                </a:lightRig>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rgbClr val="FFFFFF"/>
                  </a:solidFill>
                  <a:latin typeface="+mn-ea"/>
                </a:endParaRPr>
              </a:p>
            </p:txBody>
          </p:sp>
          <p:sp>
            <p:nvSpPr>
              <p:cNvPr id="9" name="椭圆 8"/>
              <p:cNvSpPr/>
              <p:nvPr/>
            </p:nvSpPr>
            <p:spPr>
              <a:xfrm>
                <a:off x="10409596" y="5512526"/>
                <a:ext cx="319615" cy="319615"/>
              </a:xfrm>
              <a:prstGeom prst="ellipse">
                <a:avLst/>
              </a:prstGeom>
              <a:solidFill>
                <a:schemeClr val="accent5"/>
              </a:solidFill>
              <a:ln>
                <a:noFill/>
              </a:ln>
              <a:effectLst/>
              <a:scene3d>
                <a:camera prst="orthographicFront">
                  <a:rot lat="0" lon="0" rev="0"/>
                </a:camera>
                <a:lightRig rig="glow" dir="t">
                  <a:rot lat="0" lon="0" rev="14100000"/>
                </a:lightRig>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rgbClr val="FFFFFF"/>
                  </a:solidFill>
                  <a:latin typeface="+mn-ea"/>
                </a:endParaRPr>
              </a:p>
            </p:txBody>
          </p:sp>
          <p:sp>
            <p:nvSpPr>
              <p:cNvPr id="11" name="KSO_Shape"/>
              <p:cNvSpPr/>
              <p:nvPr/>
            </p:nvSpPr>
            <p:spPr bwMode="auto">
              <a:xfrm flipH="1">
                <a:off x="4757450" y="3334089"/>
                <a:ext cx="2334040" cy="2178437"/>
              </a:xfrm>
              <a:custGeom>
                <a:avLst/>
                <a:gdLst>
                  <a:gd name="T0" fmla="*/ 1516226 w 900113"/>
                  <a:gd name="T1" fmla="*/ 397797 h 839788"/>
                  <a:gd name="T2" fmla="*/ 1842604 w 900113"/>
                  <a:gd name="T3" fmla="*/ 646339 h 839788"/>
                  <a:gd name="T4" fmla="*/ 1880522 w 900113"/>
                  <a:gd name="T5" fmla="*/ 670376 h 839788"/>
                  <a:gd name="T6" fmla="*/ 1904041 w 900113"/>
                  <a:gd name="T7" fmla="*/ 714123 h 839788"/>
                  <a:gd name="T8" fmla="*/ 1898761 w 900113"/>
                  <a:gd name="T9" fmla="*/ 762199 h 839788"/>
                  <a:gd name="T10" fmla="*/ 1868522 w 900113"/>
                  <a:gd name="T11" fmla="*/ 799694 h 839788"/>
                  <a:gd name="T12" fmla="*/ 1829165 w 900113"/>
                  <a:gd name="T13" fmla="*/ 814117 h 839788"/>
                  <a:gd name="T14" fmla="*/ 1428871 w 900113"/>
                  <a:gd name="T15" fmla="*/ 808349 h 839788"/>
                  <a:gd name="T16" fmla="*/ 1394793 w 900113"/>
                  <a:gd name="T17" fmla="*/ 789119 h 839788"/>
                  <a:gd name="T18" fmla="*/ 1371273 w 900113"/>
                  <a:gd name="T19" fmla="*/ 752102 h 839788"/>
                  <a:gd name="T20" fmla="*/ 1367434 w 900113"/>
                  <a:gd name="T21" fmla="*/ 581921 h 839788"/>
                  <a:gd name="T22" fmla="*/ 1360715 w 900113"/>
                  <a:gd name="T23" fmla="*/ 1029489 h 839788"/>
                  <a:gd name="T24" fmla="*/ 1375593 w 900113"/>
                  <a:gd name="T25" fmla="*/ 1084293 h 839788"/>
                  <a:gd name="T26" fmla="*/ 1367434 w 900113"/>
                  <a:gd name="T27" fmla="*/ 1141021 h 839788"/>
                  <a:gd name="T28" fmla="*/ 1225362 w 900113"/>
                  <a:gd name="T29" fmla="*/ 1734733 h 839788"/>
                  <a:gd name="T30" fmla="*/ 1185045 w 900113"/>
                  <a:gd name="T31" fmla="*/ 1768386 h 839788"/>
                  <a:gd name="T32" fmla="*/ 1129369 w 900113"/>
                  <a:gd name="T33" fmla="*/ 1777519 h 839788"/>
                  <a:gd name="T34" fmla="*/ 1073693 w 900113"/>
                  <a:gd name="T35" fmla="*/ 1754444 h 839788"/>
                  <a:gd name="T36" fmla="*/ 1039614 w 900113"/>
                  <a:gd name="T37" fmla="*/ 1704446 h 839788"/>
                  <a:gd name="T38" fmla="*/ 1037214 w 900113"/>
                  <a:gd name="T39" fmla="*/ 1653009 h 839788"/>
                  <a:gd name="T40" fmla="*/ 666199 w 900113"/>
                  <a:gd name="T41" fmla="*/ 1195825 h 839788"/>
                  <a:gd name="T42" fmla="*/ 626362 w 900113"/>
                  <a:gd name="T43" fmla="*/ 1217939 h 839788"/>
                  <a:gd name="T44" fmla="*/ 545727 w 900113"/>
                  <a:gd name="T45" fmla="*/ 1229476 h 839788"/>
                  <a:gd name="T46" fmla="*/ 63837 w 900113"/>
                  <a:gd name="T47" fmla="*/ 1221303 h 839788"/>
                  <a:gd name="T48" fmla="*/ 22078 w 900113"/>
                  <a:gd name="T49" fmla="*/ 1189094 h 839788"/>
                  <a:gd name="T50" fmla="*/ 961 w 900113"/>
                  <a:gd name="T51" fmla="*/ 1137174 h 839788"/>
                  <a:gd name="T52" fmla="*/ 11039 w 900113"/>
                  <a:gd name="T53" fmla="*/ 1077562 h 839788"/>
                  <a:gd name="T54" fmla="*/ 52317 w 900113"/>
                  <a:gd name="T55" fmla="*/ 1033817 h 839788"/>
                  <a:gd name="T56" fmla="*/ 101274 w 900113"/>
                  <a:gd name="T57" fmla="*/ 1019875 h 839788"/>
                  <a:gd name="T58" fmla="*/ 637401 w 900113"/>
                  <a:gd name="T59" fmla="*/ 672781 h 839788"/>
                  <a:gd name="T60" fmla="*/ 589883 w 900113"/>
                  <a:gd name="T61" fmla="*/ 695376 h 839788"/>
                  <a:gd name="T62" fmla="*/ 541407 w 900113"/>
                  <a:gd name="T63" fmla="*/ 686240 h 839788"/>
                  <a:gd name="T64" fmla="*/ 508288 w 900113"/>
                  <a:gd name="T65" fmla="*/ 653550 h 839788"/>
                  <a:gd name="T66" fmla="*/ 499170 w 900113"/>
                  <a:gd name="T67" fmla="*/ 605477 h 839788"/>
                  <a:gd name="T68" fmla="*/ 519807 w 900113"/>
                  <a:gd name="T69" fmla="*/ 558846 h 839788"/>
                  <a:gd name="T70" fmla="*/ 826029 w 900113"/>
                  <a:gd name="T71" fmla="*/ 217039 h 839788"/>
                  <a:gd name="T72" fmla="*/ 1503745 w 900113"/>
                  <a:gd name="T73" fmla="*/ 0 h 839788"/>
                  <a:gd name="T74" fmla="*/ 1552221 w 900113"/>
                  <a:gd name="T75" fmla="*/ 7203 h 839788"/>
                  <a:gd name="T76" fmla="*/ 1594939 w 900113"/>
                  <a:gd name="T77" fmla="*/ 27848 h 839788"/>
                  <a:gd name="T78" fmla="*/ 1629017 w 900113"/>
                  <a:gd name="T79" fmla="*/ 59059 h 839788"/>
                  <a:gd name="T80" fmla="*/ 1653976 w 900113"/>
                  <a:gd name="T81" fmla="*/ 99870 h 839788"/>
                  <a:gd name="T82" fmla="*/ 1665495 w 900113"/>
                  <a:gd name="T83" fmla="*/ 145966 h 839788"/>
                  <a:gd name="T84" fmla="*/ 1663576 w 900113"/>
                  <a:gd name="T85" fmla="*/ 195902 h 839788"/>
                  <a:gd name="T86" fmla="*/ 1647256 w 900113"/>
                  <a:gd name="T87" fmla="*/ 240556 h 839788"/>
                  <a:gd name="T88" fmla="*/ 1618458 w 900113"/>
                  <a:gd name="T89" fmla="*/ 278008 h 839788"/>
                  <a:gd name="T90" fmla="*/ 1581019 w 900113"/>
                  <a:gd name="T91" fmla="*/ 306338 h 839788"/>
                  <a:gd name="T92" fmla="*/ 1536382 w 900113"/>
                  <a:gd name="T93" fmla="*/ 323142 h 839788"/>
                  <a:gd name="T94" fmla="*/ 1486945 w 900113"/>
                  <a:gd name="T95" fmla="*/ 325064 h 839788"/>
                  <a:gd name="T96" fmla="*/ 1440389 w 900113"/>
                  <a:gd name="T97" fmla="*/ 313541 h 839788"/>
                  <a:gd name="T98" fmla="*/ 1399591 w 900113"/>
                  <a:gd name="T99" fmla="*/ 288572 h 839788"/>
                  <a:gd name="T100" fmla="*/ 1368393 w 900113"/>
                  <a:gd name="T101" fmla="*/ 254481 h 839788"/>
                  <a:gd name="T102" fmla="*/ 1348234 w 900113"/>
                  <a:gd name="T103" fmla="*/ 211748 h 839788"/>
                  <a:gd name="T104" fmla="*/ 1340554 w 900113"/>
                  <a:gd name="T105" fmla="*/ 163251 h 839788"/>
                  <a:gd name="T106" fmla="*/ 1348234 w 900113"/>
                  <a:gd name="T107" fmla="*/ 114276 h 839788"/>
                  <a:gd name="T108" fmla="*/ 1368393 w 900113"/>
                  <a:gd name="T109" fmla="*/ 71542 h 839788"/>
                  <a:gd name="T110" fmla="*/ 1399591 w 900113"/>
                  <a:gd name="T111" fmla="*/ 37451 h 839788"/>
                  <a:gd name="T112" fmla="*/ 1440389 w 900113"/>
                  <a:gd name="T113" fmla="*/ 12483 h 839788"/>
                  <a:gd name="T114" fmla="*/ 1486945 w 900113"/>
                  <a:gd name="T115" fmla="*/ 959 h 83978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900113" h="839788">
                    <a:moveTo>
                      <a:pt x="407081" y="98425"/>
                    </a:moveTo>
                    <a:lnTo>
                      <a:pt x="593726" y="98425"/>
                    </a:lnTo>
                    <a:lnTo>
                      <a:pt x="613002" y="112276"/>
                    </a:lnTo>
                    <a:lnTo>
                      <a:pt x="655865" y="143157"/>
                    </a:lnTo>
                    <a:lnTo>
                      <a:pt x="700542" y="175627"/>
                    </a:lnTo>
                    <a:lnTo>
                      <a:pt x="716417" y="187888"/>
                    </a:lnTo>
                    <a:lnTo>
                      <a:pt x="721633" y="191748"/>
                    </a:lnTo>
                    <a:lnTo>
                      <a:pt x="724581" y="194246"/>
                    </a:lnTo>
                    <a:lnTo>
                      <a:pt x="724581" y="304145"/>
                    </a:lnTo>
                    <a:lnTo>
                      <a:pt x="864054" y="304145"/>
                    </a:lnTo>
                    <a:lnTo>
                      <a:pt x="867456" y="304599"/>
                    </a:lnTo>
                    <a:lnTo>
                      <a:pt x="870631" y="305280"/>
                    </a:lnTo>
                    <a:lnTo>
                      <a:pt x="874033" y="306643"/>
                    </a:lnTo>
                    <a:lnTo>
                      <a:pt x="877208" y="308005"/>
                    </a:lnTo>
                    <a:lnTo>
                      <a:pt x="880156" y="309821"/>
                    </a:lnTo>
                    <a:lnTo>
                      <a:pt x="883104" y="311865"/>
                    </a:lnTo>
                    <a:lnTo>
                      <a:pt x="885826" y="314136"/>
                    </a:lnTo>
                    <a:lnTo>
                      <a:pt x="888547" y="316633"/>
                    </a:lnTo>
                    <a:lnTo>
                      <a:pt x="891495" y="319585"/>
                    </a:lnTo>
                    <a:lnTo>
                      <a:pt x="893536" y="322764"/>
                    </a:lnTo>
                    <a:lnTo>
                      <a:pt x="895578" y="326397"/>
                    </a:lnTo>
                    <a:lnTo>
                      <a:pt x="897392" y="329803"/>
                    </a:lnTo>
                    <a:lnTo>
                      <a:pt x="898526" y="333436"/>
                    </a:lnTo>
                    <a:lnTo>
                      <a:pt x="899660" y="337296"/>
                    </a:lnTo>
                    <a:lnTo>
                      <a:pt x="900113" y="340929"/>
                    </a:lnTo>
                    <a:lnTo>
                      <a:pt x="900113" y="345016"/>
                    </a:lnTo>
                    <a:lnTo>
                      <a:pt x="900113" y="348876"/>
                    </a:lnTo>
                    <a:lnTo>
                      <a:pt x="899433" y="352509"/>
                    </a:lnTo>
                    <a:lnTo>
                      <a:pt x="898526" y="356142"/>
                    </a:lnTo>
                    <a:lnTo>
                      <a:pt x="897165" y="360003"/>
                    </a:lnTo>
                    <a:lnTo>
                      <a:pt x="895578" y="363408"/>
                    </a:lnTo>
                    <a:lnTo>
                      <a:pt x="893536" y="367042"/>
                    </a:lnTo>
                    <a:lnTo>
                      <a:pt x="891042" y="369993"/>
                    </a:lnTo>
                    <a:lnTo>
                      <a:pt x="888320" y="373172"/>
                    </a:lnTo>
                    <a:lnTo>
                      <a:pt x="885599" y="375443"/>
                    </a:lnTo>
                    <a:lnTo>
                      <a:pt x="882877" y="377713"/>
                    </a:lnTo>
                    <a:lnTo>
                      <a:pt x="879929" y="379530"/>
                    </a:lnTo>
                    <a:lnTo>
                      <a:pt x="876981" y="381119"/>
                    </a:lnTo>
                    <a:lnTo>
                      <a:pt x="874033" y="382482"/>
                    </a:lnTo>
                    <a:lnTo>
                      <a:pt x="870631" y="383390"/>
                    </a:lnTo>
                    <a:lnTo>
                      <a:pt x="867456" y="384298"/>
                    </a:lnTo>
                    <a:lnTo>
                      <a:pt x="864281" y="384525"/>
                    </a:lnTo>
                    <a:lnTo>
                      <a:pt x="695552" y="384525"/>
                    </a:lnTo>
                    <a:lnTo>
                      <a:pt x="690790" y="384525"/>
                    </a:lnTo>
                    <a:lnTo>
                      <a:pt x="686481" y="383844"/>
                    </a:lnTo>
                    <a:lnTo>
                      <a:pt x="682172" y="383390"/>
                    </a:lnTo>
                    <a:lnTo>
                      <a:pt x="678543" y="382709"/>
                    </a:lnTo>
                    <a:lnTo>
                      <a:pt x="675142" y="381801"/>
                    </a:lnTo>
                    <a:lnTo>
                      <a:pt x="671740" y="380438"/>
                    </a:lnTo>
                    <a:lnTo>
                      <a:pt x="668792" y="379303"/>
                    </a:lnTo>
                    <a:lnTo>
                      <a:pt x="666070" y="377713"/>
                    </a:lnTo>
                    <a:lnTo>
                      <a:pt x="663576" y="376124"/>
                    </a:lnTo>
                    <a:lnTo>
                      <a:pt x="661308" y="374535"/>
                    </a:lnTo>
                    <a:lnTo>
                      <a:pt x="659040" y="372718"/>
                    </a:lnTo>
                    <a:lnTo>
                      <a:pt x="657226" y="370902"/>
                    </a:lnTo>
                    <a:lnTo>
                      <a:pt x="655638" y="369085"/>
                    </a:lnTo>
                    <a:lnTo>
                      <a:pt x="653824" y="367042"/>
                    </a:lnTo>
                    <a:lnTo>
                      <a:pt x="651329" y="362954"/>
                    </a:lnTo>
                    <a:lnTo>
                      <a:pt x="649288" y="359321"/>
                    </a:lnTo>
                    <a:lnTo>
                      <a:pt x="647927" y="355234"/>
                    </a:lnTo>
                    <a:lnTo>
                      <a:pt x="646793" y="351828"/>
                    </a:lnTo>
                    <a:lnTo>
                      <a:pt x="646340" y="348422"/>
                    </a:lnTo>
                    <a:lnTo>
                      <a:pt x="645886" y="345698"/>
                    </a:lnTo>
                    <a:lnTo>
                      <a:pt x="645660" y="343881"/>
                    </a:lnTo>
                    <a:lnTo>
                      <a:pt x="645660" y="341837"/>
                    </a:lnTo>
                    <a:lnTo>
                      <a:pt x="646113" y="274854"/>
                    </a:lnTo>
                    <a:lnTo>
                      <a:pt x="547008" y="387931"/>
                    </a:lnTo>
                    <a:lnTo>
                      <a:pt x="636588" y="477849"/>
                    </a:lnTo>
                    <a:lnTo>
                      <a:pt x="637722" y="478757"/>
                    </a:lnTo>
                    <a:lnTo>
                      <a:pt x="639990" y="481482"/>
                    </a:lnTo>
                    <a:lnTo>
                      <a:pt x="641351" y="483752"/>
                    </a:lnTo>
                    <a:lnTo>
                      <a:pt x="642938" y="486250"/>
                    </a:lnTo>
                    <a:lnTo>
                      <a:pt x="644299" y="489429"/>
                    </a:lnTo>
                    <a:lnTo>
                      <a:pt x="646113" y="493062"/>
                    </a:lnTo>
                    <a:lnTo>
                      <a:pt x="647474" y="497149"/>
                    </a:lnTo>
                    <a:lnTo>
                      <a:pt x="648608" y="501690"/>
                    </a:lnTo>
                    <a:lnTo>
                      <a:pt x="649288" y="506686"/>
                    </a:lnTo>
                    <a:lnTo>
                      <a:pt x="649968" y="512135"/>
                    </a:lnTo>
                    <a:lnTo>
                      <a:pt x="649968" y="518266"/>
                    </a:lnTo>
                    <a:lnTo>
                      <a:pt x="649061" y="524624"/>
                    </a:lnTo>
                    <a:lnTo>
                      <a:pt x="648608" y="528030"/>
                    </a:lnTo>
                    <a:lnTo>
                      <a:pt x="647927" y="531663"/>
                    </a:lnTo>
                    <a:lnTo>
                      <a:pt x="647020" y="535296"/>
                    </a:lnTo>
                    <a:lnTo>
                      <a:pt x="646113" y="538929"/>
                    </a:lnTo>
                    <a:lnTo>
                      <a:pt x="587602" y="800279"/>
                    </a:lnTo>
                    <a:lnTo>
                      <a:pt x="586468" y="804366"/>
                    </a:lnTo>
                    <a:lnTo>
                      <a:pt x="585108" y="808453"/>
                    </a:lnTo>
                    <a:lnTo>
                      <a:pt x="583293" y="812086"/>
                    </a:lnTo>
                    <a:lnTo>
                      <a:pt x="581252" y="815946"/>
                    </a:lnTo>
                    <a:lnTo>
                      <a:pt x="578984" y="819352"/>
                    </a:lnTo>
                    <a:lnTo>
                      <a:pt x="576263" y="822758"/>
                    </a:lnTo>
                    <a:lnTo>
                      <a:pt x="573542" y="825710"/>
                    </a:lnTo>
                    <a:lnTo>
                      <a:pt x="570367" y="828662"/>
                    </a:lnTo>
                    <a:lnTo>
                      <a:pt x="567192" y="831160"/>
                    </a:lnTo>
                    <a:lnTo>
                      <a:pt x="563563" y="833430"/>
                    </a:lnTo>
                    <a:lnTo>
                      <a:pt x="559934" y="835247"/>
                    </a:lnTo>
                    <a:lnTo>
                      <a:pt x="555852" y="836836"/>
                    </a:lnTo>
                    <a:lnTo>
                      <a:pt x="551997" y="838199"/>
                    </a:lnTo>
                    <a:lnTo>
                      <a:pt x="547688" y="839107"/>
                    </a:lnTo>
                    <a:lnTo>
                      <a:pt x="543152" y="839561"/>
                    </a:lnTo>
                    <a:lnTo>
                      <a:pt x="538843" y="839788"/>
                    </a:lnTo>
                    <a:lnTo>
                      <a:pt x="533627" y="839561"/>
                    </a:lnTo>
                    <a:lnTo>
                      <a:pt x="528638" y="838880"/>
                    </a:lnTo>
                    <a:lnTo>
                      <a:pt x="523876" y="837745"/>
                    </a:lnTo>
                    <a:lnTo>
                      <a:pt x="519567" y="835928"/>
                    </a:lnTo>
                    <a:lnTo>
                      <a:pt x="515258" y="833884"/>
                    </a:lnTo>
                    <a:lnTo>
                      <a:pt x="510949" y="831387"/>
                    </a:lnTo>
                    <a:lnTo>
                      <a:pt x="507320" y="828662"/>
                    </a:lnTo>
                    <a:lnTo>
                      <a:pt x="503692" y="825483"/>
                    </a:lnTo>
                    <a:lnTo>
                      <a:pt x="500517" y="821850"/>
                    </a:lnTo>
                    <a:lnTo>
                      <a:pt x="497568" y="817990"/>
                    </a:lnTo>
                    <a:lnTo>
                      <a:pt x="495074" y="813903"/>
                    </a:lnTo>
                    <a:lnTo>
                      <a:pt x="493033" y="809362"/>
                    </a:lnTo>
                    <a:lnTo>
                      <a:pt x="491218" y="805047"/>
                    </a:lnTo>
                    <a:lnTo>
                      <a:pt x="490084" y="800279"/>
                    </a:lnTo>
                    <a:lnTo>
                      <a:pt x="489404" y="795284"/>
                    </a:lnTo>
                    <a:lnTo>
                      <a:pt x="489177" y="790288"/>
                    </a:lnTo>
                    <a:lnTo>
                      <a:pt x="489177" y="786882"/>
                    </a:lnTo>
                    <a:lnTo>
                      <a:pt x="489631" y="783703"/>
                    </a:lnTo>
                    <a:lnTo>
                      <a:pt x="490084" y="780752"/>
                    </a:lnTo>
                    <a:lnTo>
                      <a:pt x="490538" y="777800"/>
                    </a:lnTo>
                    <a:lnTo>
                      <a:pt x="538843" y="563225"/>
                    </a:lnTo>
                    <a:lnTo>
                      <a:pt x="420234" y="447876"/>
                    </a:lnTo>
                    <a:lnTo>
                      <a:pt x="318181" y="561635"/>
                    </a:lnTo>
                    <a:lnTo>
                      <a:pt x="317274" y="562543"/>
                    </a:lnTo>
                    <a:lnTo>
                      <a:pt x="314779" y="564814"/>
                    </a:lnTo>
                    <a:lnTo>
                      <a:pt x="312738" y="566403"/>
                    </a:lnTo>
                    <a:lnTo>
                      <a:pt x="310697" y="568220"/>
                    </a:lnTo>
                    <a:lnTo>
                      <a:pt x="307522" y="569809"/>
                    </a:lnTo>
                    <a:lnTo>
                      <a:pt x="304347" y="571853"/>
                    </a:lnTo>
                    <a:lnTo>
                      <a:pt x="300491" y="573669"/>
                    </a:lnTo>
                    <a:lnTo>
                      <a:pt x="295956" y="575259"/>
                    </a:lnTo>
                    <a:lnTo>
                      <a:pt x="291193" y="576848"/>
                    </a:lnTo>
                    <a:lnTo>
                      <a:pt x="285750" y="578438"/>
                    </a:lnTo>
                    <a:lnTo>
                      <a:pt x="279400" y="579346"/>
                    </a:lnTo>
                    <a:lnTo>
                      <a:pt x="272824" y="580027"/>
                    </a:lnTo>
                    <a:lnTo>
                      <a:pt x="265566" y="580708"/>
                    </a:lnTo>
                    <a:lnTo>
                      <a:pt x="257856" y="580708"/>
                    </a:lnTo>
                    <a:lnTo>
                      <a:pt x="50573" y="580936"/>
                    </a:lnTo>
                    <a:lnTo>
                      <a:pt x="46491" y="580936"/>
                    </a:lnTo>
                    <a:lnTo>
                      <a:pt x="42182" y="580254"/>
                    </a:lnTo>
                    <a:lnTo>
                      <a:pt x="37873" y="579573"/>
                    </a:lnTo>
                    <a:lnTo>
                      <a:pt x="34018" y="578438"/>
                    </a:lnTo>
                    <a:lnTo>
                      <a:pt x="30163" y="576848"/>
                    </a:lnTo>
                    <a:lnTo>
                      <a:pt x="26081" y="575032"/>
                    </a:lnTo>
                    <a:lnTo>
                      <a:pt x="22679" y="572761"/>
                    </a:lnTo>
                    <a:lnTo>
                      <a:pt x="19277" y="570264"/>
                    </a:lnTo>
                    <a:lnTo>
                      <a:pt x="16329" y="567993"/>
                    </a:lnTo>
                    <a:lnTo>
                      <a:pt x="13154" y="564814"/>
                    </a:lnTo>
                    <a:lnTo>
                      <a:pt x="10432" y="561635"/>
                    </a:lnTo>
                    <a:lnTo>
                      <a:pt x="7938" y="558229"/>
                    </a:lnTo>
                    <a:lnTo>
                      <a:pt x="5670" y="554369"/>
                    </a:lnTo>
                    <a:lnTo>
                      <a:pt x="4082" y="550736"/>
                    </a:lnTo>
                    <a:lnTo>
                      <a:pt x="2495" y="546422"/>
                    </a:lnTo>
                    <a:lnTo>
                      <a:pt x="1361" y="542108"/>
                    </a:lnTo>
                    <a:lnTo>
                      <a:pt x="454" y="537112"/>
                    </a:lnTo>
                    <a:lnTo>
                      <a:pt x="0" y="532117"/>
                    </a:lnTo>
                    <a:lnTo>
                      <a:pt x="227" y="527121"/>
                    </a:lnTo>
                    <a:lnTo>
                      <a:pt x="681" y="522353"/>
                    </a:lnTo>
                    <a:lnTo>
                      <a:pt x="1815" y="517812"/>
                    </a:lnTo>
                    <a:lnTo>
                      <a:pt x="3175" y="513271"/>
                    </a:lnTo>
                    <a:lnTo>
                      <a:pt x="5216" y="508956"/>
                    </a:lnTo>
                    <a:lnTo>
                      <a:pt x="7484" y="504642"/>
                    </a:lnTo>
                    <a:lnTo>
                      <a:pt x="10206" y="500782"/>
                    </a:lnTo>
                    <a:lnTo>
                      <a:pt x="13381" y="497149"/>
                    </a:lnTo>
                    <a:lnTo>
                      <a:pt x="16782" y="493970"/>
                    </a:lnTo>
                    <a:lnTo>
                      <a:pt x="20411" y="491018"/>
                    </a:lnTo>
                    <a:lnTo>
                      <a:pt x="24720" y="488294"/>
                    </a:lnTo>
                    <a:lnTo>
                      <a:pt x="29029" y="486250"/>
                    </a:lnTo>
                    <a:lnTo>
                      <a:pt x="33565" y="484206"/>
                    </a:lnTo>
                    <a:lnTo>
                      <a:pt x="38554" y="483071"/>
                    </a:lnTo>
                    <a:lnTo>
                      <a:pt x="41729" y="482617"/>
                    </a:lnTo>
                    <a:lnTo>
                      <a:pt x="44904" y="481936"/>
                    </a:lnTo>
                    <a:lnTo>
                      <a:pt x="47852" y="481709"/>
                    </a:lnTo>
                    <a:lnTo>
                      <a:pt x="50800" y="481936"/>
                    </a:lnTo>
                    <a:lnTo>
                      <a:pt x="229054" y="482390"/>
                    </a:lnTo>
                    <a:lnTo>
                      <a:pt x="492352" y="176762"/>
                    </a:lnTo>
                    <a:lnTo>
                      <a:pt x="423409" y="176308"/>
                    </a:lnTo>
                    <a:lnTo>
                      <a:pt x="304120" y="314590"/>
                    </a:lnTo>
                    <a:lnTo>
                      <a:pt x="301172" y="317769"/>
                    </a:lnTo>
                    <a:lnTo>
                      <a:pt x="298224" y="320493"/>
                    </a:lnTo>
                    <a:lnTo>
                      <a:pt x="294595" y="322991"/>
                    </a:lnTo>
                    <a:lnTo>
                      <a:pt x="290966" y="325035"/>
                    </a:lnTo>
                    <a:lnTo>
                      <a:pt x="286884" y="326624"/>
                    </a:lnTo>
                    <a:lnTo>
                      <a:pt x="283029" y="327759"/>
                    </a:lnTo>
                    <a:lnTo>
                      <a:pt x="278720" y="328441"/>
                    </a:lnTo>
                    <a:lnTo>
                      <a:pt x="274184" y="328895"/>
                    </a:lnTo>
                    <a:lnTo>
                      <a:pt x="270329" y="328441"/>
                    </a:lnTo>
                    <a:lnTo>
                      <a:pt x="266247" y="327987"/>
                    </a:lnTo>
                    <a:lnTo>
                      <a:pt x="262391" y="327078"/>
                    </a:lnTo>
                    <a:lnTo>
                      <a:pt x="258990" y="325716"/>
                    </a:lnTo>
                    <a:lnTo>
                      <a:pt x="255815" y="324126"/>
                    </a:lnTo>
                    <a:lnTo>
                      <a:pt x="252413" y="322310"/>
                    </a:lnTo>
                    <a:lnTo>
                      <a:pt x="249465" y="320039"/>
                    </a:lnTo>
                    <a:lnTo>
                      <a:pt x="246743" y="317542"/>
                    </a:lnTo>
                    <a:lnTo>
                      <a:pt x="244249" y="314817"/>
                    </a:lnTo>
                    <a:lnTo>
                      <a:pt x="241981" y="311865"/>
                    </a:lnTo>
                    <a:lnTo>
                      <a:pt x="240166" y="308686"/>
                    </a:lnTo>
                    <a:lnTo>
                      <a:pt x="238579" y="305053"/>
                    </a:lnTo>
                    <a:lnTo>
                      <a:pt x="237218" y="301647"/>
                    </a:lnTo>
                    <a:lnTo>
                      <a:pt x="236311" y="297787"/>
                    </a:lnTo>
                    <a:lnTo>
                      <a:pt x="235631" y="294154"/>
                    </a:lnTo>
                    <a:lnTo>
                      <a:pt x="235631" y="290067"/>
                    </a:lnTo>
                    <a:lnTo>
                      <a:pt x="235858" y="285980"/>
                    </a:lnTo>
                    <a:lnTo>
                      <a:pt x="236311" y="281666"/>
                    </a:lnTo>
                    <a:lnTo>
                      <a:pt x="237672" y="277578"/>
                    </a:lnTo>
                    <a:lnTo>
                      <a:pt x="239033" y="273945"/>
                    </a:lnTo>
                    <a:lnTo>
                      <a:pt x="240847" y="270312"/>
                    </a:lnTo>
                    <a:lnTo>
                      <a:pt x="243115" y="266906"/>
                    </a:lnTo>
                    <a:lnTo>
                      <a:pt x="245609" y="263955"/>
                    </a:lnTo>
                    <a:lnTo>
                      <a:pt x="248558" y="261230"/>
                    </a:lnTo>
                    <a:lnTo>
                      <a:pt x="377372" y="112503"/>
                    </a:lnTo>
                    <a:lnTo>
                      <a:pt x="380093" y="109324"/>
                    </a:lnTo>
                    <a:lnTo>
                      <a:pt x="383495" y="106599"/>
                    </a:lnTo>
                    <a:lnTo>
                      <a:pt x="386897" y="104556"/>
                    </a:lnTo>
                    <a:lnTo>
                      <a:pt x="390299" y="102512"/>
                    </a:lnTo>
                    <a:lnTo>
                      <a:pt x="394381" y="100696"/>
                    </a:lnTo>
                    <a:lnTo>
                      <a:pt x="398236" y="99560"/>
                    </a:lnTo>
                    <a:lnTo>
                      <a:pt x="402772" y="98652"/>
                    </a:lnTo>
                    <a:lnTo>
                      <a:pt x="407081" y="98425"/>
                    </a:lnTo>
                    <a:close/>
                    <a:moveTo>
                      <a:pt x="706437" y="0"/>
                    </a:moveTo>
                    <a:lnTo>
                      <a:pt x="710520" y="0"/>
                    </a:lnTo>
                    <a:lnTo>
                      <a:pt x="714375" y="0"/>
                    </a:lnTo>
                    <a:lnTo>
                      <a:pt x="718230" y="453"/>
                    </a:lnTo>
                    <a:lnTo>
                      <a:pt x="722086" y="907"/>
                    </a:lnTo>
                    <a:lnTo>
                      <a:pt x="725941" y="1361"/>
                    </a:lnTo>
                    <a:lnTo>
                      <a:pt x="729570" y="2495"/>
                    </a:lnTo>
                    <a:lnTo>
                      <a:pt x="733425" y="3402"/>
                    </a:lnTo>
                    <a:lnTo>
                      <a:pt x="736827" y="4762"/>
                    </a:lnTo>
                    <a:lnTo>
                      <a:pt x="740455" y="5896"/>
                    </a:lnTo>
                    <a:lnTo>
                      <a:pt x="743857" y="7711"/>
                    </a:lnTo>
                    <a:lnTo>
                      <a:pt x="747032" y="9298"/>
                    </a:lnTo>
                    <a:lnTo>
                      <a:pt x="750434" y="11112"/>
                    </a:lnTo>
                    <a:lnTo>
                      <a:pt x="753609" y="13153"/>
                    </a:lnTo>
                    <a:lnTo>
                      <a:pt x="756557" y="15195"/>
                    </a:lnTo>
                    <a:lnTo>
                      <a:pt x="759279" y="17689"/>
                    </a:lnTo>
                    <a:lnTo>
                      <a:pt x="762227" y="19957"/>
                    </a:lnTo>
                    <a:lnTo>
                      <a:pt x="764722" y="22679"/>
                    </a:lnTo>
                    <a:lnTo>
                      <a:pt x="767670" y="25173"/>
                    </a:lnTo>
                    <a:lnTo>
                      <a:pt x="769711" y="27895"/>
                    </a:lnTo>
                    <a:lnTo>
                      <a:pt x="771979" y="30843"/>
                    </a:lnTo>
                    <a:lnTo>
                      <a:pt x="774247" y="33791"/>
                    </a:lnTo>
                    <a:lnTo>
                      <a:pt x="776288" y="37193"/>
                    </a:lnTo>
                    <a:lnTo>
                      <a:pt x="778329" y="40368"/>
                    </a:lnTo>
                    <a:lnTo>
                      <a:pt x="779690" y="43543"/>
                    </a:lnTo>
                    <a:lnTo>
                      <a:pt x="781504" y="47171"/>
                    </a:lnTo>
                    <a:lnTo>
                      <a:pt x="782865" y="50573"/>
                    </a:lnTo>
                    <a:lnTo>
                      <a:pt x="783998" y="53975"/>
                    </a:lnTo>
                    <a:lnTo>
                      <a:pt x="784906" y="57830"/>
                    </a:lnTo>
                    <a:lnTo>
                      <a:pt x="786040" y="61459"/>
                    </a:lnTo>
                    <a:lnTo>
                      <a:pt x="786493" y="65314"/>
                    </a:lnTo>
                    <a:lnTo>
                      <a:pt x="786947" y="68943"/>
                    </a:lnTo>
                    <a:lnTo>
                      <a:pt x="787400" y="73025"/>
                    </a:lnTo>
                    <a:lnTo>
                      <a:pt x="787400" y="77107"/>
                    </a:lnTo>
                    <a:lnTo>
                      <a:pt x="787400" y="80963"/>
                    </a:lnTo>
                    <a:lnTo>
                      <a:pt x="786947" y="84818"/>
                    </a:lnTo>
                    <a:lnTo>
                      <a:pt x="786493" y="88673"/>
                    </a:lnTo>
                    <a:lnTo>
                      <a:pt x="786040" y="92529"/>
                    </a:lnTo>
                    <a:lnTo>
                      <a:pt x="784906" y="96157"/>
                    </a:lnTo>
                    <a:lnTo>
                      <a:pt x="783998" y="100013"/>
                    </a:lnTo>
                    <a:lnTo>
                      <a:pt x="782865" y="103415"/>
                    </a:lnTo>
                    <a:lnTo>
                      <a:pt x="781504" y="106817"/>
                    </a:lnTo>
                    <a:lnTo>
                      <a:pt x="779690" y="110445"/>
                    </a:lnTo>
                    <a:lnTo>
                      <a:pt x="778329" y="113620"/>
                    </a:lnTo>
                    <a:lnTo>
                      <a:pt x="776288" y="116795"/>
                    </a:lnTo>
                    <a:lnTo>
                      <a:pt x="774247" y="120197"/>
                    </a:lnTo>
                    <a:lnTo>
                      <a:pt x="772206" y="123145"/>
                    </a:lnTo>
                    <a:lnTo>
                      <a:pt x="769711" y="125867"/>
                    </a:lnTo>
                    <a:lnTo>
                      <a:pt x="767670" y="128815"/>
                    </a:lnTo>
                    <a:lnTo>
                      <a:pt x="764722" y="131309"/>
                    </a:lnTo>
                    <a:lnTo>
                      <a:pt x="762227" y="134031"/>
                    </a:lnTo>
                    <a:lnTo>
                      <a:pt x="759279" y="136299"/>
                    </a:lnTo>
                    <a:lnTo>
                      <a:pt x="756557" y="138567"/>
                    </a:lnTo>
                    <a:lnTo>
                      <a:pt x="753609" y="140835"/>
                    </a:lnTo>
                    <a:lnTo>
                      <a:pt x="750434" y="142876"/>
                    </a:lnTo>
                    <a:lnTo>
                      <a:pt x="747032" y="144690"/>
                    </a:lnTo>
                    <a:lnTo>
                      <a:pt x="743857" y="146277"/>
                    </a:lnTo>
                    <a:lnTo>
                      <a:pt x="740455" y="148092"/>
                    </a:lnTo>
                    <a:lnTo>
                      <a:pt x="736827" y="149226"/>
                    </a:lnTo>
                    <a:lnTo>
                      <a:pt x="733425" y="150586"/>
                    </a:lnTo>
                    <a:lnTo>
                      <a:pt x="729570" y="151493"/>
                    </a:lnTo>
                    <a:lnTo>
                      <a:pt x="725941" y="152627"/>
                    </a:lnTo>
                    <a:lnTo>
                      <a:pt x="722086" y="153081"/>
                    </a:lnTo>
                    <a:lnTo>
                      <a:pt x="718230" y="153535"/>
                    </a:lnTo>
                    <a:lnTo>
                      <a:pt x="714375" y="153988"/>
                    </a:lnTo>
                    <a:lnTo>
                      <a:pt x="710520" y="153988"/>
                    </a:lnTo>
                    <a:lnTo>
                      <a:pt x="706437" y="153988"/>
                    </a:lnTo>
                    <a:lnTo>
                      <a:pt x="702582" y="153535"/>
                    </a:lnTo>
                    <a:lnTo>
                      <a:pt x="698727" y="153081"/>
                    </a:lnTo>
                    <a:lnTo>
                      <a:pt x="695098" y="152627"/>
                    </a:lnTo>
                    <a:lnTo>
                      <a:pt x="691243" y="151493"/>
                    </a:lnTo>
                    <a:lnTo>
                      <a:pt x="687614" y="150586"/>
                    </a:lnTo>
                    <a:lnTo>
                      <a:pt x="683986" y="149226"/>
                    </a:lnTo>
                    <a:lnTo>
                      <a:pt x="680584" y="148092"/>
                    </a:lnTo>
                    <a:lnTo>
                      <a:pt x="677182" y="146277"/>
                    </a:lnTo>
                    <a:lnTo>
                      <a:pt x="673553" y="144690"/>
                    </a:lnTo>
                    <a:lnTo>
                      <a:pt x="670605" y="142876"/>
                    </a:lnTo>
                    <a:lnTo>
                      <a:pt x="667430" y="140835"/>
                    </a:lnTo>
                    <a:lnTo>
                      <a:pt x="664255" y="138567"/>
                    </a:lnTo>
                    <a:lnTo>
                      <a:pt x="661307" y="136299"/>
                    </a:lnTo>
                    <a:lnTo>
                      <a:pt x="658586" y="134031"/>
                    </a:lnTo>
                    <a:lnTo>
                      <a:pt x="655864" y="131309"/>
                    </a:lnTo>
                    <a:lnTo>
                      <a:pt x="653369" y="128815"/>
                    </a:lnTo>
                    <a:lnTo>
                      <a:pt x="650875" y="125867"/>
                    </a:lnTo>
                    <a:lnTo>
                      <a:pt x="648607" y="123145"/>
                    </a:lnTo>
                    <a:lnTo>
                      <a:pt x="646566" y="120197"/>
                    </a:lnTo>
                    <a:lnTo>
                      <a:pt x="644752" y="116795"/>
                    </a:lnTo>
                    <a:lnTo>
                      <a:pt x="642710" y="113620"/>
                    </a:lnTo>
                    <a:lnTo>
                      <a:pt x="640896" y="110445"/>
                    </a:lnTo>
                    <a:lnTo>
                      <a:pt x="639535" y="106817"/>
                    </a:lnTo>
                    <a:lnTo>
                      <a:pt x="638175" y="103415"/>
                    </a:lnTo>
                    <a:lnTo>
                      <a:pt x="637041" y="100013"/>
                    </a:lnTo>
                    <a:lnTo>
                      <a:pt x="635907" y="96157"/>
                    </a:lnTo>
                    <a:lnTo>
                      <a:pt x="635000" y="92529"/>
                    </a:lnTo>
                    <a:lnTo>
                      <a:pt x="634546" y="88673"/>
                    </a:lnTo>
                    <a:lnTo>
                      <a:pt x="633866" y="84818"/>
                    </a:lnTo>
                    <a:lnTo>
                      <a:pt x="633412" y="80963"/>
                    </a:lnTo>
                    <a:lnTo>
                      <a:pt x="633412" y="77107"/>
                    </a:lnTo>
                    <a:lnTo>
                      <a:pt x="633412" y="73025"/>
                    </a:lnTo>
                    <a:lnTo>
                      <a:pt x="633866" y="68943"/>
                    </a:lnTo>
                    <a:lnTo>
                      <a:pt x="634546" y="65314"/>
                    </a:lnTo>
                    <a:lnTo>
                      <a:pt x="635000" y="61232"/>
                    </a:lnTo>
                    <a:lnTo>
                      <a:pt x="635907" y="57830"/>
                    </a:lnTo>
                    <a:lnTo>
                      <a:pt x="637041" y="53975"/>
                    </a:lnTo>
                    <a:lnTo>
                      <a:pt x="638175" y="50573"/>
                    </a:lnTo>
                    <a:lnTo>
                      <a:pt x="639535" y="47171"/>
                    </a:lnTo>
                    <a:lnTo>
                      <a:pt x="640896" y="43543"/>
                    </a:lnTo>
                    <a:lnTo>
                      <a:pt x="642710" y="40368"/>
                    </a:lnTo>
                    <a:lnTo>
                      <a:pt x="644752" y="37193"/>
                    </a:lnTo>
                    <a:lnTo>
                      <a:pt x="646566" y="33791"/>
                    </a:lnTo>
                    <a:lnTo>
                      <a:pt x="648607" y="30843"/>
                    </a:lnTo>
                    <a:lnTo>
                      <a:pt x="650875" y="27895"/>
                    </a:lnTo>
                    <a:lnTo>
                      <a:pt x="653369" y="25173"/>
                    </a:lnTo>
                    <a:lnTo>
                      <a:pt x="655864" y="22452"/>
                    </a:lnTo>
                    <a:lnTo>
                      <a:pt x="658586" y="19957"/>
                    </a:lnTo>
                    <a:lnTo>
                      <a:pt x="661307" y="17689"/>
                    </a:lnTo>
                    <a:lnTo>
                      <a:pt x="664255" y="15195"/>
                    </a:lnTo>
                    <a:lnTo>
                      <a:pt x="667430" y="13153"/>
                    </a:lnTo>
                    <a:lnTo>
                      <a:pt x="670605" y="11112"/>
                    </a:lnTo>
                    <a:lnTo>
                      <a:pt x="673553" y="9298"/>
                    </a:lnTo>
                    <a:lnTo>
                      <a:pt x="677182" y="7484"/>
                    </a:lnTo>
                    <a:lnTo>
                      <a:pt x="680584" y="5896"/>
                    </a:lnTo>
                    <a:lnTo>
                      <a:pt x="683986" y="4762"/>
                    </a:lnTo>
                    <a:lnTo>
                      <a:pt x="687614" y="3402"/>
                    </a:lnTo>
                    <a:lnTo>
                      <a:pt x="691243" y="2495"/>
                    </a:lnTo>
                    <a:lnTo>
                      <a:pt x="695098" y="1361"/>
                    </a:lnTo>
                    <a:lnTo>
                      <a:pt x="698727" y="907"/>
                    </a:lnTo>
                    <a:lnTo>
                      <a:pt x="702582" y="453"/>
                    </a:lnTo>
                    <a:lnTo>
                      <a:pt x="706437" y="0"/>
                    </a:lnTo>
                    <a:close/>
                  </a:path>
                </a:pathLst>
              </a:custGeom>
              <a:grpFill/>
              <a:ln>
                <a:noFill/>
              </a:ln>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12" name="矩形 11"/>
              <p:cNvSpPr/>
              <p:nvPr/>
            </p:nvSpPr>
            <p:spPr>
              <a:xfrm rot="19576579">
                <a:off x="5256655" y="3004686"/>
                <a:ext cx="2402281" cy="45719"/>
              </a:xfrm>
              <a:prstGeom prst="rect">
                <a:avLst/>
              </a:prstGeom>
              <a:grpFill/>
              <a:ln>
                <a:noFill/>
              </a:ln>
              <a:effectLst/>
              <a:scene3d>
                <a:camera prst="orthographicFront">
                  <a:rot lat="0" lon="0" rev="0"/>
                </a:camera>
                <a:lightRig rig="glow" dir="t">
                  <a:rot lat="0" lon="0" rev="14100000"/>
                </a:lightRig>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rgbClr val="FFFFFF"/>
                  </a:solidFill>
                  <a:latin typeface="+mn-ea"/>
                </a:endParaRPr>
              </a:p>
            </p:txBody>
          </p:sp>
        </p:grpSp>
      </p:grpSp>
      <p:sp>
        <p:nvSpPr>
          <p:cNvPr id="14" name="矩形 13"/>
          <p:cNvSpPr/>
          <p:nvPr/>
        </p:nvSpPr>
        <p:spPr>
          <a:xfrm>
            <a:off x="8031285" y="4048568"/>
            <a:ext cx="3201917" cy="671830"/>
          </a:xfrm>
          <a:prstGeom prst="rect">
            <a:avLst/>
          </a:prstGeom>
          <a:noFill/>
        </p:spPr>
        <p:txBody>
          <a:bodyPr wrap="square" rtlCol="0">
            <a:spAutoFit/>
          </a:bodyPr>
          <a:lstStyle/>
          <a:p>
            <a:pPr>
              <a:lnSpc>
                <a:spcPct val="120000"/>
              </a:lnSpc>
              <a:spcBef>
                <a:spcPct val="0"/>
              </a:spcBef>
              <a:buNone/>
            </a:pPr>
            <a:r>
              <a:rPr lang="zh-CN" altLang="en-US" sz="1050" dirty="0">
                <a:solidFill>
                  <a:schemeClr val="bg1"/>
                </a:solidFill>
                <a:sym typeface="微软雅黑" panose="020B0503020204020204" charset="-122"/>
              </a:rPr>
              <a:t>亚马逊佣金</a:t>
            </a:r>
            <a:endParaRPr lang="zh-CN" altLang="en-US" sz="1050" dirty="0">
              <a:solidFill>
                <a:schemeClr val="bg1"/>
              </a:solidFill>
              <a:sym typeface="微软雅黑" panose="020B0503020204020204" charset="-122"/>
            </a:endParaRPr>
          </a:p>
          <a:p>
            <a:pPr>
              <a:lnSpc>
                <a:spcPct val="120000"/>
              </a:lnSpc>
              <a:spcBef>
                <a:spcPct val="0"/>
              </a:spcBef>
              <a:buNone/>
            </a:pPr>
            <a:r>
              <a:rPr lang="zh-CN" altLang="en-US" sz="1050" dirty="0">
                <a:solidFill>
                  <a:schemeClr val="bg1"/>
                </a:solidFill>
                <a:sym typeface="微软雅黑" panose="020B0503020204020204" charset="-122"/>
              </a:rPr>
              <a:t>订单退款</a:t>
            </a:r>
            <a:endParaRPr lang="zh-CN" altLang="en-US" sz="1050" dirty="0">
              <a:solidFill>
                <a:schemeClr val="bg1"/>
              </a:solidFill>
              <a:sym typeface="微软雅黑" panose="020B0503020204020204" charset="-122"/>
            </a:endParaRPr>
          </a:p>
          <a:p>
            <a:pPr>
              <a:lnSpc>
                <a:spcPct val="120000"/>
              </a:lnSpc>
              <a:spcBef>
                <a:spcPct val="0"/>
              </a:spcBef>
              <a:buNone/>
            </a:pPr>
            <a:r>
              <a:rPr lang="zh-CN" altLang="en-US" sz="1050" dirty="0">
                <a:solidFill>
                  <a:schemeClr val="bg1"/>
                </a:solidFill>
                <a:sym typeface="微软雅黑" panose="020B0503020204020204" charset="-122"/>
              </a:rPr>
              <a:t>促销亏损</a:t>
            </a:r>
            <a:endParaRPr lang="zh-CN" altLang="en-US" sz="1050" dirty="0">
              <a:solidFill>
                <a:schemeClr val="bg1"/>
              </a:solidFill>
              <a:sym typeface="微软雅黑" panose="020B0503020204020204" charset="-122"/>
            </a:endParaRPr>
          </a:p>
        </p:txBody>
      </p:sp>
      <p:sp>
        <p:nvSpPr>
          <p:cNvPr id="19" name="矩形 18"/>
          <p:cNvSpPr/>
          <p:nvPr/>
        </p:nvSpPr>
        <p:spPr>
          <a:xfrm>
            <a:off x="8031285" y="4842850"/>
            <a:ext cx="3201917" cy="478155"/>
          </a:xfrm>
          <a:prstGeom prst="rect">
            <a:avLst/>
          </a:prstGeom>
          <a:noFill/>
        </p:spPr>
        <p:txBody>
          <a:bodyPr wrap="square" rtlCol="0">
            <a:spAutoFit/>
          </a:bodyPr>
          <a:lstStyle/>
          <a:p>
            <a:pPr>
              <a:lnSpc>
                <a:spcPct val="120000"/>
              </a:lnSpc>
              <a:spcBef>
                <a:spcPct val="0"/>
              </a:spcBef>
              <a:buNone/>
            </a:pPr>
            <a:r>
              <a:rPr lang="zh-CN" altLang="en-US" sz="1050" dirty="0">
                <a:solidFill>
                  <a:schemeClr val="bg1"/>
                </a:solidFill>
                <a:sym typeface="微软雅黑" panose="020B0503020204020204" charset="-122"/>
              </a:rPr>
              <a:t>亚马逊仓储费用</a:t>
            </a:r>
            <a:endParaRPr lang="zh-CN" altLang="en-US" sz="1050" dirty="0">
              <a:solidFill>
                <a:schemeClr val="bg1"/>
              </a:solidFill>
              <a:sym typeface="微软雅黑" panose="020B0503020204020204" charset="-122"/>
            </a:endParaRPr>
          </a:p>
          <a:p>
            <a:pPr>
              <a:lnSpc>
                <a:spcPct val="120000"/>
              </a:lnSpc>
              <a:spcBef>
                <a:spcPct val="0"/>
              </a:spcBef>
              <a:buNone/>
            </a:pPr>
            <a:r>
              <a:rPr lang="zh-CN" altLang="en-US" sz="1050" dirty="0">
                <a:solidFill>
                  <a:schemeClr val="bg1"/>
                </a:solidFill>
                <a:sym typeface="微软雅黑" panose="020B0503020204020204" charset="-122"/>
              </a:rPr>
              <a:t>滞销分摊费用</a:t>
            </a:r>
            <a:endParaRPr lang="zh-CN" altLang="en-US" sz="1050" dirty="0">
              <a:solidFill>
                <a:schemeClr val="bg1"/>
              </a:solidFill>
              <a:sym typeface="微软雅黑" panose="020B0503020204020204" charset="-122"/>
            </a:endParaRPr>
          </a:p>
        </p:txBody>
      </p:sp>
      <p:sp>
        <p:nvSpPr>
          <p:cNvPr id="22" name="矩形 21"/>
          <p:cNvSpPr/>
          <p:nvPr/>
        </p:nvSpPr>
        <p:spPr>
          <a:xfrm>
            <a:off x="8031285" y="3258502"/>
            <a:ext cx="3201917" cy="671830"/>
          </a:xfrm>
          <a:prstGeom prst="rect">
            <a:avLst/>
          </a:prstGeom>
          <a:noFill/>
        </p:spPr>
        <p:txBody>
          <a:bodyPr wrap="square" rtlCol="0">
            <a:spAutoFit/>
          </a:bodyPr>
          <a:lstStyle/>
          <a:p>
            <a:pPr>
              <a:lnSpc>
                <a:spcPct val="120000"/>
              </a:lnSpc>
              <a:spcBef>
                <a:spcPct val="0"/>
              </a:spcBef>
              <a:buNone/>
            </a:pPr>
            <a:r>
              <a:rPr lang="zh-CN" altLang="en-US" sz="1050" dirty="0">
                <a:solidFill>
                  <a:schemeClr val="bg1"/>
                </a:solidFill>
                <a:sym typeface="微软雅黑" panose="020B0503020204020204" charset="-122"/>
              </a:rPr>
              <a:t>运营成本</a:t>
            </a:r>
            <a:endParaRPr lang="zh-CN" altLang="en-US" sz="1050" dirty="0">
              <a:solidFill>
                <a:schemeClr val="bg1"/>
              </a:solidFill>
              <a:sym typeface="微软雅黑" panose="020B0503020204020204" charset="-122"/>
            </a:endParaRPr>
          </a:p>
          <a:p>
            <a:pPr>
              <a:lnSpc>
                <a:spcPct val="120000"/>
              </a:lnSpc>
              <a:spcBef>
                <a:spcPct val="0"/>
              </a:spcBef>
              <a:buNone/>
            </a:pPr>
            <a:r>
              <a:rPr lang="zh-CN" altLang="en-US" sz="1050" dirty="0">
                <a:solidFill>
                  <a:schemeClr val="bg1"/>
                </a:solidFill>
                <a:sym typeface="微软雅黑" panose="020B0503020204020204" charset="-122"/>
              </a:rPr>
              <a:t>人工成本</a:t>
            </a:r>
            <a:endParaRPr lang="zh-CN" altLang="en-US" sz="1050" dirty="0">
              <a:solidFill>
                <a:schemeClr val="bg1"/>
              </a:solidFill>
              <a:sym typeface="微软雅黑" panose="020B0503020204020204" charset="-122"/>
            </a:endParaRPr>
          </a:p>
          <a:p>
            <a:pPr>
              <a:lnSpc>
                <a:spcPct val="120000"/>
              </a:lnSpc>
              <a:spcBef>
                <a:spcPct val="0"/>
              </a:spcBef>
              <a:buNone/>
            </a:pPr>
            <a:r>
              <a:rPr lang="en-US" altLang="zh-CN" sz="1050" dirty="0">
                <a:solidFill>
                  <a:schemeClr val="bg1"/>
                </a:solidFill>
                <a:sym typeface="微软雅黑" panose="020B0503020204020204" charset="-122"/>
              </a:rPr>
              <a:t>CPC</a:t>
            </a:r>
            <a:r>
              <a:rPr lang="zh-CN" altLang="en-US" sz="1050" dirty="0">
                <a:solidFill>
                  <a:schemeClr val="bg1"/>
                </a:solidFill>
                <a:sym typeface="微软雅黑" panose="020B0503020204020204" charset="-122"/>
              </a:rPr>
              <a:t>损耗</a:t>
            </a:r>
            <a:endParaRPr lang="zh-CN" altLang="en-US" sz="1050" dirty="0">
              <a:solidFill>
                <a:schemeClr val="bg1"/>
              </a:solidFill>
              <a:sym typeface="微软雅黑" panose="020B0503020204020204" charset="-122"/>
            </a:endParaRPr>
          </a:p>
        </p:txBody>
      </p:sp>
      <p:sp>
        <p:nvSpPr>
          <p:cNvPr id="25" name="矩形 24"/>
          <p:cNvSpPr/>
          <p:nvPr/>
        </p:nvSpPr>
        <p:spPr>
          <a:xfrm>
            <a:off x="8031285" y="2462519"/>
            <a:ext cx="3201917" cy="671830"/>
          </a:xfrm>
          <a:prstGeom prst="rect">
            <a:avLst/>
          </a:prstGeom>
          <a:noFill/>
        </p:spPr>
        <p:txBody>
          <a:bodyPr wrap="square" rtlCol="0">
            <a:spAutoFit/>
          </a:bodyPr>
          <a:lstStyle/>
          <a:p>
            <a:pPr>
              <a:lnSpc>
                <a:spcPct val="120000"/>
              </a:lnSpc>
              <a:spcBef>
                <a:spcPct val="0"/>
              </a:spcBef>
              <a:buNone/>
            </a:pPr>
            <a:r>
              <a:rPr lang="zh-CN" altLang="en-US" sz="1050" dirty="0">
                <a:solidFill>
                  <a:schemeClr val="bg1"/>
                </a:solidFill>
                <a:sym typeface="微软雅黑" panose="020B0503020204020204" charset="-122"/>
              </a:rPr>
              <a:t>采购成本</a:t>
            </a:r>
            <a:endParaRPr lang="zh-CN" altLang="en-US" sz="1050" dirty="0">
              <a:solidFill>
                <a:schemeClr val="bg1"/>
              </a:solidFill>
              <a:sym typeface="微软雅黑" panose="020B0503020204020204" charset="-122"/>
            </a:endParaRPr>
          </a:p>
          <a:p>
            <a:pPr>
              <a:lnSpc>
                <a:spcPct val="120000"/>
              </a:lnSpc>
              <a:spcBef>
                <a:spcPct val="0"/>
              </a:spcBef>
              <a:buNone/>
            </a:pPr>
            <a:r>
              <a:rPr lang="zh-CN" altLang="en-US" sz="1050" dirty="0">
                <a:solidFill>
                  <a:schemeClr val="bg1"/>
                </a:solidFill>
                <a:sym typeface="微软雅黑" panose="020B0503020204020204" charset="-122"/>
              </a:rPr>
              <a:t>国内运费</a:t>
            </a:r>
            <a:endParaRPr lang="zh-CN" altLang="en-US" sz="1050" dirty="0">
              <a:solidFill>
                <a:schemeClr val="bg1"/>
              </a:solidFill>
              <a:sym typeface="微软雅黑" panose="020B0503020204020204" charset="-122"/>
            </a:endParaRPr>
          </a:p>
          <a:p>
            <a:pPr>
              <a:lnSpc>
                <a:spcPct val="120000"/>
              </a:lnSpc>
              <a:spcBef>
                <a:spcPct val="0"/>
              </a:spcBef>
              <a:buNone/>
            </a:pPr>
            <a:r>
              <a:rPr lang="en-US" altLang="zh-CN" sz="1050" dirty="0">
                <a:solidFill>
                  <a:schemeClr val="bg1"/>
                </a:solidFill>
                <a:sym typeface="微软雅黑" panose="020B0503020204020204" charset="-122"/>
              </a:rPr>
              <a:t>FBA</a:t>
            </a:r>
            <a:r>
              <a:rPr lang="zh-CN" altLang="en-US" sz="1050" dirty="0">
                <a:solidFill>
                  <a:schemeClr val="bg1"/>
                </a:solidFill>
                <a:sym typeface="微软雅黑" panose="020B0503020204020204" charset="-122"/>
              </a:rPr>
              <a:t>物流费用</a:t>
            </a:r>
            <a:endParaRPr lang="zh-CN" altLang="en-US" sz="1050" dirty="0">
              <a:solidFill>
                <a:schemeClr val="bg1"/>
              </a:solidFill>
              <a:sym typeface="微软雅黑" panose="020B0503020204020204" charset="-122"/>
            </a:endParaRPr>
          </a:p>
        </p:txBody>
      </p:sp>
      <p:sp>
        <p:nvSpPr>
          <p:cNvPr id="27" name="矩形 26"/>
          <p:cNvSpPr/>
          <p:nvPr/>
        </p:nvSpPr>
        <p:spPr>
          <a:xfrm>
            <a:off x="934720" y="2407285"/>
            <a:ext cx="4104005" cy="1899920"/>
          </a:xfrm>
          <a:prstGeom prst="rect">
            <a:avLst/>
          </a:prstGeom>
          <a:noFill/>
        </p:spPr>
        <p:txBody>
          <a:bodyPr wrap="square" rtlCol="0">
            <a:spAutoFit/>
          </a:bodyPr>
          <a:lstStyle/>
          <a:p>
            <a:pPr>
              <a:lnSpc>
                <a:spcPct val="120000"/>
              </a:lnSpc>
              <a:spcBef>
                <a:spcPct val="0"/>
              </a:spcBef>
              <a:buNone/>
            </a:pPr>
            <a:r>
              <a:rPr lang="zh-CN" altLang="en-US" sz="1400" dirty="0">
                <a:solidFill>
                  <a:schemeClr val="tx1">
                    <a:lumMod val="50000"/>
                    <a:lumOff val="50000"/>
                  </a:schemeClr>
                </a:solidFill>
                <a:sym typeface="微软雅黑" panose="020B0503020204020204" charset="-122"/>
              </a:rPr>
              <a:t>一个站点，</a:t>
            </a:r>
            <a:r>
              <a:rPr lang="en-US" altLang="zh-CN" sz="1400" dirty="0">
                <a:solidFill>
                  <a:schemeClr val="tx1">
                    <a:lumMod val="50000"/>
                    <a:lumOff val="50000"/>
                  </a:schemeClr>
                </a:solidFill>
                <a:sym typeface="微软雅黑" panose="020B0503020204020204" charset="-122"/>
              </a:rPr>
              <a:t>5</a:t>
            </a:r>
            <a:r>
              <a:rPr lang="zh-CN" altLang="en-US" sz="1400" dirty="0">
                <a:solidFill>
                  <a:schemeClr val="tx1">
                    <a:lumMod val="50000"/>
                    <a:lumOff val="50000"/>
                  </a:schemeClr>
                </a:solidFill>
                <a:sym typeface="微软雅黑" panose="020B0503020204020204" charset="-122"/>
              </a:rPr>
              <a:t>个产品，成本价</a:t>
            </a:r>
            <a:r>
              <a:rPr lang="en-US" altLang="zh-CN" sz="1400" dirty="0">
                <a:solidFill>
                  <a:schemeClr val="tx1">
                    <a:lumMod val="50000"/>
                    <a:lumOff val="50000"/>
                  </a:schemeClr>
                </a:solidFill>
                <a:sym typeface="微软雅黑" panose="020B0503020204020204" charset="-122"/>
              </a:rPr>
              <a:t>35</a:t>
            </a:r>
            <a:r>
              <a:rPr lang="zh-CN" altLang="en-US" sz="1400" dirty="0">
                <a:solidFill>
                  <a:schemeClr val="tx1">
                    <a:lumMod val="50000"/>
                    <a:lumOff val="50000"/>
                  </a:schemeClr>
                </a:solidFill>
                <a:sym typeface="微软雅黑" panose="020B0503020204020204" charset="-122"/>
              </a:rPr>
              <a:t>左右，首批采购</a:t>
            </a:r>
            <a:r>
              <a:rPr lang="en-US" altLang="zh-CN" sz="1400" dirty="0">
                <a:solidFill>
                  <a:schemeClr val="tx1">
                    <a:lumMod val="50000"/>
                    <a:lumOff val="50000"/>
                  </a:schemeClr>
                </a:solidFill>
                <a:sym typeface="微软雅黑" panose="020B0503020204020204" charset="-122"/>
              </a:rPr>
              <a:t>300</a:t>
            </a:r>
            <a:r>
              <a:rPr lang="zh-CN" altLang="en-US" sz="1400" dirty="0">
                <a:solidFill>
                  <a:schemeClr val="tx1">
                    <a:lumMod val="50000"/>
                    <a:lumOff val="50000"/>
                  </a:schemeClr>
                </a:solidFill>
                <a:sym typeface="微软雅黑" panose="020B0503020204020204" charset="-122"/>
              </a:rPr>
              <a:t>个左右，采购成本总价大概</a:t>
            </a:r>
            <a:r>
              <a:rPr lang="en-US" altLang="zh-CN" sz="1400" dirty="0">
                <a:solidFill>
                  <a:srgbClr val="FF0000"/>
                </a:solidFill>
                <a:sym typeface="微软雅黑" panose="020B0503020204020204" charset="-122"/>
              </a:rPr>
              <a:t>50000</a:t>
            </a:r>
            <a:r>
              <a:rPr lang="zh-CN" altLang="en-US" sz="1400" dirty="0">
                <a:solidFill>
                  <a:srgbClr val="FF0000"/>
                </a:solidFill>
                <a:sym typeface="微软雅黑" panose="020B0503020204020204" charset="-122"/>
              </a:rPr>
              <a:t>元</a:t>
            </a:r>
            <a:r>
              <a:rPr lang="zh-CN" altLang="en-US" sz="1400" dirty="0">
                <a:solidFill>
                  <a:schemeClr val="tx1">
                    <a:lumMod val="50000"/>
                    <a:lumOff val="50000"/>
                  </a:schemeClr>
                </a:solidFill>
                <a:sym typeface="微软雅黑" panose="020B0503020204020204" charset="-122"/>
              </a:rPr>
              <a:t>，不抛货，重量为</a:t>
            </a:r>
            <a:r>
              <a:rPr lang="en-US" altLang="zh-CN" sz="1400" dirty="0">
                <a:solidFill>
                  <a:schemeClr val="tx1">
                    <a:lumMod val="50000"/>
                    <a:lumOff val="50000"/>
                  </a:schemeClr>
                </a:solidFill>
                <a:sym typeface="微软雅黑" panose="020B0503020204020204" charset="-122"/>
              </a:rPr>
              <a:t>450g</a:t>
            </a:r>
            <a:r>
              <a:rPr lang="zh-CN" altLang="en-US" sz="1400" dirty="0">
                <a:solidFill>
                  <a:schemeClr val="tx1">
                    <a:lumMod val="50000"/>
                    <a:lumOff val="50000"/>
                  </a:schemeClr>
                </a:solidFill>
                <a:sym typeface="微软雅黑" panose="020B0503020204020204" charset="-122"/>
              </a:rPr>
              <a:t>左右的情况，</a:t>
            </a:r>
            <a:r>
              <a:rPr lang="en-US" altLang="zh-CN" sz="1400" dirty="0">
                <a:solidFill>
                  <a:schemeClr val="tx1">
                    <a:lumMod val="50000"/>
                    <a:lumOff val="50000"/>
                  </a:schemeClr>
                </a:solidFill>
                <a:sym typeface="微软雅黑" panose="020B0503020204020204" charset="-122"/>
              </a:rPr>
              <a:t>FBA</a:t>
            </a:r>
            <a:r>
              <a:rPr lang="zh-CN" altLang="en-US" sz="1400" dirty="0">
                <a:solidFill>
                  <a:schemeClr val="tx1">
                    <a:lumMod val="50000"/>
                    <a:lumOff val="50000"/>
                  </a:schemeClr>
                </a:solidFill>
                <a:sym typeface="微软雅黑" panose="020B0503020204020204" charset="-122"/>
              </a:rPr>
              <a:t>物流费用大概</a:t>
            </a:r>
            <a:r>
              <a:rPr lang="en-US" altLang="zh-CN" sz="1400" dirty="0">
                <a:solidFill>
                  <a:srgbClr val="FF0000"/>
                </a:solidFill>
                <a:sym typeface="微软雅黑" panose="020B0503020204020204" charset="-122"/>
              </a:rPr>
              <a:t>20000</a:t>
            </a:r>
            <a:r>
              <a:rPr lang="zh-CN" altLang="en-US" sz="1400" dirty="0">
                <a:solidFill>
                  <a:srgbClr val="FF0000"/>
                </a:solidFill>
                <a:sym typeface="微软雅黑" panose="020B0503020204020204" charset="-122"/>
              </a:rPr>
              <a:t>元</a:t>
            </a:r>
            <a:r>
              <a:rPr lang="zh-CN" altLang="en-US" sz="1400" dirty="0">
                <a:solidFill>
                  <a:schemeClr val="tx1">
                    <a:lumMod val="50000"/>
                    <a:lumOff val="50000"/>
                  </a:schemeClr>
                </a:solidFill>
                <a:sym typeface="微软雅黑" panose="020B0503020204020204" charset="-122"/>
              </a:rPr>
              <a:t>，每个产品的运营成本</a:t>
            </a:r>
            <a:r>
              <a:rPr lang="en-US" altLang="zh-CN" sz="1400" dirty="0">
                <a:solidFill>
                  <a:schemeClr val="tx1">
                    <a:lumMod val="50000"/>
                    <a:lumOff val="50000"/>
                  </a:schemeClr>
                </a:solidFill>
                <a:sym typeface="微软雅黑" panose="020B0503020204020204" charset="-122"/>
              </a:rPr>
              <a:t>3000</a:t>
            </a:r>
            <a:r>
              <a:rPr lang="zh-CN" altLang="en-US" sz="1400" dirty="0">
                <a:solidFill>
                  <a:schemeClr val="tx1">
                    <a:lumMod val="50000"/>
                    <a:lumOff val="50000"/>
                  </a:schemeClr>
                </a:solidFill>
                <a:sym typeface="微软雅黑" panose="020B0503020204020204" charset="-122"/>
              </a:rPr>
              <a:t>元，总共</a:t>
            </a:r>
            <a:r>
              <a:rPr lang="en-US" altLang="zh-CN" sz="1400" dirty="0">
                <a:solidFill>
                  <a:srgbClr val="FF0000"/>
                </a:solidFill>
                <a:sym typeface="微软雅黑" panose="020B0503020204020204" charset="-122"/>
              </a:rPr>
              <a:t>15000</a:t>
            </a:r>
            <a:r>
              <a:rPr lang="zh-CN" altLang="en-US" sz="1400" dirty="0">
                <a:solidFill>
                  <a:srgbClr val="FF0000"/>
                </a:solidFill>
                <a:sym typeface="微软雅黑" panose="020B0503020204020204" charset="-122"/>
              </a:rPr>
              <a:t>元</a:t>
            </a:r>
            <a:r>
              <a:rPr lang="zh-CN" altLang="en-US" sz="1400" dirty="0">
                <a:solidFill>
                  <a:schemeClr val="tx1">
                    <a:lumMod val="50000"/>
                    <a:lumOff val="50000"/>
                  </a:schemeClr>
                </a:solidFill>
                <a:sym typeface="微软雅黑" panose="020B0503020204020204" charset="-122"/>
              </a:rPr>
              <a:t>，扣去广告费用大约</a:t>
            </a:r>
            <a:r>
              <a:rPr lang="en-US" altLang="zh-CN" sz="1400" dirty="0">
                <a:solidFill>
                  <a:srgbClr val="FF0000"/>
                </a:solidFill>
                <a:sym typeface="微软雅黑" panose="020B0503020204020204" charset="-122"/>
              </a:rPr>
              <a:t>10000</a:t>
            </a:r>
            <a:r>
              <a:rPr lang="zh-CN" altLang="en-US" sz="1400" dirty="0">
                <a:solidFill>
                  <a:srgbClr val="FF0000"/>
                </a:solidFill>
                <a:sym typeface="微软雅黑" panose="020B0503020204020204" charset="-122"/>
              </a:rPr>
              <a:t>元，</a:t>
            </a:r>
            <a:r>
              <a:rPr lang="zh-CN" altLang="en-US" sz="1400" dirty="0">
                <a:solidFill>
                  <a:schemeClr val="tx1">
                    <a:lumMod val="50000"/>
                    <a:lumOff val="50000"/>
                  </a:schemeClr>
                </a:solidFill>
                <a:sym typeface="微软雅黑" panose="020B0503020204020204" charset="-122"/>
              </a:rPr>
              <a:t>备货资金。。。。。。客单价在</a:t>
            </a:r>
            <a:r>
              <a:rPr lang="en-US" altLang="zh-CN" sz="1400" dirty="0">
                <a:solidFill>
                  <a:schemeClr val="tx1">
                    <a:lumMod val="50000"/>
                    <a:lumOff val="50000"/>
                  </a:schemeClr>
                </a:solidFill>
                <a:sym typeface="微软雅黑" panose="020B0503020204020204" charset="-122"/>
              </a:rPr>
              <a:t>18</a:t>
            </a:r>
            <a:r>
              <a:rPr lang="zh-CN" altLang="en-US" sz="1400" dirty="0">
                <a:solidFill>
                  <a:schemeClr val="tx1">
                    <a:lumMod val="50000"/>
                    <a:lumOff val="50000"/>
                  </a:schemeClr>
                </a:solidFill>
                <a:sym typeface="微软雅黑" panose="020B0503020204020204" charset="-122"/>
              </a:rPr>
              <a:t>美金左右，一个月可以做到</a:t>
            </a:r>
            <a:r>
              <a:rPr lang="en-US" altLang="zh-CN" sz="1400" dirty="0">
                <a:solidFill>
                  <a:schemeClr val="tx1">
                    <a:lumMod val="50000"/>
                    <a:lumOff val="50000"/>
                  </a:schemeClr>
                </a:solidFill>
                <a:sym typeface="微软雅黑" panose="020B0503020204020204" charset="-122"/>
              </a:rPr>
              <a:t>1000</a:t>
            </a:r>
            <a:r>
              <a:rPr lang="zh-CN" altLang="en-US" sz="1400" dirty="0">
                <a:solidFill>
                  <a:schemeClr val="tx1">
                    <a:lumMod val="50000"/>
                    <a:lumOff val="50000"/>
                  </a:schemeClr>
                </a:solidFill>
                <a:sym typeface="微软雅黑" panose="020B0503020204020204" charset="-122"/>
              </a:rPr>
              <a:t>美金日均</a:t>
            </a:r>
            <a:endParaRPr lang="zh-CN" altLang="en-US" sz="1400" dirty="0">
              <a:solidFill>
                <a:schemeClr val="tx1">
                  <a:lumMod val="50000"/>
                  <a:lumOff val="50000"/>
                </a:schemeClr>
              </a:solidFill>
              <a:sym typeface="微软雅黑" panose="020B0503020204020204" charset="-122"/>
            </a:endParaRPr>
          </a:p>
        </p:txBody>
      </p:sp>
      <p:sp>
        <p:nvSpPr>
          <p:cNvPr id="28" name="文本框 27"/>
          <p:cNvSpPr txBox="1"/>
          <p:nvPr/>
        </p:nvSpPr>
        <p:spPr>
          <a:xfrm>
            <a:off x="933962" y="1854491"/>
            <a:ext cx="2268530" cy="398780"/>
          </a:xfrm>
          <a:prstGeom prst="rect">
            <a:avLst/>
          </a:prstGeom>
          <a:solidFill>
            <a:schemeClr val="tx2"/>
          </a:solidFill>
          <a:ln>
            <a:noFill/>
          </a:ln>
        </p:spPr>
        <p:txBody>
          <a:bodyPr wrap="square">
            <a:spAutoFit/>
          </a:bodyPr>
          <a:lstStyle>
            <a:defPPr>
              <a:defRPr lang="zh-CN"/>
            </a:defPPr>
            <a:lvl1pPr>
              <a:defRPr sz="2400">
                <a:solidFill>
                  <a:schemeClr val="bg2">
                    <a:lumMod val="25000"/>
                    <a:alpha val="85000"/>
                  </a:schemeClr>
                </a:solidFill>
                <a:latin typeface="+mn-ea"/>
              </a:defRPr>
            </a:lvl1pPr>
          </a:lstStyle>
          <a:p>
            <a:r>
              <a:rPr lang="zh-CN" altLang="en-US" sz="2000" b="1">
                <a:solidFill>
                  <a:schemeClr val="bg1"/>
                </a:solidFill>
                <a:latin typeface="+mj-ea"/>
                <a:ea typeface="+mj-ea"/>
              </a:rPr>
              <a:t>二十万</a:t>
            </a:r>
            <a:endParaRPr lang="zh-CN" altLang="en-US" sz="2000" b="1">
              <a:solidFill>
                <a:schemeClr val="bg1"/>
              </a:solidFill>
              <a:latin typeface="+mj-ea"/>
              <a:ea typeface="+mj-ea"/>
            </a:endParaRPr>
          </a:p>
        </p:txBody>
      </p:sp>
      <p:sp>
        <p:nvSpPr>
          <p:cNvPr id="29" name="矩形 28"/>
          <p:cNvSpPr/>
          <p:nvPr/>
        </p:nvSpPr>
        <p:spPr>
          <a:xfrm>
            <a:off x="934085" y="4770755"/>
            <a:ext cx="4105275" cy="1899920"/>
          </a:xfrm>
          <a:prstGeom prst="rect">
            <a:avLst/>
          </a:prstGeom>
          <a:noFill/>
        </p:spPr>
        <p:txBody>
          <a:bodyPr wrap="square" rtlCol="0">
            <a:spAutoFit/>
          </a:bodyPr>
          <a:lstStyle/>
          <a:p>
            <a:pPr>
              <a:lnSpc>
                <a:spcPct val="120000"/>
              </a:lnSpc>
              <a:spcBef>
                <a:spcPct val="0"/>
              </a:spcBef>
              <a:buNone/>
            </a:pPr>
            <a:r>
              <a:rPr lang="zh-CN" altLang="en-US" sz="1400" dirty="0">
                <a:solidFill>
                  <a:schemeClr val="tx1">
                    <a:lumMod val="50000"/>
                    <a:lumOff val="50000"/>
                  </a:schemeClr>
                </a:solidFill>
                <a:sym typeface="微软雅黑" panose="020B0503020204020204" charset="-122"/>
              </a:rPr>
              <a:t>一到两个站点，</a:t>
            </a:r>
            <a:r>
              <a:rPr lang="en-US" altLang="zh-CN" sz="1400" dirty="0">
                <a:solidFill>
                  <a:schemeClr val="tx1">
                    <a:lumMod val="50000"/>
                    <a:lumOff val="50000"/>
                  </a:schemeClr>
                </a:solidFill>
                <a:sym typeface="微软雅黑" panose="020B0503020204020204" charset="-122"/>
              </a:rPr>
              <a:t>15</a:t>
            </a:r>
            <a:r>
              <a:rPr lang="zh-CN" altLang="en-US" sz="1400" dirty="0">
                <a:solidFill>
                  <a:schemeClr val="tx1">
                    <a:lumMod val="50000"/>
                    <a:lumOff val="50000"/>
                  </a:schemeClr>
                </a:solidFill>
                <a:sym typeface="微软雅黑" panose="020B0503020204020204" charset="-122"/>
              </a:rPr>
              <a:t>个产品，成本价在</a:t>
            </a:r>
            <a:r>
              <a:rPr lang="en-US" altLang="zh-CN" sz="1400" dirty="0">
                <a:solidFill>
                  <a:schemeClr val="tx1">
                    <a:lumMod val="50000"/>
                    <a:lumOff val="50000"/>
                  </a:schemeClr>
                </a:solidFill>
                <a:sym typeface="微软雅黑" panose="020B0503020204020204" charset="-122"/>
              </a:rPr>
              <a:t>35--80</a:t>
            </a:r>
            <a:r>
              <a:rPr lang="zh-CN" altLang="en-US" sz="1400" dirty="0">
                <a:solidFill>
                  <a:schemeClr val="tx1">
                    <a:lumMod val="50000"/>
                    <a:lumOff val="50000"/>
                  </a:schemeClr>
                </a:solidFill>
                <a:sym typeface="微软雅黑" panose="020B0503020204020204" charset="-122"/>
              </a:rPr>
              <a:t>之间，首批采购</a:t>
            </a:r>
            <a:r>
              <a:rPr lang="en-US" altLang="zh-CN" sz="1400" dirty="0">
                <a:solidFill>
                  <a:schemeClr val="tx1">
                    <a:lumMod val="50000"/>
                    <a:lumOff val="50000"/>
                  </a:schemeClr>
                </a:solidFill>
                <a:sym typeface="微软雅黑" panose="020B0503020204020204" charset="-122"/>
              </a:rPr>
              <a:t>200--300</a:t>
            </a:r>
            <a:r>
              <a:rPr lang="zh-CN" altLang="en-US" sz="1400" dirty="0">
                <a:solidFill>
                  <a:schemeClr val="tx1">
                    <a:lumMod val="50000"/>
                    <a:lumOff val="50000"/>
                  </a:schemeClr>
                </a:solidFill>
                <a:sym typeface="微软雅黑" panose="020B0503020204020204" charset="-122"/>
              </a:rPr>
              <a:t>，采购成本总价大概</a:t>
            </a:r>
            <a:r>
              <a:rPr lang="en-US" altLang="zh-CN" sz="1400" dirty="0">
                <a:solidFill>
                  <a:srgbClr val="FF0000"/>
                </a:solidFill>
                <a:sym typeface="微软雅黑" panose="020B0503020204020204" charset="-122"/>
              </a:rPr>
              <a:t>150000</a:t>
            </a:r>
            <a:r>
              <a:rPr lang="zh-CN" altLang="en-US" sz="1400" dirty="0">
                <a:solidFill>
                  <a:srgbClr val="FF0000"/>
                </a:solidFill>
                <a:sym typeface="微软雅黑" panose="020B0503020204020204" charset="-122"/>
              </a:rPr>
              <a:t>元</a:t>
            </a:r>
            <a:r>
              <a:rPr lang="zh-CN" altLang="en-US" sz="1400" dirty="0">
                <a:solidFill>
                  <a:schemeClr val="tx1">
                    <a:lumMod val="50000"/>
                    <a:lumOff val="50000"/>
                  </a:schemeClr>
                </a:solidFill>
                <a:sym typeface="微软雅黑" panose="020B0503020204020204" charset="-122"/>
              </a:rPr>
              <a:t>，结合利润可适当抛货</a:t>
            </a:r>
            <a:r>
              <a:rPr lang="en-US" altLang="zh-CN" sz="1400" dirty="0">
                <a:solidFill>
                  <a:schemeClr val="tx1">
                    <a:lumMod val="50000"/>
                    <a:lumOff val="50000"/>
                  </a:schemeClr>
                </a:solidFill>
                <a:sym typeface="微软雅黑" panose="020B0503020204020204" charset="-122"/>
              </a:rPr>
              <a:t>(</a:t>
            </a:r>
            <a:r>
              <a:rPr lang="zh-CN" altLang="en-US" sz="1400" dirty="0">
                <a:solidFill>
                  <a:schemeClr val="tx1">
                    <a:lumMod val="50000"/>
                    <a:lumOff val="50000"/>
                  </a:schemeClr>
                </a:solidFill>
                <a:sym typeface="微软雅黑" panose="020B0503020204020204" charset="-122"/>
              </a:rPr>
              <a:t>率</a:t>
            </a:r>
            <a:r>
              <a:rPr lang="en-US" altLang="zh-CN" sz="1400" dirty="0">
                <a:solidFill>
                  <a:schemeClr val="tx1">
                    <a:lumMod val="50000"/>
                    <a:lumOff val="50000"/>
                  </a:schemeClr>
                </a:solidFill>
                <a:sym typeface="微软雅黑" panose="020B0503020204020204" charset="-122"/>
              </a:rPr>
              <a:t>2.0</a:t>
            </a:r>
            <a:r>
              <a:rPr lang="zh-CN" altLang="en-US" sz="1400" dirty="0">
                <a:solidFill>
                  <a:schemeClr val="tx1">
                    <a:lumMod val="50000"/>
                    <a:lumOff val="50000"/>
                  </a:schemeClr>
                </a:solidFill>
                <a:sym typeface="微软雅黑" panose="020B0503020204020204" charset="-122"/>
              </a:rPr>
              <a:t>以内</a:t>
            </a:r>
            <a:r>
              <a:rPr lang="en-US" altLang="zh-CN" sz="1400" dirty="0">
                <a:solidFill>
                  <a:schemeClr val="tx1">
                    <a:lumMod val="50000"/>
                    <a:lumOff val="50000"/>
                  </a:schemeClr>
                </a:solidFill>
                <a:sym typeface="微软雅黑" panose="020B0503020204020204" charset="-122"/>
              </a:rPr>
              <a:t>)</a:t>
            </a:r>
            <a:r>
              <a:rPr lang="zh-CN" altLang="en-US" sz="1400" dirty="0">
                <a:solidFill>
                  <a:schemeClr val="tx1">
                    <a:lumMod val="50000"/>
                    <a:lumOff val="50000"/>
                  </a:schemeClr>
                </a:solidFill>
                <a:sym typeface="微软雅黑" panose="020B0503020204020204" charset="-122"/>
              </a:rPr>
              <a:t>，每个产品的运营成本</a:t>
            </a:r>
            <a:r>
              <a:rPr lang="en-US" altLang="zh-CN" sz="1400" dirty="0">
                <a:solidFill>
                  <a:schemeClr val="tx1">
                    <a:lumMod val="50000"/>
                    <a:lumOff val="50000"/>
                  </a:schemeClr>
                </a:solidFill>
                <a:sym typeface="微软雅黑" panose="020B0503020204020204" charset="-122"/>
              </a:rPr>
              <a:t>3000</a:t>
            </a:r>
            <a:r>
              <a:rPr lang="zh-CN" altLang="en-US" sz="1400" dirty="0">
                <a:solidFill>
                  <a:schemeClr val="tx1">
                    <a:lumMod val="50000"/>
                    <a:lumOff val="50000"/>
                  </a:schemeClr>
                </a:solidFill>
                <a:sym typeface="微软雅黑" panose="020B0503020204020204" charset="-122"/>
              </a:rPr>
              <a:t>元，总共</a:t>
            </a:r>
            <a:r>
              <a:rPr lang="en-US" altLang="zh-CN" sz="1400" dirty="0">
                <a:solidFill>
                  <a:srgbClr val="FF0000"/>
                </a:solidFill>
                <a:sym typeface="微软雅黑" panose="020B0503020204020204" charset="-122"/>
              </a:rPr>
              <a:t>50000</a:t>
            </a:r>
            <a:r>
              <a:rPr lang="zh-CN" altLang="en-US" sz="1400" dirty="0">
                <a:solidFill>
                  <a:srgbClr val="FF0000"/>
                </a:solidFill>
                <a:sym typeface="微软雅黑" panose="020B0503020204020204" charset="-122"/>
              </a:rPr>
              <a:t>元</a:t>
            </a:r>
            <a:r>
              <a:rPr lang="zh-CN" altLang="en-US" sz="1400" dirty="0">
                <a:solidFill>
                  <a:schemeClr val="tx1">
                    <a:lumMod val="50000"/>
                    <a:lumOff val="50000"/>
                  </a:schemeClr>
                </a:solidFill>
                <a:sym typeface="微软雅黑" panose="020B0503020204020204" charset="-122"/>
              </a:rPr>
              <a:t>，扣去广告费用大约</a:t>
            </a:r>
            <a:r>
              <a:rPr lang="en-US" altLang="zh-CN" sz="1400" dirty="0">
                <a:solidFill>
                  <a:srgbClr val="FF0000"/>
                </a:solidFill>
                <a:sym typeface="微软雅黑" panose="020B0503020204020204" charset="-122"/>
              </a:rPr>
              <a:t>30000</a:t>
            </a:r>
            <a:r>
              <a:rPr lang="zh-CN" altLang="en-US" sz="1400" dirty="0">
                <a:solidFill>
                  <a:srgbClr val="FF0000"/>
                </a:solidFill>
                <a:sym typeface="微软雅黑" panose="020B0503020204020204" charset="-122"/>
              </a:rPr>
              <a:t>元，</a:t>
            </a:r>
            <a:r>
              <a:rPr lang="zh-CN" altLang="en-US" sz="1400" dirty="0">
                <a:solidFill>
                  <a:schemeClr val="tx1">
                    <a:lumMod val="50000"/>
                    <a:lumOff val="50000"/>
                  </a:schemeClr>
                </a:solidFill>
                <a:sym typeface="微软雅黑" panose="020B0503020204020204" charset="-122"/>
              </a:rPr>
              <a:t>备货资金。。。。。。</a:t>
            </a:r>
            <a:endParaRPr lang="zh-CN" altLang="en-US" sz="1400" dirty="0">
              <a:solidFill>
                <a:schemeClr val="tx1">
                  <a:lumMod val="50000"/>
                  <a:lumOff val="50000"/>
                </a:schemeClr>
              </a:solidFill>
              <a:sym typeface="微软雅黑" panose="020B0503020204020204" charset="-122"/>
            </a:endParaRPr>
          </a:p>
          <a:p>
            <a:pPr>
              <a:lnSpc>
                <a:spcPct val="120000"/>
              </a:lnSpc>
              <a:spcBef>
                <a:spcPct val="0"/>
              </a:spcBef>
              <a:buNone/>
            </a:pPr>
            <a:r>
              <a:rPr lang="zh-CN" altLang="en-US" sz="1400" dirty="0">
                <a:solidFill>
                  <a:schemeClr val="tx1">
                    <a:lumMod val="50000"/>
                    <a:lumOff val="50000"/>
                  </a:schemeClr>
                </a:solidFill>
                <a:sym typeface="微软雅黑" panose="020B0503020204020204" charset="-122"/>
              </a:rPr>
              <a:t>客单价在</a:t>
            </a:r>
            <a:r>
              <a:rPr lang="en-US" altLang="zh-CN" sz="1400" dirty="0">
                <a:solidFill>
                  <a:schemeClr val="tx1">
                    <a:lumMod val="50000"/>
                    <a:lumOff val="50000"/>
                  </a:schemeClr>
                </a:solidFill>
                <a:sym typeface="微软雅黑" panose="020B0503020204020204" charset="-122"/>
              </a:rPr>
              <a:t>22</a:t>
            </a:r>
            <a:r>
              <a:rPr lang="zh-CN" altLang="en-US" sz="1400" dirty="0">
                <a:solidFill>
                  <a:schemeClr val="tx1">
                    <a:lumMod val="50000"/>
                    <a:lumOff val="50000"/>
                  </a:schemeClr>
                </a:solidFill>
                <a:sym typeface="微软雅黑" panose="020B0503020204020204" charset="-122"/>
              </a:rPr>
              <a:t>美金左右，三个月可以做到</a:t>
            </a:r>
            <a:r>
              <a:rPr lang="en-US" altLang="zh-CN" sz="1400" dirty="0">
                <a:solidFill>
                  <a:schemeClr val="tx1">
                    <a:lumMod val="50000"/>
                    <a:lumOff val="50000"/>
                  </a:schemeClr>
                </a:solidFill>
                <a:sym typeface="微软雅黑" panose="020B0503020204020204" charset="-122"/>
              </a:rPr>
              <a:t>4000</a:t>
            </a:r>
            <a:r>
              <a:rPr lang="zh-CN" altLang="en-US" sz="1400" dirty="0">
                <a:solidFill>
                  <a:schemeClr val="tx1">
                    <a:lumMod val="50000"/>
                    <a:lumOff val="50000"/>
                  </a:schemeClr>
                </a:solidFill>
                <a:sym typeface="微软雅黑" panose="020B0503020204020204" charset="-122"/>
              </a:rPr>
              <a:t>美金日均</a:t>
            </a:r>
            <a:endParaRPr lang="zh-CN" altLang="en-US" sz="1400" dirty="0">
              <a:solidFill>
                <a:schemeClr val="tx1">
                  <a:lumMod val="50000"/>
                  <a:lumOff val="50000"/>
                </a:schemeClr>
              </a:solidFill>
              <a:sym typeface="微软雅黑" panose="020B0503020204020204" charset="-122"/>
            </a:endParaRPr>
          </a:p>
        </p:txBody>
      </p:sp>
      <p:sp>
        <p:nvSpPr>
          <p:cNvPr id="30" name="文本框 29"/>
          <p:cNvSpPr txBox="1"/>
          <p:nvPr/>
        </p:nvSpPr>
        <p:spPr>
          <a:xfrm>
            <a:off x="994287" y="4335662"/>
            <a:ext cx="2268530" cy="398780"/>
          </a:xfrm>
          <a:prstGeom prst="rect">
            <a:avLst/>
          </a:prstGeom>
          <a:solidFill>
            <a:schemeClr val="accent1"/>
          </a:solidFill>
          <a:ln>
            <a:noFill/>
          </a:ln>
        </p:spPr>
        <p:txBody>
          <a:bodyPr wrap="square">
            <a:spAutoFit/>
          </a:bodyPr>
          <a:lstStyle>
            <a:defPPr>
              <a:defRPr lang="zh-CN"/>
            </a:defPPr>
            <a:lvl1pPr>
              <a:defRPr sz="2400">
                <a:solidFill>
                  <a:schemeClr val="bg2">
                    <a:lumMod val="25000"/>
                    <a:alpha val="85000"/>
                  </a:schemeClr>
                </a:solidFill>
                <a:latin typeface="+mn-ea"/>
              </a:defRPr>
            </a:lvl1pPr>
          </a:lstStyle>
          <a:p>
            <a:r>
              <a:rPr lang="zh-CN" altLang="en-US" sz="2000" b="1">
                <a:solidFill>
                  <a:schemeClr val="bg1"/>
                </a:solidFill>
                <a:latin typeface="+mj-ea"/>
                <a:ea typeface="+mj-ea"/>
              </a:rPr>
              <a:t>五十万</a:t>
            </a:r>
            <a:endParaRPr lang="zh-CN" altLang="en-US" sz="2000" b="1">
              <a:solidFill>
                <a:schemeClr val="bg1"/>
              </a:solidFill>
              <a:latin typeface="+mj-ea"/>
              <a:ea typeface="+mj-ea"/>
            </a:endParaRPr>
          </a:p>
        </p:txBody>
      </p:sp>
      <p:sp>
        <p:nvSpPr>
          <p:cNvPr id="20" name="标题 19"/>
          <p:cNvSpPr>
            <a:spLocks noGrp="1"/>
          </p:cNvSpPr>
          <p:nvPr>
            <p:ph type="title"/>
          </p:nvPr>
        </p:nvSpPr>
        <p:spPr/>
        <p:txBody>
          <a:bodyPr>
            <a:normAutofit fontScale="90000"/>
          </a:bodyPr>
          <a:lstStyle/>
          <a:p>
            <a:r>
              <a:rPr lang="zh-CN" altLang="en-US" dirty="0"/>
              <a:t>精品模式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500" fill="hold"/>
                                        <p:tgtEl>
                                          <p:spTgt spid="7"/>
                                        </p:tgtEl>
                                        <p:attrNameLst>
                                          <p:attrName>ppt_x</p:attrName>
                                        </p:attrNameLst>
                                      </p:cBhvr>
                                      <p:tavLst>
                                        <p:tav tm="0">
                                          <p:val>
                                            <p:strVal val="1+#ppt_w/2"/>
                                          </p:val>
                                        </p:tav>
                                        <p:tav tm="100000">
                                          <p:val>
                                            <p:strVal val="#ppt_x"/>
                                          </p:val>
                                        </p:tav>
                                      </p:tavLst>
                                    </p:anim>
                                    <p:anim calcmode="lin" valueType="num">
                                      <p:cBhvr additive="base">
                                        <p:cTn id="8" dur="1500" fill="hold"/>
                                        <p:tgtEl>
                                          <p:spTgt spid="7"/>
                                        </p:tgtEl>
                                        <p:attrNameLst>
                                          <p:attrName>ppt_y</p:attrName>
                                        </p:attrNameLst>
                                      </p:cBhvr>
                                      <p:tavLst>
                                        <p:tav tm="0">
                                          <p:val>
                                            <p:strVal val="#ppt_y"/>
                                          </p:val>
                                        </p:tav>
                                        <p:tav tm="100000">
                                          <p:val>
                                            <p:strVal val="#ppt_y"/>
                                          </p:val>
                                        </p:tav>
                                      </p:tavLst>
                                    </p:anim>
                                  </p:childTnLst>
                                </p:cTn>
                              </p:par>
                              <p:par>
                                <p:cTn id="9" presetID="50" presetClass="entr" presetSubtype="0" decel="100000" fill="hold" grpId="0" nodeType="withEffect">
                                  <p:stCondLst>
                                    <p:cond delay="1000"/>
                                  </p:stCondLst>
                                  <p:iterate type="lt">
                                    <p:tmPct val="4444"/>
                                  </p:iterate>
                                  <p:childTnLst>
                                    <p:set>
                                      <p:cBhvr>
                                        <p:cTn id="10" dur="1" fill="hold">
                                          <p:stCondLst>
                                            <p:cond delay="0"/>
                                          </p:stCondLst>
                                        </p:cTn>
                                        <p:tgtEl>
                                          <p:spTgt spid="25"/>
                                        </p:tgtEl>
                                        <p:attrNameLst>
                                          <p:attrName>style.visibility</p:attrName>
                                        </p:attrNameLst>
                                      </p:cBhvr>
                                      <p:to>
                                        <p:strVal val="visible"/>
                                      </p:to>
                                    </p:set>
                                    <p:anim calcmode="lin" valueType="num">
                                      <p:cBhvr>
                                        <p:cTn id="11" dur="500" fill="hold"/>
                                        <p:tgtEl>
                                          <p:spTgt spid="25"/>
                                        </p:tgtEl>
                                        <p:attrNameLst>
                                          <p:attrName>ppt_w</p:attrName>
                                        </p:attrNameLst>
                                      </p:cBhvr>
                                      <p:tavLst>
                                        <p:tav tm="0">
                                          <p:val>
                                            <p:strVal val="#ppt_w+.3"/>
                                          </p:val>
                                        </p:tav>
                                        <p:tav tm="100000">
                                          <p:val>
                                            <p:strVal val="#ppt_w"/>
                                          </p:val>
                                        </p:tav>
                                      </p:tavLst>
                                    </p:anim>
                                    <p:anim calcmode="lin" valueType="num">
                                      <p:cBhvr>
                                        <p:cTn id="12" dur="500" fill="hold"/>
                                        <p:tgtEl>
                                          <p:spTgt spid="25"/>
                                        </p:tgtEl>
                                        <p:attrNameLst>
                                          <p:attrName>ppt_h</p:attrName>
                                        </p:attrNameLst>
                                      </p:cBhvr>
                                      <p:tavLst>
                                        <p:tav tm="0">
                                          <p:val>
                                            <p:strVal val="#ppt_h"/>
                                          </p:val>
                                        </p:tav>
                                        <p:tav tm="100000">
                                          <p:val>
                                            <p:strVal val="#ppt_h"/>
                                          </p:val>
                                        </p:tav>
                                      </p:tavLst>
                                    </p:anim>
                                    <p:animEffect transition="in" filter="fade">
                                      <p:cBhvr>
                                        <p:cTn id="13" dur="500"/>
                                        <p:tgtEl>
                                          <p:spTgt spid="25"/>
                                        </p:tgtEl>
                                      </p:cBhvr>
                                    </p:animEffect>
                                  </p:childTnLst>
                                </p:cTn>
                              </p:par>
                              <p:par>
                                <p:cTn id="14" presetID="50" presetClass="entr" presetSubtype="0" decel="100000" fill="hold" grpId="0" nodeType="withEffect">
                                  <p:stCondLst>
                                    <p:cond delay="1500"/>
                                  </p:stCondLst>
                                  <p:iterate type="lt">
                                    <p:tmPct val="2222"/>
                                  </p:iterate>
                                  <p:childTnLst>
                                    <p:set>
                                      <p:cBhvr>
                                        <p:cTn id="15" dur="1" fill="hold">
                                          <p:stCondLst>
                                            <p:cond delay="0"/>
                                          </p:stCondLst>
                                        </p:cTn>
                                        <p:tgtEl>
                                          <p:spTgt spid="22"/>
                                        </p:tgtEl>
                                        <p:attrNameLst>
                                          <p:attrName>style.visibility</p:attrName>
                                        </p:attrNameLst>
                                      </p:cBhvr>
                                      <p:to>
                                        <p:strVal val="visible"/>
                                      </p:to>
                                    </p:set>
                                    <p:anim calcmode="lin" valueType="num">
                                      <p:cBhvr>
                                        <p:cTn id="16" dur="500" fill="hold"/>
                                        <p:tgtEl>
                                          <p:spTgt spid="22"/>
                                        </p:tgtEl>
                                        <p:attrNameLst>
                                          <p:attrName>ppt_w</p:attrName>
                                        </p:attrNameLst>
                                      </p:cBhvr>
                                      <p:tavLst>
                                        <p:tav tm="0">
                                          <p:val>
                                            <p:strVal val="#ppt_w+.3"/>
                                          </p:val>
                                        </p:tav>
                                        <p:tav tm="100000">
                                          <p:val>
                                            <p:strVal val="#ppt_w"/>
                                          </p:val>
                                        </p:tav>
                                      </p:tavLst>
                                    </p:anim>
                                    <p:anim calcmode="lin" valueType="num">
                                      <p:cBhvr>
                                        <p:cTn id="17" dur="500" fill="hold"/>
                                        <p:tgtEl>
                                          <p:spTgt spid="22"/>
                                        </p:tgtEl>
                                        <p:attrNameLst>
                                          <p:attrName>ppt_h</p:attrName>
                                        </p:attrNameLst>
                                      </p:cBhvr>
                                      <p:tavLst>
                                        <p:tav tm="0">
                                          <p:val>
                                            <p:strVal val="#ppt_h"/>
                                          </p:val>
                                        </p:tav>
                                        <p:tav tm="100000">
                                          <p:val>
                                            <p:strVal val="#ppt_h"/>
                                          </p:val>
                                        </p:tav>
                                      </p:tavLst>
                                    </p:anim>
                                    <p:animEffect transition="in" filter="fade">
                                      <p:cBhvr>
                                        <p:cTn id="18" dur="500"/>
                                        <p:tgtEl>
                                          <p:spTgt spid="22"/>
                                        </p:tgtEl>
                                      </p:cBhvr>
                                    </p:animEffect>
                                  </p:childTnLst>
                                </p:cTn>
                              </p:par>
                              <p:par>
                                <p:cTn id="19" presetID="50" presetClass="entr" presetSubtype="0" decel="100000" fill="hold" grpId="0" nodeType="withEffect">
                                  <p:stCondLst>
                                    <p:cond delay="1800"/>
                                  </p:stCondLst>
                                  <p:iterate type="lt">
                                    <p:tmPct val="3111"/>
                                  </p:iterate>
                                  <p:childTnLst>
                                    <p:set>
                                      <p:cBhvr>
                                        <p:cTn id="20" dur="1" fill="hold">
                                          <p:stCondLst>
                                            <p:cond delay="0"/>
                                          </p:stCondLst>
                                        </p:cTn>
                                        <p:tgtEl>
                                          <p:spTgt spid="14"/>
                                        </p:tgtEl>
                                        <p:attrNameLst>
                                          <p:attrName>style.visibility</p:attrName>
                                        </p:attrNameLst>
                                      </p:cBhvr>
                                      <p:to>
                                        <p:strVal val="visible"/>
                                      </p:to>
                                    </p:set>
                                    <p:anim calcmode="lin" valueType="num">
                                      <p:cBhvr>
                                        <p:cTn id="21" dur="500" fill="hold"/>
                                        <p:tgtEl>
                                          <p:spTgt spid="14"/>
                                        </p:tgtEl>
                                        <p:attrNameLst>
                                          <p:attrName>ppt_w</p:attrName>
                                        </p:attrNameLst>
                                      </p:cBhvr>
                                      <p:tavLst>
                                        <p:tav tm="0">
                                          <p:val>
                                            <p:strVal val="#ppt_w+.3"/>
                                          </p:val>
                                        </p:tav>
                                        <p:tav tm="100000">
                                          <p:val>
                                            <p:strVal val="#ppt_w"/>
                                          </p:val>
                                        </p:tav>
                                      </p:tavLst>
                                    </p:anim>
                                    <p:anim calcmode="lin" valueType="num">
                                      <p:cBhvr>
                                        <p:cTn id="22" dur="500" fill="hold"/>
                                        <p:tgtEl>
                                          <p:spTgt spid="14"/>
                                        </p:tgtEl>
                                        <p:attrNameLst>
                                          <p:attrName>ppt_h</p:attrName>
                                        </p:attrNameLst>
                                      </p:cBhvr>
                                      <p:tavLst>
                                        <p:tav tm="0">
                                          <p:val>
                                            <p:strVal val="#ppt_h"/>
                                          </p:val>
                                        </p:tav>
                                        <p:tav tm="100000">
                                          <p:val>
                                            <p:strVal val="#ppt_h"/>
                                          </p:val>
                                        </p:tav>
                                      </p:tavLst>
                                    </p:anim>
                                    <p:animEffect transition="in" filter="fade">
                                      <p:cBhvr>
                                        <p:cTn id="23" dur="500"/>
                                        <p:tgtEl>
                                          <p:spTgt spid="14"/>
                                        </p:tgtEl>
                                      </p:cBhvr>
                                    </p:animEffect>
                                  </p:childTnLst>
                                </p:cTn>
                              </p:par>
                              <p:par>
                                <p:cTn id="24" presetID="50" presetClass="entr" presetSubtype="0" decel="100000" fill="hold" grpId="0" nodeType="withEffect">
                                  <p:stCondLst>
                                    <p:cond delay="2100"/>
                                  </p:stCondLst>
                                  <p:iterate type="lt">
                                    <p:tmPct val="4000"/>
                                  </p:iterate>
                                  <p:childTnLst>
                                    <p:set>
                                      <p:cBhvr>
                                        <p:cTn id="25" dur="1" fill="hold">
                                          <p:stCondLst>
                                            <p:cond delay="0"/>
                                          </p:stCondLst>
                                        </p:cTn>
                                        <p:tgtEl>
                                          <p:spTgt spid="19"/>
                                        </p:tgtEl>
                                        <p:attrNameLst>
                                          <p:attrName>style.visibility</p:attrName>
                                        </p:attrNameLst>
                                      </p:cBhvr>
                                      <p:to>
                                        <p:strVal val="visible"/>
                                      </p:to>
                                    </p:set>
                                    <p:anim calcmode="lin" valueType="num">
                                      <p:cBhvr>
                                        <p:cTn id="26" dur="500" fill="hold"/>
                                        <p:tgtEl>
                                          <p:spTgt spid="19"/>
                                        </p:tgtEl>
                                        <p:attrNameLst>
                                          <p:attrName>ppt_w</p:attrName>
                                        </p:attrNameLst>
                                      </p:cBhvr>
                                      <p:tavLst>
                                        <p:tav tm="0">
                                          <p:val>
                                            <p:strVal val="#ppt_w+.3"/>
                                          </p:val>
                                        </p:tav>
                                        <p:tav tm="100000">
                                          <p:val>
                                            <p:strVal val="#ppt_w"/>
                                          </p:val>
                                        </p:tav>
                                      </p:tavLst>
                                    </p:anim>
                                    <p:anim calcmode="lin" valueType="num">
                                      <p:cBhvr>
                                        <p:cTn id="27" dur="500" fill="hold"/>
                                        <p:tgtEl>
                                          <p:spTgt spid="19"/>
                                        </p:tgtEl>
                                        <p:attrNameLst>
                                          <p:attrName>ppt_h</p:attrName>
                                        </p:attrNameLst>
                                      </p:cBhvr>
                                      <p:tavLst>
                                        <p:tav tm="0">
                                          <p:val>
                                            <p:strVal val="#ppt_h"/>
                                          </p:val>
                                        </p:tav>
                                        <p:tav tm="100000">
                                          <p:val>
                                            <p:strVal val="#ppt_h"/>
                                          </p:val>
                                        </p:tav>
                                      </p:tavLst>
                                    </p:anim>
                                    <p:animEffect transition="in" filter="fade">
                                      <p:cBhvr>
                                        <p:cTn id="28" dur="500"/>
                                        <p:tgtEl>
                                          <p:spTgt spid="19"/>
                                        </p:tgtEl>
                                      </p:cBhvr>
                                    </p:animEffect>
                                  </p:childTnLst>
                                </p:cTn>
                              </p:par>
                              <p:par>
                                <p:cTn id="29" presetID="22" presetClass="entr" presetSubtype="1" fill="hold" grpId="0" nodeType="withEffect">
                                  <p:stCondLst>
                                    <p:cond delay="2500"/>
                                  </p:stCondLst>
                                  <p:childTnLst>
                                    <p:set>
                                      <p:cBhvr>
                                        <p:cTn id="30" dur="1" fill="hold">
                                          <p:stCondLst>
                                            <p:cond delay="0"/>
                                          </p:stCondLst>
                                        </p:cTn>
                                        <p:tgtEl>
                                          <p:spTgt spid="28"/>
                                        </p:tgtEl>
                                        <p:attrNameLst>
                                          <p:attrName>style.visibility</p:attrName>
                                        </p:attrNameLst>
                                      </p:cBhvr>
                                      <p:to>
                                        <p:strVal val="visible"/>
                                      </p:to>
                                    </p:set>
                                    <p:animEffect transition="in" filter="wipe(up)">
                                      <p:cBhvr>
                                        <p:cTn id="31" dur="500"/>
                                        <p:tgtEl>
                                          <p:spTgt spid="28"/>
                                        </p:tgtEl>
                                      </p:cBhvr>
                                    </p:animEffect>
                                  </p:childTnLst>
                                </p:cTn>
                              </p:par>
                              <p:par>
                                <p:cTn id="32" presetID="55" presetClass="entr" presetSubtype="0" fill="hold" grpId="0" nodeType="withEffect">
                                  <p:stCondLst>
                                    <p:cond delay="3000"/>
                                  </p:stCondLst>
                                  <p:iterate type="lt">
                                    <p:tmPct val="1402"/>
                                  </p:iterate>
                                  <p:childTnLst>
                                    <p:set>
                                      <p:cBhvr>
                                        <p:cTn id="33" dur="1" fill="hold">
                                          <p:stCondLst>
                                            <p:cond delay="0"/>
                                          </p:stCondLst>
                                        </p:cTn>
                                        <p:tgtEl>
                                          <p:spTgt spid="27">
                                            <p:txEl>
                                              <p:pRg st="0" end="0"/>
                                            </p:txEl>
                                          </p:spTgt>
                                        </p:tgtEl>
                                        <p:attrNameLst>
                                          <p:attrName>style.visibility</p:attrName>
                                        </p:attrNameLst>
                                      </p:cBhvr>
                                      <p:to>
                                        <p:strVal val="visible"/>
                                      </p:to>
                                    </p:set>
                                    <p:anim calcmode="lin" valueType="num">
                                      <p:cBhvr>
                                        <p:cTn id="34" dur="500" fill="hold"/>
                                        <p:tgtEl>
                                          <p:spTgt spid="27">
                                            <p:txEl>
                                              <p:pRg st="0" end="0"/>
                                            </p:txEl>
                                          </p:spTgt>
                                        </p:tgtEl>
                                        <p:attrNameLst>
                                          <p:attrName>ppt_w</p:attrName>
                                        </p:attrNameLst>
                                      </p:cBhvr>
                                      <p:tavLst>
                                        <p:tav tm="0">
                                          <p:val>
                                            <p:strVal val="#ppt_w*0.70"/>
                                          </p:val>
                                        </p:tav>
                                        <p:tav tm="100000">
                                          <p:val>
                                            <p:strVal val="#ppt_w"/>
                                          </p:val>
                                        </p:tav>
                                      </p:tavLst>
                                    </p:anim>
                                    <p:anim calcmode="lin" valueType="num">
                                      <p:cBhvr>
                                        <p:cTn id="35" dur="500" fill="hold"/>
                                        <p:tgtEl>
                                          <p:spTgt spid="27">
                                            <p:txEl>
                                              <p:pRg st="0" end="0"/>
                                            </p:txEl>
                                          </p:spTgt>
                                        </p:tgtEl>
                                        <p:attrNameLst>
                                          <p:attrName>ppt_h</p:attrName>
                                        </p:attrNameLst>
                                      </p:cBhvr>
                                      <p:tavLst>
                                        <p:tav tm="0">
                                          <p:val>
                                            <p:strVal val="#ppt_h"/>
                                          </p:val>
                                        </p:tav>
                                        <p:tav tm="100000">
                                          <p:val>
                                            <p:strVal val="#ppt_h"/>
                                          </p:val>
                                        </p:tav>
                                      </p:tavLst>
                                    </p:anim>
                                    <p:animEffect transition="in" filter="fade">
                                      <p:cBhvr>
                                        <p:cTn id="36" dur="500"/>
                                        <p:tgtEl>
                                          <p:spTgt spid="27">
                                            <p:txEl>
                                              <p:pRg st="0" end="0"/>
                                            </p:txEl>
                                          </p:spTgt>
                                        </p:tgtEl>
                                      </p:cBhvr>
                                    </p:animEffect>
                                  </p:childTnLst>
                                </p:cTn>
                              </p:par>
                              <p:par>
                                <p:cTn id="37" presetID="22" presetClass="entr" presetSubtype="1" fill="hold" grpId="0" nodeType="withEffect">
                                  <p:stCondLst>
                                    <p:cond delay="3500"/>
                                  </p:stCondLst>
                                  <p:childTnLst>
                                    <p:set>
                                      <p:cBhvr>
                                        <p:cTn id="38" dur="1" fill="hold">
                                          <p:stCondLst>
                                            <p:cond delay="0"/>
                                          </p:stCondLst>
                                        </p:cTn>
                                        <p:tgtEl>
                                          <p:spTgt spid="30"/>
                                        </p:tgtEl>
                                        <p:attrNameLst>
                                          <p:attrName>style.visibility</p:attrName>
                                        </p:attrNameLst>
                                      </p:cBhvr>
                                      <p:to>
                                        <p:strVal val="visible"/>
                                      </p:to>
                                    </p:set>
                                    <p:animEffect transition="in" filter="wipe(up)">
                                      <p:cBhvr>
                                        <p:cTn id="39" dur="500"/>
                                        <p:tgtEl>
                                          <p:spTgt spid="30"/>
                                        </p:tgtEl>
                                      </p:cBhvr>
                                    </p:animEffect>
                                  </p:childTnLst>
                                </p:cTn>
                              </p:par>
                              <p:par>
                                <p:cTn id="40" presetID="55" presetClass="entr" presetSubtype="0" fill="hold" grpId="0" nodeType="withEffect">
                                  <p:stCondLst>
                                    <p:cond delay="3700"/>
                                  </p:stCondLst>
                                  <p:iterate type="lt">
                                    <p:tmPct val="1210"/>
                                  </p:iterate>
                                  <p:childTnLst>
                                    <p:set>
                                      <p:cBhvr>
                                        <p:cTn id="41" dur="1" fill="hold">
                                          <p:stCondLst>
                                            <p:cond delay="0"/>
                                          </p:stCondLst>
                                        </p:cTn>
                                        <p:tgtEl>
                                          <p:spTgt spid="29">
                                            <p:txEl>
                                              <p:pRg st="0" end="0"/>
                                            </p:txEl>
                                          </p:spTgt>
                                        </p:tgtEl>
                                        <p:attrNameLst>
                                          <p:attrName>style.visibility</p:attrName>
                                        </p:attrNameLst>
                                      </p:cBhvr>
                                      <p:to>
                                        <p:strVal val="visible"/>
                                      </p:to>
                                    </p:set>
                                    <p:anim calcmode="lin" valueType="num">
                                      <p:cBhvr>
                                        <p:cTn id="42" dur="500" fill="hold"/>
                                        <p:tgtEl>
                                          <p:spTgt spid="29">
                                            <p:txEl>
                                              <p:pRg st="0" end="0"/>
                                            </p:txEl>
                                          </p:spTgt>
                                        </p:tgtEl>
                                        <p:attrNameLst>
                                          <p:attrName>ppt_w</p:attrName>
                                        </p:attrNameLst>
                                      </p:cBhvr>
                                      <p:tavLst>
                                        <p:tav tm="0">
                                          <p:val>
                                            <p:strVal val="#ppt_w*0.70"/>
                                          </p:val>
                                        </p:tav>
                                        <p:tav tm="100000">
                                          <p:val>
                                            <p:strVal val="#ppt_w"/>
                                          </p:val>
                                        </p:tav>
                                      </p:tavLst>
                                    </p:anim>
                                    <p:anim calcmode="lin" valueType="num">
                                      <p:cBhvr>
                                        <p:cTn id="43" dur="500" fill="hold"/>
                                        <p:tgtEl>
                                          <p:spTgt spid="29">
                                            <p:txEl>
                                              <p:pRg st="0" end="0"/>
                                            </p:txEl>
                                          </p:spTgt>
                                        </p:tgtEl>
                                        <p:attrNameLst>
                                          <p:attrName>ppt_h</p:attrName>
                                        </p:attrNameLst>
                                      </p:cBhvr>
                                      <p:tavLst>
                                        <p:tav tm="0">
                                          <p:val>
                                            <p:strVal val="#ppt_h"/>
                                          </p:val>
                                        </p:tav>
                                        <p:tav tm="100000">
                                          <p:val>
                                            <p:strVal val="#ppt_h"/>
                                          </p:val>
                                        </p:tav>
                                      </p:tavLst>
                                    </p:anim>
                                    <p:animEffect transition="in" filter="fade">
                                      <p:cBhvr>
                                        <p:cTn id="44" dur="500"/>
                                        <p:tgtEl>
                                          <p:spTgt spid="29">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grpId="0" nodeType="clickEffect">
                                  <p:stCondLst>
                                    <p:cond delay="3700"/>
                                  </p:stCondLst>
                                  <p:iterate type="lt">
                                    <p:tmPct val="1210"/>
                                  </p:iterate>
                                  <p:childTnLst>
                                    <p:set>
                                      <p:cBhvr>
                                        <p:cTn id="48" dur="1" fill="hold">
                                          <p:stCondLst>
                                            <p:cond delay="0"/>
                                          </p:stCondLst>
                                        </p:cTn>
                                        <p:tgtEl>
                                          <p:spTgt spid="29">
                                            <p:txEl>
                                              <p:pRg st="1" end="1"/>
                                            </p:txEl>
                                          </p:spTgt>
                                        </p:tgtEl>
                                        <p:attrNameLst>
                                          <p:attrName>style.visibility</p:attrName>
                                        </p:attrNameLst>
                                      </p:cBhvr>
                                      <p:to>
                                        <p:strVal val="visible"/>
                                      </p:to>
                                    </p:set>
                                    <p:anim calcmode="lin" valueType="num">
                                      <p:cBhvr>
                                        <p:cTn id="49" dur="500" fill="hold"/>
                                        <p:tgtEl>
                                          <p:spTgt spid="29">
                                            <p:txEl>
                                              <p:pRg st="1" end="1"/>
                                            </p:txEl>
                                          </p:spTgt>
                                        </p:tgtEl>
                                        <p:attrNameLst>
                                          <p:attrName>ppt_w</p:attrName>
                                        </p:attrNameLst>
                                      </p:cBhvr>
                                      <p:tavLst>
                                        <p:tav tm="0">
                                          <p:val>
                                            <p:strVal val="#ppt_w*0.70"/>
                                          </p:val>
                                        </p:tav>
                                        <p:tav tm="100000">
                                          <p:val>
                                            <p:strVal val="#ppt_w"/>
                                          </p:val>
                                        </p:tav>
                                      </p:tavLst>
                                    </p:anim>
                                    <p:anim calcmode="lin" valueType="num">
                                      <p:cBhvr>
                                        <p:cTn id="50" dur="500" fill="hold"/>
                                        <p:tgtEl>
                                          <p:spTgt spid="29">
                                            <p:txEl>
                                              <p:pRg st="1" end="1"/>
                                            </p:txEl>
                                          </p:spTgt>
                                        </p:tgtEl>
                                        <p:attrNameLst>
                                          <p:attrName>ppt_h</p:attrName>
                                        </p:attrNameLst>
                                      </p:cBhvr>
                                      <p:tavLst>
                                        <p:tav tm="0">
                                          <p:val>
                                            <p:strVal val="#ppt_h"/>
                                          </p:val>
                                        </p:tav>
                                        <p:tav tm="100000">
                                          <p:val>
                                            <p:strVal val="#ppt_h"/>
                                          </p:val>
                                        </p:tav>
                                      </p:tavLst>
                                    </p:anim>
                                    <p:animEffect transition="in" filter="fade">
                                      <p:cBhvr>
                                        <p:cTn id="51" dur="500"/>
                                        <p:tgtEl>
                                          <p:spTgt spid="2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22" grpId="0"/>
      <p:bldP spid="25" grpId="0"/>
      <p:bldP spid="27" grpId="0" build="p"/>
      <p:bldP spid="28" grpId="0" bldLvl="0" animBg="1"/>
      <p:bldP spid="29" grpId="0" build="p"/>
      <p:bldP spid="30"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8"/>
          <p:cNvSpPr>
            <a:spLocks noChangeArrowheads="1"/>
          </p:cNvSpPr>
          <p:nvPr/>
        </p:nvSpPr>
        <p:spPr bwMode="auto">
          <a:xfrm>
            <a:off x="4376014" y="2998913"/>
            <a:ext cx="272288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spcBef>
                <a:spcPct val="0"/>
              </a:spcBef>
              <a:buFont typeface="Arial" panose="020B0604020202020204" pitchFamily="34" charset="0"/>
              <a:buNone/>
            </a:pPr>
            <a:r>
              <a:rPr lang="zh-CN" altLang="en-US" sz="5000" dirty="0">
                <a:solidFill>
                  <a:schemeClr val="accent1"/>
                </a:solidFill>
                <a:latin typeface="微软雅黑" panose="020B0503020204020204" charset="-122"/>
                <a:ea typeface="微软雅黑" panose="020B0503020204020204" charset="-122"/>
                <a:sym typeface="+mn-ea"/>
              </a:rPr>
              <a:t>爆款流程</a:t>
            </a:r>
            <a:endParaRPr lang="zh-CN" altLang="en-US" sz="5000" b="1" dirty="0">
              <a:solidFill>
                <a:schemeClr val="accent1"/>
              </a:solidFill>
              <a:latin typeface="Impact" panose="020B0806030902050204" pitchFamily="34" charset="0"/>
              <a:ea typeface="微软雅黑" panose="020B0503020204020204" charset="-122"/>
              <a:sym typeface="方正大黑简体" pitchFamily="65" charset="-122"/>
            </a:endParaRPr>
          </a:p>
        </p:txBody>
      </p:sp>
      <p:sp>
        <p:nvSpPr>
          <p:cNvPr id="4" name="前言"/>
          <p:cNvSpPr>
            <a:spLocks noChangeArrowheads="1"/>
          </p:cNvSpPr>
          <p:nvPr/>
        </p:nvSpPr>
        <p:spPr bwMode="auto">
          <a:xfrm>
            <a:off x="7232449" y="3571148"/>
            <a:ext cx="160528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spcBef>
                <a:spcPct val="0"/>
              </a:spcBef>
              <a:buNone/>
            </a:pPr>
            <a:r>
              <a:rPr lang="zh-CN" altLang="en-US" sz="2800" dirty="0">
                <a:solidFill>
                  <a:schemeClr val="bg1">
                    <a:lumMod val="50000"/>
                  </a:schemeClr>
                </a:solidFill>
                <a:latin typeface="Impact" panose="020B0806030902050204" pitchFamily="34" charset="0"/>
              </a:rPr>
              <a:t>刷单测评</a:t>
            </a:r>
            <a:endParaRPr lang="zh-CN" altLang="en-US" sz="2800" dirty="0">
              <a:solidFill>
                <a:schemeClr val="bg1">
                  <a:lumMod val="50000"/>
                </a:schemeClr>
              </a:solidFill>
              <a:latin typeface="Impact" panose="020B0806030902050204" pitchFamily="34" charset="0"/>
            </a:endParaRPr>
          </a:p>
          <a:p>
            <a:pPr>
              <a:spcBef>
                <a:spcPct val="0"/>
              </a:spcBef>
              <a:buNone/>
            </a:pPr>
            <a:r>
              <a:rPr lang="en-US" altLang="zh-CN" sz="2800" dirty="0">
                <a:solidFill>
                  <a:schemeClr val="bg1">
                    <a:lumMod val="50000"/>
                  </a:schemeClr>
                </a:solidFill>
                <a:latin typeface="Impact" panose="020B0806030902050204" pitchFamily="34" charset="0"/>
              </a:rPr>
              <a:t>CPC</a:t>
            </a:r>
            <a:r>
              <a:rPr lang="zh-CN" altLang="en-US" sz="2800" dirty="0">
                <a:solidFill>
                  <a:schemeClr val="bg1">
                    <a:lumMod val="50000"/>
                  </a:schemeClr>
                </a:solidFill>
                <a:latin typeface="Impact" panose="020B0806030902050204" pitchFamily="34" charset="0"/>
              </a:rPr>
              <a:t>优化</a:t>
            </a:r>
            <a:endParaRPr lang="zh-CN" altLang="en-US" sz="2800" dirty="0">
              <a:solidFill>
                <a:schemeClr val="bg1">
                  <a:lumMod val="50000"/>
                </a:schemeClr>
              </a:solidFill>
              <a:latin typeface="Impact" panose="020B0806030902050204" pitchFamily="34" charset="0"/>
            </a:endParaRPr>
          </a:p>
        </p:txBody>
      </p:sp>
      <p:sp>
        <p:nvSpPr>
          <p:cNvPr id="5" name="标题层"/>
          <p:cNvSpPr txBox="1"/>
          <p:nvPr/>
        </p:nvSpPr>
        <p:spPr bwMode="auto">
          <a:xfrm>
            <a:off x="1620254" y="2440205"/>
            <a:ext cx="2621247" cy="1967230"/>
          </a:xfrm>
          <a:prstGeom prst="rect">
            <a:avLst/>
          </a:prstGeom>
          <a:noFill/>
          <a:effectLst/>
        </p:spPr>
        <p:txBody>
          <a:bodyPr wrap="square" lIns="121908" tIns="60954" rIns="121908" bIns="60954">
            <a:spAutoFit/>
          </a:bodyPr>
          <a:lstStyle/>
          <a:p>
            <a:pPr algn="r" defTabSz="1218565">
              <a:defRPr/>
            </a:pPr>
            <a:r>
              <a:rPr lang="en-US" altLang="zh-CN" sz="12000" kern="0" dirty="0">
                <a:solidFill>
                  <a:schemeClr val="tx2"/>
                </a:solidFill>
                <a:latin typeface="Impact" panose="020B0806030902050204" pitchFamily="34" charset="0"/>
                <a:ea typeface="微软雅黑" panose="020B0503020204020204" charset="-122"/>
                <a:cs typeface="Arial" panose="020B0604020202020204" pitchFamily="34" charset="0"/>
              </a:rPr>
              <a:t>0</a:t>
            </a:r>
            <a:r>
              <a:rPr lang="en-US" altLang="zh-CN" sz="12000" kern="0" dirty="0">
                <a:solidFill>
                  <a:schemeClr val="bg2"/>
                </a:solidFill>
                <a:latin typeface="Impact" panose="020B0806030902050204" pitchFamily="34" charset="0"/>
                <a:ea typeface="微软雅黑" panose="020B0503020204020204" charset="-122"/>
                <a:cs typeface="Arial" panose="020B0604020202020204" pitchFamily="34" charset="0"/>
                <a:sym typeface="+mn-ea"/>
              </a:rPr>
              <a:t>2</a:t>
            </a:r>
            <a:endParaRPr lang="zh-CN" altLang="en-US" sz="12000" kern="0" dirty="0">
              <a:solidFill>
                <a:schemeClr val="bg2"/>
              </a:solidFill>
              <a:latin typeface="Impact" panose="020B0806030902050204" pitchFamily="34" charset="0"/>
              <a:ea typeface="微软雅黑" panose="020B0503020204020204" charset="-122"/>
              <a:cs typeface="Arial" panose="020B0604020202020204" pitchFamily="34" charset="0"/>
            </a:endParaRPr>
          </a:p>
        </p:txBody>
      </p:sp>
      <p:sp>
        <p:nvSpPr>
          <p:cNvPr id="2" name="矩形 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25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400" fill="hold"/>
                                        <p:tgtEl>
                                          <p:spTgt spid="5"/>
                                        </p:tgtEl>
                                        <p:attrNameLst>
                                          <p:attrName>ppt_x</p:attrName>
                                        </p:attrNameLst>
                                      </p:cBhvr>
                                      <p:tavLst>
                                        <p:tav tm="0">
                                          <p:val>
                                            <p:strVal val="0-#ppt_w/2"/>
                                          </p:val>
                                        </p:tav>
                                        <p:tav tm="100000">
                                          <p:val>
                                            <p:strVal val="#ppt_x"/>
                                          </p:val>
                                        </p:tav>
                                      </p:tavLst>
                                    </p:anim>
                                    <p:anim calcmode="lin" valueType="num">
                                      <p:cBhvr additive="base">
                                        <p:cTn id="8" dur="4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1+#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reeform 6"/>
          <p:cNvSpPr>
            <a:spLocks noEditPoints="1"/>
          </p:cNvSpPr>
          <p:nvPr/>
        </p:nvSpPr>
        <p:spPr bwMode="auto">
          <a:xfrm>
            <a:off x="4885409" y="1983421"/>
            <a:ext cx="377115" cy="489740"/>
          </a:xfrm>
          <a:custGeom>
            <a:avLst/>
            <a:gdLst>
              <a:gd name="T0" fmla="*/ 33 w 251"/>
              <a:gd name="T1" fmla="*/ 298 h 326"/>
              <a:gd name="T2" fmla="*/ 26 w 251"/>
              <a:gd name="T3" fmla="*/ 180 h 326"/>
              <a:gd name="T4" fmla="*/ 44 w 251"/>
              <a:gd name="T5" fmla="*/ 150 h 326"/>
              <a:gd name="T6" fmla="*/ 77 w 251"/>
              <a:gd name="T7" fmla="*/ 141 h 326"/>
              <a:gd name="T8" fmla="*/ 83 w 251"/>
              <a:gd name="T9" fmla="*/ 170 h 326"/>
              <a:gd name="T10" fmla="*/ 76 w 251"/>
              <a:gd name="T11" fmla="*/ 178 h 326"/>
              <a:gd name="T12" fmla="*/ 54 w 251"/>
              <a:gd name="T13" fmla="*/ 197 h 326"/>
              <a:gd name="T14" fmla="*/ 45 w 251"/>
              <a:gd name="T15" fmla="*/ 298 h 326"/>
              <a:gd name="T16" fmla="*/ 58 w 251"/>
              <a:gd name="T17" fmla="*/ 297 h 326"/>
              <a:gd name="T18" fmla="*/ 198 w 251"/>
              <a:gd name="T19" fmla="*/ 210 h 326"/>
              <a:gd name="T20" fmla="*/ 82 w 251"/>
              <a:gd name="T21" fmla="*/ 92 h 326"/>
              <a:gd name="T22" fmla="*/ 134 w 251"/>
              <a:gd name="T23" fmla="*/ 47 h 326"/>
              <a:gd name="T24" fmla="*/ 164 w 251"/>
              <a:gd name="T25" fmla="*/ 92 h 326"/>
              <a:gd name="T26" fmla="*/ 171 w 251"/>
              <a:gd name="T27" fmla="*/ 25 h 326"/>
              <a:gd name="T28" fmla="*/ 75 w 251"/>
              <a:gd name="T29" fmla="*/ 21 h 326"/>
              <a:gd name="T30" fmla="*/ 82 w 251"/>
              <a:gd name="T31" fmla="*/ 92 h 326"/>
              <a:gd name="T32" fmla="*/ 215 w 251"/>
              <a:gd name="T33" fmla="*/ 311 h 326"/>
              <a:gd name="T34" fmla="*/ 49 w 251"/>
              <a:gd name="T35" fmla="*/ 326 h 326"/>
              <a:gd name="T36" fmla="*/ 225 w 251"/>
              <a:gd name="T37" fmla="*/ 180 h 326"/>
              <a:gd name="T38" fmla="*/ 218 w 251"/>
              <a:gd name="T39" fmla="*/ 298 h 326"/>
              <a:gd name="T40" fmla="*/ 211 w 251"/>
              <a:gd name="T41" fmla="*/ 206 h 326"/>
              <a:gd name="T42" fmla="*/ 167 w 251"/>
              <a:gd name="T43" fmla="*/ 197 h 326"/>
              <a:gd name="T44" fmla="*/ 177 w 251"/>
              <a:gd name="T45" fmla="*/ 177 h 326"/>
              <a:gd name="T46" fmla="*/ 179 w 251"/>
              <a:gd name="T47" fmla="*/ 171 h 326"/>
              <a:gd name="T48" fmla="*/ 208 w 251"/>
              <a:gd name="T49" fmla="*/ 149 h 326"/>
              <a:gd name="T50" fmla="*/ 211 w 251"/>
              <a:gd name="T51" fmla="*/ 152 h 326"/>
              <a:gd name="T52" fmla="*/ 225 w 251"/>
              <a:gd name="T53" fmla="*/ 180 h 326"/>
              <a:gd name="T54" fmla="*/ 172 w 251"/>
              <a:gd name="T55" fmla="*/ 178 h 326"/>
              <a:gd name="T56" fmla="*/ 164 w 251"/>
              <a:gd name="T57" fmla="*/ 165 h 326"/>
              <a:gd name="T58" fmla="*/ 174 w 251"/>
              <a:gd name="T59" fmla="*/ 141 h 326"/>
              <a:gd name="T60" fmla="*/ 155 w 251"/>
              <a:gd name="T61" fmla="*/ 145 h 326"/>
              <a:gd name="T62" fmla="*/ 162 w 251"/>
              <a:gd name="T63" fmla="*/ 197 h 326"/>
              <a:gd name="T64" fmla="*/ 78 w 251"/>
              <a:gd name="T65" fmla="*/ 166 h 326"/>
              <a:gd name="T66" fmla="*/ 90 w 251"/>
              <a:gd name="T67" fmla="*/ 168 h 326"/>
              <a:gd name="T68" fmla="*/ 91 w 251"/>
              <a:gd name="T69" fmla="*/ 197 h 326"/>
              <a:gd name="T70" fmla="*/ 96 w 251"/>
              <a:gd name="T71" fmla="*/ 145 h 326"/>
              <a:gd name="T72" fmla="*/ 79 w 251"/>
              <a:gd name="T73" fmla="*/ 141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1" h="326">
                <a:moveTo>
                  <a:pt x="45" y="298"/>
                </a:moveTo>
                <a:cubicBezTo>
                  <a:pt x="33" y="298"/>
                  <a:pt x="33" y="298"/>
                  <a:pt x="33" y="298"/>
                </a:cubicBezTo>
                <a:cubicBezTo>
                  <a:pt x="4" y="298"/>
                  <a:pt x="0" y="279"/>
                  <a:pt x="7" y="253"/>
                </a:cubicBezTo>
                <a:cubicBezTo>
                  <a:pt x="26" y="180"/>
                  <a:pt x="26" y="180"/>
                  <a:pt x="26" y="180"/>
                </a:cubicBezTo>
                <a:cubicBezTo>
                  <a:pt x="29" y="168"/>
                  <a:pt x="35" y="158"/>
                  <a:pt x="42" y="151"/>
                </a:cubicBezTo>
                <a:cubicBezTo>
                  <a:pt x="44" y="150"/>
                  <a:pt x="44" y="150"/>
                  <a:pt x="44" y="150"/>
                </a:cubicBezTo>
                <a:cubicBezTo>
                  <a:pt x="45" y="149"/>
                  <a:pt x="45" y="149"/>
                  <a:pt x="45" y="149"/>
                </a:cubicBezTo>
                <a:cubicBezTo>
                  <a:pt x="77" y="141"/>
                  <a:pt x="77" y="141"/>
                  <a:pt x="77" y="141"/>
                </a:cubicBezTo>
                <a:cubicBezTo>
                  <a:pt x="74" y="171"/>
                  <a:pt x="74" y="171"/>
                  <a:pt x="74" y="171"/>
                </a:cubicBezTo>
                <a:cubicBezTo>
                  <a:pt x="83" y="170"/>
                  <a:pt x="83" y="170"/>
                  <a:pt x="83" y="170"/>
                </a:cubicBezTo>
                <a:cubicBezTo>
                  <a:pt x="76" y="177"/>
                  <a:pt x="76" y="177"/>
                  <a:pt x="76" y="177"/>
                </a:cubicBezTo>
                <a:cubicBezTo>
                  <a:pt x="76" y="178"/>
                  <a:pt x="76" y="178"/>
                  <a:pt x="76" y="178"/>
                </a:cubicBezTo>
                <a:cubicBezTo>
                  <a:pt x="77" y="178"/>
                  <a:pt x="81" y="186"/>
                  <a:pt x="87" y="197"/>
                </a:cubicBezTo>
                <a:cubicBezTo>
                  <a:pt x="54" y="197"/>
                  <a:pt x="54" y="197"/>
                  <a:pt x="54" y="197"/>
                </a:cubicBezTo>
                <a:cubicBezTo>
                  <a:pt x="45" y="206"/>
                  <a:pt x="45" y="206"/>
                  <a:pt x="45" y="206"/>
                </a:cubicBezTo>
                <a:cubicBezTo>
                  <a:pt x="45" y="298"/>
                  <a:pt x="45" y="298"/>
                  <a:pt x="45" y="298"/>
                </a:cubicBezTo>
                <a:close/>
                <a:moveTo>
                  <a:pt x="58" y="210"/>
                </a:moveTo>
                <a:cubicBezTo>
                  <a:pt x="58" y="297"/>
                  <a:pt x="58" y="297"/>
                  <a:pt x="58" y="297"/>
                </a:cubicBezTo>
                <a:cubicBezTo>
                  <a:pt x="198" y="297"/>
                  <a:pt x="198" y="297"/>
                  <a:pt x="198" y="297"/>
                </a:cubicBezTo>
                <a:cubicBezTo>
                  <a:pt x="198" y="210"/>
                  <a:pt x="198" y="210"/>
                  <a:pt x="198" y="210"/>
                </a:cubicBezTo>
                <a:cubicBezTo>
                  <a:pt x="58" y="210"/>
                  <a:pt x="58" y="210"/>
                  <a:pt x="58" y="210"/>
                </a:cubicBezTo>
                <a:close/>
                <a:moveTo>
                  <a:pt x="82" y="92"/>
                </a:moveTo>
                <a:cubicBezTo>
                  <a:pt x="80" y="74"/>
                  <a:pt x="79" y="66"/>
                  <a:pt x="85" y="48"/>
                </a:cubicBezTo>
                <a:cubicBezTo>
                  <a:pt x="96" y="56"/>
                  <a:pt x="123" y="52"/>
                  <a:pt x="134" y="47"/>
                </a:cubicBezTo>
                <a:cubicBezTo>
                  <a:pt x="140" y="56"/>
                  <a:pt x="151" y="58"/>
                  <a:pt x="161" y="55"/>
                </a:cubicBezTo>
                <a:cubicBezTo>
                  <a:pt x="164" y="70"/>
                  <a:pt x="164" y="72"/>
                  <a:pt x="164" y="92"/>
                </a:cubicBezTo>
                <a:cubicBezTo>
                  <a:pt x="164" y="92"/>
                  <a:pt x="175" y="82"/>
                  <a:pt x="177" y="74"/>
                </a:cubicBezTo>
                <a:cubicBezTo>
                  <a:pt x="179" y="65"/>
                  <a:pt x="175" y="32"/>
                  <a:pt x="171" y="25"/>
                </a:cubicBezTo>
                <a:cubicBezTo>
                  <a:pt x="167" y="14"/>
                  <a:pt x="154" y="6"/>
                  <a:pt x="132" y="9"/>
                </a:cubicBezTo>
                <a:cubicBezTo>
                  <a:pt x="111" y="0"/>
                  <a:pt x="86" y="9"/>
                  <a:pt x="75" y="21"/>
                </a:cubicBezTo>
                <a:cubicBezTo>
                  <a:pt x="71" y="27"/>
                  <a:pt x="65" y="74"/>
                  <a:pt x="70" y="81"/>
                </a:cubicBezTo>
                <a:cubicBezTo>
                  <a:pt x="76" y="88"/>
                  <a:pt x="82" y="92"/>
                  <a:pt x="82" y="92"/>
                </a:cubicBezTo>
                <a:close/>
                <a:moveTo>
                  <a:pt x="40" y="311"/>
                </a:moveTo>
                <a:cubicBezTo>
                  <a:pt x="215" y="311"/>
                  <a:pt x="215" y="311"/>
                  <a:pt x="215" y="311"/>
                </a:cubicBezTo>
                <a:cubicBezTo>
                  <a:pt x="205" y="326"/>
                  <a:pt x="205" y="326"/>
                  <a:pt x="205" y="326"/>
                </a:cubicBezTo>
                <a:cubicBezTo>
                  <a:pt x="49" y="326"/>
                  <a:pt x="49" y="326"/>
                  <a:pt x="49" y="326"/>
                </a:cubicBezTo>
                <a:cubicBezTo>
                  <a:pt x="40" y="311"/>
                  <a:pt x="40" y="311"/>
                  <a:pt x="40" y="311"/>
                </a:cubicBezTo>
                <a:close/>
                <a:moveTo>
                  <a:pt x="225" y="180"/>
                </a:moveTo>
                <a:cubicBezTo>
                  <a:pt x="244" y="253"/>
                  <a:pt x="244" y="253"/>
                  <a:pt x="244" y="253"/>
                </a:cubicBezTo>
                <a:cubicBezTo>
                  <a:pt x="251" y="279"/>
                  <a:pt x="248" y="298"/>
                  <a:pt x="218" y="298"/>
                </a:cubicBezTo>
                <a:cubicBezTo>
                  <a:pt x="211" y="298"/>
                  <a:pt x="211" y="298"/>
                  <a:pt x="211" y="298"/>
                </a:cubicBezTo>
                <a:cubicBezTo>
                  <a:pt x="211" y="206"/>
                  <a:pt x="211" y="206"/>
                  <a:pt x="211" y="206"/>
                </a:cubicBezTo>
                <a:cubicBezTo>
                  <a:pt x="201" y="197"/>
                  <a:pt x="201" y="197"/>
                  <a:pt x="201" y="197"/>
                </a:cubicBezTo>
                <a:cubicBezTo>
                  <a:pt x="167" y="197"/>
                  <a:pt x="167" y="197"/>
                  <a:pt x="167" y="197"/>
                </a:cubicBezTo>
                <a:cubicBezTo>
                  <a:pt x="172" y="186"/>
                  <a:pt x="177" y="178"/>
                  <a:pt x="177" y="178"/>
                </a:cubicBezTo>
                <a:cubicBezTo>
                  <a:pt x="177" y="177"/>
                  <a:pt x="177" y="177"/>
                  <a:pt x="177" y="177"/>
                </a:cubicBezTo>
                <a:cubicBezTo>
                  <a:pt x="170" y="170"/>
                  <a:pt x="170" y="170"/>
                  <a:pt x="170" y="170"/>
                </a:cubicBezTo>
                <a:cubicBezTo>
                  <a:pt x="179" y="171"/>
                  <a:pt x="179" y="171"/>
                  <a:pt x="179" y="171"/>
                </a:cubicBezTo>
                <a:cubicBezTo>
                  <a:pt x="177" y="142"/>
                  <a:pt x="177" y="142"/>
                  <a:pt x="177" y="142"/>
                </a:cubicBezTo>
                <a:cubicBezTo>
                  <a:pt x="208" y="149"/>
                  <a:pt x="208" y="149"/>
                  <a:pt x="208" y="149"/>
                </a:cubicBezTo>
                <a:cubicBezTo>
                  <a:pt x="210" y="150"/>
                  <a:pt x="210" y="150"/>
                  <a:pt x="210" y="150"/>
                </a:cubicBezTo>
                <a:cubicBezTo>
                  <a:pt x="211" y="152"/>
                  <a:pt x="211" y="152"/>
                  <a:pt x="211" y="152"/>
                </a:cubicBezTo>
                <a:cubicBezTo>
                  <a:pt x="218" y="160"/>
                  <a:pt x="222" y="170"/>
                  <a:pt x="224" y="180"/>
                </a:cubicBezTo>
                <a:cubicBezTo>
                  <a:pt x="225" y="180"/>
                  <a:pt x="225" y="180"/>
                  <a:pt x="225" y="180"/>
                </a:cubicBezTo>
                <a:close/>
                <a:moveTo>
                  <a:pt x="162" y="197"/>
                </a:moveTo>
                <a:cubicBezTo>
                  <a:pt x="167" y="188"/>
                  <a:pt x="171" y="181"/>
                  <a:pt x="172" y="178"/>
                </a:cubicBezTo>
                <a:cubicBezTo>
                  <a:pt x="163" y="168"/>
                  <a:pt x="163" y="168"/>
                  <a:pt x="163" y="168"/>
                </a:cubicBezTo>
                <a:cubicBezTo>
                  <a:pt x="164" y="165"/>
                  <a:pt x="164" y="165"/>
                  <a:pt x="164" y="165"/>
                </a:cubicBezTo>
                <a:cubicBezTo>
                  <a:pt x="175" y="166"/>
                  <a:pt x="175" y="166"/>
                  <a:pt x="175" y="166"/>
                </a:cubicBezTo>
                <a:cubicBezTo>
                  <a:pt x="174" y="141"/>
                  <a:pt x="174" y="141"/>
                  <a:pt x="174" y="141"/>
                </a:cubicBezTo>
                <a:cubicBezTo>
                  <a:pt x="164" y="138"/>
                  <a:pt x="164" y="138"/>
                  <a:pt x="164" y="138"/>
                </a:cubicBezTo>
                <a:cubicBezTo>
                  <a:pt x="155" y="145"/>
                  <a:pt x="155" y="145"/>
                  <a:pt x="155" y="145"/>
                </a:cubicBezTo>
                <a:cubicBezTo>
                  <a:pt x="133" y="197"/>
                  <a:pt x="133" y="197"/>
                  <a:pt x="133" y="197"/>
                </a:cubicBezTo>
                <a:cubicBezTo>
                  <a:pt x="162" y="197"/>
                  <a:pt x="162" y="197"/>
                  <a:pt x="162" y="197"/>
                </a:cubicBezTo>
                <a:close/>
                <a:moveTo>
                  <a:pt x="79" y="141"/>
                </a:moveTo>
                <a:cubicBezTo>
                  <a:pt x="78" y="166"/>
                  <a:pt x="78" y="166"/>
                  <a:pt x="78" y="166"/>
                </a:cubicBezTo>
                <a:cubicBezTo>
                  <a:pt x="89" y="165"/>
                  <a:pt x="89" y="165"/>
                  <a:pt x="89" y="165"/>
                </a:cubicBezTo>
                <a:cubicBezTo>
                  <a:pt x="90" y="168"/>
                  <a:pt x="90" y="168"/>
                  <a:pt x="90" y="168"/>
                </a:cubicBezTo>
                <a:cubicBezTo>
                  <a:pt x="81" y="178"/>
                  <a:pt x="81" y="178"/>
                  <a:pt x="81" y="178"/>
                </a:cubicBezTo>
                <a:cubicBezTo>
                  <a:pt x="82" y="181"/>
                  <a:pt x="86" y="188"/>
                  <a:pt x="91" y="197"/>
                </a:cubicBezTo>
                <a:cubicBezTo>
                  <a:pt x="121" y="197"/>
                  <a:pt x="121" y="197"/>
                  <a:pt x="121" y="197"/>
                </a:cubicBezTo>
                <a:cubicBezTo>
                  <a:pt x="96" y="145"/>
                  <a:pt x="96" y="145"/>
                  <a:pt x="96" y="145"/>
                </a:cubicBezTo>
                <a:cubicBezTo>
                  <a:pt x="88" y="138"/>
                  <a:pt x="88" y="138"/>
                  <a:pt x="88" y="138"/>
                </a:cubicBezTo>
                <a:lnTo>
                  <a:pt x="79" y="141"/>
                </a:lnTo>
                <a:close/>
              </a:path>
            </a:pathLst>
          </a:custGeom>
          <a:solidFill>
            <a:sysClr val="window" lastClr="FFFFFF"/>
          </a:solidFill>
          <a:ln>
            <a:noFill/>
          </a:ln>
        </p:spPr>
        <p:txBody>
          <a:bodyPr vert="horz" wrap="square" lIns="121888" tIns="60944" rIns="121888" bIns="60944" numCol="1" anchor="t" anchorCtr="0" compatLnSpc="1"/>
          <a:lstStyle/>
          <a:p>
            <a:pPr defTabSz="1218565">
              <a:defRPr/>
            </a:pPr>
            <a:endParaRPr lang="zh-CN" altLang="en-US" sz="2400" kern="0">
              <a:solidFill>
                <a:sysClr val="windowText" lastClr="000000"/>
              </a:solidFill>
            </a:endParaRPr>
          </a:p>
        </p:txBody>
      </p:sp>
      <p:sp>
        <p:nvSpPr>
          <p:cNvPr id="45" name="Freeform 16"/>
          <p:cNvSpPr>
            <a:spLocks noEditPoints="1"/>
          </p:cNvSpPr>
          <p:nvPr/>
        </p:nvSpPr>
        <p:spPr bwMode="auto">
          <a:xfrm>
            <a:off x="4825377" y="4430834"/>
            <a:ext cx="497177" cy="411729"/>
          </a:xfrm>
          <a:custGeom>
            <a:avLst/>
            <a:gdLst>
              <a:gd name="T0" fmla="*/ 245 w 332"/>
              <a:gd name="T1" fmla="*/ 23 h 275"/>
              <a:gd name="T2" fmla="*/ 283 w 332"/>
              <a:gd name="T3" fmla="*/ 47 h 275"/>
              <a:gd name="T4" fmla="*/ 241 w 332"/>
              <a:gd name="T5" fmla="*/ 10 h 275"/>
              <a:gd name="T6" fmla="*/ 113 w 332"/>
              <a:gd name="T7" fmla="*/ 203 h 275"/>
              <a:gd name="T8" fmla="*/ 70 w 332"/>
              <a:gd name="T9" fmla="*/ 223 h 275"/>
              <a:gd name="T10" fmla="*/ 90 w 332"/>
              <a:gd name="T11" fmla="*/ 267 h 275"/>
              <a:gd name="T12" fmla="*/ 35 w 332"/>
              <a:gd name="T13" fmla="*/ 275 h 275"/>
              <a:gd name="T14" fmla="*/ 54 w 332"/>
              <a:gd name="T15" fmla="*/ 252 h 275"/>
              <a:gd name="T16" fmla="*/ 15 w 332"/>
              <a:gd name="T17" fmla="*/ 223 h 275"/>
              <a:gd name="T18" fmla="*/ 21 w 332"/>
              <a:gd name="T19" fmla="*/ 199 h 275"/>
              <a:gd name="T20" fmla="*/ 0 w 332"/>
              <a:gd name="T21" fmla="*/ 116 h 275"/>
              <a:gd name="T22" fmla="*/ 43 w 332"/>
              <a:gd name="T23" fmla="*/ 182 h 275"/>
              <a:gd name="T24" fmla="*/ 45 w 332"/>
              <a:gd name="T25" fmla="*/ 198 h 275"/>
              <a:gd name="T26" fmla="*/ 50 w 332"/>
              <a:gd name="T27" fmla="*/ 81 h 275"/>
              <a:gd name="T28" fmla="*/ 52 w 332"/>
              <a:gd name="T29" fmla="*/ 69 h 275"/>
              <a:gd name="T30" fmla="*/ 90 w 332"/>
              <a:gd name="T31" fmla="*/ 26 h 275"/>
              <a:gd name="T32" fmla="*/ 92 w 332"/>
              <a:gd name="T33" fmla="*/ 36 h 275"/>
              <a:gd name="T34" fmla="*/ 92 w 332"/>
              <a:gd name="T35" fmla="*/ 48 h 275"/>
              <a:gd name="T36" fmla="*/ 93 w 332"/>
              <a:gd name="T37" fmla="*/ 61 h 275"/>
              <a:gd name="T38" fmla="*/ 90 w 332"/>
              <a:gd name="T39" fmla="*/ 73 h 275"/>
              <a:gd name="T40" fmla="*/ 80 w 332"/>
              <a:gd name="T41" fmla="*/ 88 h 275"/>
              <a:gd name="T42" fmla="*/ 165 w 332"/>
              <a:gd name="T43" fmla="*/ 108 h 275"/>
              <a:gd name="T44" fmla="*/ 181 w 332"/>
              <a:gd name="T45" fmla="*/ 120 h 275"/>
              <a:gd name="T46" fmla="*/ 208 w 332"/>
              <a:gd name="T47" fmla="*/ 79 h 275"/>
              <a:gd name="T48" fmla="*/ 234 w 332"/>
              <a:gd name="T49" fmla="*/ 88 h 275"/>
              <a:gd name="T50" fmla="*/ 235 w 332"/>
              <a:gd name="T51" fmla="*/ 92 h 275"/>
              <a:gd name="T52" fmla="*/ 249 w 332"/>
              <a:gd name="T53" fmla="*/ 117 h 275"/>
              <a:gd name="T54" fmla="*/ 238 w 332"/>
              <a:gd name="T55" fmla="*/ 92 h 275"/>
              <a:gd name="T56" fmla="*/ 242 w 332"/>
              <a:gd name="T57" fmla="*/ 85 h 275"/>
              <a:gd name="T58" fmla="*/ 237 w 332"/>
              <a:gd name="T59" fmla="*/ 69 h 275"/>
              <a:gd name="T60" fmla="*/ 249 w 332"/>
              <a:gd name="T61" fmla="*/ 62 h 275"/>
              <a:gd name="T62" fmla="*/ 256 w 332"/>
              <a:gd name="T63" fmla="*/ 97 h 275"/>
              <a:gd name="T64" fmla="*/ 258 w 332"/>
              <a:gd name="T65" fmla="*/ 75 h 275"/>
              <a:gd name="T66" fmla="*/ 267 w 332"/>
              <a:gd name="T67" fmla="*/ 70 h 275"/>
              <a:gd name="T68" fmla="*/ 267 w 332"/>
              <a:gd name="T69" fmla="*/ 78 h 275"/>
              <a:gd name="T70" fmla="*/ 278 w 332"/>
              <a:gd name="T71" fmla="*/ 79 h 275"/>
              <a:gd name="T72" fmla="*/ 289 w 332"/>
              <a:gd name="T73" fmla="*/ 69 h 275"/>
              <a:gd name="T74" fmla="*/ 284 w 332"/>
              <a:gd name="T75" fmla="*/ 85 h 275"/>
              <a:gd name="T76" fmla="*/ 288 w 332"/>
              <a:gd name="T77" fmla="*/ 92 h 275"/>
              <a:gd name="T78" fmla="*/ 276 w 332"/>
              <a:gd name="T79" fmla="*/ 115 h 275"/>
              <a:gd name="T80" fmla="*/ 273 w 332"/>
              <a:gd name="T81" fmla="*/ 119 h 275"/>
              <a:gd name="T82" fmla="*/ 290 w 332"/>
              <a:gd name="T83" fmla="*/ 92 h 275"/>
              <a:gd name="T84" fmla="*/ 287 w 332"/>
              <a:gd name="T85" fmla="*/ 88 h 275"/>
              <a:gd name="T86" fmla="*/ 290 w 332"/>
              <a:gd name="T87" fmla="*/ 69 h 275"/>
              <a:gd name="T88" fmla="*/ 322 w 332"/>
              <a:gd name="T89" fmla="*/ 120 h 275"/>
              <a:gd name="T90" fmla="*/ 332 w 332"/>
              <a:gd name="T91" fmla="*/ 139 h 275"/>
              <a:gd name="T92" fmla="*/ 332 w 332"/>
              <a:gd name="T93" fmla="*/ 274 h 275"/>
              <a:gd name="T94" fmla="*/ 190 w 332"/>
              <a:gd name="T95" fmla="*/ 147 h 275"/>
              <a:gd name="T96" fmla="*/ 147 w 332"/>
              <a:gd name="T97" fmla="*/ 124 h 275"/>
              <a:gd name="T98" fmla="*/ 102 w 332"/>
              <a:gd name="T99" fmla="*/ 166 h 275"/>
              <a:gd name="T100" fmla="*/ 131 w 332"/>
              <a:gd name="T101" fmla="*/ 275 h 275"/>
              <a:gd name="T102" fmla="*/ 130 w 332"/>
              <a:gd name="T103" fmla="*/ 204 h 275"/>
              <a:gd name="T104" fmla="*/ 226 w 332"/>
              <a:gd name="T105" fmla="*/ 120 h 275"/>
              <a:gd name="T106" fmla="*/ 227 w 332"/>
              <a:gd name="T107" fmla="*/ 107 h 275"/>
              <a:gd name="T108" fmla="*/ 226 w 332"/>
              <a:gd name="T109" fmla="*/ 120 h 275"/>
              <a:gd name="T110" fmla="*/ 301 w 332"/>
              <a:gd name="T111" fmla="*/ 120 h 275"/>
              <a:gd name="T112" fmla="*/ 300 w 332"/>
              <a:gd name="T113" fmla="*/ 107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32" h="275">
                <a:moveTo>
                  <a:pt x="244" y="46"/>
                </a:moveTo>
                <a:cubicBezTo>
                  <a:pt x="243" y="38"/>
                  <a:pt x="243" y="32"/>
                  <a:pt x="245" y="23"/>
                </a:cubicBezTo>
                <a:cubicBezTo>
                  <a:pt x="255" y="37"/>
                  <a:pt x="270" y="27"/>
                  <a:pt x="281" y="24"/>
                </a:cubicBezTo>
                <a:cubicBezTo>
                  <a:pt x="283" y="31"/>
                  <a:pt x="283" y="37"/>
                  <a:pt x="283" y="47"/>
                </a:cubicBezTo>
                <a:cubicBezTo>
                  <a:pt x="291" y="39"/>
                  <a:pt x="291" y="19"/>
                  <a:pt x="286" y="12"/>
                </a:cubicBezTo>
                <a:cubicBezTo>
                  <a:pt x="278" y="1"/>
                  <a:pt x="249" y="0"/>
                  <a:pt x="241" y="10"/>
                </a:cubicBezTo>
                <a:cubicBezTo>
                  <a:pt x="237" y="14"/>
                  <a:pt x="233" y="41"/>
                  <a:pt x="244" y="46"/>
                </a:cubicBezTo>
                <a:close/>
                <a:moveTo>
                  <a:pt x="113" y="203"/>
                </a:moveTo>
                <a:cubicBezTo>
                  <a:pt x="113" y="211"/>
                  <a:pt x="113" y="211"/>
                  <a:pt x="113" y="211"/>
                </a:cubicBezTo>
                <a:cubicBezTo>
                  <a:pt x="70" y="223"/>
                  <a:pt x="70" y="223"/>
                  <a:pt x="70" y="223"/>
                </a:cubicBezTo>
                <a:cubicBezTo>
                  <a:pt x="70" y="252"/>
                  <a:pt x="70" y="252"/>
                  <a:pt x="70" y="252"/>
                </a:cubicBezTo>
                <a:cubicBezTo>
                  <a:pt x="90" y="267"/>
                  <a:pt x="90" y="267"/>
                  <a:pt x="90" y="267"/>
                </a:cubicBezTo>
                <a:cubicBezTo>
                  <a:pt x="90" y="275"/>
                  <a:pt x="90" y="275"/>
                  <a:pt x="90" y="275"/>
                </a:cubicBezTo>
                <a:cubicBezTo>
                  <a:pt x="35" y="275"/>
                  <a:pt x="35" y="275"/>
                  <a:pt x="35" y="275"/>
                </a:cubicBezTo>
                <a:cubicBezTo>
                  <a:pt x="35" y="266"/>
                  <a:pt x="35" y="266"/>
                  <a:pt x="35" y="266"/>
                </a:cubicBezTo>
                <a:cubicBezTo>
                  <a:pt x="54" y="252"/>
                  <a:pt x="54" y="252"/>
                  <a:pt x="54" y="252"/>
                </a:cubicBezTo>
                <a:cubicBezTo>
                  <a:pt x="54" y="223"/>
                  <a:pt x="54" y="223"/>
                  <a:pt x="54" y="223"/>
                </a:cubicBezTo>
                <a:cubicBezTo>
                  <a:pt x="15" y="223"/>
                  <a:pt x="15" y="223"/>
                  <a:pt x="15" y="223"/>
                </a:cubicBezTo>
                <a:cubicBezTo>
                  <a:pt x="12" y="202"/>
                  <a:pt x="12" y="202"/>
                  <a:pt x="12" y="202"/>
                </a:cubicBezTo>
                <a:cubicBezTo>
                  <a:pt x="21" y="199"/>
                  <a:pt x="21" y="199"/>
                  <a:pt x="21" y="199"/>
                </a:cubicBezTo>
                <a:cubicBezTo>
                  <a:pt x="9" y="182"/>
                  <a:pt x="9" y="182"/>
                  <a:pt x="9" y="182"/>
                </a:cubicBezTo>
                <a:cubicBezTo>
                  <a:pt x="0" y="116"/>
                  <a:pt x="0" y="116"/>
                  <a:pt x="0" y="116"/>
                </a:cubicBezTo>
                <a:cubicBezTo>
                  <a:pt x="33" y="116"/>
                  <a:pt x="33" y="116"/>
                  <a:pt x="33" y="116"/>
                </a:cubicBezTo>
                <a:cubicBezTo>
                  <a:pt x="43" y="182"/>
                  <a:pt x="43" y="182"/>
                  <a:pt x="43" y="182"/>
                </a:cubicBezTo>
                <a:cubicBezTo>
                  <a:pt x="34" y="198"/>
                  <a:pt x="34" y="198"/>
                  <a:pt x="34" y="198"/>
                </a:cubicBezTo>
                <a:cubicBezTo>
                  <a:pt x="45" y="198"/>
                  <a:pt x="45" y="198"/>
                  <a:pt x="45" y="198"/>
                </a:cubicBezTo>
                <a:cubicBezTo>
                  <a:pt x="50" y="198"/>
                  <a:pt x="50" y="198"/>
                  <a:pt x="50" y="198"/>
                </a:cubicBezTo>
                <a:cubicBezTo>
                  <a:pt x="48" y="124"/>
                  <a:pt x="33" y="112"/>
                  <a:pt x="50" y="81"/>
                </a:cubicBezTo>
                <a:cubicBezTo>
                  <a:pt x="54" y="82"/>
                  <a:pt x="54" y="82"/>
                  <a:pt x="54" y="82"/>
                </a:cubicBezTo>
                <a:cubicBezTo>
                  <a:pt x="54" y="77"/>
                  <a:pt x="53" y="73"/>
                  <a:pt x="52" y="69"/>
                </a:cubicBezTo>
                <a:cubicBezTo>
                  <a:pt x="29" y="56"/>
                  <a:pt x="37" y="26"/>
                  <a:pt x="57" y="20"/>
                </a:cubicBezTo>
                <a:cubicBezTo>
                  <a:pt x="68" y="16"/>
                  <a:pt x="81" y="17"/>
                  <a:pt x="90" y="26"/>
                </a:cubicBezTo>
                <a:cubicBezTo>
                  <a:pt x="97" y="33"/>
                  <a:pt x="93" y="35"/>
                  <a:pt x="93" y="35"/>
                </a:cubicBezTo>
                <a:cubicBezTo>
                  <a:pt x="92" y="36"/>
                  <a:pt x="92" y="36"/>
                  <a:pt x="92" y="36"/>
                </a:cubicBezTo>
                <a:cubicBezTo>
                  <a:pt x="93" y="39"/>
                  <a:pt x="94" y="45"/>
                  <a:pt x="94" y="46"/>
                </a:cubicBezTo>
                <a:cubicBezTo>
                  <a:pt x="94" y="47"/>
                  <a:pt x="92" y="48"/>
                  <a:pt x="92" y="48"/>
                </a:cubicBezTo>
                <a:cubicBezTo>
                  <a:pt x="96" y="59"/>
                  <a:pt x="96" y="59"/>
                  <a:pt x="96" y="59"/>
                </a:cubicBezTo>
                <a:cubicBezTo>
                  <a:pt x="93" y="61"/>
                  <a:pt x="93" y="61"/>
                  <a:pt x="93" y="61"/>
                </a:cubicBezTo>
                <a:cubicBezTo>
                  <a:pt x="94" y="64"/>
                  <a:pt x="94" y="67"/>
                  <a:pt x="94" y="71"/>
                </a:cubicBezTo>
                <a:cubicBezTo>
                  <a:pt x="93" y="71"/>
                  <a:pt x="91" y="73"/>
                  <a:pt x="90" y="73"/>
                </a:cubicBezTo>
                <a:cubicBezTo>
                  <a:pt x="80" y="74"/>
                  <a:pt x="80" y="74"/>
                  <a:pt x="80" y="74"/>
                </a:cubicBezTo>
                <a:cubicBezTo>
                  <a:pt x="80" y="88"/>
                  <a:pt x="80" y="88"/>
                  <a:pt x="80" y="88"/>
                </a:cubicBezTo>
                <a:cubicBezTo>
                  <a:pt x="149" y="105"/>
                  <a:pt x="149" y="105"/>
                  <a:pt x="149" y="105"/>
                </a:cubicBezTo>
                <a:cubicBezTo>
                  <a:pt x="159" y="106"/>
                  <a:pt x="154" y="107"/>
                  <a:pt x="165" y="108"/>
                </a:cubicBezTo>
                <a:cubicBezTo>
                  <a:pt x="172" y="109"/>
                  <a:pt x="179" y="116"/>
                  <a:pt x="180" y="120"/>
                </a:cubicBezTo>
                <a:cubicBezTo>
                  <a:pt x="181" y="120"/>
                  <a:pt x="181" y="120"/>
                  <a:pt x="181" y="120"/>
                </a:cubicBezTo>
                <a:cubicBezTo>
                  <a:pt x="203" y="120"/>
                  <a:pt x="203" y="120"/>
                  <a:pt x="203" y="120"/>
                </a:cubicBezTo>
                <a:cubicBezTo>
                  <a:pt x="202" y="100"/>
                  <a:pt x="204" y="86"/>
                  <a:pt x="208" y="79"/>
                </a:cubicBezTo>
                <a:cubicBezTo>
                  <a:pt x="218" y="75"/>
                  <a:pt x="226" y="73"/>
                  <a:pt x="236" y="69"/>
                </a:cubicBezTo>
                <a:cubicBezTo>
                  <a:pt x="234" y="88"/>
                  <a:pt x="234" y="88"/>
                  <a:pt x="234" y="88"/>
                </a:cubicBezTo>
                <a:cubicBezTo>
                  <a:pt x="239" y="88"/>
                  <a:pt x="239" y="88"/>
                  <a:pt x="239" y="88"/>
                </a:cubicBezTo>
                <a:cubicBezTo>
                  <a:pt x="235" y="92"/>
                  <a:pt x="235" y="92"/>
                  <a:pt x="235" y="92"/>
                </a:cubicBezTo>
                <a:cubicBezTo>
                  <a:pt x="235" y="92"/>
                  <a:pt x="235" y="92"/>
                  <a:pt x="235" y="92"/>
                </a:cubicBezTo>
                <a:cubicBezTo>
                  <a:pt x="235" y="92"/>
                  <a:pt x="243" y="107"/>
                  <a:pt x="249" y="117"/>
                </a:cubicBezTo>
                <a:cubicBezTo>
                  <a:pt x="250" y="118"/>
                  <a:pt x="252" y="118"/>
                  <a:pt x="252" y="119"/>
                </a:cubicBezTo>
                <a:cubicBezTo>
                  <a:pt x="248" y="111"/>
                  <a:pt x="240" y="96"/>
                  <a:pt x="238" y="92"/>
                </a:cubicBezTo>
                <a:cubicBezTo>
                  <a:pt x="243" y="87"/>
                  <a:pt x="243" y="87"/>
                  <a:pt x="243" y="87"/>
                </a:cubicBezTo>
                <a:cubicBezTo>
                  <a:pt x="242" y="85"/>
                  <a:pt x="242" y="85"/>
                  <a:pt x="242" y="85"/>
                </a:cubicBezTo>
                <a:cubicBezTo>
                  <a:pt x="236" y="86"/>
                  <a:pt x="236" y="86"/>
                  <a:pt x="236" y="86"/>
                </a:cubicBezTo>
                <a:cubicBezTo>
                  <a:pt x="237" y="69"/>
                  <a:pt x="237" y="69"/>
                  <a:pt x="237" y="69"/>
                </a:cubicBezTo>
                <a:cubicBezTo>
                  <a:pt x="239" y="67"/>
                  <a:pt x="246" y="64"/>
                  <a:pt x="248" y="62"/>
                </a:cubicBezTo>
                <a:cubicBezTo>
                  <a:pt x="249" y="62"/>
                  <a:pt x="249" y="62"/>
                  <a:pt x="249" y="62"/>
                </a:cubicBezTo>
                <a:cubicBezTo>
                  <a:pt x="249" y="79"/>
                  <a:pt x="249" y="79"/>
                  <a:pt x="249" y="79"/>
                </a:cubicBezTo>
                <a:cubicBezTo>
                  <a:pt x="256" y="97"/>
                  <a:pt x="256" y="97"/>
                  <a:pt x="256" y="97"/>
                </a:cubicBezTo>
                <a:cubicBezTo>
                  <a:pt x="260" y="78"/>
                  <a:pt x="260" y="78"/>
                  <a:pt x="260" y="78"/>
                </a:cubicBezTo>
                <a:cubicBezTo>
                  <a:pt x="258" y="75"/>
                  <a:pt x="258" y="75"/>
                  <a:pt x="258" y="75"/>
                </a:cubicBezTo>
                <a:cubicBezTo>
                  <a:pt x="260" y="70"/>
                  <a:pt x="260" y="70"/>
                  <a:pt x="260" y="70"/>
                </a:cubicBezTo>
                <a:cubicBezTo>
                  <a:pt x="267" y="70"/>
                  <a:pt x="267" y="70"/>
                  <a:pt x="267" y="70"/>
                </a:cubicBezTo>
                <a:cubicBezTo>
                  <a:pt x="270" y="75"/>
                  <a:pt x="270" y="75"/>
                  <a:pt x="270" y="75"/>
                </a:cubicBezTo>
                <a:cubicBezTo>
                  <a:pt x="267" y="78"/>
                  <a:pt x="267" y="78"/>
                  <a:pt x="267" y="78"/>
                </a:cubicBezTo>
                <a:cubicBezTo>
                  <a:pt x="272" y="97"/>
                  <a:pt x="272" y="97"/>
                  <a:pt x="272" y="97"/>
                </a:cubicBezTo>
                <a:cubicBezTo>
                  <a:pt x="278" y="79"/>
                  <a:pt x="278" y="79"/>
                  <a:pt x="278" y="79"/>
                </a:cubicBezTo>
                <a:cubicBezTo>
                  <a:pt x="279" y="63"/>
                  <a:pt x="279" y="63"/>
                  <a:pt x="279" y="63"/>
                </a:cubicBezTo>
                <a:cubicBezTo>
                  <a:pt x="282" y="65"/>
                  <a:pt x="287" y="67"/>
                  <a:pt x="289" y="69"/>
                </a:cubicBezTo>
                <a:cubicBezTo>
                  <a:pt x="289" y="86"/>
                  <a:pt x="289" y="86"/>
                  <a:pt x="289" y="86"/>
                </a:cubicBezTo>
                <a:cubicBezTo>
                  <a:pt x="284" y="85"/>
                  <a:pt x="284" y="85"/>
                  <a:pt x="284" y="85"/>
                </a:cubicBezTo>
                <a:cubicBezTo>
                  <a:pt x="283" y="87"/>
                  <a:pt x="283" y="87"/>
                  <a:pt x="283" y="87"/>
                </a:cubicBezTo>
                <a:cubicBezTo>
                  <a:pt x="288" y="92"/>
                  <a:pt x="288" y="92"/>
                  <a:pt x="288" y="92"/>
                </a:cubicBezTo>
                <a:cubicBezTo>
                  <a:pt x="286" y="95"/>
                  <a:pt x="280" y="107"/>
                  <a:pt x="276" y="115"/>
                </a:cubicBezTo>
                <a:cubicBezTo>
                  <a:pt x="276" y="115"/>
                  <a:pt x="276" y="115"/>
                  <a:pt x="276" y="115"/>
                </a:cubicBezTo>
                <a:cubicBezTo>
                  <a:pt x="276" y="115"/>
                  <a:pt x="276" y="115"/>
                  <a:pt x="276" y="115"/>
                </a:cubicBezTo>
                <a:cubicBezTo>
                  <a:pt x="275" y="116"/>
                  <a:pt x="274" y="118"/>
                  <a:pt x="273" y="119"/>
                </a:cubicBezTo>
                <a:cubicBezTo>
                  <a:pt x="274" y="118"/>
                  <a:pt x="275" y="118"/>
                  <a:pt x="276" y="117"/>
                </a:cubicBezTo>
                <a:cubicBezTo>
                  <a:pt x="282" y="107"/>
                  <a:pt x="290" y="92"/>
                  <a:pt x="290" y="92"/>
                </a:cubicBezTo>
                <a:cubicBezTo>
                  <a:pt x="291" y="92"/>
                  <a:pt x="291" y="92"/>
                  <a:pt x="291" y="92"/>
                </a:cubicBezTo>
                <a:cubicBezTo>
                  <a:pt x="287" y="88"/>
                  <a:pt x="287" y="88"/>
                  <a:pt x="287" y="88"/>
                </a:cubicBezTo>
                <a:cubicBezTo>
                  <a:pt x="292" y="88"/>
                  <a:pt x="292" y="88"/>
                  <a:pt x="292" y="88"/>
                </a:cubicBezTo>
                <a:cubicBezTo>
                  <a:pt x="290" y="69"/>
                  <a:pt x="290" y="69"/>
                  <a:pt x="290" y="69"/>
                </a:cubicBezTo>
                <a:cubicBezTo>
                  <a:pt x="316" y="79"/>
                  <a:pt x="316" y="79"/>
                  <a:pt x="316" y="79"/>
                </a:cubicBezTo>
                <a:cubicBezTo>
                  <a:pt x="322" y="89"/>
                  <a:pt x="322" y="104"/>
                  <a:pt x="322" y="120"/>
                </a:cubicBezTo>
                <a:cubicBezTo>
                  <a:pt x="332" y="120"/>
                  <a:pt x="332" y="120"/>
                  <a:pt x="332" y="120"/>
                </a:cubicBezTo>
                <a:cubicBezTo>
                  <a:pt x="332" y="139"/>
                  <a:pt x="332" y="139"/>
                  <a:pt x="332" y="139"/>
                </a:cubicBezTo>
                <a:cubicBezTo>
                  <a:pt x="332" y="147"/>
                  <a:pt x="332" y="147"/>
                  <a:pt x="332" y="147"/>
                </a:cubicBezTo>
                <a:cubicBezTo>
                  <a:pt x="332" y="274"/>
                  <a:pt x="332" y="274"/>
                  <a:pt x="332" y="274"/>
                </a:cubicBezTo>
                <a:cubicBezTo>
                  <a:pt x="190" y="274"/>
                  <a:pt x="190" y="274"/>
                  <a:pt x="190" y="274"/>
                </a:cubicBezTo>
                <a:cubicBezTo>
                  <a:pt x="190" y="147"/>
                  <a:pt x="190" y="147"/>
                  <a:pt x="190" y="147"/>
                </a:cubicBezTo>
                <a:cubicBezTo>
                  <a:pt x="147" y="147"/>
                  <a:pt x="147" y="147"/>
                  <a:pt x="147" y="147"/>
                </a:cubicBezTo>
                <a:cubicBezTo>
                  <a:pt x="147" y="124"/>
                  <a:pt x="147" y="124"/>
                  <a:pt x="147" y="124"/>
                </a:cubicBezTo>
                <a:cubicBezTo>
                  <a:pt x="133" y="124"/>
                  <a:pt x="120" y="124"/>
                  <a:pt x="106" y="123"/>
                </a:cubicBezTo>
                <a:cubicBezTo>
                  <a:pt x="105" y="138"/>
                  <a:pt x="103" y="152"/>
                  <a:pt x="102" y="166"/>
                </a:cubicBezTo>
                <a:cubicBezTo>
                  <a:pt x="128" y="168"/>
                  <a:pt x="152" y="175"/>
                  <a:pt x="172" y="189"/>
                </a:cubicBezTo>
                <a:cubicBezTo>
                  <a:pt x="158" y="217"/>
                  <a:pt x="144" y="246"/>
                  <a:pt x="131" y="275"/>
                </a:cubicBezTo>
                <a:cubicBezTo>
                  <a:pt x="123" y="275"/>
                  <a:pt x="116" y="275"/>
                  <a:pt x="108" y="275"/>
                </a:cubicBezTo>
                <a:cubicBezTo>
                  <a:pt x="117" y="250"/>
                  <a:pt x="110" y="228"/>
                  <a:pt x="130" y="204"/>
                </a:cubicBezTo>
                <a:cubicBezTo>
                  <a:pt x="125" y="204"/>
                  <a:pt x="119" y="203"/>
                  <a:pt x="113" y="203"/>
                </a:cubicBezTo>
                <a:close/>
                <a:moveTo>
                  <a:pt x="226" y="120"/>
                </a:moveTo>
                <a:cubicBezTo>
                  <a:pt x="231" y="120"/>
                  <a:pt x="231" y="120"/>
                  <a:pt x="231" y="120"/>
                </a:cubicBezTo>
                <a:cubicBezTo>
                  <a:pt x="227" y="107"/>
                  <a:pt x="227" y="107"/>
                  <a:pt x="227" y="107"/>
                </a:cubicBezTo>
                <a:cubicBezTo>
                  <a:pt x="226" y="107"/>
                  <a:pt x="226" y="107"/>
                  <a:pt x="226" y="107"/>
                </a:cubicBezTo>
                <a:cubicBezTo>
                  <a:pt x="226" y="120"/>
                  <a:pt x="226" y="120"/>
                  <a:pt x="226" y="120"/>
                </a:cubicBezTo>
                <a:close/>
                <a:moveTo>
                  <a:pt x="296" y="120"/>
                </a:moveTo>
                <a:cubicBezTo>
                  <a:pt x="301" y="120"/>
                  <a:pt x="301" y="120"/>
                  <a:pt x="301" y="120"/>
                </a:cubicBezTo>
                <a:cubicBezTo>
                  <a:pt x="302" y="107"/>
                  <a:pt x="302" y="107"/>
                  <a:pt x="302" y="107"/>
                </a:cubicBezTo>
                <a:cubicBezTo>
                  <a:pt x="300" y="107"/>
                  <a:pt x="300" y="107"/>
                  <a:pt x="300" y="107"/>
                </a:cubicBezTo>
                <a:lnTo>
                  <a:pt x="296" y="120"/>
                </a:lnTo>
                <a:close/>
              </a:path>
            </a:pathLst>
          </a:custGeom>
          <a:solidFill>
            <a:sysClr val="window" lastClr="FFFFFF"/>
          </a:solidFill>
          <a:ln>
            <a:noFill/>
          </a:ln>
        </p:spPr>
        <p:txBody>
          <a:bodyPr vert="horz" wrap="square" lIns="121888" tIns="60944" rIns="121888" bIns="60944" numCol="1" anchor="t" anchorCtr="0" compatLnSpc="1"/>
          <a:lstStyle/>
          <a:p>
            <a:pPr defTabSz="1218565">
              <a:defRPr/>
            </a:pPr>
            <a:endParaRPr lang="zh-CN" altLang="en-US" sz="2400" kern="0">
              <a:solidFill>
                <a:sysClr val="windowText" lastClr="000000"/>
              </a:solidFill>
            </a:endParaRPr>
          </a:p>
        </p:txBody>
      </p:sp>
      <p:sp>
        <p:nvSpPr>
          <p:cNvPr id="46" name="Freeform 21"/>
          <p:cNvSpPr>
            <a:spLocks noEditPoints="1"/>
          </p:cNvSpPr>
          <p:nvPr/>
        </p:nvSpPr>
        <p:spPr bwMode="auto">
          <a:xfrm>
            <a:off x="4813239" y="5647764"/>
            <a:ext cx="521451" cy="342111"/>
          </a:xfrm>
          <a:custGeom>
            <a:avLst/>
            <a:gdLst>
              <a:gd name="T0" fmla="*/ 228 w 357"/>
              <a:gd name="T1" fmla="*/ 170 h 234"/>
              <a:gd name="T2" fmla="*/ 273 w 357"/>
              <a:gd name="T3" fmla="*/ 180 h 234"/>
              <a:gd name="T4" fmla="*/ 80 w 357"/>
              <a:gd name="T5" fmla="*/ 18 h 234"/>
              <a:gd name="T6" fmla="*/ 0 w 357"/>
              <a:gd name="T7" fmla="*/ 124 h 234"/>
              <a:gd name="T8" fmla="*/ 52 w 357"/>
              <a:gd name="T9" fmla="*/ 118 h 234"/>
              <a:gd name="T10" fmla="*/ 141 w 357"/>
              <a:gd name="T11" fmla="*/ 86 h 234"/>
              <a:gd name="T12" fmla="*/ 208 w 357"/>
              <a:gd name="T13" fmla="*/ 101 h 234"/>
              <a:gd name="T14" fmla="*/ 195 w 357"/>
              <a:gd name="T15" fmla="*/ 44 h 234"/>
              <a:gd name="T16" fmla="*/ 90 w 357"/>
              <a:gd name="T17" fmla="*/ 48 h 234"/>
              <a:gd name="T18" fmla="*/ 69 w 357"/>
              <a:gd name="T19" fmla="*/ 76 h 234"/>
              <a:gd name="T20" fmla="*/ 75 w 357"/>
              <a:gd name="T21" fmla="*/ 38 h 234"/>
              <a:gd name="T22" fmla="*/ 280 w 357"/>
              <a:gd name="T23" fmla="*/ 0 h 234"/>
              <a:gd name="T24" fmla="*/ 249 w 357"/>
              <a:gd name="T25" fmla="*/ 38 h 234"/>
              <a:gd name="T26" fmla="*/ 279 w 357"/>
              <a:gd name="T27" fmla="*/ 75 h 234"/>
              <a:gd name="T28" fmla="*/ 233 w 357"/>
              <a:gd name="T29" fmla="*/ 42 h 234"/>
              <a:gd name="T30" fmla="*/ 234 w 357"/>
              <a:gd name="T31" fmla="*/ 89 h 234"/>
              <a:gd name="T32" fmla="*/ 167 w 357"/>
              <a:gd name="T33" fmla="*/ 85 h 234"/>
              <a:gd name="T34" fmla="*/ 69 w 357"/>
              <a:gd name="T35" fmla="*/ 160 h 234"/>
              <a:gd name="T36" fmla="*/ 141 w 357"/>
              <a:gd name="T37" fmla="*/ 139 h 234"/>
              <a:gd name="T38" fmla="*/ 96 w 357"/>
              <a:gd name="T39" fmla="*/ 192 h 234"/>
              <a:gd name="T40" fmla="*/ 158 w 357"/>
              <a:gd name="T41" fmla="*/ 178 h 234"/>
              <a:gd name="T42" fmla="*/ 139 w 357"/>
              <a:gd name="T43" fmla="*/ 214 h 234"/>
              <a:gd name="T44" fmla="*/ 193 w 357"/>
              <a:gd name="T45" fmla="*/ 193 h 234"/>
              <a:gd name="T46" fmla="*/ 185 w 357"/>
              <a:gd name="T47" fmla="*/ 222 h 234"/>
              <a:gd name="T48" fmla="*/ 223 w 357"/>
              <a:gd name="T49" fmla="*/ 217 h 234"/>
              <a:gd name="T50" fmla="*/ 212 w 357"/>
              <a:gd name="T51" fmla="*/ 188 h 234"/>
              <a:gd name="T52" fmla="*/ 285 w 357"/>
              <a:gd name="T53" fmla="*/ 144 h 234"/>
              <a:gd name="T54" fmla="*/ 320 w 357"/>
              <a:gd name="T55" fmla="*/ 126 h 234"/>
              <a:gd name="T56" fmla="*/ 280 w 357"/>
              <a:gd name="T57" fmla="*/ 0 h 234"/>
              <a:gd name="T58" fmla="*/ 260 w 357"/>
              <a:gd name="T59" fmla="*/ 146 h 234"/>
              <a:gd name="T60" fmla="*/ 279 w 357"/>
              <a:gd name="T61" fmla="*/ 172 h 234"/>
              <a:gd name="T62" fmla="*/ 236 w 357"/>
              <a:gd name="T63" fmla="*/ 218 h 234"/>
              <a:gd name="T64" fmla="*/ 229 w 357"/>
              <a:gd name="T65" fmla="*/ 183 h 234"/>
              <a:gd name="T66" fmla="*/ 236 w 357"/>
              <a:gd name="T67" fmla="*/ 218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7" h="234">
                <a:moveTo>
                  <a:pt x="259" y="196"/>
                </a:moveTo>
                <a:cubicBezTo>
                  <a:pt x="228" y="170"/>
                  <a:pt x="228" y="170"/>
                  <a:pt x="228" y="170"/>
                </a:cubicBezTo>
                <a:cubicBezTo>
                  <a:pt x="239" y="158"/>
                  <a:pt x="239" y="158"/>
                  <a:pt x="239" y="158"/>
                </a:cubicBezTo>
                <a:cubicBezTo>
                  <a:pt x="273" y="180"/>
                  <a:pt x="273" y="180"/>
                  <a:pt x="273" y="180"/>
                </a:cubicBezTo>
                <a:cubicBezTo>
                  <a:pt x="269" y="185"/>
                  <a:pt x="264" y="191"/>
                  <a:pt x="259" y="196"/>
                </a:cubicBezTo>
                <a:close/>
                <a:moveTo>
                  <a:pt x="80" y="18"/>
                </a:moveTo>
                <a:cubicBezTo>
                  <a:pt x="34" y="5"/>
                  <a:pt x="34" y="5"/>
                  <a:pt x="34" y="5"/>
                </a:cubicBezTo>
                <a:cubicBezTo>
                  <a:pt x="0" y="124"/>
                  <a:pt x="0" y="124"/>
                  <a:pt x="0" y="124"/>
                </a:cubicBezTo>
                <a:cubicBezTo>
                  <a:pt x="47" y="137"/>
                  <a:pt x="47" y="137"/>
                  <a:pt x="47" y="137"/>
                </a:cubicBezTo>
                <a:cubicBezTo>
                  <a:pt x="52" y="118"/>
                  <a:pt x="52" y="118"/>
                  <a:pt x="52" y="118"/>
                </a:cubicBezTo>
                <a:cubicBezTo>
                  <a:pt x="78" y="139"/>
                  <a:pt x="78" y="139"/>
                  <a:pt x="78" y="139"/>
                </a:cubicBezTo>
                <a:cubicBezTo>
                  <a:pt x="141" y="86"/>
                  <a:pt x="141" y="86"/>
                  <a:pt x="141" y="86"/>
                </a:cubicBezTo>
                <a:cubicBezTo>
                  <a:pt x="167" y="77"/>
                  <a:pt x="167" y="77"/>
                  <a:pt x="167" y="77"/>
                </a:cubicBezTo>
                <a:cubicBezTo>
                  <a:pt x="208" y="101"/>
                  <a:pt x="208" y="101"/>
                  <a:pt x="208" y="101"/>
                </a:cubicBezTo>
                <a:cubicBezTo>
                  <a:pt x="221" y="90"/>
                  <a:pt x="221" y="90"/>
                  <a:pt x="221" y="90"/>
                </a:cubicBezTo>
                <a:cubicBezTo>
                  <a:pt x="195" y="44"/>
                  <a:pt x="195" y="44"/>
                  <a:pt x="195" y="44"/>
                </a:cubicBezTo>
                <a:cubicBezTo>
                  <a:pt x="135" y="41"/>
                  <a:pt x="135" y="41"/>
                  <a:pt x="135" y="41"/>
                </a:cubicBezTo>
                <a:cubicBezTo>
                  <a:pt x="90" y="48"/>
                  <a:pt x="90" y="48"/>
                  <a:pt x="90" y="48"/>
                </a:cubicBezTo>
                <a:cubicBezTo>
                  <a:pt x="85" y="46"/>
                  <a:pt x="85" y="46"/>
                  <a:pt x="85" y="46"/>
                </a:cubicBezTo>
                <a:cubicBezTo>
                  <a:pt x="69" y="76"/>
                  <a:pt x="69" y="76"/>
                  <a:pt x="69" y="76"/>
                </a:cubicBezTo>
                <a:cubicBezTo>
                  <a:pt x="64" y="74"/>
                  <a:pt x="64" y="74"/>
                  <a:pt x="64" y="74"/>
                </a:cubicBezTo>
                <a:cubicBezTo>
                  <a:pt x="75" y="38"/>
                  <a:pt x="75" y="38"/>
                  <a:pt x="75" y="38"/>
                </a:cubicBezTo>
                <a:cubicBezTo>
                  <a:pt x="80" y="18"/>
                  <a:pt x="80" y="18"/>
                  <a:pt x="80" y="18"/>
                </a:cubicBezTo>
                <a:close/>
                <a:moveTo>
                  <a:pt x="280" y="0"/>
                </a:moveTo>
                <a:cubicBezTo>
                  <a:pt x="243" y="30"/>
                  <a:pt x="243" y="30"/>
                  <a:pt x="243" y="30"/>
                </a:cubicBezTo>
                <a:cubicBezTo>
                  <a:pt x="249" y="38"/>
                  <a:pt x="249" y="38"/>
                  <a:pt x="249" y="38"/>
                </a:cubicBezTo>
                <a:cubicBezTo>
                  <a:pt x="249" y="38"/>
                  <a:pt x="249" y="38"/>
                  <a:pt x="249" y="38"/>
                </a:cubicBezTo>
                <a:cubicBezTo>
                  <a:pt x="279" y="75"/>
                  <a:pt x="279" y="75"/>
                  <a:pt x="279" y="75"/>
                </a:cubicBezTo>
                <a:cubicBezTo>
                  <a:pt x="274" y="79"/>
                  <a:pt x="274" y="79"/>
                  <a:pt x="274" y="79"/>
                </a:cubicBezTo>
                <a:cubicBezTo>
                  <a:pt x="233" y="42"/>
                  <a:pt x="233" y="42"/>
                  <a:pt x="233" y="42"/>
                </a:cubicBezTo>
                <a:cubicBezTo>
                  <a:pt x="226" y="44"/>
                  <a:pt x="219" y="48"/>
                  <a:pt x="210" y="52"/>
                </a:cubicBezTo>
                <a:cubicBezTo>
                  <a:pt x="234" y="89"/>
                  <a:pt x="234" y="89"/>
                  <a:pt x="234" y="89"/>
                </a:cubicBezTo>
                <a:cubicBezTo>
                  <a:pt x="210" y="109"/>
                  <a:pt x="210" y="109"/>
                  <a:pt x="210" y="109"/>
                </a:cubicBezTo>
                <a:cubicBezTo>
                  <a:pt x="167" y="85"/>
                  <a:pt x="167" y="85"/>
                  <a:pt x="167" y="85"/>
                </a:cubicBezTo>
                <a:cubicBezTo>
                  <a:pt x="151" y="90"/>
                  <a:pt x="151" y="90"/>
                  <a:pt x="151" y="90"/>
                </a:cubicBezTo>
                <a:cubicBezTo>
                  <a:pt x="121" y="112"/>
                  <a:pt x="92" y="137"/>
                  <a:pt x="69" y="160"/>
                </a:cubicBezTo>
                <a:cubicBezTo>
                  <a:pt x="71" y="170"/>
                  <a:pt x="78" y="177"/>
                  <a:pt x="90" y="181"/>
                </a:cubicBezTo>
                <a:cubicBezTo>
                  <a:pt x="103" y="169"/>
                  <a:pt x="127" y="150"/>
                  <a:pt x="141" y="139"/>
                </a:cubicBezTo>
                <a:cubicBezTo>
                  <a:pt x="143" y="145"/>
                  <a:pt x="143" y="145"/>
                  <a:pt x="143" y="145"/>
                </a:cubicBezTo>
                <a:cubicBezTo>
                  <a:pt x="129" y="158"/>
                  <a:pt x="108" y="175"/>
                  <a:pt x="96" y="192"/>
                </a:cubicBezTo>
                <a:cubicBezTo>
                  <a:pt x="118" y="210"/>
                  <a:pt x="118" y="210"/>
                  <a:pt x="118" y="210"/>
                </a:cubicBezTo>
                <a:cubicBezTo>
                  <a:pt x="128" y="207"/>
                  <a:pt x="143" y="192"/>
                  <a:pt x="158" y="178"/>
                </a:cubicBezTo>
                <a:cubicBezTo>
                  <a:pt x="161" y="181"/>
                  <a:pt x="161" y="181"/>
                  <a:pt x="161" y="181"/>
                </a:cubicBezTo>
                <a:cubicBezTo>
                  <a:pt x="157" y="187"/>
                  <a:pt x="140" y="206"/>
                  <a:pt x="139" y="214"/>
                </a:cubicBezTo>
                <a:cubicBezTo>
                  <a:pt x="145" y="217"/>
                  <a:pt x="152" y="221"/>
                  <a:pt x="158" y="225"/>
                </a:cubicBezTo>
                <a:cubicBezTo>
                  <a:pt x="167" y="219"/>
                  <a:pt x="186" y="201"/>
                  <a:pt x="193" y="193"/>
                </a:cubicBezTo>
                <a:cubicBezTo>
                  <a:pt x="196" y="195"/>
                  <a:pt x="196" y="195"/>
                  <a:pt x="196" y="195"/>
                </a:cubicBezTo>
                <a:cubicBezTo>
                  <a:pt x="194" y="199"/>
                  <a:pt x="186" y="211"/>
                  <a:pt x="185" y="222"/>
                </a:cubicBezTo>
                <a:cubicBezTo>
                  <a:pt x="191" y="226"/>
                  <a:pt x="198" y="230"/>
                  <a:pt x="204" y="234"/>
                </a:cubicBezTo>
                <a:cubicBezTo>
                  <a:pt x="211" y="229"/>
                  <a:pt x="218" y="223"/>
                  <a:pt x="223" y="217"/>
                </a:cubicBezTo>
                <a:cubicBezTo>
                  <a:pt x="227" y="213"/>
                  <a:pt x="227" y="213"/>
                  <a:pt x="227" y="213"/>
                </a:cubicBezTo>
                <a:cubicBezTo>
                  <a:pt x="212" y="188"/>
                  <a:pt x="212" y="188"/>
                  <a:pt x="212" y="188"/>
                </a:cubicBezTo>
                <a:cubicBezTo>
                  <a:pt x="217" y="169"/>
                  <a:pt x="240" y="147"/>
                  <a:pt x="258" y="139"/>
                </a:cubicBezTo>
                <a:cubicBezTo>
                  <a:pt x="285" y="144"/>
                  <a:pt x="285" y="144"/>
                  <a:pt x="285" y="144"/>
                </a:cubicBezTo>
                <a:cubicBezTo>
                  <a:pt x="310" y="114"/>
                  <a:pt x="310" y="114"/>
                  <a:pt x="310" y="114"/>
                </a:cubicBezTo>
                <a:cubicBezTo>
                  <a:pt x="320" y="126"/>
                  <a:pt x="320" y="126"/>
                  <a:pt x="320" y="126"/>
                </a:cubicBezTo>
                <a:cubicBezTo>
                  <a:pt x="357" y="96"/>
                  <a:pt x="357" y="96"/>
                  <a:pt x="357" y="96"/>
                </a:cubicBezTo>
                <a:cubicBezTo>
                  <a:pt x="280" y="0"/>
                  <a:pt x="280" y="0"/>
                  <a:pt x="280" y="0"/>
                </a:cubicBezTo>
                <a:close/>
                <a:moveTo>
                  <a:pt x="291" y="151"/>
                </a:moveTo>
                <a:cubicBezTo>
                  <a:pt x="260" y="146"/>
                  <a:pt x="260" y="146"/>
                  <a:pt x="260" y="146"/>
                </a:cubicBezTo>
                <a:cubicBezTo>
                  <a:pt x="253" y="155"/>
                  <a:pt x="253" y="155"/>
                  <a:pt x="253" y="155"/>
                </a:cubicBezTo>
                <a:cubicBezTo>
                  <a:pt x="279" y="172"/>
                  <a:pt x="279" y="172"/>
                  <a:pt x="279" y="172"/>
                </a:cubicBezTo>
                <a:cubicBezTo>
                  <a:pt x="283" y="165"/>
                  <a:pt x="287" y="158"/>
                  <a:pt x="291" y="151"/>
                </a:cubicBezTo>
                <a:close/>
                <a:moveTo>
                  <a:pt x="236" y="218"/>
                </a:moveTo>
                <a:cubicBezTo>
                  <a:pt x="242" y="213"/>
                  <a:pt x="248" y="207"/>
                  <a:pt x="254" y="201"/>
                </a:cubicBezTo>
                <a:cubicBezTo>
                  <a:pt x="229" y="183"/>
                  <a:pt x="229" y="183"/>
                  <a:pt x="229" y="183"/>
                </a:cubicBezTo>
                <a:cubicBezTo>
                  <a:pt x="220" y="190"/>
                  <a:pt x="220" y="190"/>
                  <a:pt x="220" y="190"/>
                </a:cubicBezTo>
                <a:lnTo>
                  <a:pt x="236" y="218"/>
                </a:lnTo>
                <a:close/>
              </a:path>
            </a:pathLst>
          </a:custGeom>
          <a:solidFill>
            <a:sysClr val="window" lastClr="FFFFFF"/>
          </a:solidFill>
          <a:ln>
            <a:noFill/>
          </a:ln>
        </p:spPr>
        <p:txBody>
          <a:bodyPr vert="horz" wrap="square" lIns="121888" tIns="60944" rIns="121888" bIns="60944" numCol="1" anchor="t" anchorCtr="0" compatLnSpc="1"/>
          <a:lstStyle/>
          <a:p>
            <a:pPr defTabSz="1218565">
              <a:defRPr/>
            </a:pPr>
            <a:endParaRPr lang="zh-CN" altLang="en-US" sz="2400" kern="0">
              <a:solidFill>
                <a:sysClr val="windowText" lastClr="000000"/>
              </a:solidFill>
            </a:endParaRPr>
          </a:p>
        </p:txBody>
      </p:sp>
      <p:sp>
        <p:nvSpPr>
          <p:cNvPr id="50" name="TextBox 49"/>
          <p:cNvSpPr txBox="1"/>
          <p:nvPr/>
        </p:nvSpPr>
        <p:spPr>
          <a:xfrm>
            <a:off x="3151202" y="5631247"/>
            <a:ext cx="852170" cy="489585"/>
          </a:xfrm>
          <a:prstGeom prst="rect">
            <a:avLst/>
          </a:prstGeom>
          <a:noFill/>
        </p:spPr>
        <p:txBody>
          <a:bodyPr wrap="none" lIns="121888" tIns="60944" rIns="121888" bIns="60944" rtlCol="0">
            <a:spAutoFit/>
          </a:bodyPr>
          <a:lstStyle/>
          <a:p>
            <a:pPr algn="ctr" fontAlgn="base">
              <a:spcBef>
                <a:spcPct val="0"/>
              </a:spcBef>
              <a:spcAft>
                <a:spcPct val="0"/>
              </a:spcAft>
            </a:pPr>
            <a:r>
              <a:rPr lang="zh-CN" altLang="en-US" sz="2400" dirty="0">
                <a:solidFill>
                  <a:prstClr val="white"/>
                </a:solidFill>
                <a:latin typeface="Impact" panose="020B0806030902050204" pitchFamily="34" charset="0"/>
              </a:rPr>
              <a:t>标题</a:t>
            </a:r>
            <a:endParaRPr lang="zh-CN" altLang="en-US" sz="2400" dirty="0">
              <a:solidFill>
                <a:prstClr val="white"/>
              </a:solidFill>
              <a:latin typeface="Impact" panose="020B0806030902050204" pitchFamily="34" charset="0"/>
            </a:endParaRPr>
          </a:p>
        </p:txBody>
      </p:sp>
      <p:sp>
        <p:nvSpPr>
          <p:cNvPr id="2" name="标题 1"/>
          <p:cNvSpPr>
            <a:spLocks noGrp="1"/>
          </p:cNvSpPr>
          <p:nvPr>
            <p:ph type="title"/>
          </p:nvPr>
        </p:nvSpPr>
        <p:spPr>
          <a:xfrm>
            <a:off x="857885" y="277495"/>
            <a:ext cx="10515600" cy="594995"/>
          </a:xfrm>
        </p:spPr>
        <p:txBody>
          <a:bodyPr>
            <a:normAutofit fontScale="90000"/>
          </a:bodyPr>
          <a:lstStyle/>
          <a:p>
            <a:r>
              <a:rPr lang="zh-CN" altLang="en-US" dirty="0"/>
              <a:t>爆款驱动模型</a:t>
            </a:r>
            <a:endParaRPr lang="zh-CN" altLang="en-US" dirty="0"/>
          </a:p>
        </p:txBody>
      </p:sp>
      <p:sp>
        <p:nvSpPr>
          <p:cNvPr id="3" name="矩形 2"/>
          <p:cNvSpPr/>
          <p:nvPr/>
        </p:nvSpPr>
        <p:spPr>
          <a:xfrm rot="1620000">
            <a:off x="7947978"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4" name="流程图: 可选过程 3"/>
          <p:cNvSpPr/>
          <p:nvPr/>
        </p:nvSpPr>
        <p:spPr>
          <a:xfrm>
            <a:off x="515303" y="192405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2">
                    <a:lumMod val="20000"/>
                    <a:lumOff val="80000"/>
                  </a:schemeClr>
                </a:solidFill>
                <a:latin typeface="宋体" panose="02010600030101010101" pitchFamily="2" charset="-122"/>
                <a:ea typeface="宋体" panose="02010600030101010101" pitchFamily="2" charset="-122"/>
              </a:rPr>
              <a:t>市场调研</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a:p>
            <a:pPr algn="ctr"/>
            <a:r>
              <a:rPr lang="zh-CN" altLang="en-US" sz="1200">
                <a:solidFill>
                  <a:schemeClr val="tx2">
                    <a:lumMod val="20000"/>
                    <a:lumOff val="80000"/>
                  </a:schemeClr>
                </a:solidFill>
                <a:latin typeface="宋体" panose="02010600030101010101" pitchFamily="2" charset="-122"/>
                <a:ea typeface="宋体" panose="02010600030101010101" pitchFamily="2" charset="-122"/>
              </a:rPr>
              <a:t>数据分析</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p:txBody>
      </p:sp>
      <p:sp>
        <p:nvSpPr>
          <p:cNvPr id="6" name="流程图: 可选过程 5"/>
          <p:cNvSpPr/>
          <p:nvPr/>
        </p:nvSpPr>
        <p:spPr>
          <a:xfrm>
            <a:off x="515303" y="123444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rPr>
              <a:t>选品</a:t>
            </a:r>
            <a:endParaRPr lang="zh-CN" altLang="en-US" sz="1400" b="1">
              <a:latin typeface="宋体" panose="02010600030101010101" pitchFamily="2" charset="-122"/>
              <a:ea typeface="宋体" panose="02010600030101010101" pitchFamily="2" charset="-122"/>
            </a:endParaRPr>
          </a:p>
        </p:txBody>
      </p:sp>
      <p:sp>
        <p:nvSpPr>
          <p:cNvPr id="7" name="流程图: 可选过程 6"/>
          <p:cNvSpPr/>
          <p:nvPr/>
        </p:nvSpPr>
        <p:spPr>
          <a:xfrm>
            <a:off x="2265363" y="123444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rPr>
              <a:t>拿样测试</a:t>
            </a:r>
            <a:endParaRPr lang="zh-CN" altLang="en-US" sz="1400" b="1">
              <a:latin typeface="宋体" panose="02010600030101010101" pitchFamily="2" charset="-122"/>
              <a:ea typeface="宋体" panose="02010600030101010101" pitchFamily="2" charset="-122"/>
            </a:endParaRPr>
          </a:p>
          <a:p>
            <a:pPr algn="ctr"/>
            <a:r>
              <a:rPr lang="zh-CN" altLang="en-US" sz="1400" b="1">
                <a:latin typeface="宋体" panose="02010600030101010101" pitchFamily="2" charset="-122"/>
                <a:ea typeface="宋体" panose="02010600030101010101" pitchFamily="2" charset="-122"/>
              </a:rPr>
              <a:t>质检</a:t>
            </a:r>
            <a:r>
              <a:rPr lang="en-US" altLang="zh-CN" sz="1400" b="1">
                <a:latin typeface="宋体" panose="02010600030101010101" pitchFamily="2" charset="-122"/>
                <a:ea typeface="宋体" panose="02010600030101010101" pitchFamily="2" charset="-122"/>
              </a:rPr>
              <a:t>SOP</a:t>
            </a:r>
            <a:endParaRPr lang="en-US" altLang="zh-CN" sz="1400" b="1">
              <a:latin typeface="宋体" panose="02010600030101010101" pitchFamily="2" charset="-122"/>
              <a:ea typeface="宋体" panose="02010600030101010101" pitchFamily="2" charset="-122"/>
            </a:endParaRPr>
          </a:p>
        </p:txBody>
      </p:sp>
      <p:cxnSp>
        <p:nvCxnSpPr>
          <p:cNvPr id="9" name="直接箭头连接符 8"/>
          <p:cNvCxnSpPr/>
          <p:nvPr/>
        </p:nvCxnSpPr>
        <p:spPr>
          <a:xfrm flipH="1">
            <a:off x="1055688" y="1645285"/>
            <a:ext cx="5715" cy="2717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右箭头 9"/>
          <p:cNvSpPr/>
          <p:nvPr/>
        </p:nvSpPr>
        <p:spPr>
          <a:xfrm>
            <a:off x="1603693" y="1352550"/>
            <a:ext cx="661670" cy="1765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右箭头 10"/>
          <p:cNvSpPr/>
          <p:nvPr/>
        </p:nvSpPr>
        <p:spPr>
          <a:xfrm>
            <a:off x="3353753" y="1339215"/>
            <a:ext cx="661670" cy="1765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右箭头 11"/>
          <p:cNvSpPr/>
          <p:nvPr/>
        </p:nvSpPr>
        <p:spPr>
          <a:xfrm>
            <a:off x="5103813" y="1339215"/>
            <a:ext cx="661670" cy="1765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右箭头 12"/>
          <p:cNvSpPr/>
          <p:nvPr/>
        </p:nvSpPr>
        <p:spPr>
          <a:xfrm>
            <a:off x="6853873" y="1339215"/>
            <a:ext cx="661670" cy="1765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流程图: 可选过程 13"/>
          <p:cNvSpPr/>
          <p:nvPr/>
        </p:nvSpPr>
        <p:spPr>
          <a:xfrm>
            <a:off x="4015423" y="1221105"/>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rPr>
              <a:t>预测目标销量</a:t>
            </a:r>
            <a:endParaRPr lang="zh-CN" altLang="en-US" sz="1400" b="1">
              <a:latin typeface="宋体" panose="02010600030101010101" pitchFamily="2" charset="-122"/>
              <a:ea typeface="宋体" panose="02010600030101010101" pitchFamily="2" charset="-122"/>
            </a:endParaRPr>
          </a:p>
        </p:txBody>
      </p:sp>
      <p:sp>
        <p:nvSpPr>
          <p:cNvPr id="15" name="流程图: 可选过程 14"/>
          <p:cNvSpPr/>
          <p:nvPr/>
        </p:nvSpPr>
        <p:spPr>
          <a:xfrm>
            <a:off x="5765483" y="123444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rPr>
              <a:t>预估评论需求</a:t>
            </a:r>
            <a:endParaRPr lang="zh-CN" altLang="en-US" sz="1400" b="1">
              <a:latin typeface="宋体" panose="02010600030101010101" pitchFamily="2" charset="-122"/>
              <a:ea typeface="宋体" panose="02010600030101010101" pitchFamily="2" charset="-122"/>
            </a:endParaRPr>
          </a:p>
        </p:txBody>
      </p:sp>
      <p:sp>
        <p:nvSpPr>
          <p:cNvPr id="16" name="流程图: 可选过程 15"/>
          <p:cNvSpPr/>
          <p:nvPr/>
        </p:nvSpPr>
        <p:spPr>
          <a:xfrm>
            <a:off x="7515543" y="123444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sym typeface="+mn-ea"/>
              </a:rPr>
              <a:t>确认采购数量</a:t>
            </a:r>
            <a:endParaRPr lang="zh-CN" altLang="en-US" sz="1400">
              <a:latin typeface="宋体" panose="02010600030101010101" pitchFamily="2" charset="-122"/>
              <a:ea typeface="宋体" panose="02010600030101010101" pitchFamily="2" charset="-122"/>
            </a:endParaRPr>
          </a:p>
        </p:txBody>
      </p:sp>
      <p:sp>
        <p:nvSpPr>
          <p:cNvPr id="17" name="流程图: 可选过程 16"/>
          <p:cNvSpPr/>
          <p:nvPr/>
        </p:nvSpPr>
        <p:spPr>
          <a:xfrm>
            <a:off x="9279573" y="1221105"/>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sym typeface="+mn-ea"/>
              </a:rPr>
              <a:t>图片拍摄</a:t>
            </a:r>
            <a:endParaRPr lang="zh-CN" altLang="en-US" sz="1400" b="1">
              <a:latin typeface="宋体" panose="02010600030101010101" pitchFamily="2" charset="-122"/>
              <a:ea typeface="宋体" panose="02010600030101010101" pitchFamily="2" charset="-122"/>
            </a:endParaRPr>
          </a:p>
        </p:txBody>
      </p:sp>
      <p:sp>
        <p:nvSpPr>
          <p:cNvPr id="18" name="流程图: 可选过程 17"/>
          <p:cNvSpPr/>
          <p:nvPr/>
        </p:nvSpPr>
        <p:spPr>
          <a:xfrm>
            <a:off x="9279573" y="233680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400" b="1">
              <a:latin typeface="宋体" panose="02010600030101010101" pitchFamily="2" charset="-122"/>
              <a:ea typeface="宋体" panose="02010600030101010101" pitchFamily="2" charset="-122"/>
            </a:endParaRPr>
          </a:p>
          <a:p>
            <a:pPr algn="ctr"/>
            <a:r>
              <a:rPr lang="en-US" altLang="zh-CN" sz="1400" b="1">
                <a:latin typeface="宋体" panose="02010600030101010101" pitchFamily="2" charset="-122"/>
                <a:ea typeface="宋体" panose="02010600030101010101" pitchFamily="2" charset="-122"/>
              </a:rPr>
              <a:t>Listing</a:t>
            </a:r>
            <a:r>
              <a:rPr lang="zh-CN" altLang="en-US" sz="1400" b="1">
                <a:latin typeface="宋体" panose="02010600030101010101" pitchFamily="2" charset="-122"/>
                <a:ea typeface="宋体" panose="02010600030101010101" pitchFamily="2" charset="-122"/>
              </a:rPr>
              <a:t>构建产品上架</a:t>
            </a:r>
            <a:endParaRPr lang="zh-CN" altLang="en-US" sz="1400" b="1">
              <a:latin typeface="宋体" panose="02010600030101010101" pitchFamily="2" charset="-122"/>
              <a:ea typeface="宋体" panose="02010600030101010101" pitchFamily="2" charset="-122"/>
            </a:endParaRPr>
          </a:p>
        </p:txBody>
      </p:sp>
      <p:sp>
        <p:nvSpPr>
          <p:cNvPr id="19" name="流程图: 可选过程 18"/>
          <p:cNvSpPr/>
          <p:nvPr/>
        </p:nvSpPr>
        <p:spPr>
          <a:xfrm>
            <a:off x="9280208" y="3423285"/>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rPr>
              <a:t>交期催货</a:t>
            </a:r>
            <a:endParaRPr lang="zh-CN" altLang="en-US" sz="1400" b="1">
              <a:latin typeface="宋体" panose="02010600030101010101" pitchFamily="2" charset="-122"/>
              <a:ea typeface="宋体" panose="02010600030101010101" pitchFamily="2" charset="-122"/>
            </a:endParaRPr>
          </a:p>
        </p:txBody>
      </p:sp>
      <p:sp>
        <p:nvSpPr>
          <p:cNvPr id="20" name="流程图: 可选过程 19"/>
          <p:cNvSpPr/>
          <p:nvPr/>
        </p:nvSpPr>
        <p:spPr>
          <a:xfrm>
            <a:off x="9280843" y="4525645"/>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b="1">
                <a:latin typeface="宋体" panose="02010600030101010101" pitchFamily="2" charset="-122"/>
                <a:ea typeface="宋体" panose="02010600030101010101" pitchFamily="2" charset="-122"/>
                <a:sym typeface="+mn-ea"/>
              </a:rPr>
              <a:t>FBA</a:t>
            </a:r>
            <a:r>
              <a:rPr lang="zh-CN" altLang="en-US" sz="1400" b="1">
                <a:latin typeface="宋体" panose="02010600030101010101" pitchFamily="2" charset="-122"/>
                <a:ea typeface="宋体" panose="02010600030101010101" pitchFamily="2" charset="-122"/>
                <a:sym typeface="+mn-ea"/>
              </a:rPr>
              <a:t>到货</a:t>
            </a:r>
            <a:endParaRPr lang="zh-CN" altLang="en-US" sz="1400" b="1">
              <a:latin typeface="宋体" panose="02010600030101010101" pitchFamily="2" charset="-122"/>
              <a:ea typeface="宋体" panose="02010600030101010101" pitchFamily="2" charset="-122"/>
            </a:endParaRPr>
          </a:p>
        </p:txBody>
      </p:sp>
      <p:sp>
        <p:nvSpPr>
          <p:cNvPr id="21" name="右箭头 20"/>
          <p:cNvSpPr/>
          <p:nvPr/>
        </p:nvSpPr>
        <p:spPr>
          <a:xfrm>
            <a:off x="8603933" y="1339215"/>
            <a:ext cx="661670" cy="1765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 name="下箭头 21"/>
          <p:cNvSpPr/>
          <p:nvPr/>
        </p:nvSpPr>
        <p:spPr>
          <a:xfrm>
            <a:off x="9720263" y="1663065"/>
            <a:ext cx="206375" cy="6737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下箭头 23"/>
          <p:cNvSpPr/>
          <p:nvPr/>
        </p:nvSpPr>
        <p:spPr>
          <a:xfrm>
            <a:off x="9720898" y="2749550"/>
            <a:ext cx="206375" cy="6737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下箭头 24"/>
          <p:cNvSpPr/>
          <p:nvPr/>
        </p:nvSpPr>
        <p:spPr>
          <a:xfrm>
            <a:off x="9721533" y="3851910"/>
            <a:ext cx="206375" cy="6737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3" name="流程图: 可选过程 62"/>
          <p:cNvSpPr/>
          <p:nvPr/>
        </p:nvSpPr>
        <p:spPr>
          <a:xfrm>
            <a:off x="2265363" y="1934845"/>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2">
                    <a:lumMod val="20000"/>
                    <a:lumOff val="80000"/>
                  </a:schemeClr>
                </a:solidFill>
                <a:latin typeface="宋体" panose="02010600030101010101" pitchFamily="2" charset="-122"/>
                <a:ea typeface="宋体" panose="02010600030101010101" pitchFamily="2" charset="-122"/>
              </a:rPr>
              <a:t>详细的检测标准</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p:txBody>
      </p:sp>
      <p:sp>
        <p:nvSpPr>
          <p:cNvPr id="64" name="流程图: 可选过程 63"/>
          <p:cNvSpPr/>
          <p:nvPr/>
        </p:nvSpPr>
        <p:spPr>
          <a:xfrm>
            <a:off x="4015423" y="1905635"/>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2">
                    <a:lumMod val="20000"/>
                    <a:lumOff val="80000"/>
                  </a:schemeClr>
                </a:solidFill>
                <a:latin typeface="宋体" panose="02010600030101010101" pitchFamily="2" charset="-122"/>
                <a:ea typeface="宋体" panose="02010600030101010101" pitchFamily="2" charset="-122"/>
              </a:rPr>
              <a:t>调拨</a:t>
            </a:r>
            <a:r>
              <a:rPr lang="en-US" altLang="zh-CN" sz="1200">
                <a:solidFill>
                  <a:schemeClr val="tx2">
                    <a:lumMod val="20000"/>
                    <a:lumOff val="80000"/>
                  </a:schemeClr>
                </a:solidFill>
                <a:latin typeface="宋体" panose="02010600030101010101" pitchFamily="2" charset="-122"/>
                <a:ea typeface="宋体" panose="02010600030101010101" pitchFamily="2" charset="-122"/>
              </a:rPr>
              <a:t>FBA</a:t>
            </a:r>
            <a:endParaRPr lang="en-US" altLang="zh-CN" sz="1200">
              <a:solidFill>
                <a:schemeClr val="tx2">
                  <a:lumMod val="20000"/>
                  <a:lumOff val="80000"/>
                </a:schemeClr>
              </a:solidFill>
              <a:latin typeface="宋体" panose="02010600030101010101" pitchFamily="2" charset="-122"/>
              <a:ea typeface="宋体" panose="02010600030101010101" pitchFamily="2" charset="-122"/>
            </a:endParaRPr>
          </a:p>
          <a:p>
            <a:pPr algn="ctr"/>
            <a:r>
              <a:rPr lang="zh-CN" altLang="en-US" sz="1200">
                <a:solidFill>
                  <a:schemeClr val="tx2">
                    <a:lumMod val="20000"/>
                    <a:lumOff val="80000"/>
                  </a:schemeClr>
                </a:solidFill>
                <a:latin typeface="宋体" panose="02010600030101010101" pitchFamily="2" charset="-122"/>
                <a:ea typeface="宋体" panose="02010600030101010101" pitchFamily="2" charset="-122"/>
              </a:rPr>
              <a:t>数量</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p:txBody>
      </p:sp>
      <p:sp>
        <p:nvSpPr>
          <p:cNvPr id="65" name="流程图: 可选过程 64"/>
          <p:cNvSpPr/>
          <p:nvPr/>
        </p:nvSpPr>
        <p:spPr>
          <a:xfrm>
            <a:off x="5766118" y="1934845"/>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200">
                <a:solidFill>
                  <a:schemeClr val="tx2">
                    <a:lumMod val="20000"/>
                    <a:lumOff val="80000"/>
                  </a:schemeClr>
                </a:solidFill>
                <a:latin typeface="宋体" panose="02010600030101010101" pitchFamily="2" charset="-122"/>
                <a:ea typeface="宋体" panose="02010600030101010101" pitchFamily="2" charset="-122"/>
              </a:rPr>
              <a:t>Review</a:t>
            </a:r>
            <a:r>
              <a:rPr lang="zh-CN" altLang="en-US" sz="1200">
                <a:solidFill>
                  <a:schemeClr val="tx2">
                    <a:lumMod val="20000"/>
                    <a:lumOff val="80000"/>
                  </a:schemeClr>
                </a:solidFill>
                <a:latin typeface="宋体" panose="02010600030101010101" pitchFamily="2" charset="-122"/>
                <a:ea typeface="宋体" panose="02010600030101010101" pitchFamily="2" charset="-122"/>
              </a:rPr>
              <a:t>回评率判断</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p:txBody>
      </p:sp>
      <p:sp>
        <p:nvSpPr>
          <p:cNvPr id="66" name="流程图: 可选过程 65"/>
          <p:cNvSpPr/>
          <p:nvPr/>
        </p:nvSpPr>
        <p:spPr>
          <a:xfrm>
            <a:off x="7515543" y="192405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2">
                    <a:lumMod val="20000"/>
                    <a:lumOff val="80000"/>
                  </a:schemeClr>
                </a:solidFill>
                <a:latin typeface="宋体" panose="02010600030101010101" pitchFamily="2" charset="-122"/>
                <a:ea typeface="宋体" panose="02010600030101010101" pitchFamily="2" charset="-122"/>
              </a:rPr>
              <a:t>成本 重量</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p:txBody>
      </p:sp>
      <p:sp>
        <p:nvSpPr>
          <p:cNvPr id="67" name="流程图: 可选过程 66"/>
          <p:cNvSpPr/>
          <p:nvPr/>
        </p:nvSpPr>
        <p:spPr>
          <a:xfrm>
            <a:off x="9280843" y="563118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rPr>
              <a:t>投放</a:t>
            </a:r>
            <a:r>
              <a:rPr lang="en-US" altLang="zh-CN" sz="1400" b="1">
                <a:latin typeface="宋体" panose="02010600030101010101" pitchFamily="2" charset="-122"/>
                <a:ea typeface="宋体" panose="02010600030101010101" pitchFamily="2" charset="-122"/>
              </a:rPr>
              <a:t>CPC</a:t>
            </a:r>
            <a:endParaRPr lang="en-US" altLang="zh-CN" sz="1400" b="1">
              <a:latin typeface="宋体" panose="02010600030101010101" pitchFamily="2" charset="-122"/>
              <a:ea typeface="宋体" panose="02010600030101010101" pitchFamily="2" charset="-122"/>
            </a:endParaRPr>
          </a:p>
          <a:p>
            <a:pPr algn="ctr"/>
            <a:r>
              <a:rPr lang="zh-CN" altLang="en-US" sz="1400" b="1">
                <a:latin typeface="宋体" panose="02010600030101010101" pitchFamily="2" charset="-122"/>
                <a:ea typeface="宋体" panose="02010600030101010101" pitchFamily="2" charset="-122"/>
              </a:rPr>
              <a:t>自动 手动</a:t>
            </a:r>
            <a:endParaRPr lang="zh-CN" altLang="en-US" sz="1400" b="1">
              <a:latin typeface="宋体" panose="02010600030101010101" pitchFamily="2" charset="-122"/>
              <a:ea typeface="宋体" panose="02010600030101010101" pitchFamily="2" charset="-122"/>
            </a:endParaRPr>
          </a:p>
        </p:txBody>
      </p:sp>
      <p:sp>
        <p:nvSpPr>
          <p:cNvPr id="68" name="下箭头 67"/>
          <p:cNvSpPr/>
          <p:nvPr/>
        </p:nvSpPr>
        <p:spPr>
          <a:xfrm>
            <a:off x="9720263" y="4938395"/>
            <a:ext cx="206375" cy="6737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69" name="直接箭头连接符 68"/>
          <p:cNvCxnSpPr/>
          <p:nvPr/>
        </p:nvCxnSpPr>
        <p:spPr>
          <a:xfrm>
            <a:off x="9875203" y="4431030"/>
            <a:ext cx="561975" cy="114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1" name="流程图: 可选过程 70"/>
          <p:cNvSpPr/>
          <p:nvPr/>
        </p:nvSpPr>
        <p:spPr>
          <a:xfrm>
            <a:off x="10437178" y="423037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200">
                <a:solidFill>
                  <a:schemeClr val="tx2">
                    <a:lumMod val="20000"/>
                    <a:lumOff val="80000"/>
                  </a:schemeClr>
                </a:solidFill>
                <a:latin typeface="宋体" panose="02010600030101010101" pitchFamily="2" charset="-122"/>
                <a:ea typeface="宋体" panose="02010600030101010101" pitchFamily="2" charset="-122"/>
              </a:rPr>
              <a:t>FBA</a:t>
            </a:r>
            <a:r>
              <a:rPr lang="zh-CN" altLang="en-US" sz="1200">
                <a:solidFill>
                  <a:schemeClr val="tx2">
                    <a:lumMod val="20000"/>
                    <a:lumOff val="80000"/>
                  </a:schemeClr>
                </a:solidFill>
                <a:latin typeface="宋体" panose="02010600030101010101" pitchFamily="2" charset="-122"/>
                <a:ea typeface="宋体" panose="02010600030101010101" pitchFamily="2" charset="-122"/>
              </a:rPr>
              <a:t>物流跟进</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p:txBody>
      </p:sp>
      <p:sp>
        <p:nvSpPr>
          <p:cNvPr id="72" name="左箭头 71"/>
          <p:cNvSpPr/>
          <p:nvPr/>
        </p:nvSpPr>
        <p:spPr>
          <a:xfrm>
            <a:off x="8588693" y="5777865"/>
            <a:ext cx="676910" cy="21209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3" name="流程图: 可选过程 72"/>
          <p:cNvSpPr/>
          <p:nvPr/>
        </p:nvSpPr>
        <p:spPr>
          <a:xfrm>
            <a:off x="7500303" y="566928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rPr>
              <a:t>刷单</a:t>
            </a:r>
            <a:endParaRPr lang="zh-CN" altLang="en-US" sz="1400" b="1">
              <a:latin typeface="宋体" panose="02010600030101010101" pitchFamily="2" charset="-122"/>
              <a:ea typeface="宋体" panose="02010600030101010101" pitchFamily="2" charset="-122"/>
            </a:endParaRPr>
          </a:p>
          <a:p>
            <a:pPr algn="ctr"/>
            <a:r>
              <a:rPr lang="zh-CN" altLang="en-US" sz="1400" b="1">
                <a:latin typeface="宋体" panose="02010600030101010101" pitchFamily="2" charset="-122"/>
                <a:ea typeface="宋体" panose="02010600030101010101" pitchFamily="2" charset="-122"/>
              </a:rPr>
              <a:t>促销送样</a:t>
            </a:r>
            <a:endParaRPr lang="zh-CN" altLang="en-US" sz="1400" b="1">
              <a:latin typeface="宋体" panose="02010600030101010101" pitchFamily="2" charset="-122"/>
              <a:ea typeface="宋体" panose="02010600030101010101" pitchFamily="2" charset="-122"/>
            </a:endParaRPr>
          </a:p>
        </p:txBody>
      </p:sp>
      <p:sp>
        <p:nvSpPr>
          <p:cNvPr id="74" name="左箭头 73"/>
          <p:cNvSpPr/>
          <p:nvPr/>
        </p:nvSpPr>
        <p:spPr>
          <a:xfrm>
            <a:off x="6823393" y="5777865"/>
            <a:ext cx="676910" cy="21209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5" name="流程图: 可选过程 74"/>
          <p:cNvSpPr/>
          <p:nvPr/>
        </p:nvSpPr>
        <p:spPr>
          <a:xfrm>
            <a:off x="5735003" y="5677535"/>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rPr>
              <a:t>到货一周回评</a:t>
            </a:r>
            <a:r>
              <a:rPr lang="en-US" altLang="zh-CN" sz="1400" b="1">
                <a:latin typeface="宋体" panose="02010600030101010101" pitchFamily="2" charset="-122"/>
                <a:ea typeface="宋体" panose="02010600030101010101" pitchFamily="2" charset="-122"/>
              </a:rPr>
              <a:t>10</a:t>
            </a:r>
            <a:r>
              <a:rPr lang="zh-CN" altLang="en-US" sz="1400" b="1">
                <a:latin typeface="宋体" panose="02010600030101010101" pitchFamily="2" charset="-122"/>
                <a:ea typeface="宋体" panose="02010600030101010101" pitchFamily="2" charset="-122"/>
              </a:rPr>
              <a:t>个</a:t>
            </a:r>
            <a:endParaRPr lang="zh-CN" altLang="en-US" sz="1400" b="1">
              <a:latin typeface="宋体" panose="02010600030101010101" pitchFamily="2" charset="-122"/>
              <a:ea typeface="宋体" panose="02010600030101010101" pitchFamily="2" charset="-122"/>
            </a:endParaRPr>
          </a:p>
        </p:txBody>
      </p:sp>
      <p:sp>
        <p:nvSpPr>
          <p:cNvPr id="76" name="流程图: 可选过程 75"/>
          <p:cNvSpPr/>
          <p:nvPr/>
        </p:nvSpPr>
        <p:spPr>
          <a:xfrm>
            <a:off x="3969703" y="566928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rPr>
              <a:t>观察自然出单</a:t>
            </a:r>
            <a:endParaRPr lang="zh-CN" altLang="en-US" sz="1400" b="1">
              <a:latin typeface="宋体" panose="02010600030101010101" pitchFamily="2" charset="-122"/>
              <a:ea typeface="宋体" panose="02010600030101010101" pitchFamily="2" charset="-122"/>
            </a:endParaRPr>
          </a:p>
        </p:txBody>
      </p:sp>
      <p:sp>
        <p:nvSpPr>
          <p:cNvPr id="77" name="流程图: 可选过程 76"/>
          <p:cNvSpPr/>
          <p:nvPr/>
        </p:nvSpPr>
        <p:spPr>
          <a:xfrm>
            <a:off x="2204403" y="566928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rPr>
              <a:t>自然爆款</a:t>
            </a:r>
            <a:endParaRPr lang="zh-CN" altLang="en-US" sz="1400" b="1">
              <a:latin typeface="宋体" panose="02010600030101010101" pitchFamily="2" charset="-122"/>
              <a:ea typeface="宋体" panose="02010600030101010101" pitchFamily="2" charset="-122"/>
            </a:endParaRPr>
          </a:p>
        </p:txBody>
      </p:sp>
      <p:sp>
        <p:nvSpPr>
          <p:cNvPr id="78" name="流程图: 可选过程 77"/>
          <p:cNvSpPr/>
          <p:nvPr/>
        </p:nvSpPr>
        <p:spPr>
          <a:xfrm>
            <a:off x="439103" y="5669915"/>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rPr>
              <a:t>优化广告</a:t>
            </a:r>
            <a:endParaRPr lang="zh-CN" altLang="en-US" sz="1400" b="1">
              <a:latin typeface="宋体" panose="02010600030101010101" pitchFamily="2" charset="-122"/>
              <a:ea typeface="宋体" panose="02010600030101010101" pitchFamily="2" charset="-122"/>
            </a:endParaRPr>
          </a:p>
        </p:txBody>
      </p:sp>
      <p:sp>
        <p:nvSpPr>
          <p:cNvPr id="79" name="左箭头 78"/>
          <p:cNvSpPr/>
          <p:nvPr/>
        </p:nvSpPr>
        <p:spPr>
          <a:xfrm>
            <a:off x="5058093" y="5777865"/>
            <a:ext cx="676910" cy="21209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0" name="左箭头 79"/>
          <p:cNvSpPr/>
          <p:nvPr/>
        </p:nvSpPr>
        <p:spPr>
          <a:xfrm>
            <a:off x="3292793" y="5777865"/>
            <a:ext cx="676910" cy="21209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1" name="左箭头 80"/>
          <p:cNvSpPr/>
          <p:nvPr/>
        </p:nvSpPr>
        <p:spPr>
          <a:xfrm>
            <a:off x="1527493" y="5769610"/>
            <a:ext cx="676910" cy="21209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83" name="直接箭头连接符 82"/>
          <p:cNvCxnSpPr/>
          <p:nvPr/>
        </p:nvCxnSpPr>
        <p:spPr>
          <a:xfrm flipH="1" flipV="1">
            <a:off x="7499033" y="5229225"/>
            <a:ext cx="1270" cy="6470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4" name="流程图: 可选过程 83"/>
          <p:cNvSpPr/>
          <p:nvPr/>
        </p:nvSpPr>
        <p:spPr>
          <a:xfrm>
            <a:off x="6955473" y="4816475"/>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rgbClr val="FF0000"/>
                </a:solidFill>
                <a:latin typeface="宋体" panose="02010600030101010101" pitchFamily="2" charset="-122"/>
                <a:ea typeface="宋体" panose="02010600030101010101" pitchFamily="2" charset="-122"/>
              </a:rPr>
              <a:t>一周</a:t>
            </a:r>
            <a:r>
              <a:rPr lang="zh-CN" altLang="en-US" sz="1200">
                <a:solidFill>
                  <a:schemeClr val="tx2">
                    <a:lumMod val="20000"/>
                    <a:lumOff val="80000"/>
                  </a:schemeClr>
                </a:solidFill>
                <a:latin typeface="宋体" panose="02010600030101010101" pitchFamily="2" charset="-122"/>
                <a:ea typeface="宋体" panose="02010600030101010101" pitchFamily="2" charset="-122"/>
              </a:rPr>
              <a:t>内</a:t>
            </a:r>
            <a:r>
              <a:rPr lang="en-US" altLang="zh-CN" sz="1200">
                <a:solidFill>
                  <a:schemeClr val="tx2">
                    <a:lumMod val="20000"/>
                    <a:lumOff val="80000"/>
                  </a:schemeClr>
                </a:solidFill>
                <a:latin typeface="宋体" panose="02010600030101010101" pitchFamily="2" charset="-122"/>
                <a:ea typeface="宋体" panose="02010600030101010101" pitchFamily="2" charset="-122"/>
              </a:rPr>
              <a:t>30</a:t>
            </a:r>
            <a:r>
              <a:rPr lang="zh-CN" altLang="en-US" sz="1200">
                <a:solidFill>
                  <a:schemeClr val="tx2">
                    <a:lumMod val="20000"/>
                    <a:lumOff val="80000"/>
                  </a:schemeClr>
                </a:solidFill>
                <a:latin typeface="宋体" panose="02010600030101010101" pitchFamily="2" charset="-122"/>
                <a:ea typeface="宋体" panose="02010600030101010101" pitchFamily="2" charset="-122"/>
              </a:rPr>
              <a:t>单</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p:txBody>
      </p:sp>
      <p:cxnSp>
        <p:nvCxnSpPr>
          <p:cNvPr id="85" name="直接箭头连接符 84"/>
          <p:cNvCxnSpPr/>
          <p:nvPr/>
        </p:nvCxnSpPr>
        <p:spPr>
          <a:xfrm flipH="1" flipV="1">
            <a:off x="5733733" y="5229225"/>
            <a:ext cx="1270" cy="6470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6" name="流程图: 可选过程 85"/>
          <p:cNvSpPr/>
          <p:nvPr/>
        </p:nvSpPr>
        <p:spPr>
          <a:xfrm>
            <a:off x="5190173" y="4816475"/>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1200">
                <a:solidFill>
                  <a:schemeClr val="tx2">
                    <a:lumMod val="20000"/>
                    <a:lumOff val="80000"/>
                  </a:schemeClr>
                </a:solidFill>
                <a:latin typeface="锐字工房云字库锐倩GBK" panose="02010604000000000000" charset="-122"/>
                <a:ea typeface="锐字工房云字库锐倩GBK" panose="02010604000000000000" charset="-122"/>
              </a:rPr>
              <a:t>VP</a:t>
            </a:r>
            <a:r>
              <a:rPr lang="zh-CN" altLang="en-US" sz="1200">
                <a:solidFill>
                  <a:schemeClr val="tx2">
                    <a:lumMod val="20000"/>
                    <a:lumOff val="80000"/>
                  </a:schemeClr>
                </a:solidFill>
                <a:latin typeface="锐字工房云字库锐倩GBK" panose="02010604000000000000" charset="-122"/>
                <a:ea typeface="锐字工房云字库锐倩GBK" panose="02010604000000000000" charset="-122"/>
              </a:rPr>
              <a:t>：直评</a:t>
            </a:r>
            <a:endParaRPr lang="zh-CN" altLang="en-US" sz="1200">
              <a:solidFill>
                <a:schemeClr val="tx2">
                  <a:lumMod val="20000"/>
                  <a:lumOff val="80000"/>
                </a:schemeClr>
              </a:solidFill>
              <a:latin typeface="锐字工房云字库锐倩GBK" panose="02010604000000000000" charset="-122"/>
              <a:ea typeface="锐字工房云字库锐倩GBK" panose="02010604000000000000" charset="-122"/>
            </a:endParaRPr>
          </a:p>
          <a:p>
            <a:pPr algn="ctr"/>
            <a:r>
              <a:rPr lang="en-US" altLang="zh-CN" sz="1200">
                <a:solidFill>
                  <a:schemeClr val="tx2">
                    <a:lumMod val="20000"/>
                    <a:lumOff val="80000"/>
                  </a:schemeClr>
                </a:solidFill>
                <a:latin typeface="锐字工房云字库锐倩GBK" panose="02010604000000000000" charset="-122"/>
                <a:ea typeface="锐字工房云字库锐倩GBK" panose="02010604000000000000" charset="-122"/>
              </a:rPr>
              <a:t>4 : 6</a:t>
            </a:r>
            <a:endParaRPr lang="en-US" altLang="zh-CN" sz="1200">
              <a:solidFill>
                <a:schemeClr val="tx2">
                  <a:lumMod val="20000"/>
                  <a:lumOff val="80000"/>
                </a:schemeClr>
              </a:solidFill>
              <a:latin typeface="锐字工房云字库锐倩GBK" panose="02010604000000000000" charset="-122"/>
              <a:ea typeface="锐字工房云字库锐倩GBK" panose="02010604000000000000" charset="-122"/>
            </a:endParaRPr>
          </a:p>
        </p:txBody>
      </p:sp>
      <p:sp>
        <p:nvSpPr>
          <p:cNvPr id="87" name="左弧形箭头 86"/>
          <p:cNvSpPr/>
          <p:nvPr/>
        </p:nvSpPr>
        <p:spPr>
          <a:xfrm>
            <a:off x="3537268" y="5981700"/>
            <a:ext cx="432435" cy="68643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91" name="右弧形箭头 90"/>
          <p:cNvSpPr/>
          <p:nvPr/>
        </p:nvSpPr>
        <p:spPr>
          <a:xfrm rot="10800000">
            <a:off x="3535363" y="5004435"/>
            <a:ext cx="434340" cy="77343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92" name="流程图: 可选过程 91"/>
          <p:cNvSpPr/>
          <p:nvPr/>
        </p:nvSpPr>
        <p:spPr>
          <a:xfrm>
            <a:off x="4003358" y="6372225"/>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2">
                    <a:lumMod val="20000"/>
                    <a:lumOff val="80000"/>
                  </a:schemeClr>
                </a:solidFill>
                <a:latin typeface="宋体" panose="02010600030101010101" pitchFamily="2" charset="-122"/>
                <a:ea typeface="宋体" panose="02010600030101010101" pitchFamily="2" charset="-122"/>
              </a:rPr>
              <a:t>理想</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a:p>
            <a:pPr algn="ctr"/>
            <a:r>
              <a:rPr lang="zh-CN" altLang="en-US" sz="1200">
                <a:solidFill>
                  <a:schemeClr val="tx2">
                    <a:lumMod val="20000"/>
                    <a:lumOff val="80000"/>
                  </a:schemeClr>
                </a:solidFill>
                <a:latin typeface="宋体" panose="02010600030101010101" pitchFamily="2" charset="-122"/>
                <a:ea typeface="宋体" panose="02010600030101010101" pitchFamily="2" charset="-122"/>
              </a:rPr>
              <a:t>加大预算</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p:txBody>
      </p:sp>
      <p:sp>
        <p:nvSpPr>
          <p:cNvPr id="93" name="流程图: 可选过程 92"/>
          <p:cNvSpPr/>
          <p:nvPr/>
        </p:nvSpPr>
        <p:spPr>
          <a:xfrm>
            <a:off x="3969703" y="4938395"/>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2">
                    <a:lumMod val="20000"/>
                    <a:lumOff val="80000"/>
                  </a:schemeClr>
                </a:solidFill>
                <a:latin typeface="宋体" panose="02010600030101010101" pitchFamily="2" charset="-122"/>
                <a:ea typeface="宋体" panose="02010600030101010101" pitchFamily="2" charset="-122"/>
              </a:rPr>
              <a:t>不理想</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a:p>
            <a:pPr algn="ctr"/>
            <a:r>
              <a:rPr lang="zh-CN" altLang="en-US" sz="1200">
                <a:solidFill>
                  <a:schemeClr val="tx2">
                    <a:lumMod val="20000"/>
                    <a:lumOff val="80000"/>
                  </a:schemeClr>
                </a:solidFill>
                <a:latin typeface="宋体" panose="02010600030101010101" pitchFamily="2" charset="-122"/>
                <a:ea typeface="宋体" panose="02010600030101010101" pitchFamily="2" charset="-122"/>
              </a:rPr>
              <a:t>分析数据</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p:txBody>
      </p:sp>
      <p:cxnSp>
        <p:nvCxnSpPr>
          <p:cNvPr id="94" name="直接箭头连接符 93"/>
          <p:cNvCxnSpPr/>
          <p:nvPr/>
        </p:nvCxnSpPr>
        <p:spPr>
          <a:xfrm flipH="1" flipV="1">
            <a:off x="2203133" y="5130800"/>
            <a:ext cx="1270" cy="6470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5" name="流程图: 可选过程 94"/>
          <p:cNvSpPr/>
          <p:nvPr/>
        </p:nvSpPr>
        <p:spPr>
          <a:xfrm>
            <a:off x="1723708" y="471805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2">
                    <a:lumMod val="20000"/>
                    <a:lumOff val="80000"/>
                  </a:schemeClr>
                </a:solidFill>
                <a:latin typeface="宋体" panose="02010600030101010101" pitchFamily="2" charset="-122"/>
                <a:ea typeface="宋体" panose="02010600030101010101" pitchFamily="2" charset="-122"/>
              </a:rPr>
              <a:t>广告报表</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a:p>
            <a:pPr algn="ctr"/>
            <a:r>
              <a:rPr lang="zh-CN" altLang="en-US" sz="1200">
                <a:solidFill>
                  <a:schemeClr val="tx2">
                    <a:lumMod val="20000"/>
                    <a:lumOff val="80000"/>
                  </a:schemeClr>
                </a:solidFill>
                <a:latin typeface="宋体" panose="02010600030101010101" pitchFamily="2" charset="-122"/>
                <a:ea typeface="宋体" panose="02010600030101010101" pitchFamily="2" charset="-122"/>
              </a:rPr>
              <a:t>节点</a:t>
            </a:r>
            <a:r>
              <a:rPr lang="zh-CN" altLang="en-US" sz="1200">
                <a:solidFill>
                  <a:srgbClr val="FF0000"/>
                </a:solidFill>
                <a:latin typeface="宋体" panose="02010600030101010101" pitchFamily="2" charset="-122"/>
                <a:ea typeface="宋体" panose="02010600030101010101" pitchFamily="2" charset="-122"/>
              </a:rPr>
              <a:t>一周</a:t>
            </a:r>
            <a:endParaRPr lang="zh-CN" altLang="en-US" sz="1200">
              <a:solidFill>
                <a:srgbClr val="FF0000"/>
              </a:solidFill>
              <a:latin typeface="宋体" panose="02010600030101010101" pitchFamily="2" charset="-122"/>
              <a:ea typeface="宋体" panose="02010600030101010101" pitchFamily="2" charset="-122"/>
            </a:endParaRPr>
          </a:p>
        </p:txBody>
      </p:sp>
      <p:sp>
        <p:nvSpPr>
          <p:cNvPr id="96" name="上箭头 95"/>
          <p:cNvSpPr/>
          <p:nvPr/>
        </p:nvSpPr>
        <p:spPr>
          <a:xfrm>
            <a:off x="844233" y="4974590"/>
            <a:ext cx="277495" cy="6731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7" name="流程图: 可选过程 96"/>
          <p:cNvSpPr/>
          <p:nvPr/>
        </p:nvSpPr>
        <p:spPr>
          <a:xfrm>
            <a:off x="439103" y="456184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rPr>
              <a:t>达不到预期出单</a:t>
            </a:r>
            <a:endParaRPr lang="zh-CN" altLang="en-US" sz="1400" b="1">
              <a:latin typeface="宋体" panose="02010600030101010101" pitchFamily="2" charset="-122"/>
              <a:ea typeface="宋体" panose="02010600030101010101" pitchFamily="2" charset="-122"/>
            </a:endParaRPr>
          </a:p>
        </p:txBody>
      </p:sp>
      <p:cxnSp>
        <p:nvCxnSpPr>
          <p:cNvPr id="98" name="直接箭头连接符 97"/>
          <p:cNvCxnSpPr/>
          <p:nvPr/>
        </p:nvCxnSpPr>
        <p:spPr>
          <a:xfrm flipV="1">
            <a:off x="1055688" y="4069080"/>
            <a:ext cx="765175" cy="4565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9" name="上箭头 98"/>
          <p:cNvSpPr/>
          <p:nvPr/>
        </p:nvSpPr>
        <p:spPr>
          <a:xfrm>
            <a:off x="844233" y="3888740"/>
            <a:ext cx="277495" cy="6731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0" name="流程图: 可选过程 99"/>
          <p:cNvSpPr/>
          <p:nvPr/>
        </p:nvSpPr>
        <p:spPr>
          <a:xfrm>
            <a:off x="1820863" y="388874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2">
                    <a:lumMod val="20000"/>
                    <a:lumOff val="80000"/>
                  </a:schemeClr>
                </a:solidFill>
                <a:latin typeface="锐字工房云字库锐倩GBK" panose="02010604000000000000" charset="-122"/>
                <a:ea typeface="锐字工房云字库锐倩GBK" panose="02010604000000000000" charset="-122"/>
              </a:rPr>
              <a:t>降价 促销</a:t>
            </a:r>
            <a:endParaRPr lang="zh-CN" altLang="en-US" sz="1200">
              <a:solidFill>
                <a:schemeClr val="tx2">
                  <a:lumMod val="20000"/>
                  <a:lumOff val="80000"/>
                </a:schemeClr>
              </a:solidFill>
              <a:latin typeface="锐字工房云字库锐倩GBK" panose="02010604000000000000" charset="-122"/>
              <a:ea typeface="锐字工房云字库锐倩GBK" panose="02010604000000000000" charset="-122"/>
            </a:endParaRPr>
          </a:p>
        </p:txBody>
      </p:sp>
      <p:sp>
        <p:nvSpPr>
          <p:cNvPr id="101" name="流程图: 可选过程 100"/>
          <p:cNvSpPr/>
          <p:nvPr/>
        </p:nvSpPr>
        <p:spPr>
          <a:xfrm>
            <a:off x="439103" y="347599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rPr>
              <a:t>回评达到预期</a:t>
            </a:r>
            <a:endParaRPr lang="zh-CN" altLang="en-US" sz="1400" b="1">
              <a:latin typeface="宋体" panose="02010600030101010101" pitchFamily="2" charset="-122"/>
              <a:ea typeface="宋体" panose="02010600030101010101" pitchFamily="2" charset="-122"/>
            </a:endParaRPr>
          </a:p>
        </p:txBody>
      </p:sp>
      <p:cxnSp>
        <p:nvCxnSpPr>
          <p:cNvPr id="102" name="直接箭头连接符 101"/>
          <p:cNvCxnSpPr/>
          <p:nvPr/>
        </p:nvCxnSpPr>
        <p:spPr>
          <a:xfrm flipV="1">
            <a:off x="1559878" y="3500755"/>
            <a:ext cx="935990" cy="6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3" name="流程图: 可选过程 102"/>
          <p:cNvSpPr/>
          <p:nvPr/>
        </p:nvSpPr>
        <p:spPr>
          <a:xfrm>
            <a:off x="2495868" y="3282315"/>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200">
                <a:solidFill>
                  <a:srgbClr val="FF0000"/>
                </a:solidFill>
                <a:latin typeface="宋体" panose="02010600030101010101" pitchFamily="2" charset="-122"/>
                <a:ea typeface="宋体" panose="02010600030101010101" pitchFamily="2" charset="-122"/>
              </a:rPr>
              <a:t>30</a:t>
            </a:r>
            <a:r>
              <a:rPr lang="zh-CN" altLang="en-US" sz="1200">
                <a:solidFill>
                  <a:srgbClr val="FF0000"/>
                </a:solidFill>
                <a:latin typeface="宋体" panose="02010600030101010101" pitchFamily="2" charset="-122"/>
                <a:ea typeface="宋体" panose="02010600030101010101" pitchFamily="2" charset="-122"/>
              </a:rPr>
              <a:t>天</a:t>
            </a:r>
            <a:r>
              <a:rPr lang="zh-CN" altLang="en-US" sz="1200">
                <a:solidFill>
                  <a:schemeClr val="tx2">
                    <a:lumMod val="20000"/>
                    <a:lumOff val="80000"/>
                  </a:schemeClr>
                </a:solidFill>
                <a:latin typeface="宋体" panose="02010600030101010101" pitchFamily="2" charset="-122"/>
                <a:ea typeface="宋体" panose="02010600030101010101" pitchFamily="2" charset="-122"/>
              </a:rPr>
              <a:t>周期</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a:p>
            <a:pPr algn="ctr"/>
            <a:r>
              <a:rPr lang="zh-CN" altLang="en-US" sz="1200">
                <a:solidFill>
                  <a:schemeClr val="tx2">
                    <a:lumMod val="20000"/>
                    <a:lumOff val="80000"/>
                  </a:schemeClr>
                </a:solidFill>
                <a:latin typeface="宋体" panose="02010600030101010101" pitchFamily="2" charset="-122"/>
                <a:ea typeface="宋体" panose="02010600030101010101" pitchFamily="2" charset="-122"/>
              </a:rPr>
              <a:t>维持排名</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p:txBody>
      </p:sp>
      <p:sp>
        <p:nvSpPr>
          <p:cNvPr id="104" name="流程图: 可选过程 103"/>
          <p:cNvSpPr/>
          <p:nvPr/>
        </p:nvSpPr>
        <p:spPr>
          <a:xfrm>
            <a:off x="515303" y="2749550"/>
            <a:ext cx="120777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宋体" panose="02010600030101010101" pitchFamily="2" charset="-122"/>
                <a:ea typeface="宋体" panose="02010600030101010101" pitchFamily="2" charset="-122"/>
              </a:rPr>
              <a:t>出单稳定</a:t>
            </a:r>
            <a:endParaRPr lang="zh-CN" altLang="en-US" sz="1400" b="1">
              <a:latin typeface="宋体" panose="02010600030101010101" pitchFamily="2" charset="-122"/>
              <a:ea typeface="宋体" panose="02010600030101010101" pitchFamily="2" charset="-122"/>
            </a:endParaRPr>
          </a:p>
          <a:p>
            <a:pPr algn="ctr"/>
            <a:r>
              <a:rPr lang="zh-CN" altLang="en-US" sz="1400" b="1">
                <a:latin typeface="宋体" panose="02010600030101010101" pitchFamily="2" charset="-122"/>
                <a:ea typeface="宋体" panose="02010600030101010101" pitchFamily="2" charset="-122"/>
              </a:rPr>
              <a:t>小幅度涨价</a:t>
            </a:r>
            <a:endParaRPr lang="zh-CN" altLang="en-US" sz="1400" b="1">
              <a:latin typeface="宋体" panose="02010600030101010101" pitchFamily="2" charset="-122"/>
              <a:ea typeface="宋体" panose="02010600030101010101" pitchFamily="2" charset="-122"/>
            </a:endParaRPr>
          </a:p>
        </p:txBody>
      </p:sp>
      <p:cxnSp>
        <p:nvCxnSpPr>
          <p:cNvPr id="105" name="直接箭头连接符 104"/>
          <p:cNvCxnSpPr/>
          <p:nvPr/>
        </p:nvCxnSpPr>
        <p:spPr>
          <a:xfrm flipH="1">
            <a:off x="2746058" y="1663065"/>
            <a:ext cx="5715" cy="2717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p:nvPr/>
        </p:nvCxnSpPr>
        <p:spPr>
          <a:xfrm flipH="1">
            <a:off x="4544378" y="1633855"/>
            <a:ext cx="5715" cy="2717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p:nvPr/>
        </p:nvCxnSpPr>
        <p:spPr>
          <a:xfrm flipH="1">
            <a:off x="6307138" y="1663065"/>
            <a:ext cx="5715" cy="2717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p:nvPr/>
        </p:nvCxnSpPr>
        <p:spPr>
          <a:xfrm flipH="1">
            <a:off x="8038148" y="1652270"/>
            <a:ext cx="5715" cy="2717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0" name="上弧形箭头 109"/>
          <p:cNvSpPr/>
          <p:nvPr/>
        </p:nvSpPr>
        <p:spPr>
          <a:xfrm rot="16620000">
            <a:off x="-72072" y="3140075"/>
            <a:ext cx="788670" cy="29146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12" name="流程图: 可选过程 111"/>
          <p:cNvSpPr/>
          <p:nvPr/>
        </p:nvSpPr>
        <p:spPr>
          <a:xfrm>
            <a:off x="2385378" y="274955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latin typeface="宋体" panose="02010600030101010101" pitchFamily="2" charset="-122"/>
                <a:ea typeface="宋体" panose="02010600030101010101" pitchFamily="2" charset="-122"/>
              </a:rPr>
              <a:t>出单不理想</a:t>
            </a:r>
            <a:endParaRPr lang="zh-CN" altLang="en-US" sz="1200" b="1">
              <a:latin typeface="宋体" panose="02010600030101010101" pitchFamily="2" charset="-122"/>
              <a:ea typeface="宋体" panose="02010600030101010101" pitchFamily="2" charset="-122"/>
            </a:endParaRPr>
          </a:p>
        </p:txBody>
      </p:sp>
      <p:sp>
        <p:nvSpPr>
          <p:cNvPr id="113" name="右箭头 112"/>
          <p:cNvSpPr/>
          <p:nvPr/>
        </p:nvSpPr>
        <p:spPr>
          <a:xfrm>
            <a:off x="1723708" y="2876550"/>
            <a:ext cx="661670" cy="1765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6" name="右箭头 115"/>
          <p:cNvSpPr/>
          <p:nvPr/>
        </p:nvSpPr>
        <p:spPr>
          <a:xfrm>
            <a:off x="3473768" y="2876550"/>
            <a:ext cx="661670" cy="1765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7" name="流程图: 可选过程 116"/>
          <p:cNvSpPr/>
          <p:nvPr/>
        </p:nvSpPr>
        <p:spPr>
          <a:xfrm>
            <a:off x="4135438" y="2758440"/>
            <a:ext cx="1282065"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latin typeface="宋体" panose="02010600030101010101" pitchFamily="2" charset="-122"/>
                <a:ea typeface="宋体" panose="02010600030101010101" pitchFamily="2" charset="-122"/>
                <a:sym typeface="+mn-ea"/>
              </a:rPr>
              <a:t>采取措施</a:t>
            </a:r>
            <a:endParaRPr lang="zh-CN" altLang="en-US" sz="1200" b="1">
              <a:latin typeface="宋体" panose="02010600030101010101" pitchFamily="2" charset="-122"/>
              <a:ea typeface="宋体" panose="02010600030101010101" pitchFamily="2" charset="-122"/>
            </a:endParaRPr>
          </a:p>
        </p:txBody>
      </p:sp>
      <p:cxnSp>
        <p:nvCxnSpPr>
          <p:cNvPr id="118" name="直接箭头连接符 117"/>
          <p:cNvCxnSpPr/>
          <p:nvPr/>
        </p:nvCxnSpPr>
        <p:spPr>
          <a:xfrm flipH="1">
            <a:off x="4715828" y="3171190"/>
            <a:ext cx="5715" cy="2717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9" name="流程图: 可选过程 118"/>
          <p:cNvSpPr/>
          <p:nvPr/>
        </p:nvSpPr>
        <p:spPr>
          <a:xfrm>
            <a:off x="4175125" y="3475990"/>
            <a:ext cx="115951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latin typeface="宋体" panose="02010600030101010101" pitchFamily="2" charset="-122"/>
                <a:ea typeface="宋体" panose="02010600030101010101" pitchFamily="2" charset="-122"/>
                <a:sym typeface="+mn-ea"/>
              </a:rPr>
              <a:t>降价，促销 </a:t>
            </a:r>
            <a:r>
              <a:rPr lang="en-US" altLang="zh-CN" sz="1200" b="1">
                <a:latin typeface="宋体" panose="02010600030101010101" pitchFamily="2" charset="-122"/>
                <a:ea typeface="宋体" panose="02010600030101010101" pitchFamily="2" charset="-122"/>
                <a:sym typeface="+mn-ea"/>
              </a:rPr>
              <a:t>/</a:t>
            </a:r>
            <a:endParaRPr lang="en-US" altLang="zh-CN" sz="1200" b="1">
              <a:latin typeface="宋体" panose="02010600030101010101" pitchFamily="2" charset="-122"/>
              <a:ea typeface="宋体" panose="02010600030101010101" pitchFamily="2" charset="-122"/>
            </a:endParaRPr>
          </a:p>
          <a:p>
            <a:pPr algn="ctr"/>
            <a:r>
              <a:rPr lang="zh-CN" altLang="en-US" sz="1200" b="1">
                <a:latin typeface="宋体" panose="02010600030101010101" pitchFamily="2" charset="-122"/>
                <a:ea typeface="宋体" panose="02010600030101010101" pitchFamily="2" charset="-122"/>
                <a:sym typeface="+mn-ea"/>
              </a:rPr>
              <a:t>秒杀重新推爆</a:t>
            </a:r>
            <a:endParaRPr lang="zh-CN" altLang="en-US" sz="1200">
              <a:solidFill>
                <a:schemeClr val="tx2">
                  <a:lumMod val="20000"/>
                  <a:lumOff val="80000"/>
                </a:schemeClr>
              </a:solidFill>
              <a:latin typeface="宋体" panose="02010600030101010101" pitchFamily="2" charset="-122"/>
              <a:ea typeface="宋体" panose="02010600030101010101" pitchFamily="2" charset="-122"/>
            </a:endParaRPr>
          </a:p>
        </p:txBody>
      </p:sp>
      <p:cxnSp>
        <p:nvCxnSpPr>
          <p:cNvPr id="5" name="直接箭头连接符 4"/>
          <p:cNvCxnSpPr/>
          <p:nvPr/>
        </p:nvCxnSpPr>
        <p:spPr>
          <a:xfrm>
            <a:off x="9875203" y="3962400"/>
            <a:ext cx="561975" cy="114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流程图: 可选过程 7"/>
          <p:cNvSpPr/>
          <p:nvPr/>
        </p:nvSpPr>
        <p:spPr>
          <a:xfrm>
            <a:off x="10437178" y="3761740"/>
            <a:ext cx="1088390"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1200">
                <a:solidFill>
                  <a:schemeClr val="tx2">
                    <a:lumMod val="20000"/>
                    <a:lumOff val="80000"/>
                  </a:schemeClr>
                </a:solidFill>
                <a:latin typeface="宋体" panose="02010600030101010101" pitchFamily="2" charset="-122"/>
                <a:ea typeface="宋体" panose="02010600030101010101" pitchFamily="2" charset="-122"/>
              </a:rPr>
              <a:t>抽样质检</a:t>
            </a:r>
            <a:endParaRPr lang="zh-CN" sz="1200">
              <a:solidFill>
                <a:schemeClr val="tx2">
                  <a:lumMod val="20000"/>
                  <a:lumOff val="80000"/>
                </a:schemeClr>
              </a:solidFill>
              <a:latin typeface="宋体" panose="02010600030101010101" pitchFamily="2" charset="-122"/>
              <a:ea typeface="宋体" panose="02010600030101010101" pitchFamily="2" charset="-122"/>
            </a:endParaRPr>
          </a:p>
          <a:p>
            <a:pPr algn="ctr"/>
            <a:r>
              <a:rPr lang="zh-CN" sz="1200">
                <a:solidFill>
                  <a:schemeClr val="tx2">
                    <a:lumMod val="20000"/>
                    <a:lumOff val="80000"/>
                  </a:schemeClr>
                </a:solidFill>
                <a:latin typeface="宋体" panose="02010600030101010101" pitchFamily="2" charset="-122"/>
                <a:ea typeface="宋体" panose="02010600030101010101" pitchFamily="2" charset="-122"/>
              </a:rPr>
              <a:t>贴标发货</a:t>
            </a:r>
            <a:endParaRPr lang="zh-CN" sz="1200">
              <a:solidFill>
                <a:schemeClr val="tx2">
                  <a:lumMod val="20000"/>
                  <a:lumOff val="80000"/>
                </a:schemeClr>
              </a:solidFill>
              <a:latin typeface="宋体" panose="02010600030101010101" pitchFamily="2" charset="-122"/>
              <a:ea typeface="宋体" panose="02010600030101010101" pitchFamily="2" charset="-122"/>
            </a:endParaRPr>
          </a:p>
        </p:txBody>
      </p:sp>
      <p:cxnSp>
        <p:nvCxnSpPr>
          <p:cNvPr id="26" name="直接箭头连接符 25"/>
          <p:cNvCxnSpPr/>
          <p:nvPr/>
        </p:nvCxnSpPr>
        <p:spPr>
          <a:xfrm>
            <a:off x="7155498" y="1439545"/>
            <a:ext cx="12065" cy="11214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流程图: 可选过程 26"/>
          <p:cNvSpPr/>
          <p:nvPr/>
        </p:nvSpPr>
        <p:spPr>
          <a:xfrm>
            <a:off x="6640513" y="2560955"/>
            <a:ext cx="799465" cy="4127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2">
                    <a:lumMod val="20000"/>
                    <a:lumOff val="80000"/>
                  </a:schemeClr>
                </a:solidFill>
                <a:latin typeface="宋体" panose="02010600030101010101" pitchFamily="2" charset="-122"/>
                <a:ea typeface="宋体" panose="02010600030101010101" pitchFamily="2" charset="-122"/>
              </a:rPr>
              <a:t>节点</a:t>
            </a:r>
            <a:r>
              <a:rPr lang="en-US" altLang="zh-CN" sz="1200">
                <a:solidFill>
                  <a:srgbClr val="FF0000"/>
                </a:solidFill>
                <a:latin typeface="宋体" panose="02010600030101010101" pitchFamily="2" charset="-122"/>
                <a:ea typeface="宋体" panose="02010600030101010101" pitchFamily="2" charset="-122"/>
              </a:rPr>
              <a:t>7</a:t>
            </a:r>
            <a:r>
              <a:rPr lang="zh-CN" altLang="en-US" sz="1200">
                <a:solidFill>
                  <a:srgbClr val="FF0000"/>
                </a:solidFill>
                <a:latin typeface="宋体" panose="02010600030101010101" pitchFamily="2" charset="-122"/>
                <a:ea typeface="宋体" panose="02010600030101010101" pitchFamily="2" charset="-122"/>
              </a:rPr>
              <a:t>天</a:t>
            </a:r>
            <a:endParaRPr lang="zh-CN" altLang="en-US" sz="1200">
              <a:solidFill>
                <a:srgbClr val="FF0000"/>
              </a:solidFill>
              <a:latin typeface="宋体" panose="02010600030101010101" pitchFamily="2" charset="-122"/>
              <a:ea typeface="宋体" panose="02010600030101010101" pitchFamily="2" charset="-122"/>
            </a:endParaRPr>
          </a:p>
        </p:txBody>
      </p:sp>
      <p:sp>
        <p:nvSpPr>
          <p:cNvPr id="135" name="尖角箭头"/>
          <p:cNvSpPr/>
          <p:nvPr/>
        </p:nvSpPr>
        <p:spPr>
          <a:xfrm>
            <a:off x="425133" y="947420"/>
            <a:ext cx="1960245" cy="287020"/>
          </a:xfrm>
          <a:custGeom>
            <a:avLst/>
            <a:gdLst>
              <a:gd name="connsiteX0" fmla="*/ 4381875 w 6516714"/>
              <a:gd name="connsiteY0" fmla="*/ 0 h 2476413"/>
              <a:gd name="connsiteX1" fmla="*/ 6516714 w 6516714"/>
              <a:gd name="connsiteY1" fmla="*/ 1238208 h 2476413"/>
              <a:gd name="connsiteX2" fmla="*/ 4381875 w 6516714"/>
              <a:gd name="connsiteY2" fmla="*/ 2476413 h 2476413"/>
              <a:gd name="connsiteX3" fmla="*/ 4381875 w 6516714"/>
              <a:gd name="connsiteY3" fmla="*/ 2456682 h 2476413"/>
              <a:gd name="connsiteX4" fmla="*/ 4855462 w 6516714"/>
              <a:gd name="connsiteY4" fmla="*/ 1644997 h 2476413"/>
              <a:gd name="connsiteX5" fmla="*/ 0 w 6516714"/>
              <a:gd name="connsiteY5" fmla="*/ 1238206 h 2476413"/>
              <a:gd name="connsiteX6" fmla="*/ 4855461 w 6516714"/>
              <a:gd name="connsiteY6" fmla="*/ 831415 h 2476413"/>
              <a:gd name="connsiteX7" fmla="*/ 4381875 w 6516714"/>
              <a:gd name="connsiteY7" fmla="*/ 19731 h 247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714" h="2476413">
                <a:moveTo>
                  <a:pt x="4381875" y="0"/>
                </a:moveTo>
                <a:lnTo>
                  <a:pt x="6516714" y="1238208"/>
                </a:lnTo>
                <a:lnTo>
                  <a:pt x="4381875" y="2476413"/>
                </a:lnTo>
                <a:lnTo>
                  <a:pt x="4381875" y="2456682"/>
                </a:lnTo>
                <a:lnTo>
                  <a:pt x="4855462" y="1644997"/>
                </a:lnTo>
                <a:lnTo>
                  <a:pt x="0" y="1238206"/>
                </a:lnTo>
                <a:lnTo>
                  <a:pt x="4855461" y="831415"/>
                </a:lnTo>
                <a:lnTo>
                  <a:pt x="4381875" y="19731"/>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p>
            <a:pPr algn="ctr" eaLnBrk="1" fontAlgn="auto" hangingPunct="1">
              <a:spcBef>
                <a:spcPts val="0"/>
              </a:spcBef>
              <a:spcAft>
                <a:spcPts val="0"/>
              </a:spcAft>
              <a:defRPr/>
            </a:pPr>
            <a:endParaRPr lang="zh-CN" altLang="en-US">
              <a:solidFill>
                <a:srgbClr val="FFFFFF"/>
              </a:solidFill>
            </a:endParaRPr>
          </a:p>
        </p:txBody>
      </p:sp>
      <p:sp>
        <p:nvSpPr>
          <p:cNvPr id="23" name="尖角箭头"/>
          <p:cNvSpPr/>
          <p:nvPr/>
        </p:nvSpPr>
        <p:spPr>
          <a:xfrm rot="5400000">
            <a:off x="11072178" y="1856740"/>
            <a:ext cx="1960245" cy="287020"/>
          </a:xfrm>
          <a:custGeom>
            <a:avLst/>
            <a:gdLst>
              <a:gd name="connsiteX0" fmla="*/ 4381875 w 6516714"/>
              <a:gd name="connsiteY0" fmla="*/ 0 h 2476413"/>
              <a:gd name="connsiteX1" fmla="*/ 6516714 w 6516714"/>
              <a:gd name="connsiteY1" fmla="*/ 1238208 h 2476413"/>
              <a:gd name="connsiteX2" fmla="*/ 4381875 w 6516714"/>
              <a:gd name="connsiteY2" fmla="*/ 2476413 h 2476413"/>
              <a:gd name="connsiteX3" fmla="*/ 4381875 w 6516714"/>
              <a:gd name="connsiteY3" fmla="*/ 2456682 h 2476413"/>
              <a:gd name="connsiteX4" fmla="*/ 4855462 w 6516714"/>
              <a:gd name="connsiteY4" fmla="*/ 1644997 h 2476413"/>
              <a:gd name="connsiteX5" fmla="*/ 0 w 6516714"/>
              <a:gd name="connsiteY5" fmla="*/ 1238206 h 2476413"/>
              <a:gd name="connsiteX6" fmla="*/ 4855461 w 6516714"/>
              <a:gd name="connsiteY6" fmla="*/ 831415 h 2476413"/>
              <a:gd name="connsiteX7" fmla="*/ 4381875 w 6516714"/>
              <a:gd name="connsiteY7" fmla="*/ 19731 h 247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714" h="2476413">
                <a:moveTo>
                  <a:pt x="4381875" y="0"/>
                </a:moveTo>
                <a:lnTo>
                  <a:pt x="6516714" y="1238208"/>
                </a:lnTo>
                <a:lnTo>
                  <a:pt x="4381875" y="2476413"/>
                </a:lnTo>
                <a:lnTo>
                  <a:pt x="4381875" y="2456682"/>
                </a:lnTo>
                <a:lnTo>
                  <a:pt x="4855462" y="1644997"/>
                </a:lnTo>
                <a:lnTo>
                  <a:pt x="0" y="1238206"/>
                </a:lnTo>
                <a:lnTo>
                  <a:pt x="4855461" y="831415"/>
                </a:lnTo>
                <a:lnTo>
                  <a:pt x="4381875" y="19731"/>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p>
            <a:pPr algn="ctr" eaLnBrk="1" fontAlgn="auto" hangingPunct="1">
              <a:spcBef>
                <a:spcPts val="0"/>
              </a:spcBef>
              <a:spcAft>
                <a:spcPts val="0"/>
              </a:spcAft>
              <a:defRPr/>
            </a:pPr>
            <a:endParaRPr lang="zh-CN" altLang="en-US">
              <a:solidFill>
                <a:srgbClr val="FFFFFF"/>
              </a:solidFill>
            </a:endParaRPr>
          </a:p>
        </p:txBody>
      </p:sp>
      <p:sp>
        <p:nvSpPr>
          <p:cNvPr id="28" name="尖角箭头"/>
          <p:cNvSpPr/>
          <p:nvPr/>
        </p:nvSpPr>
        <p:spPr>
          <a:xfrm rot="10800000">
            <a:off x="10072688" y="6556375"/>
            <a:ext cx="1960245" cy="287020"/>
          </a:xfrm>
          <a:custGeom>
            <a:avLst/>
            <a:gdLst>
              <a:gd name="connsiteX0" fmla="*/ 4381875 w 6516714"/>
              <a:gd name="connsiteY0" fmla="*/ 0 h 2476413"/>
              <a:gd name="connsiteX1" fmla="*/ 6516714 w 6516714"/>
              <a:gd name="connsiteY1" fmla="*/ 1238208 h 2476413"/>
              <a:gd name="connsiteX2" fmla="*/ 4381875 w 6516714"/>
              <a:gd name="connsiteY2" fmla="*/ 2476413 h 2476413"/>
              <a:gd name="connsiteX3" fmla="*/ 4381875 w 6516714"/>
              <a:gd name="connsiteY3" fmla="*/ 2456682 h 2476413"/>
              <a:gd name="connsiteX4" fmla="*/ 4855462 w 6516714"/>
              <a:gd name="connsiteY4" fmla="*/ 1644997 h 2476413"/>
              <a:gd name="connsiteX5" fmla="*/ 0 w 6516714"/>
              <a:gd name="connsiteY5" fmla="*/ 1238206 h 2476413"/>
              <a:gd name="connsiteX6" fmla="*/ 4855461 w 6516714"/>
              <a:gd name="connsiteY6" fmla="*/ 831415 h 2476413"/>
              <a:gd name="connsiteX7" fmla="*/ 4381875 w 6516714"/>
              <a:gd name="connsiteY7" fmla="*/ 19731 h 247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714" h="2476413">
                <a:moveTo>
                  <a:pt x="4381875" y="0"/>
                </a:moveTo>
                <a:lnTo>
                  <a:pt x="6516714" y="1238208"/>
                </a:lnTo>
                <a:lnTo>
                  <a:pt x="4381875" y="2476413"/>
                </a:lnTo>
                <a:lnTo>
                  <a:pt x="4381875" y="2456682"/>
                </a:lnTo>
                <a:lnTo>
                  <a:pt x="4855462" y="1644997"/>
                </a:lnTo>
                <a:lnTo>
                  <a:pt x="0" y="1238206"/>
                </a:lnTo>
                <a:lnTo>
                  <a:pt x="4855461" y="831415"/>
                </a:lnTo>
                <a:lnTo>
                  <a:pt x="4381875" y="19731"/>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p>
            <a:pPr algn="ctr" eaLnBrk="1" fontAlgn="auto" hangingPunct="1">
              <a:spcBef>
                <a:spcPts val="0"/>
              </a:spcBef>
              <a:spcAft>
                <a:spcPts val="0"/>
              </a:spcAft>
              <a:defRPr/>
            </a:pPr>
            <a:endParaRPr lang="zh-CN" altLang="en-US">
              <a:solidFill>
                <a:srgbClr val="FFFFFF"/>
              </a:solidFill>
            </a:endParaRPr>
          </a:p>
        </p:txBody>
      </p:sp>
      <p:sp>
        <p:nvSpPr>
          <p:cNvPr id="29" name="矩形 28"/>
          <p:cNvSpPr/>
          <p:nvPr/>
        </p:nvSpPr>
        <p:spPr>
          <a:xfrm>
            <a:off x="0" y="369457"/>
            <a:ext cx="858129" cy="41049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
        <p:nvSpPr>
          <p:cNvPr id="30" name="矩形 29"/>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spTree>
  </p:cSld>
  <p:clrMapOvr>
    <a:masterClrMapping/>
  </p:clrMapOvr>
  <mc:AlternateContent xmlns:mc="http://schemas.openxmlformats.org/markup-compatibility/2006">
    <mc:Choice xmlns:p14="http://schemas.microsoft.com/office/powerpoint/2010/main" Requires="p14">
      <p:transition spd="med" p14:dur="1500">
        <p:fade/>
      </p:transition>
    </mc:Choice>
    <mc:Fallback>
      <p:transition spd="med">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400"/>
                                            <p:tgtEl>
                                              <p:spTgt spid="43"/>
                                            </p:tgtEl>
                                            <p:attrNameLst>
                                              <p:attrName>ppt_y</p:attrName>
                                            </p:attrNameLst>
                                          </p:cBhvr>
                                          <p:tavLst>
                                            <p:tav tm="0">
                                              <p:val>
                                                <p:strVal val="#ppt_y-#ppt_h*1.125000"/>
                                              </p:val>
                                            </p:tav>
                                            <p:tav tm="100000">
                                              <p:val>
                                                <p:strVal val="#ppt_y"/>
                                              </p:val>
                                            </p:tav>
                                          </p:tavLst>
                                        </p:anim>
                                        <p:animEffect transition="in" filter="wipe(down)">
                                          <p:cBhvr>
                                            <p:cTn id="8" dur="400"/>
                                            <p:tgtEl>
                                              <p:spTgt spid="43"/>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400"/>
                                            <p:tgtEl>
                                              <p:spTgt spid="45"/>
                                            </p:tgtEl>
                                            <p:attrNameLst>
                                              <p:attrName>ppt_y</p:attrName>
                                            </p:attrNameLst>
                                          </p:cBhvr>
                                          <p:tavLst>
                                            <p:tav tm="0">
                                              <p:val>
                                                <p:strVal val="#ppt_y-#ppt_h*1.125000"/>
                                              </p:val>
                                            </p:tav>
                                            <p:tav tm="100000">
                                              <p:val>
                                                <p:strVal val="#ppt_y"/>
                                              </p:val>
                                            </p:tav>
                                          </p:tavLst>
                                        </p:anim>
                                        <p:animEffect transition="in" filter="wipe(down)">
                                          <p:cBhvr>
                                            <p:cTn id="12" dur="400"/>
                                            <p:tgtEl>
                                              <p:spTgt spid="45"/>
                                            </p:tgtEl>
                                          </p:cBhvr>
                                        </p:animEffect>
                                      </p:childTnLst>
                                    </p:cTn>
                                  </p:par>
                                  <p:par>
                                    <p:cTn id="13" presetID="12" presetClass="entr" presetSubtype="1"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400"/>
                                            <p:tgtEl>
                                              <p:spTgt spid="46"/>
                                            </p:tgtEl>
                                            <p:attrNameLst>
                                              <p:attrName>ppt_y</p:attrName>
                                            </p:attrNameLst>
                                          </p:cBhvr>
                                          <p:tavLst>
                                            <p:tav tm="0">
                                              <p:val>
                                                <p:strVal val="#ppt_y-#ppt_h*1.125000"/>
                                              </p:val>
                                            </p:tav>
                                            <p:tav tm="100000">
                                              <p:val>
                                                <p:strVal val="#ppt_y"/>
                                              </p:val>
                                            </p:tav>
                                          </p:tavLst>
                                        </p:anim>
                                        <p:animEffect transition="in" filter="wipe(down)">
                                          <p:cBhvr>
                                            <p:cTn id="16" dur="400"/>
                                            <p:tgtEl>
                                              <p:spTgt spid="46"/>
                                            </p:tgtEl>
                                          </p:cBhvr>
                                        </p:animEffect>
                                      </p:childTnLst>
                                    </p:cTn>
                                  </p:par>
                                  <p:par>
                                    <p:cTn id="17" presetID="2" presetClass="entr" presetSubtype="8" fill="hold" grpId="0" nodeType="withEffect" p14:presetBounceEnd="47000">
                                      <p:stCondLst>
                                        <p:cond delay="600"/>
                                      </p:stCondLst>
                                      <p:childTnLst>
                                        <p:set>
                                          <p:cBhvr>
                                            <p:cTn id="18" dur="1" fill="hold">
                                              <p:stCondLst>
                                                <p:cond delay="0"/>
                                              </p:stCondLst>
                                            </p:cTn>
                                            <p:tgtEl>
                                              <p:spTgt spid="50"/>
                                            </p:tgtEl>
                                            <p:attrNameLst>
                                              <p:attrName>style.visibility</p:attrName>
                                            </p:attrNameLst>
                                          </p:cBhvr>
                                          <p:to>
                                            <p:strVal val="visible"/>
                                          </p:to>
                                        </p:set>
                                        <p:anim calcmode="lin" valueType="num" p14:bounceEnd="47000">
                                          <p:cBhvr additive="base">
                                            <p:cTn id="19" dur="400" fill="hold"/>
                                            <p:tgtEl>
                                              <p:spTgt spid="50"/>
                                            </p:tgtEl>
                                            <p:attrNameLst>
                                              <p:attrName>ppt_x</p:attrName>
                                            </p:attrNameLst>
                                          </p:cBhvr>
                                          <p:tavLst>
                                            <p:tav tm="0">
                                              <p:val>
                                                <p:strVal val="0-#ppt_w/2"/>
                                              </p:val>
                                            </p:tav>
                                            <p:tav tm="100000">
                                              <p:val>
                                                <p:strVal val="#ppt_x"/>
                                              </p:val>
                                            </p:tav>
                                          </p:tavLst>
                                        </p:anim>
                                        <p:anim calcmode="lin" valueType="num" p14:bounceEnd="47000">
                                          <p:cBhvr additive="base">
                                            <p:cTn id="20" dur="400" fill="hold"/>
                                            <p:tgtEl>
                                              <p:spTgt spid="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nimBg="1"/>
          <p:bldP spid="45" grpId="0" bldLvl="0" animBg="1"/>
          <p:bldP spid="46" grpId="0" bldLvl="0" animBg="1"/>
          <p:bldP spid="5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400"/>
                                            <p:tgtEl>
                                              <p:spTgt spid="43"/>
                                            </p:tgtEl>
                                            <p:attrNameLst>
                                              <p:attrName>ppt_y</p:attrName>
                                            </p:attrNameLst>
                                          </p:cBhvr>
                                          <p:tavLst>
                                            <p:tav tm="0">
                                              <p:val>
                                                <p:strVal val="#ppt_y-#ppt_h*1.125000"/>
                                              </p:val>
                                            </p:tav>
                                            <p:tav tm="100000">
                                              <p:val>
                                                <p:strVal val="#ppt_y"/>
                                              </p:val>
                                            </p:tav>
                                          </p:tavLst>
                                        </p:anim>
                                        <p:animEffect transition="in" filter="wipe(down)">
                                          <p:cBhvr>
                                            <p:cTn id="8" dur="400"/>
                                            <p:tgtEl>
                                              <p:spTgt spid="43"/>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400"/>
                                            <p:tgtEl>
                                              <p:spTgt spid="45"/>
                                            </p:tgtEl>
                                            <p:attrNameLst>
                                              <p:attrName>ppt_y</p:attrName>
                                            </p:attrNameLst>
                                          </p:cBhvr>
                                          <p:tavLst>
                                            <p:tav tm="0">
                                              <p:val>
                                                <p:strVal val="#ppt_y-#ppt_h*1.125000"/>
                                              </p:val>
                                            </p:tav>
                                            <p:tav tm="100000">
                                              <p:val>
                                                <p:strVal val="#ppt_y"/>
                                              </p:val>
                                            </p:tav>
                                          </p:tavLst>
                                        </p:anim>
                                        <p:animEffect transition="in" filter="wipe(down)">
                                          <p:cBhvr>
                                            <p:cTn id="12" dur="400"/>
                                            <p:tgtEl>
                                              <p:spTgt spid="45"/>
                                            </p:tgtEl>
                                          </p:cBhvr>
                                        </p:animEffect>
                                      </p:childTnLst>
                                    </p:cTn>
                                  </p:par>
                                  <p:par>
                                    <p:cTn id="13" presetID="12" presetClass="entr" presetSubtype="1"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400"/>
                                            <p:tgtEl>
                                              <p:spTgt spid="46"/>
                                            </p:tgtEl>
                                            <p:attrNameLst>
                                              <p:attrName>ppt_y</p:attrName>
                                            </p:attrNameLst>
                                          </p:cBhvr>
                                          <p:tavLst>
                                            <p:tav tm="0">
                                              <p:val>
                                                <p:strVal val="#ppt_y-#ppt_h*1.125000"/>
                                              </p:val>
                                            </p:tav>
                                            <p:tav tm="100000">
                                              <p:val>
                                                <p:strVal val="#ppt_y"/>
                                              </p:val>
                                            </p:tav>
                                          </p:tavLst>
                                        </p:anim>
                                        <p:animEffect transition="in" filter="wipe(down)">
                                          <p:cBhvr>
                                            <p:cTn id="16" dur="400"/>
                                            <p:tgtEl>
                                              <p:spTgt spid="46"/>
                                            </p:tgtEl>
                                          </p:cBhvr>
                                        </p:animEffect>
                                      </p:childTnLst>
                                    </p:cTn>
                                  </p:par>
                                  <p:par>
                                    <p:cTn id="17" presetID="2" presetClass="entr" presetSubtype="8" fill="hold" grpId="0" nodeType="withEffect">
                                      <p:stCondLst>
                                        <p:cond delay="600"/>
                                      </p:stCondLst>
                                      <p:childTnLst>
                                        <p:set>
                                          <p:cBhvr>
                                            <p:cTn id="18" dur="1" fill="hold">
                                              <p:stCondLst>
                                                <p:cond delay="0"/>
                                              </p:stCondLst>
                                            </p:cTn>
                                            <p:tgtEl>
                                              <p:spTgt spid="50"/>
                                            </p:tgtEl>
                                            <p:attrNameLst>
                                              <p:attrName>style.visibility</p:attrName>
                                            </p:attrNameLst>
                                          </p:cBhvr>
                                          <p:to>
                                            <p:strVal val="visible"/>
                                          </p:to>
                                        </p:set>
                                        <p:anim calcmode="lin" valueType="num">
                                          <p:cBhvr additive="base">
                                            <p:cTn id="19" dur="400" fill="hold"/>
                                            <p:tgtEl>
                                              <p:spTgt spid="50"/>
                                            </p:tgtEl>
                                            <p:attrNameLst>
                                              <p:attrName>ppt_x</p:attrName>
                                            </p:attrNameLst>
                                          </p:cBhvr>
                                          <p:tavLst>
                                            <p:tav tm="0">
                                              <p:val>
                                                <p:strVal val="0-#ppt_w/2"/>
                                              </p:val>
                                            </p:tav>
                                            <p:tav tm="100000">
                                              <p:val>
                                                <p:strVal val="#ppt_x"/>
                                              </p:val>
                                            </p:tav>
                                          </p:tavLst>
                                        </p:anim>
                                        <p:anim calcmode="lin" valueType="num">
                                          <p:cBhvr additive="base">
                                            <p:cTn id="20" dur="400" fill="hold"/>
                                            <p:tgtEl>
                                              <p:spTgt spid="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nimBg="1"/>
          <p:bldP spid="45" grpId="0" bldLvl="0" animBg="1"/>
          <p:bldP spid="46" grpId="0" bldLvl="0" animBg="1"/>
          <p:bldP spid="50" grpId="0"/>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12"/>
          <p:cNvSpPr/>
          <p:nvPr/>
        </p:nvSpPr>
        <p:spPr>
          <a:xfrm>
            <a:off x="-31118" y="2979130"/>
            <a:ext cx="12235345" cy="1271902"/>
          </a:xfrm>
          <a:custGeom>
            <a:avLst/>
            <a:gdLst>
              <a:gd name="connsiteX0" fmla="*/ 0 w 12721389"/>
              <a:gd name="connsiteY0" fmla="*/ 532365 h 1078137"/>
              <a:gd name="connsiteX1" fmla="*/ 3593431 w 12721389"/>
              <a:gd name="connsiteY1" fmla="*/ 51102 h 1078137"/>
              <a:gd name="connsiteX2" fmla="*/ 7908758 w 12721389"/>
              <a:gd name="connsiteY2" fmla="*/ 1077797 h 1078137"/>
              <a:gd name="connsiteX3" fmla="*/ 11774905 w 12721389"/>
              <a:gd name="connsiteY3" fmla="*/ 163397 h 1078137"/>
              <a:gd name="connsiteX4" fmla="*/ 12721389 w 12721389"/>
              <a:gd name="connsiteY4" fmla="*/ 35060 h 1078137"/>
              <a:gd name="connsiteX0-1" fmla="*/ 0 w 12721389"/>
              <a:gd name="connsiteY0-2" fmla="*/ 532365 h 1078137"/>
              <a:gd name="connsiteX1-3" fmla="*/ 3593431 w 12721389"/>
              <a:gd name="connsiteY1-4" fmla="*/ 51102 h 1078137"/>
              <a:gd name="connsiteX2-5" fmla="*/ 7908758 w 12721389"/>
              <a:gd name="connsiteY2-6" fmla="*/ 1077797 h 1078137"/>
              <a:gd name="connsiteX3-7" fmla="*/ 11774905 w 12721389"/>
              <a:gd name="connsiteY3-8" fmla="*/ 163397 h 1078137"/>
              <a:gd name="connsiteX4-9" fmla="*/ 12721389 w 12721389"/>
              <a:gd name="connsiteY4-10" fmla="*/ 35060 h 1078137"/>
              <a:gd name="connsiteX0-11" fmla="*/ 0 w 12721389"/>
              <a:gd name="connsiteY0-12" fmla="*/ 503854 h 1049626"/>
              <a:gd name="connsiteX1-13" fmla="*/ 3593431 w 12721389"/>
              <a:gd name="connsiteY1-14" fmla="*/ 22591 h 1049626"/>
              <a:gd name="connsiteX2-15" fmla="*/ 7908758 w 12721389"/>
              <a:gd name="connsiteY2-16" fmla="*/ 1049286 h 1049626"/>
              <a:gd name="connsiteX3-17" fmla="*/ 11774905 w 12721389"/>
              <a:gd name="connsiteY3-18" fmla="*/ 134886 h 1049626"/>
              <a:gd name="connsiteX4-19" fmla="*/ 12721389 w 12721389"/>
              <a:gd name="connsiteY4-20" fmla="*/ 6549 h 1049626"/>
              <a:gd name="connsiteX0-21" fmla="*/ 0 w 12368463"/>
              <a:gd name="connsiteY0-22" fmla="*/ 498433 h 1044197"/>
              <a:gd name="connsiteX1-23" fmla="*/ 3593431 w 12368463"/>
              <a:gd name="connsiteY1-24" fmla="*/ 17170 h 1044197"/>
              <a:gd name="connsiteX2-25" fmla="*/ 7908758 w 12368463"/>
              <a:gd name="connsiteY2-26" fmla="*/ 1043865 h 1044197"/>
              <a:gd name="connsiteX3-27" fmla="*/ 11774905 w 12368463"/>
              <a:gd name="connsiteY3-28" fmla="*/ 129465 h 1044197"/>
              <a:gd name="connsiteX4-29" fmla="*/ 12368463 w 12368463"/>
              <a:gd name="connsiteY4-30" fmla="*/ 113423 h 1044197"/>
              <a:gd name="connsiteX0-31" fmla="*/ 0 w 12368463"/>
              <a:gd name="connsiteY0-32" fmla="*/ 498433 h 1044197"/>
              <a:gd name="connsiteX1-33" fmla="*/ 3593431 w 12368463"/>
              <a:gd name="connsiteY1-34" fmla="*/ 17170 h 1044197"/>
              <a:gd name="connsiteX2-35" fmla="*/ 7908758 w 12368463"/>
              <a:gd name="connsiteY2-36" fmla="*/ 1043865 h 1044197"/>
              <a:gd name="connsiteX3-37" fmla="*/ 11774905 w 12368463"/>
              <a:gd name="connsiteY3-38" fmla="*/ 129465 h 1044197"/>
              <a:gd name="connsiteX4-39" fmla="*/ 12368463 w 12368463"/>
              <a:gd name="connsiteY4-40" fmla="*/ 113423 h 1044197"/>
              <a:gd name="connsiteX0-41" fmla="*/ 0 w 12368463"/>
              <a:gd name="connsiteY0-42" fmla="*/ 498433 h 1045860"/>
              <a:gd name="connsiteX1-43" fmla="*/ 3593431 w 12368463"/>
              <a:gd name="connsiteY1-44" fmla="*/ 17170 h 1045860"/>
              <a:gd name="connsiteX2-45" fmla="*/ 7908758 w 12368463"/>
              <a:gd name="connsiteY2-46" fmla="*/ 1043865 h 1045860"/>
              <a:gd name="connsiteX3-47" fmla="*/ 11357810 w 12368463"/>
              <a:gd name="connsiteY3-48" fmla="*/ 273844 h 1045860"/>
              <a:gd name="connsiteX4-49" fmla="*/ 12368463 w 12368463"/>
              <a:gd name="connsiteY4-50" fmla="*/ 113423 h 1045860"/>
              <a:gd name="connsiteX0-51" fmla="*/ 0 w 12368463"/>
              <a:gd name="connsiteY0-52" fmla="*/ 503294 h 1146765"/>
              <a:gd name="connsiteX1-53" fmla="*/ 3593431 w 12368463"/>
              <a:gd name="connsiteY1-54" fmla="*/ 22031 h 1146765"/>
              <a:gd name="connsiteX2-55" fmla="*/ 8855242 w 12368463"/>
              <a:gd name="connsiteY2-56" fmla="*/ 1144979 h 1146765"/>
              <a:gd name="connsiteX3-57" fmla="*/ 11357810 w 12368463"/>
              <a:gd name="connsiteY3-58" fmla="*/ 278705 h 1146765"/>
              <a:gd name="connsiteX4-59" fmla="*/ 12368463 w 12368463"/>
              <a:gd name="connsiteY4-60" fmla="*/ 118284 h 1146765"/>
              <a:gd name="connsiteX0-61" fmla="*/ 0 w 12368463"/>
              <a:gd name="connsiteY0-62" fmla="*/ 503294 h 1157827"/>
              <a:gd name="connsiteX1-63" fmla="*/ 3593431 w 12368463"/>
              <a:gd name="connsiteY1-64" fmla="*/ 22031 h 1157827"/>
              <a:gd name="connsiteX2-65" fmla="*/ 8855242 w 12368463"/>
              <a:gd name="connsiteY2-66" fmla="*/ 1144979 h 1157827"/>
              <a:gd name="connsiteX3-67" fmla="*/ 11357810 w 12368463"/>
              <a:gd name="connsiteY3-68" fmla="*/ 599547 h 1157827"/>
              <a:gd name="connsiteX4-69" fmla="*/ 12368463 w 12368463"/>
              <a:gd name="connsiteY4-70" fmla="*/ 118284 h 1157827"/>
              <a:gd name="connsiteX0-71" fmla="*/ 0 w 12368463"/>
              <a:gd name="connsiteY0-72" fmla="*/ 503294 h 1161527"/>
              <a:gd name="connsiteX1-73" fmla="*/ 3593431 w 12368463"/>
              <a:gd name="connsiteY1-74" fmla="*/ 22031 h 1161527"/>
              <a:gd name="connsiteX2-75" fmla="*/ 8855242 w 12368463"/>
              <a:gd name="connsiteY2-76" fmla="*/ 1144979 h 1161527"/>
              <a:gd name="connsiteX3-77" fmla="*/ 11357810 w 12368463"/>
              <a:gd name="connsiteY3-78" fmla="*/ 599547 h 1161527"/>
              <a:gd name="connsiteX4-79" fmla="*/ 12368463 w 12368463"/>
              <a:gd name="connsiteY4-80" fmla="*/ 118284 h 1161527"/>
              <a:gd name="connsiteX0-81" fmla="*/ 0 w 12609094"/>
              <a:gd name="connsiteY0-82" fmla="*/ 503294 h 1157530"/>
              <a:gd name="connsiteX1-83" fmla="*/ 3593431 w 12609094"/>
              <a:gd name="connsiteY1-84" fmla="*/ 22031 h 1157530"/>
              <a:gd name="connsiteX2-85" fmla="*/ 8855242 w 12609094"/>
              <a:gd name="connsiteY2-86" fmla="*/ 1144979 h 1157530"/>
              <a:gd name="connsiteX3-87" fmla="*/ 11357810 w 12609094"/>
              <a:gd name="connsiteY3-88" fmla="*/ 599547 h 1157530"/>
              <a:gd name="connsiteX4-89" fmla="*/ 12609094 w 12609094"/>
              <a:gd name="connsiteY4-90" fmla="*/ 198494 h 1157530"/>
              <a:gd name="connsiteX0-91" fmla="*/ 0 w 12609094"/>
              <a:gd name="connsiteY0-92" fmla="*/ 503294 h 1157530"/>
              <a:gd name="connsiteX1-93" fmla="*/ 3593431 w 12609094"/>
              <a:gd name="connsiteY1-94" fmla="*/ 22031 h 1157530"/>
              <a:gd name="connsiteX2-95" fmla="*/ 8855242 w 12609094"/>
              <a:gd name="connsiteY2-96" fmla="*/ 1144979 h 1157530"/>
              <a:gd name="connsiteX3-97" fmla="*/ 11357810 w 12609094"/>
              <a:gd name="connsiteY3-98" fmla="*/ 599547 h 1157530"/>
              <a:gd name="connsiteX4-99" fmla="*/ 12609094 w 12609094"/>
              <a:gd name="connsiteY4-100" fmla="*/ 198494 h 1157530"/>
              <a:gd name="connsiteX0-101" fmla="*/ 0 w 12609094"/>
              <a:gd name="connsiteY0-102" fmla="*/ 503294 h 1157530"/>
              <a:gd name="connsiteX1-103" fmla="*/ 3593431 w 12609094"/>
              <a:gd name="connsiteY1-104" fmla="*/ 22031 h 1157530"/>
              <a:gd name="connsiteX2-105" fmla="*/ 8678779 w 12609094"/>
              <a:gd name="connsiteY2-106" fmla="*/ 1144979 h 1157530"/>
              <a:gd name="connsiteX3-107" fmla="*/ 11357810 w 12609094"/>
              <a:gd name="connsiteY3-108" fmla="*/ 599547 h 1157530"/>
              <a:gd name="connsiteX4-109" fmla="*/ 12609094 w 12609094"/>
              <a:gd name="connsiteY4-110" fmla="*/ 198494 h 1157530"/>
              <a:gd name="connsiteX0-111" fmla="*/ 0 w 12609094"/>
              <a:gd name="connsiteY0-112" fmla="*/ 503294 h 1145790"/>
              <a:gd name="connsiteX1-113" fmla="*/ 3593431 w 12609094"/>
              <a:gd name="connsiteY1-114" fmla="*/ 22031 h 1145790"/>
              <a:gd name="connsiteX2-115" fmla="*/ 8678779 w 12609094"/>
              <a:gd name="connsiteY2-116" fmla="*/ 1144979 h 1145790"/>
              <a:gd name="connsiteX3-117" fmla="*/ 12609094 w 12609094"/>
              <a:gd name="connsiteY3-118" fmla="*/ 198494 h 1145790"/>
              <a:gd name="connsiteX0-119" fmla="*/ 0 w 12609094"/>
              <a:gd name="connsiteY0-120" fmla="*/ 458098 h 1100219"/>
              <a:gd name="connsiteX1-121" fmla="*/ 4010526 w 12609094"/>
              <a:gd name="connsiteY1-122" fmla="*/ 24961 h 1100219"/>
              <a:gd name="connsiteX2-123" fmla="*/ 8678779 w 12609094"/>
              <a:gd name="connsiteY2-124" fmla="*/ 1099783 h 1100219"/>
              <a:gd name="connsiteX3-125" fmla="*/ 12609094 w 12609094"/>
              <a:gd name="connsiteY3-126" fmla="*/ 153298 h 1100219"/>
              <a:gd name="connsiteX0-127" fmla="*/ 0 w 12609094"/>
              <a:gd name="connsiteY0-128" fmla="*/ 459006 h 1117160"/>
              <a:gd name="connsiteX1-129" fmla="*/ 4010526 w 12609094"/>
              <a:gd name="connsiteY1-130" fmla="*/ 25869 h 1117160"/>
              <a:gd name="connsiteX2-131" fmla="*/ 8999621 w 12609094"/>
              <a:gd name="connsiteY2-132" fmla="*/ 1116733 h 1117160"/>
              <a:gd name="connsiteX3-133" fmla="*/ 12609094 w 12609094"/>
              <a:gd name="connsiteY3-134" fmla="*/ 154206 h 1117160"/>
              <a:gd name="connsiteX0-135" fmla="*/ 0 w 12288251"/>
              <a:gd name="connsiteY0-136" fmla="*/ 459006 h 1118949"/>
              <a:gd name="connsiteX1-137" fmla="*/ 4010526 w 12288251"/>
              <a:gd name="connsiteY1-138" fmla="*/ 25869 h 1118949"/>
              <a:gd name="connsiteX2-139" fmla="*/ 8999621 w 12288251"/>
              <a:gd name="connsiteY2-140" fmla="*/ 1116733 h 1118949"/>
              <a:gd name="connsiteX3-141" fmla="*/ 12288251 w 12288251"/>
              <a:gd name="connsiteY3-142" fmla="*/ 298585 h 1118949"/>
              <a:gd name="connsiteX0-143" fmla="*/ 0 w 12288251"/>
              <a:gd name="connsiteY0-144" fmla="*/ 459006 h 1119678"/>
              <a:gd name="connsiteX1-145" fmla="*/ 4010526 w 12288251"/>
              <a:gd name="connsiteY1-146" fmla="*/ 25869 h 1119678"/>
              <a:gd name="connsiteX2-147" fmla="*/ 8999621 w 12288251"/>
              <a:gd name="connsiteY2-148" fmla="*/ 1116733 h 1119678"/>
              <a:gd name="connsiteX3-149" fmla="*/ 12288251 w 12288251"/>
              <a:gd name="connsiteY3-150" fmla="*/ 298585 h 1119678"/>
              <a:gd name="connsiteX0-151" fmla="*/ 0 w 12336378"/>
              <a:gd name="connsiteY0-152" fmla="*/ 459006 h 1119678"/>
              <a:gd name="connsiteX1-153" fmla="*/ 4010526 w 12336378"/>
              <a:gd name="connsiteY1-154" fmla="*/ 25869 h 1119678"/>
              <a:gd name="connsiteX2-155" fmla="*/ 8999621 w 12336378"/>
              <a:gd name="connsiteY2-156" fmla="*/ 1116733 h 1119678"/>
              <a:gd name="connsiteX3-157" fmla="*/ 12336378 w 12336378"/>
              <a:gd name="connsiteY3-158" fmla="*/ 298585 h 1119678"/>
              <a:gd name="connsiteX0-159" fmla="*/ 0 w 12336378"/>
              <a:gd name="connsiteY0-160" fmla="*/ 459006 h 1119864"/>
              <a:gd name="connsiteX1-161" fmla="*/ 4010526 w 12336378"/>
              <a:gd name="connsiteY1-162" fmla="*/ 25869 h 1119864"/>
              <a:gd name="connsiteX2-163" fmla="*/ 8999621 w 12336378"/>
              <a:gd name="connsiteY2-164" fmla="*/ 1116733 h 1119864"/>
              <a:gd name="connsiteX3-165" fmla="*/ 12336378 w 12336378"/>
              <a:gd name="connsiteY3-166" fmla="*/ 298585 h 1119864"/>
              <a:gd name="connsiteX0-167" fmla="*/ 0 w 12336378"/>
              <a:gd name="connsiteY0-168" fmla="*/ 459920 h 1136723"/>
              <a:gd name="connsiteX1-169" fmla="*/ 4010526 w 12336378"/>
              <a:gd name="connsiteY1-170" fmla="*/ 26783 h 1136723"/>
              <a:gd name="connsiteX2-171" fmla="*/ 9160042 w 12336378"/>
              <a:gd name="connsiteY2-172" fmla="*/ 1133689 h 1136723"/>
              <a:gd name="connsiteX3-173" fmla="*/ 12336378 w 12336378"/>
              <a:gd name="connsiteY3-174" fmla="*/ 299499 h 1136723"/>
              <a:gd name="connsiteX0-175" fmla="*/ 0 w 12336378"/>
              <a:gd name="connsiteY0-176" fmla="*/ 489883 h 1167372"/>
              <a:gd name="connsiteX1-177" fmla="*/ 3930315 w 12336378"/>
              <a:gd name="connsiteY1-178" fmla="*/ 24662 h 1167372"/>
              <a:gd name="connsiteX2-179" fmla="*/ 9160042 w 12336378"/>
              <a:gd name="connsiteY2-180" fmla="*/ 1163652 h 1167372"/>
              <a:gd name="connsiteX3-181" fmla="*/ 12336378 w 12336378"/>
              <a:gd name="connsiteY3-182" fmla="*/ 329462 h 1167372"/>
              <a:gd name="connsiteX0-183" fmla="*/ 0 w 12336378"/>
              <a:gd name="connsiteY0-184" fmla="*/ 489883 h 1167372"/>
              <a:gd name="connsiteX1-185" fmla="*/ 3930315 w 12336378"/>
              <a:gd name="connsiteY1-186" fmla="*/ 24662 h 1167372"/>
              <a:gd name="connsiteX2-187" fmla="*/ 9160042 w 12336378"/>
              <a:gd name="connsiteY2-188" fmla="*/ 1163652 h 1167372"/>
              <a:gd name="connsiteX3-189" fmla="*/ 12336378 w 12336378"/>
              <a:gd name="connsiteY3-190" fmla="*/ 329462 h 1167372"/>
              <a:gd name="connsiteX0-191" fmla="*/ 0 w 12336378"/>
              <a:gd name="connsiteY0-192" fmla="*/ 489883 h 1166384"/>
              <a:gd name="connsiteX1-193" fmla="*/ 3930315 w 12336378"/>
              <a:gd name="connsiteY1-194" fmla="*/ 24662 h 1166384"/>
              <a:gd name="connsiteX2-195" fmla="*/ 9160042 w 12336378"/>
              <a:gd name="connsiteY2-196" fmla="*/ 1163652 h 1166384"/>
              <a:gd name="connsiteX3-197" fmla="*/ 12336378 w 12336378"/>
              <a:gd name="connsiteY3-198" fmla="*/ 329462 h 1166384"/>
              <a:gd name="connsiteX0-199" fmla="*/ 0 w 12256167"/>
              <a:gd name="connsiteY0-200" fmla="*/ 489883 h 1168885"/>
              <a:gd name="connsiteX1-201" fmla="*/ 3930315 w 12256167"/>
              <a:gd name="connsiteY1-202" fmla="*/ 24662 h 1168885"/>
              <a:gd name="connsiteX2-203" fmla="*/ 9160042 w 12256167"/>
              <a:gd name="connsiteY2-204" fmla="*/ 1163652 h 1168885"/>
              <a:gd name="connsiteX3-205" fmla="*/ 12256167 w 12256167"/>
              <a:gd name="connsiteY3-206" fmla="*/ 425715 h 1168885"/>
              <a:gd name="connsiteX0-207" fmla="*/ 0 w 12240125"/>
              <a:gd name="connsiteY0-208" fmla="*/ 238646 h 1254532"/>
              <a:gd name="connsiteX1-209" fmla="*/ 3914273 w 12240125"/>
              <a:gd name="connsiteY1-210" fmla="*/ 110309 h 1254532"/>
              <a:gd name="connsiteX2-211" fmla="*/ 9144000 w 12240125"/>
              <a:gd name="connsiteY2-212" fmla="*/ 1249299 h 1254532"/>
              <a:gd name="connsiteX3-213" fmla="*/ 12240125 w 12240125"/>
              <a:gd name="connsiteY3-214" fmla="*/ 511362 h 1254532"/>
              <a:gd name="connsiteX0-215" fmla="*/ 0 w 12240125"/>
              <a:gd name="connsiteY0-216" fmla="*/ 259219 h 1275890"/>
              <a:gd name="connsiteX1-217" fmla="*/ 3978441 w 12240125"/>
              <a:gd name="connsiteY1-218" fmla="*/ 98798 h 1275890"/>
              <a:gd name="connsiteX2-219" fmla="*/ 9144000 w 12240125"/>
              <a:gd name="connsiteY2-220" fmla="*/ 1269872 h 1275890"/>
              <a:gd name="connsiteX3-221" fmla="*/ 12240125 w 12240125"/>
              <a:gd name="connsiteY3-222" fmla="*/ 531935 h 1275890"/>
              <a:gd name="connsiteX0-223" fmla="*/ 0 w 12240125"/>
              <a:gd name="connsiteY0-224" fmla="*/ 259219 h 1271902"/>
              <a:gd name="connsiteX1-225" fmla="*/ 3978441 w 12240125"/>
              <a:gd name="connsiteY1-226" fmla="*/ 98798 h 1271902"/>
              <a:gd name="connsiteX2-227" fmla="*/ 9144000 w 12240125"/>
              <a:gd name="connsiteY2-228" fmla="*/ 1269872 h 1271902"/>
              <a:gd name="connsiteX3-229" fmla="*/ 12240125 w 12240125"/>
              <a:gd name="connsiteY3-230" fmla="*/ 531935 h 1271902"/>
              <a:gd name="connsiteX0-231" fmla="*/ 0 w 12240125"/>
              <a:gd name="connsiteY0-232" fmla="*/ 259219 h 1271902"/>
              <a:gd name="connsiteX1-233" fmla="*/ 3978441 w 12240125"/>
              <a:gd name="connsiteY1-234" fmla="*/ 98798 h 1271902"/>
              <a:gd name="connsiteX2-235" fmla="*/ 8999621 w 12240125"/>
              <a:gd name="connsiteY2-236" fmla="*/ 1269872 h 1271902"/>
              <a:gd name="connsiteX3-237" fmla="*/ 12240125 w 12240125"/>
              <a:gd name="connsiteY3-238" fmla="*/ 531935 h 1271902"/>
            </a:gdLst>
            <a:ahLst/>
            <a:cxnLst>
              <a:cxn ang="0">
                <a:pos x="connsiteX0-1" y="connsiteY0-2"/>
              </a:cxn>
              <a:cxn ang="0">
                <a:pos x="connsiteX1-3" y="connsiteY1-4"/>
              </a:cxn>
              <a:cxn ang="0">
                <a:pos x="connsiteX2-5" y="connsiteY2-6"/>
              </a:cxn>
              <a:cxn ang="0">
                <a:pos x="connsiteX3-7" y="connsiteY3-8"/>
              </a:cxn>
            </a:cxnLst>
            <a:rect l="l" t="t" r="r" b="b"/>
            <a:pathLst>
              <a:path w="12240125" h="1271902">
                <a:moveTo>
                  <a:pt x="0" y="259219"/>
                </a:moveTo>
                <a:cubicBezTo>
                  <a:pt x="1137652" y="-26865"/>
                  <a:pt x="2478504" y="-69644"/>
                  <a:pt x="3978441" y="98798"/>
                </a:cubicBezTo>
                <a:cubicBezTo>
                  <a:pt x="5478378" y="267240"/>
                  <a:pt x="7606632" y="1229768"/>
                  <a:pt x="8999621" y="1269872"/>
                </a:cubicBezTo>
                <a:cubicBezTo>
                  <a:pt x="10392610" y="1309976"/>
                  <a:pt x="11902573" y="745162"/>
                  <a:pt x="12240125" y="531935"/>
                </a:cubicBezTo>
              </a:path>
            </a:pathLst>
          </a:custGeom>
          <a:noFill/>
          <a:ln w="9525">
            <a:solidFill>
              <a:srgbClr val="3F404B"/>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28053" y="3335655"/>
            <a:ext cx="1565275" cy="2064385"/>
          </a:xfrm>
          <a:prstGeom prst="rect">
            <a:avLst/>
          </a:prstGeom>
        </p:spPr>
        <p:txBody>
          <a:bodyPr wrap="square">
            <a:spAutoFit/>
          </a:bodyPr>
          <a:lstStyle/>
          <a:p>
            <a:pPr algn="ctr">
              <a:lnSpc>
                <a:spcPct val="130000"/>
              </a:lnSpc>
              <a:spcAft>
                <a:spcPts val="0"/>
              </a:spcAft>
              <a:defRPr/>
            </a:pPr>
            <a:r>
              <a:rPr lang="zh-CN" altLang="en-US" b="1" kern="100" dirty="0" smtClean="0">
                <a:solidFill>
                  <a:schemeClr val="tx1">
                    <a:lumMod val="65000"/>
                    <a:lumOff val="35000"/>
                  </a:schemeClr>
                </a:solidFill>
                <a:latin typeface="+mj-ea"/>
                <a:ea typeface="+mj-ea"/>
                <a:cs typeface="Times New Roman" panose="02020603050405020304" pitchFamily="18" charset="0"/>
              </a:rPr>
              <a:t>首批</a:t>
            </a:r>
            <a:r>
              <a:rPr lang="en-US" altLang="zh-CN" b="1" kern="100" dirty="0" smtClean="0">
                <a:solidFill>
                  <a:schemeClr val="tx1">
                    <a:lumMod val="65000"/>
                    <a:lumOff val="35000"/>
                  </a:schemeClr>
                </a:solidFill>
                <a:latin typeface="+mj-ea"/>
                <a:ea typeface="+mj-ea"/>
                <a:cs typeface="Times New Roman" panose="02020603050405020304" pitchFamily="18" charset="0"/>
              </a:rPr>
              <a:t>FBA</a:t>
            </a:r>
            <a:r>
              <a:rPr lang="zh-CN" altLang="en-US" b="1" kern="100" dirty="0" smtClean="0">
                <a:solidFill>
                  <a:schemeClr val="tx1">
                    <a:lumMod val="65000"/>
                    <a:lumOff val="35000"/>
                  </a:schemeClr>
                </a:solidFill>
                <a:latin typeface="+mj-ea"/>
                <a:ea typeface="+mj-ea"/>
                <a:cs typeface="Times New Roman" panose="02020603050405020304" pitchFamily="18" charset="0"/>
              </a:rPr>
              <a:t>库存</a:t>
            </a:r>
            <a:endParaRPr lang="zh-CN" altLang="en-US" b="1" kern="100" dirty="0" smtClean="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altLang="zh-CN" sz="1400" kern="100" dirty="0" smtClean="0">
                <a:solidFill>
                  <a:schemeClr val="tx1">
                    <a:lumMod val="65000"/>
                    <a:lumOff val="35000"/>
                  </a:schemeClr>
                </a:solidFill>
                <a:latin typeface="+mj-ea"/>
                <a:ea typeface="+mj-ea"/>
                <a:cs typeface="Times New Roman" panose="02020603050405020304" pitchFamily="18" charset="0"/>
              </a:rPr>
              <a:t>1.</a:t>
            </a:r>
            <a:r>
              <a:rPr lang="zh-CN" altLang="en-US" sz="1400" kern="100" dirty="0" smtClean="0">
                <a:solidFill>
                  <a:schemeClr val="tx1">
                    <a:lumMod val="65000"/>
                    <a:lumOff val="35000"/>
                  </a:schemeClr>
                </a:solidFill>
                <a:latin typeface="+mj-ea"/>
                <a:ea typeface="+mj-ea"/>
                <a:cs typeface="Times New Roman" panose="02020603050405020304" pitchFamily="18" charset="0"/>
              </a:rPr>
              <a:t>根据观察对手</a:t>
            </a:r>
            <a:endParaRPr lang="zh-CN" altLang="en-US" sz="1400" kern="100" dirty="0" smtClean="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altLang="zh-CN" sz="1400" kern="100" dirty="0" smtClean="0">
                <a:solidFill>
                  <a:schemeClr val="tx1">
                    <a:lumMod val="65000"/>
                    <a:lumOff val="35000"/>
                  </a:schemeClr>
                </a:solidFill>
                <a:latin typeface="+mj-ea"/>
                <a:ea typeface="+mj-ea"/>
                <a:cs typeface="Times New Roman" panose="02020603050405020304" pitchFamily="18" charset="0"/>
              </a:rPr>
              <a:t>2.</a:t>
            </a:r>
            <a:r>
              <a:rPr lang="zh-CN" altLang="en-US" sz="1400" kern="100" dirty="0" smtClean="0">
                <a:solidFill>
                  <a:schemeClr val="tx1">
                    <a:lumMod val="65000"/>
                    <a:lumOff val="35000"/>
                  </a:schemeClr>
                </a:solidFill>
                <a:latin typeface="+mj-ea"/>
                <a:ea typeface="+mj-ea"/>
                <a:cs typeface="Times New Roman" panose="02020603050405020304" pitchFamily="18" charset="0"/>
              </a:rPr>
              <a:t>类目流量分析</a:t>
            </a:r>
            <a:endParaRPr lang="zh-CN" altLang="en-US" sz="1400" kern="100" dirty="0" smtClean="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altLang="zh-CN" sz="1400" kern="100" dirty="0" smtClean="0">
                <a:solidFill>
                  <a:schemeClr val="tx1">
                    <a:lumMod val="65000"/>
                    <a:lumOff val="35000"/>
                  </a:schemeClr>
                </a:solidFill>
                <a:latin typeface="+mj-ea"/>
                <a:ea typeface="+mj-ea"/>
                <a:cs typeface="Times New Roman" panose="02020603050405020304" pitchFamily="18" charset="0"/>
              </a:rPr>
              <a:t>3.</a:t>
            </a:r>
            <a:r>
              <a:rPr lang="zh-CN" altLang="en-US" sz="1400" kern="100" dirty="0" smtClean="0">
                <a:solidFill>
                  <a:srgbClr val="FF0000"/>
                </a:solidFill>
                <a:latin typeface="+mj-ea"/>
                <a:ea typeface="+mj-ea"/>
                <a:cs typeface="Times New Roman" panose="02020603050405020304" pitchFamily="18" charset="0"/>
              </a:rPr>
              <a:t>手动自动广告一起开</a:t>
            </a:r>
            <a:endParaRPr lang="zh-CN" altLang="en-US" sz="1400" kern="100" dirty="0" smtClean="0">
              <a:solidFill>
                <a:srgbClr val="FF0000"/>
              </a:solidFill>
              <a:latin typeface="+mj-ea"/>
              <a:ea typeface="+mj-ea"/>
              <a:cs typeface="Times New Roman" panose="02020603050405020304" pitchFamily="18" charset="0"/>
            </a:endParaRPr>
          </a:p>
          <a:p>
            <a:pPr>
              <a:spcBef>
                <a:spcPts val="500"/>
              </a:spcBef>
              <a:spcAft>
                <a:spcPts val="0"/>
              </a:spcAft>
              <a:defRPr/>
            </a:pPr>
            <a:r>
              <a:rPr lang="en-US" altLang="zh-CN" sz="1400" kern="100" dirty="0" smtClean="0">
                <a:solidFill>
                  <a:schemeClr val="tx1">
                    <a:lumMod val="65000"/>
                    <a:lumOff val="35000"/>
                  </a:schemeClr>
                </a:solidFill>
                <a:latin typeface="+mj-ea"/>
                <a:ea typeface="+mj-ea"/>
                <a:cs typeface="Times New Roman" panose="02020603050405020304" pitchFamily="18" charset="0"/>
              </a:rPr>
              <a:t>4.Review</a:t>
            </a:r>
            <a:r>
              <a:rPr lang="zh-CN" altLang="en-US" sz="1400" kern="100" dirty="0" smtClean="0">
                <a:solidFill>
                  <a:schemeClr val="tx1">
                    <a:lumMod val="65000"/>
                    <a:lumOff val="35000"/>
                  </a:schemeClr>
                </a:solidFill>
                <a:latin typeface="+mj-ea"/>
                <a:ea typeface="+mj-ea"/>
                <a:cs typeface="Times New Roman" panose="02020603050405020304" pitchFamily="18" charset="0"/>
              </a:rPr>
              <a:t>需求</a:t>
            </a:r>
            <a:endParaRPr lang="zh-CN" altLang="en-US" sz="1400" kern="100" dirty="0" smtClean="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altLang="zh-CN" sz="1400" kern="100" dirty="0" smtClean="0">
                <a:solidFill>
                  <a:schemeClr val="tx1">
                    <a:lumMod val="65000"/>
                    <a:lumOff val="35000"/>
                  </a:schemeClr>
                </a:solidFill>
                <a:latin typeface="+mj-ea"/>
                <a:ea typeface="+mj-ea"/>
                <a:cs typeface="Times New Roman" panose="02020603050405020304" pitchFamily="18" charset="0"/>
              </a:rPr>
              <a:t>5.</a:t>
            </a:r>
            <a:r>
              <a:rPr lang="zh-CN" altLang="en-US" sz="1400" kern="100" dirty="0" smtClean="0">
                <a:solidFill>
                  <a:schemeClr val="tx1">
                    <a:lumMod val="65000"/>
                    <a:lumOff val="35000"/>
                  </a:schemeClr>
                </a:solidFill>
                <a:latin typeface="+mj-ea"/>
                <a:ea typeface="+mj-ea"/>
                <a:cs typeface="Times New Roman" panose="02020603050405020304" pitchFamily="18" charset="0"/>
              </a:rPr>
              <a:t>秒杀申报需求</a:t>
            </a:r>
            <a:endParaRPr lang="zh-CN" altLang="en-US" sz="1400" kern="100" dirty="0" smtClean="0">
              <a:solidFill>
                <a:schemeClr val="tx1">
                  <a:lumMod val="65000"/>
                  <a:lumOff val="35000"/>
                </a:schemeClr>
              </a:solidFill>
              <a:latin typeface="+mj-ea"/>
              <a:ea typeface="+mj-ea"/>
              <a:cs typeface="Times New Roman" panose="02020603050405020304" pitchFamily="18" charset="0"/>
            </a:endParaRPr>
          </a:p>
        </p:txBody>
      </p:sp>
      <p:sp>
        <p:nvSpPr>
          <p:cNvPr id="15" name="矩形 14"/>
          <p:cNvSpPr/>
          <p:nvPr/>
        </p:nvSpPr>
        <p:spPr>
          <a:xfrm>
            <a:off x="2589684" y="3431326"/>
            <a:ext cx="2640965" cy="2128520"/>
          </a:xfrm>
          <a:prstGeom prst="rect">
            <a:avLst/>
          </a:prstGeom>
        </p:spPr>
        <p:txBody>
          <a:bodyPr wrap="none">
            <a:spAutoFit/>
          </a:bodyPr>
          <a:lstStyle/>
          <a:p>
            <a:pPr algn="ctr">
              <a:lnSpc>
                <a:spcPct val="130000"/>
              </a:lnSpc>
              <a:spcAft>
                <a:spcPts val="0"/>
              </a:spcAft>
              <a:defRPr/>
            </a:pPr>
            <a:r>
              <a:rPr lang="zh-CN" altLang="en-US" b="1" kern="100" dirty="0">
                <a:solidFill>
                  <a:schemeClr val="tx1">
                    <a:lumMod val="65000"/>
                    <a:lumOff val="35000"/>
                  </a:schemeClr>
                </a:solidFill>
                <a:latin typeface="+mj-ea"/>
                <a:ea typeface="+mj-ea"/>
                <a:cs typeface="Times New Roman" panose="02020603050405020304" pitchFamily="18" charset="0"/>
              </a:rPr>
              <a:t>产品销售一个月</a:t>
            </a:r>
            <a:endParaRPr lang="zh-CN" altLang="en-US" b="1" kern="100" dirty="0">
              <a:solidFill>
                <a:schemeClr val="tx1">
                  <a:lumMod val="65000"/>
                  <a:lumOff val="35000"/>
                </a:schemeClr>
              </a:solidFill>
              <a:latin typeface="+mj-ea"/>
              <a:ea typeface="+mj-ea"/>
              <a:cs typeface="Times New Roman" panose="02020603050405020304" pitchFamily="18" charset="0"/>
            </a:endParaRPr>
          </a:p>
          <a:p>
            <a:pPr algn="ctr">
              <a:spcBef>
                <a:spcPts val="500"/>
              </a:spcBef>
              <a:spcAft>
                <a:spcPts val="0"/>
              </a:spcAft>
              <a:defRPr/>
            </a:pPr>
            <a:r>
              <a:rPr lang="en-US" sz="1400" kern="100" dirty="0">
                <a:solidFill>
                  <a:schemeClr val="tx1">
                    <a:lumMod val="65000"/>
                    <a:lumOff val="35000"/>
                  </a:schemeClr>
                </a:solidFill>
                <a:latin typeface="+mj-ea"/>
                <a:ea typeface="+mj-ea"/>
                <a:cs typeface="Times New Roman" panose="02020603050405020304" pitchFamily="18" charset="0"/>
              </a:rPr>
              <a:t>1.</a:t>
            </a:r>
            <a:r>
              <a:rPr lang="zh-CN" altLang="en-US" sz="1400" kern="100" dirty="0">
                <a:solidFill>
                  <a:schemeClr val="tx1">
                    <a:lumMod val="65000"/>
                    <a:lumOff val="35000"/>
                  </a:schemeClr>
                </a:solidFill>
                <a:latin typeface="+mj-ea"/>
                <a:ea typeface="+mj-ea"/>
                <a:cs typeface="Times New Roman" panose="02020603050405020304" pitchFamily="18" charset="0"/>
              </a:rPr>
              <a:t>如果库存够用就不用采购备货</a:t>
            </a:r>
            <a:endParaRPr lang="zh-CN" altLang="en-US" sz="1400" kern="100" dirty="0">
              <a:solidFill>
                <a:schemeClr val="tx1">
                  <a:lumMod val="65000"/>
                  <a:lumOff val="35000"/>
                </a:schemeClr>
              </a:solidFill>
              <a:latin typeface="+mj-ea"/>
              <a:ea typeface="+mj-ea"/>
              <a:cs typeface="Times New Roman" panose="02020603050405020304" pitchFamily="18" charset="0"/>
            </a:endParaRPr>
          </a:p>
          <a:p>
            <a:pPr algn="l">
              <a:spcBef>
                <a:spcPts val="500"/>
              </a:spcBef>
              <a:spcAft>
                <a:spcPts val="0"/>
              </a:spcAft>
              <a:defRPr/>
            </a:pPr>
            <a:r>
              <a:rPr lang="en-US" altLang="zh-CN" sz="1400" kern="100" dirty="0">
                <a:solidFill>
                  <a:schemeClr val="tx1">
                    <a:lumMod val="65000"/>
                    <a:lumOff val="35000"/>
                  </a:schemeClr>
                </a:solidFill>
                <a:latin typeface="+mj-ea"/>
                <a:ea typeface="+mj-ea"/>
                <a:cs typeface="Times New Roman" panose="02020603050405020304" pitchFamily="18" charset="0"/>
              </a:rPr>
              <a:t>2.</a:t>
            </a:r>
            <a:r>
              <a:rPr lang="zh-CN" altLang="en-US" sz="1400" kern="100" dirty="0">
                <a:solidFill>
                  <a:schemeClr val="tx1">
                    <a:lumMod val="65000"/>
                    <a:lumOff val="35000"/>
                  </a:schemeClr>
                </a:solidFill>
                <a:latin typeface="+mj-ea"/>
                <a:ea typeface="+mj-ea"/>
                <a:cs typeface="Times New Roman" panose="02020603050405020304" pitchFamily="18" charset="0"/>
              </a:rPr>
              <a:t>自然出单效果好，马上采购</a:t>
            </a:r>
            <a:endParaRPr lang="zh-CN" altLang="en-US" sz="1400" kern="100" dirty="0">
              <a:solidFill>
                <a:schemeClr val="tx1">
                  <a:lumMod val="65000"/>
                  <a:lumOff val="35000"/>
                </a:schemeClr>
              </a:solidFill>
              <a:latin typeface="+mj-ea"/>
              <a:ea typeface="+mj-ea"/>
              <a:cs typeface="Times New Roman" panose="02020603050405020304" pitchFamily="18" charset="0"/>
            </a:endParaRPr>
          </a:p>
          <a:p>
            <a:pPr algn="l">
              <a:spcBef>
                <a:spcPts val="500"/>
              </a:spcBef>
              <a:spcAft>
                <a:spcPts val="0"/>
              </a:spcAft>
              <a:defRPr/>
            </a:pPr>
            <a:r>
              <a:rPr lang="en-US" altLang="zh-CN" sz="1400" kern="100" dirty="0">
                <a:solidFill>
                  <a:schemeClr val="tx1">
                    <a:lumMod val="65000"/>
                    <a:lumOff val="35000"/>
                  </a:schemeClr>
                </a:solidFill>
                <a:latin typeface="+mj-ea"/>
                <a:ea typeface="+mj-ea"/>
                <a:cs typeface="Times New Roman" panose="02020603050405020304" pitchFamily="18" charset="0"/>
              </a:rPr>
              <a:t>3.</a:t>
            </a:r>
            <a:r>
              <a:rPr lang="en-US" altLang="zh-CN" sz="1400" kern="100" dirty="0">
                <a:solidFill>
                  <a:srgbClr val="FF0000"/>
                </a:solidFill>
                <a:latin typeface="+mj-ea"/>
                <a:ea typeface="+mj-ea"/>
                <a:cs typeface="Times New Roman" panose="02020603050405020304" pitchFamily="18" charset="0"/>
              </a:rPr>
              <a:t>CPC</a:t>
            </a:r>
            <a:r>
              <a:rPr lang="zh-CN" altLang="en-US" sz="1400" kern="100" dirty="0">
                <a:solidFill>
                  <a:srgbClr val="FF0000"/>
                </a:solidFill>
                <a:latin typeface="+mj-ea"/>
                <a:ea typeface="+mj-ea"/>
                <a:cs typeface="Times New Roman" panose="02020603050405020304" pitchFamily="18" charset="0"/>
              </a:rPr>
              <a:t>关键字整理分组</a:t>
            </a:r>
            <a:endParaRPr lang="zh-CN" altLang="en-US" sz="1400" kern="100" dirty="0">
              <a:solidFill>
                <a:srgbClr val="FF0000"/>
              </a:solidFill>
              <a:latin typeface="+mj-ea"/>
              <a:ea typeface="+mj-ea"/>
              <a:cs typeface="Times New Roman" panose="02020603050405020304" pitchFamily="18" charset="0"/>
            </a:endParaRPr>
          </a:p>
          <a:p>
            <a:pPr algn="l">
              <a:spcBef>
                <a:spcPts val="500"/>
              </a:spcBef>
              <a:spcAft>
                <a:spcPts val="0"/>
              </a:spcAft>
              <a:defRPr/>
            </a:pPr>
            <a:r>
              <a:rPr lang="en-US" altLang="zh-CN" sz="1400" kern="100" dirty="0">
                <a:solidFill>
                  <a:schemeClr val="tx1">
                    <a:lumMod val="65000"/>
                    <a:lumOff val="35000"/>
                  </a:schemeClr>
                </a:solidFill>
                <a:latin typeface="+mj-ea"/>
                <a:ea typeface="+mj-ea"/>
                <a:cs typeface="Times New Roman" panose="02020603050405020304" pitchFamily="18" charset="0"/>
              </a:rPr>
              <a:t>4.</a:t>
            </a:r>
            <a:r>
              <a:rPr lang="zh-CN" altLang="en-US" sz="1400" kern="100" dirty="0">
                <a:solidFill>
                  <a:schemeClr val="tx1">
                    <a:lumMod val="65000"/>
                    <a:lumOff val="35000"/>
                  </a:schemeClr>
                </a:solidFill>
                <a:latin typeface="+mj-ea"/>
                <a:ea typeface="+mj-ea"/>
                <a:cs typeface="Times New Roman" panose="02020603050405020304" pitchFamily="18" charset="0"/>
              </a:rPr>
              <a:t>秒杀</a:t>
            </a:r>
            <a:r>
              <a:rPr lang="zh-CN" altLang="en-US" sz="1400" kern="100" dirty="0">
                <a:solidFill>
                  <a:schemeClr val="tx1">
                    <a:lumMod val="65000"/>
                    <a:lumOff val="35000"/>
                  </a:schemeClr>
                </a:solidFill>
                <a:latin typeface="+mj-ea"/>
                <a:ea typeface="+mj-ea"/>
                <a:cs typeface="Times New Roman" panose="02020603050405020304" pitchFamily="18" charset="0"/>
                <a:sym typeface="+mn-ea"/>
              </a:rPr>
              <a:t>申报</a:t>
            </a:r>
            <a:endParaRPr lang="zh-CN" altLang="en-US" sz="1400" kern="100" dirty="0">
              <a:solidFill>
                <a:schemeClr val="tx1">
                  <a:lumMod val="65000"/>
                  <a:lumOff val="35000"/>
                </a:schemeClr>
              </a:solidFill>
              <a:latin typeface="+mj-ea"/>
              <a:ea typeface="+mj-ea"/>
              <a:cs typeface="Times New Roman" panose="02020603050405020304" pitchFamily="18" charset="0"/>
            </a:endParaRPr>
          </a:p>
          <a:p>
            <a:pPr algn="l">
              <a:spcBef>
                <a:spcPts val="500"/>
              </a:spcBef>
              <a:spcAft>
                <a:spcPts val="0"/>
              </a:spcAft>
              <a:defRPr/>
            </a:pPr>
            <a:r>
              <a:rPr lang="en-US" altLang="zh-CN" sz="1400" kern="100" dirty="0">
                <a:solidFill>
                  <a:schemeClr val="tx1">
                    <a:lumMod val="65000"/>
                    <a:lumOff val="35000"/>
                  </a:schemeClr>
                </a:solidFill>
                <a:latin typeface="+mj-ea"/>
                <a:ea typeface="+mj-ea"/>
                <a:cs typeface="Times New Roman" panose="02020603050405020304" pitchFamily="18" charset="0"/>
              </a:rPr>
              <a:t>5.</a:t>
            </a:r>
            <a:r>
              <a:rPr lang="zh-CN" altLang="en-US" sz="1400" kern="100" dirty="0">
                <a:solidFill>
                  <a:schemeClr val="tx1">
                    <a:lumMod val="65000"/>
                    <a:lumOff val="35000"/>
                  </a:schemeClr>
                </a:solidFill>
                <a:latin typeface="+mj-ea"/>
                <a:ea typeface="+mj-ea"/>
                <a:cs typeface="Times New Roman" panose="02020603050405020304" pitchFamily="18" charset="0"/>
              </a:rPr>
              <a:t>剩余库存最少够卖</a:t>
            </a:r>
            <a:r>
              <a:rPr lang="en-US" altLang="zh-CN" sz="1400" kern="100" dirty="0">
                <a:solidFill>
                  <a:schemeClr val="tx1">
                    <a:lumMod val="65000"/>
                    <a:lumOff val="35000"/>
                  </a:schemeClr>
                </a:solidFill>
                <a:latin typeface="+mj-ea"/>
                <a:ea typeface="+mj-ea"/>
                <a:cs typeface="Times New Roman" panose="02020603050405020304" pitchFamily="18" charset="0"/>
              </a:rPr>
              <a:t>20</a:t>
            </a:r>
            <a:r>
              <a:rPr lang="zh-CN" altLang="en-US" sz="1400" kern="100" dirty="0">
                <a:solidFill>
                  <a:schemeClr val="tx1">
                    <a:lumMod val="65000"/>
                    <a:lumOff val="35000"/>
                  </a:schemeClr>
                </a:solidFill>
                <a:latin typeface="+mj-ea"/>
                <a:ea typeface="+mj-ea"/>
                <a:cs typeface="Times New Roman" panose="02020603050405020304" pitchFamily="18" charset="0"/>
              </a:rPr>
              <a:t>天</a:t>
            </a:r>
            <a:r>
              <a:rPr lang="en-US" altLang="zh-CN" sz="1400" kern="100" dirty="0">
                <a:solidFill>
                  <a:schemeClr val="tx1">
                    <a:lumMod val="65000"/>
                    <a:lumOff val="35000"/>
                  </a:schemeClr>
                </a:solidFill>
                <a:latin typeface="+mj-ea"/>
                <a:ea typeface="+mj-ea"/>
                <a:cs typeface="Times New Roman" panose="02020603050405020304" pitchFamily="18" charset="0"/>
              </a:rPr>
              <a:t>(</a:t>
            </a:r>
            <a:r>
              <a:rPr lang="zh-CN" altLang="en-US" sz="1400" kern="100" dirty="0">
                <a:solidFill>
                  <a:schemeClr val="tx1">
                    <a:lumMod val="65000"/>
                    <a:lumOff val="35000"/>
                  </a:schemeClr>
                </a:solidFill>
                <a:latin typeface="+mj-ea"/>
                <a:ea typeface="+mj-ea"/>
                <a:cs typeface="Times New Roman" panose="02020603050405020304" pitchFamily="18" charset="0"/>
              </a:rPr>
              <a:t>浮动</a:t>
            </a:r>
            <a:r>
              <a:rPr lang="en-US" altLang="zh-CN" sz="1400" kern="100" dirty="0">
                <a:solidFill>
                  <a:schemeClr val="tx1">
                    <a:lumMod val="65000"/>
                    <a:lumOff val="35000"/>
                  </a:schemeClr>
                </a:solidFill>
                <a:latin typeface="+mj-ea"/>
                <a:ea typeface="+mj-ea"/>
                <a:cs typeface="Times New Roman" panose="02020603050405020304" pitchFamily="18" charset="0"/>
              </a:rPr>
              <a:t>)</a:t>
            </a:r>
            <a:endParaRPr lang="en-US" altLang="zh-CN" sz="1400" kern="100" dirty="0">
              <a:solidFill>
                <a:schemeClr val="tx1">
                  <a:lumMod val="65000"/>
                  <a:lumOff val="35000"/>
                </a:schemeClr>
              </a:solidFill>
              <a:latin typeface="+mj-ea"/>
              <a:ea typeface="+mj-ea"/>
              <a:cs typeface="Times New Roman" panose="02020603050405020304" pitchFamily="18" charset="0"/>
            </a:endParaRPr>
          </a:p>
          <a:p>
            <a:pPr algn="ctr">
              <a:spcBef>
                <a:spcPts val="500"/>
              </a:spcBef>
              <a:spcAft>
                <a:spcPts val="0"/>
              </a:spcAft>
              <a:defRPr/>
            </a:pPr>
            <a:r>
              <a:rPr lang="en-US" altLang="zh-CN" sz="1400" kern="100" dirty="0">
                <a:solidFill>
                  <a:schemeClr val="tx1">
                    <a:lumMod val="65000"/>
                    <a:lumOff val="35000"/>
                  </a:schemeClr>
                </a:solidFill>
                <a:latin typeface="+mj-ea"/>
                <a:ea typeface="+mj-ea"/>
                <a:cs typeface="Times New Roman" panose="02020603050405020304" pitchFamily="18" charset="0"/>
              </a:rPr>
              <a:t>6.</a:t>
            </a:r>
            <a:r>
              <a:rPr lang="zh-CN" altLang="en-US" sz="1400" kern="100" dirty="0">
                <a:solidFill>
                  <a:schemeClr val="tx1">
                    <a:lumMod val="65000"/>
                    <a:lumOff val="35000"/>
                  </a:schemeClr>
                </a:solidFill>
                <a:latin typeface="+mj-ea"/>
                <a:ea typeface="+mj-ea"/>
                <a:cs typeface="Times New Roman" panose="02020603050405020304" pitchFamily="18" charset="0"/>
              </a:rPr>
              <a:t>衔接备货采购交期与物流时间</a:t>
            </a:r>
            <a:endParaRPr lang="zh-CN" altLang="en-US" sz="1400" kern="100" dirty="0">
              <a:solidFill>
                <a:schemeClr val="tx1">
                  <a:lumMod val="65000"/>
                  <a:lumOff val="35000"/>
                </a:schemeClr>
              </a:solidFill>
              <a:latin typeface="+mj-ea"/>
              <a:ea typeface="+mj-ea"/>
              <a:cs typeface="Times New Roman" panose="02020603050405020304" pitchFamily="18" charset="0"/>
            </a:endParaRPr>
          </a:p>
        </p:txBody>
      </p:sp>
      <p:sp>
        <p:nvSpPr>
          <p:cNvPr id="16" name="矩形 15"/>
          <p:cNvSpPr/>
          <p:nvPr/>
        </p:nvSpPr>
        <p:spPr>
          <a:xfrm>
            <a:off x="5188585" y="3993515"/>
            <a:ext cx="2860040" cy="2343785"/>
          </a:xfrm>
          <a:prstGeom prst="rect">
            <a:avLst/>
          </a:prstGeom>
        </p:spPr>
        <p:txBody>
          <a:bodyPr wrap="square">
            <a:spAutoFit/>
          </a:bodyPr>
          <a:lstStyle/>
          <a:p>
            <a:pPr algn="ctr">
              <a:lnSpc>
                <a:spcPct val="130000"/>
              </a:lnSpc>
              <a:spcAft>
                <a:spcPts val="0"/>
              </a:spcAft>
              <a:defRPr/>
            </a:pPr>
            <a:r>
              <a:rPr lang="zh-CN" altLang="en-US" b="1" kern="100" dirty="0">
                <a:solidFill>
                  <a:schemeClr val="tx1">
                    <a:lumMod val="65000"/>
                    <a:lumOff val="35000"/>
                  </a:schemeClr>
                </a:solidFill>
                <a:latin typeface="+mj-ea"/>
                <a:ea typeface="+mj-ea"/>
                <a:cs typeface="Times New Roman" panose="02020603050405020304" pitchFamily="18" charset="0"/>
              </a:rPr>
              <a:t>差评来临</a:t>
            </a:r>
            <a:endParaRPr lang="zh-CN" altLang="en-US" b="1" kern="100" dirty="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sz="1400" kern="100" dirty="0">
                <a:solidFill>
                  <a:schemeClr val="tx1">
                    <a:lumMod val="65000"/>
                    <a:lumOff val="35000"/>
                  </a:schemeClr>
                </a:solidFill>
                <a:latin typeface="+mj-ea"/>
                <a:ea typeface="+mj-ea"/>
                <a:cs typeface="Times New Roman" panose="02020603050405020304" pitchFamily="18" charset="0"/>
              </a:rPr>
              <a:t>1.</a:t>
            </a:r>
            <a:r>
              <a:rPr lang="zh-CN" altLang="en-US" sz="1400" kern="100" dirty="0">
                <a:solidFill>
                  <a:schemeClr val="tx1">
                    <a:lumMod val="65000"/>
                    <a:lumOff val="35000"/>
                  </a:schemeClr>
                </a:solidFill>
                <a:latin typeface="+mj-ea"/>
                <a:ea typeface="+mj-ea"/>
                <a:cs typeface="Times New Roman" panose="02020603050405020304" pitchFamily="18" charset="0"/>
              </a:rPr>
              <a:t>是继续调拨</a:t>
            </a:r>
            <a:endParaRPr lang="zh-CN" altLang="en-US" sz="1400" kern="100" dirty="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altLang="zh-CN" sz="1400" kern="100" dirty="0">
                <a:solidFill>
                  <a:schemeClr val="tx1">
                    <a:lumMod val="65000"/>
                    <a:lumOff val="35000"/>
                  </a:schemeClr>
                </a:solidFill>
                <a:latin typeface="+mj-ea"/>
                <a:ea typeface="+mj-ea"/>
                <a:cs typeface="Times New Roman" panose="02020603050405020304" pitchFamily="18" charset="0"/>
              </a:rPr>
              <a:t>2.</a:t>
            </a:r>
            <a:r>
              <a:rPr lang="zh-CN" altLang="en-US" sz="1400" kern="100" dirty="0">
                <a:solidFill>
                  <a:schemeClr val="tx1">
                    <a:lumMod val="65000"/>
                    <a:lumOff val="35000"/>
                  </a:schemeClr>
                </a:solidFill>
                <a:latin typeface="+mj-ea"/>
                <a:ea typeface="+mj-ea"/>
                <a:cs typeface="Times New Roman" panose="02020603050405020304" pitchFamily="18" charset="0"/>
              </a:rPr>
              <a:t>还是放弃重新上架</a:t>
            </a:r>
            <a:endParaRPr lang="zh-CN" altLang="en-US" sz="1400" kern="100" dirty="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altLang="zh-CN" sz="1400" kern="100" dirty="0">
                <a:solidFill>
                  <a:schemeClr val="tx1">
                    <a:lumMod val="65000"/>
                    <a:lumOff val="35000"/>
                  </a:schemeClr>
                </a:solidFill>
                <a:latin typeface="+mj-ea"/>
                <a:ea typeface="+mj-ea"/>
                <a:cs typeface="Times New Roman" panose="02020603050405020304" pitchFamily="18" charset="0"/>
              </a:rPr>
              <a:t>(-</a:t>
            </a:r>
            <a:r>
              <a:rPr lang="zh-CN" altLang="en-US" sz="1400" kern="100" dirty="0">
                <a:solidFill>
                  <a:schemeClr val="tx1">
                    <a:lumMod val="65000"/>
                    <a:lumOff val="35000"/>
                  </a:schemeClr>
                </a:solidFill>
                <a:latin typeface="+mj-ea"/>
                <a:ea typeface="+mj-ea"/>
                <a:cs typeface="Times New Roman" panose="02020603050405020304" pitchFamily="18" charset="0"/>
              </a:rPr>
              <a:t>基于对市场的判断</a:t>
            </a:r>
            <a:endParaRPr lang="zh-CN" altLang="en-US" sz="1400" kern="100" dirty="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altLang="zh-CN" sz="1400" kern="100" dirty="0">
                <a:solidFill>
                  <a:schemeClr val="tx1">
                    <a:lumMod val="65000"/>
                    <a:lumOff val="35000"/>
                  </a:schemeClr>
                </a:solidFill>
                <a:latin typeface="+mj-ea"/>
                <a:ea typeface="+mj-ea"/>
                <a:cs typeface="Times New Roman" panose="02020603050405020304" pitchFamily="18" charset="0"/>
              </a:rPr>
              <a:t>-</a:t>
            </a:r>
            <a:r>
              <a:rPr lang="zh-CN" altLang="en-US" sz="1400" kern="100" dirty="0">
                <a:solidFill>
                  <a:schemeClr val="tx1">
                    <a:lumMod val="65000"/>
                    <a:lumOff val="35000"/>
                  </a:schemeClr>
                </a:solidFill>
                <a:latin typeface="+mj-ea"/>
                <a:ea typeface="+mj-ea"/>
                <a:cs typeface="Times New Roman" panose="02020603050405020304" pitchFamily="18" charset="0"/>
              </a:rPr>
              <a:t>基于对产品的信心</a:t>
            </a:r>
            <a:r>
              <a:rPr lang="en-US" altLang="zh-CN" sz="1400" kern="100" dirty="0">
                <a:solidFill>
                  <a:schemeClr val="tx1">
                    <a:lumMod val="65000"/>
                    <a:lumOff val="35000"/>
                  </a:schemeClr>
                </a:solidFill>
                <a:latin typeface="+mj-ea"/>
                <a:ea typeface="+mj-ea"/>
                <a:cs typeface="Times New Roman" panose="02020603050405020304" pitchFamily="18" charset="0"/>
              </a:rPr>
              <a:t>)</a:t>
            </a:r>
            <a:endParaRPr lang="en-US" altLang="zh-CN" sz="1400" kern="100" dirty="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altLang="zh-CN" sz="1400" kern="100" dirty="0">
                <a:solidFill>
                  <a:schemeClr val="tx1">
                    <a:lumMod val="65000"/>
                    <a:lumOff val="35000"/>
                  </a:schemeClr>
                </a:solidFill>
                <a:latin typeface="+mj-ea"/>
                <a:ea typeface="+mj-ea"/>
                <a:cs typeface="Times New Roman" panose="02020603050405020304" pitchFamily="18" charset="0"/>
              </a:rPr>
              <a:t>3.</a:t>
            </a:r>
            <a:r>
              <a:rPr lang="en-US" altLang="zh-CN" sz="1400" kern="100" dirty="0">
                <a:solidFill>
                  <a:srgbClr val="FF0000"/>
                </a:solidFill>
                <a:latin typeface="+mj-ea"/>
                <a:ea typeface="+mj-ea"/>
                <a:cs typeface="Times New Roman" panose="02020603050405020304" pitchFamily="18" charset="0"/>
              </a:rPr>
              <a:t>Acos</a:t>
            </a:r>
            <a:r>
              <a:rPr lang="zh-CN" altLang="en-US" sz="1400" kern="100" dirty="0">
                <a:solidFill>
                  <a:srgbClr val="FF0000"/>
                </a:solidFill>
                <a:latin typeface="+mj-ea"/>
                <a:ea typeface="+mj-ea"/>
                <a:cs typeface="Times New Roman" panose="02020603050405020304" pitchFamily="18" charset="0"/>
              </a:rPr>
              <a:t>超标还是控制在</a:t>
            </a:r>
            <a:r>
              <a:rPr lang="en-US" altLang="zh-CN" sz="1400" kern="100" dirty="0">
                <a:solidFill>
                  <a:srgbClr val="FF0000"/>
                </a:solidFill>
                <a:latin typeface="+mj-ea"/>
                <a:ea typeface="+mj-ea"/>
                <a:cs typeface="Times New Roman" panose="02020603050405020304" pitchFamily="18" charset="0"/>
              </a:rPr>
              <a:t>20%</a:t>
            </a:r>
            <a:r>
              <a:rPr lang="zh-CN" altLang="en-US" sz="1400" kern="100" dirty="0">
                <a:solidFill>
                  <a:srgbClr val="FF0000"/>
                </a:solidFill>
                <a:latin typeface="+mj-ea"/>
                <a:ea typeface="+mj-ea"/>
                <a:cs typeface="Times New Roman" panose="02020603050405020304" pitchFamily="18" charset="0"/>
              </a:rPr>
              <a:t>以下</a:t>
            </a:r>
            <a:endParaRPr lang="zh-CN" altLang="en-US" sz="1400" kern="100" dirty="0">
              <a:solidFill>
                <a:srgbClr val="FF0000"/>
              </a:solidFill>
              <a:latin typeface="+mj-ea"/>
              <a:ea typeface="+mj-ea"/>
              <a:cs typeface="Times New Roman" panose="02020603050405020304" pitchFamily="18" charset="0"/>
            </a:endParaRPr>
          </a:p>
          <a:p>
            <a:pPr>
              <a:spcBef>
                <a:spcPts val="500"/>
              </a:spcBef>
              <a:spcAft>
                <a:spcPts val="0"/>
              </a:spcAft>
              <a:defRPr/>
            </a:pPr>
            <a:r>
              <a:rPr lang="en-US" altLang="zh-CN" sz="1400" kern="100" dirty="0">
                <a:solidFill>
                  <a:schemeClr val="tx1">
                    <a:lumMod val="65000"/>
                    <a:lumOff val="35000"/>
                  </a:schemeClr>
                </a:solidFill>
                <a:latin typeface="+mj-ea"/>
                <a:ea typeface="+mj-ea"/>
                <a:cs typeface="Times New Roman" panose="02020603050405020304" pitchFamily="18" charset="0"/>
              </a:rPr>
              <a:t>4.</a:t>
            </a:r>
            <a:r>
              <a:rPr lang="zh-CN" altLang="en-US" sz="1400" kern="100" dirty="0">
                <a:solidFill>
                  <a:srgbClr val="FF0000"/>
                </a:solidFill>
                <a:latin typeface="+mj-ea"/>
                <a:ea typeface="+mj-ea"/>
                <a:cs typeface="Times New Roman" panose="02020603050405020304" pitchFamily="18" charset="0"/>
              </a:rPr>
              <a:t>对比刷单成本与</a:t>
            </a:r>
            <a:r>
              <a:rPr lang="en-US" altLang="zh-CN" sz="1400" kern="100" dirty="0">
                <a:solidFill>
                  <a:srgbClr val="FF0000"/>
                </a:solidFill>
                <a:latin typeface="+mj-ea"/>
                <a:ea typeface="+mj-ea"/>
                <a:cs typeface="Times New Roman" panose="02020603050405020304" pitchFamily="18" charset="0"/>
              </a:rPr>
              <a:t>CPC</a:t>
            </a:r>
            <a:r>
              <a:rPr lang="zh-CN" altLang="en-US" sz="1400" kern="100" dirty="0">
                <a:solidFill>
                  <a:srgbClr val="FF0000"/>
                </a:solidFill>
                <a:latin typeface="+mj-ea"/>
                <a:ea typeface="+mj-ea"/>
                <a:cs typeface="Times New Roman" panose="02020603050405020304" pitchFamily="18" charset="0"/>
              </a:rPr>
              <a:t>预算两者所花的精力与盈亏</a:t>
            </a:r>
            <a:endParaRPr lang="zh-CN" altLang="en-US" sz="1400" kern="100" dirty="0">
              <a:solidFill>
                <a:srgbClr val="FF0000"/>
              </a:solidFill>
              <a:latin typeface="+mj-ea"/>
              <a:ea typeface="+mj-ea"/>
              <a:cs typeface="Times New Roman" panose="02020603050405020304" pitchFamily="18" charset="0"/>
            </a:endParaRPr>
          </a:p>
        </p:txBody>
      </p:sp>
      <p:sp>
        <p:nvSpPr>
          <p:cNvPr id="17" name="矩形 16"/>
          <p:cNvSpPr/>
          <p:nvPr/>
        </p:nvSpPr>
        <p:spPr>
          <a:xfrm>
            <a:off x="6867567" y="2492897"/>
            <a:ext cx="2894330" cy="1289685"/>
          </a:xfrm>
          <a:prstGeom prst="rect">
            <a:avLst/>
          </a:prstGeom>
        </p:spPr>
        <p:txBody>
          <a:bodyPr wrap="none">
            <a:spAutoFit/>
          </a:bodyPr>
          <a:lstStyle/>
          <a:p>
            <a:pPr algn="ctr">
              <a:lnSpc>
                <a:spcPct val="130000"/>
              </a:lnSpc>
              <a:spcAft>
                <a:spcPts val="0"/>
              </a:spcAft>
              <a:defRPr/>
            </a:pPr>
            <a:r>
              <a:rPr lang="zh-CN" altLang="en-US" b="1" kern="100" dirty="0">
                <a:solidFill>
                  <a:schemeClr val="tx1">
                    <a:lumMod val="65000"/>
                    <a:lumOff val="35000"/>
                  </a:schemeClr>
                </a:solidFill>
                <a:latin typeface="+mj-ea"/>
                <a:ea typeface="+mj-ea"/>
                <a:cs typeface="Times New Roman" panose="02020603050405020304" pitchFamily="18" charset="0"/>
              </a:rPr>
              <a:t>第二批库存到货</a:t>
            </a:r>
            <a:endParaRPr lang="zh-CN" altLang="en-US" b="1" kern="100" dirty="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sz="1400" kern="100" dirty="0">
                <a:solidFill>
                  <a:schemeClr val="tx1">
                    <a:lumMod val="65000"/>
                    <a:lumOff val="35000"/>
                  </a:schemeClr>
                </a:solidFill>
                <a:latin typeface="+mj-ea"/>
                <a:ea typeface="+mj-ea"/>
                <a:cs typeface="Times New Roman" panose="02020603050405020304" pitchFamily="18" charset="0"/>
              </a:rPr>
              <a:t>1.</a:t>
            </a:r>
            <a:r>
              <a:rPr lang="zh-CN" altLang="en-US" sz="1400" kern="100" dirty="0">
                <a:solidFill>
                  <a:schemeClr val="tx1">
                    <a:lumMod val="65000"/>
                    <a:lumOff val="35000"/>
                  </a:schemeClr>
                </a:solidFill>
                <a:latin typeface="+mj-ea"/>
                <a:ea typeface="+mj-ea"/>
                <a:cs typeface="Times New Roman" panose="02020603050405020304" pitchFamily="18" charset="0"/>
              </a:rPr>
              <a:t>秒杀效果良好</a:t>
            </a:r>
            <a:r>
              <a:rPr lang="en-US" altLang="zh-CN" sz="1400" kern="100" dirty="0">
                <a:solidFill>
                  <a:schemeClr val="tx1">
                    <a:lumMod val="65000"/>
                    <a:lumOff val="35000"/>
                  </a:schemeClr>
                </a:solidFill>
                <a:latin typeface="+mj-ea"/>
                <a:ea typeface="+mj-ea"/>
                <a:cs typeface="Times New Roman" panose="02020603050405020304" pitchFamily="18" charset="0"/>
              </a:rPr>
              <a:t>(</a:t>
            </a:r>
            <a:r>
              <a:rPr lang="zh-CN" altLang="en-US" sz="1400" kern="100" dirty="0">
                <a:solidFill>
                  <a:schemeClr val="tx1">
                    <a:lumMod val="65000"/>
                    <a:lumOff val="35000"/>
                  </a:schemeClr>
                </a:solidFill>
                <a:latin typeface="+mj-ea"/>
                <a:ea typeface="+mj-ea"/>
                <a:cs typeface="Times New Roman" panose="02020603050405020304" pitchFamily="18" charset="0"/>
              </a:rPr>
              <a:t>排名速进</a:t>
            </a:r>
            <a:r>
              <a:rPr lang="en-US" altLang="zh-CN" sz="1400" kern="100" dirty="0">
                <a:solidFill>
                  <a:schemeClr val="tx1">
                    <a:lumMod val="65000"/>
                    <a:lumOff val="35000"/>
                  </a:schemeClr>
                </a:solidFill>
                <a:latin typeface="+mj-ea"/>
                <a:ea typeface="+mj-ea"/>
                <a:cs typeface="Times New Roman" panose="02020603050405020304" pitchFamily="18" charset="0"/>
              </a:rPr>
              <a:t>)</a:t>
            </a:r>
            <a:endParaRPr lang="en-US" altLang="zh-CN" sz="1400" kern="100" dirty="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altLang="zh-CN" sz="1400" kern="100" dirty="0">
                <a:solidFill>
                  <a:schemeClr val="tx1">
                    <a:lumMod val="65000"/>
                    <a:lumOff val="35000"/>
                  </a:schemeClr>
                </a:solidFill>
                <a:latin typeface="+mj-ea"/>
                <a:ea typeface="+mj-ea"/>
                <a:cs typeface="Times New Roman" panose="02020603050405020304" pitchFamily="18" charset="0"/>
              </a:rPr>
              <a:t>2.</a:t>
            </a:r>
            <a:r>
              <a:rPr lang="zh-CN" altLang="en-US" sz="1400" kern="100" dirty="0">
                <a:solidFill>
                  <a:schemeClr val="tx1">
                    <a:lumMod val="65000"/>
                    <a:lumOff val="35000"/>
                  </a:schemeClr>
                </a:solidFill>
                <a:latin typeface="+mj-ea"/>
                <a:ea typeface="+mj-ea"/>
                <a:cs typeface="Times New Roman" panose="02020603050405020304" pitchFamily="18" charset="0"/>
              </a:rPr>
              <a:t>秒杀效果不好</a:t>
            </a:r>
            <a:r>
              <a:rPr lang="en-US" altLang="zh-CN" sz="1400" kern="100" dirty="0">
                <a:solidFill>
                  <a:schemeClr val="tx1">
                    <a:lumMod val="65000"/>
                    <a:lumOff val="35000"/>
                  </a:schemeClr>
                </a:solidFill>
                <a:latin typeface="+mj-ea"/>
                <a:ea typeface="+mj-ea"/>
                <a:cs typeface="Times New Roman" panose="02020603050405020304" pitchFamily="18" charset="0"/>
              </a:rPr>
              <a:t>(</a:t>
            </a:r>
            <a:r>
              <a:rPr lang="zh-CN" altLang="en-US" sz="1400" kern="100" dirty="0">
                <a:solidFill>
                  <a:schemeClr val="tx1">
                    <a:lumMod val="65000"/>
                    <a:lumOff val="35000"/>
                  </a:schemeClr>
                </a:solidFill>
                <a:latin typeface="+mj-ea"/>
                <a:ea typeface="+mj-ea"/>
                <a:cs typeface="Times New Roman" panose="02020603050405020304" pitchFamily="18" charset="0"/>
              </a:rPr>
              <a:t>继续维护</a:t>
            </a:r>
            <a:r>
              <a:rPr lang="en-US" altLang="zh-CN" sz="1400" kern="100" dirty="0">
                <a:solidFill>
                  <a:schemeClr val="tx1">
                    <a:lumMod val="65000"/>
                    <a:lumOff val="35000"/>
                  </a:schemeClr>
                </a:solidFill>
                <a:latin typeface="+mj-ea"/>
                <a:ea typeface="+mj-ea"/>
                <a:cs typeface="Times New Roman" panose="02020603050405020304" pitchFamily="18" charset="0"/>
              </a:rPr>
              <a:t>REVIEW)</a:t>
            </a:r>
            <a:endParaRPr lang="en-US" altLang="zh-CN" sz="1400" kern="100" dirty="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altLang="zh-CN" sz="1400" kern="100" dirty="0">
                <a:solidFill>
                  <a:schemeClr val="tx1">
                    <a:lumMod val="65000"/>
                    <a:lumOff val="35000"/>
                  </a:schemeClr>
                </a:solidFill>
                <a:latin typeface="+mj-ea"/>
                <a:ea typeface="+mj-ea"/>
                <a:cs typeface="Times New Roman" panose="02020603050405020304" pitchFamily="18" charset="0"/>
              </a:rPr>
              <a:t>3.</a:t>
            </a:r>
            <a:r>
              <a:rPr lang="zh-CN" altLang="en-US" sz="1400" kern="100" dirty="0">
                <a:solidFill>
                  <a:schemeClr val="tx1">
                    <a:lumMod val="65000"/>
                    <a:lumOff val="35000"/>
                  </a:schemeClr>
                </a:solidFill>
                <a:latin typeface="+mj-ea"/>
                <a:ea typeface="+mj-ea"/>
                <a:cs typeface="Times New Roman" panose="02020603050405020304" pitchFamily="18" charset="0"/>
              </a:rPr>
              <a:t>到货库存一定要是质量有改良的</a:t>
            </a:r>
            <a:endParaRPr lang="zh-CN" altLang="en-US" sz="1400" kern="100" dirty="0">
              <a:solidFill>
                <a:schemeClr val="tx1">
                  <a:lumMod val="65000"/>
                  <a:lumOff val="35000"/>
                </a:schemeClr>
              </a:solidFill>
              <a:latin typeface="+mj-ea"/>
              <a:ea typeface="+mj-ea"/>
              <a:cs typeface="Times New Roman" panose="02020603050405020304" pitchFamily="18" charset="0"/>
            </a:endParaRPr>
          </a:p>
        </p:txBody>
      </p:sp>
      <p:sp>
        <p:nvSpPr>
          <p:cNvPr id="18" name="矩形 17"/>
          <p:cNvSpPr/>
          <p:nvPr/>
        </p:nvSpPr>
        <p:spPr>
          <a:xfrm>
            <a:off x="9856788" y="2348865"/>
            <a:ext cx="1934845" cy="1289685"/>
          </a:xfrm>
          <a:prstGeom prst="rect">
            <a:avLst/>
          </a:prstGeom>
        </p:spPr>
        <p:txBody>
          <a:bodyPr wrap="square">
            <a:spAutoFit/>
          </a:bodyPr>
          <a:lstStyle/>
          <a:p>
            <a:pPr algn="ctr">
              <a:lnSpc>
                <a:spcPct val="130000"/>
              </a:lnSpc>
              <a:spcAft>
                <a:spcPts val="0"/>
              </a:spcAft>
              <a:defRPr/>
            </a:pPr>
            <a:r>
              <a:rPr lang="zh-CN" altLang="en-US" b="1" kern="100" dirty="0">
                <a:solidFill>
                  <a:schemeClr val="tx1">
                    <a:lumMod val="65000"/>
                    <a:lumOff val="35000"/>
                  </a:schemeClr>
                </a:solidFill>
                <a:latin typeface="+mj-ea"/>
                <a:ea typeface="+mj-ea"/>
                <a:cs typeface="Times New Roman" panose="02020603050405020304" pitchFamily="18" charset="0"/>
              </a:rPr>
              <a:t>出单回升</a:t>
            </a:r>
            <a:endParaRPr lang="zh-CN" altLang="en-US" b="1" kern="100" dirty="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sz="1400" kern="100" dirty="0">
                <a:solidFill>
                  <a:schemeClr val="tx1">
                    <a:lumMod val="65000"/>
                    <a:lumOff val="35000"/>
                  </a:schemeClr>
                </a:solidFill>
                <a:latin typeface="+mj-ea"/>
                <a:ea typeface="+mj-ea"/>
                <a:cs typeface="Times New Roman" panose="02020603050405020304" pitchFamily="18" charset="0"/>
              </a:rPr>
              <a:t>1.</a:t>
            </a:r>
            <a:r>
              <a:rPr lang="zh-CN" altLang="en-US" sz="1400" kern="100" dirty="0">
                <a:solidFill>
                  <a:schemeClr val="tx1">
                    <a:lumMod val="65000"/>
                    <a:lumOff val="35000"/>
                  </a:schemeClr>
                </a:solidFill>
                <a:latin typeface="+mj-ea"/>
                <a:ea typeface="+mj-ea"/>
                <a:cs typeface="Times New Roman" panose="02020603050405020304" pitchFamily="18" charset="0"/>
              </a:rPr>
              <a:t>持续刷单维护排名</a:t>
            </a:r>
            <a:endParaRPr lang="zh-CN" altLang="en-US" sz="1400" kern="100" dirty="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altLang="zh-CN" sz="1400" kern="100" dirty="0">
                <a:solidFill>
                  <a:schemeClr val="tx1">
                    <a:lumMod val="65000"/>
                    <a:lumOff val="35000"/>
                  </a:schemeClr>
                </a:solidFill>
                <a:latin typeface="+mj-ea"/>
                <a:ea typeface="+mj-ea"/>
                <a:cs typeface="Times New Roman" panose="02020603050405020304" pitchFamily="18" charset="0"/>
              </a:rPr>
              <a:t>2.Review</a:t>
            </a:r>
            <a:r>
              <a:rPr lang="zh-CN" altLang="en-US" sz="1400" kern="100" dirty="0">
                <a:solidFill>
                  <a:schemeClr val="tx1">
                    <a:lumMod val="65000"/>
                    <a:lumOff val="35000"/>
                  </a:schemeClr>
                </a:solidFill>
                <a:latin typeface="+mj-ea"/>
                <a:ea typeface="+mj-ea"/>
                <a:cs typeface="Times New Roman" panose="02020603050405020304" pitchFamily="18" charset="0"/>
              </a:rPr>
              <a:t>不断累计</a:t>
            </a:r>
            <a:endParaRPr lang="zh-CN" altLang="en-US" sz="1400" kern="100" dirty="0">
              <a:solidFill>
                <a:schemeClr val="tx1">
                  <a:lumMod val="65000"/>
                  <a:lumOff val="35000"/>
                </a:schemeClr>
              </a:solidFill>
              <a:latin typeface="+mj-ea"/>
              <a:ea typeface="+mj-ea"/>
              <a:cs typeface="Times New Roman" panose="02020603050405020304" pitchFamily="18" charset="0"/>
            </a:endParaRPr>
          </a:p>
          <a:p>
            <a:pPr>
              <a:spcBef>
                <a:spcPts val="500"/>
              </a:spcBef>
              <a:spcAft>
                <a:spcPts val="0"/>
              </a:spcAft>
              <a:defRPr/>
            </a:pPr>
            <a:r>
              <a:rPr lang="en-US" altLang="zh-CN" sz="1400" kern="100" dirty="0">
                <a:solidFill>
                  <a:schemeClr val="tx1">
                    <a:lumMod val="65000"/>
                    <a:lumOff val="35000"/>
                  </a:schemeClr>
                </a:solidFill>
                <a:latin typeface="+mj-ea"/>
                <a:ea typeface="+mj-ea"/>
                <a:cs typeface="Times New Roman" panose="02020603050405020304" pitchFamily="18" charset="0"/>
              </a:rPr>
              <a:t>3.</a:t>
            </a:r>
            <a:r>
              <a:rPr lang="zh-CN" altLang="en-US" sz="1400" kern="100" dirty="0">
                <a:solidFill>
                  <a:schemeClr val="tx1">
                    <a:lumMod val="65000"/>
                    <a:lumOff val="35000"/>
                  </a:schemeClr>
                </a:solidFill>
                <a:latin typeface="+mj-ea"/>
                <a:ea typeface="+mj-ea"/>
                <a:cs typeface="Times New Roman" panose="02020603050405020304" pitchFamily="18" charset="0"/>
              </a:rPr>
              <a:t>涨价做促销</a:t>
            </a:r>
            <a:endParaRPr lang="zh-CN" altLang="en-US" sz="1400" kern="100" dirty="0">
              <a:solidFill>
                <a:schemeClr val="tx1">
                  <a:lumMod val="65000"/>
                  <a:lumOff val="35000"/>
                </a:schemeClr>
              </a:solidFill>
              <a:latin typeface="+mj-ea"/>
              <a:ea typeface="+mj-ea"/>
              <a:cs typeface="Times New Roman" panose="02020603050405020304" pitchFamily="18" charset="0"/>
            </a:endParaRPr>
          </a:p>
        </p:txBody>
      </p:sp>
      <p:grpSp>
        <p:nvGrpSpPr>
          <p:cNvPr id="19" name="组合 18"/>
          <p:cNvGrpSpPr/>
          <p:nvPr/>
        </p:nvGrpSpPr>
        <p:grpSpPr>
          <a:xfrm>
            <a:off x="1312626" y="2647568"/>
            <a:ext cx="662866" cy="663125"/>
            <a:chOff x="8077071" y="845254"/>
            <a:chExt cx="2036801" cy="2036802"/>
          </a:xfrm>
        </p:grpSpPr>
        <p:sp>
          <p:nvSpPr>
            <p:cNvPr id="20" name="椭圆 19"/>
            <p:cNvSpPr/>
            <p:nvPr/>
          </p:nvSpPr>
          <p:spPr>
            <a:xfrm>
              <a:off x="8077071" y="845254"/>
              <a:ext cx="2036801" cy="203680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tx1">
                    <a:lumMod val="65000"/>
                    <a:lumOff val="35000"/>
                  </a:schemeClr>
                </a:solidFill>
                <a:latin typeface="微软雅黑" panose="020B0503020204020204" charset="-122"/>
                <a:ea typeface="微软雅黑" panose="020B0503020204020204" charset="-122"/>
                <a:cs typeface="Arial" panose="020B0604020202020204" pitchFamily="34" charset="0"/>
              </a:endParaRPr>
            </a:p>
          </p:txBody>
        </p:sp>
        <p:sp>
          <p:nvSpPr>
            <p:cNvPr id="21" name="Freeform 126"/>
            <p:cNvSpPr>
              <a:spLocks noChangeAspect="1" noEditPoints="1"/>
            </p:cNvSpPr>
            <p:nvPr/>
          </p:nvSpPr>
          <p:spPr bwMode="auto">
            <a:xfrm>
              <a:off x="8639337" y="1292885"/>
              <a:ext cx="912278" cy="1141540"/>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grpSp>
      <p:grpSp>
        <p:nvGrpSpPr>
          <p:cNvPr id="22" name="组合 21"/>
          <p:cNvGrpSpPr/>
          <p:nvPr/>
        </p:nvGrpSpPr>
        <p:grpSpPr>
          <a:xfrm>
            <a:off x="3578734" y="2743545"/>
            <a:ext cx="662866" cy="663125"/>
            <a:chOff x="8125599" y="1434035"/>
            <a:chExt cx="2036802" cy="2036802"/>
          </a:xfrm>
        </p:grpSpPr>
        <p:sp>
          <p:nvSpPr>
            <p:cNvPr id="23" name="椭圆 22"/>
            <p:cNvSpPr/>
            <p:nvPr/>
          </p:nvSpPr>
          <p:spPr>
            <a:xfrm>
              <a:off x="8125599" y="1434035"/>
              <a:ext cx="2036802" cy="20368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24" name="Freeform 261"/>
            <p:cNvSpPr/>
            <p:nvPr/>
          </p:nvSpPr>
          <p:spPr bwMode="auto">
            <a:xfrm>
              <a:off x="8628544" y="1966960"/>
              <a:ext cx="1000932" cy="1000932"/>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endParaRPr>
            </a:p>
          </p:txBody>
        </p:sp>
      </p:grpSp>
      <p:grpSp>
        <p:nvGrpSpPr>
          <p:cNvPr id="25" name="组合 24"/>
          <p:cNvGrpSpPr/>
          <p:nvPr/>
        </p:nvGrpSpPr>
        <p:grpSpPr>
          <a:xfrm>
            <a:off x="5854012" y="3253627"/>
            <a:ext cx="662866" cy="663125"/>
            <a:chOff x="8125599" y="1434035"/>
            <a:chExt cx="2036802" cy="2036802"/>
          </a:xfrm>
        </p:grpSpPr>
        <p:sp>
          <p:nvSpPr>
            <p:cNvPr id="26" name="椭圆 25"/>
            <p:cNvSpPr/>
            <p:nvPr/>
          </p:nvSpPr>
          <p:spPr>
            <a:xfrm>
              <a:off x="8125599" y="1434035"/>
              <a:ext cx="2036802" cy="203680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nvGrpSpPr>
            <p:cNvPr id="27" name="组合 26"/>
            <p:cNvGrpSpPr>
              <a:grpSpLocks noChangeAspect="1"/>
            </p:cNvGrpSpPr>
            <p:nvPr/>
          </p:nvGrpSpPr>
          <p:grpSpPr>
            <a:xfrm>
              <a:off x="8518659" y="1890295"/>
              <a:ext cx="1310642" cy="1124283"/>
              <a:chOff x="5084763" y="971548"/>
              <a:chExt cx="323865" cy="277813"/>
            </a:xfrm>
            <a:solidFill>
              <a:schemeClr val="bg1">
                <a:lumMod val="95000"/>
              </a:schemeClr>
            </a:solidFill>
          </p:grpSpPr>
          <p:sp>
            <p:nvSpPr>
              <p:cNvPr id="28"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29"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30"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grpSp>
      <p:grpSp>
        <p:nvGrpSpPr>
          <p:cNvPr id="31" name="组合 30"/>
          <p:cNvGrpSpPr/>
          <p:nvPr/>
        </p:nvGrpSpPr>
        <p:grpSpPr>
          <a:xfrm>
            <a:off x="7983301" y="3849514"/>
            <a:ext cx="662866" cy="663125"/>
            <a:chOff x="8125599" y="1434035"/>
            <a:chExt cx="2036802" cy="2036802"/>
          </a:xfrm>
        </p:grpSpPr>
        <p:sp>
          <p:nvSpPr>
            <p:cNvPr id="32" name="椭圆 31"/>
            <p:cNvSpPr/>
            <p:nvPr/>
          </p:nvSpPr>
          <p:spPr>
            <a:xfrm>
              <a:off x="8125599" y="1434035"/>
              <a:ext cx="2036802" cy="203680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33" name="Freeform 9"/>
            <p:cNvSpPr>
              <a:spLocks noEditPoints="1"/>
            </p:cNvSpPr>
            <p:nvPr/>
          </p:nvSpPr>
          <p:spPr bwMode="auto">
            <a:xfrm rot="19469485">
              <a:off x="8577909" y="1818269"/>
              <a:ext cx="1162163" cy="1238355"/>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endParaRPr>
            </a:p>
          </p:txBody>
        </p:sp>
      </p:grpSp>
      <p:grpSp>
        <p:nvGrpSpPr>
          <p:cNvPr id="34" name="组合 33"/>
          <p:cNvGrpSpPr/>
          <p:nvPr/>
        </p:nvGrpSpPr>
        <p:grpSpPr>
          <a:xfrm>
            <a:off x="10212956" y="3771408"/>
            <a:ext cx="662866" cy="663125"/>
            <a:chOff x="8125599" y="1434035"/>
            <a:chExt cx="2036802" cy="2036802"/>
          </a:xfrm>
        </p:grpSpPr>
        <p:sp>
          <p:nvSpPr>
            <p:cNvPr id="35" name="椭圆 34"/>
            <p:cNvSpPr/>
            <p:nvPr/>
          </p:nvSpPr>
          <p:spPr>
            <a:xfrm>
              <a:off x="8125599" y="1434035"/>
              <a:ext cx="2036802" cy="203680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90">
                <a:solidFill>
                  <a:schemeClr val="tx1">
                    <a:lumMod val="65000"/>
                    <a:lumOff val="35000"/>
                  </a:schemeClr>
                </a:solidFill>
                <a:latin typeface="微软雅黑" panose="020B0503020204020204" charset="-122"/>
                <a:ea typeface="微软雅黑" panose="020B0503020204020204" charset="-122"/>
                <a:cs typeface="Arial" panose="020B0604020202020204" pitchFamily="34" charset="0"/>
              </a:endParaRPr>
            </a:p>
          </p:txBody>
        </p:sp>
        <p:sp>
          <p:nvSpPr>
            <p:cNvPr id="36" name="Freeform 206"/>
            <p:cNvSpPr>
              <a:spLocks noChangeAspect="1" noEditPoints="1"/>
            </p:cNvSpPr>
            <p:nvPr/>
          </p:nvSpPr>
          <p:spPr bwMode="auto">
            <a:xfrm>
              <a:off x="8691164" y="1871942"/>
              <a:ext cx="935653" cy="1131009"/>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grpSp>
      <p:sp>
        <p:nvSpPr>
          <p:cNvPr id="3" name="矩形 2"/>
          <p:cNvSpPr/>
          <p:nvPr/>
        </p:nvSpPr>
        <p:spPr>
          <a:xfrm rot="1620000">
            <a:off x="7947978"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4" name="矩形 3"/>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sp>
        <p:nvSpPr>
          <p:cNvPr id="2" name="矩形 1"/>
          <p:cNvSpPr/>
          <p:nvPr/>
        </p:nvSpPr>
        <p:spPr>
          <a:xfrm>
            <a:off x="0" y="369457"/>
            <a:ext cx="858129" cy="41049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标题 4"/>
          <p:cNvSpPr>
            <a:spLocks noGrp="1"/>
          </p:cNvSpPr>
          <p:nvPr>
            <p:ph type="title"/>
          </p:nvPr>
        </p:nvSpPr>
        <p:spPr>
          <a:xfrm>
            <a:off x="857885" y="277495"/>
            <a:ext cx="10515600" cy="594995"/>
          </a:xfrm>
        </p:spPr>
        <p:txBody>
          <a:bodyPr>
            <a:normAutofit fontScale="90000"/>
          </a:bodyPr>
          <a:p>
            <a:r>
              <a:rPr lang="en-US" altLang="zh-CN" dirty="0"/>
              <a:t>80%</a:t>
            </a:r>
            <a:r>
              <a:rPr lang="zh-CN" altLang="en-US" dirty="0"/>
              <a:t>的操作来自于有库存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1000"/>
                                            <p:tgtEl>
                                              <p:spTgt spid="13"/>
                                            </p:tgtEl>
                                          </p:cBhvr>
                                        </p:animEffect>
                                      </p:childTnLst>
                                    </p:cTn>
                                  </p:par>
                                </p:childTnLst>
                              </p:cTn>
                            </p:par>
                            <p:par>
                              <p:cTn id="8" fill="hold">
                                <p:stCondLst>
                                  <p:cond delay="1000"/>
                                </p:stCondLst>
                                <p:childTnLst>
                                  <p:par>
                                    <p:cTn id="9" presetID="2" presetClass="entr" presetSubtype="1" fill="hold" nodeType="afterEffect" p14:presetBounceEnd="53000">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14:bounceEnd="53000">
                                          <p:cBhvr additive="base">
                                            <p:cTn id="11" dur="750" fill="hold"/>
                                            <p:tgtEl>
                                              <p:spTgt spid="19"/>
                                            </p:tgtEl>
                                            <p:attrNameLst>
                                              <p:attrName>ppt_x</p:attrName>
                                            </p:attrNameLst>
                                          </p:cBhvr>
                                          <p:tavLst>
                                            <p:tav tm="0">
                                              <p:val>
                                                <p:strVal val="#ppt_x"/>
                                              </p:val>
                                            </p:tav>
                                            <p:tav tm="100000">
                                              <p:val>
                                                <p:strVal val="#ppt_x"/>
                                              </p:val>
                                            </p:tav>
                                          </p:tavLst>
                                        </p:anim>
                                        <p:anim calcmode="lin" valueType="num" p14:bounceEnd="53000">
                                          <p:cBhvr additive="base">
                                            <p:cTn id="12" dur="750" fill="hold"/>
                                            <p:tgtEl>
                                              <p:spTgt spid="19"/>
                                            </p:tgtEl>
                                            <p:attrNameLst>
                                              <p:attrName>ppt_y</p:attrName>
                                            </p:attrNameLst>
                                          </p:cBhvr>
                                          <p:tavLst>
                                            <p:tav tm="0">
                                              <p:val>
                                                <p:strVal val="0-#ppt_h/2"/>
                                              </p:val>
                                            </p:tav>
                                            <p:tav tm="100000">
                                              <p:val>
                                                <p:strVal val="#ppt_y"/>
                                              </p:val>
                                            </p:tav>
                                          </p:tavLst>
                                        </p:anim>
                                      </p:childTnLst>
                                    </p:cTn>
                                  </p:par>
                                  <p:par>
                                    <p:cTn id="13" presetID="22" presetClass="entr" presetSubtype="1" fill="hold" grpId="0" nodeType="withEffect">
                                      <p:stCondLst>
                                        <p:cond delay="250"/>
                                      </p:stCondLst>
                                      <p:childTnLst>
                                        <p:set>
                                          <p:cBhvr>
                                            <p:cTn id="14" dur="1" fill="hold">
                                              <p:stCondLst>
                                                <p:cond delay="0"/>
                                              </p:stCondLst>
                                            </p:cTn>
                                            <p:tgtEl>
                                              <p:spTgt spid="14"/>
                                            </p:tgtEl>
                                            <p:attrNameLst>
                                              <p:attrName>style.visibility</p:attrName>
                                            </p:attrNameLst>
                                          </p:cBhvr>
                                          <p:to>
                                            <p:strVal val="visible"/>
                                          </p:to>
                                        </p:set>
                                        <p:animEffect transition="in" filter="wipe(up)">
                                          <p:cBhvr>
                                            <p:cTn id="15" dur="500"/>
                                            <p:tgtEl>
                                              <p:spTgt spid="14"/>
                                            </p:tgtEl>
                                          </p:cBhvr>
                                        </p:animEffect>
                                      </p:childTnLst>
                                    </p:cTn>
                                  </p:par>
                                </p:childTnLst>
                              </p:cTn>
                            </p:par>
                            <p:par>
                              <p:cTn id="16" fill="hold">
                                <p:stCondLst>
                                  <p:cond delay="2000"/>
                                </p:stCondLst>
                                <p:childTnLst>
                                  <p:par>
                                    <p:cTn id="17" presetID="2" presetClass="entr" presetSubtype="1" fill="hold" nodeType="afterEffect" p14:presetBounceEnd="53000">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14:bounceEnd="53000">
                                          <p:cBhvr additive="base">
                                            <p:cTn id="19" dur="750" fill="hold"/>
                                            <p:tgtEl>
                                              <p:spTgt spid="22"/>
                                            </p:tgtEl>
                                            <p:attrNameLst>
                                              <p:attrName>ppt_x</p:attrName>
                                            </p:attrNameLst>
                                          </p:cBhvr>
                                          <p:tavLst>
                                            <p:tav tm="0">
                                              <p:val>
                                                <p:strVal val="#ppt_x"/>
                                              </p:val>
                                            </p:tav>
                                            <p:tav tm="100000">
                                              <p:val>
                                                <p:strVal val="#ppt_x"/>
                                              </p:val>
                                            </p:tav>
                                          </p:tavLst>
                                        </p:anim>
                                        <p:anim calcmode="lin" valueType="num" p14:bounceEnd="53000">
                                          <p:cBhvr additive="base">
                                            <p:cTn id="20" dur="750" fill="hold"/>
                                            <p:tgtEl>
                                              <p:spTgt spid="22"/>
                                            </p:tgtEl>
                                            <p:attrNameLst>
                                              <p:attrName>ppt_y</p:attrName>
                                            </p:attrNameLst>
                                          </p:cBhvr>
                                          <p:tavLst>
                                            <p:tav tm="0">
                                              <p:val>
                                                <p:strVal val="0-#ppt_h/2"/>
                                              </p:val>
                                            </p:tav>
                                            <p:tav tm="100000">
                                              <p:val>
                                                <p:strVal val="#ppt_y"/>
                                              </p:val>
                                            </p:tav>
                                          </p:tavLst>
                                        </p:anim>
                                      </p:childTnLst>
                                    </p:cTn>
                                  </p:par>
                                  <p:par>
                                    <p:cTn id="21" presetID="22" presetClass="entr" presetSubtype="1" fill="hold" grpId="0" nodeType="withEffect">
                                      <p:stCondLst>
                                        <p:cond delay="250"/>
                                      </p:stCondLst>
                                      <p:childTnLst>
                                        <p:set>
                                          <p:cBhvr>
                                            <p:cTn id="22" dur="1" fill="hold">
                                              <p:stCondLst>
                                                <p:cond delay="0"/>
                                              </p:stCondLst>
                                            </p:cTn>
                                            <p:tgtEl>
                                              <p:spTgt spid="15"/>
                                            </p:tgtEl>
                                            <p:attrNameLst>
                                              <p:attrName>style.visibility</p:attrName>
                                            </p:attrNameLst>
                                          </p:cBhvr>
                                          <p:to>
                                            <p:strVal val="visible"/>
                                          </p:to>
                                        </p:set>
                                        <p:animEffect transition="in" filter="wipe(up)">
                                          <p:cBhvr>
                                            <p:cTn id="23" dur="500"/>
                                            <p:tgtEl>
                                              <p:spTgt spid="15"/>
                                            </p:tgtEl>
                                          </p:cBhvr>
                                        </p:animEffect>
                                      </p:childTnLst>
                                    </p:cTn>
                                  </p:par>
                                </p:childTnLst>
                              </p:cTn>
                            </p:par>
                            <p:par>
                              <p:cTn id="24" fill="hold">
                                <p:stCondLst>
                                  <p:cond delay="3000"/>
                                </p:stCondLst>
                                <p:childTnLst>
                                  <p:par>
                                    <p:cTn id="25" presetID="2" presetClass="entr" presetSubtype="1" fill="hold" nodeType="afterEffect" p14:presetBounceEnd="53000">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14:bounceEnd="53000">
                                          <p:cBhvr additive="base">
                                            <p:cTn id="27" dur="750" fill="hold"/>
                                            <p:tgtEl>
                                              <p:spTgt spid="25"/>
                                            </p:tgtEl>
                                            <p:attrNameLst>
                                              <p:attrName>ppt_x</p:attrName>
                                            </p:attrNameLst>
                                          </p:cBhvr>
                                          <p:tavLst>
                                            <p:tav tm="0">
                                              <p:val>
                                                <p:strVal val="#ppt_x"/>
                                              </p:val>
                                            </p:tav>
                                            <p:tav tm="100000">
                                              <p:val>
                                                <p:strVal val="#ppt_x"/>
                                              </p:val>
                                            </p:tav>
                                          </p:tavLst>
                                        </p:anim>
                                        <p:anim calcmode="lin" valueType="num" p14:bounceEnd="53000">
                                          <p:cBhvr additive="base">
                                            <p:cTn id="28" dur="750" fill="hold"/>
                                            <p:tgtEl>
                                              <p:spTgt spid="25"/>
                                            </p:tgtEl>
                                            <p:attrNameLst>
                                              <p:attrName>ppt_y</p:attrName>
                                            </p:attrNameLst>
                                          </p:cBhvr>
                                          <p:tavLst>
                                            <p:tav tm="0">
                                              <p:val>
                                                <p:strVal val="0-#ppt_h/2"/>
                                              </p:val>
                                            </p:tav>
                                            <p:tav tm="100000">
                                              <p:val>
                                                <p:strVal val="#ppt_y"/>
                                              </p:val>
                                            </p:tav>
                                          </p:tavLst>
                                        </p:anim>
                                      </p:childTnLst>
                                    </p:cTn>
                                  </p:par>
                                  <p:par>
                                    <p:cTn id="29" presetID="22" presetClass="entr" presetSubtype="1" fill="hold" grpId="0" nodeType="withEffect">
                                      <p:stCondLst>
                                        <p:cond delay="250"/>
                                      </p:stCondLst>
                                      <p:childTnLst>
                                        <p:set>
                                          <p:cBhvr>
                                            <p:cTn id="30" dur="1" fill="hold">
                                              <p:stCondLst>
                                                <p:cond delay="0"/>
                                              </p:stCondLst>
                                            </p:cTn>
                                            <p:tgtEl>
                                              <p:spTgt spid="16"/>
                                            </p:tgtEl>
                                            <p:attrNameLst>
                                              <p:attrName>style.visibility</p:attrName>
                                            </p:attrNameLst>
                                          </p:cBhvr>
                                          <p:to>
                                            <p:strVal val="visible"/>
                                          </p:to>
                                        </p:set>
                                        <p:animEffect transition="in" filter="wipe(up)">
                                          <p:cBhvr>
                                            <p:cTn id="31" dur="500"/>
                                            <p:tgtEl>
                                              <p:spTgt spid="16"/>
                                            </p:tgtEl>
                                          </p:cBhvr>
                                        </p:animEffect>
                                      </p:childTnLst>
                                    </p:cTn>
                                  </p:par>
                                </p:childTnLst>
                              </p:cTn>
                            </p:par>
                            <p:par>
                              <p:cTn id="32" fill="hold">
                                <p:stCondLst>
                                  <p:cond delay="4000"/>
                                </p:stCondLst>
                                <p:childTnLst>
                                  <p:par>
                                    <p:cTn id="33" presetID="2" presetClass="entr" presetSubtype="1" fill="hold" nodeType="afterEffect" p14:presetBounceEnd="53000">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14:bounceEnd="53000">
                                          <p:cBhvr additive="base">
                                            <p:cTn id="35" dur="750" fill="hold"/>
                                            <p:tgtEl>
                                              <p:spTgt spid="31"/>
                                            </p:tgtEl>
                                            <p:attrNameLst>
                                              <p:attrName>ppt_x</p:attrName>
                                            </p:attrNameLst>
                                          </p:cBhvr>
                                          <p:tavLst>
                                            <p:tav tm="0">
                                              <p:val>
                                                <p:strVal val="#ppt_x"/>
                                              </p:val>
                                            </p:tav>
                                            <p:tav tm="100000">
                                              <p:val>
                                                <p:strVal val="#ppt_x"/>
                                              </p:val>
                                            </p:tav>
                                          </p:tavLst>
                                        </p:anim>
                                        <p:anim calcmode="lin" valueType="num" p14:bounceEnd="53000">
                                          <p:cBhvr additive="base">
                                            <p:cTn id="36" dur="750" fill="hold"/>
                                            <p:tgtEl>
                                              <p:spTgt spid="31"/>
                                            </p:tgtEl>
                                            <p:attrNameLst>
                                              <p:attrName>ppt_y</p:attrName>
                                            </p:attrNameLst>
                                          </p:cBhvr>
                                          <p:tavLst>
                                            <p:tav tm="0">
                                              <p:val>
                                                <p:strVal val="0-#ppt_h/2"/>
                                              </p:val>
                                            </p:tav>
                                            <p:tav tm="100000">
                                              <p:val>
                                                <p:strVal val="#ppt_y"/>
                                              </p:val>
                                            </p:tav>
                                          </p:tavLst>
                                        </p:anim>
                                      </p:childTnLst>
                                    </p:cTn>
                                  </p:par>
                                  <p:par>
                                    <p:cTn id="37" presetID="22" presetClass="entr" presetSubtype="1" fill="hold" grpId="0" nodeType="withEffect">
                                      <p:stCondLst>
                                        <p:cond delay="250"/>
                                      </p:stCondLst>
                                      <p:childTnLst>
                                        <p:set>
                                          <p:cBhvr>
                                            <p:cTn id="38" dur="1" fill="hold">
                                              <p:stCondLst>
                                                <p:cond delay="0"/>
                                              </p:stCondLst>
                                            </p:cTn>
                                            <p:tgtEl>
                                              <p:spTgt spid="17"/>
                                            </p:tgtEl>
                                            <p:attrNameLst>
                                              <p:attrName>style.visibility</p:attrName>
                                            </p:attrNameLst>
                                          </p:cBhvr>
                                          <p:to>
                                            <p:strVal val="visible"/>
                                          </p:to>
                                        </p:set>
                                        <p:animEffect transition="in" filter="wipe(up)">
                                          <p:cBhvr>
                                            <p:cTn id="39" dur="500"/>
                                            <p:tgtEl>
                                              <p:spTgt spid="17"/>
                                            </p:tgtEl>
                                          </p:cBhvr>
                                        </p:animEffect>
                                      </p:childTnLst>
                                    </p:cTn>
                                  </p:par>
                                </p:childTnLst>
                              </p:cTn>
                            </p:par>
                            <p:par>
                              <p:cTn id="40" fill="hold">
                                <p:stCondLst>
                                  <p:cond delay="5000"/>
                                </p:stCondLst>
                                <p:childTnLst>
                                  <p:par>
                                    <p:cTn id="41" presetID="2" presetClass="entr" presetSubtype="1" fill="hold" nodeType="afterEffect" p14:presetBounceEnd="53000">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14:bounceEnd="53000">
                                          <p:cBhvr additive="base">
                                            <p:cTn id="43" dur="750" fill="hold"/>
                                            <p:tgtEl>
                                              <p:spTgt spid="34"/>
                                            </p:tgtEl>
                                            <p:attrNameLst>
                                              <p:attrName>ppt_x</p:attrName>
                                            </p:attrNameLst>
                                          </p:cBhvr>
                                          <p:tavLst>
                                            <p:tav tm="0">
                                              <p:val>
                                                <p:strVal val="#ppt_x"/>
                                              </p:val>
                                            </p:tav>
                                            <p:tav tm="100000">
                                              <p:val>
                                                <p:strVal val="#ppt_x"/>
                                              </p:val>
                                            </p:tav>
                                          </p:tavLst>
                                        </p:anim>
                                        <p:anim calcmode="lin" valueType="num" p14:bounceEnd="53000">
                                          <p:cBhvr additive="base">
                                            <p:cTn id="44" dur="750" fill="hold"/>
                                            <p:tgtEl>
                                              <p:spTgt spid="34"/>
                                            </p:tgtEl>
                                            <p:attrNameLst>
                                              <p:attrName>ppt_y</p:attrName>
                                            </p:attrNameLst>
                                          </p:cBhvr>
                                          <p:tavLst>
                                            <p:tav tm="0">
                                              <p:val>
                                                <p:strVal val="0-#ppt_h/2"/>
                                              </p:val>
                                            </p:tav>
                                            <p:tav tm="100000">
                                              <p:val>
                                                <p:strVal val="#ppt_y"/>
                                              </p:val>
                                            </p:tav>
                                          </p:tavLst>
                                        </p:anim>
                                      </p:childTnLst>
                                    </p:cTn>
                                  </p:par>
                                  <p:par>
                                    <p:cTn id="45" presetID="22" presetClass="entr" presetSubtype="1" fill="hold" grpId="0" nodeType="withEffect">
                                      <p:stCondLst>
                                        <p:cond delay="250"/>
                                      </p:stCondLst>
                                      <p:childTnLst>
                                        <p:set>
                                          <p:cBhvr>
                                            <p:cTn id="46" dur="1" fill="hold">
                                              <p:stCondLst>
                                                <p:cond delay="0"/>
                                              </p:stCondLst>
                                            </p:cTn>
                                            <p:tgtEl>
                                              <p:spTgt spid="18"/>
                                            </p:tgtEl>
                                            <p:attrNameLst>
                                              <p:attrName>style.visibility</p:attrName>
                                            </p:attrNameLst>
                                          </p:cBhvr>
                                          <p:to>
                                            <p:strVal val="visible"/>
                                          </p:to>
                                        </p:set>
                                        <p:animEffect transition="in" filter="wipe(up)">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p:bldP spid="15" grpId="0"/>
          <p:bldP spid="16" grpId="0"/>
          <p:bldP spid="17" grpId="0"/>
          <p:bldP spid="18"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1000"/>
                                            <p:tgtEl>
                                              <p:spTgt spid="13"/>
                                            </p:tgtEl>
                                          </p:cBhvr>
                                        </p:animEffect>
                                      </p:childTnLst>
                                    </p:cTn>
                                  </p:par>
                                </p:childTnLst>
                              </p:cTn>
                            </p:par>
                            <p:par>
                              <p:cTn id="8" fill="hold">
                                <p:stCondLst>
                                  <p:cond delay="1000"/>
                                </p:stCondLst>
                                <p:childTnLst>
                                  <p:par>
                                    <p:cTn id="9" presetID="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750" fill="hold"/>
                                            <p:tgtEl>
                                              <p:spTgt spid="19"/>
                                            </p:tgtEl>
                                            <p:attrNameLst>
                                              <p:attrName>ppt_x</p:attrName>
                                            </p:attrNameLst>
                                          </p:cBhvr>
                                          <p:tavLst>
                                            <p:tav tm="0">
                                              <p:val>
                                                <p:strVal val="#ppt_x"/>
                                              </p:val>
                                            </p:tav>
                                            <p:tav tm="100000">
                                              <p:val>
                                                <p:strVal val="#ppt_x"/>
                                              </p:val>
                                            </p:tav>
                                          </p:tavLst>
                                        </p:anim>
                                        <p:anim calcmode="lin" valueType="num">
                                          <p:cBhvr additive="base">
                                            <p:cTn id="12" dur="750" fill="hold"/>
                                            <p:tgtEl>
                                              <p:spTgt spid="19"/>
                                            </p:tgtEl>
                                            <p:attrNameLst>
                                              <p:attrName>ppt_y</p:attrName>
                                            </p:attrNameLst>
                                          </p:cBhvr>
                                          <p:tavLst>
                                            <p:tav tm="0">
                                              <p:val>
                                                <p:strVal val="0-#ppt_h/2"/>
                                              </p:val>
                                            </p:tav>
                                            <p:tav tm="100000">
                                              <p:val>
                                                <p:strVal val="#ppt_y"/>
                                              </p:val>
                                            </p:tav>
                                          </p:tavLst>
                                        </p:anim>
                                      </p:childTnLst>
                                    </p:cTn>
                                  </p:par>
                                  <p:par>
                                    <p:cTn id="13" presetID="22" presetClass="entr" presetSubtype="1" fill="hold" grpId="0" nodeType="withEffect">
                                      <p:stCondLst>
                                        <p:cond delay="250"/>
                                      </p:stCondLst>
                                      <p:childTnLst>
                                        <p:set>
                                          <p:cBhvr>
                                            <p:cTn id="14" dur="1" fill="hold">
                                              <p:stCondLst>
                                                <p:cond delay="0"/>
                                              </p:stCondLst>
                                            </p:cTn>
                                            <p:tgtEl>
                                              <p:spTgt spid="14"/>
                                            </p:tgtEl>
                                            <p:attrNameLst>
                                              <p:attrName>style.visibility</p:attrName>
                                            </p:attrNameLst>
                                          </p:cBhvr>
                                          <p:to>
                                            <p:strVal val="visible"/>
                                          </p:to>
                                        </p:set>
                                        <p:animEffect transition="in" filter="wipe(up)">
                                          <p:cBhvr>
                                            <p:cTn id="15" dur="500"/>
                                            <p:tgtEl>
                                              <p:spTgt spid="14"/>
                                            </p:tgtEl>
                                          </p:cBhvr>
                                        </p:animEffect>
                                      </p:childTnLst>
                                    </p:cTn>
                                  </p:par>
                                </p:childTnLst>
                              </p:cTn>
                            </p:par>
                            <p:par>
                              <p:cTn id="16" fill="hold">
                                <p:stCondLst>
                                  <p:cond delay="2000"/>
                                </p:stCondLst>
                                <p:childTnLst>
                                  <p:par>
                                    <p:cTn id="17" presetID="2" presetClass="entr" presetSubtype="1"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750" fill="hold"/>
                                            <p:tgtEl>
                                              <p:spTgt spid="22"/>
                                            </p:tgtEl>
                                            <p:attrNameLst>
                                              <p:attrName>ppt_x</p:attrName>
                                            </p:attrNameLst>
                                          </p:cBhvr>
                                          <p:tavLst>
                                            <p:tav tm="0">
                                              <p:val>
                                                <p:strVal val="#ppt_x"/>
                                              </p:val>
                                            </p:tav>
                                            <p:tav tm="100000">
                                              <p:val>
                                                <p:strVal val="#ppt_x"/>
                                              </p:val>
                                            </p:tav>
                                          </p:tavLst>
                                        </p:anim>
                                        <p:anim calcmode="lin" valueType="num">
                                          <p:cBhvr additive="base">
                                            <p:cTn id="20" dur="750" fill="hold"/>
                                            <p:tgtEl>
                                              <p:spTgt spid="22"/>
                                            </p:tgtEl>
                                            <p:attrNameLst>
                                              <p:attrName>ppt_y</p:attrName>
                                            </p:attrNameLst>
                                          </p:cBhvr>
                                          <p:tavLst>
                                            <p:tav tm="0">
                                              <p:val>
                                                <p:strVal val="0-#ppt_h/2"/>
                                              </p:val>
                                            </p:tav>
                                            <p:tav tm="100000">
                                              <p:val>
                                                <p:strVal val="#ppt_y"/>
                                              </p:val>
                                            </p:tav>
                                          </p:tavLst>
                                        </p:anim>
                                      </p:childTnLst>
                                    </p:cTn>
                                  </p:par>
                                  <p:par>
                                    <p:cTn id="21" presetID="22" presetClass="entr" presetSubtype="1" fill="hold" grpId="0" nodeType="withEffect">
                                      <p:stCondLst>
                                        <p:cond delay="250"/>
                                      </p:stCondLst>
                                      <p:childTnLst>
                                        <p:set>
                                          <p:cBhvr>
                                            <p:cTn id="22" dur="1" fill="hold">
                                              <p:stCondLst>
                                                <p:cond delay="0"/>
                                              </p:stCondLst>
                                            </p:cTn>
                                            <p:tgtEl>
                                              <p:spTgt spid="15"/>
                                            </p:tgtEl>
                                            <p:attrNameLst>
                                              <p:attrName>style.visibility</p:attrName>
                                            </p:attrNameLst>
                                          </p:cBhvr>
                                          <p:to>
                                            <p:strVal val="visible"/>
                                          </p:to>
                                        </p:set>
                                        <p:animEffect transition="in" filter="wipe(up)">
                                          <p:cBhvr>
                                            <p:cTn id="23" dur="500"/>
                                            <p:tgtEl>
                                              <p:spTgt spid="15"/>
                                            </p:tgtEl>
                                          </p:cBhvr>
                                        </p:animEffect>
                                      </p:childTnLst>
                                    </p:cTn>
                                  </p:par>
                                </p:childTnLst>
                              </p:cTn>
                            </p:par>
                            <p:par>
                              <p:cTn id="24" fill="hold">
                                <p:stCondLst>
                                  <p:cond delay="3000"/>
                                </p:stCondLst>
                                <p:childTnLst>
                                  <p:par>
                                    <p:cTn id="25" presetID="2" presetClass="entr" presetSubtype="1" fill="hold" nodeType="after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750" fill="hold"/>
                                            <p:tgtEl>
                                              <p:spTgt spid="25"/>
                                            </p:tgtEl>
                                            <p:attrNameLst>
                                              <p:attrName>ppt_x</p:attrName>
                                            </p:attrNameLst>
                                          </p:cBhvr>
                                          <p:tavLst>
                                            <p:tav tm="0">
                                              <p:val>
                                                <p:strVal val="#ppt_x"/>
                                              </p:val>
                                            </p:tav>
                                            <p:tav tm="100000">
                                              <p:val>
                                                <p:strVal val="#ppt_x"/>
                                              </p:val>
                                            </p:tav>
                                          </p:tavLst>
                                        </p:anim>
                                        <p:anim calcmode="lin" valueType="num">
                                          <p:cBhvr additive="base">
                                            <p:cTn id="28" dur="750" fill="hold"/>
                                            <p:tgtEl>
                                              <p:spTgt spid="25"/>
                                            </p:tgtEl>
                                            <p:attrNameLst>
                                              <p:attrName>ppt_y</p:attrName>
                                            </p:attrNameLst>
                                          </p:cBhvr>
                                          <p:tavLst>
                                            <p:tav tm="0">
                                              <p:val>
                                                <p:strVal val="0-#ppt_h/2"/>
                                              </p:val>
                                            </p:tav>
                                            <p:tav tm="100000">
                                              <p:val>
                                                <p:strVal val="#ppt_y"/>
                                              </p:val>
                                            </p:tav>
                                          </p:tavLst>
                                        </p:anim>
                                      </p:childTnLst>
                                    </p:cTn>
                                  </p:par>
                                  <p:par>
                                    <p:cTn id="29" presetID="22" presetClass="entr" presetSubtype="1" fill="hold" grpId="0" nodeType="withEffect">
                                      <p:stCondLst>
                                        <p:cond delay="250"/>
                                      </p:stCondLst>
                                      <p:childTnLst>
                                        <p:set>
                                          <p:cBhvr>
                                            <p:cTn id="30" dur="1" fill="hold">
                                              <p:stCondLst>
                                                <p:cond delay="0"/>
                                              </p:stCondLst>
                                            </p:cTn>
                                            <p:tgtEl>
                                              <p:spTgt spid="16"/>
                                            </p:tgtEl>
                                            <p:attrNameLst>
                                              <p:attrName>style.visibility</p:attrName>
                                            </p:attrNameLst>
                                          </p:cBhvr>
                                          <p:to>
                                            <p:strVal val="visible"/>
                                          </p:to>
                                        </p:set>
                                        <p:animEffect transition="in" filter="wipe(up)">
                                          <p:cBhvr>
                                            <p:cTn id="31" dur="500"/>
                                            <p:tgtEl>
                                              <p:spTgt spid="16"/>
                                            </p:tgtEl>
                                          </p:cBhvr>
                                        </p:animEffect>
                                      </p:childTnLst>
                                    </p:cTn>
                                  </p:par>
                                </p:childTnLst>
                              </p:cTn>
                            </p:par>
                            <p:par>
                              <p:cTn id="32" fill="hold">
                                <p:stCondLst>
                                  <p:cond delay="4000"/>
                                </p:stCondLst>
                                <p:childTnLst>
                                  <p:par>
                                    <p:cTn id="33" presetID="2" presetClass="entr" presetSubtype="1" fill="hold" nodeType="afterEffect">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cBhvr additive="base">
                                            <p:cTn id="35" dur="750" fill="hold"/>
                                            <p:tgtEl>
                                              <p:spTgt spid="31"/>
                                            </p:tgtEl>
                                            <p:attrNameLst>
                                              <p:attrName>ppt_x</p:attrName>
                                            </p:attrNameLst>
                                          </p:cBhvr>
                                          <p:tavLst>
                                            <p:tav tm="0">
                                              <p:val>
                                                <p:strVal val="#ppt_x"/>
                                              </p:val>
                                            </p:tav>
                                            <p:tav tm="100000">
                                              <p:val>
                                                <p:strVal val="#ppt_x"/>
                                              </p:val>
                                            </p:tav>
                                          </p:tavLst>
                                        </p:anim>
                                        <p:anim calcmode="lin" valueType="num">
                                          <p:cBhvr additive="base">
                                            <p:cTn id="36" dur="750" fill="hold"/>
                                            <p:tgtEl>
                                              <p:spTgt spid="31"/>
                                            </p:tgtEl>
                                            <p:attrNameLst>
                                              <p:attrName>ppt_y</p:attrName>
                                            </p:attrNameLst>
                                          </p:cBhvr>
                                          <p:tavLst>
                                            <p:tav tm="0">
                                              <p:val>
                                                <p:strVal val="0-#ppt_h/2"/>
                                              </p:val>
                                            </p:tav>
                                            <p:tav tm="100000">
                                              <p:val>
                                                <p:strVal val="#ppt_y"/>
                                              </p:val>
                                            </p:tav>
                                          </p:tavLst>
                                        </p:anim>
                                      </p:childTnLst>
                                    </p:cTn>
                                  </p:par>
                                  <p:par>
                                    <p:cTn id="37" presetID="22" presetClass="entr" presetSubtype="1" fill="hold" grpId="0" nodeType="withEffect">
                                      <p:stCondLst>
                                        <p:cond delay="250"/>
                                      </p:stCondLst>
                                      <p:childTnLst>
                                        <p:set>
                                          <p:cBhvr>
                                            <p:cTn id="38" dur="1" fill="hold">
                                              <p:stCondLst>
                                                <p:cond delay="0"/>
                                              </p:stCondLst>
                                            </p:cTn>
                                            <p:tgtEl>
                                              <p:spTgt spid="17"/>
                                            </p:tgtEl>
                                            <p:attrNameLst>
                                              <p:attrName>style.visibility</p:attrName>
                                            </p:attrNameLst>
                                          </p:cBhvr>
                                          <p:to>
                                            <p:strVal val="visible"/>
                                          </p:to>
                                        </p:set>
                                        <p:animEffect transition="in" filter="wipe(up)">
                                          <p:cBhvr>
                                            <p:cTn id="39" dur="500"/>
                                            <p:tgtEl>
                                              <p:spTgt spid="17"/>
                                            </p:tgtEl>
                                          </p:cBhvr>
                                        </p:animEffect>
                                      </p:childTnLst>
                                    </p:cTn>
                                  </p:par>
                                </p:childTnLst>
                              </p:cTn>
                            </p:par>
                            <p:par>
                              <p:cTn id="40" fill="hold">
                                <p:stCondLst>
                                  <p:cond delay="5000"/>
                                </p:stCondLst>
                                <p:childTnLst>
                                  <p:par>
                                    <p:cTn id="41" presetID="2" presetClass="entr" presetSubtype="1" fill="hold" nodeType="after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additive="base">
                                            <p:cTn id="43" dur="750" fill="hold"/>
                                            <p:tgtEl>
                                              <p:spTgt spid="34"/>
                                            </p:tgtEl>
                                            <p:attrNameLst>
                                              <p:attrName>ppt_x</p:attrName>
                                            </p:attrNameLst>
                                          </p:cBhvr>
                                          <p:tavLst>
                                            <p:tav tm="0">
                                              <p:val>
                                                <p:strVal val="#ppt_x"/>
                                              </p:val>
                                            </p:tav>
                                            <p:tav tm="100000">
                                              <p:val>
                                                <p:strVal val="#ppt_x"/>
                                              </p:val>
                                            </p:tav>
                                          </p:tavLst>
                                        </p:anim>
                                        <p:anim calcmode="lin" valueType="num">
                                          <p:cBhvr additive="base">
                                            <p:cTn id="44" dur="750" fill="hold"/>
                                            <p:tgtEl>
                                              <p:spTgt spid="34"/>
                                            </p:tgtEl>
                                            <p:attrNameLst>
                                              <p:attrName>ppt_y</p:attrName>
                                            </p:attrNameLst>
                                          </p:cBhvr>
                                          <p:tavLst>
                                            <p:tav tm="0">
                                              <p:val>
                                                <p:strVal val="0-#ppt_h/2"/>
                                              </p:val>
                                            </p:tav>
                                            <p:tav tm="100000">
                                              <p:val>
                                                <p:strVal val="#ppt_y"/>
                                              </p:val>
                                            </p:tav>
                                          </p:tavLst>
                                        </p:anim>
                                      </p:childTnLst>
                                    </p:cTn>
                                  </p:par>
                                  <p:par>
                                    <p:cTn id="45" presetID="22" presetClass="entr" presetSubtype="1" fill="hold" grpId="0" nodeType="withEffect">
                                      <p:stCondLst>
                                        <p:cond delay="250"/>
                                      </p:stCondLst>
                                      <p:childTnLst>
                                        <p:set>
                                          <p:cBhvr>
                                            <p:cTn id="46" dur="1" fill="hold">
                                              <p:stCondLst>
                                                <p:cond delay="0"/>
                                              </p:stCondLst>
                                            </p:cTn>
                                            <p:tgtEl>
                                              <p:spTgt spid="18"/>
                                            </p:tgtEl>
                                            <p:attrNameLst>
                                              <p:attrName>style.visibility</p:attrName>
                                            </p:attrNameLst>
                                          </p:cBhvr>
                                          <p:to>
                                            <p:strVal val="visible"/>
                                          </p:to>
                                        </p:set>
                                        <p:animEffect transition="in" filter="wipe(up)">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p:bldP spid="15" grpId="0"/>
          <p:bldP spid="16" grpId="0"/>
          <p:bldP spid="17" grpId="0"/>
          <p:bldP spid="18"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157300" y="2552913"/>
            <a:ext cx="74603" cy="3313113"/>
            <a:chOff x="5157018" y="2545292"/>
            <a:chExt cx="74613" cy="3313113"/>
          </a:xfrm>
        </p:grpSpPr>
        <p:sp>
          <p:nvSpPr>
            <p:cNvPr id="5380" name="Oval 982"/>
            <p:cNvSpPr>
              <a:spLocks noChangeArrowheads="1"/>
            </p:cNvSpPr>
            <p:nvPr/>
          </p:nvSpPr>
          <p:spPr bwMode="auto">
            <a:xfrm>
              <a:off x="5157018" y="2545292"/>
              <a:ext cx="74613" cy="79375"/>
            </a:xfrm>
            <a:prstGeom prst="ellipse">
              <a:avLst/>
            </a:pr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5381" name="Oval 983"/>
            <p:cNvSpPr>
              <a:spLocks noChangeArrowheads="1"/>
            </p:cNvSpPr>
            <p:nvPr/>
          </p:nvSpPr>
          <p:spPr bwMode="auto">
            <a:xfrm>
              <a:off x="5157018" y="4185180"/>
              <a:ext cx="74613" cy="74613"/>
            </a:xfrm>
            <a:prstGeom prst="ellipse">
              <a:avLst/>
            </a:pr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5382" name="Oval 984"/>
            <p:cNvSpPr>
              <a:spLocks noChangeArrowheads="1"/>
            </p:cNvSpPr>
            <p:nvPr/>
          </p:nvSpPr>
          <p:spPr bwMode="auto">
            <a:xfrm>
              <a:off x="5157018" y="5783792"/>
              <a:ext cx="74613" cy="74613"/>
            </a:xfrm>
            <a:prstGeom prst="ellipse">
              <a:avLst/>
            </a:pr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grpSp>
      <p:grpSp>
        <p:nvGrpSpPr>
          <p:cNvPr id="4" name="组合 3"/>
          <p:cNvGrpSpPr/>
          <p:nvPr/>
        </p:nvGrpSpPr>
        <p:grpSpPr>
          <a:xfrm>
            <a:off x="5616028" y="1599143"/>
            <a:ext cx="1185709" cy="4413251"/>
            <a:chOff x="5615806" y="1599142"/>
            <a:chExt cx="1185863" cy="4413251"/>
          </a:xfrm>
        </p:grpSpPr>
        <p:sp>
          <p:nvSpPr>
            <p:cNvPr id="5383" name="Freeform 985"/>
            <p:cNvSpPr/>
            <p:nvPr/>
          </p:nvSpPr>
          <p:spPr bwMode="auto">
            <a:xfrm>
              <a:off x="5792018" y="1772180"/>
              <a:ext cx="833438" cy="833438"/>
            </a:xfrm>
            <a:custGeom>
              <a:avLst/>
              <a:gdLst>
                <a:gd name="T0" fmla="*/ 4 w 222"/>
                <a:gd name="T1" fmla="*/ 222 h 222"/>
                <a:gd name="T2" fmla="*/ 2 w 222"/>
                <a:gd name="T3" fmla="*/ 221 h 222"/>
                <a:gd name="T4" fmla="*/ 2 w 222"/>
                <a:gd name="T5" fmla="*/ 217 h 222"/>
                <a:gd name="T6" fmla="*/ 217 w 222"/>
                <a:gd name="T7" fmla="*/ 1 h 222"/>
                <a:gd name="T8" fmla="*/ 221 w 222"/>
                <a:gd name="T9" fmla="*/ 1 h 222"/>
                <a:gd name="T10" fmla="*/ 221 w 222"/>
                <a:gd name="T11" fmla="*/ 6 h 222"/>
                <a:gd name="T12" fmla="*/ 6 w 222"/>
                <a:gd name="T13" fmla="*/ 221 h 222"/>
                <a:gd name="T14" fmla="*/ 4 w 222"/>
                <a:gd name="T15" fmla="*/ 222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 h="222">
                  <a:moveTo>
                    <a:pt x="4" y="222"/>
                  </a:moveTo>
                  <a:cubicBezTo>
                    <a:pt x="3" y="222"/>
                    <a:pt x="2" y="221"/>
                    <a:pt x="2" y="221"/>
                  </a:cubicBezTo>
                  <a:cubicBezTo>
                    <a:pt x="0" y="220"/>
                    <a:pt x="0" y="218"/>
                    <a:pt x="2" y="217"/>
                  </a:cubicBezTo>
                  <a:cubicBezTo>
                    <a:pt x="217" y="1"/>
                    <a:pt x="217" y="1"/>
                    <a:pt x="217" y="1"/>
                  </a:cubicBezTo>
                  <a:cubicBezTo>
                    <a:pt x="218" y="0"/>
                    <a:pt x="220" y="0"/>
                    <a:pt x="221" y="1"/>
                  </a:cubicBezTo>
                  <a:cubicBezTo>
                    <a:pt x="222" y="2"/>
                    <a:pt x="222" y="4"/>
                    <a:pt x="221" y="6"/>
                  </a:cubicBezTo>
                  <a:cubicBezTo>
                    <a:pt x="6" y="221"/>
                    <a:pt x="6" y="221"/>
                    <a:pt x="6" y="221"/>
                  </a:cubicBezTo>
                  <a:cubicBezTo>
                    <a:pt x="5" y="221"/>
                    <a:pt x="4" y="222"/>
                    <a:pt x="4" y="222"/>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5384" name="Freeform 986"/>
            <p:cNvSpPr/>
            <p:nvPr/>
          </p:nvSpPr>
          <p:spPr bwMode="auto">
            <a:xfrm>
              <a:off x="5855518" y="2668589"/>
              <a:ext cx="833438" cy="828675"/>
            </a:xfrm>
            <a:custGeom>
              <a:avLst/>
              <a:gdLst>
                <a:gd name="T0" fmla="*/ 219 w 222"/>
                <a:gd name="T1" fmla="*/ 221 h 221"/>
                <a:gd name="T2" fmla="*/ 217 w 222"/>
                <a:gd name="T3" fmla="*/ 220 h 221"/>
                <a:gd name="T4" fmla="*/ 2 w 222"/>
                <a:gd name="T5" fmla="*/ 5 h 221"/>
                <a:gd name="T6" fmla="*/ 2 w 222"/>
                <a:gd name="T7" fmla="*/ 1 h 221"/>
                <a:gd name="T8" fmla="*/ 6 w 222"/>
                <a:gd name="T9" fmla="*/ 1 h 221"/>
                <a:gd name="T10" fmla="*/ 221 w 222"/>
                <a:gd name="T11" fmla="*/ 216 h 221"/>
                <a:gd name="T12" fmla="*/ 221 w 222"/>
                <a:gd name="T13" fmla="*/ 220 h 221"/>
                <a:gd name="T14" fmla="*/ 219 w 222"/>
                <a:gd name="T15" fmla="*/ 221 h 2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 h="221">
                  <a:moveTo>
                    <a:pt x="219" y="221"/>
                  </a:moveTo>
                  <a:cubicBezTo>
                    <a:pt x="218" y="221"/>
                    <a:pt x="217" y="221"/>
                    <a:pt x="217" y="220"/>
                  </a:cubicBezTo>
                  <a:cubicBezTo>
                    <a:pt x="2" y="5"/>
                    <a:pt x="2" y="5"/>
                    <a:pt x="2" y="5"/>
                  </a:cubicBezTo>
                  <a:cubicBezTo>
                    <a:pt x="0" y="4"/>
                    <a:pt x="0" y="2"/>
                    <a:pt x="2" y="1"/>
                  </a:cubicBezTo>
                  <a:cubicBezTo>
                    <a:pt x="3" y="0"/>
                    <a:pt x="5" y="0"/>
                    <a:pt x="6" y="1"/>
                  </a:cubicBezTo>
                  <a:cubicBezTo>
                    <a:pt x="221" y="216"/>
                    <a:pt x="221" y="216"/>
                    <a:pt x="221" y="216"/>
                  </a:cubicBezTo>
                  <a:cubicBezTo>
                    <a:pt x="222" y="217"/>
                    <a:pt x="222" y="219"/>
                    <a:pt x="221" y="220"/>
                  </a:cubicBezTo>
                  <a:cubicBezTo>
                    <a:pt x="221" y="221"/>
                    <a:pt x="220" y="221"/>
                    <a:pt x="219" y="221"/>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5385" name="Freeform 987"/>
            <p:cNvSpPr/>
            <p:nvPr/>
          </p:nvSpPr>
          <p:spPr bwMode="auto">
            <a:xfrm>
              <a:off x="5792018" y="3393017"/>
              <a:ext cx="833438" cy="833438"/>
            </a:xfrm>
            <a:custGeom>
              <a:avLst/>
              <a:gdLst>
                <a:gd name="T0" fmla="*/ 4 w 222"/>
                <a:gd name="T1" fmla="*/ 222 h 222"/>
                <a:gd name="T2" fmla="*/ 2 w 222"/>
                <a:gd name="T3" fmla="*/ 221 h 222"/>
                <a:gd name="T4" fmla="*/ 2 w 222"/>
                <a:gd name="T5" fmla="*/ 217 h 222"/>
                <a:gd name="T6" fmla="*/ 217 w 222"/>
                <a:gd name="T7" fmla="*/ 1 h 222"/>
                <a:gd name="T8" fmla="*/ 221 w 222"/>
                <a:gd name="T9" fmla="*/ 1 h 222"/>
                <a:gd name="T10" fmla="*/ 221 w 222"/>
                <a:gd name="T11" fmla="*/ 6 h 222"/>
                <a:gd name="T12" fmla="*/ 6 w 222"/>
                <a:gd name="T13" fmla="*/ 221 h 222"/>
                <a:gd name="T14" fmla="*/ 4 w 222"/>
                <a:gd name="T15" fmla="*/ 222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 h="222">
                  <a:moveTo>
                    <a:pt x="4" y="222"/>
                  </a:moveTo>
                  <a:cubicBezTo>
                    <a:pt x="3" y="222"/>
                    <a:pt x="2" y="222"/>
                    <a:pt x="2" y="221"/>
                  </a:cubicBezTo>
                  <a:cubicBezTo>
                    <a:pt x="0" y="220"/>
                    <a:pt x="0" y="218"/>
                    <a:pt x="2" y="217"/>
                  </a:cubicBezTo>
                  <a:cubicBezTo>
                    <a:pt x="217" y="1"/>
                    <a:pt x="217" y="1"/>
                    <a:pt x="217" y="1"/>
                  </a:cubicBezTo>
                  <a:cubicBezTo>
                    <a:pt x="218" y="0"/>
                    <a:pt x="220" y="0"/>
                    <a:pt x="221" y="1"/>
                  </a:cubicBezTo>
                  <a:cubicBezTo>
                    <a:pt x="222" y="3"/>
                    <a:pt x="222" y="5"/>
                    <a:pt x="221" y="6"/>
                  </a:cubicBezTo>
                  <a:cubicBezTo>
                    <a:pt x="6" y="221"/>
                    <a:pt x="6" y="221"/>
                    <a:pt x="6" y="221"/>
                  </a:cubicBezTo>
                  <a:cubicBezTo>
                    <a:pt x="5" y="222"/>
                    <a:pt x="4" y="222"/>
                    <a:pt x="4" y="222"/>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5386" name="Freeform 988"/>
            <p:cNvSpPr/>
            <p:nvPr/>
          </p:nvSpPr>
          <p:spPr bwMode="auto">
            <a:xfrm>
              <a:off x="5792018" y="5010680"/>
              <a:ext cx="833438" cy="833438"/>
            </a:xfrm>
            <a:custGeom>
              <a:avLst/>
              <a:gdLst>
                <a:gd name="T0" fmla="*/ 4 w 222"/>
                <a:gd name="T1" fmla="*/ 222 h 222"/>
                <a:gd name="T2" fmla="*/ 2 w 222"/>
                <a:gd name="T3" fmla="*/ 221 h 222"/>
                <a:gd name="T4" fmla="*/ 2 w 222"/>
                <a:gd name="T5" fmla="*/ 216 h 222"/>
                <a:gd name="T6" fmla="*/ 217 w 222"/>
                <a:gd name="T7" fmla="*/ 1 h 222"/>
                <a:gd name="T8" fmla="*/ 221 w 222"/>
                <a:gd name="T9" fmla="*/ 1 h 222"/>
                <a:gd name="T10" fmla="*/ 221 w 222"/>
                <a:gd name="T11" fmla="*/ 5 h 222"/>
                <a:gd name="T12" fmla="*/ 6 w 222"/>
                <a:gd name="T13" fmla="*/ 221 h 222"/>
                <a:gd name="T14" fmla="*/ 4 w 222"/>
                <a:gd name="T15" fmla="*/ 222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 h="222">
                  <a:moveTo>
                    <a:pt x="4" y="222"/>
                  </a:moveTo>
                  <a:cubicBezTo>
                    <a:pt x="3" y="222"/>
                    <a:pt x="2" y="221"/>
                    <a:pt x="2" y="221"/>
                  </a:cubicBezTo>
                  <a:cubicBezTo>
                    <a:pt x="0" y="219"/>
                    <a:pt x="0" y="218"/>
                    <a:pt x="2" y="216"/>
                  </a:cubicBezTo>
                  <a:cubicBezTo>
                    <a:pt x="217" y="1"/>
                    <a:pt x="217" y="1"/>
                    <a:pt x="217" y="1"/>
                  </a:cubicBezTo>
                  <a:cubicBezTo>
                    <a:pt x="218" y="0"/>
                    <a:pt x="220" y="0"/>
                    <a:pt x="221" y="1"/>
                  </a:cubicBezTo>
                  <a:cubicBezTo>
                    <a:pt x="222" y="2"/>
                    <a:pt x="222" y="4"/>
                    <a:pt x="221" y="5"/>
                  </a:cubicBezTo>
                  <a:cubicBezTo>
                    <a:pt x="6" y="221"/>
                    <a:pt x="6" y="221"/>
                    <a:pt x="6" y="221"/>
                  </a:cubicBezTo>
                  <a:cubicBezTo>
                    <a:pt x="5" y="221"/>
                    <a:pt x="4" y="222"/>
                    <a:pt x="4" y="222"/>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5387" name="Freeform 989"/>
            <p:cNvSpPr>
              <a:spLocks noEditPoints="1"/>
            </p:cNvSpPr>
            <p:nvPr/>
          </p:nvSpPr>
          <p:spPr bwMode="auto">
            <a:xfrm>
              <a:off x="5615806" y="2402417"/>
              <a:ext cx="377825" cy="379413"/>
            </a:xfrm>
            <a:custGeom>
              <a:avLst/>
              <a:gdLst>
                <a:gd name="T0" fmla="*/ 89 w 101"/>
                <a:gd name="T1" fmla="*/ 25 h 101"/>
                <a:gd name="T2" fmla="*/ 89 w 101"/>
                <a:gd name="T3" fmla="*/ 18 h 101"/>
                <a:gd name="T4" fmla="*/ 84 w 101"/>
                <a:gd name="T5" fmla="*/ 12 h 101"/>
                <a:gd name="T6" fmla="*/ 77 w 101"/>
                <a:gd name="T7" fmla="*/ 12 h 101"/>
                <a:gd name="T8" fmla="*/ 74 w 101"/>
                <a:gd name="T9" fmla="*/ 15 h 101"/>
                <a:gd name="T10" fmla="*/ 67 w 101"/>
                <a:gd name="T11" fmla="*/ 16 h 101"/>
                <a:gd name="T12" fmla="*/ 60 w 101"/>
                <a:gd name="T13" fmla="*/ 9 h 101"/>
                <a:gd name="T14" fmla="*/ 60 w 101"/>
                <a:gd name="T15" fmla="*/ 5 h 101"/>
                <a:gd name="T16" fmla="*/ 54 w 101"/>
                <a:gd name="T17" fmla="*/ 0 h 101"/>
                <a:gd name="T18" fmla="*/ 47 w 101"/>
                <a:gd name="T19" fmla="*/ 0 h 101"/>
                <a:gd name="T20" fmla="*/ 42 w 101"/>
                <a:gd name="T21" fmla="*/ 5 h 101"/>
                <a:gd name="T22" fmla="*/ 42 w 101"/>
                <a:gd name="T23" fmla="*/ 9 h 101"/>
                <a:gd name="T24" fmla="*/ 38 w 101"/>
                <a:gd name="T25" fmla="*/ 15 h 101"/>
                <a:gd name="T26" fmla="*/ 27 w 101"/>
                <a:gd name="T27" fmla="*/ 15 h 101"/>
                <a:gd name="T28" fmla="*/ 25 w 101"/>
                <a:gd name="T29" fmla="*/ 12 h 101"/>
                <a:gd name="T30" fmla="*/ 17 w 101"/>
                <a:gd name="T31" fmla="*/ 12 h 101"/>
                <a:gd name="T32" fmla="*/ 12 w 101"/>
                <a:gd name="T33" fmla="*/ 18 h 101"/>
                <a:gd name="T34" fmla="*/ 12 w 101"/>
                <a:gd name="T35" fmla="*/ 25 h 101"/>
                <a:gd name="T36" fmla="*/ 15 w 101"/>
                <a:gd name="T37" fmla="*/ 27 h 101"/>
                <a:gd name="T38" fmla="*/ 16 w 101"/>
                <a:gd name="T39" fmla="*/ 34 h 101"/>
                <a:gd name="T40" fmla="*/ 9 w 101"/>
                <a:gd name="T41" fmla="*/ 42 h 101"/>
                <a:gd name="T42" fmla="*/ 5 w 101"/>
                <a:gd name="T43" fmla="*/ 42 h 101"/>
                <a:gd name="T44" fmla="*/ 0 w 101"/>
                <a:gd name="T45" fmla="*/ 47 h 101"/>
                <a:gd name="T46" fmla="*/ 0 w 101"/>
                <a:gd name="T47" fmla="*/ 55 h 101"/>
                <a:gd name="T48" fmla="*/ 5 w 101"/>
                <a:gd name="T49" fmla="*/ 60 h 101"/>
                <a:gd name="T50" fmla="*/ 9 w 101"/>
                <a:gd name="T51" fmla="*/ 60 h 101"/>
                <a:gd name="T52" fmla="*/ 15 w 101"/>
                <a:gd name="T53" fmla="*/ 63 h 101"/>
                <a:gd name="T54" fmla="*/ 15 w 101"/>
                <a:gd name="T55" fmla="*/ 74 h 101"/>
                <a:gd name="T56" fmla="*/ 12 w 101"/>
                <a:gd name="T57" fmla="*/ 77 h 101"/>
                <a:gd name="T58" fmla="*/ 12 w 101"/>
                <a:gd name="T59" fmla="*/ 84 h 101"/>
                <a:gd name="T60" fmla="*/ 17 w 101"/>
                <a:gd name="T61" fmla="*/ 89 h 101"/>
                <a:gd name="T62" fmla="*/ 25 w 101"/>
                <a:gd name="T63" fmla="*/ 89 h 101"/>
                <a:gd name="T64" fmla="*/ 27 w 101"/>
                <a:gd name="T65" fmla="*/ 87 h 101"/>
                <a:gd name="T66" fmla="*/ 34 w 101"/>
                <a:gd name="T67" fmla="*/ 85 h 101"/>
                <a:gd name="T68" fmla="*/ 42 w 101"/>
                <a:gd name="T69" fmla="*/ 93 h 101"/>
                <a:gd name="T70" fmla="*/ 42 w 101"/>
                <a:gd name="T71" fmla="*/ 96 h 101"/>
                <a:gd name="T72" fmla="*/ 47 w 101"/>
                <a:gd name="T73" fmla="*/ 101 h 101"/>
                <a:gd name="T74" fmla="*/ 54 w 101"/>
                <a:gd name="T75" fmla="*/ 101 h 101"/>
                <a:gd name="T76" fmla="*/ 60 w 101"/>
                <a:gd name="T77" fmla="*/ 96 h 101"/>
                <a:gd name="T78" fmla="*/ 60 w 101"/>
                <a:gd name="T79" fmla="*/ 93 h 101"/>
                <a:gd name="T80" fmla="*/ 63 w 101"/>
                <a:gd name="T81" fmla="*/ 87 h 101"/>
                <a:gd name="T82" fmla="*/ 74 w 101"/>
                <a:gd name="T83" fmla="*/ 87 h 101"/>
                <a:gd name="T84" fmla="*/ 77 w 101"/>
                <a:gd name="T85" fmla="*/ 89 h 101"/>
                <a:gd name="T86" fmla="*/ 84 w 101"/>
                <a:gd name="T87" fmla="*/ 89 h 101"/>
                <a:gd name="T88" fmla="*/ 89 w 101"/>
                <a:gd name="T89" fmla="*/ 84 h 101"/>
                <a:gd name="T90" fmla="*/ 89 w 101"/>
                <a:gd name="T91" fmla="*/ 77 h 101"/>
                <a:gd name="T92" fmla="*/ 87 w 101"/>
                <a:gd name="T93" fmla="*/ 74 h 101"/>
                <a:gd name="T94" fmla="*/ 85 w 101"/>
                <a:gd name="T95" fmla="*/ 67 h 101"/>
                <a:gd name="T96" fmla="*/ 93 w 101"/>
                <a:gd name="T97" fmla="*/ 60 h 101"/>
                <a:gd name="T98" fmla="*/ 96 w 101"/>
                <a:gd name="T99" fmla="*/ 60 h 101"/>
                <a:gd name="T100" fmla="*/ 101 w 101"/>
                <a:gd name="T101" fmla="*/ 55 h 101"/>
                <a:gd name="T102" fmla="*/ 101 w 101"/>
                <a:gd name="T103" fmla="*/ 47 h 101"/>
                <a:gd name="T104" fmla="*/ 96 w 101"/>
                <a:gd name="T105" fmla="*/ 42 h 101"/>
                <a:gd name="T106" fmla="*/ 93 w 101"/>
                <a:gd name="T107" fmla="*/ 42 h 101"/>
                <a:gd name="T108" fmla="*/ 86 w 101"/>
                <a:gd name="T109" fmla="*/ 38 h 101"/>
                <a:gd name="T110" fmla="*/ 87 w 101"/>
                <a:gd name="T111" fmla="*/ 27 h 101"/>
                <a:gd name="T112" fmla="*/ 89 w 101"/>
                <a:gd name="T113" fmla="*/ 25 h 101"/>
                <a:gd name="T114" fmla="*/ 69 w 101"/>
                <a:gd name="T115" fmla="*/ 69 h 101"/>
                <a:gd name="T116" fmla="*/ 33 w 101"/>
                <a:gd name="T117" fmla="*/ 69 h 101"/>
                <a:gd name="T118" fmla="*/ 33 w 101"/>
                <a:gd name="T119" fmla="*/ 33 h 101"/>
                <a:gd name="T120" fmla="*/ 69 w 101"/>
                <a:gd name="T121" fmla="*/ 33 h 101"/>
                <a:gd name="T122" fmla="*/ 69 w 101"/>
                <a:gd name="T123" fmla="*/ 69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1" h="101">
                  <a:moveTo>
                    <a:pt x="89" y="25"/>
                  </a:moveTo>
                  <a:cubicBezTo>
                    <a:pt x="91" y="23"/>
                    <a:pt x="91" y="20"/>
                    <a:pt x="89" y="18"/>
                  </a:cubicBezTo>
                  <a:cubicBezTo>
                    <a:pt x="84" y="12"/>
                    <a:pt x="84" y="12"/>
                    <a:pt x="84" y="12"/>
                  </a:cubicBezTo>
                  <a:cubicBezTo>
                    <a:pt x="82" y="10"/>
                    <a:pt x="79" y="10"/>
                    <a:pt x="77" y="12"/>
                  </a:cubicBezTo>
                  <a:cubicBezTo>
                    <a:pt x="74" y="15"/>
                    <a:pt x="74" y="15"/>
                    <a:pt x="74" y="15"/>
                  </a:cubicBezTo>
                  <a:cubicBezTo>
                    <a:pt x="72" y="17"/>
                    <a:pt x="69" y="17"/>
                    <a:pt x="67" y="16"/>
                  </a:cubicBezTo>
                  <a:cubicBezTo>
                    <a:pt x="65" y="15"/>
                    <a:pt x="60" y="11"/>
                    <a:pt x="60" y="9"/>
                  </a:cubicBezTo>
                  <a:cubicBezTo>
                    <a:pt x="60" y="5"/>
                    <a:pt x="60" y="5"/>
                    <a:pt x="60" y="5"/>
                  </a:cubicBezTo>
                  <a:cubicBezTo>
                    <a:pt x="60" y="2"/>
                    <a:pt x="57" y="0"/>
                    <a:pt x="54" y="0"/>
                  </a:cubicBezTo>
                  <a:cubicBezTo>
                    <a:pt x="47" y="0"/>
                    <a:pt x="47" y="0"/>
                    <a:pt x="47" y="0"/>
                  </a:cubicBezTo>
                  <a:cubicBezTo>
                    <a:pt x="44" y="0"/>
                    <a:pt x="42" y="2"/>
                    <a:pt x="42" y="5"/>
                  </a:cubicBezTo>
                  <a:cubicBezTo>
                    <a:pt x="42" y="9"/>
                    <a:pt x="42" y="9"/>
                    <a:pt x="42" y="9"/>
                  </a:cubicBezTo>
                  <a:cubicBezTo>
                    <a:pt x="42" y="11"/>
                    <a:pt x="40" y="14"/>
                    <a:pt x="38" y="15"/>
                  </a:cubicBezTo>
                  <a:cubicBezTo>
                    <a:pt x="36" y="16"/>
                    <a:pt x="29" y="17"/>
                    <a:pt x="27" y="15"/>
                  </a:cubicBezTo>
                  <a:cubicBezTo>
                    <a:pt x="25" y="12"/>
                    <a:pt x="25" y="12"/>
                    <a:pt x="25" y="12"/>
                  </a:cubicBezTo>
                  <a:cubicBezTo>
                    <a:pt x="23" y="10"/>
                    <a:pt x="19" y="10"/>
                    <a:pt x="17" y="12"/>
                  </a:cubicBezTo>
                  <a:cubicBezTo>
                    <a:pt x="12" y="18"/>
                    <a:pt x="12" y="18"/>
                    <a:pt x="12" y="18"/>
                  </a:cubicBezTo>
                  <a:cubicBezTo>
                    <a:pt x="10" y="20"/>
                    <a:pt x="10" y="23"/>
                    <a:pt x="12" y="25"/>
                  </a:cubicBezTo>
                  <a:cubicBezTo>
                    <a:pt x="15" y="27"/>
                    <a:pt x="15" y="27"/>
                    <a:pt x="15" y="27"/>
                  </a:cubicBezTo>
                  <a:cubicBezTo>
                    <a:pt x="17" y="29"/>
                    <a:pt x="17" y="32"/>
                    <a:pt x="16" y="34"/>
                  </a:cubicBezTo>
                  <a:cubicBezTo>
                    <a:pt x="15" y="36"/>
                    <a:pt x="11" y="42"/>
                    <a:pt x="9" y="42"/>
                  </a:cubicBezTo>
                  <a:cubicBezTo>
                    <a:pt x="5" y="42"/>
                    <a:pt x="5" y="42"/>
                    <a:pt x="5" y="42"/>
                  </a:cubicBezTo>
                  <a:cubicBezTo>
                    <a:pt x="2" y="42"/>
                    <a:pt x="0" y="44"/>
                    <a:pt x="0" y="47"/>
                  </a:cubicBezTo>
                  <a:cubicBezTo>
                    <a:pt x="0" y="55"/>
                    <a:pt x="0" y="55"/>
                    <a:pt x="0" y="55"/>
                  </a:cubicBezTo>
                  <a:cubicBezTo>
                    <a:pt x="0" y="57"/>
                    <a:pt x="2" y="60"/>
                    <a:pt x="5" y="60"/>
                  </a:cubicBezTo>
                  <a:cubicBezTo>
                    <a:pt x="9" y="60"/>
                    <a:pt x="9" y="60"/>
                    <a:pt x="9" y="60"/>
                  </a:cubicBezTo>
                  <a:cubicBezTo>
                    <a:pt x="11" y="60"/>
                    <a:pt x="14" y="61"/>
                    <a:pt x="15" y="63"/>
                  </a:cubicBezTo>
                  <a:cubicBezTo>
                    <a:pt x="16" y="65"/>
                    <a:pt x="17" y="72"/>
                    <a:pt x="15" y="74"/>
                  </a:cubicBezTo>
                  <a:cubicBezTo>
                    <a:pt x="12" y="77"/>
                    <a:pt x="12" y="77"/>
                    <a:pt x="12" y="77"/>
                  </a:cubicBezTo>
                  <a:cubicBezTo>
                    <a:pt x="10" y="79"/>
                    <a:pt x="10" y="82"/>
                    <a:pt x="12" y="84"/>
                  </a:cubicBezTo>
                  <a:cubicBezTo>
                    <a:pt x="17" y="89"/>
                    <a:pt x="17" y="89"/>
                    <a:pt x="17" y="89"/>
                  </a:cubicBezTo>
                  <a:cubicBezTo>
                    <a:pt x="19" y="91"/>
                    <a:pt x="23" y="91"/>
                    <a:pt x="25" y="89"/>
                  </a:cubicBezTo>
                  <a:cubicBezTo>
                    <a:pt x="27" y="87"/>
                    <a:pt x="27" y="87"/>
                    <a:pt x="27" y="87"/>
                  </a:cubicBezTo>
                  <a:cubicBezTo>
                    <a:pt x="29" y="85"/>
                    <a:pt x="32" y="84"/>
                    <a:pt x="34" y="85"/>
                  </a:cubicBezTo>
                  <a:cubicBezTo>
                    <a:pt x="36" y="86"/>
                    <a:pt x="42" y="90"/>
                    <a:pt x="42" y="93"/>
                  </a:cubicBezTo>
                  <a:cubicBezTo>
                    <a:pt x="42" y="96"/>
                    <a:pt x="42" y="96"/>
                    <a:pt x="42" y="96"/>
                  </a:cubicBezTo>
                  <a:cubicBezTo>
                    <a:pt x="42" y="99"/>
                    <a:pt x="44" y="101"/>
                    <a:pt x="47" y="101"/>
                  </a:cubicBezTo>
                  <a:cubicBezTo>
                    <a:pt x="54" y="101"/>
                    <a:pt x="54" y="101"/>
                    <a:pt x="54" y="101"/>
                  </a:cubicBezTo>
                  <a:cubicBezTo>
                    <a:pt x="57" y="101"/>
                    <a:pt x="60" y="99"/>
                    <a:pt x="60" y="96"/>
                  </a:cubicBezTo>
                  <a:cubicBezTo>
                    <a:pt x="60" y="93"/>
                    <a:pt x="60" y="93"/>
                    <a:pt x="60" y="93"/>
                  </a:cubicBezTo>
                  <a:cubicBezTo>
                    <a:pt x="60" y="90"/>
                    <a:pt x="61" y="87"/>
                    <a:pt x="63" y="87"/>
                  </a:cubicBezTo>
                  <a:cubicBezTo>
                    <a:pt x="65" y="86"/>
                    <a:pt x="72" y="85"/>
                    <a:pt x="74" y="87"/>
                  </a:cubicBezTo>
                  <a:cubicBezTo>
                    <a:pt x="77" y="89"/>
                    <a:pt x="77" y="89"/>
                    <a:pt x="77" y="89"/>
                  </a:cubicBezTo>
                  <a:cubicBezTo>
                    <a:pt x="79" y="91"/>
                    <a:pt x="82" y="91"/>
                    <a:pt x="84" y="89"/>
                  </a:cubicBezTo>
                  <a:cubicBezTo>
                    <a:pt x="89" y="84"/>
                    <a:pt x="89" y="84"/>
                    <a:pt x="89" y="84"/>
                  </a:cubicBezTo>
                  <a:cubicBezTo>
                    <a:pt x="91" y="82"/>
                    <a:pt x="91" y="79"/>
                    <a:pt x="89" y="77"/>
                  </a:cubicBezTo>
                  <a:cubicBezTo>
                    <a:pt x="87" y="74"/>
                    <a:pt x="87" y="74"/>
                    <a:pt x="87" y="74"/>
                  </a:cubicBezTo>
                  <a:cubicBezTo>
                    <a:pt x="85" y="72"/>
                    <a:pt x="84" y="69"/>
                    <a:pt x="85" y="67"/>
                  </a:cubicBezTo>
                  <a:cubicBezTo>
                    <a:pt x="86" y="65"/>
                    <a:pt x="90" y="60"/>
                    <a:pt x="93" y="60"/>
                  </a:cubicBezTo>
                  <a:cubicBezTo>
                    <a:pt x="96" y="60"/>
                    <a:pt x="96" y="60"/>
                    <a:pt x="96" y="60"/>
                  </a:cubicBezTo>
                  <a:cubicBezTo>
                    <a:pt x="99" y="60"/>
                    <a:pt x="101" y="57"/>
                    <a:pt x="101" y="55"/>
                  </a:cubicBezTo>
                  <a:cubicBezTo>
                    <a:pt x="101" y="47"/>
                    <a:pt x="101" y="47"/>
                    <a:pt x="101" y="47"/>
                  </a:cubicBezTo>
                  <a:cubicBezTo>
                    <a:pt x="101" y="44"/>
                    <a:pt x="99" y="42"/>
                    <a:pt x="96" y="42"/>
                  </a:cubicBezTo>
                  <a:cubicBezTo>
                    <a:pt x="93" y="42"/>
                    <a:pt x="93" y="42"/>
                    <a:pt x="93" y="42"/>
                  </a:cubicBezTo>
                  <a:cubicBezTo>
                    <a:pt x="90" y="42"/>
                    <a:pt x="87" y="40"/>
                    <a:pt x="86" y="38"/>
                  </a:cubicBezTo>
                  <a:cubicBezTo>
                    <a:pt x="86" y="36"/>
                    <a:pt x="85" y="29"/>
                    <a:pt x="87" y="27"/>
                  </a:cubicBezTo>
                  <a:lnTo>
                    <a:pt x="89" y="25"/>
                  </a:lnTo>
                  <a:close/>
                  <a:moveTo>
                    <a:pt x="69" y="69"/>
                  </a:moveTo>
                  <a:cubicBezTo>
                    <a:pt x="59" y="79"/>
                    <a:pt x="43" y="79"/>
                    <a:pt x="33" y="69"/>
                  </a:cubicBezTo>
                  <a:cubicBezTo>
                    <a:pt x="23" y="59"/>
                    <a:pt x="23" y="43"/>
                    <a:pt x="33" y="33"/>
                  </a:cubicBezTo>
                  <a:cubicBezTo>
                    <a:pt x="43" y="23"/>
                    <a:pt x="59" y="23"/>
                    <a:pt x="69" y="33"/>
                  </a:cubicBezTo>
                  <a:cubicBezTo>
                    <a:pt x="79" y="43"/>
                    <a:pt x="79" y="59"/>
                    <a:pt x="69" y="69"/>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5388" name="Freeform 990"/>
            <p:cNvSpPr/>
            <p:nvPr/>
          </p:nvSpPr>
          <p:spPr bwMode="auto">
            <a:xfrm>
              <a:off x="5701531" y="2489730"/>
              <a:ext cx="209550" cy="209550"/>
            </a:xfrm>
            <a:custGeom>
              <a:avLst/>
              <a:gdLst>
                <a:gd name="T0" fmla="*/ 46 w 56"/>
                <a:gd name="T1" fmla="*/ 46 h 56"/>
                <a:gd name="T2" fmla="*/ 10 w 56"/>
                <a:gd name="T3" fmla="*/ 46 h 56"/>
                <a:gd name="T4" fmla="*/ 10 w 56"/>
                <a:gd name="T5" fmla="*/ 10 h 56"/>
                <a:gd name="T6" fmla="*/ 46 w 56"/>
                <a:gd name="T7" fmla="*/ 10 h 56"/>
                <a:gd name="T8" fmla="*/ 46 w 56"/>
                <a:gd name="T9" fmla="*/ 46 h 56"/>
              </a:gdLst>
              <a:ahLst/>
              <a:cxnLst>
                <a:cxn ang="0">
                  <a:pos x="T0" y="T1"/>
                </a:cxn>
                <a:cxn ang="0">
                  <a:pos x="T2" y="T3"/>
                </a:cxn>
                <a:cxn ang="0">
                  <a:pos x="T4" y="T5"/>
                </a:cxn>
                <a:cxn ang="0">
                  <a:pos x="T6" y="T7"/>
                </a:cxn>
                <a:cxn ang="0">
                  <a:pos x="T8" y="T9"/>
                </a:cxn>
              </a:cxnLst>
              <a:rect l="0" t="0" r="r" b="b"/>
              <a:pathLst>
                <a:path w="56" h="56">
                  <a:moveTo>
                    <a:pt x="46" y="46"/>
                  </a:moveTo>
                  <a:cubicBezTo>
                    <a:pt x="36" y="56"/>
                    <a:pt x="20" y="56"/>
                    <a:pt x="10" y="46"/>
                  </a:cubicBezTo>
                  <a:cubicBezTo>
                    <a:pt x="0" y="36"/>
                    <a:pt x="0" y="20"/>
                    <a:pt x="10" y="10"/>
                  </a:cubicBezTo>
                  <a:cubicBezTo>
                    <a:pt x="20" y="0"/>
                    <a:pt x="36" y="0"/>
                    <a:pt x="46" y="10"/>
                  </a:cubicBezTo>
                  <a:cubicBezTo>
                    <a:pt x="56" y="20"/>
                    <a:pt x="56" y="36"/>
                    <a:pt x="46" y="4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389" name="Freeform 991"/>
            <p:cNvSpPr>
              <a:spLocks noEditPoints="1"/>
            </p:cNvSpPr>
            <p:nvPr/>
          </p:nvSpPr>
          <p:spPr bwMode="auto">
            <a:xfrm>
              <a:off x="6419081" y="1599142"/>
              <a:ext cx="382588" cy="379413"/>
            </a:xfrm>
            <a:custGeom>
              <a:avLst/>
              <a:gdLst>
                <a:gd name="T0" fmla="*/ 89 w 102"/>
                <a:gd name="T1" fmla="*/ 24 h 101"/>
                <a:gd name="T2" fmla="*/ 89 w 102"/>
                <a:gd name="T3" fmla="*/ 17 h 101"/>
                <a:gd name="T4" fmla="*/ 84 w 102"/>
                <a:gd name="T5" fmla="*/ 12 h 101"/>
                <a:gd name="T6" fmla="*/ 77 w 102"/>
                <a:gd name="T7" fmla="*/ 12 h 101"/>
                <a:gd name="T8" fmla="*/ 74 w 102"/>
                <a:gd name="T9" fmla="*/ 14 h 101"/>
                <a:gd name="T10" fmla="*/ 67 w 102"/>
                <a:gd name="T11" fmla="*/ 16 h 101"/>
                <a:gd name="T12" fmla="*/ 60 w 102"/>
                <a:gd name="T13" fmla="*/ 8 h 101"/>
                <a:gd name="T14" fmla="*/ 60 w 102"/>
                <a:gd name="T15" fmla="*/ 5 h 101"/>
                <a:gd name="T16" fmla="*/ 55 w 102"/>
                <a:gd name="T17" fmla="*/ 0 h 101"/>
                <a:gd name="T18" fmla="*/ 47 w 102"/>
                <a:gd name="T19" fmla="*/ 0 h 101"/>
                <a:gd name="T20" fmla="*/ 42 w 102"/>
                <a:gd name="T21" fmla="*/ 5 h 101"/>
                <a:gd name="T22" fmla="*/ 42 w 102"/>
                <a:gd name="T23" fmla="*/ 8 h 101"/>
                <a:gd name="T24" fmla="*/ 38 w 102"/>
                <a:gd name="T25" fmla="*/ 15 h 101"/>
                <a:gd name="T26" fmla="*/ 27 w 102"/>
                <a:gd name="T27" fmla="*/ 14 h 101"/>
                <a:gd name="T28" fmla="*/ 25 w 102"/>
                <a:gd name="T29" fmla="*/ 12 h 101"/>
                <a:gd name="T30" fmla="*/ 18 w 102"/>
                <a:gd name="T31" fmla="*/ 12 h 101"/>
                <a:gd name="T32" fmla="*/ 12 w 102"/>
                <a:gd name="T33" fmla="*/ 17 h 101"/>
                <a:gd name="T34" fmla="*/ 12 w 102"/>
                <a:gd name="T35" fmla="*/ 24 h 101"/>
                <a:gd name="T36" fmla="*/ 15 w 102"/>
                <a:gd name="T37" fmla="*/ 27 h 101"/>
                <a:gd name="T38" fmla="*/ 17 w 102"/>
                <a:gd name="T39" fmla="*/ 34 h 101"/>
                <a:gd name="T40" fmla="*/ 9 w 102"/>
                <a:gd name="T41" fmla="*/ 42 h 101"/>
                <a:gd name="T42" fmla="*/ 5 w 102"/>
                <a:gd name="T43" fmla="*/ 42 h 101"/>
                <a:gd name="T44" fmla="*/ 0 w 102"/>
                <a:gd name="T45" fmla="*/ 47 h 101"/>
                <a:gd name="T46" fmla="*/ 0 w 102"/>
                <a:gd name="T47" fmla="*/ 54 h 101"/>
                <a:gd name="T48" fmla="*/ 5 w 102"/>
                <a:gd name="T49" fmla="*/ 59 h 101"/>
                <a:gd name="T50" fmla="*/ 9 w 102"/>
                <a:gd name="T51" fmla="*/ 59 h 101"/>
                <a:gd name="T52" fmla="*/ 15 w 102"/>
                <a:gd name="T53" fmla="*/ 63 h 101"/>
                <a:gd name="T54" fmla="*/ 15 w 102"/>
                <a:gd name="T55" fmla="*/ 74 h 101"/>
                <a:gd name="T56" fmla="*/ 12 w 102"/>
                <a:gd name="T57" fmla="*/ 77 h 101"/>
                <a:gd name="T58" fmla="*/ 12 w 102"/>
                <a:gd name="T59" fmla="*/ 84 h 101"/>
                <a:gd name="T60" fmla="*/ 18 w 102"/>
                <a:gd name="T61" fmla="*/ 89 h 101"/>
                <a:gd name="T62" fmla="*/ 25 w 102"/>
                <a:gd name="T63" fmla="*/ 89 h 101"/>
                <a:gd name="T64" fmla="*/ 27 w 102"/>
                <a:gd name="T65" fmla="*/ 87 h 101"/>
                <a:gd name="T66" fmla="*/ 35 w 102"/>
                <a:gd name="T67" fmla="*/ 85 h 101"/>
                <a:gd name="T68" fmla="*/ 42 w 102"/>
                <a:gd name="T69" fmla="*/ 93 h 101"/>
                <a:gd name="T70" fmla="*/ 42 w 102"/>
                <a:gd name="T71" fmla="*/ 96 h 101"/>
                <a:gd name="T72" fmla="*/ 47 w 102"/>
                <a:gd name="T73" fmla="*/ 101 h 101"/>
                <a:gd name="T74" fmla="*/ 55 w 102"/>
                <a:gd name="T75" fmla="*/ 101 h 101"/>
                <a:gd name="T76" fmla="*/ 60 w 102"/>
                <a:gd name="T77" fmla="*/ 96 h 101"/>
                <a:gd name="T78" fmla="*/ 60 w 102"/>
                <a:gd name="T79" fmla="*/ 93 h 101"/>
                <a:gd name="T80" fmla="*/ 64 w 102"/>
                <a:gd name="T81" fmla="*/ 86 h 101"/>
                <a:gd name="T82" fmla="*/ 74 w 102"/>
                <a:gd name="T83" fmla="*/ 87 h 101"/>
                <a:gd name="T84" fmla="*/ 77 w 102"/>
                <a:gd name="T85" fmla="*/ 89 h 101"/>
                <a:gd name="T86" fmla="*/ 84 w 102"/>
                <a:gd name="T87" fmla="*/ 89 h 101"/>
                <a:gd name="T88" fmla="*/ 89 w 102"/>
                <a:gd name="T89" fmla="*/ 84 h 101"/>
                <a:gd name="T90" fmla="*/ 89 w 102"/>
                <a:gd name="T91" fmla="*/ 77 h 101"/>
                <a:gd name="T92" fmla="*/ 87 w 102"/>
                <a:gd name="T93" fmla="*/ 74 h 101"/>
                <a:gd name="T94" fmla="*/ 85 w 102"/>
                <a:gd name="T95" fmla="*/ 67 h 101"/>
                <a:gd name="T96" fmla="*/ 93 w 102"/>
                <a:gd name="T97" fmla="*/ 59 h 101"/>
                <a:gd name="T98" fmla="*/ 97 w 102"/>
                <a:gd name="T99" fmla="*/ 59 h 101"/>
                <a:gd name="T100" fmla="*/ 102 w 102"/>
                <a:gd name="T101" fmla="*/ 54 h 101"/>
                <a:gd name="T102" fmla="*/ 102 w 102"/>
                <a:gd name="T103" fmla="*/ 47 h 101"/>
                <a:gd name="T104" fmla="*/ 97 w 102"/>
                <a:gd name="T105" fmla="*/ 42 h 101"/>
                <a:gd name="T106" fmla="*/ 93 w 102"/>
                <a:gd name="T107" fmla="*/ 42 h 101"/>
                <a:gd name="T108" fmla="*/ 87 w 102"/>
                <a:gd name="T109" fmla="*/ 38 h 101"/>
                <a:gd name="T110" fmla="*/ 87 w 102"/>
                <a:gd name="T111" fmla="*/ 27 h 101"/>
                <a:gd name="T112" fmla="*/ 89 w 102"/>
                <a:gd name="T113" fmla="*/ 24 h 101"/>
                <a:gd name="T114" fmla="*/ 69 w 102"/>
                <a:gd name="T115" fmla="*/ 68 h 101"/>
                <a:gd name="T116" fmla="*/ 33 w 102"/>
                <a:gd name="T117" fmla="*/ 68 h 101"/>
                <a:gd name="T118" fmla="*/ 33 w 102"/>
                <a:gd name="T119" fmla="*/ 33 h 101"/>
                <a:gd name="T120" fmla="*/ 69 w 102"/>
                <a:gd name="T121" fmla="*/ 33 h 101"/>
                <a:gd name="T122" fmla="*/ 69 w 102"/>
                <a:gd name="T123" fmla="*/ 68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2" h="101">
                  <a:moveTo>
                    <a:pt x="89" y="24"/>
                  </a:moveTo>
                  <a:cubicBezTo>
                    <a:pt x="91" y="23"/>
                    <a:pt x="91" y="19"/>
                    <a:pt x="89" y="17"/>
                  </a:cubicBezTo>
                  <a:cubicBezTo>
                    <a:pt x="84" y="12"/>
                    <a:pt x="84" y="12"/>
                    <a:pt x="84" y="12"/>
                  </a:cubicBezTo>
                  <a:cubicBezTo>
                    <a:pt x="82" y="10"/>
                    <a:pt x="79" y="10"/>
                    <a:pt x="77" y="12"/>
                  </a:cubicBezTo>
                  <a:cubicBezTo>
                    <a:pt x="74" y="14"/>
                    <a:pt x="74" y="14"/>
                    <a:pt x="74" y="14"/>
                  </a:cubicBezTo>
                  <a:cubicBezTo>
                    <a:pt x="72" y="16"/>
                    <a:pt x="69" y="17"/>
                    <a:pt x="67" y="16"/>
                  </a:cubicBezTo>
                  <a:cubicBezTo>
                    <a:pt x="65" y="15"/>
                    <a:pt x="60" y="11"/>
                    <a:pt x="60" y="8"/>
                  </a:cubicBezTo>
                  <a:cubicBezTo>
                    <a:pt x="60" y="5"/>
                    <a:pt x="60" y="5"/>
                    <a:pt x="60" y="5"/>
                  </a:cubicBezTo>
                  <a:cubicBezTo>
                    <a:pt x="60" y="2"/>
                    <a:pt x="57" y="0"/>
                    <a:pt x="55" y="0"/>
                  </a:cubicBezTo>
                  <a:cubicBezTo>
                    <a:pt x="47" y="0"/>
                    <a:pt x="47" y="0"/>
                    <a:pt x="47" y="0"/>
                  </a:cubicBezTo>
                  <a:cubicBezTo>
                    <a:pt x="44" y="0"/>
                    <a:pt x="42" y="2"/>
                    <a:pt x="42" y="5"/>
                  </a:cubicBezTo>
                  <a:cubicBezTo>
                    <a:pt x="42" y="8"/>
                    <a:pt x="42" y="8"/>
                    <a:pt x="42" y="8"/>
                  </a:cubicBezTo>
                  <a:cubicBezTo>
                    <a:pt x="42" y="11"/>
                    <a:pt x="40" y="14"/>
                    <a:pt x="38" y="15"/>
                  </a:cubicBezTo>
                  <a:cubicBezTo>
                    <a:pt x="36" y="15"/>
                    <a:pt x="29" y="16"/>
                    <a:pt x="27" y="14"/>
                  </a:cubicBezTo>
                  <a:cubicBezTo>
                    <a:pt x="25" y="12"/>
                    <a:pt x="25" y="12"/>
                    <a:pt x="25" y="12"/>
                  </a:cubicBezTo>
                  <a:cubicBezTo>
                    <a:pt x="23" y="10"/>
                    <a:pt x="20" y="10"/>
                    <a:pt x="18" y="12"/>
                  </a:cubicBezTo>
                  <a:cubicBezTo>
                    <a:pt x="12" y="17"/>
                    <a:pt x="12" y="17"/>
                    <a:pt x="12" y="17"/>
                  </a:cubicBezTo>
                  <a:cubicBezTo>
                    <a:pt x="10" y="19"/>
                    <a:pt x="10" y="23"/>
                    <a:pt x="12" y="24"/>
                  </a:cubicBezTo>
                  <a:cubicBezTo>
                    <a:pt x="15" y="27"/>
                    <a:pt x="15" y="27"/>
                    <a:pt x="15" y="27"/>
                  </a:cubicBezTo>
                  <a:cubicBezTo>
                    <a:pt x="17" y="29"/>
                    <a:pt x="18" y="32"/>
                    <a:pt x="17" y="34"/>
                  </a:cubicBezTo>
                  <a:cubicBezTo>
                    <a:pt x="16" y="36"/>
                    <a:pt x="12" y="42"/>
                    <a:pt x="9" y="42"/>
                  </a:cubicBezTo>
                  <a:cubicBezTo>
                    <a:pt x="5" y="42"/>
                    <a:pt x="5" y="42"/>
                    <a:pt x="5" y="42"/>
                  </a:cubicBezTo>
                  <a:cubicBezTo>
                    <a:pt x="2" y="42"/>
                    <a:pt x="0" y="44"/>
                    <a:pt x="0" y="47"/>
                  </a:cubicBezTo>
                  <a:cubicBezTo>
                    <a:pt x="0" y="54"/>
                    <a:pt x="0" y="54"/>
                    <a:pt x="0" y="54"/>
                  </a:cubicBezTo>
                  <a:cubicBezTo>
                    <a:pt x="0" y="57"/>
                    <a:pt x="2" y="59"/>
                    <a:pt x="5" y="59"/>
                  </a:cubicBezTo>
                  <a:cubicBezTo>
                    <a:pt x="9" y="59"/>
                    <a:pt x="9" y="59"/>
                    <a:pt x="9" y="59"/>
                  </a:cubicBezTo>
                  <a:cubicBezTo>
                    <a:pt x="12" y="59"/>
                    <a:pt x="14" y="61"/>
                    <a:pt x="15" y="63"/>
                  </a:cubicBezTo>
                  <a:cubicBezTo>
                    <a:pt x="16" y="65"/>
                    <a:pt x="17" y="72"/>
                    <a:pt x="15" y="74"/>
                  </a:cubicBezTo>
                  <a:cubicBezTo>
                    <a:pt x="12" y="77"/>
                    <a:pt x="12" y="77"/>
                    <a:pt x="12" y="77"/>
                  </a:cubicBezTo>
                  <a:cubicBezTo>
                    <a:pt x="10" y="78"/>
                    <a:pt x="10" y="82"/>
                    <a:pt x="12" y="84"/>
                  </a:cubicBezTo>
                  <a:cubicBezTo>
                    <a:pt x="18" y="89"/>
                    <a:pt x="18" y="89"/>
                    <a:pt x="18" y="89"/>
                  </a:cubicBezTo>
                  <a:cubicBezTo>
                    <a:pt x="20" y="91"/>
                    <a:pt x="23" y="91"/>
                    <a:pt x="25" y="89"/>
                  </a:cubicBezTo>
                  <a:cubicBezTo>
                    <a:pt x="27" y="87"/>
                    <a:pt x="27" y="87"/>
                    <a:pt x="27" y="87"/>
                  </a:cubicBezTo>
                  <a:cubicBezTo>
                    <a:pt x="29" y="85"/>
                    <a:pt x="33" y="84"/>
                    <a:pt x="35" y="85"/>
                  </a:cubicBezTo>
                  <a:cubicBezTo>
                    <a:pt x="37" y="86"/>
                    <a:pt x="42" y="90"/>
                    <a:pt x="42" y="93"/>
                  </a:cubicBezTo>
                  <a:cubicBezTo>
                    <a:pt x="42" y="96"/>
                    <a:pt x="42" y="96"/>
                    <a:pt x="42" y="96"/>
                  </a:cubicBezTo>
                  <a:cubicBezTo>
                    <a:pt x="42" y="99"/>
                    <a:pt x="44" y="101"/>
                    <a:pt x="47" y="101"/>
                  </a:cubicBezTo>
                  <a:cubicBezTo>
                    <a:pt x="55" y="101"/>
                    <a:pt x="55" y="101"/>
                    <a:pt x="55" y="101"/>
                  </a:cubicBezTo>
                  <a:cubicBezTo>
                    <a:pt x="57" y="101"/>
                    <a:pt x="60" y="99"/>
                    <a:pt x="60" y="96"/>
                  </a:cubicBezTo>
                  <a:cubicBezTo>
                    <a:pt x="60" y="93"/>
                    <a:pt x="60" y="93"/>
                    <a:pt x="60" y="93"/>
                  </a:cubicBezTo>
                  <a:cubicBezTo>
                    <a:pt x="60" y="90"/>
                    <a:pt x="61" y="87"/>
                    <a:pt x="64" y="86"/>
                  </a:cubicBezTo>
                  <a:cubicBezTo>
                    <a:pt x="66" y="86"/>
                    <a:pt x="72" y="85"/>
                    <a:pt x="74" y="87"/>
                  </a:cubicBezTo>
                  <a:cubicBezTo>
                    <a:pt x="77" y="89"/>
                    <a:pt x="77" y="89"/>
                    <a:pt x="77" y="89"/>
                  </a:cubicBezTo>
                  <a:cubicBezTo>
                    <a:pt x="79" y="91"/>
                    <a:pt x="82" y="91"/>
                    <a:pt x="84" y="89"/>
                  </a:cubicBezTo>
                  <a:cubicBezTo>
                    <a:pt x="89" y="84"/>
                    <a:pt x="89" y="84"/>
                    <a:pt x="89" y="84"/>
                  </a:cubicBezTo>
                  <a:cubicBezTo>
                    <a:pt x="91" y="82"/>
                    <a:pt x="91" y="78"/>
                    <a:pt x="89" y="77"/>
                  </a:cubicBezTo>
                  <a:cubicBezTo>
                    <a:pt x="87" y="74"/>
                    <a:pt x="87" y="74"/>
                    <a:pt x="87" y="74"/>
                  </a:cubicBezTo>
                  <a:cubicBezTo>
                    <a:pt x="85" y="72"/>
                    <a:pt x="84" y="69"/>
                    <a:pt x="85" y="67"/>
                  </a:cubicBezTo>
                  <a:cubicBezTo>
                    <a:pt x="86" y="65"/>
                    <a:pt x="90" y="59"/>
                    <a:pt x="93" y="59"/>
                  </a:cubicBezTo>
                  <a:cubicBezTo>
                    <a:pt x="97" y="59"/>
                    <a:pt x="97" y="59"/>
                    <a:pt x="97" y="59"/>
                  </a:cubicBezTo>
                  <a:cubicBezTo>
                    <a:pt x="99" y="59"/>
                    <a:pt x="102" y="57"/>
                    <a:pt x="102" y="54"/>
                  </a:cubicBezTo>
                  <a:cubicBezTo>
                    <a:pt x="102" y="47"/>
                    <a:pt x="102" y="47"/>
                    <a:pt x="102" y="47"/>
                  </a:cubicBezTo>
                  <a:cubicBezTo>
                    <a:pt x="102" y="44"/>
                    <a:pt x="99" y="42"/>
                    <a:pt x="97" y="42"/>
                  </a:cubicBezTo>
                  <a:cubicBezTo>
                    <a:pt x="93" y="42"/>
                    <a:pt x="93" y="42"/>
                    <a:pt x="93" y="42"/>
                  </a:cubicBezTo>
                  <a:cubicBezTo>
                    <a:pt x="90" y="42"/>
                    <a:pt x="87" y="40"/>
                    <a:pt x="87" y="38"/>
                  </a:cubicBezTo>
                  <a:cubicBezTo>
                    <a:pt x="86" y="36"/>
                    <a:pt x="85" y="29"/>
                    <a:pt x="87" y="27"/>
                  </a:cubicBezTo>
                  <a:lnTo>
                    <a:pt x="89" y="24"/>
                  </a:lnTo>
                  <a:close/>
                  <a:moveTo>
                    <a:pt x="69" y="68"/>
                  </a:moveTo>
                  <a:cubicBezTo>
                    <a:pt x="59" y="78"/>
                    <a:pt x="43" y="78"/>
                    <a:pt x="33" y="68"/>
                  </a:cubicBezTo>
                  <a:cubicBezTo>
                    <a:pt x="23" y="59"/>
                    <a:pt x="23" y="42"/>
                    <a:pt x="33" y="33"/>
                  </a:cubicBezTo>
                  <a:cubicBezTo>
                    <a:pt x="43" y="23"/>
                    <a:pt x="59" y="23"/>
                    <a:pt x="69" y="33"/>
                  </a:cubicBezTo>
                  <a:cubicBezTo>
                    <a:pt x="79" y="42"/>
                    <a:pt x="79" y="59"/>
                    <a:pt x="69" y="68"/>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5390" name="Freeform 992"/>
            <p:cNvSpPr/>
            <p:nvPr/>
          </p:nvSpPr>
          <p:spPr bwMode="auto">
            <a:xfrm>
              <a:off x="6504806" y="1686455"/>
              <a:ext cx="211138" cy="206375"/>
            </a:xfrm>
            <a:custGeom>
              <a:avLst/>
              <a:gdLst>
                <a:gd name="T0" fmla="*/ 46 w 56"/>
                <a:gd name="T1" fmla="*/ 45 h 55"/>
                <a:gd name="T2" fmla="*/ 10 w 56"/>
                <a:gd name="T3" fmla="*/ 45 h 55"/>
                <a:gd name="T4" fmla="*/ 10 w 56"/>
                <a:gd name="T5" fmla="*/ 10 h 55"/>
                <a:gd name="T6" fmla="*/ 46 w 56"/>
                <a:gd name="T7" fmla="*/ 10 h 55"/>
                <a:gd name="T8" fmla="*/ 46 w 56"/>
                <a:gd name="T9" fmla="*/ 45 h 55"/>
              </a:gdLst>
              <a:ahLst/>
              <a:cxnLst>
                <a:cxn ang="0">
                  <a:pos x="T0" y="T1"/>
                </a:cxn>
                <a:cxn ang="0">
                  <a:pos x="T2" y="T3"/>
                </a:cxn>
                <a:cxn ang="0">
                  <a:pos x="T4" y="T5"/>
                </a:cxn>
                <a:cxn ang="0">
                  <a:pos x="T6" y="T7"/>
                </a:cxn>
                <a:cxn ang="0">
                  <a:pos x="T8" y="T9"/>
                </a:cxn>
              </a:cxnLst>
              <a:rect l="0" t="0" r="r" b="b"/>
              <a:pathLst>
                <a:path w="56" h="55">
                  <a:moveTo>
                    <a:pt x="46" y="45"/>
                  </a:moveTo>
                  <a:cubicBezTo>
                    <a:pt x="36" y="55"/>
                    <a:pt x="20" y="55"/>
                    <a:pt x="10" y="45"/>
                  </a:cubicBezTo>
                  <a:cubicBezTo>
                    <a:pt x="0" y="36"/>
                    <a:pt x="0" y="19"/>
                    <a:pt x="10" y="10"/>
                  </a:cubicBezTo>
                  <a:cubicBezTo>
                    <a:pt x="20" y="0"/>
                    <a:pt x="36" y="0"/>
                    <a:pt x="46" y="10"/>
                  </a:cubicBezTo>
                  <a:cubicBezTo>
                    <a:pt x="56" y="19"/>
                    <a:pt x="56" y="36"/>
                    <a:pt x="46"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391" name="Freeform 993"/>
            <p:cNvSpPr>
              <a:spLocks noEditPoints="1"/>
            </p:cNvSpPr>
            <p:nvPr/>
          </p:nvSpPr>
          <p:spPr bwMode="auto">
            <a:xfrm>
              <a:off x="5615806" y="4031192"/>
              <a:ext cx="377825" cy="382588"/>
            </a:xfrm>
            <a:custGeom>
              <a:avLst/>
              <a:gdLst>
                <a:gd name="T0" fmla="*/ 89 w 101"/>
                <a:gd name="T1" fmla="*/ 25 h 102"/>
                <a:gd name="T2" fmla="*/ 89 w 101"/>
                <a:gd name="T3" fmla="*/ 18 h 102"/>
                <a:gd name="T4" fmla="*/ 84 w 101"/>
                <a:gd name="T5" fmla="*/ 12 h 102"/>
                <a:gd name="T6" fmla="*/ 77 w 101"/>
                <a:gd name="T7" fmla="*/ 12 h 102"/>
                <a:gd name="T8" fmla="*/ 74 w 101"/>
                <a:gd name="T9" fmla="*/ 15 h 102"/>
                <a:gd name="T10" fmla="*/ 67 w 101"/>
                <a:gd name="T11" fmla="*/ 17 h 102"/>
                <a:gd name="T12" fmla="*/ 60 w 101"/>
                <a:gd name="T13" fmla="*/ 9 h 102"/>
                <a:gd name="T14" fmla="*/ 60 w 101"/>
                <a:gd name="T15" fmla="*/ 5 h 102"/>
                <a:gd name="T16" fmla="*/ 54 w 101"/>
                <a:gd name="T17" fmla="*/ 0 h 102"/>
                <a:gd name="T18" fmla="*/ 47 w 101"/>
                <a:gd name="T19" fmla="*/ 0 h 102"/>
                <a:gd name="T20" fmla="*/ 42 w 101"/>
                <a:gd name="T21" fmla="*/ 5 h 102"/>
                <a:gd name="T22" fmla="*/ 42 w 101"/>
                <a:gd name="T23" fmla="*/ 9 h 102"/>
                <a:gd name="T24" fmla="*/ 38 w 101"/>
                <a:gd name="T25" fmla="*/ 15 h 102"/>
                <a:gd name="T26" fmla="*/ 27 w 101"/>
                <a:gd name="T27" fmla="*/ 15 h 102"/>
                <a:gd name="T28" fmla="*/ 25 w 101"/>
                <a:gd name="T29" fmla="*/ 12 h 102"/>
                <a:gd name="T30" fmla="*/ 17 w 101"/>
                <a:gd name="T31" fmla="*/ 12 h 102"/>
                <a:gd name="T32" fmla="*/ 12 w 101"/>
                <a:gd name="T33" fmla="*/ 18 h 102"/>
                <a:gd name="T34" fmla="*/ 12 w 101"/>
                <a:gd name="T35" fmla="*/ 25 h 102"/>
                <a:gd name="T36" fmla="*/ 15 w 101"/>
                <a:gd name="T37" fmla="*/ 28 h 102"/>
                <a:gd name="T38" fmla="*/ 16 w 101"/>
                <a:gd name="T39" fmla="*/ 35 h 102"/>
                <a:gd name="T40" fmla="*/ 9 w 101"/>
                <a:gd name="T41" fmla="*/ 42 h 102"/>
                <a:gd name="T42" fmla="*/ 5 w 101"/>
                <a:gd name="T43" fmla="*/ 42 h 102"/>
                <a:gd name="T44" fmla="*/ 0 w 101"/>
                <a:gd name="T45" fmla="*/ 47 h 102"/>
                <a:gd name="T46" fmla="*/ 0 w 101"/>
                <a:gd name="T47" fmla="*/ 55 h 102"/>
                <a:gd name="T48" fmla="*/ 5 w 101"/>
                <a:gd name="T49" fmla="*/ 60 h 102"/>
                <a:gd name="T50" fmla="*/ 9 w 101"/>
                <a:gd name="T51" fmla="*/ 60 h 102"/>
                <a:gd name="T52" fmla="*/ 15 w 101"/>
                <a:gd name="T53" fmla="*/ 64 h 102"/>
                <a:gd name="T54" fmla="*/ 15 w 101"/>
                <a:gd name="T55" fmla="*/ 75 h 102"/>
                <a:gd name="T56" fmla="*/ 12 w 101"/>
                <a:gd name="T57" fmla="*/ 77 h 102"/>
                <a:gd name="T58" fmla="*/ 12 w 101"/>
                <a:gd name="T59" fmla="*/ 84 h 102"/>
                <a:gd name="T60" fmla="*/ 17 w 101"/>
                <a:gd name="T61" fmla="*/ 90 h 102"/>
                <a:gd name="T62" fmla="*/ 25 w 101"/>
                <a:gd name="T63" fmla="*/ 90 h 102"/>
                <a:gd name="T64" fmla="*/ 27 w 101"/>
                <a:gd name="T65" fmla="*/ 87 h 102"/>
                <a:gd name="T66" fmla="*/ 34 w 101"/>
                <a:gd name="T67" fmla="*/ 85 h 102"/>
                <a:gd name="T68" fmla="*/ 42 w 101"/>
                <a:gd name="T69" fmla="*/ 93 h 102"/>
                <a:gd name="T70" fmla="*/ 42 w 101"/>
                <a:gd name="T71" fmla="*/ 97 h 102"/>
                <a:gd name="T72" fmla="*/ 47 w 101"/>
                <a:gd name="T73" fmla="*/ 102 h 102"/>
                <a:gd name="T74" fmla="*/ 54 w 101"/>
                <a:gd name="T75" fmla="*/ 102 h 102"/>
                <a:gd name="T76" fmla="*/ 60 w 101"/>
                <a:gd name="T77" fmla="*/ 97 h 102"/>
                <a:gd name="T78" fmla="*/ 60 w 101"/>
                <a:gd name="T79" fmla="*/ 93 h 102"/>
                <a:gd name="T80" fmla="*/ 63 w 101"/>
                <a:gd name="T81" fmla="*/ 87 h 102"/>
                <a:gd name="T82" fmla="*/ 74 w 101"/>
                <a:gd name="T83" fmla="*/ 87 h 102"/>
                <a:gd name="T84" fmla="*/ 77 w 101"/>
                <a:gd name="T85" fmla="*/ 90 h 102"/>
                <a:gd name="T86" fmla="*/ 84 w 101"/>
                <a:gd name="T87" fmla="*/ 90 h 102"/>
                <a:gd name="T88" fmla="*/ 89 w 101"/>
                <a:gd name="T89" fmla="*/ 84 h 102"/>
                <a:gd name="T90" fmla="*/ 89 w 101"/>
                <a:gd name="T91" fmla="*/ 77 h 102"/>
                <a:gd name="T92" fmla="*/ 87 w 101"/>
                <a:gd name="T93" fmla="*/ 75 h 102"/>
                <a:gd name="T94" fmla="*/ 85 w 101"/>
                <a:gd name="T95" fmla="*/ 67 h 102"/>
                <a:gd name="T96" fmla="*/ 93 w 101"/>
                <a:gd name="T97" fmla="*/ 60 h 102"/>
                <a:gd name="T98" fmla="*/ 96 w 101"/>
                <a:gd name="T99" fmla="*/ 60 h 102"/>
                <a:gd name="T100" fmla="*/ 101 w 101"/>
                <a:gd name="T101" fmla="*/ 55 h 102"/>
                <a:gd name="T102" fmla="*/ 101 w 101"/>
                <a:gd name="T103" fmla="*/ 47 h 102"/>
                <a:gd name="T104" fmla="*/ 96 w 101"/>
                <a:gd name="T105" fmla="*/ 42 h 102"/>
                <a:gd name="T106" fmla="*/ 93 w 101"/>
                <a:gd name="T107" fmla="*/ 42 h 102"/>
                <a:gd name="T108" fmla="*/ 86 w 101"/>
                <a:gd name="T109" fmla="*/ 38 h 102"/>
                <a:gd name="T110" fmla="*/ 87 w 101"/>
                <a:gd name="T111" fmla="*/ 28 h 102"/>
                <a:gd name="T112" fmla="*/ 89 w 101"/>
                <a:gd name="T113" fmla="*/ 25 h 102"/>
                <a:gd name="T114" fmla="*/ 69 w 101"/>
                <a:gd name="T115" fmla="*/ 69 h 102"/>
                <a:gd name="T116" fmla="*/ 33 w 101"/>
                <a:gd name="T117" fmla="*/ 69 h 102"/>
                <a:gd name="T118" fmla="*/ 33 w 101"/>
                <a:gd name="T119" fmla="*/ 33 h 102"/>
                <a:gd name="T120" fmla="*/ 69 w 101"/>
                <a:gd name="T121" fmla="*/ 33 h 102"/>
                <a:gd name="T122" fmla="*/ 69 w 101"/>
                <a:gd name="T123" fmla="*/ 6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1" h="102">
                  <a:moveTo>
                    <a:pt x="89" y="25"/>
                  </a:moveTo>
                  <a:cubicBezTo>
                    <a:pt x="91" y="23"/>
                    <a:pt x="91" y="20"/>
                    <a:pt x="89" y="18"/>
                  </a:cubicBezTo>
                  <a:cubicBezTo>
                    <a:pt x="84" y="12"/>
                    <a:pt x="84" y="12"/>
                    <a:pt x="84" y="12"/>
                  </a:cubicBezTo>
                  <a:cubicBezTo>
                    <a:pt x="82" y="10"/>
                    <a:pt x="79" y="10"/>
                    <a:pt x="77" y="12"/>
                  </a:cubicBezTo>
                  <a:cubicBezTo>
                    <a:pt x="74" y="15"/>
                    <a:pt x="74" y="15"/>
                    <a:pt x="74" y="15"/>
                  </a:cubicBezTo>
                  <a:cubicBezTo>
                    <a:pt x="72" y="17"/>
                    <a:pt x="69" y="18"/>
                    <a:pt x="67" y="17"/>
                  </a:cubicBezTo>
                  <a:cubicBezTo>
                    <a:pt x="65" y="16"/>
                    <a:pt x="60" y="12"/>
                    <a:pt x="60" y="9"/>
                  </a:cubicBezTo>
                  <a:cubicBezTo>
                    <a:pt x="60" y="5"/>
                    <a:pt x="60" y="5"/>
                    <a:pt x="60" y="5"/>
                  </a:cubicBezTo>
                  <a:cubicBezTo>
                    <a:pt x="60" y="3"/>
                    <a:pt x="57" y="0"/>
                    <a:pt x="54" y="0"/>
                  </a:cubicBezTo>
                  <a:cubicBezTo>
                    <a:pt x="47" y="0"/>
                    <a:pt x="47" y="0"/>
                    <a:pt x="47" y="0"/>
                  </a:cubicBezTo>
                  <a:cubicBezTo>
                    <a:pt x="44" y="0"/>
                    <a:pt x="42" y="3"/>
                    <a:pt x="42" y="5"/>
                  </a:cubicBezTo>
                  <a:cubicBezTo>
                    <a:pt x="42" y="9"/>
                    <a:pt x="42" y="9"/>
                    <a:pt x="42" y="9"/>
                  </a:cubicBezTo>
                  <a:cubicBezTo>
                    <a:pt x="42" y="12"/>
                    <a:pt x="40" y="15"/>
                    <a:pt x="38" y="15"/>
                  </a:cubicBezTo>
                  <a:cubicBezTo>
                    <a:pt x="36" y="16"/>
                    <a:pt x="29" y="17"/>
                    <a:pt x="27" y="15"/>
                  </a:cubicBezTo>
                  <a:cubicBezTo>
                    <a:pt x="25" y="12"/>
                    <a:pt x="25" y="12"/>
                    <a:pt x="25" y="12"/>
                  </a:cubicBezTo>
                  <a:cubicBezTo>
                    <a:pt x="23" y="10"/>
                    <a:pt x="19" y="10"/>
                    <a:pt x="17" y="12"/>
                  </a:cubicBezTo>
                  <a:cubicBezTo>
                    <a:pt x="12" y="18"/>
                    <a:pt x="12" y="18"/>
                    <a:pt x="12" y="18"/>
                  </a:cubicBezTo>
                  <a:cubicBezTo>
                    <a:pt x="10" y="20"/>
                    <a:pt x="10" y="23"/>
                    <a:pt x="12" y="25"/>
                  </a:cubicBezTo>
                  <a:cubicBezTo>
                    <a:pt x="15" y="28"/>
                    <a:pt x="15" y="28"/>
                    <a:pt x="15" y="28"/>
                  </a:cubicBezTo>
                  <a:cubicBezTo>
                    <a:pt x="17" y="30"/>
                    <a:pt x="17" y="33"/>
                    <a:pt x="16" y="35"/>
                  </a:cubicBezTo>
                  <a:cubicBezTo>
                    <a:pt x="15" y="37"/>
                    <a:pt x="11" y="42"/>
                    <a:pt x="9" y="42"/>
                  </a:cubicBezTo>
                  <a:cubicBezTo>
                    <a:pt x="5" y="42"/>
                    <a:pt x="5" y="42"/>
                    <a:pt x="5" y="42"/>
                  </a:cubicBezTo>
                  <a:cubicBezTo>
                    <a:pt x="2" y="42"/>
                    <a:pt x="0" y="44"/>
                    <a:pt x="0" y="47"/>
                  </a:cubicBezTo>
                  <a:cubicBezTo>
                    <a:pt x="0" y="55"/>
                    <a:pt x="0" y="55"/>
                    <a:pt x="0" y="55"/>
                  </a:cubicBezTo>
                  <a:cubicBezTo>
                    <a:pt x="0" y="58"/>
                    <a:pt x="2" y="60"/>
                    <a:pt x="5" y="60"/>
                  </a:cubicBezTo>
                  <a:cubicBezTo>
                    <a:pt x="9" y="60"/>
                    <a:pt x="9" y="60"/>
                    <a:pt x="9" y="60"/>
                  </a:cubicBezTo>
                  <a:cubicBezTo>
                    <a:pt x="11" y="60"/>
                    <a:pt x="14" y="62"/>
                    <a:pt x="15" y="64"/>
                  </a:cubicBezTo>
                  <a:cubicBezTo>
                    <a:pt x="16" y="66"/>
                    <a:pt x="17" y="73"/>
                    <a:pt x="15" y="75"/>
                  </a:cubicBezTo>
                  <a:cubicBezTo>
                    <a:pt x="12" y="77"/>
                    <a:pt x="12" y="77"/>
                    <a:pt x="12" y="77"/>
                  </a:cubicBezTo>
                  <a:cubicBezTo>
                    <a:pt x="10" y="79"/>
                    <a:pt x="10" y="82"/>
                    <a:pt x="12" y="84"/>
                  </a:cubicBezTo>
                  <a:cubicBezTo>
                    <a:pt x="17" y="90"/>
                    <a:pt x="17" y="90"/>
                    <a:pt x="17" y="90"/>
                  </a:cubicBezTo>
                  <a:cubicBezTo>
                    <a:pt x="19" y="92"/>
                    <a:pt x="23" y="92"/>
                    <a:pt x="25" y="90"/>
                  </a:cubicBezTo>
                  <a:cubicBezTo>
                    <a:pt x="27" y="87"/>
                    <a:pt x="27" y="87"/>
                    <a:pt x="27" y="87"/>
                  </a:cubicBezTo>
                  <a:cubicBezTo>
                    <a:pt x="29" y="85"/>
                    <a:pt x="32" y="84"/>
                    <a:pt x="34" y="85"/>
                  </a:cubicBezTo>
                  <a:cubicBezTo>
                    <a:pt x="36" y="86"/>
                    <a:pt x="42" y="90"/>
                    <a:pt x="42" y="93"/>
                  </a:cubicBezTo>
                  <a:cubicBezTo>
                    <a:pt x="42" y="97"/>
                    <a:pt x="42" y="97"/>
                    <a:pt x="42" y="97"/>
                  </a:cubicBezTo>
                  <a:cubicBezTo>
                    <a:pt x="42" y="100"/>
                    <a:pt x="44" y="102"/>
                    <a:pt x="47" y="102"/>
                  </a:cubicBezTo>
                  <a:cubicBezTo>
                    <a:pt x="54" y="102"/>
                    <a:pt x="54" y="102"/>
                    <a:pt x="54" y="102"/>
                  </a:cubicBezTo>
                  <a:cubicBezTo>
                    <a:pt x="57" y="102"/>
                    <a:pt x="60" y="100"/>
                    <a:pt x="60" y="97"/>
                  </a:cubicBezTo>
                  <a:cubicBezTo>
                    <a:pt x="60" y="93"/>
                    <a:pt x="60" y="93"/>
                    <a:pt x="60" y="93"/>
                  </a:cubicBezTo>
                  <a:cubicBezTo>
                    <a:pt x="60" y="90"/>
                    <a:pt x="61" y="88"/>
                    <a:pt x="63" y="87"/>
                  </a:cubicBezTo>
                  <a:cubicBezTo>
                    <a:pt x="65" y="86"/>
                    <a:pt x="72" y="85"/>
                    <a:pt x="74" y="87"/>
                  </a:cubicBezTo>
                  <a:cubicBezTo>
                    <a:pt x="77" y="90"/>
                    <a:pt x="77" y="90"/>
                    <a:pt x="77" y="90"/>
                  </a:cubicBezTo>
                  <a:cubicBezTo>
                    <a:pt x="79" y="92"/>
                    <a:pt x="82" y="92"/>
                    <a:pt x="84" y="90"/>
                  </a:cubicBezTo>
                  <a:cubicBezTo>
                    <a:pt x="89" y="84"/>
                    <a:pt x="89" y="84"/>
                    <a:pt x="89" y="84"/>
                  </a:cubicBezTo>
                  <a:cubicBezTo>
                    <a:pt x="91" y="82"/>
                    <a:pt x="91" y="79"/>
                    <a:pt x="89" y="77"/>
                  </a:cubicBezTo>
                  <a:cubicBezTo>
                    <a:pt x="87" y="75"/>
                    <a:pt x="87" y="75"/>
                    <a:pt x="87" y="75"/>
                  </a:cubicBezTo>
                  <a:cubicBezTo>
                    <a:pt x="85" y="73"/>
                    <a:pt x="84" y="69"/>
                    <a:pt x="85" y="67"/>
                  </a:cubicBezTo>
                  <a:cubicBezTo>
                    <a:pt x="86" y="65"/>
                    <a:pt x="90" y="60"/>
                    <a:pt x="93" y="60"/>
                  </a:cubicBezTo>
                  <a:cubicBezTo>
                    <a:pt x="96" y="60"/>
                    <a:pt x="96" y="60"/>
                    <a:pt x="96" y="60"/>
                  </a:cubicBezTo>
                  <a:cubicBezTo>
                    <a:pt x="99" y="60"/>
                    <a:pt x="101" y="58"/>
                    <a:pt x="101" y="55"/>
                  </a:cubicBezTo>
                  <a:cubicBezTo>
                    <a:pt x="101" y="47"/>
                    <a:pt x="101" y="47"/>
                    <a:pt x="101" y="47"/>
                  </a:cubicBezTo>
                  <a:cubicBezTo>
                    <a:pt x="101" y="44"/>
                    <a:pt x="99" y="42"/>
                    <a:pt x="96" y="42"/>
                  </a:cubicBezTo>
                  <a:cubicBezTo>
                    <a:pt x="93" y="42"/>
                    <a:pt x="93" y="42"/>
                    <a:pt x="93" y="42"/>
                  </a:cubicBezTo>
                  <a:cubicBezTo>
                    <a:pt x="90" y="42"/>
                    <a:pt x="87" y="40"/>
                    <a:pt x="86" y="38"/>
                  </a:cubicBezTo>
                  <a:cubicBezTo>
                    <a:pt x="86" y="36"/>
                    <a:pt x="85" y="30"/>
                    <a:pt x="87" y="28"/>
                  </a:cubicBezTo>
                  <a:lnTo>
                    <a:pt x="89" y="25"/>
                  </a:lnTo>
                  <a:close/>
                  <a:moveTo>
                    <a:pt x="69" y="69"/>
                  </a:moveTo>
                  <a:cubicBezTo>
                    <a:pt x="59" y="79"/>
                    <a:pt x="43" y="79"/>
                    <a:pt x="33" y="69"/>
                  </a:cubicBezTo>
                  <a:cubicBezTo>
                    <a:pt x="23" y="59"/>
                    <a:pt x="23" y="43"/>
                    <a:pt x="33" y="33"/>
                  </a:cubicBezTo>
                  <a:cubicBezTo>
                    <a:pt x="43" y="23"/>
                    <a:pt x="59" y="23"/>
                    <a:pt x="69" y="33"/>
                  </a:cubicBezTo>
                  <a:cubicBezTo>
                    <a:pt x="79" y="43"/>
                    <a:pt x="79" y="59"/>
                    <a:pt x="69" y="69"/>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5392" name="Freeform 994"/>
            <p:cNvSpPr/>
            <p:nvPr/>
          </p:nvSpPr>
          <p:spPr bwMode="auto">
            <a:xfrm>
              <a:off x="5701531" y="4116917"/>
              <a:ext cx="209550" cy="211138"/>
            </a:xfrm>
            <a:custGeom>
              <a:avLst/>
              <a:gdLst>
                <a:gd name="T0" fmla="*/ 46 w 56"/>
                <a:gd name="T1" fmla="*/ 46 h 56"/>
                <a:gd name="T2" fmla="*/ 10 w 56"/>
                <a:gd name="T3" fmla="*/ 46 h 56"/>
                <a:gd name="T4" fmla="*/ 10 w 56"/>
                <a:gd name="T5" fmla="*/ 10 h 56"/>
                <a:gd name="T6" fmla="*/ 46 w 56"/>
                <a:gd name="T7" fmla="*/ 10 h 56"/>
                <a:gd name="T8" fmla="*/ 46 w 56"/>
                <a:gd name="T9" fmla="*/ 46 h 56"/>
              </a:gdLst>
              <a:ahLst/>
              <a:cxnLst>
                <a:cxn ang="0">
                  <a:pos x="T0" y="T1"/>
                </a:cxn>
                <a:cxn ang="0">
                  <a:pos x="T2" y="T3"/>
                </a:cxn>
                <a:cxn ang="0">
                  <a:pos x="T4" y="T5"/>
                </a:cxn>
                <a:cxn ang="0">
                  <a:pos x="T6" y="T7"/>
                </a:cxn>
                <a:cxn ang="0">
                  <a:pos x="T8" y="T9"/>
                </a:cxn>
              </a:cxnLst>
              <a:rect l="0" t="0" r="r" b="b"/>
              <a:pathLst>
                <a:path w="56" h="56">
                  <a:moveTo>
                    <a:pt x="46" y="46"/>
                  </a:moveTo>
                  <a:cubicBezTo>
                    <a:pt x="36" y="56"/>
                    <a:pt x="20" y="56"/>
                    <a:pt x="10" y="46"/>
                  </a:cubicBezTo>
                  <a:cubicBezTo>
                    <a:pt x="0" y="36"/>
                    <a:pt x="0" y="20"/>
                    <a:pt x="10" y="10"/>
                  </a:cubicBezTo>
                  <a:cubicBezTo>
                    <a:pt x="20" y="0"/>
                    <a:pt x="36" y="0"/>
                    <a:pt x="46" y="10"/>
                  </a:cubicBezTo>
                  <a:cubicBezTo>
                    <a:pt x="56" y="20"/>
                    <a:pt x="56" y="36"/>
                    <a:pt x="46" y="4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393" name="Freeform 995"/>
            <p:cNvSpPr>
              <a:spLocks noEditPoints="1"/>
            </p:cNvSpPr>
            <p:nvPr/>
          </p:nvSpPr>
          <p:spPr bwMode="auto">
            <a:xfrm>
              <a:off x="6419081" y="3227917"/>
              <a:ext cx="382588" cy="382588"/>
            </a:xfrm>
            <a:custGeom>
              <a:avLst/>
              <a:gdLst>
                <a:gd name="T0" fmla="*/ 89 w 102"/>
                <a:gd name="T1" fmla="*/ 25 h 102"/>
                <a:gd name="T2" fmla="*/ 89 w 102"/>
                <a:gd name="T3" fmla="*/ 18 h 102"/>
                <a:gd name="T4" fmla="*/ 84 w 102"/>
                <a:gd name="T5" fmla="*/ 12 h 102"/>
                <a:gd name="T6" fmla="*/ 77 w 102"/>
                <a:gd name="T7" fmla="*/ 12 h 102"/>
                <a:gd name="T8" fmla="*/ 74 w 102"/>
                <a:gd name="T9" fmla="*/ 15 h 102"/>
                <a:gd name="T10" fmla="*/ 67 w 102"/>
                <a:gd name="T11" fmla="*/ 17 h 102"/>
                <a:gd name="T12" fmla="*/ 60 w 102"/>
                <a:gd name="T13" fmla="*/ 9 h 102"/>
                <a:gd name="T14" fmla="*/ 60 w 102"/>
                <a:gd name="T15" fmla="*/ 5 h 102"/>
                <a:gd name="T16" fmla="*/ 55 w 102"/>
                <a:gd name="T17" fmla="*/ 0 h 102"/>
                <a:gd name="T18" fmla="*/ 47 w 102"/>
                <a:gd name="T19" fmla="*/ 0 h 102"/>
                <a:gd name="T20" fmla="*/ 42 w 102"/>
                <a:gd name="T21" fmla="*/ 5 h 102"/>
                <a:gd name="T22" fmla="*/ 42 w 102"/>
                <a:gd name="T23" fmla="*/ 9 h 102"/>
                <a:gd name="T24" fmla="*/ 38 w 102"/>
                <a:gd name="T25" fmla="*/ 15 h 102"/>
                <a:gd name="T26" fmla="*/ 27 w 102"/>
                <a:gd name="T27" fmla="*/ 15 h 102"/>
                <a:gd name="T28" fmla="*/ 25 w 102"/>
                <a:gd name="T29" fmla="*/ 12 h 102"/>
                <a:gd name="T30" fmla="*/ 18 w 102"/>
                <a:gd name="T31" fmla="*/ 12 h 102"/>
                <a:gd name="T32" fmla="*/ 12 w 102"/>
                <a:gd name="T33" fmla="*/ 18 h 102"/>
                <a:gd name="T34" fmla="*/ 12 w 102"/>
                <a:gd name="T35" fmla="*/ 25 h 102"/>
                <a:gd name="T36" fmla="*/ 15 w 102"/>
                <a:gd name="T37" fmla="*/ 27 h 102"/>
                <a:gd name="T38" fmla="*/ 17 w 102"/>
                <a:gd name="T39" fmla="*/ 34 h 102"/>
                <a:gd name="T40" fmla="*/ 9 w 102"/>
                <a:gd name="T41" fmla="*/ 42 h 102"/>
                <a:gd name="T42" fmla="*/ 5 w 102"/>
                <a:gd name="T43" fmla="*/ 42 h 102"/>
                <a:gd name="T44" fmla="*/ 0 w 102"/>
                <a:gd name="T45" fmla="*/ 47 h 102"/>
                <a:gd name="T46" fmla="*/ 0 w 102"/>
                <a:gd name="T47" fmla="*/ 55 h 102"/>
                <a:gd name="T48" fmla="*/ 5 w 102"/>
                <a:gd name="T49" fmla="*/ 60 h 102"/>
                <a:gd name="T50" fmla="*/ 9 w 102"/>
                <a:gd name="T51" fmla="*/ 60 h 102"/>
                <a:gd name="T52" fmla="*/ 15 w 102"/>
                <a:gd name="T53" fmla="*/ 63 h 102"/>
                <a:gd name="T54" fmla="*/ 15 w 102"/>
                <a:gd name="T55" fmla="*/ 74 h 102"/>
                <a:gd name="T56" fmla="*/ 12 w 102"/>
                <a:gd name="T57" fmla="*/ 77 h 102"/>
                <a:gd name="T58" fmla="*/ 12 w 102"/>
                <a:gd name="T59" fmla="*/ 84 h 102"/>
                <a:gd name="T60" fmla="*/ 18 w 102"/>
                <a:gd name="T61" fmla="*/ 89 h 102"/>
                <a:gd name="T62" fmla="*/ 25 w 102"/>
                <a:gd name="T63" fmla="*/ 89 h 102"/>
                <a:gd name="T64" fmla="*/ 27 w 102"/>
                <a:gd name="T65" fmla="*/ 87 h 102"/>
                <a:gd name="T66" fmla="*/ 35 w 102"/>
                <a:gd name="T67" fmla="*/ 85 h 102"/>
                <a:gd name="T68" fmla="*/ 42 w 102"/>
                <a:gd name="T69" fmla="*/ 93 h 102"/>
                <a:gd name="T70" fmla="*/ 42 w 102"/>
                <a:gd name="T71" fmla="*/ 96 h 102"/>
                <a:gd name="T72" fmla="*/ 47 w 102"/>
                <a:gd name="T73" fmla="*/ 102 h 102"/>
                <a:gd name="T74" fmla="*/ 55 w 102"/>
                <a:gd name="T75" fmla="*/ 102 h 102"/>
                <a:gd name="T76" fmla="*/ 60 w 102"/>
                <a:gd name="T77" fmla="*/ 96 h 102"/>
                <a:gd name="T78" fmla="*/ 60 w 102"/>
                <a:gd name="T79" fmla="*/ 93 h 102"/>
                <a:gd name="T80" fmla="*/ 64 w 102"/>
                <a:gd name="T81" fmla="*/ 87 h 102"/>
                <a:gd name="T82" fmla="*/ 74 w 102"/>
                <a:gd name="T83" fmla="*/ 87 h 102"/>
                <a:gd name="T84" fmla="*/ 77 w 102"/>
                <a:gd name="T85" fmla="*/ 89 h 102"/>
                <a:gd name="T86" fmla="*/ 84 w 102"/>
                <a:gd name="T87" fmla="*/ 89 h 102"/>
                <a:gd name="T88" fmla="*/ 89 w 102"/>
                <a:gd name="T89" fmla="*/ 84 h 102"/>
                <a:gd name="T90" fmla="*/ 89 w 102"/>
                <a:gd name="T91" fmla="*/ 77 h 102"/>
                <a:gd name="T92" fmla="*/ 87 w 102"/>
                <a:gd name="T93" fmla="*/ 74 h 102"/>
                <a:gd name="T94" fmla="*/ 85 w 102"/>
                <a:gd name="T95" fmla="*/ 67 h 102"/>
                <a:gd name="T96" fmla="*/ 93 w 102"/>
                <a:gd name="T97" fmla="*/ 60 h 102"/>
                <a:gd name="T98" fmla="*/ 97 w 102"/>
                <a:gd name="T99" fmla="*/ 60 h 102"/>
                <a:gd name="T100" fmla="*/ 102 w 102"/>
                <a:gd name="T101" fmla="*/ 55 h 102"/>
                <a:gd name="T102" fmla="*/ 102 w 102"/>
                <a:gd name="T103" fmla="*/ 47 h 102"/>
                <a:gd name="T104" fmla="*/ 97 w 102"/>
                <a:gd name="T105" fmla="*/ 42 h 102"/>
                <a:gd name="T106" fmla="*/ 93 w 102"/>
                <a:gd name="T107" fmla="*/ 42 h 102"/>
                <a:gd name="T108" fmla="*/ 87 w 102"/>
                <a:gd name="T109" fmla="*/ 38 h 102"/>
                <a:gd name="T110" fmla="*/ 87 w 102"/>
                <a:gd name="T111" fmla="*/ 27 h 102"/>
                <a:gd name="T112" fmla="*/ 89 w 102"/>
                <a:gd name="T113" fmla="*/ 25 h 102"/>
                <a:gd name="T114" fmla="*/ 69 w 102"/>
                <a:gd name="T115" fmla="*/ 69 h 102"/>
                <a:gd name="T116" fmla="*/ 33 w 102"/>
                <a:gd name="T117" fmla="*/ 69 h 102"/>
                <a:gd name="T118" fmla="*/ 33 w 102"/>
                <a:gd name="T119" fmla="*/ 33 h 102"/>
                <a:gd name="T120" fmla="*/ 69 w 102"/>
                <a:gd name="T121" fmla="*/ 33 h 102"/>
                <a:gd name="T122" fmla="*/ 69 w 102"/>
                <a:gd name="T123" fmla="*/ 6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2" h="102">
                  <a:moveTo>
                    <a:pt x="89" y="25"/>
                  </a:moveTo>
                  <a:cubicBezTo>
                    <a:pt x="91" y="23"/>
                    <a:pt x="91" y="20"/>
                    <a:pt x="89" y="18"/>
                  </a:cubicBezTo>
                  <a:cubicBezTo>
                    <a:pt x="84" y="12"/>
                    <a:pt x="84" y="12"/>
                    <a:pt x="84" y="12"/>
                  </a:cubicBezTo>
                  <a:cubicBezTo>
                    <a:pt x="82" y="10"/>
                    <a:pt x="79" y="10"/>
                    <a:pt x="77" y="12"/>
                  </a:cubicBezTo>
                  <a:cubicBezTo>
                    <a:pt x="74" y="15"/>
                    <a:pt x="74" y="15"/>
                    <a:pt x="74" y="15"/>
                  </a:cubicBezTo>
                  <a:cubicBezTo>
                    <a:pt x="72" y="17"/>
                    <a:pt x="69" y="18"/>
                    <a:pt x="67" y="17"/>
                  </a:cubicBezTo>
                  <a:cubicBezTo>
                    <a:pt x="65" y="16"/>
                    <a:pt x="60" y="11"/>
                    <a:pt x="60" y="9"/>
                  </a:cubicBezTo>
                  <a:cubicBezTo>
                    <a:pt x="60" y="5"/>
                    <a:pt x="60" y="5"/>
                    <a:pt x="60" y="5"/>
                  </a:cubicBezTo>
                  <a:cubicBezTo>
                    <a:pt x="60" y="2"/>
                    <a:pt x="57" y="0"/>
                    <a:pt x="55" y="0"/>
                  </a:cubicBezTo>
                  <a:cubicBezTo>
                    <a:pt x="47" y="0"/>
                    <a:pt x="47" y="0"/>
                    <a:pt x="47" y="0"/>
                  </a:cubicBezTo>
                  <a:cubicBezTo>
                    <a:pt x="44" y="0"/>
                    <a:pt x="42" y="2"/>
                    <a:pt x="42" y="5"/>
                  </a:cubicBezTo>
                  <a:cubicBezTo>
                    <a:pt x="42" y="9"/>
                    <a:pt x="42" y="9"/>
                    <a:pt x="42" y="9"/>
                  </a:cubicBezTo>
                  <a:cubicBezTo>
                    <a:pt x="42" y="11"/>
                    <a:pt x="40" y="14"/>
                    <a:pt x="38" y="15"/>
                  </a:cubicBezTo>
                  <a:cubicBezTo>
                    <a:pt x="36" y="16"/>
                    <a:pt x="29" y="17"/>
                    <a:pt x="27" y="15"/>
                  </a:cubicBezTo>
                  <a:cubicBezTo>
                    <a:pt x="25" y="12"/>
                    <a:pt x="25" y="12"/>
                    <a:pt x="25" y="12"/>
                  </a:cubicBezTo>
                  <a:cubicBezTo>
                    <a:pt x="23" y="10"/>
                    <a:pt x="20" y="10"/>
                    <a:pt x="18" y="12"/>
                  </a:cubicBezTo>
                  <a:cubicBezTo>
                    <a:pt x="12" y="18"/>
                    <a:pt x="12" y="18"/>
                    <a:pt x="12" y="18"/>
                  </a:cubicBezTo>
                  <a:cubicBezTo>
                    <a:pt x="10" y="20"/>
                    <a:pt x="10" y="23"/>
                    <a:pt x="12" y="25"/>
                  </a:cubicBezTo>
                  <a:cubicBezTo>
                    <a:pt x="15" y="27"/>
                    <a:pt x="15" y="27"/>
                    <a:pt x="15" y="27"/>
                  </a:cubicBezTo>
                  <a:cubicBezTo>
                    <a:pt x="17" y="29"/>
                    <a:pt x="18" y="33"/>
                    <a:pt x="17" y="34"/>
                  </a:cubicBezTo>
                  <a:cubicBezTo>
                    <a:pt x="16" y="36"/>
                    <a:pt x="12" y="42"/>
                    <a:pt x="9" y="42"/>
                  </a:cubicBezTo>
                  <a:cubicBezTo>
                    <a:pt x="5" y="42"/>
                    <a:pt x="5" y="42"/>
                    <a:pt x="5" y="42"/>
                  </a:cubicBezTo>
                  <a:cubicBezTo>
                    <a:pt x="2" y="42"/>
                    <a:pt x="0" y="44"/>
                    <a:pt x="0" y="47"/>
                  </a:cubicBezTo>
                  <a:cubicBezTo>
                    <a:pt x="0" y="55"/>
                    <a:pt x="0" y="55"/>
                    <a:pt x="0" y="55"/>
                  </a:cubicBezTo>
                  <a:cubicBezTo>
                    <a:pt x="0" y="57"/>
                    <a:pt x="2" y="60"/>
                    <a:pt x="5" y="60"/>
                  </a:cubicBezTo>
                  <a:cubicBezTo>
                    <a:pt x="9" y="60"/>
                    <a:pt x="9" y="60"/>
                    <a:pt x="9" y="60"/>
                  </a:cubicBezTo>
                  <a:cubicBezTo>
                    <a:pt x="12" y="60"/>
                    <a:pt x="14" y="61"/>
                    <a:pt x="15" y="63"/>
                  </a:cubicBezTo>
                  <a:cubicBezTo>
                    <a:pt x="16" y="66"/>
                    <a:pt x="17" y="72"/>
                    <a:pt x="15" y="74"/>
                  </a:cubicBezTo>
                  <a:cubicBezTo>
                    <a:pt x="12" y="77"/>
                    <a:pt x="12" y="77"/>
                    <a:pt x="12" y="77"/>
                  </a:cubicBezTo>
                  <a:cubicBezTo>
                    <a:pt x="10" y="79"/>
                    <a:pt x="10" y="82"/>
                    <a:pt x="12" y="84"/>
                  </a:cubicBezTo>
                  <a:cubicBezTo>
                    <a:pt x="18" y="89"/>
                    <a:pt x="18" y="89"/>
                    <a:pt x="18" y="89"/>
                  </a:cubicBezTo>
                  <a:cubicBezTo>
                    <a:pt x="20" y="91"/>
                    <a:pt x="23" y="91"/>
                    <a:pt x="25" y="89"/>
                  </a:cubicBezTo>
                  <a:cubicBezTo>
                    <a:pt x="27" y="87"/>
                    <a:pt x="27" y="87"/>
                    <a:pt x="27" y="87"/>
                  </a:cubicBezTo>
                  <a:cubicBezTo>
                    <a:pt x="29" y="85"/>
                    <a:pt x="33" y="84"/>
                    <a:pt x="35" y="85"/>
                  </a:cubicBezTo>
                  <a:cubicBezTo>
                    <a:pt x="37" y="86"/>
                    <a:pt x="42" y="90"/>
                    <a:pt x="42" y="93"/>
                  </a:cubicBezTo>
                  <a:cubicBezTo>
                    <a:pt x="42" y="96"/>
                    <a:pt x="42" y="96"/>
                    <a:pt x="42" y="96"/>
                  </a:cubicBezTo>
                  <a:cubicBezTo>
                    <a:pt x="42" y="99"/>
                    <a:pt x="44" y="102"/>
                    <a:pt x="47" y="102"/>
                  </a:cubicBezTo>
                  <a:cubicBezTo>
                    <a:pt x="55" y="102"/>
                    <a:pt x="55" y="102"/>
                    <a:pt x="55" y="102"/>
                  </a:cubicBezTo>
                  <a:cubicBezTo>
                    <a:pt x="57" y="102"/>
                    <a:pt x="60" y="99"/>
                    <a:pt x="60" y="96"/>
                  </a:cubicBezTo>
                  <a:cubicBezTo>
                    <a:pt x="60" y="93"/>
                    <a:pt x="60" y="93"/>
                    <a:pt x="60" y="93"/>
                  </a:cubicBezTo>
                  <a:cubicBezTo>
                    <a:pt x="60" y="90"/>
                    <a:pt x="61" y="87"/>
                    <a:pt x="64" y="87"/>
                  </a:cubicBezTo>
                  <a:cubicBezTo>
                    <a:pt x="66" y="86"/>
                    <a:pt x="72" y="85"/>
                    <a:pt x="74" y="87"/>
                  </a:cubicBezTo>
                  <a:cubicBezTo>
                    <a:pt x="77" y="89"/>
                    <a:pt x="77" y="89"/>
                    <a:pt x="77" y="89"/>
                  </a:cubicBezTo>
                  <a:cubicBezTo>
                    <a:pt x="79" y="91"/>
                    <a:pt x="82" y="91"/>
                    <a:pt x="84" y="89"/>
                  </a:cubicBezTo>
                  <a:cubicBezTo>
                    <a:pt x="89" y="84"/>
                    <a:pt x="89" y="84"/>
                    <a:pt x="89" y="84"/>
                  </a:cubicBezTo>
                  <a:cubicBezTo>
                    <a:pt x="91" y="82"/>
                    <a:pt x="91" y="79"/>
                    <a:pt x="89" y="77"/>
                  </a:cubicBezTo>
                  <a:cubicBezTo>
                    <a:pt x="87" y="74"/>
                    <a:pt x="87" y="74"/>
                    <a:pt x="87" y="74"/>
                  </a:cubicBezTo>
                  <a:cubicBezTo>
                    <a:pt x="85" y="72"/>
                    <a:pt x="84" y="69"/>
                    <a:pt x="85" y="67"/>
                  </a:cubicBezTo>
                  <a:cubicBezTo>
                    <a:pt x="86" y="65"/>
                    <a:pt x="90" y="60"/>
                    <a:pt x="93" y="60"/>
                  </a:cubicBezTo>
                  <a:cubicBezTo>
                    <a:pt x="97" y="60"/>
                    <a:pt x="97" y="60"/>
                    <a:pt x="97" y="60"/>
                  </a:cubicBezTo>
                  <a:cubicBezTo>
                    <a:pt x="99" y="60"/>
                    <a:pt x="102" y="57"/>
                    <a:pt x="102" y="55"/>
                  </a:cubicBezTo>
                  <a:cubicBezTo>
                    <a:pt x="102" y="47"/>
                    <a:pt x="102" y="47"/>
                    <a:pt x="102" y="47"/>
                  </a:cubicBezTo>
                  <a:cubicBezTo>
                    <a:pt x="102" y="44"/>
                    <a:pt x="99" y="42"/>
                    <a:pt x="97" y="42"/>
                  </a:cubicBezTo>
                  <a:cubicBezTo>
                    <a:pt x="93" y="42"/>
                    <a:pt x="93" y="42"/>
                    <a:pt x="93" y="42"/>
                  </a:cubicBezTo>
                  <a:cubicBezTo>
                    <a:pt x="90" y="42"/>
                    <a:pt x="87" y="40"/>
                    <a:pt x="87" y="38"/>
                  </a:cubicBezTo>
                  <a:cubicBezTo>
                    <a:pt x="86" y="36"/>
                    <a:pt x="85" y="29"/>
                    <a:pt x="87" y="27"/>
                  </a:cubicBezTo>
                  <a:lnTo>
                    <a:pt x="89" y="25"/>
                  </a:lnTo>
                  <a:close/>
                  <a:moveTo>
                    <a:pt x="69" y="69"/>
                  </a:moveTo>
                  <a:cubicBezTo>
                    <a:pt x="59" y="79"/>
                    <a:pt x="43" y="79"/>
                    <a:pt x="33" y="69"/>
                  </a:cubicBezTo>
                  <a:cubicBezTo>
                    <a:pt x="23" y="59"/>
                    <a:pt x="23" y="43"/>
                    <a:pt x="33" y="33"/>
                  </a:cubicBezTo>
                  <a:cubicBezTo>
                    <a:pt x="43" y="23"/>
                    <a:pt x="59" y="23"/>
                    <a:pt x="69" y="33"/>
                  </a:cubicBezTo>
                  <a:cubicBezTo>
                    <a:pt x="79" y="43"/>
                    <a:pt x="79" y="59"/>
                    <a:pt x="69" y="69"/>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5394" name="Freeform 996"/>
            <p:cNvSpPr/>
            <p:nvPr/>
          </p:nvSpPr>
          <p:spPr bwMode="auto">
            <a:xfrm>
              <a:off x="6504806" y="3315230"/>
              <a:ext cx="211138" cy="209550"/>
            </a:xfrm>
            <a:custGeom>
              <a:avLst/>
              <a:gdLst>
                <a:gd name="T0" fmla="*/ 46 w 56"/>
                <a:gd name="T1" fmla="*/ 46 h 56"/>
                <a:gd name="T2" fmla="*/ 10 w 56"/>
                <a:gd name="T3" fmla="*/ 46 h 56"/>
                <a:gd name="T4" fmla="*/ 10 w 56"/>
                <a:gd name="T5" fmla="*/ 10 h 56"/>
                <a:gd name="T6" fmla="*/ 46 w 56"/>
                <a:gd name="T7" fmla="*/ 10 h 56"/>
                <a:gd name="T8" fmla="*/ 46 w 56"/>
                <a:gd name="T9" fmla="*/ 46 h 56"/>
              </a:gdLst>
              <a:ahLst/>
              <a:cxnLst>
                <a:cxn ang="0">
                  <a:pos x="T0" y="T1"/>
                </a:cxn>
                <a:cxn ang="0">
                  <a:pos x="T2" y="T3"/>
                </a:cxn>
                <a:cxn ang="0">
                  <a:pos x="T4" y="T5"/>
                </a:cxn>
                <a:cxn ang="0">
                  <a:pos x="T6" y="T7"/>
                </a:cxn>
                <a:cxn ang="0">
                  <a:pos x="T8" y="T9"/>
                </a:cxn>
              </a:cxnLst>
              <a:rect l="0" t="0" r="r" b="b"/>
              <a:pathLst>
                <a:path w="56" h="56">
                  <a:moveTo>
                    <a:pt x="46" y="46"/>
                  </a:moveTo>
                  <a:cubicBezTo>
                    <a:pt x="36" y="56"/>
                    <a:pt x="20" y="56"/>
                    <a:pt x="10" y="46"/>
                  </a:cubicBezTo>
                  <a:cubicBezTo>
                    <a:pt x="0" y="36"/>
                    <a:pt x="0" y="20"/>
                    <a:pt x="10" y="10"/>
                  </a:cubicBezTo>
                  <a:cubicBezTo>
                    <a:pt x="20" y="0"/>
                    <a:pt x="36" y="0"/>
                    <a:pt x="46" y="10"/>
                  </a:cubicBezTo>
                  <a:cubicBezTo>
                    <a:pt x="56" y="20"/>
                    <a:pt x="56" y="36"/>
                    <a:pt x="46" y="4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395" name="Freeform 997"/>
            <p:cNvSpPr>
              <a:spLocks noEditPoints="1"/>
            </p:cNvSpPr>
            <p:nvPr/>
          </p:nvSpPr>
          <p:spPr bwMode="auto">
            <a:xfrm>
              <a:off x="5615806" y="5632980"/>
              <a:ext cx="377825" cy="379413"/>
            </a:xfrm>
            <a:custGeom>
              <a:avLst/>
              <a:gdLst>
                <a:gd name="T0" fmla="*/ 89 w 101"/>
                <a:gd name="T1" fmla="*/ 24 h 101"/>
                <a:gd name="T2" fmla="*/ 89 w 101"/>
                <a:gd name="T3" fmla="*/ 17 h 101"/>
                <a:gd name="T4" fmla="*/ 84 w 101"/>
                <a:gd name="T5" fmla="*/ 12 h 101"/>
                <a:gd name="T6" fmla="*/ 77 w 101"/>
                <a:gd name="T7" fmla="*/ 12 h 101"/>
                <a:gd name="T8" fmla="*/ 74 w 101"/>
                <a:gd name="T9" fmla="*/ 14 h 101"/>
                <a:gd name="T10" fmla="*/ 67 w 101"/>
                <a:gd name="T11" fmla="*/ 16 h 101"/>
                <a:gd name="T12" fmla="*/ 60 w 101"/>
                <a:gd name="T13" fmla="*/ 8 h 101"/>
                <a:gd name="T14" fmla="*/ 60 w 101"/>
                <a:gd name="T15" fmla="*/ 5 h 101"/>
                <a:gd name="T16" fmla="*/ 54 w 101"/>
                <a:gd name="T17" fmla="*/ 0 h 101"/>
                <a:gd name="T18" fmla="*/ 47 w 101"/>
                <a:gd name="T19" fmla="*/ 0 h 101"/>
                <a:gd name="T20" fmla="*/ 42 w 101"/>
                <a:gd name="T21" fmla="*/ 5 h 101"/>
                <a:gd name="T22" fmla="*/ 42 w 101"/>
                <a:gd name="T23" fmla="*/ 8 h 101"/>
                <a:gd name="T24" fmla="*/ 38 w 101"/>
                <a:gd name="T25" fmla="*/ 15 h 101"/>
                <a:gd name="T26" fmla="*/ 27 w 101"/>
                <a:gd name="T27" fmla="*/ 14 h 101"/>
                <a:gd name="T28" fmla="*/ 25 w 101"/>
                <a:gd name="T29" fmla="*/ 12 h 101"/>
                <a:gd name="T30" fmla="*/ 17 w 101"/>
                <a:gd name="T31" fmla="*/ 12 h 101"/>
                <a:gd name="T32" fmla="*/ 12 w 101"/>
                <a:gd name="T33" fmla="*/ 17 h 101"/>
                <a:gd name="T34" fmla="*/ 12 w 101"/>
                <a:gd name="T35" fmla="*/ 24 h 101"/>
                <a:gd name="T36" fmla="*/ 15 w 101"/>
                <a:gd name="T37" fmla="*/ 27 h 101"/>
                <a:gd name="T38" fmla="*/ 16 w 101"/>
                <a:gd name="T39" fmla="*/ 34 h 101"/>
                <a:gd name="T40" fmla="*/ 9 w 101"/>
                <a:gd name="T41" fmla="*/ 41 h 101"/>
                <a:gd name="T42" fmla="*/ 5 w 101"/>
                <a:gd name="T43" fmla="*/ 41 h 101"/>
                <a:gd name="T44" fmla="*/ 0 w 101"/>
                <a:gd name="T45" fmla="*/ 47 h 101"/>
                <a:gd name="T46" fmla="*/ 0 w 101"/>
                <a:gd name="T47" fmla="*/ 54 h 101"/>
                <a:gd name="T48" fmla="*/ 5 w 101"/>
                <a:gd name="T49" fmla="*/ 59 h 101"/>
                <a:gd name="T50" fmla="*/ 9 w 101"/>
                <a:gd name="T51" fmla="*/ 59 h 101"/>
                <a:gd name="T52" fmla="*/ 15 w 101"/>
                <a:gd name="T53" fmla="*/ 63 h 101"/>
                <a:gd name="T54" fmla="*/ 15 w 101"/>
                <a:gd name="T55" fmla="*/ 74 h 101"/>
                <a:gd name="T56" fmla="*/ 12 w 101"/>
                <a:gd name="T57" fmla="*/ 76 h 101"/>
                <a:gd name="T58" fmla="*/ 12 w 101"/>
                <a:gd name="T59" fmla="*/ 84 h 101"/>
                <a:gd name="T60" fmla="*/ 17 w 101"/>
                <a:gd name="T61" fmla="*/ 89 h 101"/>
                <a:gd name="T62" fmla="*/ 25 w 101"/>
                <a:gd name="T63" fmla="*/ 89 h 101"/>
                <a:gd name="T64" fmla="*/ 27 w 101"/>
                <a:gd name="T65" fmla="*/ 86 h 101"/>
                <a:gd name="T66" fmla="*/ 34 w 101"/>
                <a:gd name="T67" fmla="*/ 85 h 101"/>
                <a:gd name="T68" fmla="*/ 42 w 101"/>
                <a:gd name="T69" fmla="*/ 92 h 101"/>
                <a:gd name="T70" fmla="*/ 42 w 101"/>
                <a:gd name="T71" fmla="*/ 96 h 101"/>
                <a:gd name="T72" fmla="*/ 47 w 101"/>
                <a:gd name="T73" fmla="*/ 101 h 101"/>
                <a:gd name="T74" fmla="*/ 54 w 101"/>
                <a:gd name="T75" fmla="*/ 101 h 101"/>
                <a:gd name="T76" fmla="*/ 60 w 101"/>
                <a:gd name="T77" fmla="*/ 96 h 101"/>
                <a:gd name="T78" fmla="*/ 60 w 101"/>
                <a:gd name="T79" fmla="*/ 92 h 101"/>
                <a:gd name="T80" fmla="*/ 63 w 101"/>
                <a:gd name="T81" fmla="*/ 86 h 101"/>
                <a:gd name="T82" fmla="*/ 74 w 101"/>
                <a:gd name="T83" fmla="*/ 86 h 101"/>
                <a:gd name="T84" fmla="*/ 77 w 101"/>
                <a:gd name="T85" fmla="*/ 89 h 101"/>
                <a:gd name="T86" fmla="*/ 84 w 101"/>
                <a:gd name="T87" fmla="*/ 89 h 101"/>
                <a:gd name="T88" fmla="*/ 89 w 101"/>
                <a:gd name="T89" fmla="*/ 84 h 101"/>
                <a:gd name="T90" fmla="*/ 89 w 101"/>
                <a:gd name="T91" fmla="*/ 76 h 101"/>
                <a:gd name="T92" fmla="*/ 87 w 101"/>
                <a:gd name="T93" fmla="*/ 74 h 101"/>
                <a:gd name="T94" fmla="*/ 85 w 101"/>
                <a:gd name="T95" fmla="*/ 67 h 101"/>
                <a:gd name="T96" fmla="*/ 93 w 101"/>
                <a:gd name="T97" fmla="*/ 59 h 101"/>
                <a:gd name="T98" fmla="*/ 96 w 101"/>
                <a:gd name="T99" fmla="*/ 59 h 101"/>
                <a:gd name="T100" fmla="*/ 101 w 101"/>
                <a:gd name="T101" fmla="*/ 54 h 101"/>
                <a:gd name="T102" fmla="*/ 101 w 101"/>
                <a:gd name="T103" fmla="*/ 47 h 101"/>
                <a:gd name="T104" fmla="*/ 96 w 101"/>
                <a:gd name="T105" fmla="*/ 41 h 101"/>
                <a:gd name="T106" fmla="*/ 93 w 101"/>
                <a:gd name="T107" fmla="*/ 41 h 101"/>
                <a:gd name="T108" fmla="*/ 86 w 101"/>
                <a:gd name="T109" fmla="*/ 38 h 101"/>
                <a:gd name="T110" fmla="*/ 87 w 101"/>
                <a:gd name="T111" fmla="*/ 27 h 101"/>
                <a:gd name="T112" fmla="*/ 89 w 101"/>
                <a:gd name="T113" fmla="*/ 24 h 101"/>
                <a:gd name="T114" fmla="*/ 69 w 101"/>
                <a:gd name="T115" fmla="*/ 68 h 101"/>
                <a:gd name="T116" fmla="*/ 33 w 101"/>
                <a:gd name="T117" fmla="*/ 68 h 101"/>
                <a:gd name="T118" fmla="*/ 33 w 101"/>
                <a:gd name="T119" fmla="*/ 32 h 101"/>
                <a:gd name="T120" fmla="*/ 69 w 101"/>
                <a:gd name="T121" fmla="*/ 32 h 101"/>
                <a:gd name="T122" fmla="*/ 69 w 101"/>
                <a:gd name="T123" fmla="*/ 68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1" h="101">
                  <a:moveTo>
                    <a:pt x="89" y="24"/>
                  </a:moveTo>
                  <a:cubicBezTo>
                    <a:pt x="91" y="22"/>
                    <a:pt x="91" y="19"/>
                    <a:pt x="89" y="17"/>
                  </a:cubicBezTo>
                  <a:cubicBezTo>
                    <a:pt x="84" y="12"/>
                    <a:pt x="84" y="12"/>
                    <a:pt x="84" y="12"/>
                  </a:cubicBezTo>
                  <a:cubicBezTo>
                    <a:pt x="82" y="10"/>
                    <a:pt x="79" y="10"/>
                    <a:pt x="77" y="12"/>
                  </a:cubicBezTo>
                  <a:cubicBezTo>
                    <a:pt x="74" y="14"/>
                    <a:pt x="74" y="14"/>
                    <a:pt x="74" y="14"/>
                  </a:cubicBezTo>
                  <a:cubicBezTo>
                    <a:pt x="72" y="16"/>
                    <a:pt x="69" y="17"/>
                    <a:pt x="67" y="16"/>
                  </a:cubicBezTo>
                  <a:cubicBezTo>
                    <a:pt x="65" y="15"/>
                    <a:pt x="60" y="11"/>
                    <a:pt x="60" y="8"/>
                  </a:cubicBezTo>
                  <a:cubicBezTo>
                    <a:pt x="60" y="5"/>
                    <a:pt x="60" y="5"/>
                    <a:pt x="60" y="5"/>
                  </a:cubicBezTo>
                  <a:cubicBezTo>
                    <a:pt x="60" y="2"/>
                    <a:pt x="57" y="0"/>
                    <a:pt x="54" y="0"/>
                  </a:cubicBezTo>
                  <a:cubicBezTo>
                    <a:pt x="47" y="0"/>
                    <a:pt x="47" y="0"/>
                    <a:pt x="47" y="0"/>
                  </a:cubicBezTo>
                  <a:cubicBezTo>
                    <a:pt x="44" y="0"/>
                    <a:pt x="42" y="2"/>
                    <a:pt x="42" y="5"/>
                  </a:cubicBezTo>
                  <a:cubicBezTo>
                    <a:pt x="42" y="8"/>
                    <a:pt x="42" y="8"/>
                    <a:pt x="42" y="8"/>
                  </a:cubicBezTo>
                  <a:cubicBezTo>
                    <a:pt x="42" y="11"/>
                    <a:pt x="40" y="14"/>
                    <a:pt x="38" y="15"/>
                  </a:cubicBezTo>
                  <a:cubicBezTo>
                    <a:pt x="36" y="15"/>
                    <a:pt x="29" y="16"/>
                    <a:pt x="27" y="14"/>
                  </a:cubicBezTo>
                  <a:cubicBezTo>
                    <a:pt x="25" y="12"/>
                    <a:pt x="25" y="12"/>
                    <a:pt x="25" y="12"/>
                  </a:cubicBezTo>
                  <a:cubicBezTo>
                    <a:pt x="23" y="10"/>
                    <a:pt x="19" y="10"/>
                    <a:pt x="17" y="12"/>
                  </a:cubicBezTo>
                  <a:cubicBezTo>
                    <a:pt x="12" y="17"/>
                    <a:pt x="12" y="17"/>
                    <a:pt x="12" y="17"/>
                  </a:cubicBezTo>
                  <a:cubicBezTo>
                    <a:pt x="10" y="19"/>
                    <a:pt x="10" y="22"/>
                    <a:pt x="12" y="24"/>
                  </a:cubicBezTo>
                  <a:cubicBezTo>
                    <a:pt x="15" y="27"/>
                    <a:pt x="15" y="27"/>
                    <a:pt x="15" y="27"/>
                  </a:cubicBezTo>
                  <a:cubicBezTo>
                    <a:pt x="17" y="29"/>
                    <a:pt x="17" y="32"/>
                    <a:pt x="16" y="34"/>
                  </a:cubicBezTo>
                  <a:cubicBezTo>
                    <a:pt x="15" y="36"/>
                    <a:pt x="11" y="41"/>
                    <a:pt x="9" y="41"/>
                  </a:cubicBezTo>
                  <a:cubicBezTo>
                    <a:pt x="5" y="41"/>
                    <a:pt x="5" y="41"/>
                    <a:pt x="5" y="41"/>
                  </a:cubicBezTo>
                  <a:cubicBezTo>
                    <a:pt x="2" y="41"/>
                    <a:pt x="0" y="44"/>
                    <a:pt x="0" y="47"/>
                  </a:cubicBezTo>
                  <a:cubicBezTo>
                    <a:pt x="0" y="54"/>
                    <a:pt x="0" y="54"/>
                    <a:pt x="0" y="54"/>
                  </a:cubicBezTo>
                  <a:cubicBezTo>
                    <a:pt x="0" y="57"/>
                    <a:pt x="2" y="59"/>
                    <a:pt x="5" y="59"/>
                  </a:cubicBezTo>
                  <a:cubicBezTo>
                    <a:pt x="9" y="59"/>
                    <a:pt x="9" y="59"/>
                    <a:pt x="9" y="59"/>
                  </a:cubicBezTo>
                  <a:cubicBezTo>
                    <a:pt x="11" y="59"/>
                    <a:pt x="14" y="61"/>
                    <a:pt x="15" y="63"/>
                  </a:cubicBezTo>
                  <a:cubicBezTo>
                    <a:pt x="16" y="65"/>
                    <a:pt x="17" y="72"/>
                    <a:pt x="15" y="74"/>
                  </a:cubicBezTo>
                  <a:cubicBezTo>
                    <a:pt x="12" y="76"/>
                    <a:pt x="12" y="76"/>
                    <a:pt x="12" y="76"/>
                  </a:cubicBezTo>
                  <a:cubicBezTo>
                    <a:pt x="10" y="78"/>
                    <a:pt x="10" y="82"/>
                    <a:pt x="12" y="84"/>
                  </a:cubicBezTo>
                  <a:cubicBezTo>
                    <a:pt x="17" y="89"/>
                    <a:pt x="17" y="89"/>
                    <a:pt x="17" y="89"/>
                  </a:cubicBezTo>
                  <a:cubicBezTo>
                    <a:pt x="19" y="91"/>
                    <a:pt x="23" y="91"/>
                    <a:pt x="25" y="89"/>
                  </a:cubicBezTo>
                  <a:cubicBezTo>
                    <a:pt x="27" y="86"/>
                    <a:pt x="27" y="86"/>
                    <a:pt x="27" y="86"/>
                  </a:cubicBezTo>
                  <a:cubicBezTo>
                    <a:pt x="29" y="84"/>
                    <a:pt x="32" y="84"/>
                    <a:pt x="34" y="85"/>
                  </a:cubicBezTo>
                  <a:cubicBezTo>
                    <a:pt x="36" y="86"/>
                    <a:pt x="42" y="90"/>
                    <a:pt x="42" y="92"/>
                  </a:cubicBezTo>
                  <a:cubicBezTo>
                    <a:pt x="42" y="96"/>
                    <a:pt x="42" y="96"/>
                    <a:pt x="42" y="96"/>
                  </a:cubicBezTo>
                  <a:cubicBezTo>
                    <a:pt x="42" y="99"/>
                    <a:pt x="44" y="101"/>
                    <a:pt x="47" y="101"/>
                  </a:cubicBezTo>
                  <a:cubicBezTo>
                    <a:pt x="54" y="101"/>
                    <a:pt x="54" y="101"/>
                    <a:pt x="54" y="101"/>
                  </a:cubicBezTo>
                  <a:cubicBezTo>
                    <a:pt x="57" y="101"/>
                    <a:pt x="60" y="99"/>
                    <a:pt x="60" y="96"/>
                  </a:cubicBezTo>
                  <a:cubicBezTo>
                    <a:pt x="60" y="92"/>
                    <a:pt x="60" y="92"/>
                    <a:pt x="60" y="92"/>
                  </a:cubicBezTo>
                  <a:cubicBezTo>
                    <a:pt x="60" y="90"/>
                    <a:pt x="61" y="87"/>
                    <a:pt x="63" y="86"/>
                  </a:cubicBezTo>
                  <a:cubicBezTo>
                    <a:pt x="65" y="85"/>
                    <a:pt x="72" y="84"/>
                    <a:pt x="74" y="86"/>
                  </a:cubicBezTo>
                  <a:cubicBezTo>
                    <a:pt x="77" y="89"/>
                    <a:pt x="77" y="89"/>
                    <a:pt x="77" y="89"/>
                  </a:cubicBezTo>
                  <a:cubicBezTo>
                    <a:pt x="79" y="91"/>
                    <a:pt x="82" y="91"/>
                    <a:pt x="84" y="89"/>
                  </a:cubicBezTo>
                  <a:cubicBezTo>
                    <a:pt x="89" y="84"/>
                    <a:pt x="89" y="84"/>
                    <a:pt x="89" y="84"/>
                  </a:cubicBezTo>
                  <a:cubicBezTo>
                    <a:pt x="91" y="82"/>
                    <a:pt x="91" y="78"/>
                    <a:pt x="89" y="76"/>
                  </a:cubicBezTo>
                  <a:cubicBezTo>
                    <a:pt x="87" y="74"/>
                    <a:pt x="87" y="74"/>
                    <a:pt x="87" y="74"/>
                  </a:cubicBezTo>
                  <a:cubicBezTo>
                    <a:pt x="85" y="72"/>
                    <a:pt x="84" y="69"/>
                    <a:pt x="85" y="67"/>
                  </a:cubicBezTo>
                  <a:cubicBezTo>
                    <a:pt x="86" y="65"/>
                    <a:pt x="90" y="59"/>
                    <a:pt x="93" y="59"/>
                  </a:cubicBezTo>
                  <a:cubicBezTo>
                    <a:pt x="96" y="59"/>
                    <a:pt x="96" y="59"/>
                    <a:pt x="96" y="59"/>
                  </a:cubicBezTo>
                  <a:cubicBezTo>
                    <a:pt x="99" y="59"/>
                    <a:pt x="101" y="57"/>
                    <a:pt x="101" y="54"/>
                  </a:cubicBezTo>
                  <a:cubicBezTo>
                    <a:pt x="101" y="47"/>
                    <a:pt x="101" y="47"/>
                    <a:pt x="101" y="47"/>
                  </a:cubicBezTo>
                  <a:cubicBezTo>
                    <a:pt x="101" y="44"/>
                    <a:pt x="99" y="41"/>
                    <a:pt x="96" y="41"/>
                  </a:cubicBezTo>
                  <a:cubicBezTo>
                    <a:pt x="93" y="41"/>
                    <a:pt x="93" y="41"/>
                    <a:pt x="93" y="41"/>
                  </a:cubicBezTo>
                  <a:cubicBezTo>
                    <a:pt x="90" y="41"/>
                    <a:pt x="87" y="40"/>
                    <a:pt x="86" y="38"/>
                  </a:cubicBezTo>
                  <a:cubicBezTo>
                    <a:pt x="86" y="36"/>
                    <a:pt x="85" y="29"/>
                    <a:pt x="87" y="27"/>
                  </a:cubicBezTo>
                  <a:lnTo>
                    <a:pt x="89" y="24"/>
                  </a:lnTo>
                  <a:close/>
                  <a:moveTo>
                    <a:pt x="69" y="68"/>
                  </a:moveTo>
                  <a:cubicBezTo>
                    <a:pt x="59" y="78"/>
                    <a:pt x="43" y="78"/>
                    <a:pt x="33" y="68"/>
                  </a:cubicBezTo>
                  <a:cubicBezTo>
                    <a:pt x="23" y="58"/>
                    <a:pt x="23" y="42"/>
                    <a:pt x="33" y="32"/>
                  </a:cubicBezTo>
                  <a:cubicBezTo>
                    <a:pt x="43" y="22"/>
                    <a:pt x="59" y="22"/>
                    <a:pt x="69" y="32"/>
                  </a:cubicBezTo>
                  <a:cubicBezTo>
                    <a:pt x="79" y="42"/>
                    <a:pt x="79" y="58"/>
                    <a:pt x="69" y="68"/>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5396" name="Freeform 998"/>
            <p:cNvSpPr/>
            <p:nvPr/>
          </p:nvSpPr>
          <p:spPr bwMode="auto">
            <a:xfrm>
              <a:off x="5701531" y="5715530"/>
              <a:ext cx="209550" cy="211138"/>
            </a:xfrm>
            <a:custGeom>
              <a:avLst/>
              <a:gdLst>
                <a:gd name="T0" fmla="*/ 46 w 56"/>
                <a:gd name="T1" fmla="*/ 46 h 56"/>
                <a:gd name="T2" fmla="*/ 10 w 56"/>
                <a:gd name="T3" fmla="*/ 46 h 56"/>
                <a:gd name="T4" fmla="*/ 10 w 56"/>
                <a:gd name="T5" fmla="*/ 10 h 56"/>
                <a:gd name="T6" fmla="*/ 46 w 56"/>
                <a:gd name="T7" fmla="*/ 10 h 56"/>
                <a:gd name="T8" fmla="*/ 46 w 56"/>
                <a:gd name="T9" fmla="*/ 46 h 56"/>
              </a:gdLst>
              <a:ahLst/>
              <a:cxnLst>
                <a:cxn ang="0">
                  <a:pos x="T0" y="T1"/>
                </a:cxn>
                <a:cxn ang="0">
                  <a:pos x="T2" y="T3"/>
                </a:cxn>
                <a:cxn ang="0">
                  <a:pos x="T4" y="T5"/>
                </a:cxn>
                <a:cxn ang="0">
                  <a:pos x="T6" y="T7"/>
                </a:cxn>
                <a:cxn ang="0">
                  <a:pos x="T8" y="T9"/>
                </a:cxn>
              </a:cxnLst>
              <a:rect l="0" t="0" r="r" b="b"/>
              <a:pathLst>
                <a:path w="56" h="56">
                  <a:moveTo>
                    <a:pt x="46" y="46"/>
                  </a:moveTo>
                  <a:cubicBezTo>
                    <a:pt x="36" y="56"/>
                    <a:pt x="20" y="56"/>
                    <a:pt x="10" y="46"/>
                  </a:cubicBezTo>
                  <a:cubicBezTo>
                    <a:pt x="0" y="36"/>
                    <a:pt x="0" y="20"/>
                    <a:pt x="10" y="10"/>
                  </a:cubicBezTo>
                  <a:cubicBezTo>
                    <a:pt x="20" y="0"/>
                    <a:pt x="36" y="0"/>
                    <a:pt x="46" y="10"/>
                  </a:cubicBezTo>
                  <a:cubicBezTo>
                    <a:pt x="56" y="20"/>
                    <a:pt x="56" y="36"/>
                    <a:pt x="46" y="4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397" name="Freeform 999"/>
            <p:cNvSpPr>
              <a:spLocks noEditPoints="1"/>
            </p:cNvSpPr>
            <p:nvPr/>
          </p:nvSpPr>
          <p:spPr bwMode="auto">
            <a:xfrm>
              <a:off x="6419081" y="4826530"/>
              <a:ext cx="382588" cy="382588"/>
            </a:xfrm>
            <a:custGeom>
              <a:avLst/>
              <a:gdLst>
                <a:gd name="T0" fmla="*/ 89 w 102"/>
                <a:gd name="T1" fmla="*/ 25 h 102"/>
                <a:gd name="T2" fmla="*/ 89 w 102"/>
                <a:gd name="T3" fmla="*/ 18 h 102"/>
                <a:gd name="T4" fmla="*/ 84 w 102"/>
                <a:gd name="T5" fmla="*/ 13 h 102"/>
                <a:gd name="T6" fmla="*/ 77 w 102"/>
                <a:gd name="T7" fmla="*/ 13 h 102"/>
                <a:gd name="T8" fmla="*/ 74 w 102"/>
                <a:gd name="T9" fmla="*/ 15 h 102"/>
                <a:gd name="T10" fmla="*/ 67 w 102"/>
                <a:gd name="T11" fmla="*/ 17 h 102"/>
                <a:gd name="T12" fmla="*/ 60 w 102"/>
                <a:gd name="T13" fmla="*/ 9 h 102"/>
                <a:gd name="T14" fmla="*/ 60 w 102"/>
                <a:gd name="T15" fmla="*/ 5 h 102"/>
                <a:gd name="T16" fmla="*/ 55 w 102"/>
                <a:gd name="T17" fmla="*/ 0 h 102"/>
                <a:gd name="T18" fmla="*/ 47 w 102"/>
                <a:gd name="T19" fmla="*/ 0 h 102"/>
                <a:gd name="T20" fmla="*/ 42 w 102"/>
                <a:gd name="T21" fmla="*/ 5 h 102"/>
                <a:gd name="T22" fmla="*/ 42 w 102"/>
                <a:gd name="T23" fmla="*/ 9 h 102"/>
                <a:gd name="T24" fmla="*/ 38 w 102"/>
                <a:gd name="T25" fmla="*/ 15 h 102"/>
                <a:gd name="T26" fmla="*/ 27 w 102"/>
                <a:gd name="T27" fmla="*/ 15 h 102"/>
                <a:gd name="T28" fmla="*/ 25 w 102"/>
                <a:gd name="T29" fmla="*/ 13 h 102"/>
                <a:gd name="T30" fmla="*/ 18 w 102"/>
                <a:gd name="T31" fmla="*/ 13 h 102"/>
                <a:gd name="T32" fmla="*/ 12 w 102"/>
                <a:gd name="T33" fmla="*/ 18 h 102"/>
                <a:gd name="T34" fmla="*/ 12 w 102"/>
                <a:gd name="T35" fmla="*/ 25 h 102"/>
                <a:gd name="T36" fmla="*/ 15 w 102"/>
                <a:gd name="T37" fmla="*/ 28 h 102"/>
                <a:gd name="T38" fmla="*/ 17 w 102"/>
                <a:gd name="T39" fmla="*/ 35 h 102"/>
                <a:gd name="T40" fmla="*/ 9 w 102"/>
                <a:gd name="T41" fmla="*/ 42 h 102"/>
                <a:gd name="T42" fmla="*/ 5 w 102"/>
                <a:gd name="T43" fmla="*/ 42 h 102"/>
                <a:gd name="T44" fmla="*/ 0 w 102"/>
                <a:gd name="T45" fmla="*/ 47 h 102"/>
                <a:gd name="T46" fmla="*/ 0 w 102"/>
                <a:gd name="T47" fmla="*/ 55 h 102"/>
                <a:gd name="T48" fmla="*/ 5 w 102"/>
                <a:gd name="T49" fmla="*/ 60 h 102"/>
                <a:gd name="T50" fmla="*/ 9 w 102"/>
                <a:gd name="T51" fmla="*/ 60 h 102"/>
                <a:gd name="T52" fmla="*/ 15 w 102"/>
                <a:gd name="T53" fmla="*/ 64 h 102"/>
                <a:gd name="T54" fmla="*/ 15 w 102"/>
                <a:gd name="T55" fmla="*/ 75 h 102"/>
                <a:gd name="T56" fmla="*/ 12 w 102"/>
                <a:gd name="T57" fmla="*/ 77 h 102"/>
                <a:gd name="T58" fmla="*/ 12 w 102"/>
                <a:gd name="T59" fmla="*/ 84 h 102"/>
                <a:gd name="T60" fmla="*/ 18 w 102"/>
                <a:gd name="T61" fmla="*/ 90 h 102"/>
                <a:gd name="T62" fmla="*/ 25 w 102"/>
                <a:gd name="T63" fmla="*/ 90 h 102"/>
                <a:gd name="T64" fmla="*/ 27 w 102"/>
                <a:gd name="T65" fmla="*/ 87 h 102"/>
                <a:gd name="T66" fmla="*/ 35 w 102"/>
                <a:gd name="T67" fmla="*/ 85 h 102"/>
                <a:gd name="T68" fmla="*/ 42 w 102"/>
                <a:gd name="T69" fmla="*/ 93 h 102"/>
                <a:gd name="T70" fmla="*/ 42 w 102"/>
                <a:gd name="T71" fmla="*/ 97 h 102"/>
                <a:gd name="T72" fmla="*/ 47 w 102"/>
                <a:gd name="T73" fmla="*/ 102 h 102"/>
                <a:gd name="T74" fmla="*/ 55 w 102"/>
                <a:gd name="T75" fmla="*/ 102 h 102"/>
                <a:gd name="T76" fmla="*/ 60 w 102"/>
                <a:gd name="T77" fmla="*/ 97 h 102"/>
                <a:gd name="T78" fmla="*/ 60 w 102"/>
                <a:gd name="T79" fmla="*/ 93 h 102"/>
                <a:gd name="T80" fmla="*/ 64 w 102"/>
                <a:gd name="T81" fmla="*/ 87 h 102"/>
                <a:gd name="T82" fmla="*/ 74 w 102"/>
                <a:gd name="T83" fmla="*/ 87 h 102"/>
                <a:gd name="T84" fmla="*/ 77 w 102"/>
                <a:gd name="T85" fmla="*/ 90 h 102"/>
                <a:gd name="T86" fmla="*/ 84 w 102"/>
                <a:gd name="T87" fmla="*/ 90 h 102"/>
                <a:gd name="T88" fmla="*/ 89 w 102"/>
                <a:gd name="T89" fmla="*/ 84 h 102"/>
                <a:gd name="T90" fmla="*/ 89 w 102"/>
                <a:gd name="T91" fmla="*/ 77 h 102"/>
                <a:gd name="T92" fmla="*/ 87 w 102"/>
                <a:gd name="T93" fmla="*/ 75 h 102"/>
                <a:gd name="T94" fmla="*/ 85 w 102"/>
                <a:gd name="T95" fmla="*/ 67 h 102"/>
                <a:gd name="T96" fmla="*/ 93 w 102"/>
                <a:gd name="T97" fmla="*/ 60 h 102"/>
                <a:gd name="T98" fmla="*/ 97 w 102"/>
                <a:gd name="T99" fmla="*/ 60 h 102"/>
                <a:gd name="T100" fmla="*/ 102 w 102"/>
                <a:gd name="T101" fmla="*/ 55 h 102"/>
                <a:gd name="T102" fmla="*/ 102 w 102"/>
                <a:gd name="T103" fmla="*/ 47 h 102"/>
                <a:gd name="T104" fmla="*/ 97 w 102"/>
                <a:gd name="T105" fmla="*/ 42 h 102"/>
                <a:gd name="T106" fmla="*/ 93 w 102"/>
                <a:gd name="T107" fmla="*/ 42 h 102"/>
                <a:gd name="T108" fmla="*/ 87 w 102"/>
                <a:gd name="T109" fmla="*/ 38 h 102"/>
                <a:gd name="T110" fmla="*/ 87 w 102"/>
                <a:gd name="T111" fmla="*/ 28 h 102"/>
                <a:gd name="T112" fmla="*/ 89 w 102"/>
                <a:gd name="T113" fmla="*/ 25 h 102"/>
                <a:gd name="T114" fmla="*/ 69 w 102"/>
                <a:gd name="T115" fmla="*/ 69 h 102"/>
                <a:gd name="T116" fmla="*/ 33 w 102"/>
                <a:gd name="T117" fmla="*/ 69 h 102"/>
                <a:gd name="T118" fmla="*/ 33 w 102"/>
                <a:gd name="T119" fmla="*/ 33 h 102"/>
                <a:gd name="T120" fmla="*/ 69 w 102"/>
                <a:gd name="T121" fmla="*/ 33 h 102"/>
                <a:gd name="T122" fmla="*/ 69 w 102"/>
                <a:gd name="T123" fmla="*/ 6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2" h="102">
                  <a:moveTo>
                    <a:pt x="89" y="25"/>
                  </a:moveTo>
                  <a:cubicBezTo>
                    <a:pt x="91" y="23"/>
                    <a:pt x="91" y="20"/>
                    <a:pt x="89" y="18"/>
                  </a:cubicBezTo>
                  <a:cubicBezTo>
                    <a:pt x="84" y="13"/>
                    <a:pt x="84" y="13"/>
                    <a:pt x="84" y="13"/>
                  </a:cubicBezTo>
                  <a:cubicBezTo>
                    <a:pt x="82" y="11"/>
                    <a:pt x="79" y="11"/>
                    <a:pt x="77" y="13"/>
                  </a:cubicBezTo>
                  <a:cubicBezTo>
                    <a:pt x="74" y="15"/>
                    <a:pt x="74" y="15"/>
                    <a:pt x="74" y="15"/>
                  </a:cubicBezTo>
                  <a:cubicBezTo>
                    <a:pt x="72" y="17"/>
                    <a:pt x="69" y="18"/>
                    <a:pt x="67" y="17"/>
                  </a:cubicBezTo>
                  <a:cubicBezTo>
                    <a:pt x="65" y="16"/>
                    <a:pt x="60" y="12"/>
                    <a:pt x="60" y="9"/>
                  </a:cubicBezTo>
                  <a:cubicBezTo>
                    <a:pt x="60" y="5"/>
                    <a:pt x="60" y="5"/>
                    <a:pt x="60" y="5"/>
                  </a:cubicBezTo>
                  <a:cubicBezTo>
                    <a:pt x="60" y="3"/>
                    <a:pt x="57" y="0"/>
                    <a:pt x="55" y="0"/>
                  </a:cubicBezTo>
                  <a:cubicBezTo>
                    <a:pt x="47" y="0"/>
                    <a:pt x="47" y="0"/>
                    <a:pt x="47" y="0"/>
                  </a:cubicBezTo>
                  <a:cubicBezTo>
                    <a:pt x="44" y="0"/>
                    <a:pt x="42" y="3"/>
                    <a:pt x="42" y="5"/>
                  </a:cubicBezTo>
                  <a:cubicBezTo>
                    <a:pt x="42" y="9"/>
                    <a:pt x="42" y="9"/>
                    <a:pt x="42" y="9"/>
                  </a:cubicBezTo>
                  <a:cubicBezTo>
                    <a:pt x="42" y="12"/>
                    <a:pt x="40" y="15"/>
                    <a:pt x="38" y="15"/>
                  </a:cubicBezTo>
                  <a:cubicBezTo>
                    <a:pt x="36" y="16"/>
                    <a:pt x="29" y="17"/>
                    <a:pt x="27" y="15"/>
                  </a:cubicBezTo>
                  <a:cubicBezTo>
                    <a:pt x="25" y="13"/>
                    <a:pt x="25" y="13"/>
                    <a:pt x="25" y="13"/>
                  </a:cubicBezTo>
                  <a:cubicBezTo>
                    <a:pt x="23" y="11"/>
                    <a:pt x="20" y="11"/>
                    <a:pt x="18" y="13"/>
                  </a:cubicBezTo>
                  <a:cubicBezTo>
                    <a:pt x="12" y="18"/>
                    <a:pt x="12" y="18"/>
                    <a:pt x="12" y="18"/>
                  </a:cubicBezTo>
                  <a:cubicBezTo>
                    <a:pt x="10" y="20"/>
                    <a:pt x="10" y="23"/>
                    <a:pt x="12" y="25"/>
                  </a:cubicBezTo>
                  <a:cubicBezTo>
                    <a:pt x="15" y="28"/>
                    <a:pt x="15" y="28"/>
                    <a:pt x="15" y="28"/>
                  </a:cubicBezTo>
                  <a:cubicBezTo>
                    <a:pt x="17" y="30"/>
                    <a:pt x="18" y="33"/>
                    <a:pt x="17" y="35"/>
                  </a:cubicBezTo>
                  <a:cubicBezTo>
                    <a:pt x="16" y="37"/>
                    <a:pt x="12" y="42"/>
                    <a:pt x="9" y="42"/>
                  </a:cubicBezTo>
                  <a:cubicBezTo>
                    <a:pt x="5" y="42"/>
                    <a:pt x="5" y="42"/>
                    <a:pt x="5" y="42"/>
                  </a:cubicBezTo>
                  <a:cubicBezTo>
                    <a:pt x="2" y="42"/>
                    <a:pt x="0" y="45"/>
                    <a:pt x="0" y="47"/>
                  </a:cubicBezTo>
                  <a:cubicBezTo>
                    <a:pt x="0" y="55"/>
                    <a:pt x="0" y="55"/>
                    <a:pt x="0" y="55"/>
                  </a:cubicBezTo>
                  <a:cubicBezTo>
                    <a:pt x="0" y="58"/>
                    <a:pt x="2" y="60"/>
                    <a:pt x="5" y="60"/>
                  </a:cubicBezTo>
                  <a:cubicBezTo>
                    <a:pt x="9" y="60"/>
                    <a:pt x="9" y="60"/>
                    <a:pt x="9" y="60"/>
                  </a:cubicBezTo>
                  <a:cubicBezTo>
                    <a:pt x="12" y="60"/>
                    <a:pt x="14" y="62"/>
                    <a:pt x="15" y="64"/>
                  </a:cubicBezTo>
                  <a:cubicBezTo>
                    <a:pt x="16" y="66"/>
                    <a:pt x="17" y="73"/>
                    <a:pt x="15" y="75"/>
                  </a:cubicBezTo>
                  <a:cubicBezTo>
                    <a:pt x="12" y="77"/>
                    <a:pt x="12" y="77"/>
                    <a:pt x="12" y="77"/>
                  </a:cubicBezTo>
                  <a:cubicBezTo>
                    <a:pt x="10" y="79"/>
                    <a:pt x="10" y="82"/>
                    <a:pt x="12" y="84"/>
                  </a:cubicBezTo>
                  <a:cubicBezTo>
                    <a:pt x="18" y="90"/>
                    <a:pt x="18" y="90"/>
                    <a:pt x="18" y="90"/>
                  </a:cubicBezTo>
                  <a:cubicBezTo>
                    <a:pt x="20" y="92"/>
                    <a:pt x="23" y="92"/>
                    <a:pt x="25" y="90"/>
                  </a:cubicBezTo>
                  <a:cubicBezTo>
                    <a:pt x="27" y="87"/>
                    <a:pt x="27" y="87"/>
                    <a:pt x="27" y="87"/>
                  </a:cubicBezTo>
                  <a:cubicBezTo>
                    <a:pt x="29" y="85"/>
                    <a:pt x="33" y="84"/>
                    <a:pt x="35" y="85"/>
                  </a:cubicBezTo>
                  <a:cubicBezTo>
                    <a:pt x="37" y="86"/>
                    <a:pt x="42" y="90"/>
                    <a:pt x="42" y="93"/>
                  </a:cubicBezTo>
                  <a:cubicBezTo>
                    <a:pt x="42" y="97"/>
                    <a:pt x="42" y="97"/>
                    <a:pt x="42" y="97"/>
                  </a:cubicBezTo>
                  <a:cubicBezTo>
                    <a:pt x="42" y="100"/>
                    <a:pt x="44" y="102"/>
                    <a:pt x="47" y="102"/>
                  </a:cubicBezTo>
                  <a:cubicBezTo>
                    <a:pt x="55" y="102"/>
                    <a:pt x="55" y="102"/>
                    <a:pt x="55" y="102"/>
                  </a:cubicBezTo>
                  <a:cubicBezTo>
                    <a:pt x="57" y="102"/>
                    <a:pt x="60" y="100"/>
                    <a:pt x="60" y="97"/>
                  </a:cubicBezTo>
                  <a:cubicBezTo>
                    <a:pt x="60" y="93"/>
                    <a:pt x="60" y="93"/>
                    <a:pt x="60" y="93"/>
                  </a:cubicBezTo>
                  <a:cubicBezTo>
                    <a:pt x="60" y="90"/>
                    <a:pt x="61" y="88"/>
                    <a:pt x="64" y="87"/>
                  </a:cubicBezTo>
                  <a:cubicBezTo>
                    <a:pt x="66" y="86"/>
                    <a:pt x="72" y="85"/>
                    <a:pt x="74" y="87"/>
                  </a:cubicBezTo>
                  <a:cubicBezTo>
                    <a:pt x="77" y="90"/>
                    <a:pt x="77" y="90"/>
                    <a:pt x="77" y="90"/>
                  </a:cubicBezTo>
                  <a:cubicBezTo>
                    <a:pt x="79" y="92"/>
                    <a:pt x="82" y="92"/>
                    <a:pt x="84" y="90"/>
                  </a:cubicBezTo>
                  <a:cubicBezTo>
                    <a:pt x="89" y="84"/>
                    <a:pt x="89" y="84"/>
                    <a:pt x="89" y="84"/>
                  </a:cubicBezTo>
                  <a:cubicBezTo>
                    <a:pt x="91" y="82"/>
                    <a:pt x="91" y="79"/>
                    <a:pt x="89" y="77"/>
                  </a:cubicBezTo>
                  <a:cubicBezTo>
                    <a:pt x="87" y="75"/>
                    <a:pt x="87" y="75"/>
                    <a:pt x="87" y="75"/>
                  </a:cubicBezTo>
                  <a:cubicBezTo>
                    <a:pt x="85" y="73"/>
                    <a:pt x="84" y="69"/>
                    <a:pt x="85" y="67"/>
                  </a:cubicBezTo>
                  <a:cubicBezTo>
                    <a:pt x="86" y="65"/>
                    <a:pt x="90" y="60"/>
                    <a:pt x="93" y="60"/>
                  </a:cubicBezTo>
                  <a:cubicBezTo>
                    <a:pt x="97" y="60"/>
                    <a:pt x="97" y="60"/>
                    <a:pt x="97" y="60"/>
                  </a:cubicBezTo>
                  <a:cubicBezTo>
                    <a:pt x="99" y="60"/>
                    <a:pt x="102" y="58"/>
                    <a:pt x="102" y="55"/>
                  </a:cubicBezTo>
                  <a:cubicBezTo>
                    <a:pt x="102" y="47"/>
                    <a:pt x="102" y="47"/>
                    <a:pt x="102" y="47"/>
                  </a:cubicBezTo>
                  <a:cubicBezTo>
                    <a:pt x="102" y="45"/>
                    <a:pt x="99" y="42"/>
                    <a:pt x="97" y="42"/>
                  </a:cubicBezTo>
                  <a:cubicBezTo>
                    <a:pt x="93" y="42"/>
                    <a:pt x="93" y="42"/>
                    <a:pt x="93" y="42"/>
                  </a:cubicBezTo>
                  <a:cubicBezTo>
                    <a:pt x="90" y="42"/>
                    <a:pt x="87" y="41"/>
                    <a:pt x="87" y="38"/>
                  </a:cubicBezTo>
                  <a:cubicBezTo>
                    <a:pt x="86" y="36"/>
                    <a:pt x="85" y="30"/>
                    <a:pt x="87" y="28"/>
                  </a:cubicBezTo>
                  <a:lnTo>
                    <a:pt x="89" y="25"/>
                  </a:lnTo>
                  <a:close/>
                  <a:moveTo>
                    <a:pt x="69" y="69"/>
                  </a:moveTo>
                  <a:cubicBezTo>
                    <a:pt x="59" y="79"/>
                    <a:pt x="43" y="79"/>
                    <a:pt x="33" y="69"/>
                  </a:cubicBezTo>
                  <a:cubicBezTo>
                    <a:pt x="23" y="59"/>
                    <a:pt x="23" y="43"/>
                    <a:pt x="33" y="33"/>
                  </a:cubicBezTo>
                  <a:cubicBezTo>
                    <a:pt x="43" y="23"/>
                    <a:pt x="59" y="23"/>
                    <a:pt x="69" y="33"/>
                  </a:cubicBezTo>
                  <a:cubicBezTo>
                    <a:pt x="79" y="43"/>
                    <a:pt x="79" y="59"/>
                    <a:pt x="69" y="69"/>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5398" name="Freeform 1000"/>
            <p:cNvSpPr/>
            <p:nvPr/>
          </p:nvSpPr>
          <p:spPr bwMode="auto">
            <a:xfrm>
              <a:off x="6504806" y="4913842"/>
              <a:ext cx="211138" cy="209550"/>
            </a:xfrm>
            <a:custGeom>
              <a:avLst/>
              <a:gdLst>
                <a:gd name="T0" fmla="*/ 46 w 56"/>
                <a:gd name="T1" fmla="*/ 46 h 56"/>
                <a:gd name="T2" fmla="*/ 10 w 56"/>
                <a:gd name="T3" fmla="*/ 46 h 56"/>
                <a:gd name="T4" fmla="*/ 10 w 56"/>
                <a:gd name="T5" fmla="*/ 10 h 56"/>
                <a:gd name="T6" fmla="*/ 46 w 56"/>
                <a:gd name="T7" fmla="*/ 10 h 56"/>
                <a:gd name="T8" fmla="*/ 46 w 56"/>
                <a:gd name="T9" fmla="*/ 46 h 56"/>
              </a:gdLst>
              <a:ahLst/>
              <a:cxnLst>
                <a:cxn ang="0">
                  <a:pos x="T0" y="T1"/>
                </a:cxn>
                <a:cxn ang="0">
                  <a:pos x="T2" y="T3"/>
                </a:cxn>
                <a:cxn ang="0">
                  <a:pos x="T4" y="T5"/>
                </a:cxn>
                <a:cxn ang="0">
                  <a:pos x="T6" y="T7"/>
                </a:cxn>
                <a:cxn ang="0">
                  <a:pos x="T8" y="T9"/>
                </a:cxn>
              </a:cxnLst>
              <a:rect l="0" t="0" r="r" b="b"/>
              <a:pathLst>
                <a:path w="56" h="56">
                  <a:moveTo>
                    <a:pt x="46" y="46"/>
                  </a:moveTo>
                  <a:cubicBezTo>
                    <a:pt x="36" y="56"/>
                    <a:pt x="20" y="56"/>
                    <a:pt x="10" y="46"/>
                  </a:cubicBezTo>
                  <a:cubicBezTo>
                    <a:pt x="0" y="36"/>
                    <a:pt x="0" y="20"/>
                    <a:pt x="10" y="10"/>
                  </a:cubicBezTo>
                  <a:cubicBezTo>
                    <a:pt x="20" y="0"/>
                    <a:pt x="36" y="0"/>
                    <a:pt x="46" y="10"/>
                  </a:cubicBezTo>
                  <a:cubicBezTo>
                    <a:pt x="56" y="20"/>
                    <a:pt x="56" y="36"/>
                    <a:pt x="46" y="4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061" name="Freeform 986"/>
            <p:cNvSpPr/>
            <p:nvPr/>
          </p:nvSpPr>
          <p:spPr bwMode="auto">
            <a:xfrm>
              <a:off x="5915103" y="4334933"/>
              <a:ext cx="593412" cy="590021"/>
            </a:xfrm>
            <a:custGeom>
              <a:avLst/>
              <a:gdLst>
                <a:gd name="T0" fmla="*/ 219 w 222"/>
                <a:gd name="T1" fmla="*/ 221 h 221"/>
                <a:gd name="T2" fmla="*/ 217 w 222"/>
                <a:gd name="T3" fmla="*/ 220 h 221"/>
                <a:gd name="T4" fmla="*/ 2 w 222"/>
                <a:gd name="T5" fmla="*/ 5 h 221"/>
                <a:gd name="T6" fmla="*/ 2 w 222"/>
                <a:gd name="T7" fmla="*/ 1 h 221"/>
                <a:gd name="T8" fmla="*/ 6 w 222"/>
                <a:gd name="T9" fmla="*/ 1 h 221"/>
                <a:gd name="T10" fmla="*/ 221 w 222"/>
                <a:gd name="T11" fmla="*/ 216 h 221"/>
                <a:gd name="T12" fmla="*/ 221 w 222"/>
                <a:gd name="T13" fmla="*/ 220 h 221"/>
                <a:gd name="T14" fmla="*/ 219 w 222"/>
                <a:gd name="T15" fmla="*/ 221 h 2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 h="221">
                  <a:moveTo>
                    <a:pt x="219" y="221"/>
                  </a:moveTo>
                  <a:cubicBezTo>
                    <a:pt x="218" y="221"/>
                    <a:pt x="217" y="221"/>
                    <a:pt x="217" y="220"/>
                  </a:cubicBezTo>
                  <a:cubicBezTo>
                    <a:pt x="2" y="5"/>
                    <a:pt x="2" y="5"/>
                    <a:pt x="2" y="5"/>
                  </a:cubicBezTo>
                  <a:cubicBezTo>
                    <a:pt x="0" y="4"/>
                    <a:pt x="0" y="2"/>
                    <a:pt x="2" y="1"/>
                  </a:cubicBezTo>
                  <a:cubicBezTo>
                    <a:pt x="3" y="0"/>
                    <a:pt x="5" y="0"/>
                    <a:pt x="6" y="1"/>
                  </a:cubicBezTo>
                  <a:cubicBezTo>
                    <a:pt x="221" y="216"/>
                    <a:pt x="221" y="216"/>
                    <a:pt x="221" y="216"/>
                  </a:cubicBezTo>
                  <a:cubicBezTo>
                    <a:pt x="222" y="217"/>
                    <a:pt x="222" y="219"/>
                    <a:pt x="221" y="220"/>
                  </a:cubicBezTo>
                  <a:cubicBezTo>
                    <a:pt x="221" y="221"/>
                    <a:pt x="220" y="221"/>
                    <a:pt x="219" y="221"/>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grpSp>
      <p:grpSp>
        <p:nvGrpSpPr>
          <p:cNvPr id="11" name="组合 10"/>
          <p:cNvGrpSpPr/>
          <p:nvPr/>
        </p:nvGrpSpPr>
        <p:grpSpPr>
          <a:xfrm>
            <a:off x="706801" y="5209119"/>
            <a:ext cx="4183834" cy="1326515"/>
            <a:chOff x="705939" y="5209118"/>
            <a:chExt cx="4184379" cy="1326515"/>
          </a:xfrm>
        </p:grpSpPr>
        <p:grpSp>
          <p:nvGrpSpPr>
            <p:cNvPr id="7338" name="组合 7337"/>
            <p:cNvGrpSpPr/>
            <p:nvPr/>
          </p:nvGrpSpPr>
          <p:grpSpPr>
            <a:xfrm>
              <a:off x="4436293" y="5329767"/>
              <a:ext cx="454025" cy="303213"/>
              <a:chOff x="4478867" y="5329767"/>
              <a:chExt cx="454025" cy="303213"/>
            </a:xfrm>
            <a:solidFill>
              <a:schemeClr val="accent1"/>
            </a:solidFill>
          </p:grpSpPr>
          <p:sp>
            <p:nvSpPr>
              <p:cNvPr id="5411" name="Freeform 1013"/>
              <p:cNvSpPr/>
              <p:nvPr/>
            </p:nvSpPr>
            <p:spPr bwMode="auto">
              <a:xfrm>
                <a:off x="4478867" y="5329767"/>
                <a:ext cx="322263" cy="255588"/>
              </a:xfrm>
              <a:custGeom>
                <a:avLst/>
                <a:gdLst>
                  <a:gd name="T0" fmla="*/ 43 w 86"/>
                  <a:gd name="T1" fmla="*/ 0 h 68"/>
                  <a:gd name="T2" fmla="*/ 0 w 86"/>
                  <a:gd name="T3" fmla="*/ 33 h 68"/>
                  <a:gd name="T4" fmla="*/ 16 w 86"/>
                  <a:gd name="T5" fmla="*/ 58 h 68"/>
                  <a:gd name="T6" fmla="*/ 5 w 86"/>
                  <a:gd name="T7" fmla="*/ 68 h 68"/>
                  <a:gd name="T8" fmla="*/ 24 w 86"/>
                  <a:gd name="T9" fmla="*/ 62 h 68"/>
                  <a:gd name="T10" fmla="*/ 43 w 86"/>
                  <a:gd name="T11" fmla="*/ 66 h 68"/>
                  <a:gd name="T12" fmla="*/ 86 w 86"/>
                  <a:gd name="T13" fmla="*/ 33 h 68"/>
                  <a:gd name="T14" fmla="*/ 43 w 86"/>
                  <a:gd name="T15" fmla="*/ 0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68">
                    <a:moveTo>
                      <a:pt x="43" y="0"/>
                    </a:moveTo>
                    <a:cubicBezTo>
                      <a:pt x="19" y="0"/>
                      <a:pt x="0" y="15"/>
                      <a:pt x="0" y="33"/>
                    </a:cubicBezTo>
                    <a:cubicBezTo>
                      <a:pt x="0" y="43"/>
                      <a:pt x="6" y="52"/>
                      <a:pt x="16" y="58"/>
                    </a:cubicBezTo>
                    <a:cubicBezTo>
                      <a:pt x="11" y="65"/>
                      <a:pt x="5" y="68"/>
                      <a:pt x="5" y="68"/>
                    </a:cubicBezTo>
                    <a:cubicBezTo>
                      <a:pt x="13" y="66"/>
                      <a:pt x="19" y="65"/>
                      <a:pt x="24" y="62"/>
                    </a:cubicBezTo>
                    <a:cubicBezTo>
                      <a:pt x="30" y="65"/>
                      <a:pt x="36" y="66"/>
                      <a:pt x="43" y="66"/>
                    </a:cubicBezTo>
                    <a:cubicBezTo>
                      <a:pt x="67" y="66"/>
                      <a:pt x="86" y="51"/>
                      <a:pt x="86" y="33"/>
                    </a:cubicBezTo>
                    <a:cubicBezTo>
                      <a:pt x="86" y="15"/>
                      <a:pt x="67" y="0"/>
                      <a:pt x="4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412" name="Freeform 1014"/>
              <p:cNvSpPr/>
              <p:nvPr/>
            </p:nvSpPr>
            <p:spPr bwMode="auto">
              <a:xfrm>
                <a:off x="4729692" y="5464705"/>
                <a:ext cx="203200" cy="168275"/>
              </a:xfrm>
              <a:custGeom>
                <a:avLst/>
                <a:gdLst>
                  <a:gd name="T0" fmla="*/ 44 w 54"/>
                  <a:gd name="T1" fmla="*/ 38 h 45"/>
                  <a:gd name="T2" fmla="*/ 54 w 54"/>
                  <a:gd name="T3" fmla="*/ 22 h 45"/>
                  <a:gd name="T4" fmla="*/ 26 w 54"/>
                  <a:gd name="T5" fmla="*/ 0 h 45"/>
                  <a:gd name="T6" fmla="*/ 24 w 54"/>
                  <a:gd name="T7" fmla="*/ 0 h 45"/>
                  <a:gd name="T8" fmla="*/ 0 w 54"/>
                  <a:gd name="T9" fmla="*/ 30 h 45"/>
                  <a:gd name="T10" fmla="*/ 26 w 54"/>
                  <a:gd name="T11" fmla="*/ 43 h 45"/>
                  <a:gd name="T12" fmla="*/ 38 w 54"/>
                  <a:gd name="T13" fmla="*/ 41 h 45"/>
                  <a:gd name="T14" fmla="*/ 51 w 54"/>
                  <a:gd name="T15" fmla="*/ 45 h 45"/>
                  <a:gd name="T16" fmla="*/ 44 w 54"/>
                  <a:gd name="T17" fmla="*/ 3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45">
                    <a:moveTo>
                      <a:pt x="44" y="38"/>
                    </a:moveTo>
                    <a:cubicBezTo>
                      <a:pt x="50" y="34"/>
                      <a:pt x="54" y="28"/>
                      <a:pt x="54" y="22"/>
                    </a:cubicBezTo>
                    <a:cubicBezTo>
                      <a:pt x="54" y="10"/>
                      <a:pt x="41" y="0"/>
                      <a:pt x="26" y="0"/>
                    </a:cubicBezTo>
                    <a:cubicBezTo>
                      <a:pt x="25" y="0"/>
                      <a:pt x="25" y="0"/>
                      <a:pt x="24" y="0"/>
                    </a:cubicBezTo>
                    <a:cubicBezTo>
                      <a:pt x="23" y="13"/>
                      <a:pt x="14" y="24"/>
                      <a:pt x="0" y="30"/>
                    </a:cubicBezTo>
                    <a:cubicBezTo>
                      <a:pt x="4" y="38"/>
                      <a:pt x="14" y="43"/>
                      <a:pt x="26" y="43"/>
                    </a:cubicBezTo>
                    <a:cubicBezTo>
                      <a:pt x="30" y="43"/>
                      <a:pt x="35" y="42"/>
                      <a:pt x="38" y="41"/>
                    </a:cubicBezTo>
                    <a:cubicBezTo>
                      <a:pt x="42" y="42"/>
                      <a:pt x="46" y="44"/>
                      <a:pt x="51" y="45"/>
                    </a:cubicBezTo>
                    <a:cubicBezTo>
                      <a:pt x="51" y="45"/>
                      <a:pt x="47" y="43"/>
                      <a:pt x="44"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sp>
          <p:nvSpPr>
            <p:cNvPr id="1071" name="Rectangle 9"/>
            <p:cNvSpPr/>
            <p:nvPr/>
          </p:nvSpPr>
          <p:spPr>
            <a:xfrm>
              <a:off x="705939" y="5209118"/>
              <a:ext cx="3618435" cy="1326515"/>
            </a:xfrm>
            <a:prstGeom prst="rect">
              <a:avLst/>
            </a:prstGeom>
          </p:spPr>
          <p:txBody>
            <a:bodyPr wrap="square">
              <a:spAutoFit/>
            </a:bodyPr>
            <a:lstStyle/>
            <a:p>
              <a:pPr algn="r">
                <a:lnSpc>
                  <a:spcPct val="130000"/>
                </a:lnSpc>
              </a:pPr>
              <a:r>
                <a:rPr lang="zh-CN" altLang="en-US" sz="1100" b="1" dirty="0">
                  <a:solidFill>
                    <a:schemeClr val="tx1">
                      <a:lumMod val="65000"/>
                      <a:lumOff val="35000"/>
                    </a:schemeClr>
                  </a:solidFill>
                  <a:cs typeface="+mn-ea"/>
                  <a:sym typeface="+mn-lt"/>
                </a:rPr>
                <a:t>观察自然出单情况，拒绝盲目刷单</a:t>
              </a:r>
              <a:endParaRPr lang="en-US" altLang="zh-CN" sz="1100" b="1" dirty="0">
                <a:solidFill>
                  <a:schemeClr val="tx1">
                    <a:lumMod val="65000"/>
                    <a:lumOff val="35000"/>
                  </a:schemeClr>
                </a:solidFill>
                <a:cs typeface="+mn-ea"/>
                <a:sym typeface="+mn-lt"/>
              </a:endParaRPr>
            </a:p>
            <a:p>
              <a:pPr algn="r"/>
              <a:r>
                <a:rPr lang="zh-CN" altLang="en-US" sz="1100" dirty="0">
                  <a:solidFill>
                    <a:schemeClr val="tx1">
                      <a:lumMod val="60000"/>
                      <a:lumOff val="40000"/>
                    </a:schemeClr>
                  </a:solidFill>
                  <a:cs typeface="+mn-ea"/>
                  <a:sym typeface="+mn-lt"/>
                </a:rPr>
                <a:t>比如：产品单价是</a:t>
              </a:r>
              <a:r>
                <a:rPr lang="en-US" altLang="zh-CN" sz="1100" dirty="0">
                  <a:solidFill>
                    <a:schemeClr val="tx1">
                      <a:lumMod val="60000"/>
                      <a:lumOff val="40000"/>
                    </a:schemeClr>
                  </a:solidFill>
                  <a:cs typeface="+mn-ea"/>
                  <a:sym typeface="+mn-lt"/>
                </a:rPr>
                <a:t>65</a:t>
              </a:r>
              <a:r>
                <a:rPr lang="zh-CN" altLang="en-US" sz="1100" dirty="0">
                  <a:solidFill>
                    <a:schemeClr val="tx1">
                      <a:lumMod val="60000"/>
                      <a:lumOff val="40000"/>
                    </a:schemeClr>
                  </a:solidFill>
                  <a:cs typeface="+mn-ea"/>
                  <a:sym typeface="+mn-lt"/>
                </a:rPr>
                <a:t>元，售价为</a:t>
              </a:r>
              <a:r>
                <a:rPr lang="en-US" altLang="zh-CN" sz="1100" dirty="0">
                  <a:solidFill>
                    <a:schemeClr val="tx1">
                      <a:lumMod val="60000"/>
                      <a:lumOff val="40000"/>
                    </a:schemeClr>
                  </a:solidFill>
                  <a:cs typeface="+mn-ea"/>
                  <a:sym typeface="+mn-lt"/>
                </a:rPr>
                <a:t>33.79usd </a:t>
              </a:r>
              <a:r>
                <a:rPr lang="zh-CN" altLang="en-US" sz="1100" dirty="0">
                  <a:solidFill>
                    <a:schemeClr val="tx1">
                      <a:lumMod val="60000"/>
                      <a:lumOff val="40000"/>
                    </a:schemeClr>
                  </a:solidFill>
                  <a:cs typeface="+mn-ea"/>
                  <a:sym typeface="+mn-lt"/>
                </a:rPr>
                <a:t>利润为</a:t>
              </a:r>
              <a:r>
                <a:rPr lang="en-US" altLang="zh-CN" sz="1100" dirty="0">
                  <a:solidFill>
                    <a:schemeClr val="tx1">
                      <a:lumMod val="60000"/>
                      <a:lumOff val="40000"/>
                    </a:schemeClr>
                  </a:solidFill>
                  <a:cs typeface="+mn-ea"/>
                  <a:sym typeface="+mn-lt"/>
                </a:rPr>
                <a:t>40%</a:t>
              </a:r>
              <a:endParaRPr lang="en-US" altLang="zh-CN" sz="1100" dirty="0">
                <a:solidFill>
                  <a:schemeClr val="tx1">
                    <a:lumMod val="60000"/>
                    <a:lumOff val="40000"/>
                  </a:schemeClr>
                </a:solidFill>
                <a:cs typeface="+mn-ea"/>
                <a:sym typeface="+mn-lt"/>
              </a:endParaRPr>
            </a:p>
            <a:p>
              <a:pPr algn="r"/>
              <a:r>
                <a:rPr lang="zh-CN" altLang="en-US" sz="1100" dirty="0">
                  <a:solidFill>
                    <a:schemeClr val="tx1">
                      <a:lumMod val="60000"/>
                      <a:lumOff val="40000"/>
                    </a:schemeClr>
                  </a:solidFill>
                  <a:cs typeface="+mn-ea"/>
                  <a:sym typeface="+mn-lt"/>
                </a:rPr>
                <a:t>那么一天送四单，优惠金额</a:t>
              </a:r>
              <a:r>
                <a:rPr lang="en-US" altLang="zh-CN" sz="1100" dirty="0">
                  <a:solidFill>
                    <a:schemeClr val="tx1">
                      <a:lumMod val="60000"/>
                      <a:lumOff val="40000"/>
                    </a:schemeClr>
                  </a:solidFill>
                  <a:cs typeface="+mn-ea"/>
                  <a:sym typeface="+mn-lt"/>
                </a:rPr>
                <a:t>29</a:t>
              </a:r>
              <a:r>
                <a:rPr lang="zh-CN" altLang="en-US" sz="1100" dirty="0">
                  <a:solidFill>
                    <a:schemeClr val="tx1">
                      <a:lumMod val="60000"/>
                      <a:lumOff val="40000"/>
                    </a:schemeClr>
                  </a:solidFill>
                  <a:cs typeface="+mn-ea"/>
                  <a:sym typeface="+mn-lt"/>
                </a:rPr>
                <a:t>美金，客户需付款</a:t>
              </a:r>
              <a:r>
                <a:rPr lang="en-US" altLang="zh-CN" sz="1100" dirty="0">
                  <a:solidFill>
                    <a:schemeClr val="tx1">
                      <a:lumMod val="60000"/>
                      <a:lumOff val="40000"/>
                    </a:schemeClr>
                  </a:solidFill>
                  <a:cs typeface="+mn-ea"/>
                  <a:sym typeface="+mn-lt"/>
                </a:rPr>
                <a:t>4.79</a:t>
              </a:r>
              <a:endParaRPr lang="en-US" altLang="zh-CN" sz="1100" dirty="0">
                <a:solidFill>
                  <a:schemeClr val="tx1">
                    <a:lumMod val="60000"/>
                    <a:lumOff val="40000"/>
                  </a:schemeClr>
                </a:solidFill>
                <a:cs typeface="+mn-ea"/>
                <a:sym typeface="+mn-lt"/>
              </a:endParaRPr>
            </a:p>
            <a:p>
              <a:pPr algn="r"/>
              <a:r>
                <a:rPr lang="zh-CN" altLang="en-US" sz="1100" dirty="0">
                  <a:solidFill>
                    <a:schemeClr val="tx1">
                      <a:lumMod val="60000"/>
                      <a:lumOff val="40000"/>
                    </a:schemeClr>
                  </a:solidFill>
                  <a:cs typeface="+mn-ea"/>
                  <a:sym typeface="+mn-lt"/>
                </a:rPr>
                <a:t>那么一天将亏损</a:t>
              </a:r>
              <a:r>
                <a:rPr lang="en-US" altLang="zh-CN" sz="1100" dirty="0">
                  <a:solidFill>
                    <a:schemeClr val="tx1">
                      <a:lumMod val="60000"/>
                      <a:lumOff val="40000"/>
                    </a:schemeClr>
                  </a:solidFill>
                  <a:cs typeface="+mn-ea"/>
                  <a:sym typeface="+mn-lt"/>
                </a:rPr>
                <a:t>400</a:t>
              </a:r>
              <a:r>
                <a:rPr lang="zh-CN" altLang="en-US" sz="1100" dirty="0">
                  <a:solidFill>
                    <a:schemeClr val="tx1">
                      <a:lumMod val="60000"/>
                      <a:lumOff val="40000"/>
                    </a:schemeClr>
                  </a:solidFill>
                  <a:cs typeface="+mn-ea"/>
                  <a:sym typeface="+mn-lt"/>
                </a:rPr>
                <a:t>元左右，如果带来自然出单</a:t>
              </a:r>
              <a:r>
                <a:rPr lang="en-US" altLang="zh-CN" sz="1100" dirty="0">
                  <a:solidFill>
                    <a:schemeClr val="tx1">
                      <a:lumMod val="60000"/>
                      <a:lumOff val="40000"/>
                    </a:schemeClr>
                  </a:solidFill>
                  <a:cs typeface="+mn-ea"/>
                  <a:sym typeface="+mn-lt"/>
                </a:rPr>
                <a:t>2</a:t>
              </a:r>
              <a:r>
                <a:rPr lang="zh-CN" altLang="en-US" sz="1100" dirty="0">
                  <a:solidFill>
                    <a:schemeClr val="tx1">
                      <a:lumMod val="60000"/>
                      <a:lumOff val="40000"/>
                    </a:schemeClr>
                  </a:solidFill>
                  <a:cs typeface="+mn-ea"/>
                  <a:sym typeface="+mn-lt"/>
                </a:rPr>
                <a:t>，</a:t>
              </a:r>
              <a:endParaRPr lang="zh-CN" altLang="en-US" sz="1100" dirty="0">
                <a:solidFill>
                  <a:schemeClr val="tx1">
                    <a:lumMod val="60000"/>
                    <a:lumOff val="40000"/>
                  </a:schemeClr>
                </a:solidFill>
                <a:cs typeface="+mn-ea"/>
                <a:sym typeface="+mn-lt"/>
              </a:endParaRPr>
            </a:p>
            <a:p>
              <a:pPr algn="r"/>
              <a:r>
                <a:rPr lang="zh-CN" altLang="en-US" sz="1100" dirty="0">
                  <a:solidFill>
                    <a:schemeClr val="tx1">
                      <a:lumMod val="60000"/>
                      <a:lumOff val="40000"/>
                    </a:schemeClr>
                  </a:solidFill>
                  <a:cs typeface="+mn-ea"/>
                  <a:sym typeface="+mn-lt"/>
                </a:rPr>
                <a:t>一天的金额亏损就是</a:t>
              </a:r>
              <a:r>
                <a:rPr lang="en-US" altLang="zh-CN" sz="1100" dirty="0">
                  <a:solidFill>
                    <a:schemeClr val="tx1">
                      <a:lumMod val="60000"/>
                      <a:lumOff val="40000"/>
                    </a:schemeClr>
                  </a:solidFill>
                  <a:cs typeface="+mn-ea"/>
                  <a:sym typeface="+mn-lt"/>
                </a:rPr>
                <a:t>200</a:t>
              </a:r>
              <a:r>
                <a:rPr lang="zh-CN" altLang="en-US" sz="1100" dirty="0">
                  <a:solidFill>
                    <a:schemeClr val="tx1">
                      <a:lumMod val="60000"/>
                      <a:lumOff val="40000"/>
                    </a:schemeClr>
                  </a:solidFill>
                  <a:cs typeface="+mn-ea"/>
                  <a:sym typeface="+mn-lt"/>
                </a:rPr>
                <a:t>元左右</a:t>
              </a:r>
              <a:endParaRPr lang="zh-CN" altLang="en-US" sz="1100" dirty="0">
                <a:solidFill>
                  <a:schemeClr val="tx1">
                    <a:lumMod val="60000"/>
                    <a:lumOff val="40000"/>
                  </a:schemeClr>
                </a:solidFill>
                <a:cs typeface="+mn-ea"/>
                <a:sym typeface="+mn-lt"/>
              </a:endParaRPr>
            </a:p>
            <a:p>
              <a:pPr algn="r"/>
              <a:r>
                <a:rPr lang="zh-CN" altLang="en-US" sz="1100" dirty="0">
                  <a:solidFill>
                    <a:schemeClr val="tx1">
                      <a:lumMod val="60000"/>
                      <a:lumOff val="40000"/>
                    </a:schemeClr>
                  </a:solidFill>
                  <a:cs typeface="+mn-ea"/>
                  <a:sym typeface="+mn-lt"/>
                </a:rPr>
                <a:t>记住自己的排名和后台流量情况</a:t>
              </a:r>
              <a:endParaRPr lang="zh-CN" altLang="en-US" sz="1100" dirty="0">
                <a:solidFill>
                  <a:schemeClr val="tx1">
                    <a:lumMod val="60000"/>
                    <a:lumOff val="40000"/>
                  </a:schemeClr>
                </a:solidFill>
                <a:cs typeface="+mn-ea"/>
                <a:sym typeface="+mn-lt"/>
              </a:endParaRPr>
            </a:p>
            <a:p>
              <a:pPr algn="r"/>
              <a:endParaRPr lang="en-US" altLang="zh-CN" sz="1100" dirty="0">
                <a:solidFill>
                  <a:schemeClr val="tx1">
                    <a:lumMod val="60000"/>
                    <a:lumOff val="40000"/>
                  </a:schemeClr>
                </a:solidFill>
                <a:cs typeface="+mn-ea"/>
                <a:sym typeface="+mn-lt"/>
              </a:endParaRPr>
            </a:p>
          </p:txBody>
        </p:sp>
      </p:grpSp>
      <p:grpSp>
        <p:nvGrpSpPr>
          <p:cNvPr id="8" name="组合 7"/>
          <p:cNvGrpSpPr/>
          <p:nvPr/>
        </p:nvGrpSpPr>
        <p:grpSpPr>
          <a:xfrm>
            <a:off x="704373" y="3598252"/>
            <a:ext cx="4230706" cy="988060"/>
            <a:chOff x="703511" y="3598251"/>
            <a:chExt cx="4231257" cy="988060"/>
          </a:xfrm>
        </p:grpSpPr>
        <p:sp>
          <p:nvSpPr>
            <p:cNvPr id="5399" name="Freeform 1001"/>
            <p:cNvSpPr/>
            <p:nvPr/>
          </p:nvSpPr>
          <p:spPr bwMode="auto">
            <a:xfrm>
              <a:off x="4525193" y="3681942"/>
              <a:ext cx="409575" cy="357188"/>
            </a:xfrm>
            <a:custGeom>
              <a:avLst/>
              <a:gdLst>
                <a:gd name="T0" fmla="*/ 98 w 109"/>
                <a:gd name="T1" fmla="*/ 73 h 95"/>
                <a:gd name="T2" fmla="*/ 71 w 109"/>
                <a:gd name="T3" fmla="*/ 61 h 95"/>
                <a:gd name="T4" fmla="*/ 73 w 109"/>
                <a:gd name="T5" fmla="*/ 55 h 95"/>
                <a:gd name="T6" fmla="*/ 75 w 109"/>
                <a:gd name="T7" fmla="*/ 48 h 95"/>
                <a:gd name="T8" fmla="*/ 77 w 109"/>
                <a:gd name="T9" fmla="*/ 48 h 95"/>
                <a:gd name="T10" fmla="*/ 79 w 109"/>
                <a:gd name="T11" fmla="*/ 35 h 95"/>
                <a:gd name="T12" fmla="*/ 77 w 109"/>
                <a:gd name="T13" fmla="*/ 33 h 95"/>
                <a:gd name="T14" fmla="*/ 76 w 109"/>
                <a:gd name="T15" fmla="*/ 18 h 95"/>
                <a:gd name="T16" fmla="*/ 77 w 109"/>
                <a:gd name="T17" fmla="*/ 18 h 95"/>
                <a:gd name="T18" fmla="*/ 67 w 109"/>
                <a:gd name="T19" fmla="*/ 5 h 95"/>
                <a:gd name="T20" fmla="*/ 54 w 109"/>
                <a:gd name="T21" fmla="*/ 2 h 95"/>
                <a:gd name="T22" fmla="*/ 52 w 109"/>
                <a:gd name="T23" fmla="*/ 2 h 95"/>
                <a:gd name="T24" fmla="*/ 51 w 109"/>
                <a:gd name="T25" fmla="*/ 2 h 95"/>
                <a:gd name="T26" fmla="*/ 32 w 109"/>
                <a:gd name="T27" fmla="*/ 33 h 95"/>
                <a:gd name="T28" fmla="*/ 30 w 109"/>
                <a:gd name="T29" fmla="*/ 35 h 95"/>
                <a:gd name="T30" fmla="*/ 32 w 109"/>
                <a:gd name="T31" fmla="*/ 48 h 95"/>
                <a:gd name="T32" fmla="*/ 34 w 109"/>
                <a:gd name="T33" fmla="*/ 48 h 95"/>
                <a:gd name="T34" fmla="*/ 36 w 109"/>
                <a:gd name="T35" fmla="*/ 55 h 95"/>
                <a:gd name="T36" fmla="*/ 38 w 109"/>
                <a:gd name="T37" fmla="*/ 60 h 95"/>
                <a:gd name="T38" fmla="*/ 11 w 109"/>
                <a:gd name="T39" fmla="*/ 73 h 95"/>
                <a:gd name="T40" fmla="*/ 2 w 109"/>
                <a:gd name="T41" fmla="*/ 95 h 95"/>
                <a:gd name="T42" fmla="*/ 54 w 109"/>
                <a:gd name="T43" fmla="*/ 95 h 95"/>
                <a:gd name="T44" fmla="*/ 107 w 109"/>
                <a:gd name="T45" fmla="*/ 95 h 95"/>
                <a:gd name="T46" fmla="*/ 98 w 109"/>
                <a:gd name="T47" fmla="*/ 7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9" h="95">
                  <a:moveTo>
                    <a:pt x="98" y="73"/>
                  </a:moveTo>
                  <a:cubicBezTo>
                    <a:pt x="86" y="70"/>
                    <a:pt x="73" y="70"/>
                    <a:pt x="71" y="61"/>
                  </a:cubicBezTo>
                  <a:cubicBezTo>
                    <a:pt x="71" y="61"/>
                    <a:pt x="72" y="58"/>
                    <a:pt x="73" y="55"/>
                  </a:cubicBezTo>
                  <a:cubicBezTo>
                    <a:pt x="74" y="51"/>
                    <a:pt x="75" y="48"/>
                    <a:pt x="75" y="48"/>
                  </a:cubicBezTo>
                  <a:cubicBezTo>
                    <a:pt x="75" y="48"/>
                    <a:pt x="76" y="51"/>
                    <a:pt x="77" y="48"/>
                  </a:cubicBezTo>
                  <a:cubicBezTo>
                    <a:pt x="78" y="44"/>
                    <a:pt x="79" y="38"/>
                    <a:pt x="79" y="35"/>
                  </a:cubicBezTo>
                  <a:cubicBezTo>
                    <a:pt x="79" y="33"/>
                    <a:pt x="77" y="33"/>
                    <a:pt x="77" y="33"/>
                  </a:cubicBezTo>
                  <a:cubicBezTo>
                    <a:pt x="77" y="33"/>
                    <a:pt x="78" y="25"/>
                    <a:pt x="76" y="18"/>
                  </a:cubicBezTo>
                  <a:cubicBezTo>
                    <a:pt x="77" y="18"/>
                    <a:pt x="77" y="18"/>
                    <a:pt x="77" y="18"/>
                  </a:cubicBezTo>
                  <a:cubicBezTo>
                    <a:pt x="75" y="13"/>
                    <a:pt x="76" y="8"/>
                    <a:pt x="67" y="5"/>
                  </a:cubicBezTo>
                  <a:cubicBezTo>
                    <a:pt x="64" y="3"/>
                    <a:pt x="60" y="2"/>
                    <a:pt x="54" y="2"/>
                  </a:cubicBezTo>
                  <a:cubicBezTo>
                    <a:pt x="54" y="2"/>
                    <a:pt x="53" y="2"/>
                    <a:pt x="52" y="2"/>
                  </a:cubicBezTo>
                  <a:cubicBezTo>
                    <a:pt x="51" y="2"/>
                    <a:pt x="51" y="2"/>
                    <a:pt x="51" y="2"/>
                  </a:cubicBezTo>
                  <a:cubicBezTo>
                    <a:pt x="25" y="0"/>
                    <a:pt x="32" y="33"/>
                    <a:pt x="32" y="33"/>
                  </a:cubicBezTo>
                  <a:cubicBezTo>
                    <a:pt x="32" y="33"/>
                    <a:pt x="30" y="33"/>
                    <a:pt x="30" y="35"/>
                  </a:cubicBezTo>
                  <a:cubicBezTo>
                    <a:pt x="30" y="38"/>
                    <a:pt x="31" y="44"/>
                    <a:pt x="32" y="48"/>
                  </a:cubicBezTo>
                  <a:cubicBezTo>
                    <a:pt x="33" y="51"/>
                    <a:pt x="34" y="48"/>
                    <a:pt x="34" y="48"/>
                  </a:cubicBezTo>
                  <a:cubicBezTo>
                    <a:pt x="34" y="48"/>
                    <a:pt x="35" y="51"/>
                    <a:pt x="36" y="55"/>
                  </a:cubicBezTo>
                  <a:cubicBezTo>
                    <a:pt x="37" y="58"/>
                    <a:pt x="38" y="60"/>
                    <a:pt x="38" y="60"/>
                  </a:cubicBezTo>
                  <a:cubicBezTo>
                    <a:pt x="36" y="70"/>
                    <a:pt x="23" y="70"/>
                    <a:pt x="11" y="73"/>
                  </a:cubicBezTo>
                  <a:cubicBezTo>
                    <a:pt x="0" y="77"/>
                    <a:pt x="2" y="95"/>
                    <a:pt x="2" y="95"/>
                  </a:cubicBezTo>
                  <a:cubicBezTo>
                    <a:pt x="54" y="95"/>
                    <a:pt x="54" y="95"/>
                    <a:pt x="54" y="95"/>
                  </a:cubicBezTo>
                  <a:cubicBezTo>
                    <a:pt x="107" y="95"/>
                    <a:pt x="107" y="95"/>
                    <a:pt x="107" y="95"/>
                  </a:cubicBezTo>
                  <a:cubicBezTo>
                    <a:pt x="107" y="95"/>
                    <a:pt x="109" y="77"/>
                    <a:pt x="98" y="73"/>
                  </a:cubicBezTo>
                  <a:close/>
                </a:path>
              </a:pathLst>
            </a:custGeom>
            <a:solidFill>
              <a:schemeClr val="accent5"/>
            </a:solidFill>
            <a:ln>
              <a:noFill/>
            </a:ln>
          </p:spPr>
          <p:txBody>
            <a:bodyPr vert="horz" wrap="square" lIns="91440" tIns="45720" rIns="91440" bIns="45720" numCol="1" anchor="t" anchorCtr="0" compatLnSpc="1"/>
            <a:lstStyle/>
            <a:p>
              <a:endParaRPr lang="zh-CN" altLang="en-US">
                <a:cs typeface="+mn-ea"/>
                <a:sym typeface="+mn-lt"/>
              </a:endParaRPr>
            </a:p>
          </p:txBody>
        </p:sp>
        <p:sp>
          <p:nvSpPr>
            <p:cNvPr id="1072" name="Rectangle 9"/>
            <p:cNvSpPr/>
            <p:nvPr/>
          </p:nvSpPr>
          <p:spPr>
            <a:xfrm>
              <a:off x="703511" y="3598251"/>
              <a:ext cx="3618435" cy="988060"/>
            </a:xfrm>
            <a:prstGeom prst="rect">
              <a:avLst/>
            </a:prstGeom>
          </p:spPr>
          <p:txBody>
            <a:bodyPr wrap="square">
              <a:spAutoFit/>
            </a:bodyPr>
            <a:lstStyle/>
            <a:p>
              <a:pPr algn="r">
                <a:lnSpc>
                  <a:spcPct val="130000"/>
                </a:lnSpc>
              </a:pPr>
              <a:r>
                <a:rPr lang="en-US" altLang="zh-CN" sz="1100" b="1" dirty="0">
                  <a:solidFill>
                    <a:schemeClr val="tx1">
                      <a:lumMod val="65000"/>
                      <a:lumOff val="35000"/>
                    </a:schemeClr>
                  </a:solidFill>
                  <a:cs typeface="+mn-ea"/>
                  <a:sym typeface="+mn-lt"/>
                </a:rPr>
                <a:t>FBA</a:t>
              </a:r>
              <a:r>
                <a:rPr lang="zh-CN" altLang="en-US" sz="1100" b="1" dirty="0">
                  <a:solidFill>
                    <a:schemeClr val="tx1">
                      <a:lumMod val="65000"/>
                      <a:lumOff val="35000"/>
                    </a:schemeClr>
                  </a:solidFill>
                  <a:cs typeface="+mn-ea"/>
                  <a:sym typeface="+mn-lt"/>
                </a:rPr>
                <a:t>到货，开始回评</a:t>
              </a:r>
              <a:endParaRPr lang="zh-CN" altLang="en-US" sz="1100" b="1" dirty="0">
                <a:solidFill>
                  <a:schemeClr val="tx1">
                    <a:lumMod val="65000"/>
                    <a:lumOff val="35000"/>
                  </a:schemeClr>
                </a:solidFill>
                <a:cs typeface="+mn-ea"/>
                <a:sym typeface="+mn-lt"/>
              </a:endParaRPr>
            </a:p>
            <a:p>
              <a:pPr algn="r"/>
              <a:r>
                <a:rPr lang="zh-CN" altLang="en-US" sz="1100" dirty="0">
                  <a:solidFill>
                    <a:schemeClr val="tx1">
                      <a:lumMod val="60000"/>
                      <a:lumOff val="40000"/>
                    </a:schemeClr>
                  </a:solidFill>
                  <a:cs typeface="+mn-ea"/>
                  <a:sym typeface="+mn-lt"/>
                </a:rPr>
                <a:t>马上打广告，自动 手动一起打，一周之后下载报表优化</a:t>
              </a:r>
              <a:endParaRPr lang="zh-CN" altLang="en-US" sz="1100" dirty="0">
                <a:solidFill>
                  <a:schemeClr val="tx1">
                    <a:lumMod val="60000"/>
                    <a:lumOff val="40000"/>
                  </a:schemeClr>
                </a:solidFill>
                <a:cs typeface="+mn-ea"/>
                <a:sym typeface="+mn-lt"/>
              </a:endParaRPr>
            </a:p>
            <a:p>
              <a:pPr algn="r"/>
              <a:r>
                <a:rPr lang="zh-CN" altLang="en-US" sz="1100" dirty="0">
                  <a:solidFill>
                    <a:schemeClr val="tx1">
                      <a:lumMod val="60000"/>
                      <a:lumOff val="40000"/>
                    </a:schemeClr>
                  </a:solidFill>
                  <a:cs typeface="+mn-ea"/>
                  <a:sym typeface="+mn-lt"/>
                </a:rPr>
                <a:t>定好排名目标：如</a:t>
              </a:r>
              <a:r>
                <a:rPr lang="en-US" altLang="zh-CN" sz="1100" dirty="0">
                  <a:solidFill>
                    <a:schemeClr val="tx1">
                      <a:lumMod val="60000"/>
                      <a:lumOff val="40000"/>
                    </a:schemeClr>
                  </a:solidFill>
                  <a:cs typeface="+mn-ea"/>
                  <a:sym typeface="+mn-lt"/>
                </a:rPr>
                <a:t>-15</a:t>
              </a:r>
              <a:r>
                <a:rPr lang="zh-CN" altLang="en-US" sz="1100" dirty="0">
                  <a:solidFill>
                    <a:schemeClr val="tx1">
                      <a:lumMod val="60000"/>
                      <a:lumOff val="40000"/>
                    </a:schemeClr>
                  </a:solidFill>
                  <a:cs typeface="+mn-ea"/>
                  <a:sym typeface="+mn-lt"/>
                </a:rPr>
                <a:t>天内大类</a:t>
              </a:r>
              <a:r>
                <a:rPr lang="en-US" altLang="zh-CN" sz="1100" dirty="0">
                  <a:solidFill>
                    <a:schemeClr val="tx1">
                      <a:lumMod val="60000"/>
                      <a:lumOff val="40000"/>
                    </a:schemeClr>
                  </a:solidFill>
                  <a:cs typeface="+mn-ea"/>
                  <a:sym typeface="+mn-lt"/>
                </a:rPr>
                <a:t>10000</a:t>
              </a:r>
              <a:r>
                <a:rPr lang="zh-CN" altLang="en-US" sz="1100" dirty="0">
                  <a:solidFill>
                    <a:schemeClr val="tx1">
                      <a:lumMod val="60000"/>
                      <a:lumOff val="40000"/>
                    </a:schemeClr>
                  </a:solidFill>
                  <a:cs typeface="+mn-ea"/>
                  <a:sym typeface="+mn-lt"/>
                </a:rPr>
                <a:t>，，小类前</a:t>
              </a:r>
              <a:r>
                <a:rPr lang="en-US" altLang="zh-CN" sz="1100" dirty="0">
                  <a:solidFill>
                    <a:schemeClr val="tx1">
                      <a:lumMod val="60000"/>
                      <a:lumOff val="40000"/>
                    </a:schemeClr>
                  </a:solidFill>
                  <a:cs typeface="+mn-ea"/>
                  <a:sym typeface="+mn-lt"/>
                </a:rPr>
                <a:t>50</a:t>
              </a:r>
              <a:endParaRPr lang="en-US" altLang="zh-CN" sz="1100" dirty="0">
                <a:solidFill>
                  <a:schemeClr val="tx1">
                    <a:lumMod val="60000"/>
                    <a:lumOff val="40000"/>
                  </a:schemeClr>
                </a:solidFill>
                <a:cs typeface="+mn-ea"/>
                <a:sym typeface="+mn-lt"/>
              </a:endParaRPr>
            </a:p>
            <a:p>
              <a:pPr algn="r"/>
              <a:r>
                <a:rPr lang="en-US" altLang="zh-CN" sz="1100" dirty="0">
                  <a:solidFill>
                    <a:schemeClr val="tx1">
                      <a:lumMod val="60000"/>
                      <a:lumOff val="40000"/>
                    </a:schemeClr>
                  </a:solidFill>
                  <a:cs typeface="+mn-ea"/>
                  <a:sym typeface="+mn-lt"/>
                </a:rPr>
                <a:t>30</a:t>
              </a:r>
              <a:r>
                <a:rPr lang="zh-CN" altLang="en-US" sz="1100" dirty="0">
                  <a:solidFill>
                    <a:schemeClr val="tx1">
                      <a:lumMod val="60000"/>
                      <a:lumOff val="40000"/>
                    </a:schemeClr>
                  </a:solidFill>
                  <a:cs typeface="+mn-ea"/>
                  <a:sym typeface="+mn-lt"/>
                </a:rPr>
                <a:t>天之后，大类</a:t>
              </a:r>
              <a:r>
                <a:rPr lang="en-US" altLang="zh-CN" sz="1100" dirty="0">
                  <a:solidFill>
                    <a:schemeClr val="tx1">
                      <a:lumMod val="60000"/>
                      <a:lumOff val="40000"/>
                    </a:schemeClr>
                  </a:solidFill>
                  <a:cs typeface="+mn-ea"/>
                  <a:sym typeface="+mn-lt"/>
                </a:rPr>
                <a:t>5000</a:t>
              </a:r>
              <a:r>
                <a:rPr lang="zh-CN" altLang="en-US" sz="1100" dirty="0">
                  <a:solidFill>
                    <a:schemeClr val="tx1">
                      <a:lumMod val="60000"/>
                      <a:lumOff val="40000"/>
                    </a:schemeClr>
                  </a:solidFill>
                  <a:cs typeface="+mn-ea"/>
                  <a:sym typeface="+mn-lt"/>
                </a:rPr>
                <a:t>，小类前</a:t>
              </a:r>
              <a:r>
                <a:rPr lang="en-US" altLang="zh-CN" sz="1100" dirty="0">
                  <a:solidFill>
                    <a:schemeClr val="tx1">
                      <a:lumMod val="60000"/>
                      <a:lumOff val="40000"/>
                    </a:schemeClr>
                  </a:solidFill>
                  <a:cs typeface="+mn-ea"/>
                  <a:sym typeface="+mn-lt"/>
                </a:rPr>
                <a:t>10</a:t>
              </a:r>
              <a:endParaRPr lang="en-US" altLang="zh-CN" sz="1100" dirty="0">
                <a:solidFill>
                  <a:schemeClr val="tx1">
                    <a:lumMod val="60000"/>
                    <a:lumOff val="40000"/>
                  </a:schemeClr>
                </a:solidFill>
                <a:cs typeface="+mn-ea"/>
                <a:sym typeface="+mn-lt"/>
              </a:endParaRPr>
            </a:p>
            <a:p>
              <a:pPr algn="r"/>
              <a:endParaRPr lang="zh-CN" altLang="en-US" sz="1100" dirty="0">
                <a:solidFill>
                  <a:schemeClr val="tx1">
                    <a:lumMod val="60000"/>
                    <a:lumOff val="40000"/>
                  </a:schemeClr>
                </a:solidFill>
                <a:cs typeface="+mn-ea"/>
                <a:sym typeface="+mn-lt"/>
              </a:endParaRPr>
            </a:p>
          </p:txBody>
        </p:sp>
      </p:grpSp>
      <p:grpSp>
        <p:nvGrpSpPr>
          <p:cNvPr id="6" name="组合 5"/>
          <p:cNvGrpSpPr/>
          <p:nvPr/>
        </p:nvGrpSpPr>
        <p:grpSpPr>
          <a:xfrm>
            <a:off x="704372" y="1908507"/>
            <a:ext cx="4208484" cy="970915"/>
            <a:chOff x="703511" y="1908506"/>
            <a:chExt cx="4209032" cy="970915"/>
          </a:xfrm>
        </p:grpSpPr>
        <p:grpSp>
          <p:nvGrpSpPr>
            <p:cNvPr id="7335" name="组合 7334"/>
            <p:cNvGrpSpPr/>
            <p:nvPr/>
          </p:nvGrpSpPr>
          <p:grpSpPr>
            <a:xfrm>
              <a:off x="4585518" y="2016655"/>
              <a:ext cx="327025" cy="382588"/>
              <a:chOff x="4628092" y="2016655"/>
              <a:chExt cx="327025" cy="382588"/>
            </a:xfrm>
            <a:solidFill>
              <a:schemeClr val="accent3"/>
            </a:solidFill>
          </p:grpSpPr>
          <p:sp>
            <p:nvSpPr>
              <p:cNvPr id="5400" name="Freeform 1002"/>
              <p:cNvSpPr>
                <a:spLocks noEditPoints="1"/>
              </p:cNvSpPr>
              <p:nvPr/>
            </p:nvSpPr>
            <p:spPr bwMode="auto">
              <a:xfrm>
                <a:off x="4628092" y="2016655"/>
                <a:ext cx="177800" cy="377825"/>
              </a:xfrm>
              <a:custGeom>
                <a:avLst/>
                <a:gdLst>
                  <a:gd name="T0" fmla="*/ 47 w 47"/>
                  <a:gd name="T1" fmla="*/ 31 h 101"/>
                  <a:gd name="T2" fmla="*/ 47 w 47"/>
                  <a:gd name="T3" fmla="*/ 7 h 101"/>
                  <a:gd name="T4" fmla="*/ 39 w 47"/>
                  <a:gd name="T5" fmla="*/ 0 h 101"/>
                  <a:gd name="T6" fmla="*/ 8 w 47"/>
                  <a:gd name="T7" fmla="*/ 0 h 101"/>
                  <a:gd name="T8" fmla="*/ 0 w 47"/>
                  <a:gd name="T9" fmla="*/ 7 h 101"/>
                  <a:gd name="T10" fmla="*/ 0 w 47"/>
                  <a:gd name="T11" fmla="*/ 93 h 101"/>
                  <a:gd name="T12" fmla="*/ 8 w 47"/>
                  <a:gd name="T13" fmla="*/ 101 h 101"/>
                  <a:gd name="T14" fmla="*/ 39 w 47"/>
                  <a:gd name="T15" fmla="*/ 101 h 101"/>
                  <a:gd name="T16" fmla="*/ 47 w 47"/>
                  <a:gd name="T17" fmla="*/ 93 h 101"/>
                  <a:gd name="T18" fmla="*/ 47 w 47"/>
                  <a:gd name="T19" fmla="*/ 92 h 101"/>
                  <a:gd name="T20" fmla="*/ 42 w 47"/>
                  <a:gd name="T21" fmla="*/ 90 h 101"/>
                  <a:gd name="T22" fmla="*/ 34 w 47"/>
                  <a:gd name="T23" fmla="*/ 85 h 101"/>
                  <a:gd name="T24" fmla="*/ 3 w 47"/>
                  <a:gd name="T25" fmla="*/ 85 h 101"/>
                  <a:gd name="T26" fmla="*/ 3 w 47"/>
                  <a:gd name="T27" fmla="*/ 7 h 101"/>
                  <a:gd name="T28" fmla="*/ 43 w 47"/>
                  <a:gd name="T29" fmla="*/ 7 h 101"/>
                  <a:gd name="T30" fmla="*/ 43 w 47"/>
                  <a:gd name="T31" fmla="*/ 32 h 101"/>
                  <a:gd name="T32" fmla="*/ 47 w 47"/>
                  <a:gd name="T33" fmla="*/ 31 h 101"/>
                  <a:gd name="T34" fmla="*/ 22 w 47"/>
                  <a:gd name="T35" fmla="*/ 91 h 101"/>
                  <a:gd name="T36" fmla="*/ 25 w 47"/>
                  <a:gd name="T37" fmla="*/ 91 h 101"/>
                  <a:gd name="T38" fmla="*/ 28 w 47"/>
                  <a:gd name="T39" fmla="*/ 93 h 101"/>
                  <a:gd name="T40" fmla="*/ 25 w 47"/>
                  <a:gd name="T41" fmla="*/ 95 h 101"/>
                  <a:gd name="T42" fmla="*/ 22 w 47"/>
                  <a:gd name="T43" fmla="*/ 95 h 101"/>
                  <a:gd name="T44" fmla="*/ 19 w 47"/>
                  <a:gd name="T45" fmla="*/ 93 h 101"/>
                  <a:gd name="T46" fmla="*/ 22 w 47"/>
                  <a:gd name="T47" fmla="*/ 9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 h="101">
                    <a:moveTo>
                      <a:pt x="47" y="31"/>
                    </a:moveTo>
                    <a:cubicBezTo>
                      <a:pt x="47" y="7"/>
                      <a:pt x="47" y="7"/>
                      <a:pt x="47" y="7"/>
                    </a:cubicBezTo>
                    <a:cubicBezTo>
                      <a:pt x="47" y="3"/>
                      <a:pt x="43" y="0"/>
                      <a:pt x="39" y="0"/>
                    </a:cubicBezTo>
                    <a:cubicBezTo>
                      <a:pt x="8" y="0"/>
                      <a:pt x="8" y="0"/>
                      <a:pt x="8" y="0"/>
                    </a:cubicBezTo>
                    <a:cubicBezTo>
                      <a:pt x="3" y="0"/>
                      <a:pt x="0" y="3"/>
                      <a:pt x="0" y="7"/>
                    </a:cubicBezTo>
                    <a:cubicBezTo>
                      <a:pt x="0" y="93"/>
                      <a:pt x="0" y="93"/>
                      <a:pt x="0" y="93"/>
                    </a:cubicBezTo>
                    <a:cubicBezTo>
                      <a:pt x="0" y="97"/>
                      <a:pt x="3" y="101"/>
                      <a:pt x="8" y="101"/>
                    </a:cubicBezTo>
                    <a:cubicBezTo>
                      <a:pt x="39" y="101"/>
                      <a:pt x="39" y="101"/>
                      <a:pt x="39" y="101"/>
                    </a:cubicBezTo>
                    <a:cubicBezTo>
                      <a:pt x="43" y="101"/>
                      <a:pt x="47" y="97"/>
                      <a:pt x="47" y="93"/>
                    </a:cubicBezTo>
                    <a:cubicBezTo>
                      <a:pt x="47" y="92"/>
                      <a:pt x="47" y="92"/>
                      <a:pt x="47" y="92"/>
                    </a:cubicBezTo>
                    <a:cubicBezTo>
                      <a:pt x="45" y="91"/>
                      <a:pt x="44" y="90"/>
                      <a:pt x="42" y="90"/>
                    </a:cubicBezTo>
                    <a:cubicBezTo>
                      <a:pt x="39" y="88"/>
                      <a:pt x="36" y="87"/>
                      <a:pt x="34" y="85"/>
                    </a:cubicBezTo>
                    <a:cubicBezTo>
                      <a:pt x="3" y="85"/>
                      <a:pt x="3" y="85"/>
                      <a:pt x="3" y="85"/>
                    </a:cubicBezTo>
                    <a:cubicBezTo>
                      <a:pt x="3" y="7"/>
                      <a:pt x="3" y="7"/>
                      <a:pt x="3" y="7"/>
                    </a:cubicBezTo>
                    <a:cubicBezTo>
                      <a:pt x="43" y="7"/>
                      <a:pt x="43" y="7"/>
                      <a:pt x="43" y="7"/>
                    </a:cubicBezTo>
                    <a:cubicBezTo>
                      <a:pt x="43" y="32"/>
                      <a:pt x="43" y="32"/>
                      <a:pt x="43" y="32"/>
                    </a:cubicBezTo>
                    <a:cubicBezTo>
                      <a:pt x="44" y="32"/>
                      <a:pt x="45" y="31"/>
                      <a:pt x="47" y="31"/>
                    </a:cubicBezTo>
                    <a:close/>
                    <a:moveTo>
                      <a:pt x="22" y="91"/>
                    </a:moveTo>
                    <a:cubicBezTo>
                      <a:pt x="25" y="91"/>
                      <a:pt x="25" y="91"/>
                      <a:pt x="25" y="91"/>
                    </a:cubicBezTo>
                    <a:cubicBezTo>
                      <a:pt x="26" y="91"/>
                      <a:pt x="28" y="92"/>
                      <a:pt x="28" y="93"/>
                    </a:cubicBezTo>
                    <a:cubicBezTo>
                      <a:pt x="28" y="94"/>
                      <a:pt x="26" y="95"/>
                      <a:pt x="25" y="95"/>
                    </a:cubicBezTo>
                    <a:cubicBezTo>
                      <a:pt x="22" y="95"/>
                      <a:pt x="22" y="95"/>
                      <a:pt x="22" y="95"/>
                    </a:cubicBezTo>
                    <a:cubicBezTo>
                      <a:pt x="20" y="95"/>
                      <a:pt x="19" y="94"/>
                      <a:pt x="19" y="93"/>
                    </a:cubicBezTo>
                    <a:cubicBezTo>
                      <a:pt x="19" y="92"/>
                      <a:pt x="20" y="91"/>
                      <a:pt x="22" y="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401" name="Freeform 1003"/>
              <p:cNvSpPr/>
              <p:nvPr/>
            </p:nvSpPr>
            <p:spPr bwMode="auto">
              <a:xfrm>
                <a:off x="4699530" y="2083330"/>
                <a:ext cx="90488" cy="90488"/>
              </a:xfrm>
              <a:custGeom>
                <a:avLst/>
                <a:gdLst>
                  <a:gd name="T0" fmla="*/ 9 w 24"/>
                  <a:gd name="T1" fmla="*/ 24 h 24"/>
                  <a:gd name="T2" fmla="*/ 7 w 24"/>
                  <a:gd name="T3" fmla="*/ 20 h 24"/>
                  <a:gd name="T4" fmla="*/ 3 w 24"/>
                  <a:gd name="T5" fmla="*/ 12 h 24"/>
                  <a:gd name="T6" fmla="*/ 12 w 24"/>
                  <a:gd name="T7" fmla="*/ 3 h 24"/>
                  <a:gd name="T8" fmla="*/ 21 w 24"/>
                  <a:gd name="T9" fmla="*/ 12 h 24"/>
                  <a:gd name="T10" fmla="*/ 21 w 24"/>
                  <a:gd name="T11" fmla="*/ 14 h 24"/>
                  <a:gd name="T12" fmla="*/ 23 w 24"/>
                  <a:gd name="T13" fmla="*/ 18 h 24"/>
                  <a:gd name="T14" fmla="*/ 24 w 24"/>
                  <a:gd name="T15" fmla="*/ 12 h 24"/>
                  <a:gd name="T16" fmla="*/ 12 w 24"/>
                  <a:gd name="T17" fmla="*/ 0 h 24"/>
                  <a:gd name="T18" fmla="*/ 0 w 24"/>
                  <a:gd name="T19" fmla="*/ 12 h 24"/>
                  <a:gd name="T20" fmla="*/ 9 w 24"/>
                  <a:gd name="T2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24">
                    <a:moveTo>
                      <a:pt x="9" y="24"/>
                    </a:moveTo>
                    <a:cubicBezTo>
                      <a:pt x="7" y="20"/>
                      <a:pt x="7" y="20"/>
                      <a:pt x="7" y="20"/>
                    </a:cubicBezTo>
                    <a:cubicBezTo>
                      <a:pt x="5" y="18"/>
                      <a:pt x="3" y="15"/>
                      <a:pt x="3" y="12"/>
                    </a:cubicBezTo>
                    <a:cubicBezTo>
                      <a:pt x="3" y="7"/>
                      <a:pt x="7" y="3"/>
                      <a:pt x="12" y="3"/>
                    </a:cubicBezTo>
                    <a:cubicBezTo>
                      <a:pt x="17" y="3"/>
                      <a:pt x="21" y="7"/>
                      <a:pt x="21" y="12"/>
                    </a:cubicBezTo>
                    <a:cubicBezTo>
                      <a:pt x="21" y="13"/>
                      <a:pt x="21" y="13"/>
                      <a:pt x="21" y="14"/>
                    </a:cubicBezTo>
                    <a:cubicBezTo>
                      <a:pt x="23" y="18"/>
                      <a:pt x="23" y="18"/>
                      <a:pt x="23" y="18"/>
                    </a:cubicBezTo>
                    <a:cubicBezTo>
                      <a:pt x="23" y="16"/>
                      <a:pt x="24" y="14"/>
                      <a:pt x="24" y="12"/>
                    </a:cubicBezTo>
                    <a:cubicBezTo>
                      <a:pt x="24" y="5"/>
                      <a:pt x="19" y="0"/>
                      <a:pt x="12" y="0"/>
                    </a:cubicBezTo>
                    <a:cubicBezTo>
                      <a:pt x="5" y="0"/>
                      <a:pt x="0" y="5"/>
                      <a:pt x="0" y="12"/>
                    </a:cubicBezTo>
                    <a:cubicBezTo>
                      <a:pt x="0" y="18"/>
                      <a:pt x="4" y="22"/>
                      <a:pt x="9"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402" name="Freeform 1004"/>
              <p:cNvSpPr/>
              <p:nvPr/>
            </p:nvSpPr>
            <p:spPr bwMode="auto">
              <a:xfrm>
                <a:off x="4710642" y="2102380"/>
                <a:ext cx="244475" cy="296863"/>
              </a:xfrm>
              <a:custGeom>
                <a:avLst/>
                <a:gdLst>
                  <a:gd name="T0" fmla="*/ 4 w 65"/>
                  <a:gd name="T1" fmla="*/ 10 h 79"/>
                  <a:gd name="T2" fmla="*/ 14 w 65"/>
                  <a:gd name="T3" fmla="*/ 5 h 79"/>
                  <a:gd name="T4" fmla="*/ 27 w 65"/>
                  <a:gd name="T5" fmla="*/ 34 h 79"/>
                  <a:gd name="T6" fmla="*/ 20 w 65"/>
                  <a:gd name="T7" fmla="*/ 19 h 79"/>
                  <a:gd name="T8" fmla="*/ 29 w 65"/>
                  <a:gd name="T9" fmla="*/ 15 h 79"/>
                  <a:gd name="T10" fmla="*/ 37 w 65"/>
                  <a:gd name="T11" fmla="*/ 32 h 79"/>
                  <a:gd name="T12" fmla="*/ 30 w 65"/>
                  <a:gd name="T13" fmla="*/ 18 h 79"/>
                  <a:gd name="T14" fmla="*/ 42 w 65"/>
                  <a:gd name="T15" fmla="*/ 15 h 79"/>
                  <a:gd name="T16" fmla="*/ 49 w 65"/>
                  <a:gd name="T17" fmla="*/ 30 h 79"/>
                  <a:gd name="T18" fmla="*/ 44 w 65"/>
                  <a:gd name="T19" fmla="*/ 20 h 79"/>
                  <a:gd name="T20" fmla="*/ 55 w 65"/>
                  <a:gd name="T21" fmla="*/ 18 h 79"/>
                  <a:gd name="T22" fmla="*/ 63 w 65"/>
                  <a:gd name="T23" fmla="*/ 44 h 79"/>
                  <a:gd name="T24" fmla="*/ 63 w 65"/>
                  <a:gd name="T25" fmla="*/ 67 h 79"/>
                  <a:gd name="T26" fmla="*/ 41 w 65"/>
                  <a:gd name="T27" fmla="*/ 77 h 79"/>
                  <a:gd name="T28" fmla="*/ 23 w 65"/>
                  <a:gd name="T29" fmla="*/ 62 h 79"/>
                  <a:gd name="T30" fmla="*/ 2 w 65"/>
                  <a:gd name="T31" fmla="*/ 49 h 79"/>
                  <a:gd name="T32" fmla="*/ 4 w 65"/>
                  <a:gd name="T33" fmla="*/ 42 h 79"/>
                  <a:gd name="T34" fmla="*/ 21 w 65"/>
                  <a:gd name="T35" fmla="*/ 45 h 79"/>
                  <a:gd name="T36" fmla="*/ 19 w 65"/>
                  <a:gd name="T37" fmla="*/ 41 h 79"/>
                  <a:gd name="T38" fmla="*/ 4 w 65"/>
                  <a:gd name="T39" fmla="*/ 1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9">
                    <a:moveTo>
                      <a:pt x="4" y="10"/>
                    </a:moveTo>
                    <a:cubicBezTo>
                      <a:pt x="2" y="4"/>
                      <a:pt x="11" y="0"/>
                      <a:pt x="14" y="5"/>
                    </a:cubicBezTo>
                    <a:cubicBezTo>
                      <a:pt x="16" y="10"/>
                      <a:pt x="27" y="34"/>
                      <a:pt x="27" y="34"/>
                    </a:cubicBezTo>
                    <a:cubicBezTo>
                      <a:pt x="27" y="34"/>
                      <a:pt x="22" y="24"/>
                      <a:pt x="20" y="19"/>
                    </a:cubicBezTo>
                    <a:cubicBezTo>
                      <a:pt x="18" y="15"/>
                      <a:pt x="27" y="10"/>
                      <a:pt x="29" y="15"/>
                    </a:cubicBezTo>
                    <a:cubicBezTo>
                      <a:pt x="31" y="19"/>
                      <a:pt x="37" y="32"/>
                      <a:pt x="37" y="32"/>
                    </a:cubicBezTo>
                    <a:cubicBezTo>
                      <a:pt x="37" y="32"/>
                      <a:pt x="33" y="22"/>
                      <a:pt x="30" y="18"/>
                    </a:cubicBezTo>
                    <a:cubicBezTo>
                      <a:pt x="28" y="13"/>
                      <a:pt x="40" y="11"/>
                      <a:pt x="42" y="15"/>
                    </a:cubicBezTo>
                    <a:cubicBezTo>
                      <a:pt x="44" y="20"/>
                      <a:pt x="49" y="30"/>
                      <a:pt x="49" y="30"/>
                    </a:cubicBezTo>
                    <a:cubicBezTo>
                      <a:pt x="49" y="30"/>
                      <a:pt x="46" y="25"/>
                      <a:pt x="44" y="20"/>
                    </a:cubicBezTo>
                    <a:cubicBezTo>
                      <a:pt x="42" y="15"/>
                      <a:pt x="52" y="13"/>
                      <a:pt x="55" y="18"/>
                    </a:cubicBezTo>
                    <a:cubicBezTo>
                      <a:pt x="57" y="23"/>
                      <a:pt x="64" y="38"/>
                      <a:pt x="63" y="44"/>
                    </a:cubicBezTo>
                    <a:cubicBezTo>
                      <a:pt x="63" y="49"/>
                      <a:pt x="65" y="66"/>
                      <a:pt x="63" y="67"/>
                    </a:cubicBezTo>
                    <a:cubicBezTo>
                      <a:pt x="60" y="69"/>
                      <a:pt x="44" y="76"/>
                      <a:pt x="41" y="77"/>
                    </a:cubicBezTo>
                    <a:cubicBezTo>
                      <a:pt x="39" y="79"/>
                      <a:pt x="38" y="70"/>
                      <a:pt x="23" y="62"/>
                    </a:cubicBezTo>
                    <a:cubicBezTo>
                      <a:pt x="4" y="53"/>
                      <a:pt x="3" y="51"/>
                      <a:pt x="2" y="49"/>
                    </a:cubicBezTo>
                    <a:cubicBezTo>
                      <a:pt x="0" y="46"/>
                      <a:pt x="2" y="43"/>
                      <a:pt x="4" y="42"/>
                    </a:cubicBezTo>
                    <a:cubicBezTo>
                      <a:pt x="7" y="40"/>
                      <a:pt x="23" y="50"/>
                      <a:pt x="21" y="45"/>
                    </a:cubicBezTo>
                    <a:cubicBezTo>
                      <a:pt x="19" y="41"/>
                      <a:pt x="19" y="41"/>
                      <a:pt x="19" y="41"/>
                    </a:cubicBezTo>
                    <a:cubicBezTo>
                      <a:pt x="19" y="41"/>
                      <a:pt x="6" y="14"/>
                      <a:pt x="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sp>
          <p:nvSpPr>
            <p:cNvPr id="1073" name="Rectangle 9"/>
            <p:cNvSpPr/>
            <p:nvPr/>
          </p:nvSpPr>
          <p:spPr>
            <a:xfrm>
              <a:off x="703511" y="1908506"/>
              <a:ext cx="3618435" cy="970915"/>
            </a:xfrm>
            <a:prstGeom prst="rect">
              <a:avLst/>
            </a:prstGeom>
          </p:spPr>
          <p:txBody>
            <a:bodyPr wrap="square">
              <a:spAutoFit/>
            </a:bodyPr>
            <a:lstStyle/>
            <a:p>
              <a:pPr algn="r">
                <a:lnSpc>
                  <a:spcPct val="130000"/>
                </a:lnSpc>
              </a:pPr>
              <a:r>
                <a:rPr lang="zh-CN" altLang="en-US" sz="1100" b="1" dirty="0">
                  <a:solidFill>
                    <a:schemeClr val="tx1">
                      <a:lumMod val="65000"/>
                      <a:lumOff val="35000"/>
                    </a:schemeClr>
                  </a:solidFill>
                  <a:cs typeface="+mn-ea"/>
                  <a:sym typeface="+mn-lt"/>
                </a:rPr>
                <a:t>产品上架转</a:t>
              </a:r>
              <a:r>
                <a:rPr lang="en-US" altLang="zh-CN" sz="1100" b="1" dirty="0">
                  <a:solidFill>
                    <a:schemeClr val="tx1">
                      <a:lumMod val="65000"/>
                      <a:lumOff val="35000"/>
                    </a:schemeClr>
                  </a:solidFill>
                  <a:cs typeface="+mn-ea"/>
                  <a:sym typeface="+mn-lt"/>
                </a:rPr>
                <a:t>FBA</a:t>
              </a:r>
              <a:r>
                <a:rPr lang="zh-CN" altLang="en-US" sz="1100" b="1" dirty="0">
                  <a:solidFill>
                    <a:schemeClr val="tx1">
                      <a:lumMod val="65000"/>
                      <a:lumOff val="35000"/>
                    </a:schemeClr>
                  </a:solidFill>
                  <a:cs typeface="+mn-ea"/>
                  <a:sym typeface="+mn-lt"/>
                </a:rPr>
                <a:t>，国内跟售，开始刷国内出单</a:t>
              </a:r>
              <a:endParaRPr lang="zh-CN" altLang="en-US" sz="1100" b="1" dirty="0">
                <a:solidFill>
                  <a:schemeClr val="tx1">
                    <a:lumMod val="65000"/>
                    <a:lumOff val="35000"/>
                  </a:schemeClr>
                </a:solidFill>
                <a:cs typeface="+mn-ea"/>
                <a:sym typeface="+mn-lt"/>
              </a:endParaRPr>
            </a:p>
            <a:p>
              <a:pPr algn="r">
                <a:lnSpc>
                  <a:spcPct val="130000"/>
                </a:lnSpc>
              </a:pPr>
              <a:r>
                <a:rPr lang="en-US" altLang="zh-CN" sz="1100" dirty="0">
                  <a:solidFill>
                    <a:schemeClr val="tx1">
                      <a:lumMod val="60000"/>
                      <a:lumOff val="40000"/>
                    </a:schemeClr>
                  </a:solidFill>
                  <a:cs typeface="+mn-ea"/>
                  <a:sym typeface="+mn-lt"/>
                </a:rPr>
                <a:t>1.</a:t>
              </a:r>
              <a:r>
                <a:rPr lang="zh-CN" altLang="en-US" sz="1100" dirty="0">
                  <a:solidFill>
                    <a:schemeClr val="tx1">
                      <a:lumMod val="60000"/>
                      <a:lumOff val="40000"/>
                    </a:schemeClr>
                  </a:solidFill>
                  <a:cs typeface="+mn-ea"/>
                  <a:sym typeface="+mn-lt"/>
                </a:rPr>
                <a:t>跟售一条国内发货</a:t>
              </a:r>
              <a:r>
                <a:rPr lang="en-US" altLang="zh-CN" sz="1100" dirty="0">
                  <a:solidFill>
                    <a:schemeClr val="tx1">
                      <a:lumMod val="60000"/>
                      <a:lumOff val="40000"/>
                    </a:schemeClr>
                  </a:solidFill>
                  <a:cs typeface="+mn-ea"/>
                  <a:sym typeface="+mn-lt"/>
                </a:rPr>
                <a:t>NEW,</a:t>
              </a:r>
              <a:r>
                <a:rPr lang="zh-CN" altLang="en-US" sz="1100" dirty="0">
                  <a:solidFill>
                    <a:schemeClr val="tx1">
                      <a:lumMod val="60000"/>
                      <a:lumOff val="40000"/>
                    </a:schemeClr>
                  </a:solidFill>
                  <a:cs typeface="+mn-ea"/>
                  <a:sym typeface="+mn-lt"/>
                </a:rPr>
                <a:t>做促销开始送</a:t>
              </a:r>
              <a:endParaRPr lang="zh-CN" altLang="en-US" sz="1100" dirty="0">
                <a:solidFill>
                  <a:schemeClr val="tx1">
                    <a:lumMod val="60000"/>
                    <a:lumOff val="40000"/>
                  </a:schemeClr>
                </a:solidFill>
                <a:cs typeface="+mn-ea"/>
                <a:sym typeface="+mn-lt"/>
              </a:endParaRPr>
            </a:p>
            <a:p>
              <a:pPr algn="r">
                <a:lnSpc>
                  <a:spcPct val="130000"/>
                </a:lnSpc>
              </a:pPr>
              <a:r>
                <a:rPr lang="en-US" altLang="zh-CN" sz="1100" dirty="0">
                  <a:solidFill>
                    <a:schemeClr val="tx1">
                      <a:lumMod val="60000"/>
                      <a:lumOff val="40000"/>
                    </a:schemeClr>
                  </a:solidFill>
                  <a:cs typeface="+mn-ea"/>
                  <a:sym typeface="+mn-lt"/>
                </a:rPr>
                <a:t>2.</a:t>
              </a:r>
              <a:r>
                <a:rPr lang="zh-CN" altLang="en-US" sz="1100" dirty="0">
                  <a:solidFill>
                    <a:schemeClr val="tx1">
                      <a:lumMod val="60000"/>
                      <a:lumOff val="40000"/>
                    </a:schemeClr>
                  </a:solidFill>
                  <a:cs typeface="+mn-ea"/>
                  <a:sym typeface="+mn-lt"/>
                </a:rPr>
                <a:t>跟售一条</a:t>
              </a:r>
              <a:r>
                <a:rPr lang="en-US" altLang="zh-CN" sz="1100" dirty="0">
                  <a:solidFill>
                    <a:schemeClr val="tx1">
                      <a:lumMod val="60000"/>
                      <a:lumOff val="40000"/>
                    </a:schemeClr>
                  </a:solidFill>
                  <a:cs typeface="+mn-ea"/>
                  <a:sym typeface="+mn-lt"/>
                </a:rPr>
                <a:t>USED</a:t>
              </a:r>
              <a:r>
                <a:rPr lang="zh-CN" altLang="en-US" sz="1100" dirty="0">
                  <a:solidFill>
                    <a:schemeClr val="tx1">
                      <a:lumMod val="60000"/>
                      <a:lumOff val="40000"/>
                    </a:schemeClr>
                  </a:solidFill>
                  <a:cs typeface="+mn-ea"/>
                  <a:sym typeface="+mn-lt"/>
                </a:rPr>
                <a:t>，跟客户商量好价格，开始送</a:t>
              </a:r>
              <a:endParaRPr lang="zh-CN" altLang="en-US" sz="1100" dirty="0">
                <a:solidFill>
                  <a:schemeClr val="tx1">
                    <a:lumMod val="60000"/>
                    <a:lumOff val="40000"/>
                  </a:schemeClr>
                </a:solidFill>
                <a:cs typeface="+mn-ea"/>
                <a:sym typeface="+mn-lt"/>
              </a:endParaRPr>
            </a:p>
            <a:p>
              <a:pPr algn="r">
                <a:lnSpc>
                  <a:spcPct val="130000"/>
                </a:lnSpc>
              </a:pPr>
              <a:r>
                <a:rPr lang="zh-CN" altLang="en-US" sz="1100" dirty="0">
                  <a:solidFill>
                    <a:schemeClr val="tx1">
                      <a:lumMod val="60000"/>
                      <a:lumOff val="40000"/>
                    </a:schemeClr>
                  </a:solidFill>
                  <a:cs typeface="+mn-ea"/>
                  <a:sym typeface="+mn-lt"/>
                </a:rPr>
                <a:t>记住自己的排名情况</a:t>
              </a:r>
              <a:endParaRPr lang="zh-CN" altLang="en-US" sz="1100" dirty="0">
                <a:solidFill>
                  <a:schemeClr val="tx1">
                    <a:lumMod val="60000"/>
                    <a:lumOff val="40000"/>
                  </a:schemeClr>
                </a:solidFill>
                <a:cs typeface="+mn-ea"/>
                <a:sym typeface="+mn-lt"/>
              </a:endParaRPr>
            </a:p>
          </p:txBody>
        </p:sp>
      </p:grpSp>
      <p:sp>
        <p:nvSpPr>
          <p:cNvPr id="2" name="矩形 1"/>
          <p:cNvSpPr/>
          <p:nvPr/>
        </p:nvSpPr>
        <p:spPr>
          <a:xfrm rot="1620000">
            <a:off x="7947978"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pic>
        <p:nvPicPr>
          <p:cNvPr id="12" name="图片 11"/>
          <p:cNvPicPr>
            <a:picLocks noChangeAspect="1"/>
          </p:cNvPicPr>
          <p:nvPr/>
        </p:nvPicPr>
        <p:blipFill>
          <a:blip r:embed="rId1"/>
          <a:stretch>
            <a:fillRect/>
          </a:stretch>
        </p:blipFill>
        <p:spPr>
          <a:xfrm>
            <a:off x="6947853" y="1979295"/>
            <a:ext cx="3230880" cy="830580"/>
          </a:xfrm>
          <a:prstGeom prst="rect">
            <a:avLst/>
          </a:prstGeom>
        </p:spPr>
      </p:pic>
      <p:pic>
        <p:nvPicPr>
          <p:cNvPr id="13" name="图片 12"/>
          <p:cNvPicPr>
            <a:picLocks noChangeAspect="1"/>
          </p:cNvPicPr>
          <p:nvPr/>
        </p:nvPicPr>
        <p:blipFill>
          <a:blip r:embed="rId2"/>
          <a:stretch>
            <a:fillRect/>
          </a:stretch>
        </p:blipFill>
        <p:spPr>
          <a:xfrm>
            <a:off x="6948488" y="4573905"/>
            <a:ext cx="3230245" cy="1438910"/>
          </a:xfrm>
          <a:prstGeom prst="rect">
            <a:avLst/>
          </a:prstGeom>
        </p:spPr>
      </p:pic>
      <p:pic>
        <p:nvPicPr>
          <p:cNvPr id="14" name="图片 13"/>
          <p:cNvPicPr>
            <a:picLocks noChangeAspect="1"/>
          </p:cNvPicPr>
          <p:nvPr/>
        </p:nvPicPr>
        <p:blipFill>
          <a:blip r:embed="rId3"/>
          <a:stretch>
            <a:fillRect/>
          </a:stretch>
        </p:blipFill>
        <p:spPr>
          <a:xfrm>
            <a:off x="6948488" y="3497580"/>
            <a:ext cx="3305810" cy="516890"/>
          </a:xfrm>
          <a:prstGeom prst="rect">
            <a:avLst/>
          </a:prstGeom>
        </p:spPr>
      </p:pic>
      <p:sp>
        <p:nvSpPr>
          <p:cNvPr id="29" name="文本框 28"/>
          <p:cNvSpPr txBox="1"/>
          <p:nvPr/>
        </p:nvSpPr>
        <p:spPr>
          <a:xfrm>
            <a:off x="857885" y="283210"/>
            <a:ext cx="2961640" cy="583565"/>
          </a:xfrm>
          <a:prstGeom prst="rect">
            <a:avLst/>
          </a:prstGeom>
          <a:noFill/>
        </p:spPr>
        <p:txBody>
          <a:bodyPr wrap="none" rtlCol="0">
            <a:spAutoFit/>
          </a:bodyPr>
          <a:p>
            <a:pPr algn="l"/>
            <a:r>
              <a:rPr lang="zh-CN" altLang="en-US" sz="3200" b="1">
                <a:solidFill>
                  <a:schemeClr val="tx1">
                    <a:lumMod val="75000"/>
                    <a:lumOff val="25000"/>
                  </a:schemeClr>
                </a:solidFill>
              </a:rPr>
              <a:t>Review把控</a:t>
            </a:r>
            <a:r>
              <a:rPr lang="en-US" altLang="zh-CN" sz="3200" b="1">
                <a:solidFill>
                  <a:schemeClr val="tx1">
                    <a:lumMod val="75000"/>
                    <a:lumOff val="25000"/>
                  </a:schemeClr>
                </a:solidFill>
              </a:rPr>
              <a:t>ONE</a:t>
            </a:r>
            <a:endParaRPr lang="en-US" altLang="zh-CN" sz="3200" b="1">
              <a:solidFill>
                <a:schemeClr val="tx1">
                  <a:lumMod val="75000"/>
                  <a:lumOff val="25000"/>
                </a:schemeClr>
              </a:solidFill>
            </a:endParaRPr>
          </a:p>
        </p:txBody>
      </p:sp>
      <p:sp>
        <p:nvSpPr>
          <p:cNvPr id="9" name="矩形 8"/>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18" name="矩形 17"/>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8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193980" y="1773075"/>
            <a:ext cx="5357865" cy="1044225"/>
            <a:chOff x="4192888" y="1772816"/>
            <a:chExt cx="5358702" cy="1044388"/>
          </a:xfrm>
        </p:grpSpPr>
        <p:sp>
          <p:nvSpPr>
            <p:cNvPr id="12" name="任意多边形 11"/>
            <p:cNvSpPr/>
            <p:nvPr/>
          </p:nvSpPr>
          <p:spPr>
            <a:xfrm>
              <a:off x="4192888" y="1772816"/>
              <a:ext cx="5358702" cy="992188"/>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a:ln>
              <a:solidFill>
                <a:schemeClr val="tx2"/>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234659" tIns="82228" rIns="82228" bIns="82228" spcCol="1270" anchor="ctr"/>
            <a:lstStyle/>
            <a:p>
              <a:pPr marL="285750" lvl="1" indent="-285750" defTabSz="1466850">
                <a:lnSpc>
                  <a:spcPct val="90000"/>
                </a:lnSpc>
                <a:spcAft>
                  <a:spcPct val="15000"/>
                </a:spcAft>
                <a:buFontTx/>
                <a:buChar char="•"/>
                <a:defRPr/>
              </a:pPr>
              <a:endParaRPr lang="zh-CN" altLang="en-US" sz="3300">
                <a:cs typeface="+mn-ea"/>
              </a:endParaRPr>
            </a:p>
            <a:p>
              <a:pPr marL="285750" lvl="1" indent="-285750" defTabSz="1466850">
                <a:lnSpc>
                  <a:spcPct val="90000"/>
                </a:lnSpc>
                <a:spcAft>
                  <a:spcPct val="15000"/>
                </a:spcAft>
                <a:buFontTx/>
                <a:buChar char="•"/>
                <a:defRPr/>
              </a:pPr>
              <a:endParaRPr lang="zh-CN" altLang="en-US" sz="3300">
                <a:cs typeface="+mn-ea"/>
              </a:endParaRPr>
            </a:p>
          </p:txBody>
        </p:sp>
        <p:sp>
          <p:nvSpPr>
            <p:cNvPr id="17" name="TextBox 10"/>
            <p:cNvSpPr txBox="1"/>
            <p:nvPr/>
          </p:nvSpPr>
          <p:spPr>
            <a:xfrm>
              <a:off x="4340506" y="1987129"/>
              <a:ext cx="5065053" cy="830075"/>
            </a:xfrm>
            <a:prstGeom prst="rect">
              <a:avLst/>
            </a:prstGeom>
            <a:noFill/>
          </p:spPr>
          <p:txBody>
            <a:bodyPr>
              <a:spAutoFit/>
            </a:bodyPr>
            <a:lstStyle/>
            <a:p>
              <a:pPr algn="just"/>
              <a:r>
                <a:rPr lang="zh-CN" altLang="en-US" sz="1200" kern="3000" spc="31" dirty="0">
                  <a:solidFill>
                    <a:schemeClr val="bg1">
                      <a:lumMod val="50000"/>
                    </a:schemeClr>
                  </a:solidFill>
                  <a:latin typeface="+mj-ea"/>
                </a:rPr>
                <a:t>一个月至少达到</a:t>
              </a:r>
              <a:r>
                <a:rPr lang="en-US" altLang="zh-CN" sz="1200" kern="3000" spc="31" dirty="0">
                  <a:solidFill>
                    <a:schemeClr val="bg1">
                      <a:lumMod val="50000"/>
                    </a:schemeClr>
                  </a:solidFill>
                  <a:latin typeface="+mj-ea"/>
                </a:rPr>
                <a:t>5</a:t>
              </a:r>
              <a:r>
                <a:rPr lang="en-US" sz="1200" kern="3000" spc="31" dirty="0">
                  <a:solidFill>
                    <a:schemeClr val="bg1">
                      <a:lumMod val="50000"/>
                    </a:schemeClr>
                  </a:solidFill>
                  <a:latin typeface="+mj-ea"/>
                </a:rPr>
                <a:t>0</a:t>
              </a:r>
              <a:r>
                <a:rPr lang="zh-CN" altLang="en-US" sz="1200" kern="3000" spc="31" dirty="0">
                  <a:solidFill>
                    <a:schemeClr val="bg1">
                      <a:lumMod val="50000"/>
                    </a:schemeClr>
                  </a:solidFill>
                  <a:latin typeface="+mj-ea"/>
                </a:rPr>
                <a:t>个</a:t>
              </a:r>
              <a:r>
                <a:rPr lang="en-US" altLang="zh-CN" sz="1200" kern="3000" spc="31" dirty="0">
                  <a:solidFill>
                    <a:schemeClr val="bg1">
                      <a:lumMod val="50000"/>
                    </a:schemeClr>
                  </a:solidFill>
                  <a:latin typeface="+mj-ea"/>
                </a:rPr>
                <a:t>Review</a:t>
              </a:r>
              <a:r>
                <a:rPr lang="zh-CN" altLang="en-US" sz="1200" kern="3000" spc="31" dirty="0">
                  <a:solidFill>
                    <a:schemeClr val="bg1">
                      <a:lumMod val="50000"/>
                    </a:schemeClr>
                  </a:solidFill>
                  <a:latin typeface="+mj-ea"/>
                </a:rPr>
                <a:t>，结合日均出单做好回评率</a:t>
              </a:r>
              <a:endParaRPr lang="zh-CN" altLang="en-US" sz="1200" kern="3000" spc="31" dirty="0">
                <a:solidFill>
                  <a:schemeClr val="bg1">
                    <a:lumMod val="50000"/>
                  </a:schemeClr>
                </a:solidFill>
                <a:latin typeface="+mj-ea"/>
              </a:endParaRPr>
            </a:p>
            <a:p>
              <a:pPr algn="just"/>
              <a:r>
                <a:rPr lang="en-US" altLang="zh-CN" sz="1200" kern="3000" spc="31" dirty="0">
                  <a:solidFill>
                    <a:schemeClr val="bg1">
                      <a:lumMod val="50000"/>
                    </a:schemeClr>
                  </a:solidFill>
                  <a:latin typeface="+mj-ea"/>
                </a:rPr>
                <a:t>FBA</a:t>
              </a:r>
              <a:r>
                <a:rPr lang="zh-CN" altLang="en-US" sz="1200" kern="3000" spc="31" dirty="0">
                  <a:solidFill>
                    <a:schemeClr val="bg1">
                      <a:lumMod val="50000"/>
                    </a:schemeClr>
                  </a:solidFill>
                  <a:latin typeface="+mj-ea"/>
                </a:rPr>
                <a:t>到货每天送</a:t>
              </a:r>
              <a:r>
                <a:rPr lang="en-US" altLang="zh-CN" sz="1200" kern="3000" spc="31" dirty="0">
                  <a:solidFill>
                    <a:schemeClr val="bg1">
                      <a:lumMod val="50000"/>
                    </a:schemeClr>
                  </a:solidFill>
                  <a:latin typeface="+mj-ea"/>
                </a:rPr>
                <a:t>5</a:t>
              </a:r>
              <a:r>
                <a:rPr lang="zh-CN" altLang="en-US" sz="1200" kern="3000" spc="31" dirty="0">
                  <a:solidFill>
                    <a:schemeClr val="bg1">
                      <a:lumMod val="50000"/>
                    </a:schemeClr>
                  </a:solidFill>
                  <a:latin typeface="+mj-ea"/>
                </a:rPr>
                <a:t>单左右，</a:t>
              </a:r>
              <a:r>
                <a:rPr lang="en-US" altLang="zh-CN" sz="1200" kern="3000" spc="31" dirty="0">
                  <a:solidFill>
                    <a:schemeClr val="bg1">
                      <a:lumMod val="50000"/>
                    </a:schemeClr>
                  </a:solidFill>
                  <a:latin typeface="+mj-ea"/>
                </a:rPr>
                <a:t>6</a:t>
              </a:r>
              <a:r>
                <a:rPr lang="zh-CN" altLang="en-US" sz="1200" kern="3000" spc="31" dirty="0">
                  <a:solidFill>
                    <a:schemeClr val="bg1">
                      <a:lumMod val="50000"/>
                    </a:schemeClr>
                  </a:solidFill>
                  <a:latin typeface="+mj-ea"/>
                </a:rPr>
                <a:t>天之后每天补</a:t>
              </a:r>
              <a:r>
                <a:rPr lang="en-US" altLang="zh-CN" sz="1200" kern="3000" spc="31" dirty="0">
                  <a:solidFill>
                    <a:schemeClr val="bg1">
                      <a:lumMod val="50000"/>
                    </a:schemeClr>
                  </a:solidFill>
                  <a:latin typeface="+mj-ea"/>
                </a:rPr>
                <a:t>3-5</a:t>
              </a:r>
              <a:r>
                <a:rPr lang="zh-CN" altLang="en-US" sz="1200" kern="3000" spc="31" dirty="0">
                  <a:solidFill>
                    <a:schemeClr val="bg1">
                      <a:lumMod val="50000"/>
                    </a:schemeClr>
                  </a:solidFill>
                  <a:latin typeface="+mj-ea"/>
                </a:rPr>
                <a:t>条直评</a:t>
              </a:r>
              <a:endParaRPr lang="zh-CN" altLang="en-US" sz="1200" kern="3000" spc="31" dirty="0">
                <a:solidFill>
                  <a:schemeClr val="bg1">
                    <a:lumMod val="50000"/>
                  </a:schemeClr>
                </a:solidFill>
                <a:latin typeface="+mj-ea"/>
              </a:endParaRPr>
            </a:p>
            <a:p>
              <a:pPr algn="just"/>
              <a:r>
                <a:rPr lang="en-US" altLang="zh-CN" sz="1200" kern="3000" spc="31" dirty="0">
                  <a:solidFill>
                    <a:schemeClr val="bg1">
                      <a:lumMod val="50000"/>
                    </a:schemeClr>
                  </a:solidFill>
                  <a:latin typeface="+mj-ea"/>
                </a:rPr>
                <a:t>15</a:t>
              </a:r>
              <a:r>
                <a:rPr lang="zh-CN" altLang="en-US" sz="1200" kern="3000" spc="31" dirty="0">
                  <a:solidFill>
                    <a:schemeClr val="bg1">
                      <a:lumMod val="50000"/>
                    </a:schemeClr>
                  </a:solidFill>
                  <a:latin typeface="+mj-ea"/>
                </a:rPr>
                <a:t>天补到</a:t>
              </a:r>
              <a:r>
                <a:rPr lang="en-US" altLang="zh-CN" sz="1200" kern="3000" spc="31" dirty="0">
                  <a:solidFill>
                    <a:schemeClr val="bg1">
                      <a:lumMod val="50000"/>
                    </a:schemeClr>
                  </a:solidFill>
                  <a:latin typeface="+mj-ea"/>
                </a:rPr>
                <a:t>30</a:t>
              </a:r>
              <a:r>
                <a:rPr lang="zh-CN" altLang="en-US" sz="1200" kern="3000" spc="31" dirty="0">
                  <a:solidFill>
                    <a:schemeClr val="bg1">
                      <a:lumMod val="50000"/>
                    </a:schemeClr>
                  </a:solidFill>
                  <a:latin typeface="+mj-ea"/>
                </a:rPr>
                <a:t>个直评，结合自然出单情况补</a:t>
              </a:r>
              <a:r>
                <a:rPr lang="en-US" altLang="zh-CN" sz="1200" kern="3000" spc="31" dirty="0">
                  <a:solidFill>
                    <a:schemeClr val="bg1">
                      <a:lumMod val="50000"/>
                    </a:schemeClr>
                  </a:solidFill>
                  <a:latin typeface="+mj-ea"/>
                </a:rPr>
                <a:t>VP, 4:6</a:t>
              </a:r>
              <a:endParaRPr lang="en-US" altLang="zh-CN" sz="1200" kern="3000" spc="31" dirty="0">
                <a:solidFill>
                  <a:schemeClr val="bg1">
                    <a:lumMod val="50000"/>
                  </a:schemeClr>
                </a:solidFill>
                <a:latin typeface="+mj-ea"/>
              </a:endParaRPr>
            </a:p>
            <a:p>
              <a:pPr algn="just"/>
              <a:endParaRPr lang="en-US" altLang="zh-CN" sz="1200" kern="3000" spc="31" dirty="0">
                <a:solidFill>
                  <a:schemeClr val="tx1">
                    <a:lumMod val="50000"/>
                    <a:lumOff val="50000"/>
                  </a:schemeClr>
                </a:solidFill>
                <a:latin typeface="+mj-ea"/>
                <a:cs typeface="+mn-ea"/>
              </a:endParaRPr>
            </a:p>
          </p:txBody>
        </p:sp>
      </p:grpSp>
      <p:grpSp>
        <p:nvGrpSpPr>
          <p:cNvPr id="7" name="组合 6"/>
          <p:cNvGrpSpPr/>
          <p:nvPr/>
        </p:nvGrpSpPr>
        <p:grpSpPr>
          <a:xfrm>
            <a:off x="4193980" y="3149225"/>
            <a:ext cx="5357865" cy="1015365"/>
            <a:chOff x="4192888" y="3149180"/>
            <a:chExt cx="5358702" cy="1015524"/>
          </a:xfrm>
        </p:grpSpPr>
        <p:sp>
          <p:nvSpPr>
            <p:cNvPr id="14" name="任意多边形 13"/>
            <p:cNvSpPr/>
            <p:nvPr/>
          </p:nvSpPr>
          <p:spPr>
            <a:xfrm>
              <a:off x="4192888" y="3149180"/>
              <a:ext cx="5358702" cy="992187"/>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234659" tIns="82228" rIns="82228" bIns="82228" spcCol="1270" anchor="ctr"/>
            <a:lstStyle/>
            <a:p>
              <a:pPr marL="285750" lvl="1" indent="-285750" defTabSz="1466850">
                <a:lnSpc>
                  <a:spcPct val="90000"/>
                </a:lnSpc>
                <a:spcAft>
                  <a:spcPct val="15000"/>
                </a:spcAft>
                <a:buFontTx/>
                <a:buChar char="•"/>
                <a:defRPr/>
              </a:pPr>
              <a:endParaRPr lang="zh-CN" altLang="en-US" sz="3300" dirty="0">
                <a:cs typeface="+mn-ea"/>
              </a:endParaRPr>
            </a:p>
            <a:p>
              <a:pPr marL="285750" lvl="1" indent="-285750" defTabSz="1466850">
                <a:lnSpc>
                  <a:spcPct val="90000"/>
                </a:lnSpc>
                <a:spcAft>
                  <a:spcPct val="15000"/>
                </a:spcAft>
                <a:buFontTx/>
                <a:buChar char="•"/>
                <a:defRPr/>
              </a:pPr>
              <a:endParaRPr lang="zh-CN" altLang="en-US" sz="3300" dirty="0">
                <a:cs typeface="+mn-ea"/>
              </a:endParaRPr>
            </a:p>
          </p:txBody>
        </p:sp>
        <p:sp>
          <p:nvSpPr>
            <p:cNvPr id="18" name="TextBox 10"/>
            <p:cNvSpPr txBox="1"/>
            <p:nvPr/>
          </p:nvSpPr>
          <p:spPr>
            <a:xfrm>
              <a:off x="4339596" y="3149815"/>
              <a:ext cx="5065551" cy="1014889"/>
            </a:xfrm>
            <a:prstGeom prst="rect">
              <a:avLst/>
            </a:prstGeom>
            <a:noFill/>
          </p:spPr>
          <p:txBody>
            <a:bodyPr wrap="square">
              <a:spAutoFit/>
            </a:bodyPr>
            <a:lstStyle/>
            <a:p>
              <a:pPr algn="just"/>
              <a:r>
                <a:rPr lang="en-US" sz="1200" kern="3000" spc="31" dirty="0">
                  <a:solidFill>
                    <a:schemeClr val="bg1">
                      <a:lumMod val="50000"/>
                    </a:schemeClr>
                  </a:solidFill>
                  <a:latin typeface="+mj-ea"/>
                </a:rPr>
                <a:t>FBA</a:t>
              </a:r>
              <a:r>
                <a:rPr lang="zh-CN" altLang="en-US" sz="1200" kern="3000" spc="31" dirty="0">
                  <a:solidFill>
                    <a:schemeClr val="bg1">
                      <a:lumMod val="50000"/>
                    </a:schemeClr>
                  </a:solidFill>
                  <a:latin typeface="+mj-ea"/>
                </a:rPr>
                <a:t>到货</a:t>
              </a:r>
              <a:r>
                <a:rPr lang="en-US" altLang="zh-CN" sz="1200" kern="3000" spc="31" dirty="0">
                  <a:solidFill>
                    <a:schemeClr val="bg1">
                      <a:lumMod val="50000"/>
                    </a:schemeClr>
                  </a:solidFill>
                  <a:latin typeface="+mj-ea"/>
                </a:rPr>
                <a:t>30</a:t>
              </a:r>
              <a:r>
                <a:rPr lang="zh-CN" altLang="en-US" sz="1200" kern="3000" spc="31" dirty="0">
                  <a:solidFill>
                    <a:schemeClr val="bg1">
                      <a:lumMod val="50000"/>
                    </a:schemeClr>
                  </a:solidFill>
                  <a:latin typeface="+mj-ea"/>
                </a:rPr>
                <a:t>天之后，评论累计最少</a:t>
              </a:r>
              <a:r>
                <a:rPr lang="en-US" altLang="zh-CN" sz="1200" kern="3000" spc="31" dirty="0">
                  <a:solidFill>
                    <a:schemeClr val="bg1">
                      <a:lumMod val="50000"/>
                    </a:schemeClr>
                  </a:solidFill>
                  <a:latin typeface="+mj-ea"/>
                </a:rPr>
                <a:t>50</a:t>
              </a:r>
              <a:r>
                <a:rPr lang="zh-CN" altLang="en-US" sz="1200" kern="3000" spc="31" dirty="0">
                  <a:solidFill>
                    <a:schemeClr val="bg1">
                      <a:lumMod val="50000"/>
                    </a:schemeClr>
                  </a:solidFill>
                  <a:latin typeface="+mj-ea"/>
                </a:rPr>
                <a:t>个，</a:t>
              </a:r>
              <a:r>
                <a:rPr lang="zh-CN" altLang="en-US" sz="1200" kern="3000" spc="31" dirty="0">
                  <a:solidFill>
                    <a:schemeClr val="bg1">
                      <a:lumMod val="50000"/>
                    </a:schemeClr>
                  </a:solidFill>
                  <a:latin typeface="+mj-ea"/>
                  <a:cs typeface="+mn-ea"/>
                </a:rPr>
                <a:t>马上申报</a:t>
              </a:r>
              <a:r>
                <a:rPr lang="en-US" altLang="zh-CN" sz="1200" kern="3000" spc="31" dirty="0">
                  <a:solidFill>
                    <a:schemeClr val="bg1">
                      <a:lumMod val="50000"/>
                    </a:schemeClr>
                  </a:solidFill>
                  <a:latin typeface="+mj-ea"/>
                  <a:cs typeface="+mn-ea"/>
                </a:rPr>
                <a:t>LD</a:t>
              </a:r>
              <a:endParaRPr lang="en-US" altLang="zh-CN" sz="1200" kern="3000" spc="31" dirty="0">
                <a:solidFill>
                  <a:schemeClr val="bg1">
                    <a:lumMod val="50000"/>
                  </a:schemeClr>
                </a:solidFill>
                <a:latin typeface="+mj-ea"/>
                <a:cs typeface="+mn-ea"/>
              </a:endParaRPr>
            </a:p>
            <a:p>
              <a:pPr algn="just"/>
              <a:r>
                <a:rPr lang="zh-CN" altLang="en-US" sz="1200" kern="3000" spc="31" dirty="0">
                  <a:solidFill>
                    <a:schemeClr val="tx1">
                      <a:lumMod val="50000"/>
                      <a:lumOff val="50000"/>
                    </a:schemeClr>
                  </a:solidFill>
                  <a:latin typeface="+mj-ea"/>
                  <a:cs typeface="+mn-ea"/>
                </a:rPr>
                <a:t>观察自然出单与排名情况，</a:t>
              </a:r>
              <a:r>
                <a:rPr lang="en-US" altLang="zh-CN" sz="1200" kern="3000" spc="31" dirty="0">
                  <a:solidFill>
                    <a:schemeClr val="tx1">
                      <a:lumMod val="50000"/>
                      <a:lumOff val="50000"/>
                    </a:schemeClr>
                  </a:solidFill>
                  <a:latin typeface="+mj-ea"/>
                  <a:cs typeface="+mn-ea"/>
                </a:rPr>
                <a:t>CPC</a:t>
              </a:r>
              <a:r>
                <a:rPr lang="zh-CN" altLang="en-US" sz="1200" kern="3000" spc="31" dirty="0">
                  <a:solidFill>
                    <a:schemeClr val="tx1">
                      <a:lumMod val="50000"/>
                      <a:lumOff val="50000"/>
                    </a:schemeClr>
                  </a:solidFill>
                  <a:latin typeface="+mj-ea"/>
                  <a:cs typeface="+mn-ea"/>
                </a:rPr>
                <a:t>不断优化，一周最少调整两次，下载一次报表</a:t>
              </a:r>
              <a:endParaRPr lang="zh-CN" altLang="en-US" sz="1200" kern="3000" spc="31" dirty="0">
                <a:solidFill>
                  <a:schemeClr val="tx1">
                    <a:lumMod val="50000"/>
                    <a:lumOff val="50000"/>
                  </a:schemeClr>
                </a:solidFill>
                <a:latin typeface="+mj-ea"/>
                <a:cs typeface="+mn-ea"/>
              </a:endParaRPr>
            </a:p>
            <a:p>
              <a:pPr algn="just"/>
              <a:r>
                <a:rPr lang="zh-CN" altLang="en-US" sz="1200" kern="3000" spc="31" dirty="0">
                  <a:solidFill>
                    <a:schemeClr val="tx1">
                      <a:lumMod val="50000"/>
                      <a:lumOff val="50000"/>
                    </a:schemeClr>
                  </a:solidFill>
                  <a:latin typeface="+mj-ea"/>
                  <a:cs typeface="+mn-ea"/>
                </a:rPr>
                <a:t>利润在</a:t>
              </a:r>
              <a:r>
                <a:rPr lang="en-US" altLang="zh-CN" sz="1200" kern="3000" spc="31" dirty="0">
                  <a:solidFill>
                    <a:schemeClr val="tx1">
                      <a:lumMod val="50000"/>
                      <a:lumOff val="50000"/>
                    </a:schemeClr>
                  </a:solidFill>
                  <a:latin typeface="+mj-ea"/>
                  <a:cs typeface="+mn-ea"/>
                </a:rPr>
                <a:t>40%</a:t>
              </a:r>
              <a:r>
                <a:rPr lang="zh-CN" altLang="en-US" sz="1200" kern="3000" spc="31" dirty="0">
                  <a:solidFill>
                    <a:schemeClr val="tx1">
                      <a:lumMod val="50000"/>
                      <a:lumOff val="50000"/>
                    </a:schemeClr>
                  </a:solidFill>
                  <a:latin typeface="+mj-ea"/>
                  <a:cs typeface="+mn-ea"/>
                </a:rPr>
                <a:t>以上，做买立减促销</a:t>
              </a:r>
              <a:endParaRPr lang="zh-CN" altLang="en-US" sz="1200" kern="3000" spc="31" dirty="0">
                <a:solidFill>
                  <a:schemeClr val="tx1">
                    <a:lumMod val="50000"/>
                    <a:lumOff val="50000"/>
                  </a:schemeClr>
                </a:solidFill>
                <a:latin typeface="+mj-ea"/>
                <a:cs typeface="+mn-ea"/>
              </a:endParaRPr>
            </a:p>
            <a:p>
              <a:pPr algn="just"/>
              <a:r>
                <a:rPr lang="en-US" altLang="zh-CN" sz="1200" kern="3000" spc="31" dirty="0">
                  <a:solidFill>
                    <a:schemeClr val="tx1">
                      <a:lumMod val="50000"/>
                      <a:lumOff val="50000"/>
                    </a:schemeClr>
                  </a:solidFill>
                  <a:latin typeface="+mj-ea"/>
                  <a:cs typeface="+mn-ea"/>
                </a:rPr>
                <a:t>60</a:t>
              </a:r>
              <a:r>
                <a:rPr lang="zh-CN" altLang="en-US" sz="1200" kern="3000" spc="31" dirty="0">
                  <a:solidFill>
                    <a:schemeClr val="tx1">
                      <a:lumMod val="50000"/>
                      <a:lumOff val="50000"/>
                    </a:schemeClr>
                  </a:solidFill>
                  <a:latin typeface="+mj-ea"/>
                  <a:cs typeface="+mn-ea"/>
                </a:rPr>
                <a:t>天之后</a:t>
              </a:r>
              <a:r>
                <a:rPr lang="en-US" altLang="zh-CN" sz="1200" kern="3000" spc="31" dirty="0">
                  <a:solidFill>
                    <a:schemeClr val="tx1">
                      <a:lumMod val="50000"/>
                      <a:lumOff val="50000"/>
                    </a:schemeClr>
                  </a:solidFill>
                  <a:latin typeface="+mj-ea"/>
                  <a:cs typeface="+mn-ea"/>
                </a:rPr>
                <a:t>Listing</a:t>
              </a:r>
              <a:r>
                <a:rPr lang="zh-CN" altLang="en-US" sz="1200" kern="3000" spc="31" dirty="0">
                  <a:solidFill>
                    <a:schemeClr val="tx1">
                      <a:lumMod val="50000"/>
                      <a:lumOff val="50000"/>
                    </a:schemeClr>
                  </a:solidFill>
                  <a:latin typeface="+mj-ea"/>
                  <a:cs typeface="+mn-ea"/>
                </a:rPr>
                <a:t>评论</a:t>
              </a:r>
              <a:r>
                <a:rPr lang="en-US" altLang="zh-CN" sz="1200" kern="3000" spc="31" dirty="0">
                  <a:solidFill>
                    <a:schemeClr val="tx1">
                      <a:lumMod val="50000"/>
                      <a:lumOff val="50000"/>
                    </a:schemeClr>
                  </a:solidFill>
                  <a:latin typeface="+mj-ea"/>
                  <a:cs typeface="+mn-ea"/>
                </a:rPr>
                <a:t>60</a:t>
              </a:r>
              <a:r>
                <a:rPr lang="zh-CN" altLang="en-US" sz="1200" kern="3000" spc="31" dirty="0">
                  <a:solidFill>
                    <a:schemeClr val="tx1">
                      <a:lumMod val="50000"/>
                      <a:lumOff val="50000"/>
                    </a:schemeClr>
                  </a:solidFill>
                  <a:latin typeface="+mj-ea"/>
                  <a:cs typeface="+mn-ea"/>
                </a:rPr>
                <a:t>个以上，定好目标！</a:t>
              </a:r>
              <a:endParaRPr lang="zh-CN" altLang="en-US" sz="1200" kern="3000" spc="31" dirty="0">
                <a:solidFill>
                  <a:schemeClr val="tx1">
                    <a:lumMod val="50000"/>
                    <a:lumOff val="50000"/>
                  </a:schemeClr>
                </a:solidFill>
                <a:latin typeface="+mj-ea"/>
                <a:cs typeface="+mn-ea"/>
              </a:endParaRPr>
            </a:p>
          </p:txBody>
        </p:sp>
      </p:grpSp>
      <p:grpSp>
        <p:nvGrpSpPr>
          <p:cNvPr id="8" name="组合 7"/>
          <p:cNvGrpSpPr/>
          <p:nvPr/>
        </p:nvGrpSpPr>
        <p:grpSpPr>
          <a:xfrm>
            <a:off x="4193980" y="4525372"/>
            <a:ext cx="5357865" cy="993620"/>
            <a:chOff x="4192888" y="4525542"/>
            <a:chExt cx="5358702" cy="993775"/>
          </a:xfrm>
        </p:grpSpPr>
        <p:sp>
          <p:nvSpPr>
            <p:cNvPr id="16" name="任意多边形 15"/>
            <p:cNvSpPr/>
            <p:nvPr/>
          </p:nvSpPr>
          <p:spPr>
            <a:xfrm>
              <a:off x="4192888" y="4525542"/>
              <a:ext cx="5358702" cy="993775"/>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a:ln>
              <a:solidFill>
                <a:schemeClr val="accent2"/>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234659" tIns="82228" rIns="82228" bIns="82228" spcCol="1270" anchor="ctr"/>
            <a:lstStyle/>
            <a:p>
              <a:pPr marL="285750" lvl="1" indent="-285750" defTabSz="1466850">
                <a:lnSpc>
                  <a:spcPct val="90000"/>
                </a:lnSpc>
                <a:spcAft>
                  <a:spcPct val="15000"/>
                </a:spcAft>
                <a:buFontTx/>
                <a:buChar char="•"/>
                <a:defRPr/>
              </a:pPr>
              <a:endParaRPr lang="zh-CN" altLang="en-US" sz="3300">
                <a:cs typeface="+mn-ea"/>
              </a:endParaRPr>
            </a:p>
            <a:p>
              <a:pPr marL="285750" lvl="1" indent="-285750" defTabSz="1466850">
                <a:lnSpc>
                  <a:spcPct val="90000"/>
                </a:lnSpc>
                <a:spcAft>
                  <a:spcPct val="15000"/>
                </a:spcAft>
                <a:buFontTx/>
                <a:buChar char="•"/>
                <a:defRPr/>
              </a:pPr>
              <a:endParaRPr lang="zh-CN" altLang="en-US" sz="3300">
                <a:cs typeface="+mn-ea"/>
              </a:endParaRPr>
            </a:p>
          </p:txBody>
        </p:sp>
        <p:sp>
          <p:nvSpPr>
            <p:cNvPr id="19" name="TextBox 10"/>
            <p:cNvSpPr txBox="1"/>
            <p:nvPr/>
          </p:nvSpPr>
          <p:spPr>
            <a:xfrm>
              <a:off x="4339236" y="4676351"/>
              <a:ext cx="5065053" cy="645261"/>
            </a:xfrm>
            <a:prstGeom prst="rect">
              <a:avLst/>
            </a:prstGeom>
            <a:noFill/>
          </p:spPr>
          <p:txBody>
            <a:bodyPr>
              <a:spAutoFit/>
            </a:bodyPr>
            <a:lstStyle/>
            <a:p>
              <a:pPr algn="just"/>
              <a:r>
                <a:rPr lang="zh-CN" altLang="en-US" sz="1200" dirty="0">
                  <a:solidFill>
                    <a:schemeClr val="bg1">
                      <a:lumMod val="50000"/>
                    </a:schemeClr>
                  </a:solidFill>
                  <a:latin typeface="+mn-ea"/>
                  <a:cs typeface="+mn-ea"/>
                </a:rPr>
                <a:t>评论最少</a:t>
              </a:r>
              <a:r>
                <a:rPr lang="en-US" altLang="zh-CN" sz="1200" dirty="0">
                  <a:solidFill>
                    <a:schemeClr val="bg1">
                      <a:lumMod val="50000"/>
                    </a:schemeClr>
                  </a:solidFill>
                  <a:latin typeface="+mn-ea"/>
                  <a:cs typeface="+mn-ea"/>
                </a:rPr>
                <a:t>100</a:t>
              </a:r>
              <a:r>
                <a:rPr lang="zh-CN" altLang="en-US" sz="1200" dirty="0">
                  <a:solidFill>
                    <a:schemeClr val="bg1">
                      <a:lumMod val="50000"/>
                    </a:schemeClr>
                  </a:solidFill>
                  <a:latin typeface="+mn-ea"/>
                  <a:cs typeface="+mn-ea"/>
                </a:rPr>
                <a:t>个，评分</a:t>
              </a:r>
              <a:r>
                <a:rPr lang="en-US" altLang="zh-CN" sz="1200" dirty="0">
                  <a:solidFill>
                    <a:schemeClr val="bg1">
                      <a:lumMod val="50000"/>
                    </a:schemeClr>
                  </a:solidFill>
                  <a:latin typeface="+mn-ea"/>
                  <a:cs typeface="+mn-ea"/>
                </a:rPr>
                <a:t>4.3</a:t>
              </a:r>
              <a:r>
                <a:rPr lang="zh-CN" altLang="en-US" sz="1200" dirty="0">
                  <a:solidFill>
                    <a:schemeClr val="bg1">
                      <a:lumMod val="50000"/>
                    </a:schemeClr>
                  </a:solidFill>
                  <a:latin typeface="+mn-ea"/>
                  <a:cs typeface="+mn-ea"/>
                </a:rPr>
                <a:t>以上</a:t>
              </a:r>
              <a:r>
                <a:rPr lang="en-US" altLang="zh-CN" sz="1200" dirty="0">
                  <a:solidFill>
                    <a:schemeClr val="bg1">
                      <a:lumMod val="50000"/>
                    </a:schemeClr>
                  </a:solidFill>
                  <a:latin typeface="+mn-ea"/>
                  <a:cs typeface="+mn-ea"/>
                </a:rPr>
                <a:t>(</a:t>
              </a:r>
              <a:r>
                <a:rPr lang="zh-CN" altLang="en-US" sz="1200" dirty="0">
                  <a:solidFill>
                    <a:schemeClr val="bg1">
                      <a:lumMod val="50000"/>
                    </a:schemeClr>
                  </a:solidFill>
                  <a:latin typeface="+mn-ea"/>
                  <a:cs typeface="+mn-ea"/>
                </a:rPr>
                <a:t>结合产品的市场评分</a:t>
              </a:r>
              <a:r>
                <a:rPr lang="en-US" altLang="zh-CN" sz="1200" dirty="0">
                  <a:solidFill>
                    <a:schemeClr val="bg1">
                      <a:lumMod val="50000"/>
                    </a:schemeClr>
                  </a:solidFill>
                  <a:latin typeface="+mn-ea"/>
                  <a:cs typeface="+mn-ea"/>
                </a:rPr>
                <a:t>)</a:t>
              </a:r>
              <a:endParaRPr lang="en-US" altLang="zh-CN" sz="1200" dirty="0">
                <a:solidFill>
                  <a:schemeClr val="bg1">
                    <a:lumMod val="50000"/>
                  </a:schemeClr>
                </a:solidFill>
                <a:latin typeface="+mn-ea"/>
                <a:cs typeface="+mn-ea"/>
              </a:endParaRPr>
            </a:p>
            <a:p>
              <a:pPr algn="just"/>
              <a:r>
                <a:rPr lang="zh-CN" altLang="en-US" sz="1200" dirty="0">
                  <a:solidFill>
                    <a:schemeClr val="bg1">
                      <a:lumMod val="50000"/>
                    </a:schemeClr>
                  </a:solidFill>
                  <a:latin typeface="+mn-ea"/>
                  <a:cs typeface="+mn-ea"/>
                </a:rPr>
                <a:t>产品的质量差评率是否达到预期改善的效果</a:t>
              </a:r>
              <a:endParaRPr lang="zh-CN" altLang="en-US" sz="1200" dirty="0">
                <a:solidFill>
                  <a:schemeClr val="bg1">
                    <a:lumMod val="50000"/>
                  </a:schemeClr>
                </a:solidFill>
                <a:latin typeface="+mn-ea"/>
                <a:cs typeface="+mn-ea"/>
              </a:endParaRPr>
            </a:p>
            <a:p>
              <a:pPr algn="just"/>
              <a:r>
                <a:rPr lang="zh-CN" altLang="en-US" sz="1200" dirty="0">
                  <a:solidFill>
                    <a:schemeClr val="bg1">
                      <a:lumMod val="50000"/>
                    </a:schemeClr>
                  </a:solidFill>
                  <a:latin typeface="+mn-ea"/>
                  <a:cs typeface="+mn-ea"/>
                </a:rPr>
                <a:t>一个产品卖到三个月，考虑是否国内备货</a:t>
              </a:r>
              <a:endParaRPr lang="zh-CN" altLang="en-US" sz="1200" dirty="0">
                <a:solidFill>
                  <a:schemeClr val="bg1">
                    <a:lumMod val="50000"/>
                  </a:schemeClr>
                </a:solidFill>
                <a:latin typeface="+mn-ea"/>
                <a:cs typeface="+mn-ea"/>
              </a:endParaRPr>
            </a:p>
          </p:txBody>
        </p:sp>
      </p:grpSp>
      <p:grpSp>
        <p:nvGrpSpPr>
          <p:cNvPr id="3" name="组合 2"/>
          <p:cNvGrpSpPr/>
          <p:nvPr/>
        </p:nvGrpSpPr>
        <p:grpSpPr>
          <a:xfrm>
            <a:off x="3124311" y="1773077"/>
            <a:ext cx="1069669" cy="1526936"/>
            <a:chOff x="3123052" y="1772817"/>
            <a:chExt cx="1069836" cy="1527175"/>
          </a:xfrm>
        </p:grpSpPr>
        <p:sp>
          <p:nvSpPr>
            <p:cNvPr id="11" name="任意多边形 10"/>
            <p:cNvSpPr/>
            <p:nvPr/>
          </p:nvSpPr>
          <p:spPr>
            <a:xfrm>
              <a:off x="3123052" y="1772817"/>
              <a:ext cx="1069836" cy="1527175"/>
            </a:xfrm>
            <a:custGeom>
              <a:avLst/>
              <a:gdLst>
                <a:gd name="connsiteX0" fmla="*/ 0 w 1931458"/>
                <a:gd name="connsiteY0" fmla="*/ 0 h 1352020"/>
                <a:gd name="connsiteX1" fmla="*/ 1255448 w 1931458"/>
                <a:gd name="connsiteY1" fmla="*/ 0 h 1352020"/>
                <a:gd name="connsiteX2" fmla="*/ 1931458 w 1931458"/>
                <a:gd name="connsiteY2" fmla="*/ 676010 h 1352020"/>
                <a:gd name="connsiteX3" fmla="*/ 1255448 w 1931458"/>
                <a:gd name="connsiteY3" fmla="*/ 1352020 h 1352020"/>
                <a:gd name="connsiteX4" fmla="*/ 0 w 1931458"/>
                <a:gd name="connsiteY4" fmla="*/ 1352020 h 1352020"/>
                <a:gd name="connsiteX5" fmla="*/ 676010 w 1931458"/>
                <a:gd name="connsiteY5" fmla="*/ 676010 h 1352020"/>
                <a:gd name="connsiteX6" fmla="*/ 0 w 1931458"/>
                <a:gd name="connsiteY6" fmla="*/ 0 h 13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458" h="1352020">
                  <a:moveTo>
                    <a:pt x="1931457" y="0"/>
                  </a:moveTo>
                  <a:lnTo>
                    <a:pt x="1931457" y="878813"/>
                  </a:lnTo>
                  <a:lnTo>
                    <a:pt x="965729" y="1352020"/>
                  </a:lnTo>
                  <a:lnTo>
                    <a:pt x="1" y="878813"/>
                  </a:lnTo>
                  <a:lnTo>
                    <a:pt x="1" y="0"/>
                  </a:lnTo>
                  <a:lnTo>
                    <a:pt x="965729" y="473207"/>
                  </a:lnTo>
                  <a:lnTo>
                    <a:pt x="1931457" y="0"/>
                  </a:lnTo>
                  <a:close/>
                </a:path>
              </a:pathLst>
            </a:custGeom>
            <a:solidFill>
              <a:schemeClr val="tx2"/>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2221" tIns="698126" rIns="22221" bIns="698125" spcCol="1270" anchor="ctr"/>
            <a:lstStyle/>
            <a:p>
              <a:pPr algn="ctr" defTabSz="1555750">
                <a:lnSpc>
                  <a:spcPct val="90000"/>
                </a:lnSpc>
                <a:spcAft>
                  <a:spcPct val="35000"/>
                </a:spcAft>
                <a:defRPr/>
              </a:pPr>
              <a:endParaRPr lang="zh-CN" altLang="en-US" sz="3500">
                <a:cs typeface="+mn-ea"/>
              </a:endParaRPr>
            </a:p>
          </p:txBody>
        </p:sp>
        <p:sp>
          <p:nvSpPr>
            <p:cNvPr id="23568" name="文本框 19"/>
            <p:cNvSpPr txBox="1">
              <a:spLocks noChangeArrowheads="1"/>
            </p:cNvSpPr>
            <p:nvPr/>
          </p:nvSpPr>
          <p:spPr bwMode="auto">
            <a:xfrm>
              <a:off x="3217682" y="2467615"/>
              <a:ext cx="974877" cy="39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a:solidFill>
                    <a:schemeClr val="bg1"/>
                  </a:solidFill>
                  <a:latin typeface="+mn-ea"/>
                  <a:ea typeface="+mn-ea"/>
                  <a:cs typeface="+mn-ea"/>
                </a:rPr>
                <a:t>一个月</a:t>
              </a:r>
              <a:endParaRPr lang="zh-CN" altLang="en-US" sz="2000" b="1">
                <a:solidFill>
                  <a:schemeClr val="bg1"/>
                </a:solidFill>
                <a:latin typeface="+mn-ea"/>
                <a:ea typeface="+mn-ea"/>
                <a:cs typeface="+mn-ea"/>
              </a:endParaRPr>
            </a:p>
          </p:txBody>
        </p:sp>
      </p:grpSp>
      <p:grpSp>
        <p:nvGrpSpPr>
          <p:cNvPr id="4" name="组合 3"/>
          <p:cNvGrpSpPr/>
          <p:nvPr/>
        </p:nvGrpSpPr>
        <p:grpSpPr>
          <a:xfrm>
            <a:off x="3124311" y="3149225"/>
            <a:ext cx="1069975" cy="1526936"/>
            <a:chOff x="3123052" y="3149180"/>
            <a:chExt cx="1070142" cy="1527175"/>
          </a:xfrm>
        </p:grpSpPr>
        <p:sp>
          <p:nvSpPr>
            <p:cNvPr id="13" name="任意多边形 12"/>
            <p:cNvSpPr/>
            <p:nvPr/>
          </p:nvSpPr>
          <p:spPr>
            <a:xfrm>
              <a:off x="3123052" y="3149180"/>
              <a:ext cx="1069836" cy="1527175"/>
            </a:xfrm>
            <a:custGeom>
              <a:avLst/>
              <a:gdLst>
                <a:gd name="connsiteX0" fmla="*/ 0 w 1931458"/>
                <a:gd name="connsiteY0" fmla="*/ 0 h 1352020"/>
                <a:gd name="connsiteX1" fmla="*/ 1255448 w 1931458"/>
                <a:gd name="connsiteY1" fmla="*/ 0 h 1352020"/>
                <a:gd name="connsiteX2" fmla="*/ 1931458 w 1931458"/>
                <a:gd name="connsiteY2" fmla="*/ 676010 h 1352020"/>
                <a:gd name="connsiteX3" fmla="*/ 1255448 w 1931458"/>
                <a:gd name="connsiteY3" fmla="*/ 1352020 h 1352020"/>
                <a:gd name="connsiteX4" fmla="*/ 0 w 1931458"/>
                <a:gd name="connsiteY4" fmla="*/ 1352020 h 1352020"/>
                <a:gd name="connsiteX5" fmla="*/ 676010 w 1931458"/>
                <a:gd name="connsiteY5" fmla="*/ 676010 h 1352020"/>
                <a:gd name="connsiteX6" fmla="*/ 0 w 1931458"/>
                <a:gd name="connsiteY6" fmla="*/ 0 h 13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458" h="1352020">
                  <a:moveTo>
                    <a:pt x="1931457" y="0"/>
                  </a:moveTo>
                  <a:lnTo>
                    <a:pt x="1931457" y="878813"/>
                  </a:lnTo>
                  <a:lnTo>
                    <a:pt x="965729" y="1352020"/>
                  </a:lnTo>
                  <a:lnTo>
                    <a:pt x="1" y="878813"/>
                  </a:lnTo>
                  <a:lnTo>
                    <a:pt x="1" y="0"/>
                  </a:lnTo>
                  <a:lnTo>
                    <a:pt x="965729" y="473207"/>
                  </a:lnTo>
                  <a:lnTo>
                    <a:pt x="1931457" y="0"/>
                  </a:lnTo>
                  <a:close/>
                </a:path>
              </a:pathLst>
            </a:custGeom>
            <a:solidFill>
              <a:schemeClr val="accent1"/>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2221" tIns="698125" rIns="22221" bIns="698125" spcCol="1270" anchor="ctr"/>
            <a:lstStyle/>
            <a:p>
              <a:pPr algn="ctr" defTabSz="1555750">
                <a:lnSpc>
                  <a:spcPct val="90000"/>
                </a:lnSpc>
                <a:spcAft>
                  <a:spcPct val="35000"/>
                </a:spcAft>
                <a:defRPr/>
              </a:pPr>
              <a:endParaRPr lang="zh-CN" altLang="en-US" sz="3500">
                <a:cs typeface="+mn-ea"/>
              </a:endParaRPr>
            </a:p>
          </p:txBody>
        </p:sp>
        <p:sp>
          <p:nvSpPr>
            <p:cNvPr id="23569" name="文本框 20"/>
            <p:cNvSpPr txBox="1">
              <a:spLocks noChangeArrowheads="1"/>
            </p:cNvSpPr>
            <p:nvPr/>
          </p:nvSpPr>
          <p:spPr bwMode="auto">
            <a:xfrm>
              <a:off x="3217682" y="3860491"/>
              <a:ext cx="975512" cy="39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a:solidFill>
                    <a:schemeClr val="bg1"/>
                  </a:solidFill>
                  <a:latin typeface="+mn-ea"/>
                  <a:ea typeface="+mn-ea"/>
                  <a:cs typeface="+mn-ea"/>
                </a:rPr>
                <a:t>两个月</a:t>
              </a:r>
              <a:endParaRPr lang="zh-CN" altLang="en-US" sz="2000" b="1">
                <a:solidFill>
                  <a:schemeClr val="bg1"/>
                </a:solidFill>
                <a:latin typeface="+mn-ea"/>
                <a:ea typeface="+mn-ea"/>
                <a:cs typeface="+mn-ea"/>
              </a:endParaRPr>
            </a:p>
          </p:txBody>
        </p:sp>
      </p:grpSp>
      <p:grpSp>
        <p:nvGrpSpPr>
          <p:cNvPr id="5" name="组合 4"/>
          <p:cNvGrpSpPr/>
          <p:nvPr/>
        </p:nvGrpSpPr>
        <p:grpSpPr>
          <a:xfrm>
            <a:off x="3124311" y="4525372"/>
            <a:ext cx="1069975" cy="1528524"/>
            <a:chOff x="3123052" y="4525542"/>
            <a:chExt cx="1070142" cy="1528763"/>
          </a:xfrm>
        </p:grpSpPr>
        <p:sp>
          <p:nvSpPr>
            <p:cNvPr id="15" name="任意多边形 14"/>
            <p:cNvSpPr/>
            <p:nvPr/>
          </p:nvSpPr>
          <p:spPr>
            <a:xfrm>
              <a:off x="3123052" y="4525542"/>
              <a:ext cx="1069836" cy="1528763"/>
            </a:xfrm>
            <a:custGeom>
              <a:avLst/>
              <a:gdLst>
                <a:gd name="connsiteX0" fmla="*/ 0 w 1931458"/>
                <a:gd name="connsiteY0" fmla="*/ 0 h 1352020"/>
                <a:gd name="connsiteX1" fmla="*/ 1255448 w 1931458"/>
                <a:gd name="connsiteY1" fmla="*/ 0 h 1352020"/>
                <a:gd name="connsiteX2" fmla="*/ 1931458 w 1931458"/>
                <a:gd name="connsiteY2" fmla="*/ 676010 h 1352020"/>
                <a:gd name="connsiteX3" fmla="*/ 1255448 w 1931458"/>
                <a:gd name="connsiteY3" fmla="*/ 1352020 h 1352020"/>
                <a:gd name="connsiteX4" fmla="*/ 0 w 1931458"/>
                <a:gd name="connsiteY4" fmla="*/ 1352020 h 1352020"/>
                <a:gd name="connsiteX5" fmla="*/ 676010 w 1931458"/>
                <a:gd name="connsiteY5" fmla="*/ 676010 h 1352020"/>
                <a:gd name="connsiteX6" fmla="*/ 0 w 1931458"/>
                <a:gd name="connsiteY6" fmla="*/ 0 h 13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458" h="1352020">
                  <a:moveTo>
                    <a:pt x="1931457" y="0"/>
                  </a:moveTo>
                  <a:lnTo>
                    <a:pt x="1931457" y="878813"/>
                  </a:lnTo>
                  <a:lnTo>
                    <a:pt x="965729" y="1352020"/>
                  </a:lnTo>
                  <a:lnTo>
                    <a:pt x="1" y="878813"/>
                  </a:lnTo>
                  <a:lnTo>
                    <a:pt x="1" y="0"/>
                  </a:lnTo>
                  <a:lnTo>
                    <a:pt x="965729" y="473207"/>
                  </a:lnTo>
                  <a:lnTo>
                    <a:pt x="1931457" y="0"/>
                  </a:lnTo>
                  <a:close/>
                </a:path>
              </a:pathLst>
            </a:custGeom>
            <a:solidFill>
              <a:schemeClr val="accent2"/>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2221" tIns="698125" rIns="22221" bIns="698125" spcCol="1270" anchor="ctr"/>
            <a:lstStyle/>
            <a:p>
              <a:pPr algn="ctr" defTabSz="1555750">
                <a:lnSpc>
                  <a:spcPct val="90000"/>
                </a:lnSpc>
                <a:spcAft>
                  <a:spcPct val="35000"/>
                </a:spcAft>
                <a:defRPr/>
              </a:pPr>
              <a:endParaRPr lang="zh-CN" altLang="en-US" sz="3500">
                <a:cs typeface="+mn-ea"/>
              </a:endParaRPr>
            </a:p>
          </p:txBody>
        </p:sp>
        <p:sp>
          <p:nvSpPr>
            <p:cNvPr id="23570" name="文本框 21"/>
            <p:cNvSpPr txBox="1">
              <a:spLocks noChangeArrowheads="1"/>
            </p:cNvSpPr>
            <p:nvPr/>
          </p:nvSpPr>
          <p:spPr bwMode="auto">
            <a:xfrm>
              <a:off x="3217682" y="5189221"/>
              <a:ext cx="975512" cy="39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a:solidFill>
                    <a:schemeClr val="bg1"/>
                  </a:solidFill>
                  <a:latin typeface="+mn-ea"/>
                  <a:ea typeface="+mn-ea"/>
                  <a:cs typeface="+mn-ea"/>
                </a:rPr>
                <a:t>三个月</a:t>
              </a:r>
              <a:endParaRPr lang="zh-CN" altLang="en-US" sz="2000" b="1">
                <a:solidFill>
                  <a:schemeClr val="bg1"/>
                </a:solidFill>
                <a:latin typeface="+mn-ea"/>
                <a:ea typeface="+mn-ea"/>
                <a:cs typeface="+mn-ea"/>
              </a:endParaRPr>
            </a:p>
          </p:txBody>
        </p:sp>
      </p:grpSp>
      <p:sp>
        <p:nvSpPr>
          <p:cNvPr id="9" name="矩形 8"/>
          <p:cNvSpPr/>
          <p:nvPr/>
        </p:nvSpPr>
        <p:spPr>
          <a:xfrm rot="1620000">
            <a:off x="7947978"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grpSp>
        <p:nvGrpSpPr>
          <p:cNvPr id="10" name="组合 9"/>
          <p:cNvGrpSpPr/>
          <p:nvPr/>
        </p:nvGrpSpPr>
        <p:grpSpPr>
          <a:xfrm>
            <a:off x="3124946" y="1773712"/>
            <a:ext cx="1069669" cy="1526936"/>
            <a:chOff x="3123052" y="1772817"/>
            <a:chExt cx="1069836" cy="1527175"/>
          </a:xfrm>
          <a:solidFill>
            <a:schemeClr val="tx1">
              <a:lumMod val="75000"/>
              <a:lumOff val="25000"/>
            </a:schemeClr>
          </a:solidFill>
        </p:grpSpPr>
        <p:sp>
          <p:nvSpPr>
            <p:cNvPr id="20" name="任意多边形 19"/>
            <p:cNvSpPr/>
            <p:nvPr/>
          </p:nvSpPr>
          <p:spPr>
            <a:xfrm>
              <a:off x="3123052" y="1772817"/>
              <a:ext cx="1069836" cy="1527175"/>
            </a:xfrm>
            <a:custGeom>
              <a:avLst/>
              <a:gdLst>
                <a:gd name="connsiteX0" fmla="*/ 0 w 1931458"/>
                <a:gd name="connsiteY0" fmla="*/ 0 h 1352020"/>
                <a:gd name="connsiteX1" fmla="*/ 1255448 w 1931458"/>
                <a:gd name="connsiteY1" fmla="*/ 0 h 1352020"/>
                <a:gd name="connsiteX2" fmla="*/ 1931458 w 1931458"/>
                <a:gd name="connsiteY2" fmla="*/ 676010 h 1352020"/>
                <a:gd name="connsiteX3" fmla="*/ 1255448 w 1931458"/>
                <a:gd name="connsiteY3" fmla="*/ 1352020 h 1352020"/>
                <a:gd name="connsiteX4" fmla="*/ 0 w 1931458"/>
                <a:gd name="connsiteY4" fmla="*/ 1352020 h 1352020"/>
                <a:gd name="connsiteX5" fmla="*/ 676010 w 1931458"/>
                <a:gd name="connsiteY5" fmla="*/ 676010 h 1352020"/>
                <a:gd name="connsiteX6" fmla="*/ 0 w 1931458"/>
                <a:gd name="connsiteY6" fmla="*/ 0 h 13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458" h="1352020">
                  <a:moveTo>
                    <a:pt x="1931457" y="0"/>
                  </a:moveTo>
                  <a:lnTo>
                    <a:pt x="1931457" y="878813"/>
                  </a:lnTo>
                  <a:lnTo>
                    <a:pt x="965729" y="1352020"/>
                  </a:lnTo>
                  <a:lnTo>
                    <a:pt x="1" y="878813"/>
                  </a:lnTo>
                  <a:lnTo>
                    <a:pt x="1" y="0"/>
                  </a:lnTo>
                  <a:lnTo>
                    <a:pt x="965729" y="473207"/>
                  </a:lnTo>
                  <a:lnTo>
                    <a:pt x="1931457" y="0"/>
                  </a:lnTo>
                  <a:close/>
                </a:path>
              </a:pathLst>
            </a:custGeom>
            <a:grp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2221" tIns="698126" rIns="22221" bIns="698125" spcCol="1270" anchor="ctr"/>
            <a:lstStyle/>
            <a:p>
              <a:pPr algn="ctr" defTabSz="1555750">
                <a:lnSpc>
                  <a:spcPct val="90000"/>
                </a:lnSpc>
                <a:spcAft>
                  <a:spcPct val="35000"/>
                </a:spcAft>
                <a:defRPr/>
              </a:pPr>
              <a:endParaRPr lang="zh-CN" altLang="en-US" sz="3500">
                <a:cs typeface="+mn-ea"/>
              </a:endParaRPr>
            </a:p>
          </p:txBody>
        </p:sp>
        <p:sp>
          <p:nvSpPr>
            <p:cNvPr id="21" name="文本框 19"/>
            <p:cNvSpPr txBox="1">
              <a:spLocks noChangeArrowheads="1"/>
            </p:cNvSpPr>
            <p:nvPr/>
          </p:nvSpPr>
          <p:spPr bwMode="auto">
            <a:xfrm>
              <a:off x="3217682" y="2467615"/>
              <a:ext cx="974877" cy="398842"/>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a:solidFill>
                    <a:schemeClr val="bg1"/>
                  </a:solidFill>
                  <a:latin typeface="+mn-ea"/>
                  <a:ea typeface="+mn-ea"/>
                  <a:cs typeface="+mn-ea"/>
                </a:rPr>
                <a:t>一个月</a:t>
              </a:r>
              <a:endParaRPr lang="zh-CN" altLang="en-US" sz="2000" b="1">
                <a:solidFill>
                  <a:schemeClr val="bg1"/>
                </a:solidFill>
                <a:latin typeface="+mn-ea"/>
                <a:ea typeface="+mn-ea"/>
                <a:cs typeface="+mn-ea"/>
              </a:endParaRPr>
            </a:p>
          </p:txBody>
        </p:sp>
      </p:grpSp>
      <p:grpSp>
        <p:nvGrpSpPr>
          <p:cNvPr id="22" name="组合 21"/>
          <p:cNvGrpSpPr/>
          <p:nvPr/>
        </p:nvGrpSpPr>
        <p:grpSpPr>
          <a:xfrm>
            <a:off x="3124946" y="3149860"/>
            <a:ext cx="1069975" cy="1526936"/>
            <a:chOff x="3123052" y="3149180"/>
            <a:chExt cx="1070142" cy="1527175"/>
          </a:xfrm>
          <a:solidFill>
            <a:schemeClr val="tx1">
              <a:lumMod val="75000"/>
              <a:lumOff val="25000"/>
            </a:schemeClr>
          </a:solidFill>
        </p:grpSpPr>
        <p:sp>
          <p:nvSpPr>
            <p:cNvPr id="23" name="任意多边形 22"/>
            <p:cNvSpPr/>
            <p:nvPr/>
          </p:nvSpPr>
          <p:spPr>
            <a:xfrm>
              <a:off x="3123052" y="3149180"/>
              <a:ext cx="1069836" cy="1527175"/>
            </a:xfrm>
            <a:custGeom>
              <a:avLst/>
              <a:gdLst>
                <a:gd name="connsiteX0" fmla="*/ 0 w 1931458"/>
                <a:gd name="connsiteY0" fmla="*/ 0 h 1352020"/>
                <a:gd name="connsiteX1" fmla="*/ 1255448 w 1931458"/>
                <a:gd name="connsiteY1" fmla="*/ 0 h 1352020"/>
                <a:gd name="connsiteX2" fmla="*/ 1931458 w 1931458"/>
                <a:gd name="connsiteY2" fmla="*/ 676010 h 1352020"/>
                <a:gd name="connsiteX3" fmla="*/ 1255448 w 1931458"/>
                <a:gd name="connsiteY3" fmla="*/ 1352020 h 1352020"/>
                <a:gd name="connsiteX4" fmla="*/ 0 w 1931458"/>
                <a:gd name="connsiteY4" fmla="*/ 1352020 h 1352020"/>
                <a:gd name="connsiteX5" fmla="*/ 676010 w 1931458"/>
                <a:gd name="connsiteY5" fmla="*/ 676010 h 1352020"/>
                <a:gd name="connsiteX6" fmla="*/ 0 w 1931458"/>
                <a:gd name="connsiteY6" fmla="*/ 0 h 13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458" h="1352020">
                  <a:moveTo>
                    <a:pt x="1931457" y="0"/>
                  </a:moveTo>
                  <a:lnTo>
                    <a:pt x="1931457" y="878813"/>
                  </a:lnTo>
                  <a:lnTo>
                    <a:pt x="965729" y="1352020"/>
                  </a:lnTo>
                  <a:lnTo>
                    <a:pt x="1" y="878813"/>
                  </a:lnTo>
                  <a:lnTo>
                    <a:pt x="1" y="0"/>
                  </a:lnTo>
                  <a:lnTo>
                    <a:pt x="965729" y="473207"/>
                  </a:lnTo>
                  <a:lnTo>
                    <a:pt x="1931457" y="0"/>
                  </a:lnTo>
                  <a:close/>
                </a:path>
              </a:pathLst>
            </a:custGeom>
            <a:grp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2221" tIns="698125" rIns="22221" bIns="698125" spcCol="1270" anchor="ctr"/>
            <a:lstStyle/>
            <a:p>
              <a:pPr algn="ctr" defTabSz="1555750">
                <a:lnSpc>
                  <a:spcPct val="90000"/>
                </a:lnSpc>
                <a:spcAft>
                  <a:spcPct val="35000"/>
                </a:spcAft>
                <a:defRPr/>
              </a:pPr>
              <a:endParaRPr lang="zh-CN" altLang="en-US" sz="3500">
                <a:cs typeface="+mn-ea"/>
              </a:endParaRPr>
            </a:p>
          </p:txBody>
        </p:sp>
        <p:sp>
          <p:nvSpPr>
            <p:cNvPr id="24" name="文本框 20"/>
            <p:cNvSpPr txBox="1">
              <a:spLocks noChangeArrowheads="1"/>
            </p:cNvSpPr>
            <p:nvPr/>
          </p:nvSpPr>
          <p:spPr bwMode="auto">
            <a:xfrm>
              <a:off x="3217682" y="3860491"/>
              <a:ext cx="975512" cy="398842"/>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a:solidFill>
                    <a:schemeClr val="bg1"/>
                  </a:solidFill>
                  <a:latin typeface="+mn-ea"/>
                  <a:ea typeface="+mn-ea"/>
                  <a:cs typeface="+mn-ea"/>
                </a:rPr>
                <a:t>两个月</a:t>
              </a:r>
              <a:endParaRPr lang="zh-CN" altLang="en-US" sz="2000" b="1">
                <a:solidFill>
                  <a:schemeClr val="bg1"/>
                </a:solidFill>
                <a:latin typeface="+mn-ea"/>
                <a:ea typeface="+mn-ea"/>
                <a:cs typeface="+mn-ea"/>
              </a:endParaRPr>
            </a:p>
          </p:txBody>
        </p:sp>
      </p:grpSp>
      <p:grpSp>
        <p:nvGrpSpPr>
          <p:cNvPr id="25" name="组合 24"/>
          <p:cNvGrpSpPr/>
          <p:nvPr/>
        </p:nvGrpSpPr>
        <p:grpSpPr>
          <a:xfrm>
            <a:off x="3124946" y="4526007"/>
            <a:ext cx="1069975" cy="1528524"/>
            <a:chOff x="3123052" y="4525542"/>
            <a:chExt cx="1070142" cy="1528763"/>
          </a:xfrm>
          <a:solidFill>
            <a:schemeClr val="tx1">
              <a:lumMod val="75000"/>
              <a:lumOff val="25000"/>
            </a:schemeClr>
          </a:solidFill>
        </p:grpSpPr>
        <p:sp>
          <p:nvSpPr>
            <p:cNvPr id="26" name="任意多边形 25"/>
            <p:cNvSpPr/>
            <p:nvPr/>
          </p:nvSpPr>
          <p:spPr>
            <a:xfrm>
              <a:off x="3123052" y="4525542"/>
              <a:ext cx="1069836" cy="1528763"/>
            </a:xfrm>
            <a:custGeom>
              <a:avLst/>
              <a:gdLst>
                <a:gd name="connsiteX0" fmla="*/ 0 w 1931458"/>
                <a:gd name="connsiteY0" fmla="*/ 0 h 1352020"/>
                <a:gd name="connsiteX1" fmla="*/ 1255448 w 1931458"/>
                <a:gd name="connsiteY1" fmla="*/ 0 h 1352020"/>
                <a:gd name="connsiteX2" fmla="*/ 1931458 w 1931458"/>
                <a:gd name="connsiteY2" fmla="*/ 676010 h 1352020"/>
                <a:gd name="connsiteX3" fmla="*/ 1255448 w 1931458"/>
                <a:gd name="connsiteY3" fmla="*/ 1352020 h 1352020"/>
                <a:gd name="connsiteX4" fmla="*/ 0 w 1931458"/>
                <a:gd name="connsiteY4" fmla="*/ 1352020 h 1352020"/>
                <a:gd name="connsiteX5" fmla="*/ 676010 w 1931458"/>
                <a:gd name="connsiteY5" fmla="*/ 676010 h 1352020"/>
                <a:gd name="connsiteX6" fmla="*/ 0 w 1931458"/>
                <a:gd name="connsiteY6" fmla="*/ 0 h 13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458" h="1352020">
                  <a:moveTo>
                    <a:pt x="1931457" y="0"/>
                  </a:moveTo>
                  <a:lnTo>
                    <a:pt x="1931457" y="878813"/>
                  </a:lnTo>
                  <a:lnTo>
                    <a:pt x="965729" y="1352020"/>
                  </a:lnTo>
                  <a:lnTo>
                    <a:pt x="1" y="878813"/>
                  </a:lnTo>
                  <a:lnTo>
                    <a:pt x="1" y="0"/>
                  </a:lnTo>
                  <a:lnTo>
                    <a:pt x="965729" y="473207"/>
                  </a:lnTo>
                  <a:lnTo>
                    <a:pt x="1931457" y="0"/>
                  </a:lnTo>
                  <a:close/>
                </a:path>
              </a:pathLst>
            </a:custGeom>
            <a:grp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2221" tIns="698125" rIns="22221" bIns="698125" spcCol="1270" anchor="ctr"/>
            <a:lstStyle/>
            <a:p>
              <a:pPr algn="ctr" defTabSz="1555750">
                <a:lnSpc>
                  <a:spcPct val="90000"/>
                </a:lnSpc>
                <a:spcAft>
                  <a:spcPct val="35000"/>
                </a:spcAft>
                <a:defRPr/>
              </a:pPr>
              <a:endParaRPr lang="zh-CN" altLang="en-US" sz="3500">
                <a:cs typeface="+mn-ea"/>
              </a:endParaRPr>
            </a:p>
          </p:txBody>
        </p:sp>
        <p:sp>
          <p:nvSpPr>
            <p:cNvPr id="27" name="文本框 21"/>
            <p:cNvSpPr txBox="1">
              <a:spLocks noChangeArrowheads="1"/>
            </p:cNvSpPr>
            <p:nvPr/>
          </p:nvSpPr>
          <p:spPr bwMode="auto">
            <a:xfrm>
              <a:off x="3217682" y="5189221"/>
              <a:ext cx="975512" cy="398842"/>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a:solidFill>
                    <a:schemeClr val="bg1"/>
                  </a:solidFill>
                  <a:latin typeface="+mn-ea"/>
                  <a:ea typeface="+mn-ea"/>
                  <a:cs typeface="+mn-ea"/>
                </a:rPr>
                <a:t>三个月</a:t>
              </a:r>
              <a:endParaRPr lang="zh-CN" altLang="en-US" sz="2000" b="1">
                <a:solidFill>
                  <a:schemeClr val="bg1"/>
                </a:solidFill>
                <a:latin typeface="+mn-ea"/>
                <a:ea typeface="+mn-ea"/>
                <a:cs typeface="+mn-ea"/>
              </a:endParaRPr>
            </a:p>
          </p:txBody>
        </p:sp>
      </p:grpSp>
      <p:sp>
        <p:nvSpPr>
          <p:cNvPr id="29" name="文本框 28"/>
          <p:cNvSpPr txBox="1"/>
          <p:nvPr/>
        </p:nvSpPr>
        <p:spPr>
          <a:xfrm>
            <a:off x="857885" y="283210"/>
            <a:ext cx="3641090" cy="583565"/>
          </a:xfrm>
          <a:prstGeom prst="rect">
            <a:avLst/>
          </a:prstGeom>
          <a:noFill/>
        </p:spPr>
        <p:txBody>
          <a:bodyPr wrap="square" rtlCol="0">
            <a:spAutoFit/>
          </a:bodyPr>
          <a:p>
            <a:pPr algn="l"/>
            <a:r>
              <a:rPr lang="zh-CN" altLang="en-US" sz="3200" b="1">
                <a:solidFill>
                  <a:schemeClr val="tx1">
                    <a:lumMod val="75000"/>
                    <a:lumOff val="25000"/>
                  </a:schemeClr>
                </a:solidFill>
              </a:rPr>
              <a:t>Review把控TWO</a:t>
            </a:r>
            <a:endParaRPr lang="zh-CN" altLang="en-US" sz="3200" b="1">
              <a:solidFill>
                <a:schemeClr val="tx1">
                  <a:lumMod val="75000"/>
                  <a:lumOff val="25000"/>
                </a:schemeClr>
              </a:solidFill>
            </a:endParaRPr>
          </a:p>
        </p:txBody>
      </p:sp>
      <p:sp>
        <p:nvSpPr>
          <p:cNvPr id="30" name="矩形 29"/>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2" name="矩形 1"/>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spd="med" p14:dur="15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decel="10000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1" decel="100000"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par>
                          <p:cTn id="23" fill="hold">
                            <p:stCondLst>
                              <p:cond delay="2000"/>
                            </p:stCondLst>
                            <p:childTnLst>
                              <p:par>
                                <p:cTn id="24" presetID="22" presetClass="entr" presetSubtype="8"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par>
                          <p:cTn id="27" fill="hold">
                            <p:stCondLst>
                              <p:cond delay="2500"/>
                            </p:stCondLst>
                            <p:childTnLst>
                              <p:par>
                                <p:cTn id="28" presetID="22" presetClass="entr" presetSubtype="8"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par>
                          <p:cTn id="31" fill="hold">
                            <p:stCondLst>
                              <p:cond delay="3000"/>
                            </p:stCondLst>
                            <p:childTnLst>
                              <p:par>
                                <p:cTn id="32" presetID="2" presetClass="entr" presetSubtype="1" decel="100000" fill="hold" nodeType="afterEffect">
                                  <p:stCondLst>
                                    <p:cond delay="0"/>
                                  </p:stCondLst>
                                  <p:childTnLst>
                                    <p:set>
                                      <p:cBhvr>
                                        <p:cTn id="33" dur="1" fill="hold">
                                          <p:stCondLst>
                                            <p:cond delay="0"/>
                                          </p:stCondLst>
                                        </p:cTn>
                                        <p:tgtEl>
                                          <p:spTgt spid="25"/>
                                        </p:tgtEl>
                                        <p:attrNameLst>
                                          <p:attrName>style.visibility</p:attrName>
                                        </p:attrNameLst>
                                      </p:cBhvr>
                                      <p:to>
                                        <p:strVal val="visible"/>
                                      </p:to>
                                    </p:set>
                                    <p:anim calcmode="lin" valueType="num">
                                      <p:cBhvr additive="base">
                                        <p:cTn id="34" dur="500" fill="hold"/>
                                        <p:tgtEl>
                                          <p:spTgt spid="25"/>
                                        </p:tgtEl>
                                        <p:attrNameLst>
                                          <p:attrName>ppt_x</p:attrName>
                                        </p:attrNameLst>
                                      </p:cBhvr>
                                      <p:tavLst>
                                        <p:tav tm="0">
                                          <p:val>
                                            <p:strVal val="#ppt_x"/>
                                          </p:val>
                                        </p:tav>
                                        <p:tav tm="100000">
                                          <p:val>
                                            <p:strVal val="#ppt_x"/>
                                          </p:val>
                                        </p:tav>
                                      </p:tavLst>
                                    </p:anim>
                                    <p:anim calcmode="lin" valueType="num">
                                      <p:cBhvr additive="base">
                                        <p:cTn id="35" dur="500" fill="hold"/>
                                        <p:tgtEl>
                                          <p:spTgt spid="25"/>
                                        </p:tgtEl>
                                        <p:attrNameLst>
                                          <p:attrName>ppt_y</p:attrName>
                                        </p:attrNameLst>
                                      </p:cBhvr>
                                      <p:tavLst>
                                        <p:tav tm="0">
                                          <p:val>
                                            <p:strVal val="0-#ppt_h/2"/>
                                          </p:val>
                                        </p:tav>
                                        <p:tav tm="100000">
                                          <p:val>
                                            <p:strVal val="#ppt_y"/>
                                          </p:val>
                                        </p:tav>
                                      </p:tavLst>
                                    </p:anim>
                                  </p:childTnLst>
                                </p:cTn>
                              </p:par>
                            </p:childTnLst>
                          </p:cTn>
                        </p:par>
                        <p:par>
                          <p:cTn id="36" fill="hold">
                            <p:stCondLst>
                              <p:cond delay="3500"/>
                            </p:stCondLst>
                            <p:childTnLst>
                              <p:par>
                                <p:cTn id="37" presetID="2" presetClass="entr" presetSubtype="1" decel="100000" fill="hold" nodeType="after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500" fill="hold"/>
                                        <p:tgtEl>
                                          <p:spTgt spid="22"/>
                                        </p:tgtEl>
                                        <p:attrNameLst>
                                          <p:attrName>ppt_x</p:attrName>
                                        </p:attrNameLst>
                                      </p:cBhvr>
                                      <p:tavLst>
                                        <p:tav tm="0">
                                          <p:val>
                                            <p:strVal val="#ppt_x"/>
                                          </p:val>
                                        </p:tav>
                                        <p:tav tm="100000">
                                          <p:val>
                                            <p:strVal val="#ppt_x"/>
                                          </p:val>
                                        </p:tav>
                                      </p:tavLst>
                                    </p:anim>
                                    <p:anim calcmode="lin" valueType="num">
                                      <p:cBhvr additive="base">
                                        <p:cTn id="40" dur="500" fill="hold"/>
                                        <p:tgtEl>
                                          <p:spTgt spid="22"/>
                                        </p:tgtEl>
                                        <p:attrNameLst>
                                          <p:attrName>ppt_y</p:attrName>
                                        </p:attrNameLst>
                                      </p:cBhvr>
                                      <p:tavLst>
                                        <p:tav tm="0">
                                          <p:val>
                                            <p:strVal val="0-#ppt_h/2"/>
                                          </p:val>
                                        </p:tav>
                                        <p:tav tm="100000">
                                          <p:val>
                                            <p:strVal val="#ppt_y"/>
                                          </p:val>
                                        </p:tav>
                                      </p:tavLst>
                                    </p:anim>
                                  </p:childTnLst>
                                </p:cTn>
                              </p:par>
                            </p:childTnLst>
                          </p:cTn>
                        </p:par>
                        <p:par>
                          <p:cTn id="41" fill="hold">
                            <p:stCondLst>
                              <p:cond delay="4000"/>
                            </p:stCondLst>
                            <p:childTnLst>
                              <p:par>
                                <p:cTn id="42" presetID="2" presetClass="entr" presetSubtype="1" decel="100000"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500" fill="hold"/>
                                        <p:tgtEl>
                                          <p:spTgt spid="10"/>
                                        </p:tgtEl>
                                        <p:attrNameLst>
                                          <p:attrName>ppt_x</p:attrName>
                                        </p:attrNameLst>
                                      </p:cBhvr>
                                      <p:tavLst>
                                        <p:tav tm="0">
                                          <p:val>
                                            <p:strVal val="#ppt_x"/>
                                          </p:val>
                                        </p:tav>
                                        <p:tav tm="100000">
                                          <p:val>
                                            <p:strVal val="#ppt_x"/>
                                          </p:val>
                                        </p:tav>
                                      </p:tavLst>
                                    </p:anim>
                                    <p:anim calcmode="lin" valueType="num">
                                      <p:cBhvr additive="base">
                                        <p:cTn id="45"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24"/>
          <p:cNvSpPr/>
          <p:nvPr/>
        </p:nvSpPr>
        <p:spPr bwMode="auto">
          <a:xfrm>
            <a:off x="354648" y="1421765"/>
            <a:ext cx="5547995" cy="5010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25000"/>
              </a:lnSpc>
              <a:spcBef>
                <a:spcPct val="0"/>
              </a:spcBef>
              <a:spcAft>
                <a:spcPct val="0"/>
              </a:spcAft>
            </a:pPr>
            <a:r>
              <a:rPr lang="zh-CN" altLang="en-US" sz="1600" dirty="0">
                <a:solidFill>
                  <a:schemeClr val="bg1">
                    <a:lumMod val="50000"/>
                  </a:schemeClr>
                </a:solidFill>
                <a:latin typeface="微软雅黑" panose="020B0503020204020204" charset="-122"/>
                <a:ea typeface="微软雅黑" panose="020B0503020204020204" charset="-122"/>
                <a:sym typeface="Gill Sans" charset="0"/>
              </a:rPr>
              <a:t> 做刷单时候，对关键词的选择和优化节奏是有艺术的。建议大家遵循：</a:t>
            </a:r>
            <a:endParaRPr lang="zh-CN" altLang="en-US" sz="1600" dirty="0">
              <a:solidFill>
                <a:schemeClr val="bg1">
                  <a:lumMod val="50000"/>
                </a:schemeClr>
              </a:solidFill>
              <a:latin typeface="微软雅黑" panose="020B0503020204020204" charset="-122"/>
              <a:ea typeface="微软雅黑" panose="020B0503020204020204" charset="-122"/>
              <a:sym typeface="Gill Sans" charset="0"/>
            </a:endParaRPr>
          </a:p>
          <a:p>
            <a:pPr fontAlgn="base">
              <a:lnSpc>
                <a:spcPct val="125000"/>
              </a:lnSpc>
              <a:spcBef>
                <a:spcPct val="0"/>
              </a:spcBef>
              <a:spcAft>
                <a:spcPct val="0"/>
              </a:spcAft>
            </a:pPr>
            <a:endParaRPr lang="zh-CN" altLang="en-US" sz="1600" dirty="0">
              <a:solidFill>
                <a:schemeClr val="bg1">
                  <a:lumMod val="50000"/>
                </a:schemeClr>
              </a:solidFill>
              <a:latin typeface="微软雅黑" panose="020B0503020204020204" charset="-122"/>
              <a:ea typeface="微软雅黑" panose="020B0503020204020204" charset="-122"/>
              <a:sym typeface="Gill Sans" charset="0"/>
            </a:endParaRPr>
          </a:p>
          <a:p>
            <a:pPr fontAlgn="base">
              <a:lnSpc>
                <a:spcPct val="125000"/>
              </a:lnSpc>
              <a:spcBef>
                <a:spcPct val="0"/>
              </a:spcBef>
              <a:spcAft>
                <a:spcPct val="0"/>
              </a:spcAft>
            </a:pPr>
            <a:r>
              <a:rPr lang="zh-CN" altLang="en-US" sz="1600" dirty="0">
                <a:solidFill>
                  <a:schemeClr val="bg1">
                    <a:lumMod val="50000"/>
                  </a:schemeClr>
                </a:solidFill>
                <a:latin typeface="微软雅黑" panose="020B0503020204020204" charset="-122"/>
                <a:ea typeface="微软雅黑" panose="020B0503020204020204" charset="-122"/>
                <a:sym typeface="Gill Sans" charset="0"/>
              </a:rPr>
              <a:t>先刷长尾词，再刷短尾词，最后再刷核心词。</a:t>
            </a:r>
            <a:endParaRPr lang="zh-CN" altLang="en-US" sz="1600" dirty="0">
              <a:solidFill>
                <a:schemeClr val="bg1">
                  <a:lumMod val="50000"/>
                </a:schemeClr>
              </a:solidFill>
              <a:latin typeface="微软雅黑" panose="020B0503020204020204" charset="-122"/>
              <a:ea typeface="微软雅黑" panose="020B0503020204020204" charset="-122"/>
              <a:sym typeface="Gill Sans" charset="0"/>
            </a:endParaRPr>
          </a:p>
          <a:p>
            <a:pPr fontAlgn="base">
              <a:lnSpc>
                <a:spcPct val="125000"/>
              </a:lnSpc>
              <a:spcBef>
                <a:spcPct val="0"/>
              </a:spcBef>
              <a:spcAft>
                <a:spcPct val="0"/>
              </a:spcAft>
            </a:pPr>
            <a:endParaRPr lang="zh-CN" altLang="en-US" sz="1600" dirty="0">
              <a:solidFill>
                <a:schemeClr val="bg1">
                  <a:lumMod val="50000"/>
                </a:schemeClr>
              </a:solidFill>
              <a:latin typeface="微软雅黑" panose="020B0503020204020204" charset="-122"/>
              <a:ea typeface="微软雅黑" panose="020B0503020204020204" charset="-122"/>
              <a:sym typeface="Gill Sans" charset="0"/>
            </a:endParaRPr>
          </a:p>
          <a:p>
            <a:pPr fontAlgn="base">
              <a:lnSpc>
                <a:spcPct val="125000"/>
              </a:lnSpc>
              <a:spcBef>
                <a:spcPct val="0"/>
              </a:spcBef>
              <a:spcAft>
                <a:spcPct val="0"/>
              </a:spcAft>
            </a:pPr>
            <a:r>
              <a:rPr lang="zh-CN" altLang="en-US" sz="1600" dirty="0">
                <a:solidFill>
                  <a:schemeClr val="bg1">
                    <a:lumMod val="50000"/>
                  </a:schemeClr>
                </a:solidFill>
                <a:latin typeface="微软雅黑" panose="020B0503020204020204" charset="-122"/>
                <a:ea typeface="微软雅黑" panose="020B0503020204020204" charset="-122"/>
                <a:sym typeface="Gill Sans" charset="0"/>
              </a:rPr>
              <a:t>理由：长尾词，刷几单就能冲到首页，简单易行，又有助于我们后期冲击短尾词。</a:t>
            </a:r>
            <a:endParaRPr lang="zh-CN" altLang="en-US" sz="1600" dirty="0">
              <a:solidFill>
                <a:schemeClr val="bg1">
                  <a:lumMod val="50000"/>
                </a:schemeClr>
              </a:solidFill>
              <a:latin typeface="微软雅黑" panose="020B0503020204020204" charset="-122"/>
              <a:ea typeface="微软雅黑" panose="020B0503020204020204" charset="-122"/>
              <a:sym typeface="Gill Sans" charset="0"/>
            </a:endParaRPr>
          </a:p>
          <a:p>
            <a:pPr fontAlgn="base">
              <a:lnSpc>
                <a:spcPct val="125000"/>
              </a:lnSpc>
              <a:spcBef>
                <a:spcPct val="0"/>
              </a:spcBef>
              <a:spcAft>
                <a:spcPct val="0"/>
              </a:spcAft>
            </a:pPr>
            <a:r>
              <a:rPr lang="zh-CN" altLang="en-US" sz="1600" dirty="0">
                <a:solidFill>
                  <a:schemeClr val="bg1">
                    <a:lumMod val="50000"/>
                  </a:schemeClr>
                </a:solidFill>
                <a:latin typeface="微软雅黑" panose="020B0503020204020204" charset="-122"/>
                <a:ea typeface="微软雅黑" panose="020B0503020204020204" charset="-122"/>
                <a:sym typeface="Gill Sans" charset="0"/>
              </a:rPr>
              <a:t>同理，短尾词要比核心大词容易推到首页，消耗的资源较少，同时又有助于我们后期主攻核心大词的排名。</a:t>
            </a:r>
            <a:endParaRPr lang="zh-CN" altLang="en-US" sz="1600" dirty="0">
              <a:solidFill>
                <a:schemeClr val="bg1">
                  <a:lumMod val="50000"/>
                </a:schemeClr>
              </a:solidFill>
              <a:latin typeface="微软雅黑" panose="020B0503020204020204" charset="-122"/>
              <a:ea typeface="微软雅黑" panose="020B0503020204020204" charset="-122"/>
              <a:sym typeface="Gill Sans" charset="0"/>
            </a:endParaRPr>
          </a:p>
          <a:p>
            <a:pPr fontAlgn="base">
              <a:lnSpc>
                <a:spcPct val="125000"/>
              </a:lnSpc>
              <a:spcBef>
                <a:spcPct val="0"/>
              </a:spcBef>
              <a:spcAft>
                <a:spcPct val="0"/>
              </a:spcAft>
            </a:pPr>
            <a:endParaRPr lang="zh-CN" altLang="en-US" sz="1600" dirty="0">
              <a:solidFill>
                <a:schemeClr val="bg1">
                  <a:lumMod val="50000"/>
                </a:schemeClr>
              </a:solidFill>
              <a:latin typeface="微软雅黑" panose="020B0503020204020204" charset="-122"/>
              <a:ea typeface="微软雅黑" panose="020B0503020204020204" charset="-122"/>
              <a:sym typeface="Gill Sans" charset="0"/>
            </a:endParaRPr>
          </a:p>
          <a:p>
            <a:pPr fontAlgn="base">
              <a:lnSpc>
                <a:spcPct val="125000"/>
              </a:lnSpc>
              <a:spcBef>
                <a:spcPct val="0"/>
              </a:spcBef>
              <a:spcAft>
                <a:spcPct val="0"/>
              </a:spcAft>
            </a:pPr>
            <a:r>
              <a:rPr lang="zh-CN" altLang="en-US" sz="1600" dirty="0">
                <a:solidFill>
                  <a:schemeClr val="bg1">
                    <a:lumMod val="50000"/>
                  </a:schemeClr>
                </a:solidFill>
                <a:latin typeface="微软雅黑" panose="020B0503020204020204" charset="-122"/>
                <a:ea typeface="微软雅黑" panose="020B0503020204020204" charset="-122"/>
                <a:sym typeface="Gill Sans" charset="0"/>
              </a:rPr>
              <a:t>同时，对于产品的标题，建议多插一些短尾词，长尾词放在Description 或者 Bullet points中。</a:t>
            </a:r>
            <a:endParaRPr lang="zh-CN" altLang="en-US" sz="1600" dirty="0">
              <a:solidFill>
                <a:schemeClr val="bg1">
                  <a:lumMod val="50000"/>
                </a:schemeClr>
              </a:solidFill>
              <a:latin typeface="微软雅黑" panose="020B0503020204020204" charset="-122"/>
              <a:ea typeface="微软雅黑" panose="020B0503020204020204" charset="-122"/>
              <a:sym typeface="Gill Sans" charset="0"/>
            </a:endParaRPr>
          </a:p>
          <a:p>
            <a:pPr fontAlgn="base">
              <a:lnSpc>
                <a:spcPct val="125000"/>
              </a:lnSpc>
              <a:spcBef>
                <a:spcPct val="0"/>
              </a:spcBef>
              <a:spcAft>
                <a:spcPct val="0"/>
              </a:spcAft>
            </a:pPr>
            <a:endParaRPr lang="zh-CN" altLang="en-US" sz="1600" dirty="0">
              <a:solidFill>
                <a:schemeClr val="bg1">
                  <a:lumMod val="50000"/>
                </a:schemeClr>
              </a:solidFill>
              <a:latin typeface="微软雅黑" panose="020B0503020204020204" charset="-122"/>
              <a:ea typeface="微软雅黑" panose="020B0503020204020204" charset="-122"/>
              <a:sym typeface="Gill Sans" charset="0"/>
            </a:endParaRPr>
          </a:p>
          <a:p>
            <a:pPr fontAlgn="base">
              <a:lnSpc>
                <a:spcPct val="125000"/>
              </a:lnSpc>
              <a:spcBef>
                <a:spcPct val="0"/>
              </a:spcBef>
              <a:spcAft>
                <a:spcPct val="0"/>
              </a:spcAft>
            </a:pPr>
            <a:r>
              <a:rPr lang="zh-CN" altLang="en-US" sz="1600" dirty="0">
                <a:solidFill>
                  <a:schemeClr val="bg1">
                    <a:lumMod val="50000"/>
                  </a:schemeClr>
                </a:solidFill>
                <a:latin typeface="微软雅黑" panose="020B0503020204020204" charset="-122"/>
                <a:ea typeface="微软雅黑" panose="020B0503020204020204" charset="-122"/>
                <a:sym typeface="Gill Sans" charset="0"/>
              </a:rPr>
              <a:t>因为长尾词和短尾词的组成结构中基本上都会包含核心高频大词，所以高频大词的SEO嵌入是个自然的过程，不需要我们可疑去想办法到处堆砌高频大词。 </a:t>
            </a:r>
            <a:endParaRPr lang="zh-CN" altLang="en-US" sz="1600" dirty="0">
              <a:solidFill>
                <a:schemeClr val="bg1">
                  <a:lumMod val="50000"/>
                </a:schemeClr>
              </a:solidFill>
              <a:latin typeface="微软雅黑" panose="020B0503020204020204" charset="-122"/>
              <a:ea typeface="微软雅黑" panose="020B0503020204020204" charset="-122"/>
              <a:sym typeface="Gill Sans" charset="0"/>
            </a:endParaRPr>
          </a:p>
        </p:txBody>
      </p:sp>
      <p:sp>
        <p:nvSpPr>
          <p:cNvPr id="48" name="矩形 47"/>
          <p:cNvSpPr/>
          <p:nvPr/>
        </p:nvSpPr>
        <p:spPr>
          <a:xfrm rot="1620000">
            <a:off x="7947978"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pic>
        <p:nvPicPr>
          <p:cNvPr id="49" name="图片 48"/>
          <p:cNvPicPr>
            <a:picLocks noChangeAspect="1"/>
          </p:cNvPicPr>
          <p:nvPr/>
        </p:nvPicPr>
        <p:blipFill>
          <a:blip r:embed="rId1"/>
          <a:stretch>
            <a:fillRect/>
          </a:stretch>
        </p:blipFill>
        <p:spPr>
          <a:xfrm>
            <a:off x="6069013" y="1754505"/>
            <a:ext cx="6127115" cy="4345940"/>
          </a:xfrm>
          <a:prstGeom prst="rect">
            <a:avLst/>
          </a:prstGeom>
        </p:spPr>
      </p:pic>
      <p:sp>
        <p:nvSpPr>
          <p:cNvPr id="29" name="文本框 28"/>
          <p:cNvSpPr txBox="1"/>
          <p:nvPr/>
        </p:nvSpPr>
        <p:spPr>
          <a:xfrm>
            <a:off x="857885" y="283210"/>
            <a:ext cx="3853815" cy="583565"/>
          </a:xfrm>
          <a:prstGeom prst="rect">
            <a:avLst/>
          </a:prstGeom>
          <a:noFill/>
        </p:spPr>
        <p:txBody>
          <a:bodyPr wrap="none" rtlCol="0">
            <a:spAutoFit/>
          </a:bodyPr>
          <a:p>
            <a:pPr algn="l"/>
            <a:r>
              <a:rPr lang="zh-CN" altLang="en-US" sz="3200" b="1">
                <a:solidFill>
                  <a:schemeClr val="tx1">
                    <a:lumMod val="75000"/>
                    <a:lumOff val="25000"/>
                  </a:schemeClr>
                </a:solidFill>
              </a:rPr>
              <a:t>Review三阶段刷单法</a:t>
            </a:r>
            <a:endParaRPr lang="zh-CN" altLang="en-US" sz="3200" b="1">
              <a:solidFill>
                <a:schemeClr val="tx1">
                  <a:lumMod val="75000"/>
                  <a:lumOff val="25000"/>
                </a:schemeClr>
              </a:solidFill>
            </a:endParaRPr>
          </a:p>
        </p:txBody>
      </p:sp>
      <p:sp>
        <p:nvSpPr>
          <p:cNvPr id="4" name="矩形 3"/>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18" name="矩形 17"/>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矩形 12"/>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gradFill>
                <a:gsLst>
                  <a:gs pos="21000">
                    <a:srgbClr val="53575C"/>
                  </a:gs>
                  <a:gs pos="88000">
                    <a:srgbClr val="C5C7CA"/>
                  </a:gs>
                </a:gsLst>
                <a:lin ang="5400000"/>
              </a:gradFill>
              <a:effectLst/>
              <a:sym typeface="+mn-ea"/>
            </a:endParaRPr>
          </a:p>
        </p:txBody>
      </p:sp>
      <p:sp>
        <p:nvSpPr>
          <p:cNvPr id="7" name="椭圆 6"/>
          <p:cNvSpPr/>
          <p:nvPr/>
        </p:nvSpPr>
        <p:spPr>
          <a:xfrm>
            <a:off x="4670425" y="2244725"/>
            <a:ext cx="2882900" cy="2884805"/>
          </a:xfrm>
          <a:prstGeom prst="ellipse">
            <a:avLst/>
          </a:prstGeom>
          <a:solidFill>
            <a:srgbClr val="9ECD9F"/>
          </a:solidFill>
          <a:ln w="13335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椭圆 1"/>
          <p:cNvSpPr/>
          <p:nvPr/>
        </p:nvSpPr>
        <p:spPr>
          <a:xfrm>
            <a:off x="5505450" y="3055620"/>
            <a:ext cx="1243330" cy="129667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椭圆 2"/>
          <p:cNvSpPr/>
          <p:nvPr/>
        </p:nvSpPr>
        <p:spPr>
          <a:xfrm>
            <a:off x="4356735" y="3231515"/>
            <a:ext cx="890270" cy="92900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椭圆 3"/>
          <p:cNvSpPr/>
          <p:nvPr/>
        </p:nvSpPr>
        <p:spPr>
          <a:xfrm>
            <a:off x="5678170" y="1871980"/>
            <a:ext cx="890270" cy="92900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椭圆 4"/>
          <p:cNvSpPr/>
          <p:nvPr/>
        </p:nvSpPr>
        <p:spPr>
          <a:xfrm>
            <a:off x="6999605" y="3231515"/>
            <a:ext cx="890270" cy="92900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椭圆 5"/>
          <p:cNvSpPr/>
          <p:nvPr/>
        </p:nvSpPr>
        <p:spPr>
          <a:xfrm>
            <a:off x="5678170" y="4627245"/>
            <a:ext cx="890270" cy="93091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6640" name="组合 26"/>
          <p:cNvGrpSpPr/>
          <p:nvPr/>
        </p:nvGrpSpPr>
        <p:grpSpPr>
          <a:xfrm rot="0">
            <a:off x="5826125" y="3423285"/>
            <a:ext cx="623570" cy="363220"/>
            <a:chOff x="5753511" y="3706916"/>
            <a:chExt cx="532119" cy="296866"/>
          </a:xfrm>
          <a:solidFill>
            <a:schemeClr val="bg1">
              <a:lumMod val="65000"/>
            </a:schemeClr>
          </a:solidFill>
        </p:grpSpPr>
        <p:sp>
          <p:nvSpPr>
            <p:cNvPr id="26667" name="Freeform 8"/>
            <p:cNvSpPr>
              <a:spLocks noEditPoints="1"/>
            </p:cNvSpPr>
            <p:nvPr/>
          </p:nvSpPr>
          <p:spPr>
            <a:xfrm>
              <a:off x="5753511" y="3706916"/>
              <a:ext cx="532119" cy="296866"/>
            </a:xfrm>
            <a:custGeom>
              <a:avLst/>
              <a:gdLst>
                <a:gd name="txL" fmla="*/ 0 w 593"/>
                <a:gd name="txT" fmla="*/ 0 h 331"/>
                <a:gd name="txR" fmla="*/ 593 w 593"/>
                <a:gd name="txB" fmla="*/ 331 h 331"/>
              </a:gdLst>
              <a:ahLst/>
              <a:cxnLst>
                <a:cxn ang="0">
                  <a:pos x="12563" y="0"/>
                </a:cxn>
                <a:cxn ang="0">
                  <a:pos x="506096" y="0"/>
                </a:cxn>
                <a:cxn ang="0">
                  <a:pos x="506994" y="2691"/>
                </a:cxn>
                <a:cxn ang="0">
                  <a:pos x="271892" y="165922"/>
                </a:cxn>
                <a:cxn ang="0">
                  <a:pos x="247664" y="165922"/>
                </a:cxn>
                <a:cxn ang="0">
                  <a:pos x="11665" y="2691"/>
                </a:cxn>
                <a:cxn ang="0">
                  <a:pos x="12563" y="0"/>
                </a:cxn>
                <a:cxn ang="0">
                  <a:pos x="532119" y="8969"/>
                </a:cxn>
                <a:cxn ang="0">
                  <a:pos x="532119" y="295072"/>
                </a:cxn>
                <a:cxn ang="0">
                  <a:pos x="530324" y="296866"/>
                </a:cxn>
                <a:cxn ang="0">
                  <a:pos x="490842" y="296866"/>
                </a:cxn>
                <a:cxn ang="0">
                  <a:pos x="489944" y="296866"/>
                </a:cxn>
                <a:cxn ang="0">
                  <a:pos x="338295" y="142603"/>
                </a:cxn>
                <a:cxn ang="0">
                  <a:pos x="338295" y="139913"/>
                </a:cxn>
                <a:cxn ang="0">
                  <a:pos x="529427" y="7175"/>
                </a:cxn>
                <a:cxn ang="0">
                  <a:pos x="532119" y="8969"/>
                </a:cxn>
                <a:cxn ang="0">
                  <a:pos x="463024" y="296866"/>
                </a:cxn>
                <a:cxn ang="0">
                  <a:pos x="49353" y="296866"/>
                </a:cxn>
                <a:cxn ang="0">
                  <a:pos x="47559" y="294175"/>
                </a:cxn>
                <a:cxn ang="0">
                  <a:pos x="191132" y="148881"/>
                </a:cxn>
                <a:cxn ang="0">
                  <a:pos x="193824" y="147985"/>
                </a:cxn>
                <a:cxn ang="0">
                  <a:pos x="245869" y="184756"/>
                </a:cxn>
                <a:cxn ang="0">
                  <a:pos x="272790" y="184756"/>
                </a:cxn>
                <a:cxn ang="0">
                  <a:pos x="322143" y="150675"/>
                </a:cxn>
                <a:cxn ang="0">
                  <a:pos x="323938" y="151572"/>
                </a:cxn>
                <a:cxn ang="0">
                  <a:pos x="464819" y="294175"/>
                </a:cxn>
                <a:cxn ang="0">
                  <a:pos x="463024" y="296866"/>
                </a:cxn>
                <a:cxn ang="0">
                  <a:pos x="22433" y="296866"/>
                </a:cxn>
                <a:cxn ang="0">
                  <a:pos x="1795" y="296866"/>
                </a:cxn>
                <a:cxn ang="0">
                  <a:pos x="0" y="295072"/>
                </a:cxn>
                <a:cxn ang="0">
                  <a:pos x="0" y="17938"/>
                </a:cxn>
                <a:cxn ang="0">
                  <a:pos x="2692" y="16144"/>
                </a:cxn>
                <a:cxn ang="0">
                  <a:pos x="176775" y="137222"/>
                </a:cxn>
                <a:cxn ang="0">
                  <a:pos x="176775" y="139913"/>
                </a:cxn>
                <a:cxn ang="0">
                  <a:pos x="23331" y="296866"/>
                </a:cxn>
                <a:cxn ang="0">
                  <a:pos x="22433" y="296866"/>
                </a:cxn>
              </a:cxnLst>
              <a:rect l="txL" t="txT" r="txR" b="txB"/>
              <a:pathLst>
                <a:path w="593" h="331">
                  <a:moveTo>
                    <a:pt x="14" y="0"/>
                  </a:moveTo>
                  <a:cubicBezTo>
                    <a:pt x="197" y="0"/>
                    <a:pt x="381" y="0"/>
                    <a:pt x="564" y="0"/>
                  </a:cubicBezTo>
                  <a:cubicBezTo>
                    <a:pt x="566" y="0"/>
                    <a:pt x="567" y="2"/>
                    <a:pt x="565" y="3"/>
                  </a:cubicBezTo>
                  <a:cubicBezTo>
                    <a:pt x="478" y="64"/>
                    <a:pt x="390" y="125"/>
                    <a:pt x="303" y="185"/>
                  </a:cubicBezTo>
                  <a:cubicBezTo>
                    <a:pt x="291" y="193"/>
                    <a:pt x="287" y="193"/>
                    <a:pt x="276" y="185"/>
                  </a:cubicBezTo>
                  <a:cubicBezTo>
                    <a:pt x="188" y="125"/>
                    <a:pt x="100" y="64"/>
                    <a:pt x="13" y="3"/>
                  </a:cubicBezTo>
                  <a:cubicBezTo>
                    <a:pt x="11" y="2"/>
                    <a:pt x="12" y="0"/>
                    <a:pt x="14" y="0"/>
                  </a:cubicBezTo>
                  <a:close/>
                  <a:moveTo>
                    <a:pt x="593" y="10"/>
                  </a:moveTo>
                  <a:cubicBezTo>
                    <a:pt x="593" y="116"/>
                    <a:pt x="593" y="223"/>
                    <a:pt x="593" y="329"/>
                  </a:cubicBezTo>
                  <a:cubicBezTo>
                    <a:pt x="593" y="330"/>
                    <a:pt x="592" y="331"/>
                    <a:pt x="591" y="331"/>
                  </a:cubicBezTo>
                  <a:cubicBezTo>
                    <a:pt x="577" y="331"/>
                    <a:pt x="562" y="331"/>
                    <a:pt x="547" y="331"/>
                  </a:cubicBezTo>
                  <a:cubicBezTo>
                    <a:pt x="546" y="331"/>
                    <a:pt x="546" y="331"/>
                    <a:pt x="546" y="331"/>
                  </a:cubicBezTo>
                  <a:cubicBezTo>
                    <a:pt x="489" y="273"/>
                    <a:pt x="433" y="216"/>
                    <a:pt x="377" y="159"/>
                  </a:cubicBezTo>
                  <a:cubicBezTo>
                    <a:pt x="376" y="158"/>
                    <a:pt x="376" y="156"/>
                    <a:pt x="377" y="156"/>
                  </a:cubicBezTo>
                  <a:cubicBezTo>
                    <a:pt x="448" y="106"/>
                    <a:pt x="519" y="57"/>
                    <a:pt x="590" y="8"/>
                  </a:cubicBezTo>
                  <a:cubicBezTo>
                    <a:pt x="591" y="7"/>
                    <a:pt x="593" y="8"/>
                    <a:pt x="593" y="10"/>
                  </a:cubicBezTo>
                  <a:close/>
                  <a:moveTo>
                    <a:pt x="516" y="331"/>
                  </a:moveTo>
                  <a:cubicBezTo>
                    <a:pt x="362" y="331"/>
                    <a:pt x="209" y="331"/>
                    <a:pt x="55" y="331"/>
                  </a:cubicBezTo>
                  <a:cubicBezTo>
                    <a:pt x="53" y="331"/>
                    <a:pt x="52" y="329"/>
                    <a:pt x="53" y="328"/>
                  </a:cubicBezTo>
                  <a:cubicBezTo>
                    <a:pt x="107" y="274"/>
                    <a:pt x="160" y="220"/>
                    <a:pt x="213" y="166"/>
                  </a:cubicBezTo>
                  <a:cubicBezTo>
                    <a:pt x="214" y="165"/>
                    <a:pt x="215" y="165"/>
                    <a:pt x="216" y="165"/>
                  </a:cubicBezTo>
                  <a:cubicBezTo>
                    <a:pt x="235" y="179"/>
                    <a:pt x="254" y="192"/>
                    <a:pt x="274" y="206"/>
                  </a:cubicBezTo>
                  <a:cubicBezTo>
                    <a:pt x="287" y="215"/>
                    <a:pt x="291" y="215"/>
                    <a:pt x="304" y="206"/>
                  </a:cubicBezTo>
                  <a:cubicBezTo>
                    <a:pt x="322" y="193"/>
                    <a:pt x="340" y="181"/>
                    <a:pt x="359" y="168"/>
                  </a:cubicBezTo>
                  <a:cubicBezTo>
                    <a:pt x="359" y="168"/>
                    <a:pt x="360" y="168"/>
                    <a:pt x="361" y="169"/>
                  </a:cubicBezTo>
                  <a:cubicBezTo>
                    <a:pt x="413" y="222"/>
                    <a:pt x="466" y="275"/>
                    <a:pt x="518" y="328"/>
                  </a:cubicBezTo>
                  <a:cubicBezTo>
                    <a:pt x="519" y="329"/>
                    <a:pt x="518" y="331"/>
                    <a:pt x="516" y="331"/>
                  </a:cubicBezTo>
                  <a:close/>
                  <a:moveTo>
                    <a:pt x="25" y="331"/>
                  </a:moveTo>
                  <a:cubicBezTo>
                    <a:pt x="17" y="331"/>
                    <a:pt x="9" y="331"/>
                    <a:pt x="2" y="331"/>
                  </a:cubicBezTo>
                  <a:cubicBezTo>
                    <a:pt x="1" y="331"/>
                    <a:pt x="0" y="330"/>
                    <a:pt x="0" y="329"/>
                  </a:cubicBezTo>
                  <a:cubicBezTo>
                    <a:pt x="0" y="226"/>
                    <a:pt x="0" y="123"/>
                    <a:pt x="0" y="20"/>
                  </a:cubicBezTo>
                  <a:cubicBezTo>
                    <a:pt x="0" y="18"/>
                    <a:pt x="2" y="17"/>
                    <a:pt x="3" y="18"/>
                  </a:cubicBezTo>
                  <a:cubicBezTo>
                    <a:pt x="68" y="63"/>
                    <a:pt x="132" y="108"/>
                    <a:pt x="197" y="153"/>
                  </a:cubicBezTo>
                  <a:cubicBezTo>
                    <a:pt x="199" y="154"/>
                    <a:pt x="199" y="155"/>
                    <a:pt x="197" y="156"/>
                  </a:cubicBezTo>
                  <a:cubicBezTo>
                    <a:pt x="141" y="214"/>
                    <a:pt x="83" y="272"/>
                    <a:pt x="26" y="331"/>
                  </a:cubicBezTo>
                  <a:cubicBezTo>
                    <a:pt x="25" y="331"/>
                    <a:pt x="25" y="331"/>
                    <a:pt x="25" y="331"/>
                  </a:cubicBezTo>
                  <a:close/>
                </a:path>
              </a:pathLst>
            </a:custGeom>
            <a:grpFill/>
            <a:ln w="9525">
              <a:noFill/>
            </a:ln>
          </p:spPr>
          <p:txBody>
            <a:bodyPr/>
            <a:p>
              <a:pPr lvl="0"/>
              <a:endParaRPr lang="zh-CN" altLang="en-US" dirty="0">
                <a:latin typeface="Calibri" panose="020F0502020204030204" pitchFamily="34" charset="0"/>
                <a:ea typeface="宋体" panose="02010600030101010101" pitchFamily="2" charset="-122"/>
              </a:endParaRPr>
            </a:p>
          </p:txBody>
        </p:sp>
        <p:sp>
          <p:nvSpPr>
            <p:cNvPr id="26668" name="Freeform 24"/>
            <p:cNvSpPr>
              <a:spLocks noEditPoints="1"/>
            </p:cNvSpPr>
            <p:nvPr/>
          </p:nvSpPr>
          <p:spPr>
            <a:xfrm>
              <a:off x="5753511" y="3706916"/>
              <a:ext cx="532119" cy="296866"/>
            </a:xfrm>
            <a:custGeom>
              <a:avLst/>
              <a:gdLst>
                <a:gd name="txL" fmla="*/ 0 w 593"/>
                <a:gd name="txT" fmla="*/ 0 h 331"/>
                <a:gd name="txR" fmla="*/ 593 w 593"/>
                <a:gd name="txB" fmla="*/ 331 h 331"/>
              </a:gdLst>
              <a:ahLst/>
              <a:cxnLst>
                <a:cxn ang="0">
                  <a:pos x="12563" y="0"/>
                </a:cxn>
                <a:cxn ang="0">
                  <a:pos x="506096" y="0"/>
                </a:cxn>
                <a:cxn ang="0">
                  <a:pos x="506994" y="2691"/>
                </a:cxn>
                <a:cxn ang="0">
                  <a:pos x="271892" y="165922"/>
                </a:cxn>
                <a:cxn ang="0">
                  <a:pos x="247664" y="165922"/>
                </a:cxn>
                <a:cxn ang="0">
                  <a:pos x="11665" y="2691"/>
                </a:cxn>
                <a:cxn ang="0">
                  <a:pos x="12563" y="0"/>
                </a:cxn>
                <a:cxn ang="0">
                  <a:pos x="532119" y="8969"/>
                </a:cxn>
                <a:cxn ang="0">
                  <a:pos x="532119" y="295072"/>
                </a:cxn>
                <a:cxn ang="0">
                  <a:pos x="530324" y="296866"/>
                </a:cxn>
                <a:cxn ang="0">
                  <a:pos x="490842" y="296866"/>
                </a:cxn>
                <a:cxn ang="0">
                  <a:pos x="489944" y="296866"/>
                </a:cxn>
                <a:cxn ang="0">
                  <a:pos x="338295" y="142603"/>
                </a:cxn>
                <a:cxn ang="0">
                  <a:pos x="338295" y="139913"/>
                </a:cxn>
                <a:cxn ang="0">
                  <a:pos x="529427" y="7175"/>
                </a:cxn>
                <a:cxn ang="0">
                  <a:pos x="532119" y="8969"/>
                </a:cxn>
                <a:cxn ang="0">
                  <a:pos x="463024" y="296866"/>
                </a:cxn>
                <a:cxn ang="0">
                  <a:pos x="49353" y="296866"/>
                </a:cxn>
                <a:cxn ang="0">
                  <a:pos x="47559" y="294175"/>
                </a:cxn>
                <a:cxn ang="0">
                  <a:pos x="191132" y="148881"/>
                </a:cxn>
                <a:cxn ang="0">
                  <a:pos x="193824" y="147985"/>
                </a:cxn>
                <a:cxn ang="0">
                  <a:pos x="245869" y="184756"/>
                </a:cxn>
                <a:cxn ang="0">
                  <a:pos x="272790" y="184756"/>
                </a:cxn>
                <a:cxn ang="0">
                  <a:pos x="322143" y="150675"/>
                </a:cxn>
                <a:cxn ang="0">
                  <a:pos x="323938" y="151572"/>
                </a:cxn>
                <a:cxn ang="0">
                  <a:pos x="464819" y="294175"/>
                </a:cxn>
                <a:cxn ang="0">
                  <a:pos x="463024" y="296866"/>
                </a:cxn>
                <a:cxn ang="0">
                  <a:pos x="22433" y="296866"/>
                </a:cxn>
                <a:cxn ang="0">
                  <a:pos x="1795" y="296866"/>
                </a:cxn>
                <a:cxn ang="0">
                  <a:pos x="0" y="295072"/>
                </a:cxn>
                <a:cxn ang="0">
                  <a:pos x="0" y="17938"/>
                </a:cxn>
                <a:cxn ang="0">
                  <a:pos x="2692" y="16144"/>
                </a:cxn>
                <a:cxn ang="0">
                  <a:pos x="176775" y="137222"/>
                </a:cxn>
                <a:cxn ang="0">
                  <a:pos x="176775" y="139913"/>
                </a:cxn>
                <a:cxn ang="0">
                  <a:pos x="23331" y="296866"/>
                </a:cxn>
                <a:cxn ang="0">
                  <a:pos x="22433" y="296866"/>
                </a:cxn>
              </a:cxnLst>
              <a:rect l="txL" t="txT" r="txR" b="txB"/>
              <a:pathLst>
                <a:path w="593" h="331">
                  <a:moveTo>
                    <a:pt x="14" y="0"/>
                  </a:moveTo>
                  <a:cubicBezTo>
                    <a:pt x="197" y="0"/>
                    <a:pt x="381" y="0"/>
                    <a:pt x="564" y="0"/>
                  </a:cubicBezTo>
                  <a:cubicBezTo>
                    <a:pt x="566" y="0"/>
                    <a:pt x="567" y="2"/>
                    <a:pt x="565" y="3"/>
                  </a:cubicBezTo>
                  <a:cubicBezTo>
                    <a:pt x="478" y="64"/>
                    <a:pt x="390" y="125"/>
                    <a:pt x="303" y="185"/>
                  </a:cubicBezTo>
                  <a:cubicBezTo>
                    <a:pt x="291" y="193"/>
                    <a:pt x="287" y="193"/>
                    <a:pt x="276" y="185"/>
                  </a:cubicBezTo>
                  <a:cubicBezTo>
                    <a:pt x="188" y="125"/>
                    <a:pt x="100" y="64"/>
                    <a:pt x="13" y="3"/>
                  </a:cubicBezTo>
                  <a:cubicBezTo>
                    <a:pt x="11" y="2"/>
                    <a:pt x="12" y="0"/>
                    <a:pt x="14" y="0"/>
                  </a:cubicBezTo>
                  <a:close/>
                  <a:moveTo>
                    <a:pt x="593" y="10"/>
                  </a:moveTo>
                  <a:cubicBezTo>
                    <a:pt x="593" y="116"/>
                    <a:pt x="593" y="223"/>
                    <a:pt x="593" y="329"/>
                  </a:cubicBezTo>
                  <a:cubicBezTo>
                    <a:pt x="593" y="330"/>
                    <a:pt x="592" y="331"/>
                    <a:pt x="591" y="331"/>
                  </a:cubicBezTo>
                  <a:cubicBezTo>
                    <a:pt x="577" y="331"/>
                    <a:pt x="562" y="331"/>
                    <a:pt x="547" y="331"/>
                  </a:cubicBezTo>
                  <a:cubicBezTo>
                    <a:pt x="546" y="331"/>
                    <a:pt x="546" y="331"/>
                    <a:pt x="546" y="331"/>
                  </a:cubicBezTo>
                  <a:cubicBezTo>
                    <a:pt x="489" y="273"/>
                    <a:pt x="433" y="216"/>
                    <a:pt x="377" y="159"/>
                  </a:cubicBezTo>
                  <a:cubicBezTo>
                    <a:pt x="376" y="158"/>
                    <a:pt x="376" y="156"/>
                    <a:pt x="377" y="156"/>
                  </a:cubicBezTo>
                  <a:cubicBezTo>
                    <a:pt x="448" y="106"/>
                    <a:pt x="519" y="57"/>
                    <a:pt x="590" y="8"/>
                  </a:cubicBezTo>
                  <a:cubicBezTo>
                    <a:pt x="591" y="7"/>
                    <a:pt x="593" y="8"/>
                    <a:pt x="593" y="10"/>
                  </a:cubicBezTo>
                  <a:close/>
                  <a:moveTo>
                    <a:pt x="516" y="331"/>
                  </a:moveTo>
                  <a:cubicBezTo>
                    <a:pt x="362" y="331"/>
                    <a:pt x="209" y="331"/>
                    <a:pt x="55" y="331"/>
                  </a:cubicBezTo>
                  <a:cubicBezTo>
                    <a:pt x="53" y="331"/>
                    <a:pt x="52" y="329"/>
                    <a:pt x="53" y="328"/>
                  </a:cubicBezTo>
                  <a:cubicBezTo>
                    <a:pt x="107" y="274"/>
                    <a:pt x="160" y="220"/>
                    <a:pt x="213" y="166"/>
                  </a:cubicBezTo>
                  <a:cubicBezTo>
                    <a:pt x="214" y="165"/>
                    <a:pt x="215" y="165"/>
                    <a:pt x="216" y="165"/>
                  </a:cubicBezTo>
                  <a:cubicBezTo>
                    <a:pt x="235" y="179"/>
                    <a:pt x="254" y="192"/>
                    <a:pt x="274" y="206"/>
                  </a:cubicBezTo>
                  <a:cubicBezTo>
                    <a:pt x="287" y="215"/>
                    <a:pt x="291" y="215"/>
                    <a:pt x="304" y="206"/>
                  </a:cubicBezTo>
                  <a:cubicBezTo>
                    <a:pt x="322" y="193"/>
                    <a:pt x="340" y="181"/>
                    <a:pt x="359" y="168"/>
                  </a:cubicBezTo>
                  <a:cubicBezTo>
                    <a:pt x="359" y="168"/>
                    <a:pt x="360" y="168"/>
                    <a:pt x="361" y="169"/>
                  </a:cubicBezTo>
                  <a:cubicBezTo>
                    <a:pt x="413" y="222"/>
                    <a:pt x="466" y="275"/>
                    <a:pt x="518" y="328"/>
                  </a:cubicBezTo>
                  <a:cubicBezTo>
                    <a:pt x="519" y="329"/>
                    <a:pt x="518" y="331"/>
                    <a:pt x="516" y="331"/>
                  </a:cubicBezTo>
                  <a:close/>
                  <a:moveTo>
                    <a:pt x="25" y="331"/>
                  </a:moveTo>
                  <a:cubicBezTo>
                    <a:pt x="17" y="331"/>
                    <a:pt x="9" y="331"/>
                    <a:pt x="2" y="331"/>
                  </a:cubicBezTo>
                  <a:cubicBezTo>
                    <a:pt x="1" y="331"/>
                    <a:pt x="0" y="330"/>
                    <a:pt x="0" y="329"/>
                  </a:cubicBezTo>
                  <a:cubicBezTo>
                    <a:pt x="0" y="226"/>
                    <a:pt x="0" y="123"/>
                    <a:pt x="0" y="20"/>
                  </a:cubicBezTo>
                  <a:cubicBezTo>
                    <a:pt x="0" y="18"/>
                    <a:pt x="2" y="17"/>
                    <a:pt x="3" y="18"/>
                  </a:cubicBezTo>
                  <a:cubicBezTo>
                    <a:pt x="68" y="63"/>
                    <a:pt x="132" y="108"/>
                    <a:pt x="197" y="153"/>
                  </a:cubicBezTo>
                  <a:cubicBezTo>
                    <a:pt x="199" y="154"/>
                    <a:pt x="199" y="155"/>
                    <a:pt x="197" y="156"/>
                  </a:cubicBezTo>
                  <a:cubicBezTo>
                    <a:pt x="141" y="214"/>
                    <a:pt x="83" y="272"/>
                    <a:pt x="26" y="331"/>
                  </a:cubicBezTo>
                  <a:cubicBezTo>
                    <a:pt x="25" y="331"/>
                    <a:pt x="25" y="331"/>
                    <a:pt x="25" y="331"/>
                  </a:cubicBezTo>
                  <a:close/>
                </a:path>
              </a:pathLst>
            </a:custGeom>
            <a:grpFill/>
            <a:ln w="9525">
              <a:noFill/>
            </a:ln>
          </p:spPr>
          <p:txBody>
            <a:bodyPr/>
            <a:p>
              <a:pPr lvl="0"/>
              <a:endParaRPr lang="zh-CN" altLang="en-US" dirty="0">
                <a:latin typeface="Calibri" panose="020F0502020204030204" pitchFamily="34" charset="0"/>
                <a:ea typeface="宋体" panose="02010600030101010101" pitchFamily="2" charset="-122"/>
              </a:endParaRPr>
            </a:p>
          </p:txBody>
        </p:sp>
      </p:grpSp>
      <p:grpSp>
        <p:nvGrpSpPr>
          <p:cNvPr id="26641" name="组合 25"/>
          <p:cNvGrpSpPr/>
          <p:nvPr/>
        </p:nvGrpSpPr>
        <p:grpSpPr>
          <a:xfrm rot="0">
            <a:off x="4483100" y="3393440"/>
            <a:ext cx="205740" cy="502920"/>
            <a:chOff x="4251736" y="3708960"/>
            <a:chExt cx="227251" cy="536121"/>
          </a:xfrm>
          <a:noFill/>
        </p:grpSpPr>
        <p:sp>
          <p:nvSpPr>
            <p:cNvPr id="26665" name="Freeform 11"/>
            <p:cNvSpPr/>
            <p:nvPr/>
          </p:nvSpPr>
          <p:spPr>
            <a:xfrm>
              <a:off x="4251736" y="3708960"/>
              <a:ext cx="227251" cy="536121"/>
            </a:xfrm>
            <a:custGeom>
              <a:avLst/>
              <a:gdLst>
                <a:gd name="txL" fmla="*/ 0 w 253"/>
                <a:gd name="txT" fmla="*/ 0 h 597"/>
                <a:gd name="txR" fmla="*/ 253 w 253"/>
                <a:gd name="txB" fmla="*/ 597 h 597"/>
              </a:gdLst>
              <a:ahLst/>
              <a:cxnLst>
                <a:cxn ang="0">
                  <a:pos x="186831" y="0"/>
                </a:cxn>
                <a:cxn ang="0">
                  <a:pos x="195813" y="4490"/>
                </a:cxn>
                <a:cxn ang="0">
                  <a:pos x="197610" y="13470"/>
                </a:cxn>
                <a:cxn ang="0">
                  <a:pos x="168866" y="114947"/>
                </a:cxn>
                <a:cxn ang="0">
                  <a:pos x="167070" y="144582"/>
                </a:cxn>
                <a:cxn ang="0">
                  <a:pos x="226353" y="448114"/>
                </a:cxn>
                <a:cxn ang="0">
                  <a:pos x="222760" y="464279"/>
                </a:cxn>
                <a:cxn ang="0">
                  <a:pos x="138327" y="525345"/>
                </a:cxn>
                <a:cxn ang="0">
                  <a:pos x="87128" y="524447"/>
                </a:cxn>
                <a:cxn ang="0">
                  <a:pos x="4491" y="464279"/>
                </a:cxn>
                <a:cxn ang="0">
                  <a:pos x="898" y="448114"/>
                </a:cxn>
                <a:cxn ang="0">
                  <a:pos x="60181" y="144582"/>
                </a:cxn>
                <a:cxn ang="0">
                  <a:pos x="58385" y="114947"/>
                </a:cxn>
                <a:cxn ang="0">
                  <a:pos x="30540" y="13470"/>
                </a:cxn>
                <a:cxn ang="0">
                  <a:pos x="31438" y="4490"/>
                </a:cxn>
                <a:cxn ang="0">
                  <a:pos x="40420" y="0"/>
                </a:cxn>
                <a:cxn ang="0">
                  <a:pos x="186831" y="0"/>
                </a:cxn>
              </a:cxnLst>
              <a:rect l="txL" t="txT" r="txR" b="txB"/>
              <a:pathLst>
                <a:path w="253" h="597">
                  <a:moveTo>
                    <a:pt x="208" y="0"/>
                  </a:moveTo>
                  <a:cubicBezTo>
                    <a:pt x="212" y="0"/>
                    <a:pt x="216" y="2"/>
                    <a:pt x="218" y="5"/>
                  </a:cubicBezTo>
                  <a:cubicBezTo>
                    <a:pt x="220" y="8"/>
                    <a:pt x="221" y="11"/>
                    <a:pt x="220" y="15"/>
                  </a:cubicBezTo>
                  <a:cubicBezTo>
                    <a:pt x="209" y="53"/>
                    <a:pt x="199" y="91"/>
                    <a:pt x="188" y="128"/>
                  </a:cubicBezTo>
                  <a:cubicBezTo>
                    <a:pt x="184" y="143"/>
                    <a:pt x="183" y="147"/>
                    <a:pt x="186" y="161"/>
                  </a:cubicBezTo>
                  <a:cubicBezTo>
                    <a:pt x="208" y="274"/>
                    <a:pt x="230" y="386"/>
                    <a:pt x="252" y="499"/>
                  </a:cubicBezTo>
                  <a:cubicBezTo>
                    <a:pt x="253" y="505"/>
                    <a:pt x="252" y="512"/>
                    <a:pt x="248" y="517"/>
                  </a:cubicBezTo>
                  <a:cubicBezTo>
                    <a:pt x="244" y="522"/>
                    <a:pt x="184" y="564"/>
                    <a:pt x="154" y="585"/>
                  </a:cubicBezTo>
                  <a:cubicBezTo>
                    <a:pt x="137" y="597"/>
                    <a:pt x="113" y="595"/>
                    <a:pt x="97" y="584"/>
                  </a:cubicBezTo>
                  <a:cubicBezTo>
                    <a:pt x="66" y="562"/>
                    <a:pt x="9" y="522"/>
                    <a:pt x="5" y="517"/>
                  </a:cubicBezTo>
                  <a:cubicBezTo>
                    <a:pt x="2" y="512"/>
                    <a:pt x="0" y="505"/>
                    <a:pt x="1" y="499"/>
                  </a:cubicBezTo>
                  <a:cubicBezTo>
                    <a:pt x="23" y="386"/>
                    <a:pt x="45" y="274"/>
                    <a:pt x="67" y="161"/>
                  </a:cubicBezTo>
                  <a:cubicBezTo>
                    <a:pt x="70" y="147"/>
                    <a:pt x="69" y="143"/>
                    <a:pt x="65" y="128"/>
                  </a:cubicBezTo>
                  <a:cubicBezTo>
                    <a:pt x="55" y="91"/>
                    <a:pt x="44" y="53"/>
                    <a:pt x="34" y="15"/>
                  </a:cubicBezTo>
                  <a:cubicBezTo>
                    <a:pt x="32" y="11"/>
                    <a:pt x="33" y="8"/>
                    <a:pt x="35" y="5"/>
                  </a:cubicBezTo>
                  <a:cubicBezTo>
                    <a:pt x="38" y="2"/>
                    <a:pt x="41" y="0"/>
                    <a:pt x="45" y="0"/>
                  </a:cubicBezTo>
                  <a:lnTo>
                    <a:pt x="208" y="0"/>
                  </a:lnTo>
                  <a:close/>
                </a:path>
              </a:pathLst>
            </a:custGeom>
            <a:grpFill/>
            <a:ln w="9525">
              <a:noFill/>
            </a:ln>
          </p:spPr>
          <p:txBody>
            <a:bodyPr/>
            <a:p>
              <a:pPr lvl="0"/>
              <a:endParaRPr lang="zh-CN" altLang="en-US" dirty="0">
                <a:latin typeface="Calibri" panose="020F0502020204030204" pitchFamily="34" charset="0"/>
                <a:ea typeface="宋体" panose="02010600030101010101" pitchFamily="2" charset="-122"/>
              </a:endParaRPr>
            </a:p>
          </p:txBody>
        </p:sp>
        <p:sp>
          <p:nvSpPr>
            <p:cNvPr id="26666" name="Freeform 27"/>
            <p:cNvSpPr/>
            <p:nvPr/>
          </p:nvSpPr>
          <p:spPr>
            <a:xfrm>
              <a:off x="4251736" y="3708960"/>
              <a:ext cx="227251" cy="536121"/>
            </a:xfrm>
            <a:custGeom>
              <a:avLst/>
              <a:gdLst>
                <a:gd name="txL" fmla="*/ 0 w 253"/>
                <a:gd name="txT" fmla="*/ 0 h 597"/>
                <a:gd name="txR" fmla="*/ 253 w 253"/>
                <a:gd name="txB" fmla="*/ 597 h 597"/>
              </a:gdLst>
              <a:ahLst/>
              <a:cxnLst>
                <a:cxn ang="0">
                  <a:pos x="186831" y="0"/>
                </a:cxn>
                <a:cxn ang="0">
                  <a:pos x="195813" y="4490"/>
                </a:cxn>
                <a:cxn ang="0">
                  <a:pos x="197610" y="13470"/>
                </a:cxn>
                <a:cxn ang="0">
                  <a:pos x="168866" y="114947"/>
                </a:cxn>
                <a:cxn ang="0">
                  <a:pos x="167070" y="144582"/>
                </a:cxn>
                <a:cxn ang="0">
                  <a:pos x="226353" y="448114"/>
                </a:cxn>
                <a:cxn ang="0">
                  <a:pos x="222760" y="464279"/>
                </a:cxn>
                <a:cxn ang="0">
                  <a:pos x="138327" y="525345"/>
                </a:cxn>
                <a:cxn ang="0">
                  <a:pos x="87128" y="524447"/>
                </a:cxn>
                <a:cxn ang="0">
                  <a:pos x="4491" y="464279"/>
                </a:cxn>
                <a:cxn ang="0">
                  <a:pos x="898" y="448114"/>
                </a:cxn>
                <a:cxn ang="0">
                  <a:pos x="60181" y="144582"/>
                </a:cxn>
                <a:cxn ang="0">
                  <a:pos x="58385" y="114947"/>
                </a:cxn>
                <a:cxn ang="0">
                  <a:pos x="30540" y="13470"/>
                </a:cxn>
                <a:cxn ang="0">
                  <a:pos x="31438" y="4490"/>
                </a:cxn>
                <a:cxn ang="0">
                  <a:pos x="40420" y="0"/>
                </a:cxn>
                <a:cxn ang="0">
                  <a:pos x="186831" y="0"/>
                </a:cxn>
              </a:cxnLst>
              <a:rect l="txL" t="txT" r="txR" b="txB"/>
              <a:pathLst>
                <a:path w="253" h="597">
                  <a:moveTo>
                    <a:pt x="208" y="0"/>
                  </a:moveTo>
                  <a:cubicBezTo>
                    <a:pt x="212" y="0"/>
                    <a:pt x="216" y="2"/>
                    <a:pt x="218" y="5"/>
                  </a:cubicBezTo>
                  <a:cubicBezTo>
                    <a:pt x="220" y="8"/>
                    <a:pt x="221" y="11"/>
                    <a:pt x="220" y="15"/>
                  </a:cubicBezTo>
                  <a:cubicBezTo>
                    <a:pt x="209" y="53"/>
                    <a:pt x="199" y="91"/>
                    <a:pt x="188" y="128"/>
                  </a:cubicBezTo>
                  <a:cubicBezTo>
                    <a:pt x="184" y="143"/>
                    <a:pt x="183" y="147"/>
                    <a:pt x="186" y="161"/>
                  </a:cubicBezTo>
                  <a:cubicBezTo>
                    <a:pt x="208" y="274"/>
                    <a:pt x="230" y="386"/>
                    <a:pt x="252" y="499"/>
                  </a:cubicBezTo>
                  <a:cubicBezTo>
                    <a:pt x="253" y="505"/>
                    <a:pt x="252" y="512"/>
                    <a:pt x="248" y="517"/>
                  </a:cubicBezTo>
                  <a:cubicBezTo>
                    <a:pt x="244" y="522"/>
                    <a:pt x="184" y="564"/>
                    <a:pt x="154" y="585"/>
                  </a:cubicBezTo>
                  <a:cubicBezTo>
                    <a:pt x="137" y="597"/>
                    <a:pt x="113" y="595"/>
                    <a:pt x="97" y="584"/>
                  </a:cubicBezTo>
                  <a:cubicBezTo>
                    <a:pt x="66" y="562"/>
                    <a:pt x="9" y="522"/>
                    <a:pt x="5" y="517"/>
                  </a:cubicBezTo>
                  <a:cubicBezTo>
                    <a:pt x="2" y="512"/>
                    <a:pt x="0" y="505"/>
                    <a:pt x="1" y="499"/>
                  </a:cubicBezTo>
                  <a:cubicBezTo>
                    <a:pt x="23" y="386"/>
                    <a:pt x="45" y="274"/>
                    <a:pt x="67" y="161"/>
                  </a:cubicBezTo>
                  <a:cubicBezTo>
                    <a:pt x="70" y="147"/>
                    <a:pt x="69" y="143"/>
                    <a:pt x="65" y="128"/>
                  </a:cubicBezTo>
                  <a:cubicBezTo>
                    <a:pt x="55" y="91"/>
                    <a:pt x="44" y="53"/>
                    <a:pt x="34" y="15"/>
                  </a:cubicBezTo>
                  <a:cubicBezTo>
                    <a:pt x="32" y="11"/>
                    <a:pt x="33" y="8"/>
                    <a:pt x="35" y="5"/>
                  </a:cubicBezTo>
                  <a:cubicBezTo>
                    <a:pt x="38" y="2"/>
                    <a:pt x="41" y="0"/>
                    <a:pt x="45" y="0"/>
                  </a:cubicBezTo>
                  <a:lnTo>
                    <a:pt x="208" y="0"/>
                  </a:lnTo>
                  <a:close/>
                </a:path>
              </a:pathLst>
            </a:custGeom>
            <a:grpFill/>
            <a:ln w="9525">
              <a:noFill/>
            </a:ln>
          </p:spPr>
          <p:txBody>
            <a:bodyPr/>
            <a:p>
              <a:pPr lvl="0"/>
              <a:endParaRPr lang="zh-CN" altLang="en-US" dirty="0">
                <a:latin typeface="Calibri" panose="020F0502020204030204" pitchFamily="34" charset="0"/>
                <a:ea typeface="宋体" panose="02010600030101010101" pitchFamily="2" charset="-122"/>
              </a:endParaRPr>
            </a:p>
          </p:txBody>
        </p:sp>
      </p:grpSp>
      <p:grpSp>
        <p:nvGrpSpPr>
          <p:cNvPr id="26642" name="组合 24"/>
          <p:cNvGrpSpPr/>
          <p:nvPr/>
        </p:nvGrpSpPr>
        <p:grpSpPr>
          <a:xfrm rot="0">
            <a:off x="7203440" y="3494405"/>
            <a:ext cx="482600" cy="401955"/>
            <a:chOff x="7552150" y="3702686"/>
            <a:chExt cx="536921" cy="428096"/>
          </a:xfrm>
          <a:noFill/>
        </p:grpSpPr>
        <p:sp>
          <p:nvSpPr>
            <p:cNvPr id="26663" name="Freeform 16"/>
            <p:cNvSpPr>
              <a:spLocks noEditPoints="1"/>
            </p:cNvSpPr>
            <p:nvPr/>
          </p:nvSpPr>
          <p:spPr>
            <a:xfrm>
              <a:off x="7552150" y="3702686"/>
              <a:ext cx="536921" cy="428096"/>
            </a:xfrm>
            <a:custGeom>
              <a:avLst/>
              <a:gdLst>
                <a:gd name="txL" fmla="*/ 0 w 598"/>
                <a:gd name="txT" fmla="*/ 0 h 477"/>
                <a:gd name="txR" fmla="*/ 598 w 598"/>
                <a:gd name="txB" fmla="*/ 477 h 477"/>
              </a:gdLst>
              <a:ahLst/>
              <a:cxnLst>
                <a:cxn ang="0">
                  <a:pos x="501007" y="105902"/>
                </a:cxn>
                <a:cxn ang="0">
                  <a:pos x="515372" y="127442"/>
                </a:cxn>
                <a:cxn ang="0">
                  <a:pos x="509985" y="147186"/>
                </a:cxn>
                <a:cxn ang="0">
                  <a:pos x="495619" y="154366"/>
                </a:cxn>
                <a:cxn ang="0">
                  <a:pos x="346574" y="154366"/>
                </a:cxn>
                <a:cxn ang="0">
                  <a:pos x="311558" y="192060"/>
                </a:cxn>
                <a:cxn ang="0">
                  <a:pos x="301681" y="201932"/>
                </a:cxn>
                <a:cxn ang="0">
                  <a:pos x="159819" y="201932"/>
                </a:cxn>
                <a:cxn ang="0">
                  <a:pos x="139168" y="180393"/>
                </a:cxn>
                <a:cxn ang="0">
                  <a:pos x="139168" y="138211"/>
                </a:cxn>
                <a:cxn ang="0">
                  <a:pos x="141862" y="122057"/>
                </a:cxn>
                <a:cxn ang="0">
                  <a:pos x="165206" y="34104"/>
                </a:cxn>
                <a:cxn ang="0">
                  <a:pos x="189449" y="22437"/>
                </a:cxn>
                <a:cxn ang="0">
                  <a:pos x="501007" y="105902"/>
                </a:cxn>
                <a:cxn ang="0">
                  <a:pos x="63748" y="428096"/>
                </a:cxn>
                <a:cxn ang="0">
                  <a:pos x="466888" y="428096"/>
                </a:cxn>
                <a:cxn ang="0">
                  <a:pos x="530636" y="365273"/>
                </a:cxn>
                <a:cxn ang="0">
                  <a:pos x="530636" y="189367"/>
                </a:cxn>
                <a:cxn ang="0">
                  <a:pos x="524351" y="169623"/>
                </a:cxn>
                <a:cxn ang="0">
                  <a:pos x="523453" y="161546"/>
                </a:cxn>
                <a:cxn ang="0">
                  <a:pos x="532432" y="128339"/>
                </a:cxn>
                <a:cxn ang="0">
                  <a:pos x="506394" y="88850"/>
                </a:cxn>
                <a:cxn ang="0">
                  <a:pos x="192142" y="5385"/>
                </a:cxn>
                <a:cxn ang="0">
                  <a:pos x="150841" y="26027"/>
                </a:cxn>
                <a:cxn ang="0">
                  <a:pos x="127496" y="112184"/>
                </a:cxn>
                <a:cxn ang="0">
                  <a:pos x="118518" y="116672"/>
                </a:cxn>
                <a:cxn ang="0">
                  <a:pos x="63748" y="116672"/>
                </a:cxn>
                <a:cxn ang="0">
                  <a:pos x="0" y="180393"/>
                </a:cxn>
                <a:cxn ang="0">
                  <a:pos x="0" y="365273"/>
                </a:cxn>
                <a:cxn ang="0">
                  <a:pos x="63748" y="428096"/>
                </a:cxn>
              </a:cxnLst>
              <a:rect l="txL" t="txT" r="txR" b="txB"/>
              <a:pathLst>
                <a:path w="598" h="477">
                  <a:moveTo>
                    <a:pt x="558" y="118"/>
                  </a:moveTo>
                  <a:cubicBezTo>
                    <a:pt x="570" y="121"/>
                    <a:pt x="577" y="132"/>
                    <a:pt x="574" y="142"/>
                  </a:cubicBezTo>
                  <a:cubicBezTo>
                    <a:pt x="568" y="164"/>
                    <a:pt x="568" y="164"/>
                    <a:pt x="568" y="164"/>
                  </a:cubicBezTo>
                  <a:cubicBezTo>
                    <a:pt x="566" y="171"/>
                    <a:pt x="564" y="172"/>
                    <a:pt x="552" y="172"/>
                  </a:cubicBezTo>
                  <a:cubicBezTo>
                    <a:pt x="386" y="172"/>
                    <a:pt x="386" y="172"/>
                    <a:pt x="386" y="172"/>
                  </a:cubicBezTo>
                  <a:cubicBezTo>
                    <a:pt x="361" y="172"/>
                    <a:pt x="347" y="191"/>
                    <a:pt x="347" y="214"/>
                  </a:cubicBezTo>
                  <a:cubicBezTo>
                    <a:pt x="347" y="220"/>
                    <a:pt x="342" y="225"/>
                    <a:pt x="336" y="225"/>
                  </a:cubicBezTo>
                  <a:cubicBezTo>
                    <a:pt x="178" y="225"/>
                    <a:pt x="178" y="225"/>
                    <a:pt x="178" y="225"/>
                  </a:cubicBezTo>
                  <a:cubicBezTo>
                    <a:pt x="166" y="225"/>
                    <a:pt x="155" y="215"/>
                    <a:pt x="155" y="201"/>
                  </a:cubicBezTo>
                  <a:cubicBezTo>
                    <a:pt x="155" y="154"/>
                    <a:pt x="155" y="154"/>
                    <a:pt x="155" y="154"/>
                  </a:cubicBezTo>
                  <a:cubicBezTo>
                    <a:pt x="155" y="146"/>
                    <a:pt x="155" y="145"/>
                    <a:pt x="158" y="136"/>
                  </a:cubicBezTo>
                  <a:cubicBezTo>
                    <a:pt x="184" y="38"/>
                    <a:pt x="184" y="38"/>
                    <a:pt x="184" y="38"/>
                  </a:cubicBezTo>
                  <a:cubicBezTo>
                    <a:pt x="187" y="27"/>
                    <a:pt x="199" y="21"/>
                    <a:pt x="211" y="25"/>
                  </a:cubicBezTo>
                  <a:lnTo>
                    <a:pt x="558" y="118"/>
                  </a:lnTo>
                  <a:close/>
                  <a:moveTo>
                    <a:pt x="71" y="477"/>
                  </a:moveTo>
                  <a:cubicBezTo>
                    <a:pt x="520" y="477"/>
                    <a:pt x="520" y="477"/>
                    <a:pt x="520" y="477"/>
                  </a:cubicBezTo>
                  <a:cubicBezTo>
                    <a:pt x="559" y="477"/>
                    <a:pt x="591" y="446"/>
                    <a:pt x="591" y="407"/>
                  </a:cubicBezTo>
                  <a:cubicBezTo>
                    <a:pt x="591" y="211"/>
                    <a:pt x="591" y="211"/>
                    <a:pt x="591" y="211"/>
                  </a:cubicBezTo>
                  <a:cubicBezTo>
                    <a:pt x="591" y="203"/>
                    <a:pt x="588" y="195"/>
                    <a:pt x="584" y="189"/>
                  </a:cubicBezTo>
                  <a:cubicBezTo>
                    <a:pt x="582" y="186"/>
                    <a:pt x="582" y="183"/>
                    <a:pt x="583" y="180"/>
                  </a:cubicBezTo>
                  <a:cubicBezTo>
                    <a:pt x="593" y="143"/>
                    <a:pt x="593" y="143"/>
                    <a:pt x="593" y="143"/>
                  </a:cubicBezTo>
                  <a:cubicBezTo>
                    <a:pt x="598" y="124"/>
                    <a:pt x="585" y="105"/>
                    <a:pt x="564" y="99"/>
                  </a:cubicBezTo>
                  <a:cubicBezTo>
                    <a:pt x="214" y="6"/>
                    <a:pt x="214" y="6"/>
                    <a:pt x="214" y="6"/>
                  </a:cubicBezTo>
                  <a:cubicBezTo>
                    <a:pt x="194" y="0"/>
                    <a:pt x="173" y="11"/>
                    <a:pt x="168" y="29"/>
                  </a:cubicBezTo>
                  <a:cubicBezTo>
                    <a:pt x="142" y="125"/>
                    <a:pt x="142" y="125"/>
                    <a:pt x="142" y="125"/>
                  </a:cubicBezTo>
                  <a:cubicBezTo>
                    <a:pt x="141" y="130"/>
                    <a:pt x="137" y="130"/>
                    <a:pt x="132" y="130"/>
                  </a:cubicBezTo>
                  <a:cubicBezTo>
                    <a:pt x="71" y="130"/>
                    <a:pt x="71" y="130"/>
                    <a:pt x="71" y="130"/>
                  </a:cubicBezTo>
                  <a:cubicBezTo>
                    <a:pt x="32" y="130"/>
                    <a:pt x="0" y="162"/>
                    <a:pt x="0" y="201"/>
                  </a:cubicBezTo>
                  <a:cubicBezTo>
                    <a:pt x="0" y="407"/>
                    <a:pt x="0" y="407"/>
                    <a:pt x="0" y="407"/>
                  </a:cubicBezTo>
                  <a:cubicBezTo>
                    <a:pt x="0" y="446"/>
                    <a:pt x="32" y="477"/>
                    <a:pt x="71" y="477"/>
                  </a:cubicBezTo>
                  <a:close/>
                </a:path>
              </a:pathLst>
            </a:custGeom>
            <a:grpFill/>
            <a:ln w="9525">
              <a:noFill/>
            </a:ln>
          </p:spPr>
          <p:txBody>
            <a:bodyPr/>
            <a:p>
              <a:pPr lvl="0"/>
              <a:endParaRPr lang="zh-CN" altLang="en-US" dirty="0">
                <a:latin typeface="Calibri" panose="020F0502020204030204" pitchFamily="34" charset="0"/>
                <a:ea typeface="宋体" panose="02010600030101010101" pitchFamily="2" charset="-122"/>
              </a:endParaRPr>
            </a:p>
          </p:txBody>
        </p:sp>
        <p:sp>
          <p:nvSpPr>
            <p:cNvPr id="26664" name="Freeform 32"/>
            <p:cNvSpPr>
              <a:spLocks noEditPoints="1"/>
            </p:cNvSpPr>
            <p:nvPr/>
          </p:nvSpPr>
          <p:spPr>
            <a:xfrm>
              <a:off x="7552150" y="3702686"/>
              <a:ext cx="536921" cy="428096"/>
            </a:xfrm>
            <a:custGeom>
              <a:avLst/>
              <a:gdLst>
                <a:gd name="txL" fmla="*/ 0 w 598"/>
                <a:gd name="txT" fmla="*/ 0 h 477"/>
                <a:gd name="txR" fmla="*/ 598 w 598"/>
                <a:gd name="txB" fmla="*/ 477 h 477"/>
              </a:gdLst>
              <a:ahLst/>
              <a:cxnLst>
                <a:cxn ang="0">
                  <a:pos x="501007" y="105902"/>
                </a:cxn>
                <a:cxn ang="0">
                  <a:pos x="515372" y="127442"/>
                </a:cxn>
                <a:cxn ang="0">
                  <a:pos x="509985" y="147186"/>
                </a:cxn>
                <a:cxn ang="0">
                  <a:pos x="495619" y="154366"/>
                </a:cxn>
                <a:cxn ang="0">
                  <a:pos x="346574" y="154366"/>
                </a:cxn>
                <a:cxn ang="0">
                  <a:pos x="311558" y="192060"/>
                </a:cxn>
                <a:cxn ang="0">
                  <a:pos x="301681" y="201932"/>
                </a:cxn>
                <a:cxn ang="0">
                  <a:pos x="159819" y="201932"/>
                </a:cxn>
                <a:cxn ang="0">
                  <a:pos x="139168" y="180393"/>
                </a:cxn>
                <a:cxn ang="0">
                  <a:pos x="139168" y="138211"/>
                </a:cxn>
                <a:cxn ang="0">
                  <a:pos x="141862" y="122057"/>
                </a:cxn>
                <a:cxn ang="0">
                  <a:pos x="165206" y="34104"/>
                </a:cxn>
                <a:cxn ang="0">
                  <a:pos x="189449" y="22437"/>
                </a:cxn>
                <a:cxn ang="0">
                  <a:pos x="501007" y="105902"/>
                </a:cxn>
                <a:cxn ang="0">
                  <a:pos x="63748" y="428096"/>
                </a:cxn>
                <a:cxn ang="0">
                  <a:pos x="466888" y="428096"/>
                </a:cxn>
                <a:cxn ang="0">
                  <a:pos x="530636" y="365273"/>
                </a:cxn>
                <a:cxn ang="0">
                  <a:pos x="530636" y="189367"/>
                </a:cxn>
                <a:cxn ang="0">
                  <a:pos x="524351" y="169623"/>
                </a:cxn>
                <a:cxn ang="0">
                  <a:pos x="523453" y="161546"/>
                </a:cxn>
                <a:cxn ang="0">
                  <a:pos x="532432" y="128339"/>
                </a:cxn>
                <a:cxn ang="0">
                  <a:pos x="506394" y="88850"/>
                </a:cxn>
                <a:cxn ang="0">
                  <a:pos x="192142" y="5385"/>
                </a:cxn>
                <a:cxn ang="0">
                  <a:pos x="150841" y="26027"/>
                </a:cxn>
                <a:cxn ang="0">
                  <a:pos x="127496" y="112184"/>
                </a:cxn>
                <a:cxn ang="0">
                  <a:pos x="118518" y="116672"/>
                </a:cxn>
                <a:cxn ang="0">
                  <a:pos x="63748" y="116672"/>
                </a:cxn>
                <a:cxn ang="0">
                  <a:pos x="0" y="180393"/>
                </a:cxn>
                <a:cxn ang="0">
                  <a:pos x="0" y="365273"/>
                </a:cxn>
                <a:cxn ang="0">
                  <a:pos x="63748" y="428096"/>
                </a:cxn>
              </a:cxnLst>
              <a:rect l="txL" t="txT" r="txR" b="txB"/>
              <a:pathLst>
                <a:path w="598" h="477">
                  <a:moveTo>
                    <a:pt x="558" y="118"/>
                  </a:moveTo>
                  <a:cubicBezTo>
                    <a:pt x="570" y="121"/>
                    <a:pt x="577" y="132"/>
                    <a:pt x="574" y="142"/>
                  </a:cubicBezTo>
                  <a:cubicBezTo>
                    <a:pt x="568" y="164"/>
                    <a:pt x="568" y="164"/>
                    <a:pt x="568" y="164"/>
                  </a:cubicBezTo>
                  <a:cubicBezTo>
                    <a:pt x="566" y="171"/>
                    <a:pt x="564" y="172"/>
                    <a:pt x="552" y="172"/>
                  </a:cubicBezTo>
                  <a:cubicBezTo>
                    <a:pt x="386" y="172"/>
                    <a:pt x="386" y="172"/>
                    <a:pt x="386" y="172"/>
                  </a:cubicBezTo>
                  <a:cubicBezTo>
                    <a:pt x="361" y="172"/>
                    <a:pt x="347" y="191"/>
                    <a:pt x="347" y="214"/>
                  </a:cubicBezTo>
                  <a:cubicBezTo>
                    <a:pt x="347" y="220"/>
                    <a:pt x="342" y="225"/>
                    <a:pt x="336" y="225"/>
                  </a:cubicBezTo>
                  <a:cubicBezTo>
                    <a:pt x="178" y="225"/>
                    <a:pt x="178" y="225"/>
                    <a:pt x="178" y="225"/>
                  </a:cubicBezTo>
                  <a:cubicBezTo>
                    <a:pt x="166" y="225"/>
                    <a:pt x="155" y="215"/>
                    <a:pt x="155" y="201"/>
                  </a:cubicBezTo>
                  <a:cubicBezTo>
                    <a:pt x="155" y="154"/>
                    <a:pt x="155" y="154"/>
                    <a:pt x="155" y="154"/>
                  </a:cubicBezTo>
                  <a:cubicBezTo>
                    <a:pt x="155" y="146"/>
                    <a:pt x="155" y="145"/>
                    <a:pt x="158" y="136"/>
                  </a:cubicBezTo>
                  <a:cubicBezTo>
                    <a:pt x="184" y="38"/>
                    <a:pt x="184" y="38"/>
                    <a:pt x="184" y="38"/>
                  </a:cubicBezTo>
                  <a:cubicBezTo>
                    <a:pt x="187" y="27"/>
                    <a:pt x="199" y="21"/>
                    <a:pt x="211" y="25"/>
                  </a:cubicBezTo>
                  <a:lnTo>
                    <a:pt x="558" y="118"/>
                  </a:lnTo>
                  <a:close/>
                  <a:moveTo>
                    <a:pt x="71" y="477"/>
                  </a:moveTo>
                  <a:cubicBezTo>
                    <a:pt x="520" y="477"/>
                    <a:pt x="520" y="477"/>
                    <a:pt x="520" y="477"/>
                  </a:cubicBezTo>
                  <a:cubicBezTo>
                    <a:pt x="559" y="477"/>
                    <a:pt x="591" y="446"/>
                    <a:pt x="591" y="407"/>
                  </a:cubicBezTo>
                  <a:cubicBezTo>
                    <a:pt x="591" y="211"/>
                    <a:pt x="591" y="211"/>
                    <a:pt x="591" y="211"/>
                  </a:cubicBezTo>
                  <a:cubicBezTo>
                    <a:pt x="591" y="203"/>
                    <a:pt x="588" y="195"/>
                    <a:pt x="584" y="189"/>
                  </a:cubicBezTo>
                  <a:cubicBezTo>
                    <a:pt x="582" y="186"/>
                    <a:pt x="582" y="183"/>
                    <a:pt x="583" y="180"/>
                  </a:cubicBezTo>
                  <a:cubicBezTo>
                    <a:pt x="593" y="143"/>
                    <a:pt x="593" y="143"/>
                    <a:pt x="593" y="143"/>
                  </a:cubicBezTo>
                  <a:cubicBezTo>
                    <a:pt x="598" y="124"/>
                    <a:pt x="585" y="105"/>
                    <a:pt x="564" y="99"/>
                  </a:cubicBezTo>
                  <a:cubicBezTo>
                    <a:pt x="214" y="6"/>
                    <a:pt x="214" y="6"/>
                    <a:pt x="214" y="6"/>
                  </a:cubicBezTo>
                  <a:cubicBezTo>
                    <a:pt x="194" y="0"/>
                    <a:pt x="173" y="11"/>
                    <a:pt x="168" y="29"/>
                  </a:cubicBezTo>
                  <a:cubicBezTo>
                    <a:pt x="142" y="125"/>
                    <a:pt x="142" y="125"/>
                    <a:pt x="142" y="125"/>
                  </a:cubicBezTo>
                  <a:cubicBezTo>
                    <a:pt x="141" y="130"/>
                    <a:pt x="137" y="130"/>
                    <a:pt x="132" y="130"/>
                  </a:cubicBezTo>
                  <a:cubicBezTo>
                    <a:pt x="71" y="130"/>
                    <a:pt x="71" y="130"/>
                    <a:pt x="71" y="130"/>
                  </a:cubicBezTo>
                  <a:cubicBezTo>
                    <a:pt x="32" y="130"/>
                    <a:pt x="0" y="162"/>
                    <a:pt x="0" y="201"/>
                  </a:cubicBezTo>
                  <a:cubicBezTo>
                    <a:pt x="0" y="407"/>
                    <a:pt x="0" y="407"/>
                    <a:pt x="0" y="407"/>
                  </a:cubicBezTo>
                  <a:cubicBezTo>
                    <a:pt x="0" y="446"/>
                    <a:pt x="32" y="477"/>
                    <a:pt x="71" y="477"/>
                  </a:cubicBezTo>
                  <a:close/>
                </a:path>
              </a:pathLst>
            </a:custGeom>
            <a:grpFill/>
            <a:ln w="9525">
              <a:noFill/>
            </a:ln>
          </p:spPr>
          <p:txBody>
            <a:bodyPr/>
            <a:p>
              <a:pPr lvl="0"/>
              <a:endParaRPr lang="zh-CN" altLang="en-US" dirty="0">
                <a:latin typeface="Calibri" panose="020F0502020204030204" pitchFamily="34" charset="0"/>
                <a:ea typeface="宋体" panose="02010600030101010101" pitchFamily="2" charset="-122"/>
              </a:endParaRPr>
            </a:p>
          </p:txBody>
        </p:sp>
      </p:grpSp>
      <p:grpSp>
        <p:nvGrpSpPr>
          <p:cNvPr id="26643" name="组合 23"/>
          <p:cNvGrpSpPr/>
          <p:nvPr/>
        </p:nvGrpSpPr>
        <p:grpSpPr>
          <a:xfrm rot="0">
            <a:off x="5904865" y="2099945"/>
            <a:ext cx="387985" cy="473075"/>
            <a:chOff x="2237200" y="3705024"/>
            <a:chExt cx="454502" cy="532119"/>
          </a:xfrm>
          <a:noFill/>
        </p:grpSpPr>
        <p:sp>
          <p:nvSpPr>
            <p:cNvPr id="26661" name="Freeform 20"/>
            <p:cNvSpPr>
              <a:spLocks noEditPoints="1"/>
            </p:cNvSpPr>
            <p:nvPr/>
          </p:nvSpPr>
          <p:spPr>
            <a:xfrm>
              <a:off x="2237200" y="3705024"/>
              <a:ext cx="454502" cy="532119"/>
            </a:xfrm>
            <a:custGeom>
              <a:avLst/>
              <a:gdLst>
                <a:gd name="txL" fmla="*/ 0 w 506"/>
                <a:gd name="txT" fmla="*/ 0 h 593"/>
                <a:gd name="txR" fmla="*/ 506 w 506"/>
                <a:gd name="txB" fmla="*/ 593 h 593"/>
              </a:gdLst>
              <a:ahLst/>
              <a:cxnLst>
                <a:cxn ang="0">
                  <a:pos x="81739" y="532119"/>
                </a:cxn>
                <a:cxn ang="0">
                  <a:pos x="371865" y="532119"/>
                </a:cxn>
                <a:cxn ang="0">
                  <a:pos x="454502" y="439694"/>
                </a:cxn>
                <a:cxn ang="0">
                  <a:pos x="454502" y="115756"/>
                </a:cxn>
                <a:cxn ang="0">
                  <a:pos x="442825" y="84349"/>
                </a:cxn>
                <a:cxn ang="0">
                  <a:pos x="379949" y="13460"/>
                </a:cxn>
                <a:cxn ang="0">
                  <a:pos x="368272" y="4487"/>
                </a:cxn>
                <a:cxn ang="0">
                  <a:pos x="352104" y="5384"/>
                </a:cxn>
                <a:cxn ang="0">
                  <a:pos x="343122" y="22433"/>
                </a:cxn>
                <a:cxn ang="0">
                  <a:pos x="343122" y="128319"/>
                </a:cxn>
                <a:cxn ang="0">
                  <a:pos x="326056" y="148060"/>
                </a:cxn>
                <a:cxn ang="0">
                  <a:pos x="127548" y="148060"/>
                </a:cxn>
                <a:cxn ang="0">
                  <a:pos x="110482" y="128319"/>
                </a:cxn>
                <a:cxn ang="0">
                  <a:pos x="110482" y="19741"/>
                </a:cxn>
                <a:cxn ang="0">
                  <a:pos x="92517" y="0"/>
                </a:cxn>
                <a:cxn ang="0">
                  <a:pos x="81739" y="0"/>
                </a:cxn>
                <a:cxn ang="0">
                  <a:pos x="0" y="92425"/>
                </a:cxn>
                <a:cxn ang="0">
                  <a:pos x="0" y="439694"/>
                </a:cxn>
                <a:cxn ang="0">
                  <a:pos x="81739" y="532119"/>
                </a:cxn>
                <a:cxn ang="0">
                  <a:pos x="239826" y="17049"/>
                </a:cxn>
                <a:cxn ang="0">
                  <a:pos x="304498" y="17049"/>
                </a:cxn>
                <a:cxn ang="0">
                  <a:pos x="320666" y="32304"/>
                </a:cxn>
                <a:cxn ang="0">
                  <a:pos x="320666" y="117551"/>
                </a:cxn>
                <a:cxn ang="0">
                  <a:pos x="304498" y="133703"/>
                </a:cxn>
                <a:cxn ang="0">
                  <a:pos x="239826" y="133703"/>
                </a:cxn>
                <a:cxn ang="0">
                  <a:pos x="223658" y="117551"/>
                </a:cxn>
                <a:cxn ang="0">
                  <a:pos x="223658" y="32304"/>
                </a:cxn>
                <a:cxn ang="0">
                  <a:pos x="239826" y="17049"/>
                </a:cxn>
              </a:cxnLst>
              <a:rect l="txL" t="txT" r="txR" b="txB"/>
              <a:pathLst>
                <a:path w="506" h="593">
                  <a:moveTo>
                    <a:pt x="91" y="593"/>
                  </a:moveTo>
                  <a:cubicBezTo>
                    <a:pt x="414" y="593"/>
                    <a:pt x="414" y="593"/>
                    <a:pt x="414" y="593"/>
                  </a:cubicBezTo>
                  <a:cubicBezTo>
                    <a:pt x="464" y="593"/>
                    <a:pt x="506" y="547"/>
                    <a:pt x="506" y="490"/>
                  </a:cubicBezTo>
                  <a:cubicBezTo>
                    <a:pt x="506" y="129"/>
                    <a:pt x="506" y="129"/>
                    <a:pt x="506" y="129"/>
                  </a:cubicBezTo>
                  <a:cubicBezTo>
                    <a:pt x="506" y="115"/>
                    <a:pt x="501" y="104"/>
                    <a:pt x="493" y="94"/>
                  </a:cubicBezTo>
                  <a:cubicBezTo>
                    <a:pt x="423" y="15"/>
                    <a:pt x="423" y="15"/>
                    <a:pt x="423" y="15"/>
                  </a:cubicBezTo>
                  <a:cubicBezTo>
                    <a:pt x="419" y="10"/>
                    <a:pt x="415" y="7"/>
                    <a:pt x="410" y="5"/>
                  </a:cubicBezTo>
                  <a:cubicBezTo>
                    <a:pt x="404" y="1"/>
                    <a:pt x="397" y="2"/>
                    <a:pt x="392" y="6"/>
                  </a:cubicBezTo>
                  <a:cubicBezTo>
                    <a:pt x="386" y="10"/>
                    <a:pt x="382" y="17"/>
                    <a:pt x="382" y="25"/>
                  </a:cubicBezTo>
                  <a:cubicBezTo>
                    <a:pt x="382" y="64"/>
                    <a:pt x="382" y="104"/>
                    <a:pt x="382" y="143"/>
                  </a:cubicBezTo>
                  <a:cubicBezTo>
                    <a:pt x="382" y="155"/>
                    <a:pt x="373" y="165"/>
                    <a:pt x="363" y="165"/>
                  </a:cubicBezTo>
                  <a:cubicBezTo>
                    <a:pt x="289" y="165"/>
                    <a:pt x="216" y="165"/>
                    <a:pt x="142" y="165"/>
                  </a:cubicBezTo>
                  <a:cubicBezTo>
                    <a:pt x="132" y="165"/>
                    <a:pt x="123" y="155"/>
                    <a:pt x="123" y="143"/>
                  </a:cubicBezTo>
                  <a:cubicBezTo>
                    <a:pt x="123" y="103"/>
                    <a:pt x="123" y="63"/>
                    <a:pt x="123" y="22"/>
                  </a:cubicBezTo>
                  <a:cubicBezTo>
                    <a:pt x="123" y="10"/>
                    <a:pt x="114" y="0"/>
                    <a:pt x="103" y="0"/>
                  </a:cubicBezTo>
                  <a:cubicBezTo>
                    <a:pt x="99" y="0"/>
                    <a:pt x="95" y="0"/>
                    <a:pt x="91" y="0"/>
                  </a:cubicBezTo>
                  <a:cubicBezTo>
                    <a:pt x="41" y="0"/>
                    <a:pt x="0" y="47"/>
                    <a:pt x="0" y="103"/>
                  </a:cubicBezTo>
                  <a:cubicBezTo>
                    <a:pt x="0" y="490"/>
                    <a:pt x="0" y="490"/>
                    <a:pt x="0" y="490"/>
                  </a:cubicBezTo>
                  <a:cubicBezTo>
                    <a:pt x="0" y="541"/>
                    <a:pt x="36" y="593"/>
                    <a:pt x="91" y="593"/>
                  </a:cubicBezTo>
                  <a:close/>
                  <a:moveTo>
                    <a:pt x="267" y="19"/>
                  </a:moveTo>
                  <a:cubicBezTo>
                    <a:pt x="339" y="19"/>
                    <a:pt x="339" y="19"/>
                    <a:pt x="339" y="19"/>
                  </a:cubicBezTo>
                  <a:cubicBezTo>
                    <a:pt x="349" y="19"/>
                    <a:pt x="357" y="27"/>
                    <a:pt x="357" y="36"/>
                  </a:cubicBezTo>
                  <a:cubicBezTo>
                    <a:pt x="357" y="131"/>
                    <a:pt x="357" y="131"/>
                    <a:pt x="357" y="131"/>
                  </a:cubicBezTo>
                  <a:cubicBezTo>
                    <a:pt x="357" y="141"/>
                    <a:pt x="349" y="149"/>
                    <a:pt x="339" y="149"/>
                  </a:cubicBezTo>
                  <a:cubicBezTo>
                    <a:pt x="267" y="149"/>
                    <a:pt x="267" y="149"/>
                    <a:pt x="267" y="149"/>
                  </a:cubicBezTo>
                  <a:cubicBezTo>
                    <a:pt x="257" y="149"/>
                    <a:pt x="249" y="141"/>
                    <a:pt x="249" y="131"/>
                  </a:cubicBezTo>
                  <a:cubicBezTo>
                    <a:pt x="249" y="36"/>
                    <a:pt x="249" y="36"/>
                    <a:pt x="249" y="36"/>
                  </a:cubicBezTo>
                  <a:cubicBezTo>
                    <a:pt x="249" y="27"/>
                    <a:pt x="257" y="19"/>
                    <a:pt x="267" y="19"/>
                  </a:cubicBezTo>
                  <a:close/>
                </a:path>
              </a:pathLst>
            </a:custGeom>
            <a:grpFill/>
            <a:ln w="9525">
              <a:noFill/>
            </a:ln>
          </p:spPr>
          <p:txBody>
            <a:bodyPr/>
            <a:p>
              <a:pPr lvl="0"/>
              <a:endParaRPr lang="zh-CN" altLang="en-US" dirty="0">
                <a:latin typeface="Calibri" panose="020F0502020204030204" pitchFamily="34" charset="0"/>
                <a:ea typeface="宋体" panose="02010600030101010101" pitchFamily="2" charset="-122"/>
              </a:endParaRPr>
            </a:p>
          </p:txBody>
        </p:sp>
        <p:sp>
          <p:nvSpPr>
            <p:cNvPr id="26662" name="Freeform 36"/>
            <p:cNvSpPr>
              <a:spLocks noEditPoints="1"/>
            </p:cNvSpPr>
            <p:nvPr/>
          </p:nvSpPr>
          <p:spPr>
            <a:xfrm>
              <a:off x="2237200" y="3705024"/>
              <a:ext cx="454502" cy="532119"/>
            </a:xfrm>
            <a:custGeom>
              <a:avLst/>
              <a:gdLst>
                <a:gd name="txL" fmla="*/ 0 w 506"/>
                <a:gd name="txT" fmla="*/ 0 h 593"/>
                <a:gd name="txR" fmla="*/ 506 w 506"/>
                <a:gd name="txB" fmla="*/ 593 h 593"/>
              </a:gdLst>
              <a:ahLst/>
              <a:cxnLst>
                <a:cxn ang="0">
                  <a:pos x="81739" y="532119"/>
                </a:cxn>
                <a:cxn ang="0">
                  <a:pos x="371865" y="532119"/>
                </a:cxn>
                <a:cxn ang="0">
                  <a:pos x="454502" y="439694"/>
                </a:cxn>
                <a:cxn ang="0">
                  <a:pos x="454502" y="115756"/>
                </a:cxn>
                <a:cxn ang="0">
                  <a:pos x="442825" y="84349"/>
                </a:cxn>
                <a:cxn ang="0">
                  <a:pos x="379949" y="13460"/>
                </a:cxn>
                <a:cxn ang="0">
                  <a:pos x="368272" y="4487"/>
                </a:cxn>
                <a:cxn ang="0">
                  <a:pos x="352104" y="5384"/>
                </a:cxn>
                <a:cxn ang="0">
                  <a:pos x="343122" y="22433"/>
                </a:cxn>
                <a:cxn ang="0">
                  <a:pos x="343122" y="128319"/>
                </a:cxn>
                <a:cxn ang="0">
                  <a:pos x="326056" y="148060"/>
                </a:cxn>
                <a:cxn ang="0">
                  <a:pos x="127548" y="148060"/>
                </a:cxn>
                <a:cxn ang="0">
                  <a:pos x="110482" y="128319"/>
                </a:cxn>
                <a:cxn ang="0">
                  <a:pos x="110482" y="19741"/>
                </a:cxn>
                <a:cxn ang="0">
                  <a:pos x="92517" y="0"/>
                </a:cxn>
                <a:cxn ang="0">
                  <a:pos x="81739" y="0"/>
                </a:cxn>
                <a:cxn ang="0">
                  <a:pos x="0" y="92425"/>
                </a:cxn>
                <a:cxn ang="0">
                  <a:pos x="0" y="439694"/>
                </a:cxn>
                <a:cxn ang="0">
                  <a:pos x="81739" y="532119"/>
                </a:cxn>
                <a:cxn ang="0">
                  <a:pos x="239826" y="17049"/>
                </a:cxn>
                <a:cxn ang="0">
                  <a:pos x="304498" y="17049"/>
                </a:cxn>
                <a:cxn ang="0">
                  <a:pos x="320666" y="32304"/>
                </a:cxn>
                <a:cxn ang="0">
                  <a:pos x="320666" y="117551"/>
                </a:cxn>
                <a:cxn ang="0">
                  <a:pos x="304498" y="133703"/>
                </a:cxn>
                <a:cxn ang="0">
                  <a:pos x="239826" y="133703"/>
                </a:cxn>
                <a:cxn ang="0">
                  <a:pos x="223658" y="117551"/>
                </a:cxn>
                <a:cxn ang="0">
                  <a:pos x="223658" y="32304"/>
                </a:cxn>
                <a:cxn ang="0">
                  <a:pos x="239826" y="17049"/>
                </a:cxn>
              </a:cxnLst>
              <a:rect l="txL" t="txT" r="txR" b="txB"/>
              <a:pathLst>
                <a:path w="506" h="593">
                  <a:moveTo>
                    <a:pt x="91" y="593"/>
                  </a:moveTo>
                  <a:cubicBezTo>
                    <a:pt x="414" y="593"/>
                    <a:pt x="414" y="593"/>
                    <a:pt x="414" y="593"/>
                  </a:cubicBezTo>
                  <a:cubicBezTo>
                    <a:pt x="464" y="593"/>
                    <a:pt x="506" y="547"/>
                    <a:pt x="506" y="490"/>
                  </a:cubicBezTo>
                  <a:cubicBezTo>
                    <a:pt x="506" y="129"/>
                    <a:pt x="506" y="129"/>
                    <a:pt x="506" y="129"/>
                  </a:cubicBezTo>
                  <a:cubicBezTo>
                    <a:pt x="506" y="115"/>
                    <a:pt x="501" y="104"/>
                    <a:pt x="493" y="94"/>
                  </a:cubicBezTo>
                  <a:cubicBezTo>
                    <a:pt x="423" y="15"/>
                    <a:pt x="423" y="15"/>
                    <a:pt x="423" y="15"/>
                  </a:cubicBezTo>
                  <a:cubicBezTo>
                    <a:pt x="419" y="10"/>
                    <a:pt x="415" y="7"/>
                    <a:pt x="410" y="5"/>
                  </a:cubicBezTo>
                  <a:cubicBezTo>
                    <a:pt x="404" y="1"/>
                    <a:pt x="397" y="2"/>
                    <a:pt x="392" y="6"/>
                  </a:cubicBezTo>
                  <a:cubicBezTo>
                    <a:pt x="386" y="10"/>
                    <a:pt x="382" y="17"/>
                    <a:pt x="382" y="25"/>
                  </a:cubicBezTo>
                  <a:cubicBezTo>
                    <a:pt x="382" y="64"/>
                    <a:pt x="382" y="104"/>
                    <a:pt x="382" y="143"/>
                  </a:cubicBezTo>
                  <a:cubicBezTo>
                    <a:pt x="382" y="155"/>
                    <a:pt x="373" y="165"/>
                    <a:pt x="363" y="165"/>
                  </a:cubicBezTo>
                  <a:cubicBezTo>
                    <a:pt x="289" y="165"/>
                    <a:pt x="216" y="165"/>
                    <a:pt x="142" y="165"/>
                  </a:cubicBezTo>
                  <a:cubicBezTo>
                    <a:pt x="132" y="165"/>
                    <a:pt x="123" y="155"/>
                    <a:pt x="123" y="143"/>
                  </a:cubicBezTo>
                  <a:cubicBezTo>
                    <a:pt x="123" y="103"/>
                    <a:pt x="123" y="63"/>
                    <a:pt x="123" y="22"/>
                  </a:cubicBezTo>
                  <a:cubicBezTo>
                    <a:pt x="123" y="10"/>
                    <a:pt x="114" y="0"/>
                    <a:pt x="103" y="0"/>
                  </a:cubicBezTo>
                  <a:cubicBezTo>
                    <a:pt x="99" y="0"/>
                    <a:pt x="95" y="0"/>
                    <a:pt x="91" y="0"/>
                  </a:cubicBezTo>
                  <a:cubicBezTo>
                    <a:pt x="41" y="0"/>
                    <a:pt x="0" y="47"/>
                    <a:pt x="0" y="103"/>
                  </a:cubicBezTo>
                  <a:cubicBezTo>
                    <a:pt x="0" y="490"/>
                    <a:pt x="0" y="490"/>
                    <a:pt x="0" y="490"/>
                  </a:cubicBezTo>
                  <a:cubicBezTo>
                    <a:pt x="0" y="541"/>
                    <a:pt x="36" y="593"/>
                    <a:pt x="91" y="593"/>
                  </a:cubicBezTo>
                  <a:close/>
                  <a:moveTo>
                    <a:pt x="267" y="19"/>
                  </a:moveTo>
                  <a:cubicBezTo>
                    <a:pt x="339" y="19"/>
                    <a:pt x="339" y="19"/>
                    <a:pt x="339" y="19"/>
                  </a:cubicBezTo>
                  <a:cubicBezTo>
                    <a:pt x="349" y="19"/>
                    <a:pt x="357" y="27"/>
                    <a:pt x="357" y="36"/>
                  </a:cubicBezTo>
                  <a:cubicBezTo>
                    <a:pt x="357" y="131"/>
                    <a:pt x="357" y="131"/>
                    <a:pt x="357" y="131"/>
                  </a:cubicBezTo>
                  <a:cubicBezTo>
                    <a:pt x="357" y="141"/>
                    <a:pt x="349" y="149"/>
                    <a:pt x="339" y="149"/>
                  </a:cubicBezTo>
                  <a:cubicBezTo>
                    <a:pt x="267" y="149"/>
                    <a:pt x="267" y="149"/>
                    <a:pt x="267" y="149"/>
                  </a:cubicBezTo>
                  <a:cubicBezTo>
                    <a:pt x="257" y="149"/>
                    <a:pt x="249" y="141"/>
                    <a:pt x="249" y="131"/>
                  </a:cubicBezTo>
                  <a:cubicBezTo>
                    <a:pt x="249" y="36"/>
                    <a:pt x="249" y="36"/>
                    <a:pt x="249" y="36"/>
                  </a:cubicBezTo>
                  <a:cubicBezTo>
                    <a:pt x="249" y="27"/>
                    <a:pt x="257" y="19"/>
                    <a:pt x="267" y="19"/>
                  </a:cubicBezTo>
                  <a:close/>
                </a:path>
              </a:pathLst>
            </a:custGeom>
            <a:grpFill/>
            <a:ln w="9525">
              <a:noFill/>
            </a:ln>
          </p:spPr>
          <p:txBody>
            <a:bodyPr/>
            <a:p>
              <a:pPr lvl="0"/>
              <a:endParaRPr lang="zh-CN" altLang="en-US" dirty="0">
                <a:latin typeface="Calibri" panose="020F0502020204030204" pitchFamily="34" charset="0"/>
                <a:ea typeface="宋体" panose="02010600030101010101" pitchFamily="2" charset="-122"/>
              </a:endParaRPr>
            </a:p>
          </p:txBody>
        </p:sp>
      </p:grpSp>
      <p:sp>
        <p:nvSpPr>
          <p:cNvPr id="48" name="Freeform 22"/>
          <p:cNvSpPr>
            <a:spLocks noEditPoints="1"/>
          </p:cNvSpPr>
          <p:nvPr/>
        </p:nvSpPr>
        <p:spPr>
          <a:xfrm>
            <a:off x="7783830" y="3216275"/>
            <a:ext cx="626745" cy="570230"/>
          </a:xfrm>
          <a:custGeom>
            <a:avLst/>
            <a:gdLst>
              <a:gd name="txL" fmla="*/ 0 w 4935"/>
              <a:gd name="txT" fmla="*/ 0 h 4317"/>
              <a:gd name="txR" fmla="*/ 4935 w 4935"/>
              <a:gd name="txB" fmla="*/ 4317 h 4317"/>
            </a:gdLst>
            <a:ahLst/>
            <a:cxnLst>
              <a:cxn ang="0">
                <a:pos x="516259" y="31464"/>
              </a:cxn>
              <a:cxn ang="0">
                <a:pos x="501444" y="8607"/>
              </a:cxn>
              <a:cxn ang="0">
                <a:pos x="478587" y="0"/>
              </a:cxn>
              <a:cxn ang="0">
                <a:pos x="198236" y="6349"/>
              </a:cxn>
              <a:cxn ang="0">
                <a:pos x="182433" y="27231"/>
              </a:cxn>
              <a:cxn ang="0">
                <a:pos x="87054" y="87054"/>
              </a:cxn>
              <a:cxn ang="0">
                <a:pos x="40353" y="100599"/>
              </a:cxn>
              <a:cxn ang="0">
                <a:pos x="8889" y="135872"/>
              </a:cxn>
              <a:cxn ang="0">
                <a:pos x="0" y="522185"/>
              </a:cxn>
              <a:cxn ang="0">
                <a:pos x="13545" y="568745"/>
              </a:cxn>
              <a:cxn ang="0">
                <a:pos x="48677" y="600209"/>
              </a:cxn>
              <a:cxn ang="0">
                <a:pos x="609240" y="609098"/>
              </a:cxn>
              <a:cxn ang="0">
                <a:pos x="656083" y="595553"/>
              </a:cxn>
              <a:cxn ang="0">
                <a:pos x="687546" y="560421"/>
              </a:cxn>
              <a:cxn ang="0">
                <a:pos x="696294" y="173968"/>
              </a:cxn>
              <a:cxn ang="0">
                <a:pos x="682890" y="127407"/>
              </a:cxn>
              <a:cxn ang="0">
                <a:pos x="647617" y="95943"/>
              </a:cxn>
              <a:cxn ang="0">
                <a:pos x="652837" y="522185"/>
              </a:cxn>
              <a:cxn ang="0">
                <a:pos x="639998" y="552943"/>
              </a:cxn>
              <a:cxn ang="0">
                <a:pos x="609240" y="565641"/>
              </a:cxn>
              <a:cxn ang="0">
                <a:pos x="61375" y="557176"/>
              </a:cxn>
              <a:cxn ang="0">
                <a:pos x="44021" y="529098"/>
              </a:cxn>
              <a:cxn ang="0">
                <a:pos x="48254" y="153932"/>
              </a:cxn>
              <a:cxn ang="0">
                <a:pos x="73227" y="132909"/>
              </a:cxn>
              <a:cxn ang="0">
                <a:pos x="199506" y="80846"/>
              </a:cxn>
              <a:cxn ang="0">
                <a:pos x="214320" y="55873"/>
              </a:cxn>
              <a:cxn ang="0">
                <a:pos x="233791" y="43880"/>
              </a:cxn>
              <a:cxn ang="0">
                <a:pos x="471674" y="46843"/>
              </a:cxn>
              <a:cxn ang="0">
                <a:pos x="487758" y="64479"/>
              </a:cxn>
              <a:cxn ang="0">
                <a:pos x="522326" y="130511"/>
              </a:cxn>
              <a:cxn ang="0">
                <a:pos x="634919" y="138976"/>
              </a:cxn>
              <a:cxn ang="0">
                <a:pos x="652273" y="167054"/>
              </a:cxn>
              <a:cxn ang="0">
                <a:pos x="333121" y="174673"/>
              </a:cxn>
              <a:cxn ang="0">
                <a:pos x="264267" y="195555"/>
              </a:cxn>
              <a:cxn ang="0">
                <a:pos x="211216" y="240846"/>
              </a:cxn>
              <a:cxn ang="0">
                <a:pos x="179752" y="304196"/>
              </a:cxn>
              <a:cxn ang="0">
                <a:pos x="176507" y="377706"/>
              </a:cxn>
              <a:cxn ang="0">
                <a:pos x="202892" y="444019"/>
              </a:cxn>
              <a:cxn ang="0">
                <a:pos x="252274" y="493261"/>
              </a:cxn>
              <a:cxn ang="0">
                <a:pos x="318588" y="519645"/>
              </a:cxn>
              <a:cxn ang="0">
                <a:pos x="392097" y="516541"/>
              </a:cxn>
              <a:cxn ang="0">
                <a:pos x="455448" y="485077"/>
              </a:cxn>
              <a:cxn ang="0">
                <a:pos x="500739" y="431885"/>
              </a:cxn>
              <a:cxn ang="0">
                <a:pos x="521762" y="363173"/>
              </a:cxn>
              <a:cxn ang="0">
                <a:pos x="512450" y="290369"/>
              </a:cxn>
              <a:cxn ang="0">
                <a:pos x="476189" y="230122"/>
              </a:cxn>
              <a:cxn ang="0">
                <a:pos x="419187" y="189206"/>
              </a:cxn>
              <a:cxn ang="0">
                <a:pos x="348076" y="173968"/>
              </a:cxn>
              <a:cxn ang="0">
                <a:pos x="300246" y="469416"/>
              </a:cxn>
              <a:cxn ang="0">
                <a:pos x="251851" y="436118"/>
              </a:cxn>
              <a:cxn ang="0">
                <a:pos x="222786" y="384760"/>
              </a:cxn>
              <a:cxn ang="0">
                <a:pos x="219964" y="323385"/>
              </a:cxn>
              <a:cxn ang="0">
                <a:pos x="244232" y="269064"/>
              </a:cxn>
              <a:cxn ang="0">
                <a:pos x="289241" y="231533"/>
              </a:cxn>
              <a:cxn ang="0">
                <a:pos x="348076" y="217706"/>
              </a:cxn>
              <a:cxn ang="0">
                <a:pos x="407194" y="231533"/>
              </a:cxn>
              <a:cxn ang="0">
                <a:pos x="452062" y="269064"/>
              </a:cxn>
              <a:cxn ang="0">
                <a:pos x="476330" y="323385"/>
              </a:cxn>
              <a:cxn ang="0">
                <a:pos x="473649" y="384760"/>
              </a:cxn>
              <a:cxn ang="0">
                <a:pos x="444443" y="436118"/>
              </a:cxn>
              <a:cxn ang="0">
                <a:pos x="396189" y="469416"/>
              </a:cxn>
            </a:cxnLst>
            <a:rect l="txL" t="txT" r="txR" b="txB"/>
            <a:pathLst>
              <a:path w="4935" h="4317">
                <a:moveTo>
                  <a:pt x="4318" y="617"/>
                </a:moveTo>
                <a:lnTo>
                  <a:pt x="3856" y="617"/>
                </a:lnTo>
                <a:lnTo>
                  <a:pt x="3702" y="308"/>
                </a:lnTo>
                <a:lnTo>
                  <a:pt x="3680" y="265"/>
                </a:lnTo>
                <a:lnTo>
                  <a:pt x="3659" y="223"/>
                </a:lnTo>
                <a:lnTo>
                  <a:pt x="3639" y="185"/>
                </a:lnTo>
                <a:lnTo>
                  <a:pt x="3620" y="149"/>
                </a:lnTo>
                <a:lnTo>
                  <a:pt x="3599" y="117"/>
                </a:lnTo>
                <a:lnTo>
                  <a:pt x="3578" y="87"/>
                </a:lnTo>
                <a:lnTo>
                  <a:pt x="3554" y="61"/>
                </a:lnTo>
                <a:lnTo>
                  <a:pt x="3529" y="40"/>
                </a:lnTo>
                <a:lnTo>
                  <a:pt x="3500" y="22"/>
                </a:lnTo>
                <a:lnTo>
                  <a:pt x="3469" y="10"/>
                </a:lnTo>
                <a:lnTo>
                  <a:pt x="3433" y="3"/>
                </a:lnTo>
                <a:lnTo>
                  <a:pt x="3392" y="0"/>
                </a:lnTo>
                <a:lnTo>
                  <a:pt x="1543" y="0"/>
                </a:lnTo>
                <a:lnTo>
                  <a:pt x="1503" y="3"/>
                </a:lnTo>
                <a:lnTo>
                  <a:pt x="1465" y="12"/>
                </a:lnTo>
                <a:lnTo>
                  <a:pt x="1434" y="25"/>
                </a:lnTo>
                <a:lnTo>
                  <a:pt x="1405" y="45"/>
                </a:lnTo>
                <a:lnTo>
                  <a:pt x="1379" y="67"/>
                </a:lnTo>
                <a:lnTo>
                  <a:pt x="1355" y="94"/>
                </a:lnTo>
                <a:lnTo>
                  <a:pt x="1332" y="124"/>
                </a:lnTo>
                <a:lnTo>
                  <a:pt x="1313" y="157"/>
                </a:lnTo>
                <a:lnTo>
                  <a:pt x="1293" y="193"/>
                </a:lnTo>
                <a:lnTo>
                  <a:pt x="1274" y="230"/>
                </a:lnTo>
                <a:lnTo>
                  <a:pt x="1254" y="269"/>
                </a:lnTo>
                <a:lnTo>
                  <a:pt x="1234" y="308"/>
                </a:lnTo>
                <a:lnTo>
                  <a:pt x="1079" y="617"/>
                </a:lnTo>
                <a:lnTo>
                  <a:pt x="617" y="617"/>
                </a:lnTo>
                <a:lnTo>
                  <a:pt x="546" y="620"/>
                </a:lnTo>
                <a:lnTo>
                  <a:pt x="475" y="634"/>
                </a:lnTo>
                <a:lnTo>
                  <a:pt x="408" y="653"/>
                </a:lnTo>
                <a:lnTo>
                  <a:pt x="345" y="680"/>
                </a:lnTo>
                <a:lnTo>
                  <a:pt x="286" y="713"/>
                </a:lnTo>
                <a:lnTo>
                  <a:pt x="232" y="752"/>
                </a:lnTo>
                <a:lnTo>
                  <a:pt x="181" y="798"/>
                </a:lnTo>
                <a:lnTo>
                  <a:pt x="136" y="848"/>
                </a:lnTo>
                <a:lnTo>
                  <a:pt x="96" y="903"/>
                </a:lnTo>
                <a:lnTo>
                  <a:pt x="63" y="963"/>
                </a:lnTo>
                <a:lnTo>
                  <a:pt x="36" y="1025"/>
                </a:lnTo>
                <a:lnTo>
                  <a:pt x="16" y="1093"/>
                </a:lnTo>
                <a:lnTo>
                  <a:pt x="4" y="1161"/>
                </a:lnTo>
                <a:lnTo>
                  <a:pt x="0" y="1233"/>
                </a:lnTo>
                <a:lnTo>
                  <a:pt x="0" y="3701"/>
                </a:lnTo>
                <a:lnTo>
                  <a:pt x="4" y="3773"/>
                </a:lnTo>
                <a:lnTo>
                  <a:pt x="16" y="3842"/>
                </a:lnTo>
                <a:lnTo>
                  <a:pt x="36" y="3909"/>
                </a:lnTo>
                <a:lnTo>
                  <a:pt x="63" y="3972"/>
                </a:lnTo>
                <a:lnTo>
                  <a:pt x="96" y="4031"/>
                </a:lnTo>
                <a:lnTo>
                  <a:pt x="136" y="4087"/>
                </a:lnTo>
                <a:lnTo>
                  <a:pt x="181" y="4138"/>
                </a:lnTo>
                <a:lnTo>
                  <a:pt x="232" y="4182"/>
                </a:lnTo>
                <a:lnTo>
                  <a:pt x="286" y="4221"/>
                </a:lnTo>
                <a:lnTo>
                  <a:pt x="345" y="4254"/>
                </a:lnTo>
                <a:lnTo>
                  <a:pt x="408" y="4281"/>
                </a:lnTo>
                <a:lnTo>
                  <a:pt x="475" y="4302"/>
                </a:lnTo>
                <a:lnTo>
                  <a:pt x="546" y="4314"/>
                </a:lnTo>
                <a:lnTo>
                  <a:pt x="617" y="4317"/>
                </a:lnTo>
                <a:lnTo>
                  <a:pt x="4318" y="4317"/>
                </a:lnTo>
                <a:lnTo>
                  <a:pt x="4390" y="4314"/>
                </a:lnTo>
                <a:lnTo>
                  <a:pt x="4460" y="4302"/>
                </a:lnTo>
                <a:lnTo>
                  <a:pt x="4527" y="4281"/>
                </a:lnTo>
                <a:lnTo>
                  <a:pt x="4590" y="4254"/>
                </a:lnTo>
                <a:lnTo>
                  <a:pt x="4650" y="4221"/>
                </a:lnTo>
                <a:lnTo>
                  <a:pt x="4704" y="4182"/>
                </a:lnTo>
                <a:lnTo>
                  <a:pt x="4755" y="4138"/>
                </a:lnTo>
                <a:lnTo>
                  <a:pt x="4799" y="4087"/>
                </a:lnTo>
                <a:lnTo>
                  <a:pt x="4840" y="4031"/>
                </a:lnTo>
                <a:lnTo>
                  <a:pt x="4873" y="3972"/>
                </a:lnTo>
                <a:lnTo>
                  <a:pt x="4900" y="3909"/>
                </a:lnTo>
                <a:lnTo>
                  <a:pt x="4919" y="3842"/>
                </a:lnTo>
                <a:lnTo>
                  <a:pt x="4931" y="3773"/>
                </a:lnTo>
                <a:lnTo>
                  <a:pt x="4935" y="3701"/>
                </a:lnTo>
                <a:lnTo>
                  <a:pt x="4935" y="1233"/>
                </a:lnTo>
                <a:lnTo>
                  <a:pt x="4931" y="1161"/>
                </a:lnTo>
                <a:lnTo>
                  <a:pt x="4919" y="1093"/>
                </a:lnTo>
                <a:lnTo>
                  <a:pt x="4900" y="1025"/>
                </a:lnTo>
                <a:lnTo>
                  <a:pt x="4873" y="963"/>
                </a:lnTo>
                <a:lnTo>
                  <a:pt x="4840" y="903"/>
                </a:lnTo>
                <a:lnTo>
                  <a:pt x="4799" y="848"/>
                </a:lnTo>
                <a:lnTo>
                  <a:pt x="4755" y="798"/>
                </a:lnTo>
                <a:lnTo>
                  <a:pt x="4704" y="752"/>
                </a:lnTo>
                <a:lnTo>
                  <a:pt x="4650" y="713"/>
                </a:lnTo>
                <a:lnTo>
                  <a:pt x="4590" y="680"/>
                </a:lnTo>
                <a:lnTo>
                  <a:pt x="4527" y="653"/>
                </a:lnTo>
                <a:lnTo>
                  <a:pt x="4460" y="634"/>
                </a:lnTo>
                <a:lnTo>
                  <a:pt x="4390" y="620"/>
                </a:lnTo>
                <a:lnTo>
                  <a:pt x="4318" y="617"/>
                </a:lnTo>
                <a:close/>
                <a:moveTo>
                  <a:pt x="4627" y="3701"/>
                </a:moveTo>
                <a:lnTo>
                  <a:pt x="4623" y="3750"/>
                </a:lnTo>
                <a:lnTo>
                  <a:pt x="4611" y="3798"/>
                </a:lnTo>
                <a:lnTo>
                  <a:pt x="4593" y="3843"/>
                </a:lnTo>
                <a:lnTo>
                  <a:pt x="4568" y="3884"/>
                </a:lnTo>
                <a:lnTo>
                  <a:pt x="4536" y="3919"/>
                </a:lnTo>
                <a:lnTo>
                  <a:pt x="4500" y="3949"/>
                </a:lnTo>
                <a:lnTo>
                  <a:pt x="4460" y="3975"/>
                </a:lnTo>
                <a:lnTo>
                  <a:pt x="4417" y="3994"/>
                </a:lnTo>
                <a:lnTo>
                  <a:pt x="4369" y="4005"/>
                </a:lnTo>
                <a:lnTo>
                  <a:pt x="4318" y="4009"/>
                </a:lnTo>
                <a:lnTo>
                  <a:pt x="617" y="4009"/>
                </a:lnTo>
                <a:lnTo>
                  <a:pt x="567" y="4005"/>
                </a:lnTo>
                <a:lnTo>
                  <a:pt x="519" y="3994"/>
                </a:lnTo>
                <a:lnTo>
                  <a:pt x="475" y="3975"/>
                </a:lnTo>
                <a:lnTo>
                  <a:pt x="435" y="3949"/>
                </a:lnTo>
                <a:lnTo>
                  <a:pt x="399" y="3919"/>
                </a:lnTo>
                <a:lnTo>
                  <a:pt x="368" y="3884"/>
                </a:lnTo>
                <a:lnTo>
                  <a:pt x="342" y="3843"/>
                </a:lnTo>
                <a:lnTo>
                  <a:pt x="324" y="3798"/>
                </a:lnTo>
                <a:lnTo>
                  <a:pt x="312" y="3750"/>
                </a:lnTo>
                <a:lnTo>
                  <a:pt x="308" y="3701"/>
                </a:lnTo>
                <a:lnTo>
                  <a:pt x="308" y="1233"/>
                </a:lnTo>
                <a:lnTo>
                  <a:pt x="312" y="1184"/>
                </a:lnTo>
                <a:lnTo>
                  <a:pt x="324" y="1136"/>
                </a:lnTo>
                <a:lnTo>
                  <a:pt x="342" y="1091"/>
                </a:lnTo>
                <a:lnTo>
                  <a:pt x="368" y="1051"/>
                </a:lnTo>
                <a:lnTo>
                  <a:pt x="399" y="1015"/>
                </a:lnTo>
                <a:lnTo>
                  <a:pt x="435" y="985"/>
                </a:lnTo>
                <a:lnTo>
                  <a:pt x="475" y="960"/>
                </a:lnTo>
                <a:lnTo>
                  <a:pt x="519" y="942"/>
                </a:lnTo>
                <a:lnTo>
                  <a:pt x="567" y="930"/>
                </a:lnTo>
                <a:lnTo>
                  <a:pt x="617" y="925"/>
                </a:lnTo>
                <a:lnTo>
                  <a:pt x="1234" y="925"/>
                </a:lnTo>
                <a:lnTo>
                  <a:pt x="1388" y="617"/>
                </a:lnTo>
                <a:lnTo>
                  <a:pt x="1414" y="573"/>
                </a:lnTo>
                <a:lnTo>
                  <a:pt x="1437" y="532"/>
                </a:lnTo>
                <a:lnTo>
                  <a:pt x="1458" y="493"/>
                </a:lnTo>
                <a:lnTo>
                  <a:pt x="1479" y="457"/>
                </a:lnTo>
                <a:lnTo>
                  <a:pt x="1498" y="425"/>
                </a:lnTo>
                <a:lnTo>
                  <a:pt x="1519" y="396"/>
                </a:lnTo>
                <a:lnTo>
                  <a:pt x="1542" y="371"/>
                </a:lnTo>
                <a:lnTo>
                  <a:pt x="1565" y="348"/>
                </a:lnTo>
                <a:lnTo>
                  <a:pt x="1592" y="332"/>
                </a:lnTo>
                <a:lnTo>
                  <a:pt x="1622" y="318"/>
                </a:lnTo>
                <a:lnTo>
                  <a:pt x="1657" y="311"/>
                </a:lnTo>
                <a:lnTo>
                  <a:pt x="1697" y="308"/>
                </a:lnTo>
                <a:lnTo>
                  <a:pt x="3238" y="308"/>
                </a:lnTo>
                <a:lnTo>
                  <a:pt x="3279" y="311"/>
                </a:lnTo>
                <a:lnTo>
                  <a:pt x="3313" y="318"/>
                </a:lnTo>
                <a:lnTo>
                  <a:pt x="3343" y="332"/>
                </a:lnTo>
                <a:lnTo>
                  <a:pt x="3370" y="348"/>
                </a:lnTo>
                <a:lnTo>
                  <a:pt x="3394" y="371"/>
                </a:lnTo>
                <a:lnTo>
                  <a:pt x="3416" y="396"/>
                </a:lnTo>
                <a:lnTo>
                  <a:pt x="3437" y="425"/>
                </a:lnTo>
                <a:lnTo>
                  <a:pt x="3457" y="457"/>
                </a:lnTo>
                <a:lnTo>
                  <a:pt x="3478" y="493"/>
                </a:lnTo>
                <a:lnTo>
                  <a:pt x="3499" y="532"/>
                </a:lnTo>
                <a:lnTo>
                  <a:pt x="3521" y="573"/>
                </a:lnTo>
                <a:lnTo>
                  <a:pt x="3548" y="617"/>
                </a:lnTo>
                <a:lnTo>
                  <a:pt x="3702" y="925"/>
                </a:lnTo>
                <a:lnTo>
                  <a:pt x="4318" y="925"/>
                </a:lnTo>
                <a:lnTo>
                  <a:pt x="4369" y="930"/>
                </a:lnTo>
                <a:lnTo>
                  <a:pt x="4417" y="942"/>
                </a:lnTo>
                <a:lnTo>
                  <a:pt x="4460" y="960"/>
                </a:lnTo>
                <a:lnTo>
                  <a:pt x="4500" y="985"/>
                </a:lnTo>
                <a:lnTo>
                  <a:pt x="4536" y="1015"/>
                </a:lnTo>
                <a:lnTo>
                  <a:pt x="4568" y="1051"/>
                </a:lnTo>
                <a:lnTo>
                  <a:pt x="4593" y="1091"/>
                </a:lnTo>
                <a:lnTo>
                  <a:pt x="4611" y="1136"/>
                </a:lnTo>
                <a:lnTo>
                  <a:pt x="4623" y="1184"/>
                </a:lnTo>
                <a:lnTo>
                  <a:pt x="4627" y="1233"/>
                </a:lnTo>
                <a:lnTo>
                  <a:pt x="4627" y="3701"/>
                </a:lnTo>
                <a:lnTo>
                  <a:pt x="4627" y="3701"/>
                </a:lnTo>
                <a:close/>
                <a:moveTo>
                  <a:pt x="2467" y="1233"/>
                </a:moveTo>
                <a:lnTo>
                  <a:pt x="2361" y="1238"/>
                </a:lnTo>
                <a:lnTo>
                  <a:pt x="2258" y="1251"/>
                </a:lnTo>
                <a:lnTo>
                  <a:pt x="2156" y="1274"/>
                </a:lnTo>
                <a:lnTo>
                  <a:pt x="2059" y="1303"/>
                </a:lnTo>
                <a:lnTo>
                  <a:pt x="1965" y="1341"/>
                </a:lnTo>
                <a:lnTo>
                  <a:pt x="1873" y="1386"/>
                </a:lnTo>
                <a:lnTo>
                  <a:pt x="1788" y="1438"/>
                </a:lnTo>
                <a:lnTo>
                  <a:pt x="1707" y="1496"/>
                </a:lnTo>
                <a:lnTo>
                  <a:pt x="1631" y="1561"/>
                </a:lnTo>
                <a:lnTo>
                  <a:pt x="1561" y="1631"/>
                </a:lnTo>
                <a:lnTo>
                  <a:pt x="1497" y="1707"/>
                </a:lnTo>
                <a:lnTo>
                  <a:pt x="1438" y="1788"/>
                </a:lnTo>
                <a:lnTo>
                  <a:pt x="1386" y="1874"/>
                </a:lnTo>
                <a:lnTo>
                  <a:pt x="1341" y="1964"/>
                </a:lnTo>
                <a:lnTo>
                  <a:pt x="1304" y="2058"/>
                </a:lnTo>
                <a:lnTo>
                  <a:pt x="1274" y="2156"/>
                </a:lnTo>
                <a:lnTo>
                  <a:pt x="1251" y="2257"/>
                </a:lnTo>
                <a:lnTo>
                  <a:pt x="1238" y="2360"/>
                </a:lnTo>
                <a:lnTo>
                  <a:pt x="1234" y="2468"/>
                </a:lnTo>
                <a:lnTo>
                  <a:pt x="1238" y="2574"/>
                </a:lnTo>
                <a:lnTo>
                  <a:pt x="1251" y="2677"/>
                </a:lnTo>
                <a:lnTo>
                  <a:pt x="1274" y="2779"/>
                </a:lnTo>
                <a:lnTo>
                  <a:pt x="1304" y="2876"/>
                </a:lnTo>
                <a:lnTo>
                  <a:pt x="1341" y="2970"/>
                </a:lnTo>
                <a:lnTo>
                  <a:pt x="1386" y="3061"/>
                </a:lnTo>
                <a:lnTo>
                  <a:pt x="1438" y="3147"/>
                </a:lnTo>
                <a:lnTo>
                  <a:pt x="1497" y="3227"/>
                </a:lnTo>
                <a:lnTo>
                  <a:pt x="1561" y="3304"/>
                </a:lnTo>
                <a:lnTo>
                  <a:pt x="1631" y="3374"/>
                </a:lnTo>
                <a:lnTo>
                  <a:pt x="1707" y="3438"/>
                </a:lnTo>
                <a:lnTo>
                  <a:pt x="1788" y="3496"/>
                </a:lnTo>
                <a:lnTo>
                  <a:pt x="1873" y="3549"/>
                </a:lnTo>
                <a:lnTo>
                  <a:pt x="1965" y="3594"/>
                </a:lnTo>
                <a:lnTo>
                  <a:pt x="2059" y="3631"/>
                </a:lnTo>
                <a:lnTo>
                  <a:pt x="2156" y="3661"/>
                </a:lnTo>
                <a:lnTo>
                  <a:pt x="2258" y="3683"/>
                </a:lnTo>
                <a:lnTo>
                  <a:pt x="2361" y="3697"/>
                </a:lnTo>
                <a:lnTo>
                  <a:pt x="2467" y="3701"/>
                </a:lnTo>
                <a:lnTo>
                  <a:pt x="2575" y="3697"/>
                </a:lnTo>
                <a:lnTo>
                  <a:pt x="2678" y="3683"/>
                </a:lnTo>
                <a:lnTo>
                  <a:pt x="2779" y="3661"/>
                </a:lnTo>
                <a:lnTo>
                  <a:pt x="2877" y="3631"/>
                </a:lnTo>
                <a:lnTo>
                  <a:pt x="2971" y="3594"/>
                </a:lnTo>
                <a:lnTo>
                  <a:pt x="3062" y="3549"/>
                </a:lnTo>
                <a:lnTo>
                  <a:pt x="3147" y="3496"/>
                </a:lnTo>
                <a:lnTo>
                  <a:pt x="3228" y="3438"/>
                </a:lnTo>
                <a:lnTo>
                  <a:pt x="3304" y="3374"/>
                </a:lnTo>
                <a:lnTo>
                  <a:pt x="3375" y="3304"/>
                </a:lnTo>
                <a:lnTo>
                  <a:pt x="3439" y="3227"/>
                </a:lnTo>
                <a:lnTo>
                  <a:pt x="3497" y="3147"/>
                </a:lnTo>
                <a:lnTo>
                  <a:pt x="3549" y="3061"/>
                </a:lnTo>
                <a:lnTo>
                  <a:pt x="3594" y="2970"/>
                </a:lnTo>
                <a:lnTo>
                  <a:pt x="3632" y="2876"/>
                </a:lnTo>
                <a:lnTo>
                  <a:pt x="3662" y="2779"/>
                </a:lnTo>
                <a:lnTo>
                  <a:pt x="3684" y="2677"/>
                </a:lnTo>
                <a:lnTo>
                  <a:pt x="3698" y="2574"/>
                </a:lnTo>
                <a:lnTo>
                  <a:pt x="3702" y="2468"/>
                </a:lnTo>
                <a:lnTo>
                  <a:pt x="3698" y="2360"/>
                </a:lnTo>
                <a:lnTo>
                  <a:pt x="3684" y="2257"/>
                </a:lnTo>
                <a:lnTo>
                  <a:pt x="3662" y="2156"/>
                </a:lnTo>
                <a:lnTo>
                  <a:pt x="3632" y="2058"/>
                </a:lnTo>
                <a:lnTo>
                  <a:pt x="3594" y="1964"/>
                </a:lnTo>
                <a:lnTo>
                  <a:pt x="3549" y="1874"/>
                </a:lnTo>
                <a:lnTo>
                  <a:pt x="3497" y="1788"/>
                </a:lnTo>
                <a:lnTo>
                  <a:pt x="3439" y="1707"/>
                </a:lnTo>
                <a:lnTo>
                  <a:pt x="3375" y="1631"/>
                </a:lnTo>
                <a:lnTo>
                  <a:pt x="3304" y="1561"/>
                </a:lnTo>
                <a:lnTo>
                  <a:pt x="3228" y="1496"/>
                </a:lnTo>
                <a:lnTo>
                  <a:pt x="3147" y="1438"/>
                </a:lnTo>
                <a:lnTo>
                  <a:pt x="3062" y="1386"/>
                </a:lnTo>
                <a:lnTo>
                  <a:pt x="2971" y="1341"/>
                </a:lnTo>
                <a:lnTo>
                  <a:pt x="2877" y="1303"/>
                </a:lnTo>
                <a:lnTo>
                  <a:pt x="2779" y="1274"/>
                </a:lnTo>
                <a:lnTo>
                  <a:pt x="2678" y="1251"/>
                </a:lnTo>
                <a:lnTo>
                  <a:pt x="2575" y="1238"/>
                </a:lnTo>
                <a:lnTo>
                  <a:pt x="2467" y="1233"/>
                </a:lnTo>
                <a:close/>
                <a:moveTo>
                  <a:pt x="2467" y="3392"/>
                </a:moveTo>
                <a:lnTo>
                  <a:pt x="2379" y="3389"/>
                </a:lnTo>
                <a:lnTo>
                  <a:pt x="2292" y="3375"/>
                </a:lnTo>
                <a:lnTo>
                  <a:pt x="2208" y="3356"/>
                </a:lnTo>
                <a:lnTo>
                  <a:pt x="2128" y="3327"/>
                </a:lnTo>
                <a:lnTo>
                  <a:pt x="2050" y="3293"/>
                </a:lnTo>
                <a:lnTo>
                  <a:pt x="1977" y="3251"/>
                </a:lnTo>
                <a:lnTo>
                  <a:pt x="1908" y="3203"/>
                </a:lnTo>
                <a:lnTo>
                  <a:pt x="1844" y="3151"/>
                </a:lnTo>
                <a:lnTo>
                  <a:pt x="1785" y="3091"/>
                </a:lnTo>
                <a:lnTo>
                  <a:pt x="1731" y="3027"/>
                </a:lnTo>
                <a:lnTo>
                  <a:pt x="1684" y="2958"/>
                </a:lnTo>
                <a:lnTo>
                  <a:pt x="1642" y="2885"/>
                </a:lnTo>
                <a:lnTo>
                  <a:pt x="1607" y="2807"/>
                </a:lnTo>
                <a:lnTo>
                  <a:pt x="1579" y="2727"/>
                </a:lnTo>
                <a:lnTo>
                  <a:pt x="1559" y="2643"/>
                </a:lnTo>
                <a:lnTo>
                  <a:pt x="1546" y="2556"/>
                </a:lnTo>
                <a:lnTo>
                  <a:pt x="1543" y="2468"/>
                </a:lnTo>
                <a:lnTo>
                  <a:pt x="1546" y="2378"/>
                </a:lnTo>
                <a:lnTo>
                  <a:pt x="1559" y="2292"/>
                </a:lnTo>
                <a:lnTo>
                  <a:pt x="1579" y="2208"/>
                </a:lnTo>
                <a:lnTo>
                  <a:pt x="1607" y="2127"/>
                </a:lnTo>
                <a:lnTo>
                  <a:pt x="1642" y="2049"/>
                </a:lnTo>
                <a:lnTo>
                  <a:pt x="1684" y="1976"/>
                </a:lnTo>
                <a:lnTo>
                  <a:pt x="1731" y="1907"/>
                </a:lnTo>
                <a:lnTo>
                  <a:pt x="1785" y="1843"/>
                </a:lnTo>
                <a:lnTo>
                  <a:pt x="1844" y="1785"/>
                </a:lnTo>
                <a:lnTo>
                  <a:pt x="1908" y="1731"/>
                </a:lnTo>
                <a:lnTo>
                  <a:pt x="1977" y="1683"/>
                </a:lnTo>
                <a:lnTo>
                  <a:pt x="2050" y="1641"/>
                </a:lnTo>
                <a:lnTo>
                  <a:pt x="2128" y="1607"/>
                </a:lnTo>
                <a:lnTo>
                  <a:pt x="2208" y="1579"/>
                </a:lnTo>
                <a:lnTo>
                  <a:pt x="2292" y="1559"/>
                </a:lnTo>
                <a:lnTo>
                  <a:pt x="2379" y="1546"/>
                </a:lnTo>
                <a:lnTo>
                  <a:pt x="2467" y="1543"/>
                </a:lnTo>
                <a:lnTo>
                  <a:pt x="2557" y="1546"/>
                </a:lnTo>
                <a:lnTo>
                  <a:pt x="2643" y="1559"/>
                </a:lnTo>
                <a:lnTo>
                  <a:pt x="2727" y="1579"/>
                </a:lnTo>
                <a:lnTo>
                  <a:pt x="2808" y="1607"/>
                </a:lnTo>
                <a:lnTo>
                  <a:pt x="2886" y="1641"/>
                </a:lnTo>
                <a:lnTo>
                  <a:pt x="2959" y="1683"/>
                </a:lnTo>
                <a:lnTo>
                  <a:pt x="3028" y="1731"/>
                </a:lnTo>
                <a:lnTo>
                  <a:pt x="3092" y="1785"/>
                </a:lnTo>
                <a:lnTo>
                  <a:pt x="3150" y="1843"/>
                </a:lnTo>
                <a:lnTo>
                  <a:pt x="3204" y="1907"/>
                </a:lnTo>
                <a:lnTo>
                  <a:pt x="3252" y="1976"/>
                </a:lnTo>
                <a:lnTo>
                  <a:pt x="3294" y="2049"/>
                </a:lnTo>
                <a:lnTo>
                  <a:pt x="3328" y="2127"/>
                </a:lnTo>
                <a:lnTo>
                  <a:pt x="3357" y="2208"/>
                </a:lnTo>
                <a:lnTo>
                  <a:pt x="3376" y="2292"/>
                </a:lnTo>
                <a:lnTo>
                  <a:pt x="3390" y="2378"/>
                </a:lnTo>
                <a:lnTo>
                  <a:pt x="3392" y="2468"/>
                </a:lnTo>
                <a:lnTo>
                  <a:pt x="3390" y="2556"/>
                </a:lnTo>
                <a:lnTo>
                  <a:pt x="3376" y="2643"/>
                </a:lnTo>
                <a:lnTo>
                  <a:pt x="3357" y="2727"/>
                </a:lnTo>
                <a:lnTo>
                  <a:pt x="3328" y="2807"/>
                </a:lnTo>
                <a:lnTo>
                  <a:pt x="3294" y="2885"/>
                </a:lnTo>
                <a:lnTo>
                  <a:pt x="3252" y="2958"/>
                </a:lnTo>
                <a:lnTo>
                  <a:pt x="3204" y="3027"/>
                </a:lnTo>
                <a:lnTo>
                  <a:pt x="3150" y="3091"/>
                </a:lnTo>
                <a:lnTo>
                  <a:pt x="3092" y="3151"/>
                </a:lnTo>
                <a:lnTo>
                  <a:pt x="3028" y="3203"/>
                </a:lnTo>
                <a:lnTo>
                  <a:pt x="2959" y="3251"/>
                </a:lnTo>
                <a:lnTo>
                  <a:pt x="2886" y="3293"/>
                </a:lnTo>
                <a:lnTo>
                  <a:pt x="2808" y="3327"/>
                </a:lnTo>
                <a:lnTo>
                  <a:pt x="2727" y="3356"/>
                </a:lnTo>
                <a:lnTo>
                  <a:pt x="2643" y="3375"/>
                </a:lnTo>
                <a:lnTo>
                  <a:pt x="2557" y="3389"/>
                </a:lnTo>
                <a:lnTo>
                  <a:pt x="2467" y="3392"/>
                </a:lnTo>
                <a:close/>
              </a:path>
            </a:pathLst>
          </a:custGeom>
          <a:solidFill>
            <a:srgbClr val="92D050"/>
          </a:solidFill>
          <a:ln w="0">
            <a:noFill/>
          </a:ln>
        </p:spPr>
        <p:txBody>
          <a:bodyPr/>
          <a:p>
            <a:pPr lvl="0"/>
            <a:endParaRPr lang="zh-CN" altLang="en-US" dirty="0">
              <a:latin typeface="等线" panose="02010600030101010101" charset="-122"/>
              <a:ea typeface="等线" panose="02010600030101010101" charset="-122"/>
            </a:endParaRPr>
          </a:p>
        </p:txBody>
      </p:sp>
      <p:grpSp>
        <p:nvGrpSpPr>
          <p:cNvPr id="50" name="组合 49"/>
          <p:cNvGrpSpPr/>
          <p:nvPr/>
        </p:nvGrpSpPr>
        <p:grpSpPr>
          <a:xfrm rot="0">
            <a:off x="5835968" y="4497070"/>
            <a:ext cx="599440" cy="712470"/>
            <a:chOff x="1490040" y="1878330"/>
            <a:chExt cx="644241" cy="734816"/>
          </a:xfrm>
          <a:solidFill>
            <a:srgbClr val="92D050"/>
          </a:solidFill>
        </p:grpSpPr>
        <p:sp>
          <p:nvSpPr>
            <p:cNvPr id="51" name="Freeform 6"/>
            <p:cNvSpPr/>
            <p:nvPr/>
          </p:nvSpPr>
          <p:spPr bwMode="auto">
            <a:xfrm>
              <a:off x="1897968" y="1886332"/>
              <a:ext cx="228311" cy="227970"/>
            </a:xfrm>
            <a:custGeom>
              <a:avLst/>
              <a:gdLst>
                <a:gd name="T0" fmla="*/ 113 w 1341"/>
                <a:gd name="T1" fmla="*/ 0 h 1339"/>
                <a:gd name="T2" fmla="*/ 1341 w 1341"/>
                <a:gd name="T3" fmla="*/ 1227 h 1339"/>
                <a:gd name="T4" fmla="*/ 1227 w 1341"/>
                <a:gd name="T5" fmla="*/ 1339 h 1339"/>
                <a:gd name="T6" fmla="*/ 0 w 1341"/>
                <a:gd name="T7" fmla="*/ 113 h 1339"/>
                <a:gd name="T8" fmla="*/ 113 w 1341"/>
                <a:gd name="T9" fmla="*/ 0 h 1339"/>
              </a:gdLst>
              <a:ahLst/>
              <a:cxnLst>
                <a:cxn ang="0">
                  <a:pos x="T0" y="T1"/>
                </a:cxn>
                <a:cxn ang="0">
                  <a:pos x="T2" y="T3"/>
                </a:cxn>
                <a:cxn ang="0">
                  <a:pos x="T4" y="T5"/>
                </a:cxn>
                <a:cxn ang="0">
                  <a:pos x="T6" y="T7"/>
                </a:cxn>
                <a:cxn ang="0">
                  <a:pos x="T8" y="T9"/>
                </a:cxn>
              </a:cxnLst>
              <a:rect l="0" t="0" r="r" b="b"/>
              <a:pathLst>
                <a:path w="1341" h="1339">
                  <a:moveTo>
                    <a:pt x="113" y="0"/>
                  </a:moveTo>
                  <a:lnTo>
                    <a:pt x="1341" y="1227"/>
                  </a:lnTo>
                  <a:lnTo>
                    <a:pt x="1227" y="1339"/>
                  </a:lnTo>
                  <a:lnTo>
                    <a:pt x="0" y="113"/>
                  </a:lnTo>
                  <a:lnTo>
                    <a:pt x="113" y="0"/>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2" name="Freeform 7"/>
            <p:cNvSpPr/>
            <p:nvPr/>
          </p:nvSpPr>
          <p:spPr bwMode="auto">
            <a:xfrm>
              <a:off x="1627435" y="2232288"/>
              <a:ext cx="30135" cy="27070"/>
            </a:xfrm>
            <a:custGeom>
              <a:avLst/>
              <a:gdLst>
                <a:gd name="T0" fmla="*/ 177 w 177"/>
                <a:gd name="T1" fmla="*/ 80 h 159"/>
                <a:gd name="T2" fmla="*/ 173 w 177"/>
                <a:gd name="T3" fmla="*/ 101 h 159"/>
                <a:gd name="T4" fmla="*/ 164 w 177"/>
                <a:gd name="T5" fmla="*/ 119 h 159"/>
                <a:gd name="T6" fmla="*/ 151 w 177"/>
                <a:gd name="T7" fmla="*/ 136 h 159"/>
                <a:gd name="T8" fmla="*/ 132 w 177"/>
                <a:gd name="T9" fmla="*/ 148 h 159"/>
                <a:gd name="T10" fmla="*/ 111 w 177"/>
                <a:gd name="T11" fmla="*/ 157 h 159"/>
                <a:gd name="T12" fmla="*/ 88 w 177"/>
                <a:gd name="T13" fmla="*/ 159 h 159"/>
                <a:gd name="T14" fmla="*/ 64 w 177"/>
                <a:gd name="T15" fmla="*/ 157 h 159"/>
                <a:gd name="T16" fmla="*/ 43 w 177"/>
                <a:gd name="T17" fmla="*/ 148 h 159"/>
                <a:gd name="T18" fmla="*/ 26 w 177"/>
                <a:gd name="T19" fmla="*/ 136 h 159"/>
                <a:gd name="T20" fmla="*/ 12 w 177"/>
                <a:gd name="T21" fmla="*/ 119 h 159"/>
                <a:gd name="T22" fmla="*/ 4 w 177"/>
                <a:gd name="T23" fmla="*/ 101 h 159"/>
                <a:gd name="T24" fmla="*/ 0 w 177"/>
                <a:gd name="T25" fmla="*/ 80 h 159"/>
                <a:gd name="T26" fmla="*/ 4 w 177"/>
                <a:gd name="T27" fmla="*/ 57 h 159"/>
                <a:gd name="T28" fmla="*/ 12 w 177"/>
                <a:gd name="T29" fmla="*/ 39 h 159"/>
                <a:gd name="T30" fmla="*/ 26 w 177"/>
                <a:gd name="T31" fmla="*/ 22 h 159"/>
                <a:gd name="T32" fmla="*/ 43 w 177"/>
                <a:gd name="T33" fmla="*/ 10 h 159"/>
                <a:gd name="T34" fmla="*/ 64 w 177"/>
                <a:gd name="T35" fmla="*/ 2 h 159"/>
                <a:gd name="T36" fmla="*/ 88 w 177"/>
                <a:gd name="T37" fmla="*/ 0 h 159"/>
                <a:gd name="T38" fmla="*/ 111 w 177"/>
                <a:gd name="T39" fmla="*/ 2 h 159"/>
                <a:gd name="T40" fmla="*/ 132 w 177"/>
                <a:gd name="T41" fmla="*/ 10 h 159"/>
                <a:gd name="T42" fmla="*/ 151 w 177"/>
                <a:gd name="T43" fmla="*/ 22 h 159"/>
                <a:gd name="T44" fmla="*/ 164 w 177"/>
                <a:gd name="T45" fmla="*/ 39 h 159"/>
                <a:gd name="T46" fmla="*/ 173 w 177"/>
                <a:gd name="T47" fmla="*/ 57 h 159"/>
                <a:gd name="T48" fmla="*/ 177 w 177"/>
                <a:gd name="T49"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7" h="159">
                  <a:moveTo>
                    <a:pt x="177" y="80"/>
                  </a:moveTo>
                  <a:lnTo>
                    <a:pt x="173" y="101"/>
                  </a:lnTo>
                  <a:lnTo>
                    <a:pt x="164" y="119"/>
                  </a:lnTo>
                  <a:lnTo>
                    <a:pt x="151" y="136"/>
                  </a:lnTo>
                  <a:lnTo>
                    <a:pt x="132" y="148"/>
                  </a:lnTo>
                  <a:lnTo>
                    <a:pt x="111" y="157"/>
                  </a:lnTo>
                  <a:lnTo>
                    <a:pt x="88" y="159"/>
                  </a:lnTo>
                  <a:lnTo>
                    <a:pt x="64" y="157"/>
                  </a:lnTo>
                  <a:lnTo>
                    <a:pt x="43" y="148"/>
                  </a:lnTo>
                  <a:lnTo>
                    <a:pt x="26" y="136"/>
                  </a:lnTo>
                  <a:lnTo>
                    <a:pt x="12" y="119"/>
                  </a:lnTo>
                  <a:lnTo>
                    <a:pt x="4" y="101"/>
                  </a:lnTo>
                  <a:lnTo>
                    <a:pt x="0" y="80"/>
                  </a:lnTo>
                  <a:lnTo>
                    <a:pt x="4" y="57"/>
                  </a:lnTo>
                  <a:lnTo>
                    <a:pt x="12" y="39"/>
                  </a:lnTo>
                  <a:lnTo>
                    <a:pt x="26" y="22"/>
                  </a:lnTo>
                  <a:lnTo>
                    <a:pt x="43" y="10"/>
                  </a:lnTo>
                  <a:lnTo>
                    <a:pt x="64" y="2"/>
                  </a:lnTo>
                  <a:lnTo>
                    <a:pt x="88" y="0"/>
                  </a:lnTo>
                  <a:lnTo>
                    <a:pt x="111" y="2"/>
                  </a:lnTo>
                  <a:lnTo>
                    <a:pt x="132" y="10"/>
                  </a:lnTo>
                  <a:lnTo>
                    <a:pt x="151" y="22"/>
                  </a:lnTo>
                  <a:lnTo>
                    <a:pt x="164" y="39"/>
                  </a:lnTo>
                  <a:lnTo>
                    <a:pt x="173" y="57"/>
                  </a:lnTo>
                  <a:lnTo>
                    <a:pt x="177" y="80"/>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3" name="Freeform 8"/>
            <p:cNvSpPr/>
            <p:nvPr/>
          </p:nvSpPr>
          <p:spPr bwMode="auto">
            <a:xfrm>
              <a:off x="1966751" y="2232288"/>
              <a:ext cx="30135" cy="27070"/>
            </a:xfrm>
            <a:custGeom>
              <a:avLst/>
              <a:gdLst>
                <a:gd name="T0" fmla="*/ 177 w 177"/>
                <a:gd name="T1" fmla="*/ 80 h 159"/>
                <a:gd name="T2" fmla="*/ 173 w 177"/>
                <a:gd name="T3" fmla="*/ 101 h 159"/>
                <a:gd name="T4" fmla="*/ 164 w 177"/>
                <a:gd name="T5" fmla="*/ 119 h 159"/>
                <a:gd name="T6" fmla="*/ 151 w 177"/>
                <a:gd name="T7" fmla="*/ 136 h 159"/>
                <a:gd name="T8" fmla="*/ 132 w 177"/>
                <a:gd name="T9" fmla="*/ 148 h 159"/>
                <a:gd name="T10" fmla="*/ 111 w 177"/>
                <a:gd name="T11" fmla="*/ 157 h 159"/>
                <a:gd name="T12" fmla="*/ 88 w 177"/>
                <a:gd name="T13" fmla="*/ 159 h 159"/>
                <a:gd name="T14" fmla="*/ 66 w 177"/>
                <a:gd name="T15" fmla="*/ 157 h 159"/>
                <a:gd name="T16" fmla="*/ 43 w 177"/>
                <a:gd name="T17" fmla="*/ 148 h 159"/>
                <a:gd name="T18" fmla="*/ 26 w 177"/>
                <a:gd name="T19" fmla="*/ 136 h 159"/>
                <a:gd name="T20" fmla="*/ 12 w 177"/>
                <a:gd name="T21" fmla="*/ 119 h 159"/>
                <a:gd name="T22" fmla="*/ 4 w 177"/>
                <a:gd name="T23" fmla="*/ 101 h 159"/>
                <a:gd name="T24" fmla="*/ 0 w 177"/>
                <a:gd name="T25" fmla="*/ 80 h 159"/>
                <a:gd name="T26" fmla="*/ 4 w 177"/>
                <a:gd name="T27" fmla="*/ 57 h 159"/>
                <a:gd name="T28" fmla="*/ 12 w 177"/>
                <a:gd name="T29" fmla="*/ 39 h 159"/>
                <a:gd name="T30" fmla="*/ 26 w 177"/>
                <a:gd name="T31" fmla="*/ 22 h 159"/>
                <a:gd name="T32" fmla="*/ 43 w 177"/>
                <a:gd name="T33" fmla="*/ 10 h 159"/>
                <a:gd name="T34" fmla="*/ 66 w 177"/>
                <a:gd name="T35" fmla="*/ 2 h 159"/>
                <a:gd name="T36" fmla="*/ 88 w 177"/>
                <a:gd name="T37" fmla="*/ 0 h 159"/>
                <a:gd name="T38" fmla="*/ 111 w 177"/>
                <a:gd name="T39" fmla="*/ 2 h 159"/>
                <a:gd name="T40" fmla="*/ 132 w 177"/>
                <a:gd name="T41" fmla="*/ 10 h 159"/>
                <a:gd name="T42" fmla="*/ 151 w 177"/>
                <a:gd name="T43" fmla="*/ 22 h 159"/>
                <a:gd name="T44" fmla="*/ 164 w 177"/>
                <a:gd name="T45" fmla="*/ 39 h 159"/>
                <a:gd name="T46" fmla="*/ 173 w 177"/>
                <a:gd name="T47" fmla="*/ 57 h 159"/>
                <a:gd name="T48" fmla="*/ 177 w 177"/>
                <a:gd name="T49" fmla="*/ 8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7" h="159">
                  <a:moveTo>
                    <a:pt x="177" y="80"/>
                  </a:moveTo>
                  <a:lnTo>
                    <a:pt x="173" y="101"/>
                  </a:lnTo>
                  <a:lnTo>
                    <a:pt x="164" y="119"/>
                  </a:lnTo>
                  <a:lnTo>
                    <a:pt x="151" y="136"/>
                  </a:lnTo>
                  <a:lnTo>
                    <a:pt x="132" y="148"/>
                  </a:lnTo>
                  <a:lnTo>
                    <a:pt x="111" y="157"/>
                  </a:lnTo>
                  <a:lnTo>
                    <a:pt x="88" y="159"/>
                  </a:lnTo>
                  <a:lnTo>
                    <a:pt x="66" y="157"/>
                  </a:lnTo>
                  <a:lnTo>
                    <a:pt x="43" y="148"/>
                  </a:lnTo>
                  <a:lnTo>
                    <a:pt x="26" y="136"/>
                  </a:lnTo>
                  <a:lnTo>
                    <a:pt x="12" y="119"/>
                  </a:lnTo>
                  <a:lnTo>
                    <a:pt x="4" y="101"/>
                  </a:lnTo>
                  <a:lnTo>
                    <a:pt x="0" y="80"/>
                  </a:lnTo>
                  <a:lnTo>
                    <a:pt x="4" y="57"/>
                  </a:lnTo>
                  <a:lnTo>
                    <a:pt x="12" y="39"/>
                  </a:lnTo>
                  <a:lnTo>
                    <a:pt x="26" y="22"/>
                  </a:lnTo>
                  <a:lnTo>
                    <a:pt x="43" y="10"/>
                  </a:lnTo>
                  <a:lnTo>
                    <a:pt x="66" y="2"/>
                  </a:lnTo>
                  <a:lnTo>
                    <a:pt x="88" y="0"/>
                  </a:lnTo>
                  <a:lnTo>
                    <a:pt x="111" y="2"/>
                  </a:lnTo>
                  <a:lnTo>
                    <a:pt x="132" y="10"/>
                  </a:lnTo>
                  <a:lnTo>
                    <a:pt x="151" y="22"/>
                  </a:lnTo>
                  <a:lnTo>
                    <a:pt x="164" y="39"/>
                  </a:lnTo>
                  <a:lnTo>
                    <a:pt x="173" y="57"/>
                  </a:lnTo>
                  <a:lnTo>
                    <a:pt x="177" y="80"/>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4" name="Rectangle 9"/>
            <p:cNvSpPr>
              <a:spLocks noChangeArrowheads="1"/>
            </p:cNvSpPr>
            <p:nvPr/>
          </p:nvSpPr>
          <p:spPr bwMode="auto">
            <a:xfrm>
              <a:off x="1643098" y="2232288"/>
              <a:ext cx="338635" cy="27070"/>
            </a:xfrm>
            <a:prstGeom prst="rect">
              <a:avLst/>
            </a:prstGeom>
            <a:grpFill/>
            <a:ln w="0">
              <a:noFill/>
              <a:prstDash val="solid"/>
              <a:miter lim="800000"/>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5" name="Freeform 10"/>
            <p:cNvSpPr/>
            <p:nvPr/>
          </p:nvSpPr>
          <p:spPr bwMode="auto">
            <a:xfrm>
              <a:off x="1627435" y="2315372"/>
              <a:ext cx="30135" cy="27241"/>
            </a:xfrm>
            <a:custGeom>
              <a:avLst/>
              <a:gdLst>
                <a:gd name="T0" fmla="*/ 177 w 177"/>
                <a:gd name="T1" fmla="*/ 80 h 160"/>
                <a:gd name="T2" fmla="*/ 173 w 177"/>
                <a:gd name="T3" fmla="*/ 102 h 160"/>
                <a:gd name="T4" fmla="*/ 164 w 177"/>
                <a:gd name="T5" fmla="*/ 120 h 160"/>
                <a:gd name="T6" fmla="*/ 151 w 177"/>
                <a:gd name="T7" fmla="*/ 138 h 160"/>
                <a:gd name="T8" fmla="*/ 132 w 177"/>
                <a:gd name="T9" fmla="*/ 149 h 160"/>
                <a:gd name="T10" fmla="*/ 111 w 177"/>
                <a:gd name="T11" fmla="*/ 157 h 160"/>
                <a:gd name="T12" fmla="*/ 88 w 177"/>
                <a:gd name="T13" fmla="*/ 160 h 160"/>
                <a:gd name="T14" fmla="*/ 64 w 177"/>
                <a:gd name="T15" fmla="*/ 157 h 160"/>
                <a:gd name="T16" fmla="*/ 43 w 177"/>
                <a:gd name="T17" fmla="*/ 149 h 160"/>
                <a:gd name="T18" fmla="*/ 26 w 177"/>
                <a:gd name="T19" fmla="*/ 138 h 160"/>
                <a:gd name="T20" fmla="*/ 12 w 177"/>
                <a:gd name="T21" fmla="*/ 120 h 160"/>
                <a:gd name="T22" fmla="*/ 4 w 177"/>
                <a:gd name="T23" fmla="*/ 102 h 160"/>
                <a:gd name="T24" fmla="*/ 0 w 177"/>
                <a:gd name="T25" fmla="*/ 80 h 160"/>
                <a:gd name="T26" fmla="*/ 4 w 177"/>
                <a:gd name="T27" fmla="*/ 59 h 160"/>
                <a:gd name="T28" fmla="*/ 12 w 177"/>
                <a:gd name="T29" fmla="*/ 41 h 160"/>
                <a:gd name="T30" fmla="*/ 26 w 177"/>
                <a:gd name="T31" fmla="*/ 24 h 160"/>
                <a:gd name="T32" fmla="*/ 43 w 177"/>
                <a:gd name="T33" fmla="*/ 12 h 160"/>
                <a:gd name="T34" fmla="*/ 64 w 177"/>
                <a:gd name="T35" fmla="*/ 3 h 160"/>
                <a:gd name="T36" fmla="*/ 88 w 177"/>
                <a:gd name="T37" fmla="*/ 0 h 160"/>
                <a:gd name="T38" fmla="*/ 111 w 177"/>
                <a:gd name="T39" fmla="*/ 3 h 160"/>
                <a:gd name="T40" fmla="*/ 132 w 177"/>
                <a:gd name="T41" fmla="*/ 12 h 160"/>
                <a:gd name="T42" fmla="*/ 151 w 177"/>
                <a:gd name="T43" fmla="*/ 24 h 160"/>
                <a:gd name="T44" fmla="*/ 164 w 177"/>
                <a:gd name="T45" fmla="*/ 41 h 160"/>
                <a:gd name="T46" fmla="*/ 173 w 177"/>
                <a:gd name="T47" fmla="*/ 59 h 160"/>
                <a:gd name="T48" fmla="*/ 177 w 177"/>
                <a:gd name="T49"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7" h="160">
                  <a:moveTo>
                    <a:pt x="177" y="80"/>
                  </a:moveTo>
                  <a:lnTo>
                    <a:pt x="173" y="102"/>
                  </a:lnTo>
                  <a:lnTo>
                    <a:pt x="164" y="120"/>
                  </a:lnTo>
                  <a:lnTo>
                    <a:pt x="151" y="138"/>
                  </a:lnTo>
                  <a:lnTo>
                    <a:pt x="132" y="149"/>
                  </a:lnTo>
                  <a:lnTo>
                    <a:pt x="111" y="157"/>
                  </a:lnTo>
                  <a:lnTo>
                    <a:pt x="88" y="160"/>
                  </a:lnTo>
                  <a:lnTo>
                    <a:pt x="64" y="157"/>
                  </a:lnTo>
                  <a:lnTo>
                    <a:pt x="43" y="149"/>
                  </a:lnTo>
                  <a:lnTo>
                    <a:pt x="26" y="138"/>
                  </a:lnTo>
                  <a:lnTo>
                    <a:pt x="12" y="120"/>
                  </a:lnTo>
                  <a:lnTo>
                    <a:pt x="4" y="102"/>
                  </a:lnTo>
                  <a:lnTo>
                    <a:pt x="0" y="80"/>
                  </a:lnTo>
                  <a:lnTo>
                    <a:pt x="4" y="59"/>
                  </a:lnTo>
                  <a:lnTo>
                    <a:pt x="12" y="41"/>
                  </a:lnTo>
                  <a:lnTo>
                    <a:pt x="26" y="24"/>
                  </a:lnTo>
                  <a:lnTo>
                    <a:pt x="43" y="12"/>
                  </a:lnTo>
                  <a:lnTo>
                    <a:pt x="64" y="3"/>
                  </a:lnTo>
                  <a:lnTo>
                    <a:pt x="88" y="0"/>
                  </a:lnTo>
                  <a:lnTo>
                    <a:pt x="111" y="3"/>
                  </a:lnTo>
                  <a:lnTo>
                    <a:pt x="132" y="12"/>
                  </a:lnTo>
                  <a:lnTo>
                    <a:pt x="151" y="24"/>
                  </a:lnTo>
                  <a:lnTo>
                    <a:pt x="164" y="41"/>
                  </a:lnTo>
                  <a:lnTo>
                    <a:pt x="173" y="59"/>
                  </a:lnTo>
                  <a:lnTo>
                    <a:pt x="177" y="80"/>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6" name="Freeform 11"/>
            <p:cNvSpPr/>
            <p:nvPr/>
          </p:nvSpPr>
          <p:spPr bwMode="auto">
            <a:xfrm>
              <a:off x="1966751" y="2315372"/>
              <a:ext cx="30135" cy="27241"/>
            </a:xfrm>
            <a:custGeom>
              <a:avLst/>
              <a:gdLst>
                <a:gd name="T0" fmla="*/ 177 w 177"/>
                <a:gd name="T1" fmla="*/ 80 h 160"/>
                <a:gd name="T2" fmla="*/ 173 w 177"/>
                <a:gd name="T3" fmla="*/ 102 h 160"/>
                <a:gd name="T4" fmla="*/ 164 w 177"/>
                <a:gd name="T5" fmla="*/ 120 h 160"/>
                <a:gd name="T6" fmla="*/ 151 w 177"/>
                <a:gd name="T7" fmla="*/ 138 h 160"/>
                <a:gd name="T8" fmla="*/ 132 w 177"/>
                <a:gd name="T9" fmla="*/ 149 h 160"/>
                <a:gd name="T10" fmla="*/ 111 w 177"/>
                <a:gd name="T11" fmla="*/ 157 h 160"/>
                <a:gd name="T12" fmla="*/ 88 w 177"/>
                <a:gd name="T13" fmla="*/ 160 h 160"/>
                <a:gd name="T14" fmla="*/ 66 w 177"/>
                <a:gd name="T15" fmla="*/ 157 h 160"/>
                <a:gd name="T16" fmla="*/ 43 w 177"/>
                <a:gd name="T17" fmla="*/ 149 h 160"/>
                <a:gd name="T18" fmla="*/ 26 w 177"/>
                <a:gd name="T19" fmla="*/ 138 h 160"/>
                <a:gd name="T20" fmla="*/ 12 w 177"/>
                <a:gd name="T21" fmla="*/ 120 h 160"/>
                <a:gd name="T22" fmla="*/ 4 w 177"/>
                <a:gd name="T23" fmla="*/ 102 h 160"/>
                <a:gd name="T24" fmla="*/ 0 w 177"/>
                <a:gd name="T25" fmla="*/ 80 h 160"/>
                <a:gd name="T26" fmla="*/ 4 w 177"/>
                <a:gd name="T27" fmla="*/ 59 h 160"/>
                <a:gd name="T28" fmla="*/ 12 w 177"/>
                <a:gd name="T29" fmla="*/ 41 h 160"/>
                <a:gd name="T30" fmla="*/ 26 w 177"/>
                <a:gd name="T31" fmla="*/ 24 h 160"/>
                <a:gd name="T32" fmla="*/ 43 w 177"/>
                <a:gd name="T33" fmla="*/ 12 h 160"/>
                <a:gd name="T34" fmla="*/ 66 w 177"/>
                <a:gd name="T35" fmla="*/ 3 h 160"/>
                <a:gd name="T36" fmla="*/ 88 w 177"/>
                <a:gd name="T37" fmla="*/ 0 h 160"/>
                <a:gd name="T38" fmla="*/ 111 w 177"/>
                <a:gd name="T39" fmla="*/ 3 h 160"/>
                <a:gd name="T40" fmla="*/ 132 w 177"/>
                <a:gd name="T41" fmla="*/ 12 h 160"/>
                <a:gd name="T42" fmla="*/ 151 w 177"/>
                <a:gd name="T43" fmla="*/ 24 h 160"/>
                <a:gd name="T44" fmla="*/ 164 w 177"/>
                <a:gd name="T45" fmla="*/ 41 h 160"/>
                <a:gd name="T46" fmla="*/ 173 w 177"/>
                <a:gd name="T47" fmla="*/ 59 h 160"/>
                <a:gd name="T48" fmla="*/ 177 w 177"/>
                <a:gd name="T49"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7" h="160">
                  <a:moveTo>
                    <a:pt x="177" y="80"/>
                  </a:moveTo>
                  <a:lnTo>
                    <a:pt x="173" y="102"/>
                  </a:lnTo>
                  <a:lnTo>
                    <a:pt x="164" y="120"/>
                  </a:lnTo>
                  <a:lnTo>
                    <a:pt x="151" y="138"/>
                  </a:lnTo>
                  <a:lnTo>
                    <a:pt x="132" y="149"/>
                  </a:lnTo>
                  <a:lnTo>
                    <a:pt x="111" y="157"/>
                  </a:lnTo>
                  <a:lnTo>
                    <a:pt x="88" y="160"/>
                  </a:lnTo>
                  <a:lnTo>
                    <a:pt x="66" y="157"/>
                  </a:lnTo>
                  <a:lnTo>
                    <a:pt x="43" y="149"/>
                  </a:lnTo>
                  <a:lnTo>
                    <a:pt x="26" y="138"/>
                  </a:lnTo>
                  <a:lnTo>
                    <a:pt x="12" y="120"/>
                  </a:lnTo>
                  <a:lnTo>
                    <a:pt x="4" y="102"/>
                  </a:lnTo>
                  <a:lnTo>
                    <a:pt x="0" y="80"/>
                  </a:lnTo>
                  <a:lnTo>
                    <a:pt x="4" y="59"/>
                  </a:lnTo>
                  <a:lnTo>
                    <a:pt x="12" y="41"/>
                  </a:lnTo>
                  <a:lnTo>
                    <a:pt x="26" y="24"/>
                  </a:lnTo>
                  <a:lnTo>
                    <a:pt x="43" y="12"/>
                  </a:lnTo>
                  <a:lnTo>
                    <a:pt x="66" y="3"/>
                  </a:lnTo>
                  <a:lnTo>
                    <a:pt x="88" y="0"/>
                  </a:lnTo>
                  <a:lnTo>
                    <a:pt x="111" y="3"/>
                  </a:lnTo>
                  <a:lnTo>
                    <a:pt x="132" y="12"/>
                  </a:lnTo>
                  <a:lnTo>
                    <a:pt x="151" y="24"/>
                  </a:lnTo>
                  <a:lnTo>
                    <a:pt x="164" y="41"/>
                  </a:lnTo>
                  <a:lnTo>
                    <a:pt x="173" y="59"/>
                  </a:lnTo>
                  <a:lnTo>
                    <a:pt x="177" y="80"/>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7" name="Rectangle 12"/>
            <p:cNvSpPr>
              <a:spLocks noChangeArrowheads="1"/>
            </p:cNvSpPr>
            <p:nvPr/>
          </p:nvSpPr>
          <p:spPr bwMode="auto">
            <a:xfrm>
              <a:off x="1643098" y="2315372"/>
              <a:ext cx="338635" cy="27241"/>
            </a:xfrm>
            <a:prstGeom prst="rect">
              <a:avLst/>
            </a:prstGeom>
            <a:grpFill/>
            <a:ln w="0">
              <a:noFill/>
              <a:prstDash val="solid"/>
              <a:miter lim="800000"/>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8" name="Freeform 13"/>
            <p:cNvSpPr/>
            <p:nvPr/>
          </p:nvSpPr>
          <p:spPr bwMode="auto">
            <a:xfrm>
              <a:off x="1627435" y="2408841"/>
              <a:ext cx="30135" cy="27070"/>
            </a:xfrm>
            <a:custGeom>
              <a:avLst/>
              <a:gdLst>
                <a:gd name="T0" fmla="*/ 177 w 177"/>
                <a:gd name="T1" fmla="*/ 79 h 159"/>
                <a:gd name="T2" fmla="*/ 173 w 177"/>
                <a:gd name="T3" fmla="*/ 102 h 159"/>
                <a:gd name="T4" fmla="*/ 164 w 177"/>
                <a:gd name="T5" fmla="*/ 120 h 159"/>
                <a:gd name="T6" fmla="*/ 151 w 177"/>
                <a:gd name="T7" fmla="*/ 137 h 159"/>
                <a:gd name="T8" fmla="*/ 132 w 177"/>
                <a:gd name="T9" fmla="*/ 149 h 159"/>
                <a:gd name="T10" fmla="*/ 111 w 177"/>
                <a:gd name="T11" fmla="*/ 157 h 159"/>
                <a:gd name="T12" fmla="*/ 88 w 177"/>
                <a:gd name="T13" fmla="*/ 159 h 159"/>
                <a:gd name="T14" fmla="*/ 64 w 177"/>
                <a:gd name="T15" fmla="*/ 157 h 159"/>
                <a:gd name="T16" fmla="*/ 43 w 177"/>
                <a:gd name="T17" fmla="*/ 149 h 159"/>
                <a:gd name="T18" fmla="*/ 26 w 177"/>
                <a:gd name="T19" fmla="*/ 137 h 159"/>
                <a:gd name="T20" fmla="*/ 12 w 177"/>
                <a:gd name="T21" fmla="*/ 120 h 159"/>
                <a:gd name="T22" fmla="*/ 4 w 177"/>
                <a:gd name="T23" fmla="*/ 102 h 159"/>
                <a:gd name="T24" fmla="*/ 0 w 177"/>
                <a:gd name="T25" fmla="*/ 79 h 159"/>
                <a:gd name="T26" fmla="*/ 4 w 177"/>
                <a:gd name="T27" fmla="*/ 58 h 159"/>
                <a:gd name="T28" fmla="*/ 12 w 177"/>
                <a:gd name="T29" fmla="*/ 40 h 159"/>
                <a:gd name="T30" fmla="*/ 26 w 177"/>
                <a:gd name="T31" fmla="*/ 23 h 159"/>
                <a:gd name="T32" fmla="*/ 43 w 177"/>
                <a:gd name="T33" fmla="*/ 11 h 159"/>
                <a:gd name="T34" fmla="*/ 64 w 177"/>
                <a:gd name="T35" fmla="*/ 2 h 159"/>
                <a:gd name="T36" fmla="*/ 88 w 177"/>
                <a:gd name="T37" fmla="*/ 0 h 159"/>
                <a:gd name="T38" fmla="*/ 111 w 177"/>
                <a:gd name="T39" fmla="*/ 2 h 159"/>
                <a:gd name="T40" fmla="*/ 132 w 177"/>
                <a:gd name="T41" fmla="*/ 11 h 159"/>
                <a:gd name="T42" fmla="*/ 151 w 177"/>
                <a:gd name="T43" fmla="*/ 23 h 159"/>
                <a:gd name="T44" fmla="*/ 164 w 177"/>
                <a:gd name="T45" fmla="*/ 40 h 159"/>
                <a:gd name="T46" fmla="*/ 173 w 177"/>
                <a:gd name="T47" fmla="*/ 58 h 159"/>
                <a:gd name="T48" fmla="*/ 177 w 177"/>
                <a:gd name="T49" fmla="*/ 7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7" h="159">
                  <a:moveTo>
                    <a:pt x="177" y="79"/>
                  </a:moveTo>
                  <a:lnTo>
                    <a:pt x="173" y="102"/>
                  </a:lnTo>
                  <a:lnTo>
                    <a:pt x="164" y="120"/>
                  </a:lnTo>
                  <a:lnTo>
                    <a:pt x="151" y="137"/>
                  </a:lnTo>
                  <a:lnTo>
                    <a:pt x="132" y="149"/>
                  </a:lnTo>
                  <a:lnTo>
                    <a:pt x="111" y="157"/>
                  </a:lnTo>
                  <a:lnTo>
                    <a:pt x="88" y="159"/>
                  </a:lnTo>
                  <a:lnTo>
                    <a:pt x="64" y="157"/>
                  </a:lnTo>
                  <a:lnTo>
                    <a:pt x="43" y="149"/>
                  </a:lnTo>
                  <a:lnTo>
                    <a:pt x="26" y="137"/>
                  </a:lnTo>
                  <a:lnTo>
                    <a:pt x="12" y="120"/>
                  </a:lnTo>
                  <a:lnTo>
                    <a:pt x="4" y="102"/>
                  </a:lnTo>
                  <a:lnTo>
                    <a:pt x="0" y="79"/>
                  </a:lnTo>
                  <a:lnTo>
                    <a:pt x="4" y="58"/>
                  </a:lnTo>
                  <a:lnTo>
                    <a:pt x="12" y="40"/>
                  </a:lnTo>
                  <a:lnTo>
                    <a:pt x="26" y="23"/>
                  </a:lnTo>
                  <a:lnTo>
                    <a:pt x="43" y="11"/>
                  </a:lnTo>
                  <a:lnTo>
                    <a:pt x="64" y="2"/>
                  </a:lnTo>
                  <a:lnTo>
                    <a:pt x="88" y="0"/>
                  </a:lnTo>
                  <a:lnTo>
                    <a:pt x="111" y="2"/>
                  </a:lnTo>
                  <a:lnTo>
                    <a:pt x="132" y="11"/>
                  </a:lnTo>
                  <a:lnTo>
                    <a:pt x="151" y="23"/>
                  </a:lnTo>
                  <a:lnTo>
                    <a:pt x="164" y="40"/>
                  </a:lnTo>
                  <a:lnTo>
                    <a:pt x="173" y="58"/>
                  </a:lnTo>
                  <a:lnTo>
                    <a:pt x="177" y="79"/>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9" name="Freeform 14"/>
            <p:cNvSpPr/>
            <p:nvPr/>
          </p:nvSpPr>
          <p:spPr bwMode="auto">
            <a:xfrm>
              <a:off x="1966751" y="2408841"/>
              <a:ext cx="30135" cy="27070"/>
            </a:xfrm>
            <a:custGeom>
              <a:avLst/>
              <a:gdLst>
                <a:gd name="T0" fmla="*/ 177 w 177"/>
                <a:gd name="T1" fmla="*/ 79 h 159"/>
                <a:gd name="T2" fmla="*/ 173 w 177"/>
                <a:gd name="T3" fmla="*/ 102 h 159"/>
                <a:gd name="T4" fmla="*/ 164 w 177"/>
                <a:gd name="T5" fmla="*/ 120 h 159"/>
                <a:gd name="T6" fmla="*/ 151 w 177"/>
                <a:gd name="T7" fmla="*/ 137 h 159"/>
                <a:gd name="T8" fmla="*/ 132 w 177"/>
                <a:gd name="T9" fmla="*/ 149 h 159"/>
                <a:gd name="T10" fmla="*/ 111 w 177"/>
                <a:gd name="T11" fmla="*/ 157 h 159"/>
                <a:gd name="T12" fmla="*/ 88 w 177"/>
                <a:gd name="T13" fmla="*/ 159 h 159"/>
                <a:gd name="T14" fmla="*/ 66 w 177"/>
                <a:gd name="T15" fmla="*/ 157 h 159"/>
                <a:gd name="T16" fmla="*/ 43 w 177"/>
                <a:gd name="T17" fmla="*/ 149 h 159"/>
                <a:gd name="T18" fmla="*/ 26 w 177"/>
                <a:gd name="T19" fmla="*/ 137 h 159"/>
                <a:gd name="T20" fmla="*/ 12 w 177"/>
                <a:gd name="T21" fmla="*/ 120 h 159"/>
                <a:gd name="T22" fmla="*/ 4 w 177"/>
                <a:gd name="T23" fmla="*/ 102 h 159"/>
                <a:gd name="T24" fmla="*/ 0 w 177"/>
                <a:gd name="T25" fmla="*/ 79 h 159"/>
                <a:gd name="T26" fmla="*/ 4 w 177"/>
                <a:gd name="T27" fmla="*/ 58 h 159"/>
                <a:gd name="T28" fmla="*/ 12 w 177"/>
                <a:gd name="T29" fmla="*/ 40 h 159"/>
                <a:gd name="T30" fmla="*/ 26 w 177"/>
                <a:gd name="T31" fmla="*/ 23 h 159"/>
                <a:gd name="T32" fmla="*/ 43 w 177"/>
                <a:gd name="T33" fmla="*/ 11 h 159"/>
                <a:gd name="T34" fmla="*/ 66 w 177"/>
                <a:gd name="T35" fmla="*/ 2 h 159"/>
                <a:gd name="T36" fmla="*/ 88 w 177"/>
                <a:gd name="T37" fmla="*/ 0 h 159"/>
                <a:gd name="T38" fmla="*/ 111 w 177"/>
                <a:gd name="T39" fmla="*/ 2 h 159"/>
                <a:gd name="T40" fmla="*/ 132 w 177"/>
                <a:gd name="T41" fmla="*/ 11 h 159"/>
                <a:gd name="T42" fmla="*/ 151 w 177"/>
                <a:gd name="T43" fmla="*/ 23 h 159"/>
                <a:gd name="T44" fmla="*/ 164 w 177"/>
                <a:gd name="T45" fmla="*/ 40 h 159"/>
                <a:gd name="T46" fmla="*/ 173 w 177"/>
                <a:gd name="T47" fmla="*/ 58 h 159"/>
                <a:gd name="T48" fmla="*/ 177 w 177"/>
                <a:gd name="T49" fmla="*/ 7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7" h="159">
                  <a:moveTo>
                    <a:pt x="177" y="79"/>
                  </a:moveTo>
                  <a:lnTo>
                    <a:pt x="173" y="102"/>
                  </a:lnTo>
                  <a:lnTo>
                    <a:pt x="164" y="120"/>
                  </a:lnTo>
                  <a:lnTo>
                    <a:pt x="151" y="137"/>
                  </a:lnTo>
                  <a:lnTo>
                    <a:pt x="132" y="149"/>
                  </a:lnTo>
                  <a:lnTo>
                    <a:pt x="111" y="157"/>
                  </a:lnTo>
                  <a:lnTo>
                    <a:pt x="88" y="159"/>
                  </a:lnTo>
                  <a:lnTo>
                    <a:pt x="66" y="157"/>
                  </a:lnTo>
                  <a:lnTo>
                    <a:pt x="43" y="149"/>
                  </a:lnTo>
                  <a:lnTo>
                    <a:pt x="26" y="137"/>
                  </a:lnTo>
                  <a:lnTo>
                    <a:pt x="12" y="120"/>
                  </a:lnTo>
                  <a:lnTo>
                    <a:pt x="4" y="102"/>
                  </a:lnTo>
                  <a:lnTo>
                    <a:pt x="0" y="79"/>
                  </a:lnTo>
                  <a:lnTo>
                    <a:pt x="4" y="58"/>
                  </a:lnTo>
                  <a:lnTo>
                    <a:pt x="12" y="40"/>
                  </a:lnTo>
                  <a:lnTo>
                    <a:pt x="26" y="23"/>
                  </a:lnTo>
                  <a:lnTo>
                    <a:pt x="43" y="11"/>
                  </a:lnTo>
                  <a:lnTo>
                    <a:pt x="66" y="2"/>
                  </a:lnTo>
                  <a:lnTo>
                    <a:pt x="88" y="0"/>
                  </a:lnTo>
                  <a:lnTo>
                    <a:pt x="111" y="2"/>
                  </a:lnTo>
                  <a:lnTo>
                    <a:pt x="132" y="11"/>
                  </a:lnTo>
                  <a:lnTo>
                    <a:pt x="151" y="23"/>
                  </a:lnTo>
                  <a:lnTo>
                    <a:pt x="164" y="40"/>
                  </a:lnTo>
                  <a:lnTo>
                    <a:pt x="173" y="58"/>
                  </a:lnTo>
                  <a:lnTo>
                    <a:pt x="177" y="79"/>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0" name="Rectangle 15"/>
            <p:cNvSpPr>
              <a:spLocks noChangeArrowheads="1"/>
            </p:cNvSpPr>
            <p:nvPr/>
          </p:nvSpPr>
          <p:spPr bwMode="auto">
            <a:xfrm>
              <a:off x="1643098" y="2408841"/>
              <a:ext cx="338635" cy="27070"/>
            </a:xfrm>
            <a:prstGeom prst="rect">
              <a:avLst/>
            </a:prstGeom>
            <a:grpFill/>
            <a:ln w="0">
              <a:noFill/>
              <a:prstDash val="solid"/>
              <a:miter lim="800000"/>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1" name="Freeform 16"/>
            <p:cNvSpPr/>
            <p:nvPr/>
          </p:nvSpPr>
          <p:spPr bwMode="auto">
            <a:xfrm>
              <a:off x="1884518" y="1905571"/>
              <a:ext cx="27070" cy="222352"/>
            </a:xfrm>
            <a:custGeom>
              <a:avLst/>
              <a:gdLst>
                <a:gd name="T0" fmla="*/ 0 w 159"/>
                <a:gd name="T1" fmla="*/ 0 h 1306"/>
                <a:gd name="T2" fmla="*/ 0 w 159"/>
                <a:gd name="T3" fmla="*/ 1146 h 1306"/>
                <a:gd name="T4" fmla="*/ 3 w 159"/>
                <a:gd name="T5" fmla="*/ 1182 h 1306"/>
                <a:gd name="T6" fmla="*/ 14 w 159"/>
                <a:gd name="T7" fmla="*/ 1214 h 1306"/>
                <a:gd name="T8" fmla="*/ 32 w 159"/>
                <a:gd name="T9" fmla="*/ 1245 h 1306"/>
                <a:gd name="T10" fmla="*/ 56 w 159"/>
                <a:gd name="T11" fmla="*/ 1268 h 1306"/>
                <a:gd name="T12" fmla="*/ 83 w 159"/>
                <a:gd name="T13" fmla="*/ 1288 h 1306"/>
                <a:gd name="T14" fmla="*/ 116 w 159"/>
                <a:gd name="T15" fmla="*/ 1300 h 1306"/>
                <a:gd name="T16" fmla="*/ 152 w 159"/>
                <a:gd name="T17" fmla="*/ 1306 h 1306"/>
                <a:gd name="T18" fmla="*/ 152 w 159"/>
                <a:gd name="T19" fmla="*/ 1306 h 1306"/>
                <a:gd name="T20" fmla="*/ 159 w 159"/>
                <a:gd name="T21" fmla="*/ 1306 h 1306"/>
                <a:gd name="T22" fmla="*/ 159 w 159"/>
                <a:gd name="T23" fmla="*/ 0 h 1306"/>
                <a:gd name="T24" fmla="*/ 0 w 159"/>
                <a:gd name="T25" fmla="*/ 0 h 1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9" h="1306">
                  <a:moveTo>
                    <a:pt x="0" y="0"/>
                  </a:moveTo>
                  <a:lnTo>
                    <a:pt x="0" y="1146"/>
                  </a:lnTo>
                  <a:lnTo>
                    <a:pt x="3" y="1182"/>
                  </a:lnTo>
                  <a:lnTo>
                    <a:pt x="14" y="1214"/>
                  </a:lnTo>
                  <a:lnTo>
                    <a:pt x="32" y="1245"/>
                  </a:lnTo>
                  <a:lnTo>
                    <a:pt x="56" y="1268"/>
                  </a:lnTo>
                  <a:lnTo>
                    <a:pt x="83" y="1288"/>
                  </a:lnTo>
                  <a:lnTo>
                    <a:pt x="116" y="1300"/>
                  </a:lnTo>
                  <a:lnTo>
                    <a:pt x="152" y="1306"/>
                  </a:lnTo>
                  <a:lnTo>
                    <a:pt x="152" y="1306"/>
                  </a:lnTo>
                  <a:lnTo>
                    <a:pt x="159" y="1306"/>
                  </a:lnTo>
                  <a:lnTo>
                    <a:pt x="159" y="0"/>
                  </a:lnTo>
                  <a:lnTo>
                    <a:pt x="0" y="0"/>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2" name="Freeform 17"/>
            <p:cNvSpPr/>
            <p:nvPr/>
          </p:nvSpPr>
          <p:spPr bwMode="auto">
            <a:xfrm>
              <a:off x="1884518" y="2100682"/>
              <a:ext cx="227459" cy="27241"/>
            </a:xfrm>
            <a:custGeom>
              <a:avLst/>
              <a:gdLst>
                <a:gd name="T0" fmla="*/ 0 w 1336"/>
                <a:gd name="T1" fmla="*/ 0 h 160"/>
                <a:gd name="T2" fmla="*/ 3 w 1336"/>
                <a:gd name="T3" fmla="*/ 36 h 160"/>
                <a:gd name="T4" fmla="*/ 15 w 1336"/>
                <a:gd name="T5" fmla="*/ 68 h 160"/>
                <a:gd name="T6" fmla="*/ 34 w 1336"/>
                <a:gd name="T7" fmla="*/ 99 h 160"/>
                <a:gd name="T8" fmla="*/ 57 w 1336"/>
                <a:gd name="T9" fmla="*/ 122 h 160"/>
                <a:gd name="T10" fmla="*/ 86 w 1336"/>
                <a:gd name="T11" fmla="*/ 142 h 160"/>
                <a:gd name="T12" fmla="*/ 119 w 1336"/>
                <a:gd name="T13" fmla="*/ 154 h 160"/>
                <a:gd name="T14" fmla="*/ 154 w 1336"/>
                <a:gd name="T15" fmla="*/ 160 h 160"/>
                <a:gd name="T16" fmla="*/ 1336 w 1336"/>
                <a:gd name="T17" fmla="*/ 160 h 160"/>
                <a:gd name="T18" fmla="*/ 1336 w 1336"/>
                <a:gd name="T19" fmla="*/ 0 h 160"/>
                <a:gd name="T20" fmla="*/ 0 w 1336"/>
                <a:gd name="T21"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6" h="160">
                  <a:moveTo>
                    <a:pt x="0" y="0"/>
                  </a:moveTo>
                  <a:lnTo>
                    <a:pt x="3" y="36"/>
                  </a:lnTo>
                  <a:lnTo>
                    <a:pt x="15" y="68"/>
                  </a:lnTo>
                  <a:lnTo>
                    <a:pt x="34" y="99"/>
                  </a:lnTo>
                  <a:lnTo>
                    <a:pt x="57" y="122"/>
                  </a:lnTo>
                  <a:lnTo>
                    <a:pt x="86" y="142"/>
                  </a:lnTo>
                  <a:lnTo>
                    <a:pt x="119" y="154"/>
                  </a:lnTo>
                  <a:lnTo>
                    <a:pt x="154" y="160"/>
                  </a:lnTo>
                  <a:lnTo>
                    <a:pt x="1336" y="160"/>
                  </a:lnTo>
                  <a:lnTo>
                    <a:pt x="1336" y="0"/>
                  </a:lnTo>
                  <a:lnTo>
                    <a:pt x="0" y="0"/>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3" name="Freeform 18"/>
            <p:cNvSpPr/>
            <p:nvPr/>
          </p:nvSpPr>
          <p:spPr bwMode="auto">
            <a:xfrm>
              <a:off x="2106870" y="2086891"/>
              <a:ext cx="27411" cy="54652"/>
            </a:xfrm>
            <a:custGeom>
              <a:avLst/>
              <a:gdLst>
                <a:gd name="T0" fmla="*/ 0 w 161"/>
                <a:gd name="T1" fmla="*/ 0 h 321"/>
                <a:gd name="T2" fmla="*/ 0 w 161"/>
                <a:gd name="T3" fmla="*/ 321 h 321"/>
                <a:gd name="T4" fmla="*/ 33 w 161"/>
                <a:gd name="T5" fmla="*/ 317 h 321"/>
                <a:gd name="T6" fmla="*/ 63 w 161"/>
                <a:gd name="T7" fmla="*/ 308 h 321"/>
                <a:gd name="T8" fmla="*/ 90 w 161"/>
                <a:gd name="T9" fmla="*/ 293 h 321"/>
                <a:gd name="T10" fmla="*/ 114 w 161"/>
                <a:gd name="T11" fmla="*/ 274 h 321"/>
                <a:gd name="T12" fmla="*/ 134 w 161"/>
                <a:gd name="T13" fmla="*/ 250 h 321"/>
                <a:gd name="T14" fmla="*/ 148 w 161"/>
                <a:gd name="T15" fmla="*/ 223 h 321"/>
                <a:gd name="T16" fmla="*/ 157 w 161"/>
                <a:gd name="T17" fmla="*/ 193 h 321"/>
                <a:gd name="T18" fmla="*/ 161 w 161"/>
                <a:gd name="T19" fmla="*/ 161 h 321"/>
                <a:gd name="T20" fmla="*/ 157 w 161"/>
                <a:gd name="T21" fmla="*/ 129 h 321"/>
                <a:gd name="T22" fmla="*/ 148 w 161"/>
                <a:gd name="T23" fmla="*/ 98 h 321"/>
                <a:gd name="T24" fmla="*/ 134 w 161"/>
                <a:gd name="T25" fmla="*/ 71 h 321"/>
                <a:gd name="T26" fmla="*/ 114 w 161"/>
                <a:gd name="T27" fmla="*/ 47 h 321"/>
                <a:gd name="T28" fmla="*/ 90 w 161"/>
                <a:gd name="T29" fmla="*/ 28 h 321"/>
                <a:gd name="T30" fmla="*/ 63 w 161"/>
                <a:gd name="T31" fmla="*/ 13 h 321"/>
                <a:gd name="T32" fmla="*/ 33 w 161"/>
                <a:gd name="T33" fmla="*/ 4 h 321"/>
                <a:gd name="T34" fmla="*/ 0 w 161"/>
                <a:gd name="T35" fmla="*/ 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321">
                  <a:moveTo>
                    <a:pt x="0" y="0"/>
                  </a:moveTo>
                  <a:lnTo>
                    <a:pt x="0" y="321"/>
                  </a:lnTo>
                  <a:lnTo>
                    <a:pt x="33" y="317"/>
                  </a:lnTo>
                  <a:lnTo>
                    <a:pt x="63" y="308"/>
                  </a:lnTo>
                  <a:lnTo>
                    <a:pt x="90" y="293"/>
                  </a:lnTo>
                  <a:lnTo>
                    <a:pt x="114" y="274"/>
                  </a:lnTo>
                  <a:lnTo>
                    <a:pt x="134" y="250"/>
                  </a:lnTo>
                  <a:lnTo>
                    <a:pt x="148" y="223"/>
                  </a:lnTo>
                  <a:lnTo>
                    <a:pt x="157" y="193"/>
                  </a:lnTo>
                  <a:lnTo>
                    <a:pt x="161" y="161"/>
                  </a:lnTo>
                  <a:lnTo>
                    <a:pt x="157" y="129"/>
                  </a:lnTo>
                  <a:lnTo>
                    <a:pt x="148" y="98"/>
                  </a:lnTo>
                  <a:lnTo>
                    <a:pt x="134" y="71"/>
                  </a:lnTo>
                  <a:lnTo>
                    <a:pt x="114" y="47"/>
                  </a:lnTo>
                  <a:lnTo>
                    <a:pt x="90" y="28"/>
                  </a:lnTo>
                  <a:lnTo>
                    <a:pt x="63" y="13"/>
                  </a:lnTo>
                  <a:lnTo>
                    <a:pt x="33" y="4"/>
                  </a:lnTo>
                  <a:lnTo>
                    <a:pt x="0" y="0"/>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4" name="Freeform 19"/>
            <p:cNvSpPr/>
            <p:nvPr/>
          </p:nvSpPr>
          <p:spPr bwMode="auto">
            <a:xfrm>
              <a:off x="1870558" y="1878330"/>
              <a:ext cx="54652" cy="46650"/>
            </a:xfrm>
            <a:custGeom>
              <a:avLst/>
              <a:gdLst>
                <a:gd name="T0" fmla="*/ 274 w 321"/>
                <a:gd name="T1" fmla="*/ 274 h 274"/>
                <a:gd name="T2" fmla="*/ 294 w 321"/>
                <a:gd name="T3" fmla="*/ 250 h 274"/>
                <a:gd name="T4" fmla="*/ 308 w 321"/>
                <a:gd name="T5" fmla="*/ 222 h 274"/>
                <a:gd name="T6" fmla="*/ 317 w 321"/>
                <a:gd name="T7" fmla="*/ 192 h 274"/>
                <a:gd name="T8" fmla="*/ 321 w 321"/>
                <a:gd name="T9" fmla="*/ 160 h 274"/>
                <a:gd name="T10" fmla="*/ 317 w 321"/>
                <a:gd name="T11" fmla="*/ 128 h 274"/>
                <a:gd name="T12" fmla="*/ 308 w 321"/>
                <a:gd name="T13" fmla="*/ 98 h 274"/>
                <a:gd name="T14" fmla="*/ 294 w 321"/>
                <a:gd name="T15" fmla="*/ 71 h 274"/>
                <a:gd name="T16" fmla="*/ 274 w 321"/>
                <a:gd name="T17" fmla="*/ 47 h 274"/>
                <a:gd name="T18" fmla="*/ 251 w 321"/>
                <a:gd name="T19" fmla="*/ 27 h 274"/>
                <a:gd name="T20" fmla="*/ 223 w 321"/>
                <a:gd name="T21" fmla="*/ 13 h 274"/>
                <a:gd name="T22" fmla="*/ 193 w 321"/>
                <a:gd name="T23" fmla="*/ 4 h 274"/>
                <a:gd name="T24" fmla="*/ 161 w 321"/>
                <a:gd name="T25" fmla="*/ 0 h 274"/>
                <a:gd name="T26" fmla="*/ 129 w 321"/>
                <a:gd name="T27" fmla="*/ 4 h 274"/>
                <a:gd name="T28" fmla="*/ 99 w 321"/>
                <a:gd name="T29" fmla="*/ 13 h 274"/>
                <a:gd name="T30" fmla="*/ 71 w 321"/>
                <a:gd name="T31" fmla="*/ 27 h 274"/>
                <a:gd name="T32" fmla="*/ 47 w 321"/>
                <a:gd name="T33" fmla="*/ 47 h 274"/>
                <a:gd name="T34" fmla="*/ 28 w 321"/>
                <a:gd name="T35" fmla="*/ 71 h 274"/>
                <a:gd name="T36" fmla="*/ 13 w 321"/>
                <a:gd name="T37" fmla="*/ 98 h 274"/>
                <a:gd name="T38" fmla="*/ 4 w 321"/>
                <a:gd name="T39" fmla="*/ 128 h 274"/>
                <a:gd name="T40" fmla="*/ 0 w 321"/>
                <a:gd name="T41" fmla="*/ 160 h 274"/>
                <a:gd name="T42" fmla="*/ 161 w 321"/>
                <a:gd name="T43" fmla="*/ 160 h 274"/>
                <a:gd name="T44" fmla="*/ 274 w 321"/>
                <a:gd name="T45"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21" h="274">
                  <a:moveTo>
                    <a:pt x="274" y="274"/>
                  </a:moveTo>
                  <a:lnTo>
                    <a:pt x="294" y="250"/>
                  </a:lnTo>
                  <a:lnTo>
                    <a:pt x="308" y="222"/>
                  </a:lnTo>
                  <a:lnTo>
                    <a:pt x="317" y="192"/>
                  </a:lnTo>
                  <a:lnTo>
                    <a:pt x="321" y="160"/>
                  </a:lnTo>
                  <a:lnTo>
                    <a:pt x="317" y="128"/>
                  </a:lnTo>
                  <a:lnTo>
                    <a:pt x="308" y="98"/>
                  </a:lnTo>
                  <a:lnTo>
                    <a:pt x="294" y="71"/>
                  </a:lnTo>
                  <a:lnTo>
                    <a:pt x="274" y="47"/>
                  </a:lnTo>
                  <a:lnTo>
                    <a:pt x="251" y="27"/>
                  </a:lnTo>
                  <a:lnTo>
                    <a:pt x="223" y="13"/>
                  </a:lnTo>
                  <a:lnTo>
                    <a:pt x="193" y="4"/>
                  </a:lnTo>
                  <a:lnTo>
                    <a:pt x="161" y="0"/>
                  </a:lnTo>
                  <a:lnTo>
                    <a:pt x="129" y="4"/>
                  </a:lnTo>
                  <a:lnTo>
                    <a:pt x="99" y="13"/>
                  </a:lnTo>
                  <a:lnTo>
                    <a:pt x="71" y="27"/>
                  </a:lnTo>
                  <a:lnTo>
                    <a:pt x="47" y="47"/>
                  </a:lnTo>
                  <a:lnTo>
                    <a:pt x="28" y="71"/>
                  </a:lnTo>
                  <a:lnTo>
                    <a:pt x="13" y="98"/>
                  </a:lnTo>
                  <a:lnTo>
                    <a:pt x="4" y="128"/>
                  </a:lnTo>
                  <a:lnTo>
                    <a:pt x="0" y="160"/>
                  </a:lnTo>
                  <a:lnTo>
                    <a:pt x="161" y="160"/>
                  </a:lnTo>
                  <a:lnTo>
                    <a:pt x="274" y="274"/>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5" name="Freeform 20"/>
            <p:cNvSpPr/>
            <p:nvPr/>
          </p:nvSpPr>
          <p:spPr bwMode="auto">
            <a:xfrm>
              <a:off x="1490040" y="1878330"/>
              <a:ext cx="54652" cy="54652"/>
            </a:xfrm>
            <a:custGeom>
              <a:avLst/>
              <a:gdLst>
                <a:gd name="T0" fmla="*/ 160 w 321"/>
                <a:gd name="T1" fmla="*/ 257 h 321"/>
                <a:gd name="T2" fmla="*/ 162 w 321"/>
                <a:gd name="T3" fmla="*/ 257 h 321"/>
                <a:gd name="T4" fmla="*/ 161 w 321"/>
                <a:gd name="T5" fmla="*/ 249 h 321"/>
                <a:gd name="T6" fmla="*/ 160 w 321"/>
                <a:gd name="T7" fmla="*/ 241 h 321"/>
                <a:gd name="T8" fmla="*/ 163 w 321"/>
                <a:gd name="T9" fmla="*/ 216 h 321"/>
                <a:gd name="T10" fmla="*/ 174 w 321"/>
                <a:gd name="T11" fmla="*/ 195 h 321"/>
                <a:gd name="T12" fmla="*/ 190 w 321"/>
                <a:gd name="T13" fmla="*/ 178 h 321"/>
                <a:gd name="T14" fmla="*/ 211 w 321"/>
                <a:gd name="T15" fmla="*/ 166 h 321"/>
                <a:gd name="T16" fmla="*/ 234 w 321"/>
                <a:gd name="T17" fmla="*/ 161 h 321"/>
                <a:gd name="T18" fmla="*/ 234 w 321"/>
                <a:gd name="T19" fmla="*/ 160 h 321"/>
                <a:gd name="T20" fmla="*/ 321 w 321"/>
                <a:gd name="T21" fmla="*/ 160 h 321"/>
                <a:gd name="T22" fmla="*/ 317 w 321"/>
                <a:gd name="T23" fmla="*/ 128 h 321"/>
                <a:gd name="T24" fmla="*/ 308 w 321"/>
                <a:gd name="T25" fmla="*/ 98 h 321"/>
                <a:gd name="T26" fmla="*/ 293 w 321"/>
                <a:gd name="T27" fmla="*/ 71 h 321"/>
                <a:gd name="T28" fmla="*/ 274 w 321"/>
                <a:gd name="T29" fmla="*/ 47 h 321"/>
                <a:gd name="T30" fmla="*/ 250 w 321"/>
                <a:gd name="T31" fmla="*/ 27 h 321"/>
                <a:gd name="T32" fmla="*/ 222 w 321"/>
                <a:gd name="T33" fmla="*/ 13 h 321"/>
                <a:gd name="T34" fmla="*/ 192 w 321"/>
                <a:gd name="T35" fmla="*/ 4 h 321"/>
                <a:gd name="T36" fmla="*/ 160 w 321"/>
                <a:gd name="T37" fmla="*/ 0 h 321"/>
                <a:gd name="T38" fmla="*/ 128 w 321"/>
                <a:gd name="T39" fmla="*/ 4 h 321"/>
                <a:gd name="T40" fmla="*/ 98 w 321"/>
                <a:gd name="T41" fmla="*/ 13 h 321"/>
                <a:gd name="T42" fmla="*/ 70 w 321"/>
                <a:gd name="T43" fmla="*/ 27 h 321"/>
                <a:gd name="T44" fmla="*/ 47 w 321"/>
                <a:gd name="T45" fmla="*/ 47 h 321"/>
                <a:gd name="T46" fmla="*/ 27 w 321"/>
                <a:gd name="T47" fmla="*/ 71 h 321"/>
                <a:gd name="T48" fmla="*/ 13 w 321"/>
                <a:gd name="T49" fmla="*/ 98 h 321"/>
                <a:gd name="T50" fmla="*/ 4 w 321"/>
                <a:gd name="T51" fmla="*/ 128 h 321"/>
                <a:gd name="T52" fmla="*/ 0 w 321"/>
                <a:gd name="T53" fmla="*/ 160 h 321"/>
                <a:gd name="T54" fmla="*/ 4 w 321"/>
                <a:gd name="T55" fmla="*/ 192 h 321"/>
                <a:gd name="T56" fmla="*/ 13 w 321"/>
                <a:gd name="T57" fmla="*/ 222 h 321"/>
                <a:gd name="T58" fmla="*/ 27 w 321"/>
                <a:gd name="T59" fmla="*/ 250 h 321"/>
                <a:gd name="T60" fmla="*/ 47 w 321"/>
                <a:gd name="T61" fmla="*/ 274 h 321"/>
                <a:gd name="T62" fmla="*/ 70 w 321"/>
                <a:gd name="T63" fmla="*/ 293 h 321"/>
                <a:gd name="T64" fmla="*/ 98 w 321"/>
                <a:gd name="T65" fmla="*/ 308 h 321"/>
                <a:gd name="T66" fmla="*/ 128 w 321"/>
                <a:gd name="T67" fmla="*/ 317 h 321"/>
                <a:gd name="T68" fmla="*/ 160 w 321"/>
                <a:gd name="T69" fmla="*/ 321 h 321"/>
                <a:gd name="T70" fmla="*/ 160 w 321"/>
                <a:gd name="T71" fmla="*/ 257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1" h="321">
                  <a:moveTo>
                    <a:pt x="160" y="257"/>
                  </a:moveTo>
                  <a:lnTo>
                    <a:pt x="162" y="257"/>
                  </a:lnTo>
                  <a:lnTo>
                    <a:pt x="161" y="249"/>
                  </a:lnTo>
                  <a:lnTo>
                    <a:pt x="160" y="241"/>
                  </a:lnTo>
                  <a:lnTo>
                    <a:pt x="163" y="216"/>
                  </a:lnTo>
                  <a:lnTo>
                    <a:pt x="174" y="195"/>
                  </a:lnTo>
                  <a:lnTo>
                    <a:pt x="190" y="178"/>
                  </a:lnTo>
                  <a:lnTo>
                    <a:pt x="211" y="166"/>
                  </a:lnTo>
                  <a:lnTo>
                    <a:pt x="234" y="161"/>
                  </a:lnTo>
                  <a:lnTo>
                    <a:pt x="234" y="160"/>
                  </a:lnTo>
                  <a:lnTo>
                    <a:pt x="321" y="160"/>
                  </a:lnTo>
                  <a:lnTo>
                    <a:pt x="317" y="128"/>
                  </a:lnTo>
                  <a:lnTo>
                    <a:pt x="308" y="98"/>
                  </a:lnTo>
                  <a:lnTo>
                    <a:pt x="293" y="71"/>
                  </a:lnTo>
                  <a:lnTo>
                    <a:pt x="274" y="47"/>
                  </a:lnTo>
                  <a:lnTo>
                    <a:pt x="250" y="27"/>
                  </a:lnTo>
                  <a:lnTo>
                    <a:pt x="222" y="13"/>
                  </a:lnTo>
                  <a:lnTo>
                    <a:pt x="192" y="4"/>
                  </a:lnTo>
                  <a:lnTo>
                    <a:pt x="160" y="0"/>
                  </a:lnTo>
                  <a:lnTo>
                    <a:pt x="128" y="4"/>
                  </a:lnTo>
                  <a:lnTo>
                    <a:pt x="98" y="13"/>
                  </a:lnTo>
                  <a:lnTo>
                    <a:pt x="70" y="27"/>
                  </a:lnTo>
                  <a:lnTo>
                    <a:pt x="47" y="47"/>
                  </a:lnTo>
                  <a:lnTo>
                    <a:pt x="27" y="71"/>
                  </a:lnTo>
                  <a:lnTo>
                    <a:pt x="13" y="98"/>
                  </a:lnTo>
                  <a:lnTo>
                    <a:pt x="4" y="128"/>
                  </a:lnTo>
                  <a:lnTo>
                    <a:pt x="0" y="160"/>
                  </a:lnTo>
                  <a:lnTo>
                    <a:pt x="4" y="192"/>
                  </a:lnTo>
                  <a:lnTo>
                    <a:pt x="13" y="222"/>
                  </a:lnTo>
                  <a:lnTo>
                    <a:pt x="27" y="250"/>
                  </a:lnTo>
                  <a:lnTo>
                    <a:pt x="47" y="274"/>
                  </a:lnTo>
                  <a:lnTo>
                    <a:pt x="70" y="293"/>
                  </a:lnTo>
                  <a:lnTo>
                    <a:pt x="98" y="308"/>
                  </a:lnTo>
                  <a:lnTo>
                    <a:pt x="128" y="317"/>
                  </a:lnTo>
                  <a:lnTo>
                    <a:pt x="160" y="321"/>
                  </a:lnTo>
                  <a:lnTo>
                    <a:pt x="160" y="257"/>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6" name="Freeform 21"/>
            <p:cNvSpPr/>
            <p:nvPr/>
          </p:nvSpPr>
          <p:spPr bwMode="auto">
            <a:xfrm>
              <a:off x="1490040" y="1878330"/>
              <a:ext cx="407928" cy="734646"/>
            </a:xfrm>
            <a:custGeom>
              <a:avLst/>
              <a:gdLst>
                <a:gd name="T0" fmla="*/ 160 w 2396"/>
                <a:gd name="T1" fmla="*/ 0 h 4315"/>
                <a:gd name="T2" fmla="*/ 128 w 2396"/>
                <a:gd name="T3" fmla="*/ 4 h 4315"/>
                <a:gd name="T4" fmla="*/ 98 w 2396"/>
                <a:gd name="T5" fmla="*/ 13 h 4315"/>
                <a:gd name="T6" fmla="*/ 70 w 2396"/>
                <a:gd name="T7" fmla="*/ 27 h 4315"/>
                <a:gd name="T8" fmla="*/ 47 w 2396"/>
                <a:gd name="T9" fmla="*/ 47 h 4315"/>
                <a:gd name="T10" fmla="*/ 27 w 2396"/>
                <a:gd name="T11" fmla="*/ 71 h 4315"/>
                <a:gd name="T12" fmla="*/ 13 w 2396"/>
                <a:gd name="T13" fmla="*/ 98 h 4315"/>
                <a:gd name="T14" fmla="*/ 4 w 2396"/>
                <a:gd name="T15" fmla="*/ 128 h 4315"/>
                <a:gd name="T16" fmla="*/ 0 w 2396"/>
                <a:gd name="T17" fmla="*/ 160 h 4315"/>
                <a:gd name="T18" fmla="*/ 0 w 2396"/>
                <a:gd name="T19" fmla="*/ 4155 h 4315"/>
                <a:gd name="T20" fmla="*/ 4 w 2396"/>
                <a:gd name="T21" fmla="*/ 4188 h 4315"/>
                <a:gd name="T22" fmla="*/ 13 w 2396"/>
                <a:gd name="T23" fmla="*/ 4218 h 4315"/>
                <a:gd name="T24" fmla="*/ 27 w 2396"/>
                <a:gd name="T25" fmla="*/ 4245 h 4315"/>
                <a:gd name="T26" fmla="*/ 47 w 2396"/>
                <a:gd name="T27" fmla="*/ 4269 h 4315"/>
                <a:gd name="T28" fmla="*/ 70 w 2396"/>
                <a:gd name="T29" fmla="*/ 4289 h 4315"/>
                <a:gd name="T30" fmla="*/ 98 w 2396"/>
                <a:gd name="T31" fmla="*/ 4303 h 4315"/>
                <a:gd name="T32" fmla="*/ 128 w 2396"/>
                <a:gd name="T33" fmla="*/ 4312 h 4315"/>
                <a:gd name="T34" fmla="*/ 160 w 2396"/>
                <a:gd name="T35" fmla="*/ 4315 h 4315"/>
                <a:gd name="T36" fmla="*/ 160 w 2396"/>
                <a:gd name="T37" fmla="*/ 160 h 4315"/>
                <a:gd name="T38" fmla="*/ 2396 w 2396"/>
                <a:gd name="T39" fmla="*/ 160 h 4315"/>
                <a:gd name="T40" fmla="*/ 2396 w 2396"/>
                <a:gd name="T41" fmla="*/ 0 h 4315"/>
                <a:gd name="T42" fmla="*/ 160 w 2396"/>
                <a:gd name="T43" fmla="*/ 0 h 4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96" h="4315">
                  <a:moveTo>
                    <a:pt x="160" y="0"/>
                  </a:moveTo>
                  <a:lnTo>
                    <a:pt x="128" y="4"/>
                  </a:lnTo>
                  <a:lnTo>
                    <a:pt x="98" y="13"/>
                  </a:lnTo>
                  <a:lnTo>
                    <a:pt x="70" y="27"/>
                  </a:lnTo>
                  <a:lnTo>
                    <a:pt x="47" y="47"/>
                  </a:lnTo>
                  <a:lnTo>
                    <a:pt x="27" y="71"/>
                  </a:lnTo>
                  <a:lnTo>
                    <a:pt x="13" y="98"/>
                  </a:lnTo>
                  <a:lnTo>
                    <a:pt x="4" y="128"/>
                  </a:lnTo>
                  <a:lnTo>
                    <a:pt x="0" y="160"/>
                  </a:lnTo>
                  <a:lnTo>
                    <a:pt x="0" y="4155"/>
                  </a:lnTo>
                  <a:lnTo>
                    <a:pt x="4" y="4188"/>
                  </a:lnTo>
                  <a:lnTo>
                    <a:pt x="13" y="4218"/>
                  </a:lnTo>
                  <a:lnTo>
                    <a:pt x="27" y="4245"/>
                  </a:lnTo>
                  <a:lnTo>
                    <a:pt x="47" y="4269"/>
                  </a:lnTo>
                  <a:lnTo>
                    <a:pt x="70" y="4289"/>
                  </a:lnTo>
                  <a:lnTo>
                    <a:pt x="98" y="4303"/>
                  </a:lnTo>
                  <a:lnTo>
                    <a:pt x="128" y="4312"/>
                  </a:lnTo>
                  <a:lnTo>
                    <a:pt x="160" y="4315"/>
                  </a:lnTo>
                  <a:lnTo>
                    <a:pt x="160" y="160"/>
                  </a:lnTo>
                  <a:lnTo>
                    <a:pt x="2396" y="160"/>
                  </a:lnTo>
                  <a:lnTo>
                    <a:pt x="2396" y="0"/>
                  </a:lnTo>
                  <a:lnTo>
                    <a:pt x="160" y="0"/>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7" name="Freeform 22"/>
            <p:cNvSpPr/>
            <p:nvPr/>
          </p:nvSpPr>
          <p:spPr bwMode="auto">
            <a:xfrm>
              <a:off x="1490040" y="2558494"/>
              <a:ext cx="54311" cy="54481"/>
            </a:xfrm>
            <a:custGeom>
              <a:avLst/>
              <a:gdLst>
                <a:gd name="T0" fmla="*/ 240 w 319"/>
                <a:gd name="T1" fmla="*/ 161 h 320"/>
                <a:gd name="T2" fmla="*/ 219 w 319"/>
                <a:gd name="T3" fmla="*/ 159 h 320"/>
                <a:gd name="T4" fmla="*/ 200 w 319"/>
                <a:gd name="T5" fmla="*/ 150 h 320"/>
                <a:gd name="T6" fmla="*/ 183 w 319"/>
                <a:gd name="T7" fmla="*/ 138 h 320"/>
                <a:gd name="T8" fmla="*/ 171 w 319"/>
                <a:gd name="T9" fmla="*/ 122 h 320"/>
                <a:gd name="T10" fmla="*/ 162 w 319"/>
                <a:gd name="T11" fmla="*/ 102 h 320"/>
                <a:gd name="T12" fmla="*/ 160 w 319"/>
                <a:gd name="T13" fmla="*/ 81 h 320"/>
                <a:gd name="T14" fmla="*/ 160 w 319"/>
                <a:gd name="T15" fmla="*/ 0 h 320"/>
                <a:gd name="T16" fmla="*/ 128 w 319"/>
                <a:gd name="T17" fmla="*/ 4 h 320"/>
                <a:gd name="T18" fmla="*/ 98 w 319"/>
                <a:gd name="T19" fmla="*/ 13 h 320"/>
                <a:gd name="T20" fmla="*/ 70 w 319"/>
                <a:gd name="T21" fmla="*/ 28 h 320"/>
                <a:gd name="T22" fmla="*/ 47 w 319"/>
                <a:gd name="T23" fmla="*/ 47 h 320"/>
                <a:gd name="T24" fmla="*/ 27 w 319"/>
                <a:gd name="T25" fmla="*/ 71 h 320"/>
                <a:gd name="T26" fmla="*/ 13 w 319"/>
                <a:gd name="T27" fmla="*/ 98 h 320"/>
                <a:gd name="T28" fmla="*/ 4 w 319"/>
                <a:gd name="T29" fmla="*/ 129 h 320"/>
                <a:gd name="T30" fmla="*/ 0 w 319"/>
                <a:gd name="T31" fmla="*/ 160 h 320"/>
                <a:gd name="T32" fmla="*/ 4 w 319"/>
                <a:gd name="T33" fmla="*/ 193 h 320"/>
                <a:gd name="T34" fmla="*/ 13 w 319"/>
                <a:gd name="T35" fmla="*/ 223 h 320"/>
                <a:gd name="T36" fmla="*/ 27 w 319"/>
                <a:gd name="T37" fmla="*/ 250 h 320"/>
                <a:gd name="T38" fmla="*/ 47 w 319"/>
                <a:gd name="T39" fmla="*/ 274 h 320"/>
                <a:gd name="T40" fmla="*/ 70 w 319"/>
                <a:gd name="T41" fmla="*/ 294 h 320"/>
                <a:gd name="T42" fmla="*/ 98 w 319"/>
                <a:gd name="T43" fmla="*/ 308 h 320"/>
                <a:gd name="T44" fmla="*/ 128 w 319"/>
                <a:gd name="T45" fmla="*/ 317 h 320"/>
                <a:gd name="T46" fmla="*/ 160 w 319"/>
                <a:gd name="T47" fmla="*/ 320 h 320"/>
                <a:gd name="T48" fmla="*/ 192 w 319"/>
                <a:gd name="T49" fmla="*/ 317 h 320"/>
                <a:gd name="T50" fmla="*/ 222 w 319"/>
                <a:gd name="T51" fmla="*/ 308 h 320"/>
                <a:gd name="T52" fmla="*/ 249 w 319"/>
                <a:gd name="T53" fmla="*/ 294 h 320"/>
                <a:gd name="T54" fmla="*/ 274 w 319"/>
                <a:gd name="T55" fmla="*/ 274 h 320"/>
                <a:gd name="T56" fmla="*/ 292 w 319"/>
                <a:gd name="T57" fmla="*/ 250 h 320"/>
                <a:gd name="T58" fmla="*/ 308 w 319"/>
                <a:gd name="T59" fmla="*/ 223 h 320"/>
                <a:gd name="T60" fmla="*/ 317 w 319"/>
                <a:gd name="T61" fmla="*/ 193 h 320"/>
                <a:gd name="T62" fmla="*/ 319 w 319"/>
                <a:gd name="T63" fmla="*/ 161 h 320"/>
                <a:gd name="T64" fmla="*/ 240 w 319"/>
                <a:gd name="T65" fmla="*/ 161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9" h="320">
                  <a:moveTo>
                    <a:pt x="240" y="161"/>
                  </a:moveTo>
                  <a:lnTo>
                    <a:pt x="219" y="159"/>
                  </a:lnTo>
                  <a:lnTo>
                    <a:pt x="200" y="150"/>
                  </a:lnTo>
                  <a:lnTo>
                    <a:pt x="183" y="138"/>
                  </a:lnTo>
                  <a:lnTo>
                    <a:pt x="171" y="122"/>
                  </a:lnTo>
                  <a:lnTo>
                    <a:pt x="162" y="102"/>
                  </a:lnTo>
                  <a:lnTo>
                    <a:pt x="160" y="81"/>
                  </a:lnTo>
                  <a:lnTo>
                    <a:pt x="160" y="0"/>
                  </a:lnTo>
                  <a:lnTo>
                    <a:pt x="128" y="4"/>
                  </a:lnTo>
                  <a:lnTo>
                    <a:pt x="98" y="13"/>
                  </a:lnTo>
                  <a:lnTo>
                    <a:pt x="70" y="28"/>
                  </a:lnTo>
                  <a:lnTo>
                    <a:pt x="47" y="47"/>
                  </a:lnTo>
                  <a:lnTo>
                    <a:pt x="27" y="71"/>
                  </a:lnTo>
                  <a:lnTo>
                    <a:pt x="13" y="98"/>
                  </a:lnTo>
                  <a:lnTo>
                    <a:pt x="4" y="129"/>
                  </a:lnTo>
                  <a:lnTo>
                    <a:pt x="0" y="160"/>
                  </a:lnTo>
                  <a:lnTo>
                    <a:pt x="4" y="193"/>
                  </a:lnTo>
                  <a:lnTo>
                    <a:pt x="13" y="223"/>
                  </a:lnTo>
                  <a:lnTo>
                    <a:pt x="27" y="250"/>
                  </a:lnTo>
                  <a:lnTo>
                    <a:pt x="47" y="274"/>
                  </a:lnTo>
                  <a:lnTo>
                    <a:pt x="70" y="294"/>
                  </a:lnTo>
                  <a:lnTo>
                    <a:pt x="98" y="308"/>
                  </a:lnTo>
                  <a:lnTo>
                    <a:pt x="128" y="317"/>
                  </a:lnTo>
                  <a:lnTo>
                    <a:pt x="160" y="320"/>
                  </a:lnTo>
                  <a:lnTo>
                    <a:pt x="192" y="317"/>
                  </a:lnTo>
                  <a:lnTo>
                    <a:pt x="222" y="308"/>
                  </a:lnTo>
                  <a:lnTo>
                    <a:pt x="249" y="294"/>
                  </a:lnTo>
                  <a:lnTo>
                    <a:pt x="274" y="274"/>
                  </a:lnTo>
                  <a:lnTo>
                    <a:pt x="292" y="250"/>
                  </a:lnTo>
                  <a:lnTo>
                    <a:pt x="308" y="223"/>
                  </a:lnTo>
                  <a:lnTo>
                    <a:pt x="317" y="193"/>
                  </a:lnTo>
                  <a:lnTo>
                    <a:pt x="319" y="161"/>
                  </a:lnTo>
                  <a:lnTo>
                    <a:pt x="240" y="161"/>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8" name="Freeform 23"/>
            <p:cNvSpPr/>
            <p:nvPr/>
          </p:nvSpPr>
          <p:spPr bwMode="auto">
            <a:xfrm>
              <a:off x="2079629" y="2558494"/>
              <a:ext cx="54652" cy="54481"/>
            </a:xfrm>
            <a:custGeom>
              <a:avLst/>
              <a:gdLst>
                <a:gd name="T0" fmla="*/ 160 w 321"/>
                <a:gd name="T1" fmla="*/ 0 h 320"/>
                <a:gd name="T2" fmla="*/ 160 w 321"/>
                <a:gd name="T3" fmla="*/ 81 h 320"/>
                <a:gd name="T4" fmla="*/ 157 w 321"/>
                <a:gd name="T5" fmla="*/ 102 h 320"/>
                <a:gd name="T6" fmla="*/ 150 w 321"/>
                <a:gd name="T7" fmla="*/ 122 h 320"/>
                <a:gd name="T8" fmla="*/ 138 w 321"/>
                <a:gd name="T9" fmla="*/ 138 h 320"/>
                <a:gd name="T10" fmla="*/ 121 w 321"/>
                <a:gd name="T11" fmla="*/ 150 h 320"/>
                <a:gd name="T12" fmla="*/ 102 w 321"/>
                <a:gd name="T13" fmla="*/ 159 h 320"/>
                <a:gd name="T14" fmla="*/ 80 w 321"/>
                <a:gd name="T15" fmla="*/ 161 h 320"/>
                <a:gd name="T16" fmla="*/ 0 w 321"/>
                <a:gd name="T17" fmla="*/ 161 h 320"/>
                <a:gd name="T18" fmla="*/ 4 w 321"/>
                <a:gd name="T19" fmla="*/ 193 h 320"/>
                <a:gd name="T20" fmla="*/ 13 w 321"/>
                <a:gd name="T21" fmla="*/ 223 h 320"/>
                <a:gd name="T22" fmla="*/ 28 w 321"/>
                <a:gd name="T23" fmla="*/ 250 h 320"/>
                <a:gd name="T24" fmla="*/ 47 w 321"/>
                <a:gd name="T25" fmla="*/ 274 h 320"/>
                <a:gd name="T26" fmla="*/ 71 w 321"/>
                <a:gd name="T27" fmla="*/ 294 h 320"/>
                <a:gd name="T28" fmla="*/ 98 w 321"/>
                <a:gd name="T29" fmla="*/ 308 h 320"/>
                <a:gd name="T30" fmla="*/ 129 w 321"/>
                <a:gd name="T31" fmla="*/ 317 h 320"/>
                <a:gd name="T32" fmla="*/ 160 w 321"/>
                <a:gd name="T33" fmla="*/ 320 h 320"/>
                <a:gd name="T34" fmla="*/ 193 w 321"/>
                <a:gd name="T35" fmla="*/ 317 h 320"/>
                <a:gd name="T36" fmla="*/ 223 w 321"/>
                <a:gd name="T37" fmla="*/ 308 h 320"/>
                <a:gd name="T38" fmla="*/ 250 w 321"/>
                <a:gd name="T39" fmla="*/ 294 h 320"/>
                <a:gd name="T40" fmla="*/ 274 w 321"/>
                <a:gd name="T41" fmla="*/ 274 h 320"/>
                <a:gd name="T42" fmla="*/ 294 w 321"/>
                <a:gd name="T43" fmla="*/ 250 h 320"/>
                <a:gd name="T44" fmla="*/ 308 w 321"/>
                <a:gd name="T45" fmla="*/ 223 h 320"/>
                <a:gd name="T46" fmla="*/ 317 w 321"/>
                <a:gd name="T47" fmla="*/ 193 h 320"/>
                <a:gd name="T48" fmla="*/ 321 w 321"/>
                <a:gd name="T49" fmla="*/ 160 h 320"/>
                <a:gd name="T50" fmla="*/ 317 w 321"/>
                <a:gd name="T51" fmla="*/ 129 h 320"/>
                <a:gd name="T52" fmla="*/ 308 w 321"/>
                <a:gd name="T53" fmla="*/ 98 h 320"/>
                <a:gd name="T54" fmla="*/ 294 w 321"/>
                <a:gd name="T55" fmla="*/ 71 h 320"/>
                <a:gd name="T56" fmla="*/ 274 w 321"/>
                <a:gd name="T57" fmla="*/ 47 h 320"/>
                <a:gd name="T58" fmla="*/ 250 w 321"/>
                <a:gd name="T59" fmla="*/ 28 h 320"/>
                <a:gd name="T60" fmla="*/ 223 w 321"/>
                <a:gd name="T61" fmla="*/ 13 h 320"/>
                <a:gd name="T62" fmla="*/ 193 w 321"/>
                <a:gd name="T63" fmla="*/ 4 h 320"/>
                <a:gd name="T64" fmla="*/ 160 w 321"/>
                <a:gd name="T65" fmla="*/ 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1" h="320">
                  <a:moveTo>
                    <a:pt x="160" y="0"/>
                  </a:moveTo>
                  <a:lnTo>
                    <a:pt x="160" y="81"/>
                  </a:lnTo>
                  <a:lnTo>
                    <a:pt x="157" y="102"/>
                  </a:lnTo>
                  <a:lnTo>
                    <a:pt x="150" y="122"/>
                  </a:lnTo>
                  <a:lnTo>
                    <a:pt x="138" y="138"/>
                  </a:lnTo>
                  <a:lnTo>
                    <a:pt x="121" y="150"/>
                  </a:lnTo>
                  <a:lnTo>
                    <a:pt x="102" y="159"/>
                  </a:lnTo>
                  <a:lnTo>
                    <a:pt x="80" y="161"/>
                  </a:lnTo>
                  <a:lnTo>
                    <a:pt x="0" y="161"/>
                  </a:lnTo>
                  <a:lnTo>
                    <a:pt x="4" y="193"/>
                  </a:lnTo>
                  <a:lnTo>
                    <a:pt x="13" y="223"/>
                  </a:lnTo>
                  <a:lnTo>
                    <a:pt x="28" y="250"/>
                  </a:lnTo>
                  <a:lnTo>
                    <a:pt x="47" y="274"/>
                  </a:lnTo>
                  <a:lnTo>
                    <a:pt x="71" y="294"/>
                  </a:lnTo>
                  <a:lnTo>
                    <a:pt x="98" y="308"/>
                  </a:lnTo>
                  <a:lnTo>
                    <a:pt x="129" y="317"/>
                  </a:lnTo>
                  <a:lnTo>
                    <a:pt x="160" y="320"/>
                  </a:lnTo>
                  <a:lnTo>
                    <a:pt x="193" y="317"/>
                  </a:lnTo>
                  <a:lnTo>
                    <a:pt x="223" y="308"/>
                  </a:lnTo>
                  <a:lnTo>
                    <a:pt x="250" y="294"/>
                  </a:lnTo>
                  <a:lnTo>
                    <a:pt x="274" y="274"/>
                  </a:lnTo>
                  <a:lnTo>
                    <a:pt x="294" y="250"/>
                  </a:lnTo>
                  <a:lnTo>
                    <a:pt x="308" y="223"/>
                  </a:lnTo>
                  <a:lnTo>
                    <a:pt x="317" y="193"/>
                  </a:lnTo>
                  <a:lnTo>
                    <a:pt x="321" y="160"/>
                  </a:lnTo>
                  <a:lnTo>
                    <a:pt x="317" y="129"/>
                  </a:lnTo>
                  <a:lnTo>
                    <a:pt x="308" y="98"/>
                  </a:lnTo>
                  <a:lnTo>
                    <a:pt x="294" y="71"/>
                  </a:lnTo>
                  <a:lnTo>
                    <a:pt x="274" y="47"/>
                  </a:lnTo>
                  <a:lnTo>
                    <a:pt x="250" y="28"/>
                  </a:lnTo>
                  <a:lnTo>
                    <a:pt x="223" y="13"/>
                  </a:lnTo>
                  <a:lnTo>
                    <a:pt x="193" y="4"/>
                  </a:lnTo>
                  <a:lnTo>
                    <a:pt x="160" y="0"/>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9" name="Freeform 24"/>
            <p:cNvSpPr/>
            <p:nvPr/>
          </p:nvSpPr>
          <p:spPr bwMode="auto">
            <a:xfrm>
              <a:off x="1490040" y="2585905"/>
              <a:ext cx="644241" cy="27241"/>
            </a:xfrm>
            <a:custGeom>
              <a:avLst/>
              <a:gdLst>
                <a:gd name="T0" fmla="*/ 3623 w 3784"/>
                <a:gd name="T1" fmla="*/ 160 h 160"/>
                <a:gd name="T2" fmla="*/ 3623 w 3784"/>
                <a:gd name="T3" fmla="*/ 159 h 160"/>
                <a:gd name="T4" fmla="*/ 3656 w 3784"/>
                <a:gd name="T5" fmla="*/ 156 h 160"/>
                <a:gd name="T6" fmla="*/ 3686 w 3784"/>
                <a:gd name="T7" fmla="*/ 147 h 160"/>
                <a:gd name="T8" fmla="*/ 3713 w 3784"/>
                <a:gd name="T9" fmla="*/ 133 h 160"/>
                <a:gd name="T10" fmla="*/ 3737 w 3784"/>
                <a:gd name="T11" fmla="*/ 113 h 160"/>
                <a:gd name="T12" fmla="*/ 3757 w 3784"/>
                <a:gd name="T13" fmla="*/ 89 h 160"/>
                <a:gd name="T14" fmla="*/ 3771 w 3784"/>
                <a:gd name="T15" fmla="*/ 62 h 160"/>
                <a:gd name="T16" fmla="*/ 3780 w 3784"/>
                <a:gd name="T17" fmla="*/ 32 h 160"/>
                <a:gd name="T18" fmla="*/ 3784 w 3784"/>
                <a:gd name="T19" fmla="*/ 0 h 160"/>
                <a:gd name="T20" fmla="*/ 0 w 3784"/>
                <a:gd name="T21" fmla="*/ 0 h 160"/>
                <a:gd name="T22" fmla="*/ 4 w 3784"/>
                <a:gd name="T23" fmla="*/ 32 h 160"/>
                <a:gd name="T24" fmla="*/ 13 w 3784"/>
                <a:gd name="T25" fmla="*/ 62 h 160"/>
                <a:gd name="T26" fmla="*/ 27 w 3784"/>
                <a:gd name="T27" fmla="*/ 89 h 160"/>
                <a:gd name="T28" fmla="*/ 47 w 3784"/>
                <a:gd name="T29" fmla="*/ 113 h 160"/>
                <a:gd name="T30" fmla="*/ 70 w 3784"/>
                <a:gd name="T31" fmla="*/ 133 h 160"/>
                <a:gd name="T32" fmla="*/ 98 w 3784"/>
                <a:gd name="T33" fmla="*/ 147 h 160"/>
                <a:gd name="T34" fmla="*/ 128 w 3784"/>
                <a:gd name="T35" fmla="*/ 156 h 160"/>
                <a:gd name="T36" fmla="*/ 160 w 3784"/>
                <a:gd name="T37" fmla="*/ 159 h 160"/>
                <a:gd name="T38" fmla="*/ 160 w 3784"/>
                <a:gd name="T39" fmla="*/ 160 h 160"/>
                <a:gd name="T40" fmla="*/ 3623 w 3784"/>
                <a:gd name="T41"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84" h="160">
                  <a:moveTo>
                    <a:pt x="3623" y="160"/>
                  </a:moveTo>
                  <a:lnTo>
                    <a:pt x="3623" y="159"/>
                  </a:lnTo>
                  <a:lnTo>
                    <a:pt x="3656" y="156"/>
                  </a:lnTo>
                  <a:lnTo>
                    <a:pt x="3686" y="147"/>
                  </a:lnTo>
                  <a:lnTo>
                    <a:pt x="3713" y="133"/>
                  </a:lnTo>
                  <a:lnTo>
                    <a:pt x="3737" y="113"/>
                  </a:lnTo>
                  <a:lnTo>
                    <a:pt x="3757" y="89"/>
                  </a:lnTo>
                  <a:lnTo>
                    <a:pt x="3771" y="62"/>
                  </a:lnTo>
                  <a:lnTo>
                    <a:pt x="3780" y="32"/>
                  </a:lnTo>
                  <a:lnTo>
                    <a:pt x="3784" y="0"/>
                  </a:lnTo>
                  <a:lnTo>
                    <a:pt x="0" y="0"/>
                  </a:lnTo>
                  <a:lnTo>
                    <a:pt x="4" y="32"/>
                  </a:lnTo>
                  <a:lnTo>
                    <a:pt x="13" y="62"/>
                  </a:lnTo>
                  <a:lnTo>
                    <a:pt x="27" y="89"/>
                  </a:lnTo>
                  <a:lnTo>
                    <a:pt x="47" y="113"/>
                  </a:lnTo>
                  <a:lnTo>
                    <a:pt x="70" y="133"/>
                  </a:lnTo>
                  <a:lnTo>
                    <a:pt x="98" y="147"/>
                  </a:lnTo>
                  <a:lnTo>
                    <a:pt x="128" y="156"/>
                  </a:lnTo>
                  <a:lnTo>
                    <a:pt x="160" y="159"/>
                  </a:lnTo>
                  <a:lnTo>
                    <a:pt x="160" y="160"/>
                  </a:lnTo>
                  <a:lnTo>
                    <a:pt x="3623" y="160"/>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0" name="Freeform 25"/>
            <p:cNvSpPr/>
            <p:nvPr/>
          </p:nvSpPr>
          <p:spPr bwMode="auto">
            <a:xfrm>
              <a:off x="2106870" y="2114302"/>
              <a:ext cx="27411" cy="498674"/>
            </a:xfrm>
            <a:custGeom>
              <a:avLst/>
              <a:gdLst>
                <a:gd name="T0" fmla="*/ 161 w 161"/>
                <a:gd name="T1" fmla="*/ 2769 h 2929"/>
                <a:gd name="T2" fmla="*/ 161 w 161"/>
                <a:gd name="T3" fmla="*/ 0 h 2929"/>
                <a:gd name="T4" fmla="*/ 0 w 161"/>
                <a:gd name="T5" fmla="*/ 0 h 2929"/>
                <a:gd name="T6" fmla="*/ 0 w 161"/>
                <a:gd name="T7" fmla="*/ 2929 h 2929"/>
                <a:gd name="T8" fmla="*/ 33 w 161"/>
                <a:gd name="T9" fmla="*/ 2926 h 2929"/>
                <a:gd name="T10" fmla="*/ 63 w 161"/>
                <a:gd name="T11" fmla="*/ 2917 h 2929"/>
                <a:gd name="T12" fmla="*/ 90 w 161"/>
                <a:gd name="T13" fmla="*/ 2903 h 2929"/>
                <a:gd name="T14" fmla="*/ 114 w 161"/>
                <a:gd name="T15" fmla="*/ 2883 h 2929"/>
                <a:gd name="T16" fmla="*/ 134 w 161"/>
                <a:gd name="T17" fmla="*/ 2859 h 2929"/>
                <a:gd name="T18" fmla="*/ 148 w 161"/>
                <a:gd name="T19" fmla="*/ 2832 h 2929"/>
                <a:gd name="T20" fmla="*/ 157 w 161"/>
                <a:gd name="T21" fmla="*/ 2802 h 2929"/>
                <a:gd name="T22" fmla="*/ 161 w 161"/>
                <a:gd name="T23" fmla="*/ 2769 h 2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1" h="2929">
                  <a:moveTo>
                    <a:pt x="161" y="2769"/>
                  </a:moveTo>
                  <a:lnTo>
                    <a:pt x="161" y="0"/>
                  </a:lnTo>
                  <a:lnTo>
                    <a:pt x="0" y="0"/>
                  </a:lnTo>
                  <a:lnTo>
                    <a:pt x="0" y="2929"/>
                  </a:lnTo>
                  <a:lnTo>
                    <a:pt x="33" y="2926"/>
                  </a:lnTo>
                  <a:lnTo>
                    <a:pt x="63" y="2917"/>
                  </a:lnTo>
                  <a:lnTo>
                    <a:pt x="90" y="2903"/>
                  </a:lnTo>
                  <a:lnTo>
                    <a:pt x="114" y="2883"/>
                  </a:lnTo>
                  <a:lnTo>
                    <a:pt x="134" y="2859"/>
                  </a:lnTo>
                  <a:lnTo>
                    <a:pt x="148" y="2832"/>
                  </a:lnTo>
                  <a:lnTo>
                    <a:pt x="157" y="2802"/>
                  </a:lnTo>
                  <a:lnTo>
                    <a:pt x="161" y="2769"/>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1" name="Freeform 26"/>
            <p:cNvSpPr/>
            <p:nvPr/>
          </p:nvSpPr>
          <p:spPr bwMode="auto">
            <a:xfrm>
              <a:off x="1903417" y="2087232"/>
              <a:ext cx="21793" cy="22474"/>
            </a:xfrm>
            <a:custGeom>
              <a:avLst/>
              <a:gdLst>
                <a:gd name="T0" fmla="*/ 48 w 128"/>
                <a:gd name="T1" fmla="*/ 0 h 132"/>
                <a:gd name="T2" fmla="*/ 0 w 128"/>
                <a:gd name="T3" fmla="*/ 0 h 132"/>
                <a:gd name="T4" fmla="*/ 0 w 128"/>
                <a:gd name="T5" fmla="*/ 132 h 132"/>
                <a:gd name="T6" fmla="*/ 128 w 128"/>
                <a:gd name="T7" fmla="*/ 132 h 132"/>
                <a:gd name="T8" fmla="*/ 128 w 128"/>
                <a:gd name="T9" fmla="*/ 79 h 132"/>
                <a:gd name="T10" fmla="*/ 107 w 128"/>
                <a:gd name="T11" fmla="*/ 77 h 132"/>
                <a:gd name="T12" fmla="*/ 88 w 128"/>
                <a:gd name="T13" fmla="*/ 69 h 132"/>
                <a:gd name="T14" fmla="*/ 72 w 128"/>
                <a:gd name="T15" fmla="*/ 56 h 132"/>
                <a:gd name="T16" fmla="*/ 59 w 128"/>
                <a:gd name="T17" fmla="*/ 40 h 132"/>
                <a:gd name="T18" fmla="*/ 51 w 128"/>
                <a:gd name="T19" fmla="*/ 20 h 132"/>
                <a:gd name="T20" fmla="*/ 48 w 128"/>
                <a:gd name="T21"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 h="132">
                  <a:moveTo>
                    <a:pt x="48" y="0"/>
                  </a:moveTo>
                  <a:lnTo>
                    <a:pt x="0" y="0"/>
                  </a:lnTo>
                  <a:lnTo>
                    <a:pt x="0" y="132"/>
                  </a:lnTo>
                  <a:lnTo>
                    <a:pt x="128" y="132"/>
                  </a:lnTo>
                  <a:lnTo>
                    <a:pt x="128" y="79"/>
                  </a:lnTo>
                  <a:lnTo>
                    <a:pt x="107" y="77"/>
                  </a:lnTo>
                  <a:lnTo>
                    <a:pt x="88" y="69"/>
                  </a:lnTo>
                  <a:lnTo>
                    <a:pt x="72" y="56"/>
                  </a:lnTo>
                  <a:lnTo>
                    <a:pt x="59" y="40"/>
                  </a:lnTo>
                  <a:lnTo>
                    <a:pt x="51" y="20"/>
                  </a:lnTo>
                  <a:lnTo>
                    <a:pt x="48" y="0"/>
                  </a:lnTo>
                  <a:close/>
                </a:path>
              </a:pathLst>
            </a:custGeom>
            <a:grpFill/>
            <a:ln w="0">
              <a:noFill/>
              <a:prstDash val="solid"/>
              <a:round/>
            </a:ln>
          </p:spPr>
          <p:txBody>
            <a:bodyPr vert="horz" wrap="square" lIns="91440" tIns="45720" rIns="91440" bIns="45720" numCol="1" anchor="t" anchorCtr="0" compatLnSpc="1"/>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sp>
        <p:nvSpPr>
          <p:cNvPr id="72" name="Freeform 37"/>
          <p:cNvSpPr>
            <a:spLocks noEditPoints="1"/>
          </p:cNvSpPr>
          <p:nvPr/>
        </p:nvSpPr>
        <p:spPr>
          <a:xfrm>
            <a:off x="5768975" y="3337560"/>
            <a:ext cx="733425" cy="615315"/>
          </a:xfrm>
          <a:custGeom>
            <a:avLst/>
            <a:gdLst>
              <a:gd name="txL" fmla="*/ 0 w 3451"/>
              <a:gd name="txT" fmla="*/ 0 h 2764"/>
              <a:gd name="txR" fmla="*/ 3451 w 3451"/>
              <a:gd name="txB" fmla="*/ 2764 h 2764"/>
            </a:gdLst>
            <a:ahLst/>
            <a:cxnLst>
              <a:cxn ang="0">
                <a:pos x="443090" y="537551"/>
              </a:cxn>
              <a:cxn ang="0">
                <a:pos x="699765" y="607645"/>
              </a:cxn>
              <a:cxn ang="0">
                <a:pos x="710174" y="610250"/>
              </a:cxn>
              <a:cxn ang="0">
                <a:pos x="717980" y="616407"/>
              </a:cxn>
              <a:cxn ang="0">
                <a:pos x="722475" y="625879"/>
              </a:cxn>
              <a:cxn ang="0">
                <a:pos x="722475" y="636536"/>
              </a:cxn>
              <a:cxn ang="0">
                <a:pos x="717980" y="645534"/>
              </a:cxn>
              <a:cxn ang="0">
                <a:pos x="710174" y="652165"/>
              </a:cxn>
              <a:cxn ang="0">
                <a:pos x="699765" y="654533"/>
              </a:cxn>
              <a:cxn ang="0">
                <a:pos x="111186" y="653823"/>
              </a:cxn>
              <a:cxn ang="0">
                <a:pos x="101960" y="649323"/>
              </a:cxn>
              <a:cxn ang="0">
                <a:pos x="95810" y="641509"/>
              </a:cxn>
              <a:cxn ang="0">
                <a:pos x="93207" y="631089"/>
              </a:cxn>
              <a:cxn ang="0">
                <a:pos x="95810" y="620906"/>
              </a:cxn>
              <a:cxn ang="0">
                <a:pos x="101960" y="612855"/>
              </a:cxn>
              <a:cxn ang="0">
                <a:pos x="111186" y="608119"/>
              </a:cxn>
              <a:cxn ang="0">
                <a:pos x="373302" y="607645"/>
              </a:cxn>
              <a:cxn ang="0">
                <a:pos x="46840" y="537551"/>
              </a:cxn>
              <a:cxn ang="0">
                <a:pos x="30517" y="534472"/>
              </a:cxn>
              <a:cxn ang="0">
                <a:pos x="16560" y="526658"/>
              </a:cxn>
              <a:cxn ang="0">
                <a:pos x="6387" y="514580"/>
              </a:cxn>
              <a:cxn ang="0">
                <a:pos x="710" y="499188"/>
              </a:cxn>
              <a:cxn ang="0">
                <a:pos x="0" y="46888"/>
              </a:cxn>
              <a:cxn ang="0">
                <a:pos x="3075" y="30548"/>
              </a:cxn>
              <a:cxn ang="0">
                <a:pos x="10882" y="16576"/>
              </a:cxn>
              <a:cxn ang="0">
                <a:pos x="22947" y="6394"/>
              </a:cxn>
              <a:cxn ang="0">
                <a:pos x="38324" y="710"/>
              </a:cxn>
              <a:cxn ang="0">
                <a:pos x="769552" y="0"/>
              </a:cxn>
              <a:cxn ang="0">
                <a:pos x="785875" y="3078"/>
              </a:cxn>
              <a:cxn ang="0">
                <a:pos x="799832" y="10893"/>
              </a:cxn>
              <a:cxn ang="0">
                <a:pos x="810005" y="22970"/>
              </a:cxn>
              <a:cxn ang="0">
                <a:pos x="815682" y="38363"/>
              </a:cxn>
              <a:cxn ang="0">
                <a:pos x="816392" y="490900"/>
              </a:cxn>
              <a:cxn ang="0">
                <a:pos x="813553" y="507003"/>
              </a:cxn>
              <a:cxn ang="0">
                <a:pos x="805273" y="520974"/>
              </a:cxn>
              <a:cxn ang="0">
                <a:pos x="793208" y="531157"/>
              </a:cxn>
              <a:cxn ang="0">
                <a:pos x="778068" y="536840"/>
              </a:cxn>
              <a:cxn ang="0">
                <a:pos x="781380" y="46888"/>
              </a:cxn>
              <a:cxn ang="0">
                <a:pos x="779014" y="40020"/>
              </a:cxn>
              <a:cxn ang="0">
                <a:pos x="773337" y="35758"/>
              </a:cxn>
              <a:cxn ang="0">
                <a:pos x="46840" y="35284"/>
              </a:cxn>
              <a:cxn ang="0">
                <a:pos x="39743" y="37415"/>
              </a:cxn>
              <a:cxn ang="0">
                <a:pos x="35722" y="43099"/>
              </a:cxn>
              <a:cxn ang="0">
                <a:pos x="34775" y="490900"/>
              </a:cxn>
              <a:cxn ang="0">
                <a:pos x="37141" y="497767"/>
              </a:cxn>
              <a:cxn ang="0">
                <a:pos x="43055" y="501793"/>
              </a:cxn>
              <a:cxn ang="0">
                <a:pos x="769552" y="502503"/>
              </a:cxn>
              <a:cxn ang="0">
                <a:pos x="776649" y="500372"/>
              </a:cxn>
              <a:cxn ang="0">
                <a:pos x="780907" y="494452"/>
              </a:cxn>
              <a:cxn ang="0">
                <a:pos x="781380" y="46888"/>
              </a:cxn>
            </a:cxnLst>
            <a:rect l="txL" t="txT" r="txR" b="txB"/>
            <a:pathLst>
              <a:path w="3451" h="2764">
                <a:moveTo>
                  <a:pt x="3253" y="2270"/>
                </a:moveTo>
                <a:lnTo>
                  <a:pt x="1873" y="2270"/>
                </a:lnTo>
                <a:lnTo>
                  <a:pt x="1873" y="2566"/>
                </a:lnTo>
                <a:lnTo>
                  <a:pt x="2958" y="2566"/>
                </a:lnTo>
                <a:lnTo>
                  <a:pt x="2981" y="2568"/>
                </a:lnTo>
                <a:lnTo>
                  <a:pt x="3002" y="2577"/>
                </a:lnTo>
                <a:lnTo>
                  <a:pt x="3019" y="2588"/>
                </a:lnTo>
                <a:lnTo>
                  <a:pt x="3035" y="2603"/>
                </a:lnTo>
                <a:lnTo>
                  <a:pt x="3046" y="2622"/>
                </a:lnTo>
                <a:lnTo>
                  <a:pt x="3054" y="2643"/>
                </a:lnTo>
                <a:lnTo>
                  <a:pt x="3056" y="2665"/>
                </a:lnTo>
                <a:lnTo>
                  <a:pt x="3054" y="2688"/>
                </a:lnTo>
                <a:lnTo>
                  <a:pt x="3046" y="2709"/>
                </a:lnTo>
                <a:lnTo>
                  <a:pt x="3035" y="2726"/>
                </a:lnTo>
                <a:lnTo>
                  <a:pt x="3019" y="2742"/>
                </a:lnTo>
                <a:lnTo>
                  <a:pt x="3002" y="2754"/>
                </a:lnTo>
                <a:lnTo>
                  <a:pt x="2981" y="2761"/>
                </a:lnTo>
                <a:lnTo>
                  <a:pt x="2958" y="2764"/>
                </a:lnTo>
                <a:lnTo>
                  <a:pt x="492" y="2764"/>
                </a:lnTo>
                <a:lnTo>
                  <a:pt x="470" y="2761"/>
                </a:lnTo>
                <a:lnTo>
                  <a:pt x="450" y="2754"/>
                </a:lnTo>
                <a:lnTo>
                  <a:pt x="431" y="2742"/>
                </a:lnTo>
                <a:lnTo>
                  <a:pt x="416" y="2726"/>
                </a:lnTo>
                <a:lnTo>
                  <a:pt x="405" y="2709"/>
                </a:lnTo>
                <a:lnTo>
                  <a:pt x="397" y="2688"/>
                </a:lnTo>
                <a:lnTo>
                  <a:pt x="394" y="2665"/>
                </a:lnTo>
                <a:lnTo>
                  <a:pt x="397" y="2643"/>
                </a:lnTo>
                <a:lnTo>
                  <a:pt x="405" y="2622"/>
                </a:lnTo>
                <a:lnTo>
                  <a:pt x="416" y="2603"/>
                </a:lnTo>
                <a:lnTo>
                  <a:pt x="431" y="2588"/>
                </a:lnTo>
                <a:lnTo>
                  <a:pt x="450" y="2577"/>
                </a:lnTo>
                <a:lnTo>
                  <a:pt x="470" y="2568"/>
                </a:lnTo>
                <a:lnTo>
                  <a:pt x="492" y="2566"/>
                </a:lnTo>
                <a:lnTo>
                  <a:pt x="1578" y="2566"/>
                </a:lnTo>
                <a:lnTo>
                  <a:pt x="1578" y="2270"/>
                </a:lnTo>
                <a:lnTo>
                  <a:pt x="198" y="2270"/>
                </a:lnTo>
                <a:lnTo>
                  <a:pt x="162" y="2267"/>
                </a:lnTo>
                <a:lnTo>
                  <a:pt x="129" y="2257"/>
                </a:lnTo>
                <a:lnTo>
                  <a:pt x="97" y="2243"/>
                </a:lnTo>
                <a:lnTo>
                  <a:pt x="70" y="2224"/>
                </a:lnTo>
                <a:lnTo>
                  <a:pt x="46" y="2200"/>
                </a:lnTo>
                <a:lnTo>
                  <a:pt x="27" y="2173"/>
                </a:lnTo>
                <a:lnTo>
                  <a:pt x="13" y="2141"/>
                </a:lnTo>
                <a:lnTo>
                  <a:pt x="3" y="2108"/>
                </a:lnTo>
                <a:lnTo>
                  <a:pt x="0" y="2073"/>
                </a:lnTo>
                <a:lnTo>
                  <a:pt x="0" y="198"/>
                </a:lnTo>
                <a:lnTo>
                  <a:pt x="3" y="162"/>
                </a:lnTo>
                <a:lnTo>
                  <a:pt x="13" y="129"/>
                </a:lnTo>
                <a:lnTo>
                  <a:pt x="27" y="98"/>
                </a:lnTo>
                <a:lnTo>
                  <a:pt x="46" y="70"/>
                </a:lnTo>
                <a:lnTo>
                  <a:pt x="70" y="46"/>
                </a:lnTo>
                <a:lnTo>
                  <a:pt x="97" y="27"/>
                </a:lnTo>
                <a:lnTo>
                  <a:pt x="129" y="13"/>
                </a:lnTo>
                <a:lnTo>
                  <a:pt x="162" y="3"/>
                </a:lnTo>
                <a:lnTo>
                  <a:pt x="198" y="0"/>
                </a:lnTo>
                <a:lnTo>
                  <a:pt x="3253" y="0"/>
                </a:lnTo>
                <a:lnTo>
                  <a:pt x="3289" y="3"/>
                </a:lnTo>
                <a:lnTo>
                  <a:pt x="3322" y="13"/>
                </a:lnTo>
                <a:lnTo>
                  <a:pt x="3353" y="27"/>
                </a:lnTo>
                <a:lnTo>
                  <a:pt x="3381" y="46"/>
                </a:lnTo>
                <a:lnTo>
                  <a:pt x="3404" y="70"/>
                </a:lnTo>
                <a:lnTo>
                  <a:pt x="3424" y="97"/>
                </a:lnTo>
                <a:lnTo>
                  <a:pt x="3439" y="129"/>
                </a:lnTo>
                <a:lnTo>
                  <a:pt x="3448" y="162"/>
                </a:lnTo>
                <a:lnTo>
                  <a:pt x="3451" y="198"/>
                </a:lnTo>
                <a:lnTo>
                  <a:pt x="3451" y="2073"/>
                </a:lnTo>
                <a:lnTo>
                  <a:pt x="3448" y="2108"/>
                </a:lnTo>
                <a:lnTo>
                  <a:pt x="3439" y="2141"/>
                </a:lnTo>
                <a:lnTo>
                  <a:pt x="3424" y="2173"/>
                </a:lnTo>
                <a:lnTo>
                  <a:pt x="3404" y="2200"/>
                </a:lnTo>
                <a:lnTo>
                  <a:pt x="3381" y="2224"/>
                </a:lnTo>
                <a:lnTo>
                  <a:pt x="3353" y="2243"/>
                </a:lnTo>
                <a:lnTo>
                  <a:pt x="3322" y="2257"/>
                </a:lnTo>
                <a:lnTo>
                  <a:pt x="3289" y="2267"/>
                </a:lnTo>
                <a:lnTo>
                  <a:pt x="3253" y="2270"/>
                </a:lnTo>
                <a:close/>
                <a:moveTo>
                  <a:pt x="3303" y="198"/>
                </a:moveTo>
                <a:lnTo>
                  <a:pt x="3301" y="182"/>
                </a:lnTo>
                <a:lnTo>
                  <a:pt x="3293" y="169"/>
                </a:lnTo>
                <a:lnTo>
                  <a:pt x="3283" y="158"/>
                </a:lnTo>
                <a:lnTo>
                  <a:pt x="3269" y="151"/>
                </a:lnTo>
                <a:lnTo>
                  <a:pt x="3253" y="149"/>
                </a:lnTo>
                <a:lnTo>
                  <a:pt x="198" y="149"/>
                </a:lnTo>
                <a:lnTo>
                  <a:pt x="182" y="151"/>
                </a:lnTo>
                <a:lnTo>
                  <a:pt x="168" y="158"/>
                </a:lnTo>
                <a:lnTo>
                  <a:pt x="157" y="169"/>
                </a:lnTo>
                <a:lnTo>
                  <a:pt x="151" y="182"/>
                </a:lnTo>
                <a:lnTo>
                  <a:pt x="147" y="198"/>
                </a:lnTo>
                <a:lnTo>
                  <a:pt x="147" y="2073"/>
                </a:lnTo>
                <a:lnTo>
                  <a:pt x="151" y="2088"/>
                </a:lnTo>
                <a:lnTo>
                  <a:pt x="157" y="2102"/>
                </a:lnTo>
                <a:lnTo>
                  <a:pt x="168" y="2113"/>
                </a:lnTo>
                <a:lnTo>
                  <a:pt x="182" y="2119"/>
                </a:lnTo>
                <a:lnTo>
                  <a:pt x="198" y="2122"/>
                </a:lnTo>
                <a:lnTo>
                  <a:pt x="3253" y="2122"/>
                </a:lnTo>
                <a:lnTo>
                  <a:pt x="3269" y="2119"/>
                </a:lnTo>
                <a:lnTo>
                  <a:pt x="3283" y="2113"/>
                </a:lnTo>
                <a:lnTo>
                  <a:pt x="3293" y="2102"/>
                </a:lnTo>
                <a:lnTo>
                  <a:pt x="3301" y="2088"/>
                </a:lnTo>
                <a:lnTo>
                  <a:pt x="3303" y="2073"/>
                </a:lnTo>
                <a:lnTo>
                  <a:pt x="3303" y="198"/>
                </a:lnTo>
                <a:close/>
              </a:path>
            </a:pathLst>
          </a:custGeom>
          <a:solidFill>
            <a:schemeClr val="bg1"/>
          </a:solidFill>
          <a:ln w="0">
            <a:noFill/>
          </a:ln>
        </p:spPr>
        <p:txBody>
          <a:bodyPr/>
          <a:p>
            <a:pPr lvl="0"/>
            <a:endParaRPr lang="zh-CN" altLang="en-US" dirty="0">
              <a:latin typeface="等线" panose="02010600030101010101" charset="-122"/>
              <a:ea typeface="等线" panose="02010600030101010101" charset="-122"/>
            </a:endParaRPr>
          </a:p>
        </p:txBody>
      </p:sp>
      <p:sp>
        <p:nvSpPr>
          <p:cNvPr id="73" name="Freeform 49"/>
          <p:cNvSpPr>
            <a:spLocks noEditPoints="1"/>
          </p:cNvSpPr>
          <p:nvPr/>
        </p:nvSpPr>
        <p:spPr>
          <a:xfrm>
            <a:off x="5826125" y="1871980"/>
            <a:ext cx="619125" cy="644525"/>
          </a:xfrm>
          <a:custGeom>
            <a:avLst/>
            <a:gdLst>
              <a:gd name="txL" fmla="*/ 0 w 3338"/>
              <a:gd name="txT" fmla="*/ 0 h 3332"/>
              <a:gd name="txR" fmla="*/ 3338 w 3338"/>
              <a:gd name="txB" fmla="*/ 3332 h 3332"/>
            </a:gdLst>
            <a:ahLst/>
            <a:cxnLst>
              <a:cxn ang="0">
                <a:pos x="119507" y="667508"/>
              </a:cxn>
              <a:cxn ang="0">
                <a:pos x="124461" y="680305"/>
              </a:cxn>
              <a:cxn ang="0">
                <a:pos x="136226" y="687117"/>
              </a:cxn>
              <a:cxn ang="0">
                <a:pos x="553367" y="687117"/>
              </a:cxn>
              <a:cxn ang="0">
                <a:pos x="564926" y="680305"/>
              </a:cxn>
              <a:cxn ang="0">
                <a:pos x="570086" y="667508"/>
              </a:cxn>
              <a:cxn ang="0">
                <a:pos x="672255" y="120127"/>
              </a:cxn>
              <a:cxn ang="0">
                <a:pos x="684227" y="112696"/>
              </a:cxn>
              <a:cxn ang="0">
                <a:pos x="688974" y="99074"/>
              </a:cxn>
              <a:cxn ang="0">
                <a:pos x="684227" y="85864"/>
              </a:cxn>
              <a:cxn ang="0">
                <a:pos x="672255" y="78227"/>
              </a:cxn>
              <a:cxn ang="0">
                <a:pos x="488350" y="21466"/>
              </a:cxn>
              <a:cxn ang="0">
                <a:pos x="483603" y="7843"/>
              </a:cxn>
              <a:cxn ang="0">
                <a:pos x="471631" y="413"/>
              </a:cxn>
              <a:cxn ang="0">
                <a:pos x="217343" y="413"/>
              </a:cxn>
              <a:cxn ang="0">
                <a:pos x="205371" y="7843"/>
              </a:cxn>
              <a:cxn ang="0">
                <a:pos x="200624" y="21466"/>
              </a:cxn>
              <a:cxn ang="0">
                <a:pos x="16719" y="78227"/>
              </a:cxn>
              <a:cxn ang="0">
                <a:pos x="4747" y="85864"/>
              </a:cxn>
              <a:cxn ang="0">
                <a:pos x="0" y="99074"/>
              </a:cxn>
              <a:cxn ang="0">
                <a:pos x="4747" y="112696"/>
              </a:cxn>
              <a:cxn ang="0">
                <a:pos x="16719" y="120127"/>
              </a:cxn>
              <a:cxn ang="0">
                <a:pos x="445418" y="42932"/>
              </a:cxn>
              <a:cxn ang="0">
                <a:pos x="243556" y="42932"/>
              </a:cxn>
              <a:cxn ang="0">
                <a:pos x="161407" y="644804"/>
              </a:cxn>
              <a:cxn ang="0">
                <a:pos x="557495" y="120540"/>
              </a:cxn>
              <a:cxn ang="0">
                <a:pos x="244175" y="603730"/>
              </a:cxn>
              <a:cxn ang="0">
                <a:pos x="255321" y="595474"/>
              </a:cxn>
              <a:cxn ang="0">
                <a:pos x="259242" y="581645"/>
              </a:cxn>
              <a:cxn ang="0">
                <a:pos x="234061" y="173998"/>
              </a:cxn>
              <a:cxn ang="0">
                <a:pos x="223328" y="164916"/>
              </a:cxn>
              <a:cxn ang="0">
                <a:pos x="209086" y="164091"/>
              </a:cxn>
              <a:cxn ang="0">
                <a:pos x="197734" y="172140"/>
              </a:cxn>
              <a:cxn ang="0">
                <a:pos x="193813" y="185763"/>
              </a:cxn>
              <a:cxn ang="0">
                <a:pos x="218994" y="593203"/>
              </a:cxn>
              <a:cxn ang="0">
                <a:pos x="228901" y="602491"/>
              </a:cxn>
              <a:cxn ang="0">
                <a:pos x="449134" y="604555"/>
              </a:cxn>
              <a:cxn ang="0">
                <a:pos x="459247" y="602491"/>
              </a:cxn>
              <a:cxn ang="0">
                <a:pos x="469155" y="593203"/>
              </a:cxn>
              <a:cxn ang="0">
                <a:pos x="494336" y="185763"/>
              </a:cxn>
              <a:cxn ang="0">
                <a:pos x="490414" y="172140"/>
              </a:cxn>
              <a:cxn ang="0">
                <a:pos x="479268" y="164091"/>
              </a:cxn>
              <a:cxn ang="0">
                <a:pos x="464820" y="164916"/>
              </a:cxn>
              <a:cxn ang="0">
                <a:pos x="454294" y="173998"/>
              </a:cxn>
              <a:cxn ang="0">
                <a:pos x="428906" y="581645"/>
              </a:cxn>
              <a:cxn ang="0">
                <a:pos x="432828" y="595474"/>
              </a:cxn>
              <a:cxn ang="0">
                <a:pos x="444180" y="603730"/>
              </a:cxn>
              <a:cxn ang="0">
                <a:pos x="349441" y="603936"/>
              </a:cxn>
              <a:cxn ang="0">
                <a:pos x="361412" y="596299"/>
              </a:cxn>
              <a:cxn ang="0">
                <a:pos x="366159" y="583090"/>
              </a:cxn>
              <a:cxn ang="0">
                <a:pos x="363889" y="175030"/>
              </a:cxn>
              <a:cxn ang="0">
                <a:pos x="353982" y="165329"/>
              </a:cxn>
              <a:cxn ang="0">
                <a:pos x="339533" y="163678"/>
              </a:cxn>
              <a:cxn ang="0">
                <a:pos x="327562" y="171108"/>
              </a:cxn>
              <a:cxn ang="0">
                <a:pos x="323021" y="184731"/>
              </a:cxn>
              <a:cxn ang="0">
                <a:pos x="325085" y="592378"/>
              </a:cxn>
              <a:cxn ang="0">
                <a:pos x="334992" y="602285"/>
              </a:cxn>
            </a:cxnLst>
            <a:rect l="txL" t="txT" r="txR" b="txB"/>
            <a:pathLst>
              <a:path w="3338" h="3332">
                <a:moveTo>
                  <a:pt x="104" y="584"/>
                </a:moveTo>
                <a:lnTo>
                  <a:pt x="428" y="584"/>
                </a:lnTo>
                <a:lnTo>
                  <a:pt x="579" y="3234"/>
                </a:lnTo>
                <a:lnTo>
                  <a:pt x="582" y="3256"/>
                </a:lnTo>
                <a:lnTo>
                  <a:pt x="591" y="3277"/>
                </a:lnTo>
                <a:lnTo>
                  <a:pt x="603" y="3296"/>
                </a:lnTo>
                <a:lnTo>
                  <a:pt x="620" y="3311"/>
                </a:lnTo>
                <a:lnTo>
                  <a:pt x="639" y="3322"/>
                </a:lnTo>
                <a:lnTo>
                  <a:pt x="660" y="3329"/>
                </a:lnTo>
                <a:lnTo>
                  <a:pt x="682" y="3332"/>
                </a:lnTo>
                <a:lnTo>
                  <a:pt x="2658" y="3332"/>
                </a:lnTo>
                <a:lnTo>
                  <a:pt x="2681" y="3329"/>
                </a:lnTo>
                <a:lnTo>
                  <a:pt x="2702" y="3322"/>
                </a:lnTo>
                <a:lnTo>
                  <a:pt x="2720" y="3311"/>
                </a:lnTo>
                <a:lnTo>
                  <a:pt x="2737" y="3296"/>
                </a:lnTo>
                <a:lnTo>
                  <a:pt x="2749" y="3277"/>
                </a:lnTo>
                <a:lnTo>
                  <a:pt x="2758" y="3256"/>
                </a:lnTo>
                <a:lnTo>
                  <a:pt x="2762" y="3234"/>
                </a:lnTo>
                <a:lnTo>
                  <a:pt x="2910" y="584"/>
                </a:lnTo>
                <a:lnTo>
                  <a:pt x="3234" y="584"/>
                </a:lnTo>
                <a:lnTo>
                  <a:pt x="3257" y="582"/>
                </a:lnTo>
                <a:lnTo>
                  <a:pt x="3279" y="574"/>
                </a:lnTo>
                <a:lnTo>
                  <a:pt x="3299" y="562"/>
                </a:lnTo>
                <a:lnTo>
                  <a:pt x="3315" y="546"/>
                </a:lnTo>
                <a:lnTo>
                  <a:pt x="3327" y="527"/>
                </a:lnTo>
                <a:lnTo>
                  <a:pt x="3335" y="504"/>
                </a:lnTo>
                <a:lnTo>
                  <a:pt x="3338" y="480"/>
                </a:lnTo>
                <a:lnTo>
                  <a:pt x="3335" y="457"/>
                </a:lnTo>
                <a:lnTo>
                  <a:pt x="3327" y="435"/>
                </a:lnTo>
                <a:lnTo>
                  <a:pt x="3315" y="416"/>
                </a:lnTo>
                <a:lnTo>
                  <a:pt x="3299" y="399"/>
                </a:lnTo>
                <a:lnTo>
                  <a:pt x="3279" y="387"/>
                </a:lnTo>
                <a:lnTo>
                  <a:pt x="3257" y="379"/>
                </a:lnTo>
                <a:lnTo>
                  <a:pt x="3234" y="376"/>
                </a:lnTo>
                <a:lnTo>
                  <a:pt x="2417" y="376"/>
                </a:lnTo>
                <a:lnTo>
                  <a:pt x="2366" y="104"/>
                </a:lnTo>
                <a:lnTo>
                  <a:pt x="2363" y="80"/>
                </a:lnTo>
                <a:lnTo>
                  <a:pt x="2355" y="58"/>
                </a:lnTo>
                <a:lnTo>
                  <a:pt x="2343" y="38"/>
                </a:lnTo>
                <a:lnTo>
                  <a:pt x="2327" y="22"/>
                </a:lnTo>
                <a:lnTo>
                  <a:pt x="2307" y="10"/>
                </a:lnTo>
                <a:lnTo>
                  <a:pt x="2285" y="2"/>
                </a:lnTo>
                <a:lnTo>
                  <a:pt x="2262" y="0"/>
                </a:lnTo>
                <a:lnTo>
                  <a:pt x="1076" y="0"/>
                </a:lnTo>
                <a:lnTo>
                  <a:pt x="1053" y="2"/>
                </a:lnTo>
                <a:lnTo>
                  <a:pt x="1031" y="10"/>
                </a:lnTo>
                <a:lnTo>
                  <a:pt x="1011" y="22"/>
                </a:lnTo>
                <a:lnTo>
                  <a:pt x="995" y="38"/>
                </a:lnTo>
                <a:lnTo>
                  <a:pt x="983" y="58"/>
                </a:lnTo>
                <a:lnTo>
                  <a:pt x="975" y="80"/>
                </a:lnTo>
                <a:lnTo>
                  <a:pt x="972" y="104"/>
                </a:lnTo>
                <a:lnTo>
                  <a:pt x="921" y="376"/>
                </a:lnTo>
                <a:lnTo>
                  <a:pt x="104" y="376"/>
                </a:lnTo>
                <a:lnTo>
                  <a:pt x="81" y="379"/>
                </a:lnTo>
                <a:lnTo>
                  <a:pt x="59" y="387"/>
                </a:lnTo>
                <a:lnTo>
                  <a:pt x="39" y="399"/>
                </a:lnTo>
                <a:lnTo>
                  <a:pt x="23" y="416"/>
                </a:lnTo>
                <a:lnTo>
                  <a:pt x="11" y="435"/>
                </a:lnTo>
                <a:lnTo>
                  <a:pt x="3" y="457"/>
                </a:lnTo>
                <a:lnTo>
                  <a:pt x="0" y="480"/>
                </a:lnTo>
                <a:lnTo>
                  <a:pt x="3" y="504"/>
                </a:lnTo>
                <a:lnTo>
                  <a:pt x="11" y="527"/>
                </a:lnTo>
                <a:lnTo>
                  <a:pt x="23" y="546"/>
                </a:lnTo>
                <a:lnTo>
                  <a:pt x="39" y="562"/>
                </a:lnTo>
                <a:lnTo>
                  <a:pt x="59" y="574"/>
                </a:lnTo>
                <a:lnTo>
                  <a:pt x="81" y="582"/>
                </a:lnTo>
                <a:lnTo>
                  <a:pt x="104" y="584"/>
                </a:lnTo>
                <a:close/>
                <a:moveTo>
                  <a:pt x="1180" y="208"/>
                </a:moveTo>
                <a:lnTo>
                  <a:pt x="2158" y="208"/>
                </a:lnTo>
                <a:lnTo>
                  <a:pt x="2208" y="376"/>
                </a:lnTo>
                <a:lnTo>
                  <a:pt x="1130" y="376"/>
                </a:lnTo>
                <a:lnTo>
                  <a:pt x="1180" y="208"/>
                </a:lnTo>
                <a:close/>
                <a:moveTo>
                  <a:pt x="2701" y="584"/>
                </a:moveTo>
                <a:lnTo>
                  <a:pt x="2558" y="3124"/>
                </a:lnTo>
                <a:lnTo>
                  <a:pt x="782" y="3124"/>
                </a:lnTo>
                <a:lnTo>
                  <a:pt x="637" y="584"/>
                </a:lnTo>
                <a:lnTo>
                  <a:pt x="2701" y="584"/>
                </a:lnTo>
                <a:lnTo>
                  <a:pt x="2701" y="584"/>
                </a:lnTo>
                <a:close/>
                <a:moveTo>
                  <a:pt x="1152" y="2929"/>
                </a:moveTo>
                <a:lnTo>
                  <a:pt x="1158" y="2929"/>
                </a:lnTo>
                <a:lnTo>
                  <a:pt x="1183" y="2925"/>
                </a:lnTo>
                <a:lnTo>
                  <a:pt x="1204" y="2916"/>
                </a:lnTo>
                <a:lnTo>
                  <a:pt x="1222" y="2902"/>
                </a:lnTo>
                <a:lnTo>
                  <a:pt x="1237" y="2885"/>
                </a:lnTo>
                <a:lnTo>
                  <a:pt x="1248" y="2865"/>
                </a:lnTo>
                <a:lnTo>
                  <a:pt x="1255" y="2843"/>
                </a:lnTo>
                <a:lnTo>
                  <a:pt x="1256" y="2818"/>
                </a:lnTo>
                <a:lnTo>
                  <a:pt x="1147" y="889"/>
                </a:lnTo>
                <a:lnTo>
                  <a:pt x="1143" y="864"/>
                </a:lnTo>
                <a:lnTo>
                  <a:pt x="1134" y="843"/>
                </a:lnTo>
                <a:lnTo>
                  <a:pt x="1120" y="825"/>
                </a:lnTo>
                <a:lnTo>
                  <a:pt x="1103" y="810"/>
                </a:lnTo>
                <a:lnTo>
                  <a:pt x="1082" y="799"/>
                </a:lnTo>
                <a:lnTo>
                  <a:pt x="1061" y="792"/>
                </a:lnTo>
                <a:lnTo>
                  <a:pt x="1037" y="791"/>
                </a:lnTo>
                <a:lnTo>
                  <a:pt x="1013" y="795"/>
                </a:lnTo>
                <a:lnTo>
                  <a:pt x="992" y="804"/>
                </a:lnTo>
                <a:lnTo>
                  <a:pt x="973" y="817"/>
                </a:lnTo>
                <a:lnTo>
                  <a:pt x="958" y="834"/>
                </a:lnTo>
                <a:lnTo>
                  <a:pt x="947" y="854"/>
                </a:lnTo>
                <a:lnTo>
                  <a:pt x="941" y="877"/>
                </a:lnTo>
                <a:lnTo>
                  <a:pt x="939" y="900"/>
                </a:lnTo>
                <a:lnTo>
                  <a:pt x="1049" y="2831"/>
                </a:lnTo>
                <a:lnTo>
                  <a:pt x="1053" y="2853"/>
                </a:lnTo>
                <a:lnTo>
                  <a:pt x="1061" y="2874"/>
                </a:lnTo>
                <a:lnTo>
                  <a:pt x="1073" y="2892"/>
                </a:lnTo>
                <a:lnTo>
                  <a:pt x="1089" y="2907"/>
                </a:lnTo>
                <a:lnTo>
                  <a:pt x="1109" y="2919"/>
                </a:lnTo>
                <a:lnTo>
                  <a:pt x="1130" y="2926"/>
                </a:lnTo>
                <a:lnTo>
                  <a:pt x="1152" y="2929"/>
                </a:lnTo>
                <a:close/>
                <a:moveTo>
                  <a:pt x="2176" y="2929"/>
                </a:moveTo>
                <a:lnTo>
                  <a:pt x="2182" y="2929"/>
                </a:lnTo>
                <a:lnTo>
                  <a:pt x="2205" y="2926"/>
                </a:lnTo>
                <a:lnTo>
                  <a:pt x="2225" y="2919"/>
                </a:lnTo>
                <a:lnTo>
                  <a:pt x="2245" y="2907"/>
                </a:lnTo>
                <a:lnTo>
                  <a:pt x="2261" y="2892"/>
                </a:lnTo>
                <a:lnTo>
                  <a:pt x="2273" y="2874"/>
                </a:lnTo>
                <a:lnTo>
                  <a:pt x="2282" y="2853"/>
                </a:lnTo>
                <a:lnTo>
                  <a:pt x="2286" y="2831"/>
                </a:lnTo>
                <a:lnTo>
                  <a:pt x="2395" y="900"/>
                </a:lnTo>
                <a:lnTo>
                  <a:pt x="2394" y="877"/>
                </a:lnTo>
                <a:lnTo>
                  <a:pt x="2387" y="854"/>
                </a:lnTo>
                <a:lnTo>
                  <a:pt x="2376" y="834"/>
                </a:lnTo>
                <a:lnTo>
                  <a:pt x="2361" y="817"/>
                </a:lnTo>
                <a:lnTo>
                  <a:pt x="2343" y="804"/>
                </a:lnTo>
                <a:lnTo>
                  <a:pt x="2322" y="795"/>
                </a:lnTo>
                <a:lnTo>
                  <a:pt x="2297" y="791"/>
                </a:lnTo>
                <a:lnTo>
                  <a:pt x="2274" y="792"/>
                </a:lnTo>
                <a:lnTo>
                  <a:pt x="2252" y="799"/>
                </a:lnTo>
                <a:lnTo>
                  <a:pt x="2231" y="810"/>
                </a:lnTo>
                <a:lnTo>
                  <a:pt x="2214" y="825"/>
                </a:lnTo>
                <a:lnTo>
                  <a:pt x="2201" y="843"/>
                </a:lnTo>
                <a:lnTo>
                  <a:pt x="2192" y="864"/>
                </a:lnTo>
                <a:lnTo>
                  <a:pt x="2187" y="889"/>
                </a:lnTo>
                <a:lnTo>
                  <a:pt x="2078" y="2818"/>
                </a:lnTo>
                <a:lnTo>
                  <a:pt x="2079" y="2843"/>
                </a:lnTo>
                <a:lnTo>
                  <a:pt x="2086" y="2865"/>
                </a:lnTo>
                <a:lnTo>
                  <a:pt x="2097" y="2885"/>
                </a:lnTo>
                <a:lnTo>
                  <a:pt x="2112" y="2902"/>
                </a:lnTo>
                <a:lnTo>
                  <a:pt x="2130" y="2916"/>
                </a:lnTo>
                <a:lnTo>
                  <a:pt x="2152" y="2925"/>
                </a:lnTo>
                <a:lnTo>
                  <a:pt x="2176" y="2929"/>
                </a:lnTo>
                <a:close/>
                <a:moveTo>
                  <a:pt x="1670" y="2929"/>
                </a:moveTo>
                <a:lnTo>
                  <a:pt x="1693" y="2926"/>
                </a:lnTo>
                <a:lnTo>
                  <a:pt x="1715" y="2918"/>
                </a:lnTo>
                <a:lnTo>
                  <a:pt x="1734" y="2905"/>
                </a:lnTo>
                <a:lnTo>
                  <a:pt x="1751" y="2889"/>
                </a:lnTo>
                <a:lnTo>
                  <a:pt x="1763" y="2870"/>
                </a:lnTo>
                <a:lnTo>
                  <a:pt x="1771" y="2849"/>
                </a:lnTo>
                <a:lnTo>
                  <a:pt x="1774" y="2825"/>
                </a:lnTo>
                <a:lnTo>
                  <a:pt x="1774" y="895"/>
                </a:lnTo>
                <a:lnTo>
                  <a:pt x="1771" y="870"/>
                </a:lnTo>
                <a:lnTo>
                  <a:pt x="1763" y="848"/>
                </a:lnTo>
                <a:lnTo>
                  <a:pt x="1751" y="829"/>
                </a:lnTo>
                <a:lnTo>
                  <a:pt x="1734" y="813"/>
                </a:lnTo>
                <a:lnTo>
                  <a:pt x="1715" y="801"/>
                </a:lnTo>
                <a:lnTo>
                  <a:pt x="1693" y="793"/>
                </a:lnTo>
                <a:lnTo>
                  <a:pt x="1670" y="791"/>
                </a:lnTo>
                <a:lnTo>
                  <a:pt x="1645" y="793"/>
                </a:lnTo>
                <a:lnTo>
                  <a:pt x="1623" y="801"/>
                </a:lnTo>
                <a:lnTo>
                  <a:pt x="1604" y="813"/>
                </a:lnTo>
                <a:lnTo>
                  <a:pt x="1587" y="829"/>
                </a:lnTo>
                <a:lnTo>
                  <a:pt x="1575" y="848"/>
                </a:lnTo>
                <a:lnTo>
                  <a:pt x="1567" y="870"/>
                </a:lnTo>
                <a:lnTo>
                  <a:pt x="1565" y="895"/>
                </a:lnTo>
                <a:lnTo>
                  <a:pt x="1565" y="2825"/>
                </a:lnTo>
                <a:lnTo>
                  <a:pt x="1567" y="2849"/>
                </a:lnTo>
                <a:lnTo>
                  <a:pt x="1575" y="2870"/>
                </a:lnTo>
                <a:lnTo>
                  <a:pt x="1587" y="2889"/>
                </a:lnTo>
                <a:lnTo>
                  <a:pt x="1604" y="2905"/>
                </a:lnTo>
                <a:lnTo>
                  <a:pt x="1623" y="2918"/>
                </a:lnTo>
                <a:lnTo>
                  <a:pt x="1645" y="2926"/>
                </a:lnTo>
                <a:lnTo>
                  <a:pt x="1670" y="2929"/>
                </a:lnTo>
                <a:close/>
              </a:path>
            </a:pathLst>
          </a:custGeom>
          <a:solidFill>
            <a:srgbClr val="92D050"/>
          </a:solidFill>
          <a:ln w="0">
            <a:noFill/>
          </a:ln>
        </p:spPr>
        <p:txBody>
          <a:bodyPr/>
          <a:p>
            <a:pPr lvl="0"/>
            <a:endParaRPr lang="zh-CN" altLang="en-US" dirty="0">
              <a:latin typeface="等线" panose="02010600030101010101" charset="-122"/>
              <a:ea typeface="等线" panose="02010600030101010101" charset="-122"/>
            </a:endParaRPr>
          </a:p>
        </p:txBody>
      </p:sp>
      <p:cxnSp>
        <p:nvCxnSpPr>
          <p:cNvPr id="76" name="直接连接符 75"/>
          <p:cNvCxnSpPr/>
          <p:nvPr/>
        </p:nvCxnSpPr>
        <p:spPr>
          <a:xfrm flipH="1">
            <a:off x="1461770" y="1628140"/>
            <a:ext cx="29210" cy="9207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3" name="组合 102"/>
          <p:cNvGrpSpPr/>
          <p:nvPr/>
        </p:nvGrpSpPr>
        <p:grpSpPr>
          <a:xfrm>
            <a:off x="1063625" y="1355725"/>
            <a:ext cx="3880485" cy="1568402"/>
            <a:chOff x="1675" y="2135"/>
            <a:chExt cx="6111" cy="2928"/>
          </a:xfrm>
        </p:grpSpPr>
        <p:sp>
          <p:nvSpPr>
            <p:cNvPr id="78" name="文本框 38"/>
            <p:cNvSpPr txBox="1"/>
            <p:nvPr/>
          </p:nvSpPr>
          <p:spPr>
            <a:xfrm>
              <a:off x="1675" y="2254"/>
              <a:ext cx="455" cy="1721"/>
            </a:xfrm>
            <a:prstGeom prst="rect">
              <a:avLst/>
            </a:prstGeom>
            <a:noFill/>
            <a:ln w="9525">
              <a:noFill/>
            </a:ln>
          </p:spPr>
          <p:txBody>
            <a:bodyPr wrap="square">
              <a:spAutoFit/>
            </a:bodyPr>
            <a:p>
              <a:pPr lvl="0" algn="ctr"/>
              <a:r>
                <a:rPr lang="en-US" altLang="zh-CN" sz="5400" dirty="0">
                  <a:solidFill>
                    <a:schemeClr val="tx1">
                      <a:lumMod val="95000"/>
                      <a:lumOff val="5000"/>
                    </a:schemeClr>
                  </a:solidFill>
                  <a:latin typeface="Calibri" panose="020F0502020204030204" pitchFamily="34" charset="0"/>
                  <a:ea typeface="宋体" panose="02010600030101010101" pitchFamily="2" charset="-122"/>
                </a:rPr>
                <a:t>A</a:t>
              </a:r>
              <a:endParaRPr lang="en-US" altLang="zh-CN" sz="5400" dirty="0">
                <a:solidFill>
                  <a:schemeClr val="tx1">
                    <a:lumMod val="95000"/>
                    <a:lumOff val="5000"/>
                  </a:schemeClr>
                </a:solidFill>
                <a:latin typeface="Calibri" panose="020F0502020204030204" pitchFamily="34" charset="0"/>
                <a:ea typeface="宋体" panose="02010600030101010101" pitchFamily="2" charset="-122"/>
              </a:endParaRPr>
            </a:p>
          </p:txBody>
        </p:sp>
        <p:sp>
          <p:nvSpPr>
            <p:cNvPr id="80" name="文本框 42"/>
            <p:cNvSpPr txBox="1"/>
            <p:nvPr/>
          </p:nvSpPr>
          <p:spPr>
            <a:xfrm>
              <a:off x="2348" y="2135"/>
              <a:ext cx="5438" cy="2928"/>
            </a:xfrm>
            <a:prstGeom prst="rect">
              <a:avLst/>
            </a:prstGeom>
            <a:noFill/>
            <a:ln w="9525">
              <a:noFill/>
            </a:ln>
          </p:spPr>
          <p:txBody>
            <a:bodyPr wrap="square">
              <a:spAutoFit/>
            </a:bodyPr>
            <a:p>
              <a:pPr algn="l" fontAlgn="auto">
                <a:lnSpc>
                  <a:spcPct val="150000"/>
                </a:lnSpc>
                <a:defRPr/>
              </a:pPr>
              <a:r>
                <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1.找老外购买(找TOP和留学生)，Paypal收到订单号后转账	</a:t>
              </a:r>
              <a:endPar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endParaRPr>
            </a:p>
            <a:p>
              <a:pPr marL="0" marR="0" lvl="0" indent="0" algn="l" defTabSz="914400" rtl="0" fontAlgn="auto">
                <a:lnSpc>
                  <a:spcPct val="150000"/>
                </a:lnSpc>
                <a:spcBef>
                  <a:spcPts val="0"/>
                </a:spcBef>
                <a:spcAft>
                  <a:spcPts val="0"/>
                </a:spcAft>
                <a:buClrTx/>
                <a:buSzTx/>
                <a:buFontTx/>
                <a:buNone/>
                <a:defRPr/>
              </a:pPr>
              <a:r>
                <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2.找好友群组批量送Code(有信任感的好友)</a:t>
              </a:r>
              <a:r>
                <a:rPr lang="en-US" altLang="zh-CN" sz="10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	</a:t>
              </a:r>
              <a:endPar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endParaRPr>
            </a:p>
          </p:txBody>
        </p:sp>
      </p:grpSp>
      <p:sp>
        <p:nvSpPr>
          <p:cNvPr id="88" name="圆角矩形 87"/>
          <p:cNvSpPr/>
          <p:nvPr/>
        </p:nvSpPr>
        <p:spPr>
          <a:xfrm>
            <a:off x="8586788" y="3001963"/>
            <a:ext cx="2474913" cy="65563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9" name="圆角矩形 88"/>
          <p:cNvSpPr/>
          <p:nvPr/>
        </p:nvSpPr>
        <p:spPr>
          <a:xfrm>
            <a:off x="8586788" y="3786188"/>
            <a:ext cx="2474913" cy="65722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96" name="直接连接符 95"/>
          <p:cNvCxnSpPr/>
          <p:nvPr/>
        </p:nvCxnSpPr>
        <p:spPr>
          <a:xfrm flipH="1">
            <a:off x="1432560" y="4947285"/>
            <a:ext cx="29210" cy="9207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9204325" y="1652270"/>
            <a:ext cx="29210" cy="9207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9204325" y="4839970"/>
            <a:ext cx="29210" cy="9207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4" name="文本框 38"/>
          <p:cNvSpPr txBox="1"/>
          <p:nvPr/>
        </p:nvSpPr>
        <p:spPr>
          <a:xfrm>
            <a:off x="8817610" y="1419860"/>
            <a:ext cx="288925" cy="921385"/>
          </a:xfrm>
          <a:prstGeom prst="rect">
            <a:avLst/>
          </a:prstGeom>
          <a:noFill/>
          <a:ln w="9525">
            <a:noFill/>
          </a:ln>
        </p:spPr>
        <p:txBody>
          <a:bodyPr wrap="square">
            <a:spAutoFit/>
          </a:bodyPr>
          <a:p>
            <a:pPr lvl="0" algn="ctr"/>
            <a:r>
              <a:rPr lang="en-US" altLang="zh-CN" sz="5400" dirty="0">
                <a:solidFill>
                  <a:schemeClr val="tx1">
                    <a:lumMod val="95000"/>
                    <a:lumOff val="5000"/>
                  </a:schemeClr>
                </a:solidFill>
                <a:latin typeface="Calibri" panose="020F0502020204030204" pitchFamily="34" charset="0"/>
                <a:ea typeface="宋体" panose="02010600030101010101" pitchFamily="2" charset="-122"/>
              </a:rPr>
              <a:t>B</a:t>
            </a:r>
            <a:endParaRPr lang="en-US" altLang="zh-CN" sz="5400" dirty="0">
              <a:solidFill>
                <a:schemeClr val="tx1">
                  <a:lumMod val="95000"/>
                  <a:lumOff val="5000"/>
                </a:schemeClr>
              </a:solidFill>
              <a:latin typeface="Calibri" panose="020F0502020204030204" pitchFamily="34" charset="0"/>
              <a:ea typeface="宋体" panose="02010600030101010101" pitchFamily="2" charset="-122"/>
            </a:endParaRPr>
          </a:p>
        </p:txBody>
      </p:sp>
      <p:sp>
        <p:nvSpPr>
          <p:cNvPr id="105" name="文本框 42"/>
          <p:cNvSpPr txBox="1"/>
          <p:nvPr/>
        </p:nvSpPr>
        <p:spPr>
          <a:xfrm>
            <a:off x="9276715" y="1419860"/>
            <a:ext cx="2773045" cy="2306955"/>
          </a:xfrm>
          <a:prstGeom prst="rect">
            <a:avLst/>
          </a:prstGeom>
          <a:noFill/>
          <a:ln w="9525">
            <a:noFill/>
          </a:ln>
        </p:spPr>
        <p:txBody>
          <a:bodyPr wrap="square">
            <a:spAutoFit/>
          </a:bodyPr>
          <a:p>
            <a:pPr algn="l" fontAlgn="auto">
              <a:lnSpc>
                <a:spcPct val="100000"/>
              </a:lnSpc>
              <a:defRPr/>
            </a:pPr>
            <a:r>
              <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1.</a:t>
            </a:r>
            <a:r>
              <a:rPr lang="zh-CN" altLang="en-US"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自己买家账号</a:t>
            </a:r>
            <a:r>
              <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购买，信用卡或者Gift card，需要国外IP(虚拟的VPS)</a:t>
            </a:r>
            <a:endPar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endParaRPr>
          </a:p>
          <a:p>
            <a:pPr marL="0" marR="0" lvl="0" indent="0" algn="l" defTabSz="914400" rtl="0" fontAlgn="auto">
              <a:lnSpc>
                <a:spcPct val="100000"/>
              </a:lnSpc>
              <a:spcBef>
                <a:spcPts val="0"/>
              </a:spcBef>
              <a:spcAft>
                <a:spcPts val="0"/>
              </a:spcAft>
              <a:buClrTx/>
              <a:buSzTx/>
              <a:buFontTx/>
              <a:buNone/>
              <a:defRPr/>
            </a:pPr>
            <a:r>
              <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2.自发货(权重被降低)，小号低价跟售购买国内，两个账号：E</a:t>
            </a:r>
            <a:r>
              <a:rPr lang="zh-CN" altLang="en-US"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店为主账号</a:t>
            </a:r>
            <a:r>
              <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FBA发货，F</a:t>
            </a:r>
            <a:r>
              <a:rPr lang="zh-CN" altLang="en-US"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店为小号跟售</a:t>
            </a:r>
            <a:r>
              <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自发货，利用小账号来跟卖大账号</a:t>
            </a:r>
            <a:r>
              <a:rPr lang="zh-CN" altLang="en-US"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刷单</a:t>
            </a:r>
            <a:r>
              <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a:t>
            </a:r>
            <a:r>
              <a:rPr lang="en-US" altLang="zh-CN" sz="1600" noProof="0" dirty="0">
                <a:ln>
                  <a:noFill/>
                </a:ln>
                <a:solidFill>
                  <a:srgbClr val="FF0000"/>
                </a:solidFill>
                <a:effectLst/>
                <a:uLnTx/>
                <a:uFillTx/>
                <a:latin typeface="微软雅黑" panose="020B0503020204020204" charset="-122"/>
                <a:ea typeface="微软雅黑" panose="020B0503020204020204" charset="-122"/>
                <a:sym typeface="+mn-ea"/>
              </a:rPr>
              <a:t>(</a:t>
            </a:r>
            <a:r>
              <a:rPr lang="zh-CN" altLang="en-US" sz="1600" noProof="0" dirty="0">
                <a:ln>
                  <a:noFill/>
                </a:ln>
                <a:solidFill>
                  <a:srgbClr val="FF0000"/>
                </a:solidFill>
                <a:effectLst/>
                <a:uLnTx/>
                <a:uFillTx/>
                <a:latin typeface="微软雅黑" panose="020B0503020204020204" charset="-122"/>
                <a:ea typeface="微软雅黑" panose="020B0503020204020204" charset="-122"/>
                <a:sym typeface="+mn-ea"/>
              </a:rPr>
              <a:t>操作复杂，被警告风险大</a:t>
            </a:r>
            <a:r>
              <a:rPr lang="en-US" altLang="zh-CN" sz="1600" noProof="0" dirty="0">
                <a:ln>
                  <a:noFill/>
                </a:ln>
                <a:solidFill>
                  <a:srgbClr val="FF0000"/>
                </a:solidFill>
                <a:effectLst/>
                <a:uLnTx/>
                <a:uFillTx/>
                <a:latin typeface="微软雅黑" panose="020B0503020204020204" charset="-122"/>
                <a:ea typeface="微软雅黑" panose="020B0503020204020204" charset="-122"/>
                <a:sym typeface="+mn-ea"/>
              </a:rPr>
              <a:t>)</a:t>
            </a:r>
            <a:endParaRPr lang="en-US" altLang="zh-CN" sz="1600" noProof="0" dirty="0">
              <a:ln>
                <a:noFill/>
              </a:ln>
              <a:solidFill>
                <a:srgbClr val="FF0000"/>
              </a:solidFill>
              <a:effectLst/>
              <a:uLnTx/>
              <a:uFillTx/>
              <a:latin typeface="微软雅黑" panose="020B0503020204020204" charset="-122"/>
              <a:ea typeface="微软雅黑" panose="020B0503020204020204" charset="-122"/>
              <a:sym typeface="+mn-ea"/>
            </a:endParaRPr>
          </a:p>
        </p:txBody>
      </p:sp>
      <p:sp>
        <p:nvSpPr>
          <p:cNvPr id="106" name="文本框 38"/>
          <p:cNvSpPr txBox="1"/>
          <p:nvPr/>
        </p:nvSpPr>
        <p:spPr>
          <a:xfrm>
            <a:off x="1001395" y="4787265"/>
            <a:ext cx="288925" cy="921385"/>
          </a:xfrm>
          <a:prstGeom prst="rect">
            <a:avLst/>
          </a:prstGeom>
          <a:noFill/>
          <a:ln w="9525">
            <a:noFill/>
          </a:ln>
        </p:spPr>
        <p:txBody>
          <a:bodyPr wrap="square">
            <a:spAutoFit/>
          </a:bodyPr>
          <a:p>
            <a:pPr lvl="0" algn="ctr"/>
            <a:r>
              <a:rPr lang="en-US" altLang="zh-CN" sz="5400" dirty="0">
                <a:solidFill>
                  <a:schemeClr val="tx1">
                    <a:lumMod val="95000"/>
                    <a:lumOff val="5000"/>
                  </a:schemeClr>
                </a:solidFill>
                <a:latin typeface="Calibri" panose="020F0502020204030204" pitchFamily="34" charset="0"/>
                <a:ea typeface="宋体" panose="02010600030101010101" pitchFamily="2" charset="-122"/>
              </a:rPr>
              <a:t>C</a:t>
            </a:r>
            <a:endParaRPr lang="en-US" altLang="zh-CN" sz="5400" dirty="0">
              <a:solidFill>
                <a:schemeClr val="tx1">
                  <a:lumMod val="95000"/>
                  <a:lumOff val="5000"/>
                </a:schemeClr>
              </a:solidFill>
              <a:latin typeface="Calibri" panose="020F0502020204030204" pitchFamily="34" charset="0"/>
              <a:ea typeface="宋体" panose="02010600030101010101" pitchFamily="2" charset="-122"/>
            </a:endParaRPr>
          </a:p>
        </p:txBody>
      </p:sp>
      <p:sp>
        <p:nvSpPr>
          <p:cNvPr id="107" name="文本框 42"/>
          <p:cNvSpPr txBox="1"/>
          <p:nvPr/>
        </p:nvSpPr>
        <p:spPr>
          <a:xfrm>
            <a:off x="1460500" y="4361180"/>
            <a:ext cx="2460625" cy="1322070"/>
          </a:xfrm>
          <a:prstGeom prst="rect">
            <a:avLst/>
          </a:prstGeom>
          <a:noFill/>
          <a:ln w="9525">
            <a:noFill/>
          </a:ln>
        </p:spPr>
        <p:txBody>
          <a:bodyPr wrap="square">
            <a:spAutoFit/>
          </a:bodyPr>
          <a:p>
            <a:pPr algn="just" fontAlgn="auto">
              <a:lnSpc>
                <a:spcPct val="100000"/>
              </a:lnSpc>
              <a:defRPr/>
            </a:pPr>
            <a:r>
              <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邮件免费送(红人和TOP)，后台建单，图片或者视频直评，其他</a:t>
            </a:r>
            <a:r>
              <a:rPr lang="zh-CN" altLang="en-US"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站外</a:t>
            </a:r>
            <a:r>
              <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平台分享</a:t>
            </a:r>
            <a:r>
              <a:rPr lang="zh-CN" altLang="en-US"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视频链接</a:t>
            </a:r>
            <a:r>
              <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a:t>
            </a:r>
            <a:r>
              <a:rPr lang="zh-CN" altLang="en-US"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爆款产品或者滞销产品可以尝试</a:t>
            </a:r>
            <a:r>
              <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a:t>
            </a:r>
            <a:endPar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endParaRPr>
          </a:p>
        </p:txBody>
      </p:sp>
      <p:sp>
        <p:nvSpPr>
          <p:cNvPr id="108" name="文本框 38"/>
          <p:cNvSpPr txBox="1"/>
          <p:nvPr/>
        </p:nvSpPr>
        <p:spPr>
          <a:xfrm>
            <a:off x="8817610" y="4787265"/>
            <a:ext cx="288925" cy="921385"/>
          </a:xfrm>
          <a:prstGeom prst="rect">
            <a:avLst/>
          </a:prstGeom>
          <a:noFill/>
          <a:ln w="9525">
            <a:noFill/>
          </a:ln>
        </p:spPr>
        <p:txBody>
          <a:bodyPr wrap="square">
            <a:spAutoFit/>
          </a:bodyPr>
          <a:p>
            <a:pPr lvl="0" algn="ctr"/>
            <a:r>
              <a:rPr lang="en-US" altLang="zh-CN" sz="5400" dirty="0">
                <a:solidFill>
                  <a:schemeClr val="tx1">
                    <a:lumMod val="95000"/>
                    <a:lumOff val="5000"/>
                  </a:schemeClr>
                </a:solidFill>
                <a:latin typeface="Calibri" panose="020F0502020204030204" pitchFamily="34" charset="0"/>
                <a:ea typeface="宋体" panose="02010600030101010101" pitchFamily="2" charset="-122"/>
              </a:rPr>
              <a:t>D</a:t>
            </a:r>
            <a:endParaRPr lang="en-US" altLang="zh-CN" sz="5400" dirty="0">
              <a:solidFill>
                <a:schemeClr val="tx1">
                  <a:lumMod val="95000"/>
                  <a:lumOff val="5000"/>
                </a:schemeClr>
              </a:solidFill>
              <a:latin typeface="Calibri" panose="020F0502020204030204" pitchFamily="34" charset="0"/>
              <a:ea typeface="宋体" panose="02010600030101010101" pitchFamily="2" charset="-122"/>
            </a:endParaRPr>
          </a:p>
        </p:txBody>
      </p:sp>
      <p:sp>
        <p:nvSpPr>
          <p:cNvPr id="109" name="文本框 42"/>
          <p:cNvSpPr txBox="1"/>
          <p:nvPr/>
        </p:nvSpPr>
        <p:spPr>
          <a:xfrm>
            <a:off x="9276715" y="4442460"/>
            <a:ext cx="2851785" cy="1506855"/>
          </a:xfrm>
          <a:prstGeom prst="rect">
            <a:avLst/>
          </a:prstGeom>
          <a:noFill/>
          <a:ln w="9525">
            <a:noFill/>
          </a:ln>
        </p:spPr>
        <p:txBody>
          <a:bodyPr wrap="square">
            <a:spAutoFit/>
          </a:bodyPr>
          <a:p>
            <a:pPr algn="just" fontAlgn="auto">
              <a:lnSpc>
                <a:spcPct val="100000"/>
              </a:lnSpc>
              <a:defRPr/>
            </a:pPr>
            <a:r>
              <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小号上架，找刷单公司购买发空包，大号跟售过去，</a:t>
            </a:r>
            <a:r>
              <a:rPr lang="zh-CN" altLang="en-US"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铺小号，</a:t>
            </a:r>
            <a:r>
              <a:rPr lang="en-US" altLang="zh-CN" sz="1600"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挂小号风险大，需要人力和小号资源，平台佣金15%个点+刷单公司10-15元+空包12元</a:t>
            </a:r>
            <a:r>
              <a:rPr lang="en-US" altLang="zh-CN" sz="1200" noProof="0" dirty="0">
                <a:ln>
                  <a:noFill/>
                </a:ln>
                <a:solidFill>
                  <a:schemeClr val="bg1"/>
                </a:solidFill>
                <a:effectLst/>
                <a:uLnTx/>
                <a:uFillTx/>
                <a:latin typeface="微软雅黑" panose="020B0503020204020204" charset="-122"/>
                <a:ea typeface="微软雅黑" panose="020B0503020204020204" charset="-122"/>
                <a:sym typeface="+mn-ea"/>
              </a:rPr>
              <a:t>	</a:t>
            </a:r>
            <a:r>
              <a:rPr lang="en-US" altLang="zh-CN" sz="1200" noProof="0" dirty="0">
                <a:ln>
                  <a:noFill/>
                </a:ln>
                <a:solidFill>
                  <a:srgbClr val="FF0000"/>
                </a:solidFill>
                <a:effectLst/>
                <a:uLnTx/>
                <a:uFillTx/>
                <a:latin typeface="微软雅黑" panose="020B0503020204020204" charset="-122"/>
                <a:ea typeface="微软雅黑" panose="020B0503020204020204" charset="-122"/>
                <a:sym typeface="+mn-ea"/>
              </a:rPr>
              <a:t>(</a:t>
            </a:r>
            <a:r>
              <a:rPr lang="zh-CN" altLang="en-US" sz="1200" noProof="0" dirty="0">
                <a:ln>
                  <a:noFill/>
                </a:ln>
                <a:solidFill>
                  <a:srgbClr val="FF0000"/>
                </a:solidFill>
                <a:effectLst/>
                <a:uLnTx/>
                <a:uFillTx/>
                <a:latin typeface="微软雅黑" panose="020B0503020204020204" charset="-122"/>
                <a:ea typeface="微软雅黑" panose="020B0503020204020204" charset="-122"/>
                <a:sym typeface="+mn-ea"/>
              </a:rPr>
              <a:t>成本高，风险大</a:t>
            </a:r>
            <a:r>
              <a:rPr lang="en-US" altLang="zh-CN" sz="1200" noProof="0" dirty="0">
                <a:ln>
                  <a:noFill/>
                </a:ln>
                <a:solidFill>
                  <a:srgbClr val="FF0000"/>
                </a:solidFill>
                <a:effectLst/>
                <a:uLnTx/>
                <a:uFillTx/>
                <a:latin typeface="微软雅黑" panose="020B0503020204020204" charset="-122"/>
                <a:ea typeface="微软雅黑" panose="020B0503020204020204" charset="-122"/>
                <a:sym typeface="+mn-ea"/>
              </a:rPr>
              <a:t>)</a:t>
            </a:r>
            <a:endParaRPr lang="en-US" altLang="zh-CN" sz="1200" noProof="0" dirty="0">
              <a:ln>
                <a:noFill/>
              </a:ln>
              <a:solidFill>
                <a:srgbClr val="FF0000"/>
              </a:solidFill>
              <a:effectLst/>
              <a:uLnTx/>
              <a:uFillTx/>
              <a:latin typeface="微软雅黑" panose="020B0503020204020204" charset="-122"/>
              <a:ea typeface="微软雅黑" panose="020B0503020204020204" charset="-122"/>
              <a:sym typeface="+mn-ea"/>
            </a:endParaRPr>
          </a:p>
        </p:txBody>
      </p:sp>
      <p:sp>
        <p:nvSpPr>
          <p:cNvPr id="8" name="文本框 7"/>
          <p:cNvSpPr txBox="1"/>
          <p:nvPr/>
        </p:nvSpPr>
        <p:spPr>
          <a:xfrm>
            <a:off x="795655" y="6226810"/>
            <a:ext cx="11253470" cy="368300"/>
          </a:xfrm>
          <a:prstGeom prst="rect">
            <a:avLst/>
          </a:prstGeom>
          <a:noFill/>
        </p:spPr>
        <p:txBody>
          <a:bodyPr wrap="none" rtlCol="0">
            <a:spAutoFit/>
          </a:bodyPr>
          <a:p>
            <a:pPr algn="l"/>
            <a:r>
              <a:rPr lang="en-US" altLang="zh-CN"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优化好Listing、做好产品、用心经营才是王道，就算一时没有Review，随着成长</a:t>
            </a:r>
            <a:r>
              <a:rPr lang="zh-CN" altLang="en-US"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累积</a:t>
            </a:r>
            <a:r>
              <a:rPr lang="en-US" altLang="zh-CN"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rPr>
              <a:t>也可以成为Best Seller。</a:t>
            </a:r>
            <a:endParaRPr lang="en-US" altLang="zh-CN" noProof="0" dirty="0">
              <a:ln>
                <a:noFill/>
              </a:ln>
              <a:solidFill>
                <a:schemeClr val="tx1">
                  <a:lumMod val="95000"/>
                  <a:lumOff val="5000"/>
                </a:schemeClr>
              </a:solidFill>
              <a:effectLst/>
              <a:uLnTx/>
              <a:uFillTx/>
              <a:latin typeface="微软雅黑" panose="020B0503020204020204" charset="-122"/>
              <a:ea typeface="微软雅黑" panose="020B0503020204020204" charset="-122"/>
              <a:sym typeface="+mn-ea"/>
            </a:endParaRPr>
          </a:p>
        </p:txBody>
      </p:sp>
      <p:sp>
        <p:nvSpPr>
          <p:cNvPr id="49" name="Freeform 32"/>
          <p:cNvSpPr>
            <a:spLocks noEditPoints="1"/>
          </p:cNvSpPr>
          <p:nvPr/>
        </p:nvSpPr>
        <p:spPr>
          <a:xfrm>
            <a:off x="3731260" y="3146425"/>
            <a:ext cx="681990" cy="709930"/>
          </a:xfrm>
          <a:custGeom>
            <a:avLst/>
            <a:gdLst>
              <a:gd name="txL" fmla="*/ 0 w 4318"/>
              <a:gd name="txT" fmla="*/ 0 h 4316"/>
              <a:gd name="txR" fmla="*/ 4318 w 4318"/>
              <a:gd name="txB" fmla="*/ 4316 h 4316"/>
            </a:gdLst>
            <a:ahLst/>
            <a:cxnLst>
              <a:cxn ang="0">
                <a:pos x="311170" y="6150"/>
              </a:cxn>
              <a:cxn ang="0">
                <a:pos x="226657" y="31978"/>
              </a:cxn>
              <a:cxn ang="0">
                <a:pos x="151807" y="75904"/>
              </a:cxn>
              <a:cxn ang="0">
                <a:pos x="89257" y="134940"/>
              </a:cxn>
              <a:cxn ang="0">
                <a:pos x="41290" y="206978"/>
              </a:cxn>
              <a:cxn ang="0">
                <a:pos x="10718" y="289031"/>
              </a:cxn>
              <a:cxn ang="0">
                <a:pos x="0" y="379343"/>
              </a:cxn>
              <a:cxn ang="0">
                <a:pos x="10718" y="469127"/>
              </a:cxn>
              <a:cxn ang="0">
                <a:pos x="41290" y="551532"/>
              </a:cxn>
              <a:cxn ang="0">
                <a:pos x="89257" y="623570"/>
              </a:cxn>
              <a:cxn ang="0">
                <a:pos x="151807" y="682606"/>
              </a:cxn>
              <a:cxn ang="0">
                <a:pos x="226657" y="726356"/>
              </a:cxn>
              <a:cxn ang="0">
                <a:pos x="311170" y="752184"/>
              </a:cxn>
              <a:cxn ang="0">
                <a:pos x="402536" y="757631"/>
              </a:cxn>
              <a:cxn ang="0">
                <a:pos x="490914" y="741818"/>
              </a:cxn>
              <a:cxn ang="0">
                <a:pos x="570684" y="706501"/>
              </a:cxn>
              <a:cxn ang="0">
                <a:pos x="639735" y="654845"/>
              </a:cxn>
              <a:cxn ang="0">
                <a:pos x="695433" y="589132"/>
              </a:cxn>
              <a:cxn ang="0">
                <a:pos x="734966" y="511471"/>
              </a:cxn>
              <a:cxn ang="0">
                <a:pos x="756050" y="425025"/>
              </a:cxn>
              <a:cxn ang="0">
                <a:pos x="756050" y="333308"/>
              </a:cxn>
              <a:cxn ang="0">
                <a:pos x="734966" y="247038"/>
              </a:cxn>
              <a:cxn ang="0">
                <a:pos x="695433" y="169553"/>
              </a:cxn>
              <a:cxn ang="0">
                <a:pos x="639735" y="103489"/>
              </a:cxn>
              <a:cxn ang="0">
                <a:pos x="570684" y="51657"/>
              </a:cxn>
              <a:cxn ang="0">
                <a:pos x="490914" y="16692"/>
              </a:cxn>
              <a:cxn ang="0">
                <a:pos x="402536" y="703"/>
              </a:cxn>
              <a:cxn ang="0">
                <a:pos x="335417" y="726356"/>
              </a:cxn>
              <a:cxn ang="0">
                <a:pos x="252661" y="705623"/>
              </a:cxn>
              <a:cxn ang="0">
                <a:pos x="179217" y="666617"/>
              </a:cxn>
              <a:cxn ang="0">
                <a:pos x="117545" y="611622"/>
              </a:cxn>
              <a:cxn ang="0">
                <a:pos x="70106" y="543801"/>
              </a:cxn>
              <a:cxn ang="0">
                <a:pos x="39709" y="465261"/>
              </a:cxn>
              <a:cxn ang="0">
                <a:pos x="29167" y="379343"/>
              </a:cxn>
              <a:cxn ang="0">
                <a:pos x="39709" y="293072"/>
              </a:cxn>
              <a:cxn ang="0">
                <a:pos x="70106" y="214533"/>
              </a:cxn>
              <a:cxn ang="0">
                <a:pos x="117545" y="146712"/>
              </a:cxn>
              <a:cxn ang="0">
                <a:pos x="179217" y="92068"/>
              </a:cxn>
              <a:cxn ang="0">
                <a:pos x="252661" y="52887"/>
              </a:cxn>
              <a:cxn ang="0">
                <a:pos x="335417" y="31978"/>
              </a:cxn>
              <a:cxn ang="0">
                <a:pos x="423269" y="31978"/>
              </a:cxn>
              <a:cxn ang="0">
                <a:pos x="505849" y="52887"/>
              </a:cxn>
              <a:cxn ang="0">
                <a:pos x="579469" y="92068"/>
              </a:cxn>
              <a:cxn ang="0">
                <a:pos x="641141" y="146712"/>
              </a:cxn>
              <a:cxn ang="0">
                <a:pos x="688580" y="214533"/>
              </a:cxn>
              <a:cxn ang="0">
                <a:pos x="718977" y="293072"/>
              </a:cxn>
              <a:cxn ang="0">
                <a:pos x="729519" y="379343"/>
              </a:cxn>
              <a:cxn ang="0">
                <a:pos x="718977" y="465261"/>
              </a:cxn>
              <a:cxn ang="0">
                <a:pos x="688580" y="543801"/>
              </a:cxn>
              <a:cxn ang="0">
                <a:pos x="641141" y="611622"/>
              </a:cxn>
              <a:cxn ang="0">
                <a:pos x="579469" y="666617"/>
              </a:cxn>
              <a:cxn ang="0">
                <a:pos x="505849" y="705623"/>
              </a:cxn>
              <a:cxn ang="0">
                <a:pos x="423269" y="726356"/>
              </a:cxn>
              <a:cxn ang="0">
                <a:pos x="328740" y="221210"/>
              </a:cxn>
              <a:cxn ang="0">
                <a:pos x="315036" y="220156"/>
              </a:cxn>
              <a:cxn ang="0">
                <a:pos x="308183" y="226130"/>
              </a:cxn>
              <a:cxn ang="0">
                <a:pos x="306250" y="522365"/>
              </a:cxn>
              <a:cxn ang="0">
                <a:pos x="310467" y="535718"/>
              </a:cxn>
              <a:cxn ang="0">
                <a:pos x="324524" y="539408"/>
              </a:cxn>
              <a:cxn ang="0">
                <a:pos x="523068" y="386898"/>
              </a:cxn>
              <a:cxn ang="0">
                <a:pos x="523068" y="371963"/>
              </a:cxn>
              <a:cxn ang="0">
                <a:pos x="335417" y="263379"/>
              </a:cxn>
            </a:cxnLst>
            <a:rect l="txL" t="txT" r="txR" b="txB"/>
            <a:pathLst>
              <a:path w="4318" h="4316">
                <a:moveTo>
                  <a:pt x="2158" y="0"/>
                </a:moveTo>
                <a:lnTo>
                  <a:pt x="2027" y="4"/>
                </a:lnTo>
                <a:lnTo>
                  <a:pt x="1898" y="16"/>
                </a:lnTo>
                <a:lnTo>
                  <a:pt x="1771" y="35"/>
                </a:lnTo>
                <a:lnTo>
                  <a:pt x="1646" y="61"/>
                </a:lnTo>
                <a:lnTo>
                  <a:pt x="1524" y="95"/>
                </a:lnTo>
                <a:lnTo>
                  <a:pt x="1405" y="135"/>
                </a:lnTo>
                <a:lnTo>
                  <a:pt x="1290" y="182"/>
                </a:lnTo>
                <a:lnTo>
                  <a:pt x="1177" y="236"/>
                </a:lnTo>
                <a:lnTo>
                  <a:pt x="1069" y="294"/>
                </a:lnTo>
                <a:lnTo>
                  <a:pt x="965" y="360"/>
                </a:lnTo>
                <a:lnTo>
                  <a:pt x="864" y="432"/>
                </a:lnTo>
                <a:lnTo>
                  <a:pt x="767" y="508"/>
                </a:lnTo>
                <a:lnTo>
                  <a:pt x="676" y="589"/>
                </a:lnTo>
                <a:lnTo>
                  <a:pt x="589" y="677"/>
                </a:lnTo>
                <a:lnTo>
                  <a:pt x="508" y="768"/>
                </a:lnTo>
                <a:lnTo>
                  <a:pt x="431" y="864"/>
                </a:lnTo>
                <a:lnTo>
                  <a:pt x="360" y="965"/>
                </a:lnTo>
                <a:lnTo>
                  <a:pt x="294" y="1069"/>
                </a:lnTo>
                <a:lnTo>
                  <a:pt x="235" y="1178"/>
                </a:lnTo>
                <a:lnTo>
                  <a:pt x="182" y="1289"/>
                </a:lnTo>
                <a:lnTo>
                  <a:pt x="135" y="1406"/>
                </a:lnTo>
                <a:lnTo>
                  <a:pt x="94" y="1524"/>
                </a:lnTo>
                <a:lnTo>
                  <a:pt x="61" y="1645"/>
                </a:lnTo>
                <a:lnTo>
                  <a:pt x="35" y="1770"/>
                </a:lnTo>
                <a:lnTo>
                  <a:pt x="15" y="1897"/>
                </a:lnTo>
                <a:lnTo>
                  <a:pt x="4" y="2026"/>
                </a:lnTo>
                <a:lnTo>
                  <a:pt x="0" y="2159"/>
                </a:lnTo>
                <a:lnTo>
                  <a:pt x="4" y="2290"/>
                </a:lnTo>
                <a:lnTo>
                  <a:pt x="15" y="2419"/>
                </a:lnTo>
                <a:lnTo>
                  <a:pt x="35" y="2546"/>
                </a:lnTo>
                <a:lnTo>
                  <a:pt x="61" y="2670"/>
                </a:lnTo>
                <a:lnTo>
                  <a:pt x="94" y="2792"/>
                </a:lnTo>
                <a:lnTo>
                  <a:pt x="135" y="2911"/>
                </a:lnTo>
                <a:lnTo>
                  <a:pt x="182" y="3027"/>
                </a:lnTo>
                <a:lnTo>
                  <a:pt x="235" y="3139"/>
                </a:lnTo>
                <a:lnTo>
                  <a:pt x="294" y="3248"/>
                </a:lnTo>
                <a:lnTo>
                  <a:pt x="360" y="3353"/>
                </a:lnTo>
                <a:lnTo>
                  <a:pt x="431" y="3452"/>
                </a:lnTo>
                <a:lnTo>
                  <a:pt x="508" y="3549"/>
                </a:lnTo>
                <a:lnTo>
                  <a:pt x="589" y="3641"/>
                </a:lnTo>
                <a:lnTo>
                  <a:pt x="676" y="3727"/>
                </a:lnTo>
                <a:lnTo>
                  <a:pt x="767" y="3808"/>
                </a:lnTo>
                <a:lnTo>
                  <a:pt x="864" y="3885"/>
                </a:lnTo>
                <a:lnTo>
                  <a:pt x="965" y="3956"/>
                </a:lnTo>
                <a:lnTo>
                  <a:pt x="1069" y="4021"/>
                </a:lnTo>
                <a:lnTo>
                  <a:pt x="1177" y="4080"/>
                </a:lnTo>
                <a:lnTo>
                  <a:pt x="1290" y="4134"/>
                </a:lnTo>
                <a:lnTo>
                  <a:pt x="1405" y="4181"/>
                </a:lnTo>
                <a:lnTo>
                  <a:pt x="1524" y="4222"/>
                </a:lnTo>
                <a:lnTo>
                  <a:pt x="1646" y="4254"/>
                </a:lnTo>
                <a:lnTo>
                  <a:pt x="1771" y="4281"/>
                </a:lnTo>
                <a:lnTo>
                  <a:pt x="1898" y="4300"/>
                </a:lnTo>
                <a:lnTo>
                  <a:pt x="2027" y="4312"/>
                </a:lnTo>
                <a:lnTo>
                  <a:pt x="2158" y="4316"/>
                </a:lnTo>
                <a:lnTo>
                  <a:pt x="2291" y="4312"/>
                </a:lnTo>
                <a:lnTo>
                  <a:pt x="2420" y="4300"/>
                </a:lnTo>
                <a:lnTo>
                  <a:pt x="2547" y="4281"/>
                </a:lnTo>
                <a:lnTo>
                  <a:pt x="2672" y="4254"/>
                </a:lnTo>
                <a:lnTo>
                  <a:pt x="2794" y="4222"/>
                </a:lnTo>
                <a:lnTo>
                  <a:pt x="2913" y="4181"/>
                </a:lnTo>
                <a:lnTo>
                  <a:pt x="3028" y="4134"/>
                </a:lnTo>
                <a:lnTo>
                  <a:pt x="3139" y="4080"/>
                </a:lnTo>
                <a:lnTo>
                  <a:pt x="3248" y="4021"/>
                </a:lnTo>
                <a:lnTo>
                  <a:pt x="3353" y="3956"/>
                </a:lnTo>
                <a:lnTo>
                  <a:pt x="3454" y="3885"/>
                </a:lnTo>
                <a:lnTo>
                  <a:pt x="3549" y="3808"/>
                </a:lnTo>
                <a:lnTo>
                  <a:pt x="3641" y="3727"/>
                </a:lnTo>
                <a:lnTo>
                  <a:pt x="3729" y="3641"/>
                </a:lnTo>
                <a:lnTo>
                  <a:pt x="3810" y="3549"/>
                </a:lnTo>
                <a:lnTo>
                  <a:pt x="3887" y="3452"/>
                </a:lnTo>
                <a:lnTo>
                  <a:pt x="3958" y="3353"/>
                </a:lnTo>
                <a:lnTo>
                  <a:pt x="4024" y="3248"/>
                </a:lnTo>
                <a:lnTo>
                  <a:pt x="4083" y="3139"/>
                </a:lnTo>
                <a:lnTo>
                  <a:pt x="4136" y="3027"/>
                </a:lnTo>
                <a:lnTo>
                  <a:pt x="4183" y="2911"/>
                </a:lnTo>
                <a:lnTo>
                  <a:pt x="4223" y="2792"/>
                </a:lnTo>
                <a:lnTo>
                  <a:pt x="4257" y="2670"/>
                </a:lnTo>
                <a:lnTo>
                  <a:pt x="4283" y="2546"/>
                </a:lnTo>
                <a:lnTo>
                  <a:pt x="4303" y="2419"/>
                </a:lnTo>
                <a:lnTo>
                  <a:pt x="4314" y="2290"/>
                </a:lnTo>
                <a:lnTo>
                  <a:pt x="4318" y="2159"/>
                </a:lnTo>
                <a:lnTo>
                  <a:pt x="4314" y="2026"/>
                </a:lnTo>
                <a:lnTo>
                  <a:pt x="4303" y="1897"/>
                </a:lnTo>
                <a:lnTo>
                  <a:pt x="4283" y="1770"/>
                </a:lnTo>
                <a:lnTo>
                  <a:pt x="4257" y="1645"/>
                </a:lnTo>
                <a:lnTo>
                  <a:pt x="4223" y="1524"/>
                </a:lnTo>
                <a:lnTo>
                  <a:pt x="4183" y="1406"/>
                </a:lnTo>
                <a:lnTo>
                  <a:pt x="4136" y="1289"/>
                </a:lnTo>
                <a:lnTo>
                  <a:pt x="4083" y="1178"/>
                </a:lnTo>
                <a:lnTo>
                  <a:pt x="4024" y="1069"/>
                </a:lnTo>
                <a:lnTo>
                  <a:pt x="3958" y="965"/>
                </a:lnTo>
                <a:lnTo>
                  <a:pt x="3887" y="864"/>
                </a:lnTo>
                <a:lnTo>
                  <a:pt x="3810" y="768"/>
                </a:lnTo>
                <a:lnTo>
                  <a:pt x="3729" y="677"/>
                </a:lnTo>
                <a:lnTo>
                  <a:pt x="3641" y="589"/>
                </a:lnTo>
                <a:lnTo>
                  <a:pt x="3549" y="508"/>
                </a:lnTo>
                <a:lnTo>
                  <a:pt x="3454" y="432"/>
                </a:lnTo>
                <a:lnTo>
                  <a:pt x="3353" y="360"/>
                </a:lnTo>
                <a:lnTo>
                  <a:pt x="3248" y="294"/>
                </a:lnTo>
                <a:lnTo>
                  <a:pt x="3141" y="236"/>
                </a:lnTo>
                <a:lnTo>
                  <a:pt x="3028" y="182"/>
                </a:lnTo>
                <a:lnTo>
                  <a:pt x="2913" y="135"/>
                </a:lnTo>
                <a:lnTo>
                  <a:pt x="2794" y="95"/>
                </a:lnTo>
                <a:lnTo>
                  <a:pt x="2672" y="61"/>
                </a:lnTo>
                <a:lnTo>
                  <a:pt x="2547" y="35"/>
                </a:lnTo>
                <a:lnTo>
                  <a:pt x="2420" y="16"/>
                </a:lnTo>
                <a:lnTo>
                  <a:pt x="2291" y="4"/>
                </a:lnTo>
                <a:lnTo>
                  <a:pt x="2158" y="0"/>
                </a:lnTo>
                <a:close/>
                <a:moveTo>
                  <a:pt x="2158" y="4150"/>
                </a:moveTo>
                <a:lnTo>
                  <a:pt x="2033" y="4146"/>
                </a:lnTo>
                <a:lnTo>
                  <a:pt x="1909" y="4134"/>
                </a:lnTo>
                <a:lnTo>
                  <a:pt x="1788" y="4116"/>
                </a:lnTo>
                <a:lnTo>
                  <a:pt x="1668" y="4090"/>
                </a:lnTo>
                <a:lnTo>
                  <a:pt x="1552" y="4055"/>
                </a:lnTo>
                <a:lnTo>
                  <a:pt x="1438" y="4016"/>
                </a:lnTo>
                <a:lnTo>
                  <a:pt x="1328" y="3969"/>
                </a:lnTo>
                <a:lnTo>
                  <a:pt x="1222" y="3917"/>
                </a:lnTo>
                <a:lnTo>
                  <a:pt x="1120" y="3858"/>
                </a:lnTo>
                <a:lnTo>
                  <a:pt x="1020" y="3794"/>
                </a:lnTo>
                <a:lnTo>
                  <a:pt x="926" y="3723"/>
                </a:lnTo>
                <a:lnTo>
                  <a:pt x="835" y="3647"/>
                </a:lnTo>
                <a:lnTo>
                  <a:pt x="749" y="3567"/>
                </a:lnTo>
                <a:lnTo>
                  <a:pt x="669" y="3481"/>
                </a:lnTo>
                <a:lnTo>
                  <a:pt x="593" y="3390"/>
                </a:lnTo>
                <a:lnTo>
                  <a:pt x="522" y="3296"/>
                </a:lnTo>
                <a:lnTo>
                  <a:pt x="458" y="3197"/>
                </a:lnTo>
                <a:lnTo>
                  <a:pt x="399" y="3095"/>
                </a:lnTo>
                <a:lnTo>
                  <a:pt x="347" y="2989"/>
                </a:lnTo>
                <a:lnTo>
                  <a:pt x="300" y="2879"/>
                </a:lnTo>
                <a:lnTo>
                  <a:pt x="260" y="2765"/>
                </a:lnTo>
                <a:lnTo>
                  <a:pt x="226" y="2648"/>
                </a:lnTo>
                <a:lnTo>
                  <a:pt x="200" y="2529"/>
                </a:lnTo>
                <a:lnTo>
                  <a:pt x="182" y="2409"/>
                </a:lnTo>
                <a:lnTo>
                  <a:pt x="170" y="2284"/>
                </a:lnTo>
                <a:lnTo>
                  <a:pt x="166" y="2159"/>
                </a:lnTo>
                <a:lnTo>
                  <a:pt x="170" y="2032"/>
                </a:lnTo>
                <a:lnTo>
                  <a:pt x="182" y="1909"/>
                </a:lnTo>
                <a:lnTo>
                  <a:pt x="200" y="1787"/>
                </a:lnTo>
                <a:lnTo>
                  <a:pt x="226" y="1668"/>
                </a:lnTo>
                <a:lnTo>
                  <a:pt x="260" y="1551"/>
                </a:lnTo>
                <a:lnTo>
                  <a:pt x="300" y="1439"/>
                </a:lnTo>
                <a:lnTo>
                  <a:pt x="347" y="1329"/>
                </a:lnTo>
                <a:lnTo>
                  <a:pt x="399" y="1221"/>
                </a:lnTo>
                <a:lnTo>
                  <a:pt x="458" y="1119"/>
                </a:lnTo>
                <a:lnTo>
                  <a:pt x="522" y="1020"/>
                </a:lnTo>
                <a:lnTo>
                  <a:pt x="593" y="925"/>
                </a:lnTo>
                <a:lnTo>
                  <a:pt x="669" y="835"/>
                </a:lnTo>
                <a:lnTo>
                  <a:pt x="749" y="750"/>
                </a:lnTo>
                <a:lnTo>
                  <a:pt x="835" y="669"/>
                </a:lnTo>
                <a:lnTo>
                  <a:pt x="926" y="593"/>
                </a:lnTo>
                <a:lnTo>
                  <a:pt x="1020" y="524"/>
                </a:lnTo>
                <a:lnTo>
                  <a:pt x="1120" y="458"/>
                </a:lnTo>
                <a:lnTo>
                  <a:pt x="1222" y="399"/>
                </a:lnTo>
                <a:lnTo>
                  <a:pt x="1328" y="347"/>
                </a:lnTo>
                <a:lnTo>
                  <a:pt x="1438" y="301"/>
                </a:lnTo>
                <a:lnTo>
                  <a:pt x="1552" y="260"/>
                </a:lnTo>
                <a:lnTo>
                  <a:pt x="1668" y="228"/>
                </a:lnTo>
                <a:lnTo>
                  <a:pt x="1788" y="202"/>
                </a:lnTo>
                <a:lnTo>
                  <a:pt x="1909" y="182"/>
                </a:lnTo>
                <a:lnTo>
                  <a:pt x="2033" y="170"/>
                </a:lnTo>
                <a:lnTo>
                  <a:pt x="2158" y="166"/>
                </a:lnTo>
                <a:lnTo>
                  <a:pt x="2285" y="170"/>
                </a:lnTo>
                <a:lnTo>
                  <a:pt x="2409" y="182"/>
                </a:lnTo>
                <a:lnTo>
                  <a:pt x="2530" y="202"/>
                </a:lnTo>
                <a:lnTo>
                  <a:pt x="2650" y="228"/>
                </a:lnTo>
                <a:lnTo>
                  <a:pt x="2766" y="260"/>
                </a:lnTo>
                <a:lnTo>
                  <a:pt x="2879" y="301"/>
                </a:lnTo>
                <a:lnTo>
                  <a:pt x="2989" y="347"/>
                </a:lnTo>
                <a:lnTo>
                  <a:pt x="3096" y="399"/>
                </a:lnTo>
                <a:lnTo>
                  <a:pt x="3198" y="458"/>
                </a:lnTo>
                <a:lnTo>
                  <a:pt x="3298" y="524"/>
                </a:lnTo>
                <a:lnTo>
                  <a:pt x="3392" y="593"/>
                </a:lnTo>
                <a:lnTo>
                  <a:pt x="3483" y="669"/>
                </a:lnTo>
                <a:lnTo>
                  <a:pt x="3568" y="750"/>
                </a:lnTo>
                <a:lnTo>
                  <a:pt x="3649" y="835"/>
                </a:lnTo>
                <a:lnTo>
                  <a:pt x="3725" y="925"/>
                </a:lnTo>
                <a:lnTo>
                  <a:pt x="3794" y="1020"/>
                </a:lnTo>
                <a:lnTo>
                  <a:pt x="3860" y="1119"/>
                </a:lnTo>
                <a:lnTo>
                  <a:pt x="3919" y="1221"/>
                </a:lnTo>
                <a:lnTo>
                  <a:pt x="3971" y="1329"/>
                </a:lnTo>
                <a:lnTo>
                  <a:pt x="4018" y="1439"/>
                </a:lnTo>
                <a:lnTo>
                  <a:pt x="4058" y="1551"/>
                </a:lnTo>
                <a:lnTo>
                  <a:pt x="4092" y="1668"/>
                </a:lnTo>
                <a:lnTo>
                  <a:pt x="4118" y="1787"/>
                </a:lnTo>
                <a:lnTo>
                  <a:pt x="4136" y="1909"/>
                </a:lnTo>
                <a:lnTo>
                  <a:pt x="4148" y="2032"/>
                </a:lnTo>
                <a:lnTo>
                  <a:pt x="4152" y="2159"/>
                </a:lnTo>
                <a:lnTo>
                  <a:pt x="4148" y="2284"/>
                </a:lnTo>
                <a:lnTo>
                  <a:pt x="4136" y="2409"/>
                </a:lnTo>
                <a:lnTo>
                  <a:pt x="4118" y="2529"/>
                </a:lnTo>
                <a:lnTo>
                  <a:pt x="4092" y="2648"/>
                </a:lnTo>
                <a:lnTo>
                  <a:pt x="4058" y="2765"/>
                </a:lnTo>
                <a:lnTo>
                  <a:pt x="4018" y="2879"/>
                </a:lnTo>
                <a:lnTo>
                  <a:pt x="3971" y="2989"/>
                </a:lnTo>
                <a:lnTo>
                  <a:pt x="3919" y="3095"/>
                </a:lnTo>
                <a:lnTo>
                  <a:pt x="3860" y="3197"/>
                </a:lnTo>
                <a:lnTo>
                  <a:pt x="3794" y="3296"/>
                </a:lnTo>
                <a:lnTo>
                  <a:pt x="3725" y="3390"/>
                </a:lnTo>
                <a:lnTo>
                  <a:pt x="3649" y="3481"/>
                </a:lnTo>
                <a:lnTo>
                  <a:pt x="3568" y="3567"/>
                </a:lnTo>
                <a:lnTo>
                  <a:pt x="3483" y="3647"/>
                </a:lnTo>
                <a:lnTo>
                  <a:pt x="3392" y="3723"/>
                </a:lnTo>
                <a:lnTo>
                  <a:pt x="3298" y="3794"/>
                </a:lnTo>
                <a:lnTo>
                  <a:pt x="3198" y="3858"/>
                </a:lnTo>
                <a:lnTo>
                  <a:pt x="3096" y="3917"/>
                </a:lnTo>
                <a:lnTo>
                  <a:pt x="2989" y="3969"/>
                </a:lnTo>
                <a:lnTo>
                  <a:pt x="2879" y="4016"/>
                </a:lnTo>
                <a:lnTo>
                  <a:pt x="2766" y="4055"/>
                </a:lnTo>
                <a:lnTo>
                  <a:pt x="2650" y="4090"/>
                </a:lnTo>
                <a:lnTo>
                  <a:pt x="2530" y="4116"/>
                </a:lnTo>
                <a:lnTo>
                  <a:pt x="2409" y="4134"/>
                </a:lnTo>
                <a:lnTo>
                  <a:pt x="2285" y="4146"/>
                </a:lnTo>
                <a:lnTo>
                  <a:pt x="2158" y="4150"/>
                </a:lnTo>
                <a:close/>
                <a:moveTo>
                  <a:pt x="1890" y="1274"/>
                </a:moveTo>
                <a:lnTo>
                  <a:pt x="1871" y="1259"/>
                </a:lnTo>
                <a:lnTo>
                  <a:pt x="1851" y="1249"/>
                </a:lnTo>
                <a:lnTo>
                  <a:pt x="1827" y="1245"/>
                </a:lnTo>
                <a:lnTo>
                  <a:pt x="1809" y="1247"/>
                </a:lnTo>
                <a:lnTo>
                  <a:pt x="1793" y="1253"/>
                </a:lnTo>
                <a:lnTo>
                  <a:pt x="1778" y="1261"/>
                </a:lnTo>
                <a:lnTo>
                  <a:pt x="1772" y="1266"/>
                </a:lnTo>
                <a:lnTo>
                  <a:pt x="1767" y="1271"/>
                </a:lnTo>
                <a:lnTo>
                  <a:pt x="1754" y="1287"/>
                </a:lnTo>
                <a:lnTo>
                  <a:pt x="1746" y="1306"/>
                </a:lnTo>
                <a:lnTo>
                  <a:pt x="1742" y="1326"/>
                </a:lnTo>
                <a:lnTo>
                  <a:pt x="1743" y="1346"/>
                </a:lnTo>
                <a:lnTo>
                  <a:pt x="1743" y="2973"/>
                </a:lnTo>
                <a:lnTo>
                  <a:pt x="1742" y="2993"/>
                </a:lnTo>
                <a:lnTo>
                  <a:pt x="1746" y="3013"/>
                </a:lnTo>
                <a:lnTo>
                  <a:pt x="1754" y="3032"/>
                </a:lnTo>
                <a:lnTo>
                  <a:pt x="1767" y="3049"/>
                </a:lnTo>
                <a:lnTo>
                  <a:pt x="1785" y="3062"/>
                </a:lnTo>
                <a:lnTo>
                  <a:pt x="1805" y="3070"/>
                </a:lnTo>
                <a:lnTo>
                  <a:pt x="1826" y="3074"/>
                </a:lnTo>
                <a:lnTo>
                  <a:pt x="1847" y="3070"/>
                </a:lnTo>
                <a:lnTo>
                  <a:pt x="1868" y="3062"/>
                </a:lnTo>
                <a:lnTo>
                  <a:pt x="1885" y="3049"/>
                </a:lnTo>
                <a:lnTo>
                  <a:pt x="2964" y="2220"/>
                </a:lnTo>
                <a:lnTo>
                  <a:pt x="2977" y="2202"/>
                </a:lnTo>
                <a:lnTo>
                  <a:pt x="2986" y="2181"/>
                </a:lnTo>
                <a:lnTo>
                  <a:pt x="2989" y="2160"/>
                </a:lnTo>
                <a:lnTo>
                  <a:pt x="2986" y="2138"/>
                </a:lnTo>
                <a:lnTo>
                  <a:pt x="2977" y="2117"/>
                </a:lnTo>
                <a:lnTo>
                  <a:pt x="2964" y="2098"/>
                </a:lnTo>
                <a:lnTo>
                  <a:pt x="1890" y="1274"/>
                </a:lnTo>
                <a:close/>
                <a:moveTo>
                  <a:pt x="1909" y="2820"/>
                </a:moveTo>
                <a:lnTo>
                  <a:pt x="1909" y="1499"/>
                </a:lnTo>
                <a:lnTo>
                  <a:pt x="2770" y="2160"/>
                </a:lnTo>
                <a:lnTo>
                  <a:pt x="1909" y="2820"/>
                </a:lnTo>
                <a:close/>
              </a:path>
            </a:pathLst>
          </a:custGeom>
          <a:solidFill>
            <a:srgbClr val="92D050"/>
          </a:solidFill>
          <a:ln w="0">
            <a:noFill/>
          </a:ln>
        </p:spPr>
        <p:txBody>
          <a:bodyPr/>
          <a:p>
            <a:pPr lvl="0"/>
            <a:endParaRPr lang="zh-CN" altLang="en-US" dirty="0">
              <a:latin typeface="等线" panose="02010600030101010101" charset="-122"/>
              <a:ea typeface="等线" panose="02010600030101010101" charset="-122"/>
            </a:endParaRPr>
          </a:p>
        </p:txBody>
      </p:sp>
      <p:sp>
        <p:nvSpPr>
          <p:cNvPr id="11" name="矩形 10"/>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sp>
        <p:nvSpPr>
          <p:cNvPr id="28" name="文本框 27"/>
          <p:cNvSpPr txBox="1"/>
          <p:nvPr/>
        </p:nvSpPr>
        <p:spPr>
          <a:xfrm>
            <a:off x="893445" y="282575"/>
            <a:ext cx="3027680" cy="583565"/>
          </a:xfrm>
          <a:prstGeom prst="rect">
            <a:avLst/>
          </a:prstGeom>
          <a:noFill/>
        </p:spPr>
        <p:txBody>
          <a:bodyPr wrap="none" rtlCol="0">
            <a:spAutoFit/>
          </a:bodyPr>
          <a:p>
            <a:pPr algn="l"/>
            <a:r>
              <a:rPr lang="zh-CN" altLang="en-US" sz="3200" b="1">
                <a:solidFill>
                  <a:schemeClr val="tx1">
                    <a:lumMod val="75000"/>
                    <a:lumOff val="25000"/>
                  </a:schemeClr>
                </a:solidFill>
                <a:sym typeface="+mn-ea"/>
              </a:rPr>
              <a:t>常见的刷单模式</a:t>
            </a:r>
            <a:endParaRPr lang="zh-CN" altLang="en-US" sz="3200" b="1">
              <a:solidFill>
                <a:schemeClr val="tx1">
                  <a:lumMod val="75000"/>
                  <a:lumOff val="25000"/>
                </a:schemeClr>
              </a:solidFill>
              <a:sym typeface="+mn-ea"/>
            </a:endParaRPr>
          </a:p>
        </p:txBody>
      </p:sp>
      <p:sp>
        <p:nvSpPr>
          <p:cNvPr id="18" name="矩形 17"/>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9" name="图片 8"/>
          <p:cNvPicPr>
            <a:picLocks noChangeAspect="1"/>
          </p:cNvPicPr>
          <p:nvPr/>
        </p:nvPicPr>
        <p:blipFill>
          <a:blip r:embed="rId1"/>
          <a:stretch>
            <a:fillRect/>
          </a:stretch>
        </p:blipFill>
        <p:spPr>
          <a:xfrm>
            <a:off x="4413250" y="2463800"/>
            <a:ext cx="3370580" cy="2376170"/>
          </a:xfrm>
          <a:prstGeom prst="rect">
            <a:avLst/>
          </a:prstGeom>
        </p:spPr>
      </p:pic>
    </p:spTree>
  </p:cSld>
  <p:clrMapOvr>
    <a:masterClrMapping/>
  </p:clrMapOvr>
  <p:transition spd="med">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flipV="1">
            <a:off x="1081" y="537"/>
            <a:ext cx="12189839" cy="9548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5" name="矩形 4"/>
          <p:cNvSpPr/>
          <p:nvPr/>
        </p:nvSpPr>
        <p:spPr>
          <a:xfrm flipV="1">
            <a:off x="1081" y="6761975"/>
            <a:ext cx="12189839" cy="9548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2" name="Hexagon 24"/>
          <p:cNvSpPr/>
          <p:nvPr/>
        </p:nvSpPr>
        <p:spPr>
          <a:xfrm>
            <a:off x="3098242" y="2416479"/>
            <a:ext cx="2353367" cy="2028767"/>
          </a:xfrm>
          <a:prstGeom prst="hexagon">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5" tIns="45712" rIns="91425" bIns="45712" numCol="1" spcCol="0" rtlCol="0" fromWordArt="0" anchor="ctr" anchorCtr="0" forceAA="0" compatLnSpc="1">
            <a:noAutofit/>
          </a:bodyPr>
          <a:lstStyle/>
          <a:p>
            <a:pPr algn="ctr"/>
            <a:endParaRPr lang="en-US">
              <a:solidFill>
                <a:schemeClr val="tx1">
                  <a:lumMod val="75000"/>
                  <a:lumOff val="25000"/>
                </a:schemeClr>
              </a:solidFill>
              <a:latin typeface="Roboto" panose="02000000000000000000" pitchFamily="2" charset="0"/>
              <a:ea typeface="Roboto" panose="02000000000000000000" pitchFamily="2" charset="0"/>
            </a:endParaRPr>
          </a:p>
        </p:txBody>
      </p:sp>
      <p:sp>
        <p:nvSpPr>
          <p:cNvPr id="13" name="Freeform 133"/>
          <p:cNvSpPr>
            <a:spLocks noEditPoints="1"/>
          </p:cNvSpPr>
          <p:nvPr/>
        </p:nvSpPr>
        <p:spPr bwMode="auto">
          <a:xfrm>
            <a:off x="3412275" y="2535695"/>
            <a:ext cx="1740898" cy="1785341"/>
          </a:xfrm>
          <a:custGeom>
            <a:avLst/>
            <a:gdLst>
              <a:gd name="T0" fmla="*/ 296 w 296"/>
              <a:gd name="T1" fmla="*/ 148 h 296"/>
              <a:gd name="T2" fmla="*/ 191 w 296"/>
              <a:gd name="T3" fmla="*/ 107 h 296"/>
              <a:gd name="T4" fmla="*/ 196 w 296"/>
              <a:gd name="T5" fmla="*/ 69 h 296"/>
              <a:gd name="T6" fmla="*/ 186 w 296"/>
              <a:gd name="T7" fmla="*/ 65 h 296"/>
              <a:gd name="T8" fmla="*/ 196 w 296"/>
              <a:gd name="T9" fmla="*/ 69 h 296"/>
              <a:gd name="T10" fmla="*/ 117 w 296"/>
              <a:gd name="T11" fmla="*/ 26 h 296"/>
              <a:gd name="T12" fmla="*/ 103 w 296"/>
              <a:gd name="T13" fmla="*/ 26 h 296"/>
              <a:gd name="T14" fmla="*/ 105 w 296"/>
              <a:gd name="T15" fmla="*/ 34 h 296"/>
              <a:gd name="T16" fmla="*/ 95 w 296"/>
              <a:gd name="T17" fmla="*/ 27 h 296"/>
              <a:gd name="T18" fmla="*/ 88 w 296"/>
              <a:gd name="T19" fmla="*/ 30 h 296"/>
              <a:gd name="T20" fmla="*/ 87 w 296"/>
              <a:gd name="T21" fmla="*/ 39 h 296"/>
              <a:gd name="T22" fmla="*/ 81 w 296"/>
              <a:gd name="T23" fmla="*/ 43 h 296"/>
              <a:gd name="T24" fmla="*/ 71 w 296"/>
              <a:gd name="T25" fmla="*/ 40 h 296"/>
              <a:gd name="T26" fmla="*/ 70 w 296"/>
              <a:gd name="T27" fmla="*/ 54 h 296"/>
              <a:gd name="T28" fmla="*/ 17 w 296"/>
              <a:gd name="T29" fmla="*/ 162 h 296"/>
              <a:gd name="T30" fmla="*/ 17 w 296"/>
              <a:gd name="T31" fmla="*/ 162 h 296"/>
              <a:gd name="T32" fmla="*/ 82 w 296"/>
              <a:gd name="T33" fmla="*/ 266 h 296"/>
              <a:gd name="T34" fmla="*/ 71 w 296"/>
              <a:gd name="T35" fmla="*/ 202 h 296"/>
              <a:gd name="T36" fmla="*/ 18 w 296"/>
              <a:gd name="T37" fmla="*/ 152 h 296"/>
              <a:gd name="T38" fmla="*/ 50 w 296"/>
              <a:gd name="T39" fmla="*/ 58 h 296"/>
              <a:gd name="T40" fmla="*/ 80 w 296"/>
              <a:gd name="T41" fmla="*/ 55 h 296"/>
              <a:gd name="T42" fmla="*/ 95 w 296"/>
              <a:gd name="T43" fmla="*/ 37 h 296"/>
              <a:gd name="T44" fmla="*/ 88 w 296"/>
              <a:gd name="T45" fmla="*/ 57 h 296"/>
              <a:gd name="T46" fmla="*/ 105 w 296"/>
              <a:gd name="T47" fmla="*/ 38 h 296"/>
              <a:gd name="T48" fmla="*/ 116 w 296"/>
              <a:gd name="T49" fmla="*/ 40 h 296"/>
              <a:gd name="T50" fmla="*/ 120 w 296"/>
              <a:gd name="T51" fmla="*/ 67 h 296"/>
              <a:gd name="T52" fmla="*/ 114 w 296"/>
              <a:gd name="T53" fmla="*/ 76 h 296"/>
              <a:gd name="T54" fmla="*/ 102 w 296"/>
              <a:gd name="T55" fmla="*/ 51 h 296"/>
              <a:gd name="T56" fmla="*/ 76 w 296"/>
              <a:gd name="T57" fmla="*/ 94 h 296"/>
              <a:gd name="T58" fmla="*/ 102 w 296"/>
              <a:gd name="T59" fmla="*/ 78 h 296"/>
              <a:gd name="T60" fmla="*/ 127 w 296"/>
              <a:gd name="T61" fmla="*/ 115 h 296"/>
              <a:gd name="T62" fmla="*/ 124 w 296"/>
              <a:gd name="T63" fmla="*/ 110 h 296"/>
              <a:gd name="T64" fmla="*/ 112 w 296"/>
              <a:gd name="T65" fmla="*/ 117 h 296"/>
              <a:gd name="T66" fmla="*/ 76 w 296"/>
              <a:gd name="T67" fmla="*/ 161 h 296"/>
              <a:gd name="T68" fmla="*/ 48 w 296"/>
              <a:gd name="T69" fmla="*/ 154 h 296"/>
              <a:gd name="T70" fmla="*/ 45 w 296"/>
              <a:gd name="T71" fmla="*/ 173 h 296"/>
              <a:gd name="T72" fmla="*/ 98 w 296"/>
              <a:gd name="T73" fmla="*/ 187 h 296"/>
              <a:gd name="T74" fmla="*/ 149 w 296"/>
              <a:gd name="T75" fmla="*/ 218 h 296"/>
              <a:gd name="T76" fmla="*/ 88 w 296"/>
              <a:gd name="T77" fmla="*/ 73 h 296"/>
              <a:gd name="T78" fmla="*/ 94 w 296"/>
              <a:gd name="T79" fmla="*/ 69 h 296"/>
              <a:gd name="T80" fmla="*/ 143 w 296"/>
              <a:gd name="T81" fmla="*/ 59 h 296"/>
              <a:gd name="T82" fmla="*/ 134 w 296"/>
              <a:gd name="T83" fmla="*/ 25 h 296"/>
              <a:gd name="T84" fmla="*/ 147 w 296"/>
              <a:gd name="T85" fmla="*/ 15 h 296"/>
              <a:gd name="T86" fmla="*/ 145 w 296"/>
              <a:gd name="T87" fmla="*/ 76 h 296"/>
              <a:gd name="T88" fmla="*/ 198 w 296"/>
              <a:gd name="T89" fmla="*/ 195 h 296"/>
              <a:gd name="T90" fmla="*/ 182 w 296"/>
              <a:gd name="T91" fmla="*/ 139 h 296"/>
              <a:gd name="T92" fmla="*/ 193 w 296"/>
              <a:gd name="T93" fmla="*/ 118 h 296"/>
              <a:gd name="T94" fmla="*/ 216 w 296"/>
              <a:gd name="T95" fmla="*/ 90 h 296"/>
              <a:gd name="T96" fmla="*/ 233 w 296"/>
              <a:gd name="T97" fmla="*/ 49 h 296"/>
              <a:gd name="T98" fmla="*/ 254 w 296"/>
              <a:gd name="T99" fmla="*/ 69 h 296"/>
              <a:gd name="T100" fmla="*/ 279 w 296"/>
              <a:gd name="T101" fmla="*/ 123 h 296"/>
              <a:gd name="T102" fmla="*/ 277 w 296"/>
              <a:gd name="T103" fmla="*/ 185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96" h="296">
                <a:moveTo>
                  <a:pt x="148" y="0"/>
                </a:moveTo>
                <a:cubicBezTo>
                  <a:pt x="66" y="0"/>
                  <a:pt x="0" y="66"/>
                  <a:pt x="0" y="148"/>
                </a:cubicBezTo>
                <a:cubicBezTo>
                  <a:pt x="0" y="230"/>
                  <a:pt x="66" y="296"/>
                  <a:pt x="148" y="296"/>
                </a:cubicBezTo>
                <a:cubicBezTo>
                  <a:pt x="230" y="296"/>
                  <a:pt x="296" y="230"/>
                  <a:pt x="296" y="148"/>
                </a:cubicBezTo>
                <a:cubicBezTo>
                  <a:pt x="296" y="66"/>
                  <a:pt x="230" y="0"/>
                  <a:pt x="148" y="0"/>
                </a:cubicBezTo>
                <a:close/>
                <a:moveTo>
                  <a:pt x="197" y="102"/>
                </a:moveTo>
                <a:cubicBezTo>
                  <a:pt x="197" y="106"/>
                  <a:pt x="197" y="106"/>
                  <a:pt x="197" y="106"/>
                </a:cubicBezTo>
                <a:cubicBezTo>
                  <a:pt x="191" y="107"/>
                  <a:pt x="191" y="107"/>
                  <a:pt x="191" y="107"/>
                </a:cubicBezTo>
                <a:cubicBezTo>
                  <a:pt x="188" y="101"/>
                  <a:pt x="188" y="101"/>
                  <a:pt x="188" y="101"/>
                </a:cubicBezTo>
                <a:cubicBezTo>
                  <a:pt x="188" y="88"/>
                  <a:pt x="188" y="88"/>
                  <a:pt x="188" y="88"/>
                </a:cubicBezTo>
                <a:lnTo>
                  <a:pt x="197" y="102"/>
                </a:lnTo>
                <a:close/>
                <a:moveTo>
                  <a:pt x="196" y="69"/>
                </a:moveTo>
                <a:cubicBezTo>
                  <a:pt x="193" y="72"/>
                  <a:pt x="193" y="72"/>
                  <a:pt x="193" y="72"/>
                </a:cubicBezTo>
                <a:cubicBezTo>
                  <a:pt x="187" y="71"/>
                  <a:pt x="187" y="71"/>
                  <a:pt x="187" y="71"/>
                </a:cubicBezTo>
                <a:cubicBezTo>
                  <a:pt x="186" y="70"/>
                  <a:pt x="186" y="70"/>
                  <a:pt x="186" y="70"/>
                </a:cubicBezTo>
                <a:cubicBezTo>
                  <a:pt x="186" y="65"/>
                  <a:pt x="186" y="65"/>
                  <a:pt x="186" y="65"/>
                </a:cubicBezTo>
                <a:cubicBezTo>
                  <a:pt x="191" y="66"/>
                  <a:pt x="191" y="66"/>
                  <a:pt x="191" y="66"/>
                </a:cubicBezTo>
                <a:cubicBezTo>
                  <a:pt x="195" y="65"/>
                  <a:pt x="195" y="65"/>
                  <a:pt x="195" y="65"/>
                </a:cubicBezTo>
                <a:cubicBezTo>
                  <a:pt x="197" y="65"/>
                  <a:pt x="197" y="65"/>
                  <a:pt x="197" y="65"/>
                </a:cubicBezTo>
                <a:lnTo>
                  <a:pt x="196" y="69"/>
                </a:lnTo>
                <a:close/>
                <a:moveTo>
                  <a:pt x="115" y="22"/>
                </a:moveTo>
                <a:cubicBezTo>
                  <a:pt x="118" y="19"/>
                  <a:pt x="118" y="19"/>
                  <a:pt x="118" y="19"/>
                </a:cubicBezTo>
                <a:cubicBezTo>
                  <a:pt x="122" y="18"/>
                  <a:pt x="127" y="17"/>
                  <a:pt x="131" y="16"/>
                </a:cubicBezTo>
                <a:cubicBezTo>
                  <a:pt x="117" y="26"/>
                  <a:pt x="117" y="26"/>
                  <a:pt x="117" y="26"/>
                </a:cubicBezTo>
                <a:cubicBezTo>
                  <a:pt x="110" y="26"/>
                  <a:pt x="110" y="26"/>
                  <a:pt x="110" y="26"/>
                </a:cubicBezTo>
                <a:lnTo>
                  <a:pt x="115" y="22"/>
                </a:lnTo>
                <a:close/>
                <a:moveTo>
                  <a:pt x="101" y="25"/>
                </a:moveTo>
                <a:cubicBezTo>
                  <a:pt x="103" y="26"/>
                  <a:pt x="103" y="26"/>
                  <a:pt x="103" y="26"/>
                </a:cubicBezTo>
                <a:cubicBezTo>
                  <a:pt x="113" y="31"/>
                  <a:pt x="113" y="31"/>
                  <a:pt x="113" y="31"/>
                </a:cubicBezTo>
                <a:cubicBezTo>
                  <a:pt x="115" y="32"/>
                  <a:pt x="115" y="32"/>
                  <a:pt x="115" y="32"/>
                </a:cubicBezTo>
                <a:cubicBezTo>
                  <a:pt x="111" y="35"/>
                  <a:pt x="111" y="35"/>
                  <a:pt x="111" y="35"/>
                </a:cubicBezTo>
                <a:cubicBezTo>
                  <a:pt x="105" y="34"/>
                  <a:pt x="105" y="34"/>
                  <a:pt x="105" y="34"/>
                </a:cubicBezTo>
                <a:cubicBezTo>
                  <a:pt x="100" y="31"/>
                  <a:pt x="100" y="31"/>
                  <a:pt x="100" y="31"/>
                </a:cubicBezTo>
                <a:lnTo>
                  <a:pt x="101" y="25"/>
                </a:lnTo>
                <a:close/>
                <a:moveTo>
                  <a:pt x="95" y="26"/>
                </a:moveTo>
                <a:cubicBezTo>
                  <a:pt x="95" y="27"/>
                  <a:pt x="95" y="27"/>
                  <a:pt x="95" y="27"/>
                </a:cubicBezTo>
                <a:cubicBezTo>
                  <a:pt x="94" y="29"/>
                  <a:pt x="94" y="29"/>
                  <a:pt x="94" y="29"/>
                </a:cubicBezTo>
                <a:cubicBezTo>
                  <a:pt x="91" y="30"/>
                  <a:pt x="91" y="30"/>
                  <a:pt x="91" y="30"/>
                </a:cubicBezTo>
                <a:cubicBezTo>
                  <a:pt x="88" y="31"/>
                  <a:pt x="88" y="31"/>
                  <a:pt x="88" y="31"/>
                </a:cubicBezTo>
                <a:cubicBezTo>
                  <a:pt x="88" y="30"/>
                  <a:pt x="88" y="30"/>
                  <a:pt x="88" y="30"/>
                </a:cubicBezTo>
                <a:cubicBezTo>
                  <a:pt x="90" y="29"/>
                  <a:pt x="92" y="27"/>
                  <a:pt x="95" y="26"/>
                </a:cubicBezTo>
                <a:close/>
                <a:moveTo>
                  <a:pt x="81" y="43"/>
                </a:moveTo>
                <a:cubicBezTo>
                  <a:pt x="86" y="38"/>
                  <a:pt x="86" y="38"/>
                  <a:pt x="86" y="38"/>
                </a:cubicBezTo>
                <a:cubicBezTo>
                  <a:pt x="87" y="39"/>
                  <a:pt x="87" y="39"/>
                  <a:pt x="87" y="39"/>
                </a:cubicBezTo>
                <a:cubicBezTo>
                  <a:pt x="87" y="42"/>
                  <a:pt x="87" y="42"/>
                  <a:pt x="87" y="42"/>
                </a:cubicBezTo>
                <a:cubicBezTo>
                  <a:pt x="84" y="45"/>
                  <a:pt x="84" y="45"/>
                  <a:pt x="84" y="45"/>
                </a:cubicBezTo>
                <a:cubicBezTo>
                  <a:pt x="80" y="45"/>
                  <a:pt x="80" y="45"/>
                  <a:pt x="80" y="45"/>
                </a:cubicBezTo>
                <a:lnTo>
                  <a:pt x="81" y="43"/>
                </a:lnTo>
                <a:close/>
                <a:moveTo>
                  <a:pt x="54" y="54"/>
                </a:moveTo>
                <a:cubicBezTo>
                  <a:pt x="58" y="51"/>
                  <a:pt x="58" y="51"/>
                  <a:pt x="58" y="51"/>
                </a:cubicBezTo>
                <a:cubicBezTo>
                  <a:pt x="58" y="51"/>
                  <a:pt x="58" y="51"/>
                  <a:pt x="58" y="51"/>
                </a:cubicBezTo>
                <a:cubicBezTo>
                  <a:pt x="62" y="47"/>
                  <a:pt x="66" y="43"/>
                  <a:pt x="71" y="40"/>
                </a:cubicBezTo>
                <a:cubicBezTo>
                  <a:pt x="71" y="40"/>
                  <a:pt x="71" y="40"/>
                  <a:pt x="71" y="40"/>
                </a:cubicBezTo>
                <a:cubicBezTo>
                  <a:pt x="78" y="39"/>
                  <a:pt x="78" y="39"/>
                  <a:pt x="78" y="39"/>
                </a:cubicBezTo>
                <a:cubicBezTo>
                  <a:pt x="78" y="46"/>
                  <a:pt x="78" y="46"/>
                  <a:pt x="78" y="46"/>
                </a:cubicBezTo>
                <a:cubicBezTo>
                  <a:pt x="70" y="54"/>
                  <a:pt x="70" y="54"/>
                  <a:pt x="70" y="54"/>
                </a:cubicBezTo>
                <a:cubicBezTo>
                  <a:pt x="60" y="59"/>
                  <a:pt x="60" y="59"/>
                  <a:pt x="60" y="59"/>
                </a:cubicBezTo>
                <a:cubicBezTo>
                  <a:pt x="54" y="55"/>
                  <a:pt x="54" y="55"/>
                  <a:pt x="54" y="55"/>
                </a:cubicBezTo>
                <a:lnTo>
                  <a:pt x="54" y="54"/>
                </a:lnTo>
                <a:close/>
                <a:moveTo>
                  <a:pt x="17" y="162"/>
                </a:moveTo>
                <a:cubicBezTo>
                  <a:pt x="15" y="156"/>
                  <a:pt x="15" y="156"/>
                  <a:pt x="15" y="156"/>
                </a:cubicBezTo>
                <a:cubicBezTo>
                  <a:pt x="15" y="156"/>
                  <a:pt x="15" y="155"/>
                  <a:pt x="15" y="155"/>
                </a:cubicBezTo>
                <a:cubicBezTo>
                  <a:pt x="17" y="160"/>
                  <a:pt x="17" y="160"/>
                  <a:pt x="17" y="160"/>
                </a:cubicBezTo>
                <a:lnTo>
                  <a:pt x="17" y="162"/>
                </a:lnTo>
                <a:close/>
                <a:moveTo>
                  <a:pt x="141" y="245"/>
                </a:moveTo>
                <a:cubicBezTo>
                  <a:pt x="126" y="256"/>
                  <a:pt x="126" y="256"/>
                  <a:pt x="126" y="256"/>
                </a:cubicBezTo>
                <a:cubicBezTo>
                  <a:pt x="109" y="277"/>
                  <a:pt x="109" y="277"/>
                  <a:pt x="109" y="277"/>
                </a:cubicBezTo>
                <a:cubicBezTo>
                  <a:pt x="100" y="274"/>
                  <a:pt x="91" y="270"/>
                  <a:pt x="82" y="266"/>
                </a:cubicBezTo>
                <a:cubicBezTo>
                  <a:pt x="82" y="249"/>
                  <a:pt x="82" y="249"/>
                  <a:pt x="82" y="249"/>
                </a:cubicBezTo>
                <a:cubicBezTo>
                  <a:pt x="66" y="218"/>
                  <a:pt x="66" y="218"/>
                  <a:pt x="66" y="218"/>
                </a:cubicBezTo>
                <a:cubicBezTo>
                  <a:pt x="67" y="212"/>
                  <a:pt x="67" y="212"/>
                  <a:pt x="67" y="212"/>
                </a:cubicBezTo>
                <a:cubicBezTo>
                  <a:pt x="71" y="202"/>
                  <a:pt x="71" y="202"/>
                  <a:pt x="71" y="202"/>
                </a:cubicBezTo>
                <a:cubicBezTo>
                  <a:pt x="71" y="194"/>
                  <a:pt x="71" y="194"/>
                  <a:pt x="71" y="194"/>
                </a:cubicBezTo>
                <a:cubicBezTo>
                  <a:pt x="66" y="189"/>
                  <a:pt x="66" y="189"/>
                  <a:pt x="66" y="189"/>
                </a:cubicBezTo>
                <a:cubicBezTo>
                  <a:pt x="30" y="173"/>
                  <a:pt x="30" y="173"/>
                  <a:pt x="30" y="173"/>
                </a:cubicBezTo>
                <a:cubicBezTo>
                  <a:pt x="18" y="152"/>
                  <a:pt x="18" y="152"/>
                  <a:pt x="18" y="152"/>
                </a:cubicBezTo>
                <a:cubicBezTo>
                  <a:pt x="14" y="151"/>
                  <a:pt x="14" y="151"/>
                  <a:pt x="14" y="151"/>
                </a:cubicBezTo>
                <a:cubicBezTo>
                  <a:pt x="14" y="151"/>
                  <a:pt x="14" y="151"/>
                  <a:pt x="14" y="151"/>
                </a:cubicBezTo>
                <a:cubicBezTo>
                  <a:pt x="14" y="151"/>
                  <a:pt x="14" y="151"/>
                  <a:pt x="14" y="150"/>
                </a:cubicBezTo>
                <a:cubicBezTo>
                  <a:pt x="14" y="115"/>
                  <a:pt x="28" y="82"/>
                  <a:pt x="50" y="58"/>
                </a:cubicBezTo>
                <a:cubicBezTo>
                  <a:pt x="54" y="60"/>
                  <a:pt x="54" y="60"/>
                  <a:pt x="54" y="60"/>
                </a:cubicBezTo>
                <a:cubicBezTo>
                  <a:pt x="77" y="56"/>
                  <a:pt x="77" y="56"/>
                  <a:pt x="77" y="56"/>
                </a:cubicBezTo>
                <a:cubicBezTo>
                  <a:pt x="80" y="54"/>
                  <a:pt x="80" y="54"/>
                  <a:pt x="80" y="54"/>
                </a:cubicBezTo>
                <a:cubicBezTo>
                  <a:pt x="80" y="55"/>
                  <a:pt x="80" y="55"/>
                  <a:pt x="80" y="55"/>
                </a:cubicBezTo>
                <a:cubicBezTo>
                  <a:pt x="79" y="59"/>
                  <a:pt x="79" y="59"/>
                  <a:pt x="79" y="59"/>
                </a:cubicBezTo>
                <a:cubicBezTo>
                  <a:pt x="78" y="60"/>
                  <a:pt x="78" y="60"/>
                  <a:pt x="78" y="60"/>
                </a:cubicBezTo>
                <a:cubicBezTo>
                  <a:pt x="94" y="38"/>
                  <a:pt x="94" y="38"/>
                  <a:pt x="94" y="38"/>
                </a:cubicBezTo>
                <a:cubicBezTo>
                  <a:pt x="95" y="37"/>
                  <a:pt x="95" y="37"/>
                  <a:pt x="95" y="37"/>
                </a:cubicBezTo>
                <a:cubicBezTo>
                  <a:pt x="96" y="37"/>
                  <a:pt x="96" y="37"/>
                  <a:pt x="96" y="37"/>
                </a:cubicBezTo>
                <a:cubicBezTo>
                  <a:pt x="97" y="38"/>
                  <a:pt x="97" y="38"/>
                  <a:pt x="97" y="38"/>
                </a:cubicBezTo>
                <a:cubicBezTo>
                  <a:pt x="98" y="39"/>
                  <a:pt x="98" y="39"/>
                  <a:pt x="98" y="39"/>
                </a:cubicBezTo>
                <a:cubicBezTo>
                  <a:pt x="88" y="57"/>
                  <a:pt x="88" y="57"/>
                  <a:pt x="88" y="57"/>
                </a:cubicBezTo>
                <a:cubicBezTo>
                  <a:pt x="92" y="61"/>
                  <a:pt x="92" y="61"/>
                  <a:pt x="92" y="61"/>
                </a:cubicBezTo>
                <a:cubicBezTo>
                  <a:pt x="97" y="57"/>
                  <a:pt x="97" y="57"/>
                  <a:pt x="97" y="57"/>
                </a:cubicBezTo>
                <a:cubicBezTo>
                  <a:pt x="99" y="40"/>
                  <a:pt x="99" y="40"/>
                  <a:pt x="99" y="40"/>
                </a:cubicBezTo>
                <a:cubicBezTo>
                  <a:pt x="105" y="38"/>
                  <a:pt x="105" y="38"/>
                  <a:pt x="105" y="38"/>
                </a:cubicBezTo>
                <a:cubicBezTo>
                  <a:pt x="102" y="44"/>
                  <a:pt x="102" y="44"/>
                  <a:pt x="102" y="44"/>
                </a:cubicBezTo>
                <a:cubicBezTo>
                  <a:pt x="112" y="38"/>
                  <a:pt x="112" y="38"/>
                  <a:pt x="112" y="38"/>
                </a:cubicBezTo>
                <a:cubicBezTo>
                  <a:pt x="116" y="39"/>
                  <a:pt x="116" y="39"/>
                  <a:pt x="116" y="39"/>
                </a:cubicBezTo>
                <a:cubicBezTo>
                  <a:pt x="116" y="40"/>
                  <a:pt x="116" y="40"/>
                  <a:pt x="116" y="40"/>
                </a:cubicBezTo>
                <a:cubicBezTo>
                  <a:pt x="110" y="41"/>
                  <a:pt x="110" y="41"/>
                  <a:pt x="110" y="41"/>
                </a:cubicBezTo>
                <a:cubicBezTo>
                  <a:pt x="122" y="52"/>
                  <a:pt x="122" y="52"/>
                  <a:pt x="122" y="52"/>
                </a:cubicBezTo>
                <a:cubicBezTo>
                  <a:pt x="127" y="60"/>
                  <a:pt x="127" y="60"/>
                  <a:pt x="127" y="60"/>
                </a:cubicBezTo>
                <a:cubicBezTo>
                  <a:pt x="120" y="67"/>
                  <a:pt x="120" y="67"/>
                  <a:pt x="120" y="67"/>
                </a:cubicBezTo>
                <a:cubicBezTo>
                  <a:pt x="121" y="68"/>
                  <a:pt x="121" y="68"/>
                  <a:pt x="121" y="68"/>
                </a:cubicBezTo>
                <a:cubicBezTo>
                  <a:pt x="117" y="75"/>
                  <a:pt x="117" y="75"/>
                  <a:pt x="117" y="75"/>
                </a:cubicBezTo>
                <a:cubicBezTo>
                  <a:pt x="116" y="75"/>
                  <a:pt x="116" y="75"/>
                  <a:pt x="116" y="75"/>
                </a:cubicBezTo>
                <a:cubicBezTo>
                  <a:pt x="114" y="76"/>
                  <a:pt x="114" y="76"/>
                  <a:pt x="114" y="76"/>
                </a:cubicBezTo>
                <a:cubicBezTo>
                  <a:pt x="103" y="69"/>
                  <a:pt x="103" y="69"/>
                  <a:pt x="103" y="69"/>
                </a:cubicBezTo>
                <a:cubicBezTo>
                  <a:pt x="114" y="61"/>
                  <a:pt x="114" y="61"/>
                  <a:pt x="114" y="61"/>
                </a:cubicBezTo>
                <a:cubicBezTo>
                  <a:pt x="112" y="57"/>
                  <a:pt x="112" y="57"/>
                  <a:pt x="112" y="57"/>
                </a:cubicBezTo>
                <a:cubicBezTo>
                  <a:pt x="102" y="51"/>
                  <a:pt x="102" y="51"/>
                  <a:pt x="102" y="51"/>
                </a:cubicBezTo>
                <a:cubicBezTo>
                  <a:pt x="99" y="60"/>
                  <a:pt x="99" y="60"/>
                  <a:pt x="99" y="60"/>
                </a:cubicBezTo>
                <a:cubicBezTo>
                  <a:pt x="77" y="77"/>
                  <a:pt x="77" y="77"/>
                  <a:pt x="77" y="77"/>
                </a:cubicBezTo>
                <a:cubicBezTo>
                  <a:pt x="70" y="88"/>
                  <a:pt x="70" y="88"/>
                  <a:pt x="70" y="88"/>
                </a:cubicBezTo>
                <a:cubicBezTo>
                  <a:pt x="76" y="94"/>
                  <a:pt x="76" y="94"/>
                  <a:pt x="76" y="94"/>
                </a:cubicBezTo>
                <a:cubicBezTo>
                  <a:pt x="86" y="99"/>
                  <a:pt x="86" y="99"/>
                  <a:pt x="86" y="99"/>
                </a:cubicBezTo>
                <a:cubicBezTo>
                  <a:pt x="90" y="103"/>
                  <a:pt x="90" y="103"/>
                  <a:pt x="90" y="103"/>
                </a:cubicBezTo>
                <a:cubicBezTo>
                  <a:pt x="99" y="81"/>
                  <a:pt x="99" y="81"/>
                  <a:pt x="99" y="81"/>
                </a:cubicBezTo>
                <a:cubicBezTo>
                  <a:pt x="102" y="78"/>
                  <a:pt x="102" y="78"/>
                  <a:pt x="102" y="78"/>
                </a:cubicBezTo>
                <a:cubicBezTo>
                  <a:pt x="116" y="85"/>
                  <a:pt x="116" y="85"/>
                  <a:pt x="116" y="85"/>
                </a:cubicBezTo>
                <a:cubicBezTo>
                  <a:pt x="118" y="84"/>
                  <a:pt x="118" y="84"/>
                  <a:pt x="118" y="84"/>
                </a:cubicBezTo>
                <a:cubicBezTo>
                  <a:pt x="130" y="113"/>
                  <a:pt x="130" y="113"/>
                  <a:pt x="130" y="113"/>
                </a:cubicBezTo>
                <a:cubicBezTo>
                  <a:pt x="127" y="115"/>
                  <a:pt x="127" y="115"/>
                  <a:pt x="127" y="115"/>
                </a:cubicBezTo>
                <a:cubicBezTo>
                  <a:pt x="122" y="115"/>
                  <a:pt x="122" y="115"/>
                  <a:pt x="122" y="115"/>
                </a:cubicBezTo>
                <a:cubicBezTo>
                  <a:pt x="121" y="113"/>
                  <a:pt x="121" y="113"/>
                  <a:pt x="121" y="113"/>
                </a:cubicBezTo>
                <a:cubicBezTo>
                  <a:pt x="123" y="111"/>
                  <a:pt x="123" y="111"/>
                  <a:pt x="123" y="111"/>
                </a:cubicBezTo>
                <a:cubicBezTo>
                  <a:pt x="124" y="110"/>
                  <a:pt x="124" y="110"/>
                  <a:pt x="124" y="110"/>
                </a:cubicBezTo>
                <a:cubicBezTo>
                  <a:pt x="124" y="108"/>
                  <a:pt x="124" y="108"/>
                  <a:pt x="124" y="108"/>
                </a:cubicBezTo>
                <a:cubicBezTo>
                  <a:pt x="123" y="107"/>
                  <a:pt x="123" y="107"/>
                  <a:pt x="123" y="107"/>
                </a:cubicBezTo>
                <a:cubicBezTo>
                  <a:pt x="105" y="112"/>
                  <a:pt x="105" y="112"/>
                  <a:pt x="105" y="112"/>
                </a:cubicBezTo>
                <a:cubicBezTo>
                  <a:pt x="112" y="117"/>
                  <a:pt x="112" y="117"/>
                  <a:pt x="112" y="117"/>
                </a:cubicBezTo>
                <a:cubicBezTo>
                  <a:pt x="116" y="118"/>
                  <a:pt x="116" y="118"/>
                  <a:pt x="116" y="118"/>
                </a:cubicBezTo>
                <a:cubicBezTo>
                  <a:pt x="88" y="133"/>
                  <a:pt x="88" y="133"/>
                  <a:pt x="88" y="133"/>
                </a:cubicBezTo>
                <a:cubicBezTo>
                  <a:pt x="76" y="152"/>
                  <a:pt x="76" y="152"/>
                  <a:pt x="76" y="152"/>
                </a:cubicBezTo>
                <a:cubicBezTo>
                  <a:pt x="76" y="161"/>
                  <a:pt x="76" y="161"/>
                  <a:pt x="76" y="161"/>
                </a:cubicBezTo>
                <a:cubicBezTo>
                  <a:pt x="71" y="160"/>
                  <a:pt x="71" y="160"/>
                  <a:pt x="71" y="160"/>
                </a:cubicBezTo>
                <a:cubicBezTo>
                  <a:pt x="69" y="154"/>
                  <a:pt x="69" y="154"/>
                  <a:pt x="69" y="154"/>
                </a:cubicBezTo>
                <a:cubicBezTo>
                  <a:pt x="54" y="151"/>
                  <a:pt x="54" y="151"/>
                  <a:pt x="54" y="151"/>
                </a:cubicBezTo>
                <a:cubicBezTo>
                  <a:pt x="48" y="154"/>
                  <a:pt x="48" y="154"/>
                  <a:pt x="48" y="154"/>
                </a:cubicBezTo>
                <a:cubicBezTo>
                  <a:pt x="43" y="161"/>
                  <a:pt x="43" y="161"/>
                  <a:pt x="43" y="161"/>
                </a:cubicBezTo>
                <a:cubicBezTo>
                  <a:pt x="42" y="165"/>
                  <a:pt x="42" y="165"/>
                  <a:pt x="42" y="165"/>
                </a:cubicBezTo>
                <a:cubicBezTo>
                  <a:pt x="42" y="170"/>
                  <a:pt x="42" y="170"/>
                  <a:pt x="42" y="170"/>
                </a:cubicBezTo>
                <a:cubicBezTo>
                  <a:pt x="45" y="173"/>
                  <a:pt x="45" y="173"/>
                  <a:pt x="45" y="173"/>
                </a:cubicBezTo>
                <a:cubicBezTo>
                  <a:pt x="53" y="169"/>
                  <a:pt x="53" y="169"/>
                  <a:pt x="53" y="169"/>
                </a:cubicBezTo>
                <a:cubicBezTo>
                  <a:pt x="56" y="169"/>
                  <a:pt x="56" y="169"/>
                  <a:pt x="56" y="169"/>
                </a:cubicBezTo>
                <a:cubicBezTo>
                  <a:pt x="66" y="186"/>
                  <a:pt x="66" y="186"/>
                  <a:pt x="66" y="186"/>
                </a:cubicBezTo>
                <a:cubicBezTo>
                  <a:pt x="98" y="187"/>
                  <a:pt x="98" y="187"/>
                  <a:pt x="98" y="187"/>
                </a:cubicBezTo>
                <a:cubicBezTo>
                  <a:pt x="112" y="192"/>
                  <a:pt x="112" y="192"/>
                  <a:pt x="112" y="192"/>
                </a:cubicBezTo>
                <a:cubicBezTo>
                  <a:pt x="123" y="207"/>
                  <a:pt x="123" y="207"/>
                  <a:pt x="123" y="207"/>
                </a:cubicBezTo>
                <a:cubicBezTo>
                  <a:pt x="142" y="213"/>
                  <a:pt x="142" y="213"/>
                  <a:pt x="142" y="213"/>
                </a:cubicBezTo>
                <a:cubicBezTo>
                  <a:pt x="149" y="218"/>
                  <a:pt x="149" y="218"/>
                  <a:pt x="149" y="218"/>
                </a:cubicBezTo>
                <a:lnTo>
                  <a:pt x="141" y="245"/>
                </a:lnTo>
                <a:close/>
                <a:moveTo>
                  <a:pt x="95" y="72"/>
                </a:moveTo>
                <a:cubicBezTo>
                  <a:pt x="94" y="73"/>
                  <a:pt x="94" y="73"/>
                  <a:pt x="94" y="73"/>
                </a:cubicBezTo>
                <a:cubicBezTo>
                  <a:pt x="88" y="73"/>
                  <a:pt x="88" y="73"/>
                  <a:pt x="88" y="73"/>
                </a:cubicBezTo>
                <a:cubicBezTo>
                  <a:pt x="87" y="73"/>
                  <a:pt x="87" y="73"/>
                  <a:pt x="87" y="73"/>
                </a:cubicBezTo>
                <a:cubicBezTo>
                  <a:pt x="92" y="67"/>
                  <a:pt x="92" y="67"/>
                  <a:pt x="92" y="67"/>
                </a:cubicBezTo>
                <a:cubicBezTo>
                  <a:pt x="93" y="67"/>
                  <a:pt x="93" y="67"/>
                  <a:pt x="93" y="67"/>
                </a:cubicBezTo>
                <a:cubicBezTo>
                  <a:pt x="94" y="69"/>
                  <a:pt x="94" y="69"/>
                  <a:pt x="94" y="69"/>
                </a:cubicBezTo>
                <a:lnTo>
                  <a:pt x="95" y="72"/>
                </a:lnTo>
                <a:close/>
                <a:moveTo>
                  <a:pt x="145" y="76"/>
                </a:moveTo>
                <a:cubicBezTo>
                  <a:pt x="142" y="67"/>
                  <a:pt x="142" y="67"/>
                  <a:pt x="142" y="67"/>
                </a:cubicBezTo>
                <a:cubicBezTo>
                  <a:pt x="143" y="59"/>
                  <a:pt x="143" y="59"/>
                  <a:pt x="143" y="59"/>
                </a:cubicBezTo>
                <a:cubicBezTo>
                  <a:pt x="148" y="48"/>
                  <a:pt x="148" y="48"/>
                  <a:pt x="148" y="48"/>
                </a:cubicBezTo>
                <a:cubicBezTo>
                  <a:pt x="145" y="29"/>
                  <a:pt x="145" y="29"/>
                  <a:pt x="145" y="29"/>
                </a:cubicBezTo>
                <a:cubicBezTo>
                  <a:pt x="136" y="28"/>
                  <a:pt x="136" y="28"/>
                  <a:pt x="136" y="28"/>
                </a:cubicBezTo>
                <a:cubicBezTo>
                  <a:pt x="134" y="25"/>
                  <a:pt x="134" y="25"/>
                  <a:pt x="134" y="25"/>
                </a:cubicBezTo>
                <a:cubicBezTo>
                  <a:pt x="135" y="22"/>
                  <a:pt x="135" y="22"/>
                  <a:pt x="135" y="22"/>
                </a:cubicBezTo>
                <a:cubicBezTo>
                  <a:pt x="138" y="17"/>
                  <a:pt x="138" y="17"/>
                  <a:pt x="138" y="17"/>
                </a:cubicBezTo>
                <a:cubicBezTo>
                  <a:pt x="140" y="16"/>
                  <a:pt x="140" y="16"/>
                  <a:pt x="140" y="16"/>
                </a:cubicBezTo>
                <a:cubicBezTo>
                  <a:pt x="142" y="16"/>
                  <a:pt x="145" y="15"/>
                  <a:pt x="147" y="15"/>
                </a:cubicBezTo>
                <a:cubicBezTo>
                  <a:pt x="165" y="15"/>
                  <a:pt x="181" y="19"/>
                  <a:pt x="197" y="25"/>
                </a:cubicBezTo>
                <a:cubicBezTo>
                  <a:pt x="188" y="48"/>
                  <a:pt x="188" y="48"/>
                  <a:pt x="188" y="48"/>
                </a:cubicBezTo>
                <a:cubicBezTo>
                  <a:pt x="150" y="81"/>
                  <a:pt x="150" y="81"/>
                  <a:pt x="150" y="81"/>
                </a:cubicBezTo>
                <a:lnTo>
                  <a:pt x="145" y="76"/>
                </a:lnTo>
                <a:close/>
                <a:moveTo>
                  <a:pt x="277" y="185"/>
                </a:moveTo>
                <a:cubicBezTo>
                  <a:pt x="269" y="214"/>
                  <a:pt x="250" y="240"/>
                  <a:pt x="226" y="258"/>
                </a:cubicBezTo>
                <a:cubicBezTo>
                  <a:pt x="208" y="197"/>
                  <a:pt x="208" y="197"/>
                  <a:pt x="208" y="197"/>
                </a:cubicBezTo>
                <a:cubicBezTo>
                  <a:pt x="198" y="195"/>
                  <a:pt x="198" y="195"/>
                  <a:pt x="198" y="195"/>
                </a:cubicBezTo>
                <a:cubicBezTo>
                  <a:pt x="177" y="195"/>
                  <a:pt x="177" y="195"/>
                  <a:pt x="177" y="195"/>
                </a:cubicBezTo>
                <a:cubicBezTo>
                  <a:pt x="164" y="187"/>
                  <a:pt x="164" y="187"/>
                  <a:pt x="164" y="187"/>
                </a:cubicBezTo>
                <a:cubicBezTo>
                  <a:pt x="165" y="172"/>
                  <a:pt x="165" y="172"/>
                  <a:pt x="165" y="172"/>
                </a:cubicBezTo>
                <a:cubicBezTo>
                  <a:pt x="182" y="139"/>
                  <a:pt x="182" y="139"/>
                  <a:pt x="182" y="139"/>
                </a:cubicBezTo>
                <a:cubicBezTo>
                  <a:pt x="181" y="132"/>
                  <a:pt x="181" y="132"/>
                  <a:pt x="181" y="132"/>
                </a:cubicBezTo>
                <a:cubicBezTo>
                  <a:pt x="182" y="126"/>
                  <a:pt x="182" y="126"/>
                  <a:pt x="182" y="126"/>
                </a:cubicBezTo>
                <a:cubicBezTo>
                  <a:pt x="193" y="121"/>
                  <a:pt x="193" y="121"/>
                  <a:pt x="193" y="121"/>
                </a:cubicBezTo>
                <a:cubicBezTo>
                  <a:pt x="193" y="118"/>
                  <a:pt x="193" y="118"/>
                  <a:pt x="193" y="118"/>
                </a:cubicBezTo>
                <a:cubicBezTo>
                  <a:pt x="191" y="115"/>
                  <a:pt x="191" y="115"/>
                  <a:pt x="191" y="115"/>
                </a:cubicBezTo>
                <a:cubicBezTo>
                  <a:pt x="190" y="112"/>
                  <a:pt x="190" y="112"/>
                  <a:pt x="190" y="112"/>
                </a:cubicBezTo>
                <a:cubicBezTo>
                  <a:pt x="216" y="93"/>
                  <a:pt x="216" y="93"/>
                  <a:pt x="216" y="93"/>
                </a:cubicBezTo>
                <a:cubicBezTo>
                  <a:pt x="216" y="90"/>
                  <a:pt x="216" y="90"/>
                  <a:pt x="216" y="90"/>
                </a:cubicBezTo>
                <a:cubicBezTo>
                  <a:pt x="207" y="83"/>
                  <a:pt x="207" y="83"/>
                  <a:pt x="207" y="83"/>
                </a:cubicBezTo>
                <a:cubicBezTo>
                  <a:pt x="206" y="79"/>
                  <a:pt x="206" y="79"/>
                  <a:pt x="206" y="79"/>
                </a:cubicBezTo>
                <a:cubicBezTo>
                  <a:pt x="226" y="53"/>
                  <a:pt x="226" y="53"/>
                  <a:pt x="226" y="53"/>
                </a:cubicBezTo>
                <a:cubicBezTo>
                  <a:pt x="233" y="49"/>
                  <a:pt x="233" y="49"/>
                  <a:pt x="233" y="49"/>
                </a:cubicBezTo>
                <a:cubicBezTo>
                  <a:pt x="237" y="50"/>
                  <a:pt x="237" y="50"/>
                  <a:pt x="237" y="50"/>
                </a:cubicBezTo>
                <a:cubicBezTo>
                  <a:pt x="242" y="54"/>
                  <a:pt x="247" y="59"/>
                  <a:pt x="251" y="64"/>
                </a:cubicBezTo>
                <a:cubicBezTo>
                  <a:pt x="249" y="64"/>
                  <a:pt x="249" y="64"/>
                  <a:pt x="249" y="64"/>
                </a:cubicBezTo>
                <a:cubicBezTo>
                  <a:pt x="254" y="69"/>
                  <a:pt x="254" y="69"/>
                  <a:pt x="254" y="69"/>
                </a:cubicBezTo>
                <a:cubicBezTo>
                  <a:pt x="255" y="69"/>
                  <a:pt x="255" y="69"/>
                  <a:pt x="255" y="69"/>
                </a:cubicBezTo>
                <a:cubicBezTo>
                  <a:pt x="266" y="84"/>
                  <a:pt x="275" y="101"/>
                  <a:pt x="279" y="121"/>
                </a:cubicBezTo>
                <a:cubicBezTo>
                  <a:pt x="278" y="122"/>
                  <a:pt x="278" y="122"/>
                  <a:pt x="278" y="122"/>
                </a:cubicBezTo>
                <a:cubicBezTo>
                  <a:pt x="279" y="123"/>
                  <a:pt x="279" y="123"/>
                  <a:pt x="279" y="123"/>
                </a:cubicBezTo>
                <a:cubicBezTo>
                  <a:pt x="281" y="131"/>
                  <a:pt x="282" y="140"/>
                  <a:pt x="282" y="148"/>
                </a:cubicBezTo>
                <a:cubicBezTo>
                  <a:pt x="282" y="160"/>
                  <a:pt x="280" y="172"/>
                  <a:pt x="277" y="183"/>
                </a:cubicBezTo>
                <a:cubicBezTo>
                  <a:pt x="276" y="184"/>
                  <a:pt x="276" y="184"/>
                  <a:pt x="276" y="184"/>
                </a:cubicBezTo>
                <a:lnTo>
                  <a:pt x="277" y="185"/>
                </a:lnTo>
                <a:close/>
              </a:path>
            </a:pathLst>
          </a:custGeom>
          <a:solidFill>
            <a:schemeClr val="tx1">
              <a:lumMod val="65000"/>
              <a:lumOff val="35000"/>
            </a:schemeClr>
          </a:solidFill>
          <a:ln>
            <a:solidFill>
              <a:schemeClr val="tx1">
                <a:lumMod val="65000"/>
                <a:lumOff val="35000"/>
              </a:schemeClr>
            </a:solidFill>
          </a:ln>
        </p:spPr>
        <p:txBody>
          <a:bodyPr vert="horz" wrap="square" lIns="91425" tIns="45712" rIns="91425" bIns="45712" numCol="1" anchor="t" anchorCtr="0" compatLnSpc="1"/>
          <a:lstStyle/>
          <a:p>
            <a:endParaRPr lang="en-US">
              <a:solidFill>
                <a:schemeClr val="tx1">
                  <a:lumMod val="75000"/>
                  <a:lumOff val="25000"/>
                </a:schemeClr>
              </a:solidFill>
            </a:endParaRPr>
          </a:p>
        </p:txBody>
      </p:sp>
      <p:sp>
        <p:nvSpPr>
          <p:cNvPr id="2" name="矩形 1"/>
          <p:cNvSpPr/>
          <p:nvPr/>
        </p:nvSpPr>
        <p:spPr>
          <a:xfrm rot="1620000">
            <a:off x="7946736" y="889397"/>
            <a:ext cx="4204948"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3" name="文本框 2"/>
          <p:cNvSpPr txBox="1"/>
          <p:nvPr/>
        </p:nvSpPr>
        <p:spPr>
          <a:xfrm>
            <a:off x="3396402" y="2890604"/>
            <a:ext cx="1756770" cy="1076325"/>
          </a:xfrm>
          <a:prstGeom prst="rect">
            <a:avLst/>
          </a:prstGeom>
          <a:noFill/>
        </p:spPr>
        <p:txBody>
          <a:bodyPr wrap="square" rtlCol="0">
            <a:spAutoFit/>
          </a:bodyPr>
          <a:p>
            <a:pPr algn="ctr"/>
            <a:r>
              <a:rPr lang="zh-CN" altLang="en-US" sz="3200" b="1">
                <a:solidFill>
                  <a:srgbClr val="FFC000"/>
                </a:solidFill>
                <a:latin typeface="锐字工房云字库锐倩GBK" panose="02010604000000000000" charset="-122"/>
                <a:ea typeface="锐字工房云字库锐倩GBK" panose="02010604000000000000" charset="-122"/>
              </a:rPr>
              <a:t>亚马逊</a:t>
            </a:r>
            <a:endParaRPr lang="zh-CN" altLang="en-US" sz="3200" b="1">
              <a:solidFill>
                <a:srgbClr val="FFC000"/>
              </a:solidFill>
              <a:latin typeface="锐字工房云字库锐倩GBK" panose="02010604000000000000" charset="-122"/>
              <a:ea typeface="锐字工房云字库锐倩GBK" panose="02010604000000000000" charset="-122"/>
            </a:endParaRPr>
          </a:p>
          <a:p>
            <a:pPr algn="ctr"/>
            <a:r>
              <a:rPr lang="en-US" altLang="zh-CN" sz="3200" b="1">
                <a:solidFill>
                  <a:srgbClr val="FFC000"/>
                </a:solidFill>
                <a:latin typeface="锐字工房云字库锐倩GBK" panose="02010604000000000000" charset="-122"/>
                <a:ea typeface="锐字工房云字库锐倩GBK" panose="02010604000000000000" charset="-122"/>
              </a:rPr>
              <a:t>CPC</a:t>
            </a:r>
            <a:r>
              <a:rPr lang="zh-CN" altLang="en-US" sz="3200" b="1">
                <a:solidFill>
                  <a:srgbClr val="FFC000"/>
                </a:solidFill>
                <a:latin typeface="锐字工房云字库锐倩GBK" panose="02010604000000000000" charset="-122"/>
                <a:ea typeface="锐字工房云字库锐倩GBK" panose="02010604000000000000" charset="-122"/>
              </a:rPr>
              <a:t>系统</a:t>
            </a:r>
            <a:endParaRPr lang="zh-CN" altLang="en-US" sz="3200" b="1">
              <a:solidFill>
                <a:srgbClr val="FFC000"/>
              </a:solidFill>
              <a:latin typeface="锐字工房云字库锐倩GBK" panose="02010604000000000000" charset="-122"/>
              <a:ea typeface="锐字工房云字库锐倩GBK" panose="02010604000000000000" charset="-122"/>
            </a:endParaRPr>
          </a:p>
        </p:txBody>
      </p:sp>
      <p:sp>
        <p:nvSpPr>
          <p:cNvPr id="40" name="流程图: 可选过程 39"/>
          <p:cNvSpPr/>
          <p:nvPr/>
        </p:nvSpPr>
        <p:spPr>
          <a:xfrm>
            <a:off x="184439" y="3124883"/>
            <a:ext cx="1652012" cy="61140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t>买家搜索</a:t>
            </a:r>
            <a:r>
              <a:rPr lang="en-US" altLang="zh-CN" b="1"/>
              <a:t>Key</a:t>
            </a:r>
            <a:endParaRPr lang="en-US" altLang="zh-CN" b="1"/>
          </a:p>
        </p:txBody>
      </p:sp>
      <p:sp>
        <p:nvSpPr>
          <p:cNvPr id="41" name="虚尾箭头 40"/>
          <p:cNvSpPr/>
          <p:nvPr/>
        </p:nvSpPr>
        <p:spPr>
          <a:xfrm>
            <a:off x="1836451" y="3307099"/>
            <a:ext cx="1261548" cy="244437"/>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 name="下箭头 42"/>
          <p:cNvSpPr/>
          <p:nvPr/>
        </p:nvSpPr>
        <p:spPr>
          <a:xfrm>
            <a:off x="4145585" y="1435412"/>
            <a:ext cx="274277" cy="97901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 name="流程图: 可选过程 44"/>
          <p:cNvSpPr/>
          <p:nvPr/>
        </p:nvSpPr>
        <p:spPr>
          <a:xfrm>
            <a:off x="3503701" y="949712"/>
            <a:ext cx="1541539" cy="61140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a:p>
            <a:pPr algn="ctr"/>
            <a:r>
              <a:rPr lang="zh-CN" altLang="en-US" b="1"/>
              <a:t>卖家账号</a:t>
            </a:r>
            <a:endParaRPr lang="zh-CN" altLang="en-US" b="1"/>
          </a:p>
          <a:p>
            <a:pPr algn="ctr"/>
            <a:r>
              <a:rPr lang="zh-CN" altLang="en-US" b="1"/>
              <a:t>Performance </a:t>
            </a:r>
            <a:endParaRPr lang="zh-CN" altLang="en-US" b="1"/>
          </a:p>
        </p:txBody>
      </p:sp>
      <p:sp>
        <p:nvSpPr>
          <p:cNvPr id="47" name="流程图: 可选过程 46"/>
          <p:cNvSpPr/>
          <p:nvPr/>
        </p:nvSpPr>
        <p:spPr>
          <a:xfrm>
            <a:off x="3537350" y="5423858"/>
            <a:ext cx="1508524" cy="57649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t>CPC</a:t>
            </a:r>
            <a:r>
              <a:rPr lang="zh-CN" altLang="en-US" b="1"/>
              <a:t>类型</a:t>
            </a:r>
            <a:endParaRPr lang="zh-CN" altLang="en-US" b="1"/>
          </a:p>
          <a:p>
            <a:pPr algn="ctr"/>
            <a:r>
              <a:rPr lang="zh-CN" altLang="en-US" b="1"/>
              <a:t>关键词预算</a:t>
            </a:r>
            <a:endParaRPr lang="zh-CN" altLang="en-US" b="1"/>
          </a:p>
        </p:txBody>
      </p:sp>
      <p:sp>
        <p:nvSpPr>
          <p:cNvPr id="48" name="虚尾箭头 47"/>
          <p:cNvSpPr/>
          <p:nvPr/>
        </p:nvSpPr>
        <p:spPr>
          <a:xfrm>
            <a:off x="5465544" y="3308369"/>
            <a:ext cx="1261548" cy="244437"/>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 name="流程图: 可选过程 48"/>
          <p:cNvSpPr/>
          <p:nvPr/>
        </p:nvSpPr>
        <p:spPr>
          <a:xfrm>
            <a:off x="9790488" y="3124248"/>
            <a:ext cx="1801848" cy="61140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t>买家发现产品</a:t>
            </a:r>
            <a:endParaRPr lang="zh-CN" altLang="en-US" b="1"/>
          </a:p>
        </p:txBody>
      </p:sp>
      <p:sp>
        <p:nvSpPr>
          <p:cNvPr id="50" name="流程图: 可选过程 49"/>
          <p:cNvSpPr/>
          <p:nvPr/>
        </p:nvSpPr>
        <p:spPr>
          <a:xfrm>
            <a:off x="6727092" y="3122343"/>
            <a:ext cx="1801848" cy="61140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ym typeface="+mn-ea"/>
              </a:rPr>
              <a:t>产品展示</a:t>
            </a:r>
            <a:endParaRPr lang="zh-CN" altLang="en-US" b="1"/>
          </a:p>
        </p:txBody>
      </p:sp>
      <p:sp>
        <p:nvSpPr>
          <p:cNvPr id="51" name="上箭头 50"/>
          <p:cNvSpPr/>
          <p:nvPr/>
        </p:nvSpPr>
        <p:spPr>
          <a:xfrm>
            <a:off x="4145585" y="4444841"/>
            <a:ext cx="291419" cy="97901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 name="上弧形箭头 53"/>
          <p:cNvSpPr/>
          <p:nvPr/>
        </p:nvSpPr>
        <p:spPr>
          <a:xfrm>
            <a:off x="4584302" y="218942"/>
            <a:ext cx="1216470" cy="73077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6" name="圆角矩形标注 55"/>
          <p:cNvSpPr/>
          <p:nvPr/>
        </p:nvSpPr>
        <p:spPr>
          <a:xfrm>
            <a:off x="5228726" y="949712"/>
            <a:ext cx="732676" cy="367608"/>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t>排名</a:t>
            </a:r>
            <a:endParaRPr lang="zh-CN" altLang="en-US" sz="1200" b="1"/>
          </a:p>
          <a:p>
            <a:pPr algn="ctr"/>
            <a:r>
              <a:rPr lang="zh-CN" altLang="en-US" sz="1200" b="1"/>
              <a:t>曝光量</a:t>
            </a:r>
            <a:endParaRPr lang="zh-CN" altLang="en-US" sz="1200" b="1"/>
          </a:p>
        </p:txBody>
      </p:sp>
      <p:sp>
        <p:nvSpPr>
          <p:cNvPr id="57" name="下弧形箭头 56"/>
          <p:cNvSpPr/>
          <p:nvPr/>
        </p:nvSpPr>
        <p:spPr>
          <a:xfrm>
            <a:off x="4584302" y="6000348"/>
            <a:ext cx="1216470" cy="730771"/>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8" name="圆角矩形标注 57"/>
          <p:cNvSpPr/>
          <p:nvPr/>
        </p:nvSpPr>
        <p:spPr>
          <a:xfrm>
            <a:off x="5228726" y="5604805"/>
            <a:ext cx="791721" cy="395543"/>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t>曝光率</a:t>
            </a:r>
            <a:endParaRPr lang="zh-CN" altLang="en-US" sz="1200" b="1"/>
          </a:p>
          <a:p>
            <a:pPr algn="ctr"/>
            <a:r>
              <a:rPr lang="zh-CN" altLang="en-US" sz="1200" b="1"/>
              <a:t>点击率</a:t>
            </a:r>
            <a:endParaRPr lang="zh-CN" altLang="en-US" sz="1200" b="1"/>
          </a:p>
        </p:txBody>
      </p:sp>
      <p:sp>
        <p:nvSpPr>
          <p:cNvPr id="59" name="下箭头 58"/>
          <p:cNvSpPr/>
          <p:nvPr/>
        </p:nvSpPr>
        <p:spPr>
          <a:xfrm>
            <a:off x="7486433" y="3733752"/>
            <a:ext cx="282531" cy="58601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 name="流程图: 可选过程 59"/>
          <p:cNvSpPr/>
          <p:nvPr/>
        </p:nvSpPr>
        <p:spPr>
          <a:xfrm>
            <a:off x="6828676" y="4319766"/>
            <a:ext cx="1598680" cy="52696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t>点击率</a:t>
            </a:r>
            <a:endParaRPr lang="zh-CN" altLang="en-US" sz="1200" b="1"/>
          </a:p>
          <a:p>
            <a:pPr algn="ctr"/>
            <a:r>
              <a:rPr lang="zh-CN" altLang="en-US" sz="1200" b="1"/>
              <a:t>主图 </a:t>
            </a:r>
            <a:r>
              <a:rPr lang="en-US" altLang="zh-CN" sz="1200" b="1">
                <a:sym typeface="+mn-ea"/>
              </a:rPr>
              <a:t>FBA </a:t>
            </a:r>
            <a:r>
              <a:rPr lang="zh-CN" altLang="en-US" sz="1200" b="1">
                <a:sym typeface="+mn-ea"/>
              </a:rPr>
              <a:t>评论 评分</a:t>
            </a:r>
            <a:r>
              <a:rPr lang="zh-CN" altLang="en-US" sz="1200" b="1"/>
              <a:t>标题 价格 促销</a:t>
            </a:r>
            <a:endParaRPr lang="zh-CN" altLang="en-US" sz="1200" b="1"/>
          </a:p>
        </p:txBody>
      </p:sp>
      <p:sp>
        <p:nvSpPr>
          <p:cNvPr id="61" name="虚尾箭头 60"/>
          <p:cNvSpPr/>
          <p:nvPr/>
        </p:nvSpPr>
        <p:spPr>
          <a:xfrm>
            <a:off x="8528940" y="3305829"/>
            <a:ext cx="1261548" cy="244437"/>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 name="下箭头 61"/>
          <p:cNvSpPr/>
          <p:nvPr/>
        </p:nvSpPr>
        <p:spPr>
          <a:xfrm>
            <a:off x="10549829" y="3733752"/>
            <a:ext cx="282531" cy="58601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4" name="流程图: 可选过程 63"/>
          <p:cNvSpPr/>
          <p:nvPr/>
        </p:nvSpPr>
        <p:spPr>
          <a:xfrm>
            <a:off x="9979054" y="4322305"/>
            <a:ext cx="1423448" cy="79235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t>转化率</a:t>
            </a:r>
            <a:endParaRPr lang="zh-CN" altLang="en-US" sz="1200" b="1"/>
          </a:p>
          <a:p>
            <a:pPr algn="ctr"/>
            <a:r>
              <a:rPr lang="zh-CN" altLang="en-US" sz="1200" b="1"/>
              <a:t>图片逻辑 </a:t>
            </a:r>
            <a:endParaRPr lang="zh-CN" altLang="en-US" sz="1200" b="1"/>
          </a:p>
          <a:p>
            <a:pPr algn="ctr"/>
            <a:r>
              <a:rPr lang="zh-CN" altLang="en-US" sz="1200" b="1"/>
              <a:t>功能简介</a:t>
            </a:r>
            <a:endParaRPr lang="zh-CN" altLang="en-US" sz="1200" b="1"/>
          </a:p>
          <a:p>
            <a:pPr algn="ctr"/>
            <a:r>
              <a:rPr lang="zh-CN" altLang="en-US" sz="1200" b="1"/>
              <a:t>价格优惠</a:t>
            </a:r>
            <a:endParaRPr lang="zh-CN" altLang="en-US" sz="1200" b="1"/>
          </a:p>
        </p:txBody>
      </p:sp>
      <p:sp>
        <p:nvSpPr>
          <p:cNvPr id="65" name="下弧形箭头 64"/>
          <p:cNvSpPr/>
          <p:nvPr/>
        </p:nvSpPr>
        <p:spPr>
          <a:xfrm rot="16200000">
            <a:off x="11266632" y="2660135"/>
            <a:ext cx="1216470" cy="56442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79" name="流程图: 可选过程 78"/>
          <p:cNvSpPr/>
          <p:nvPr/>
        </p:nvSpPr>
        <p:spPr>
          <a:xfrm>
            <a:off x="10550525" y="2223770"/>
            <a:ext cx="1042670" cy="55372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t>Order</a:t>
            </a:r>
            <a:endParaRPr lang="en-US" altLang="zh-CN" sz="2000" b="1"/>
          </a:p>
        </p:txBody>
      </p:sp>
      <p:sp>
        <p:nvSpPr>
          <p:cNvPr id="29" name="文本框 28"/>
          <p:cNvSpPr txBox="1"/>
          <p:nvPr/>
        </p:nvSpPr>
        <p:spPr>
          <a:xfrm>
            <a:off x="857885" y="283210"/>
            <a:ext cx="3435985" cy="583565"/>
          </a:xfrm>
          <a:prstGeom prst="rect">
            <a:avLst/>
          </a:prstGeom>
          <a:noFill/>
        </p:spPr>
        <p:txBody>
          <a:bodyPr wrap="none" rtlCol="0">
            <a:spAutoFit/>
          </a:bodyPr>
          <a:p>
            <a:pPr algn="l"/>
            <a:r>
              <a:rPr lang="en-US" sz="3200" b="1" dirty="0">
                <a:solidFill>
                  <a:schemeClr val="tx1">
                    <a:lumMod val="75000"/>
                    <a:lumOff val="25000"/>
                  </a:schemeClr>
                </a:solidFill>
                <a:latin typeface="微软雅黑" panose="020B0503020204020204" charset="-122"/>
                <a:ea typeface="微软雅黑" panose="020B0503020204020204" charset="-122"/>
                <a:sym typeface="+mn-ea"/>
              </a:rPr>
              <a:t>CPC</a:t>
            </a:r>
            <a:r>
              <a:rPr lang="zh-CN" altLang="en-US" sz="3200" b="1" dirty="0">
                <a:solidFill>
                  <a:schemeClr val="tx1">
                    <a:lumMod val="75000"/>
                    <a:lumOff val="25000"/>
                  </a:schemeClr>
                </a:solidFill>
                <a:latin typeface="微软雅黑" panose="020B0503020204020204" charset="-122"/>
                <a:ea typeface="微软雅黑" panose="020B0503020204020204" charset="-122"/>
                <a:sym typeface="+mn-ea"/>
              </a:rPr>
              <a:t>市场驱动模型</a:t>
            </a:r>
            <a:endParaRPr lang="en-US" altLang="zh-CN" sz="3200" b="1">
              <a:solidFill>
                <a:schemeClr val="tx1">
                  <a:lumMod val="75000"/>
                  <a:lumOff val="25000"/>
                </a:schemeClr>
              </a:solidFill>
            </a:endParaRPr>
          </a:p>
        </p:txBody>
      </p:sp>
      <p:sp>
        <p:nvSpPr>
          <p:cNvPr id="18" name="矩形 17"/>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79"/>
          <p:cNvGrpSpPr/>
          <p:nvPr/>
        </p:nvGrpSpPr>
        <p:grpSpPr>
          <a:xfrm>
            <a:off x="4307912" y="2584098"/>
            <a:ext cx="3883692" cy="2414143"/>
            <a:chOff x="596900" y="1822450"/>
            <a:chExt cx="3259138" cy="2025650"/>
          </a:xfrm>
        </p:grpSpPr>
        <p:grpSp>
          <p:nvGrpSpPr>
            <p:cNvPr id="14" name="Group 4"/>
            <p:cNvGrpSpPr>
              <a:grpSpLocks noChangeAspect="1"/>
            </p:cNvGrpSpPr>
            <p:nvPr/>
          </p:nvGrpSpPr>
          <p:grpSpPr bwMode="auto">
            <a:xfrm>
              <a:off x="596900" y="1822450"/>
              <a:ext cx="3259138" cy="2025650"/>
              <a:chOff x="376" y="1148"/>
              <a:chExt cx="2053" cy="1276"/>
            </a:xfrm>
          </p:grpSpPr>
          <p:sp>
            <p:nvSpPr>
              <p:cNvPr id="1027" name="AutoShape 3"/>
              <p:cNvSpPr>
                <a:spLocks noChangeAspect="1" noChangeArrowheads="1" noTextEdit="1"/>
              </p:cNvSpPr>
              <p:nvPr/>
            </p:nvSpPr>
            <p:spPr bwMode="auto">
              <a:xfrm>
                <a:off x="376" y="1148"/>
                <a:ext cx="2053" cy="1276"/>
              </a:xfrm>
              <a:prstGeom prst="rect">
                <a:avLst/>
              </a:prstGeom>
              <a:noFill/>
              <a:ln w="9525">
                <a:noFill/>
                <a:miter lim="800000"/>
              </a:ln>
            </p:spPr>
            <p:txBody>
              <a:bodyPr vert="horz" wrap="square" lIns="91440" tIns="45720" rIns="91440" bIns="45720" numCol="1" anchor="t" anchorCtr="0" compatLnSpc="1"/>
              <a:lstStyle/>
              <a:p>
                <a:endParaRPr lang="en-US">
                  <a:latin typeface="+mn-ea"/>
                </a:endParaRPr>
              </a:p>
            </p:txBody>
          </p:sp>
          <p:sp>
            <p:nvSpPr>
              <p:cNvPr id="1029" name="Freeform 5"/>
              <p:cNvSpPr/>
              <p:nvPr/>
            </p:nvSpPr>
            <p:spPr bwMode="auto">
              <a:xfrm>
                <a:off x="640" y="1150"/>
                <a:ext cx="1525" cy="1002"/>
              </a:xfrm>
              <a:custGeom>
                <a:avLst/>
                <a:gdLst/>
                <a:ahLst/>
                <a:cxnLst>
                  <a:cxn ang="0">
                    <a:pos x="33" y="0"/>
                  </a:cxn>
                  <a:cxn ang="0">
                    <a:pos x="925" y="0"/>
                  </a:cxn>
                  <a:cxn ang="0">
                    <a:pos x="958" y="33"/>
                  </a:cxn>
                  <a:cxn ang="0">
                    <a:pos x="958" y="596"/>
                  </a:cxn>
                  <a:cxn ang="0">
                    <a:pos x="925" y="629"/>
                  </a:cxn>
                  <a:cxn ang="0">
                    <a:pos x="33" y="629"/>
                  </a:cxn>
                  <a:cxn ang="0">
                    <a:pos x="0" y="596"/>
                  </a:cxn>
                  <a:cxn ang="0">
                    <a:pos x="0" y="33"/>
                  </a:cxn>
                  <a:cxn ang="0">
                    <a:pos x="33" y="0"/>
                  </a:cxn>
                </a:cxnLst>
                <a:rect l="0" t="0" r="r" b="b"/>
                <a:pathLst>
                  <a:path w="958" h="629">
                    <a:moveTo>
                      <a:pt x="33" y="0"/>
                    </a:moveTo>
                    <a:cubicBezTo>
                      <a:pt x="925" y="0"/>
                      <a:pt x="925" y="0"/>
                      <a:pt x="925" y="0"/>
                    </a:cubicBezTo>
                    <a:cubicBezTo>
                      <a:pt x="943" y="0"/>
                      <a:pt x="958" y="15"/>
                      <a:pt x="958" y="33"/>
                    </a:cubicBezTo>
                    <a:cubicBezTo>
                      <a:pt x="958" y="596"/>
                      <a:pt x="958" y="596"/>
                      <a:pt x="958" y="596"/>
                    </a:cubicBezTo>
                    <a:cubicBezTo>
                      <a:pt x="958" y="614"/>
                      <a:pt x="943" y="629"/>
                      <a:pt x="925" y="629"/>
                    </a:cubicBezTo>
                    <a:cubicBezTo>
                      <a:pt x="33" y="629"/>
                      <a:pt x="33" y="629"/>
                      <a:pt x="33" y="629"/>
                    </a:cubicBezTo>
                    <a:cubicBezTo>
                      <a:pt x="15" y="629"/>
                      <a:pt x="0" y="614"/>
                      <a:pt x="0" y="596"/>
                    </a:cubicBezTo>
                    <a:cubicBezTo>
                      <a:pt x="0" y="33"/>
                      <a:pt x="0" y="33"/>
                      <a:pt x="0" y="33"/>
                    </a:cubicBezTo>
                    <a:cubicBezTo>
                      <a:pt x="0" y="15"/>
                      <a:pt x="15" y="0"/>
                      <a:pt x="33" y="0"/>
                    </a:cubicBezTo>
                    <a:close/>
                  </a:path>
                </a:pathLst>
              </a:custGeom>
              <a:solidFill>
                <a:schemeClr val="tx1">
                  <a:lumMod val="65000"/>
                  <a:lumOff val="35000"/>
                </a:schemeClr>
              </a:solidFill>
              <a:ln w="9525">
                <a:noFill/>
                <a:round/>
              </a:ln>
            </p:spPr>
            <p:txBody>
              <a:bodyPr vert="horz" wrap="square" lIns="91440" tIns="45720" rIns="91440" bIns="45720" numCol="1" anchor="t" anchorCtr="0" compatLnSpc="1"/>
              <a:lstStyle/>
              <a:p>
                <a:endParaRPr lang="en-US">
                  <a:latin typeface="+mn-ea"/>
                </a:endParaRPr>
              </a:p>
            </p:txBody>
          </p:sp>
          <p:sp>
            <p:nvSpPr>
              <p:cNvPr id="1030" name="Rectangle 6"/>
              <p:cNvSpPr>
                <a:spLocks noChangeArrowheads="1"/>
              </p:cNvSpPr>
              <p:nvPr/>
            </p:nvSpPr>
            <p:spPr bwMode="auto">
              <a:xfrm>
                <a:off x="720" y="1255"/>
                <a:ext cx="1365" cy="732"/>
              </a:xfrm>
              <a:prstGeom prst="rect">
                <a:avLst/>
              </a:prstGeom>
              <a:solidFill>
                <a:schemeClr val="bg1"/>
              </a:solidFill>
              <a:ln w="9525">
                <a:noFill/>
                <a:miter lim="800000"/>
              </a:ln>
            </p:spPr>
            <p:txBody>
              <a:bodyPr vert="horz" wrap="square" lIns="91440" tIns="45720" rIns="91440" bIns="45720" numCol="1" anchor="t" anchorCtr="0" compatLnSpc="1"/>
              <a:lstStyle/>
              <a:p>
                <a:endParaRPr lang="en-US">
                  <a:latin typeface="+mn-ea"/>
                </a:endParaRPr>
              </a:p>
            </p:txBody>
          </p:sp>
          <p:sp>
            <p:nvSpPr>
              <p:cNvPr id="1031" name="Oval 7"/>
              <p:cNvSpPr>
                <a:spLocks noChangeArrowheads="1"/>
              </p:cNvSpPr>
              <p:nvPr/>
            </p:nvSpPr>
            <p:spPr bwMode="auto">
              <a:xfrm>
                <a:off x="1383" y="1185"/>
                <a:ext cx="39" cy="38"/>
              </a:xfrm>
              <a:prstGeom prst="ellipse">
                <a:avLst/>
              </a:prstGeom>
              <a:solidFill>
                <a:schemeClr val="bg1">
                  <a:lumMod val="85000"/>
                </a:schemeClr>
              </a:solidFill>
              <a:ln w="9525">
                <a:noFill/>
                <a:round/>
              </a:ln>
            </p:spPr>
            <p:txBody>
              <a:bodyPr vert="horz" wrap="square" lIns="91440" tIns="45720" rIns="91440" bIns="45720" numCol="1" anchor="t" anchorCtr="0" compatLnSpc="1"/>
              <a:lstStyle/>
              <a:p>
                <a:endParaRPr lang="en-US">
                  <a:latin typeface="+mn-ea"/>
                </a:endParaRPr>
              </a:p>
            </p:txBody>
          </p:sp>
          <p:sp>
            <p:nvSpPr>
              <p:cNvPr id="1032" name="Rectangle 8"/>
              <p:cNvSpPr>
                <a:spLocks noChangeArrowheads="1"/>
              </p:cNvSpPr>
              <p:nvPr/>
            </p:nvSpPr>
            <p:spPr bwMode="auto">
              <a:xfrm>
                <a:off x="1371" y="2034"/>
                <a:ext cx="63" cy="65"/>
              </a:xfrm>
              <a:prstGeom prst="ellipse">
                <a:avLst/>
              </a:prstGeom>
              <a:solidFill>
                <a:schemeClr val="bg1">
                  <a:lumMod val="85000"/>
                </a:schemeClr>
              </a:solidFill>
              <a:ln w="9525">
                <a:noFill/>
                <a:miter lim="800000"/>
              </a:ln>
            </p:spPr>
            <p:txBody>
              <a:bodyPr vert="horz" wrap="square" lIns="91440" tIns="45720" rIns="91440" bIns="45720" numCol="1" anchor="t" anchorCtr="0" compatLnSpc="1"/>
              <a:lstStyle/>
              <a:p>
                <a:endParaRPr lang="en-US">
                  <a:latin typeface="+mn-ea"/>
                </a:endParaRPr>
              </a:p>
            </p:txBody>
          </p:sp>
          <p:sp>
            <p:nvSpPr>
              <p:cNvPr id="1033" name="Freeform 9"/>
              <p:cNvSpPr/>
              <p:nvPr/>
            </p:nvSpPr>
            <p:spPr bwMode="auto">
              <a:xfrm>
                <a:off x="376" y="2152"/>
                <a:ext cx="2053" cy="173"/>
              </a:xfrm>
              <a:custGeom>
                <a:avLst/>
                <a:gdLst/>
                <a:ahLst/>
                <a:cxnLst>
                  <a:cxn ang="0">
                    <a:pos x="264" y="0"/>
                  </a:cxn>
                  <a:cxn ang="0">
                    <a:pos x="1789" y="0"/>
                  </a:cxn>
                  <a:cxn ang="0">
                    <a:pos x="2053" y="173"/>
                  </a:cxn>
                  <a:cxn ang="0">
                    <a:pos x="0" y="173"/>
                  </a:cxn>
                  <a:cxn ang="0">
                    <a:pos x="264" y="0"/>
                  </a:cxn>
                </a:cxnLst>
                <a:rect l="0" t="0" r="r" b="b"/>
                <a:pathLst>
                  <a:path w="2053" h="173">
                    <a:moveTo>
                      <a:pt x="264" y="0"/>
                    </a:moveTo>
                    <a:lnTo>
                      <a:pt x="1789" y="0"/>
                    </a:lnTo>
                    <a:lnTo>
                      <a:pt x="2053" y="173"/>
                    </a:lnTo>
                    <a:lnTo>
                      <a:pt x="0" y="173"/>
                    </a:lnTo>
                    <a:lnTo>
                      <a:pt x="264" y="0"/>
                    </a:lnTo>
                    <a:close/>
                  </a:path>
                </a:pathLst>
              </a:custGeom>
              <a:solidFill>
                <a:schemeClr val="tx1">
                  <a:lumMod val="75000"/>
                  <a:lumOff val="25000"/>
                </a:schemeClr>
              </a:solidFill>
              <a:ln w="9525">
                <a:noFill/>
                <a:round/>
              </a:ln>
            </p:spPr>
            <p:txBody>
              <a:bodyPr vert="horz" wrap="square" lIns="91440" tIns="45720" rIns="91440" bIns="45720" numCol="1" anchor="t" anchorCtr="0" compatLnSpc="1"/>
              <a:lstStyle/>
              <a:p>
                <a:endParaRPr lang="en-US">
                  <a:latin typeface="+mn-ea"/>
                </a:endParaRPr>
              </a:p>
            </p:txBody>
          </p:sp>
          <p:sp>
            <p:nvSpPr>
              <p:cNvPr id="1034" name="Freeform 10"/>
              <p:cNvSpPr/>
              <p:nvPr/>
            </p:nvSpPr>
            <p:spPr bwMode="auto">
              <a:xfrm>
                <a:off x="376" y="2325"/>
                <a:ext cx="2053" cy="97"/>
              </a:xfrm>
              <a:custGeom>
                <a:avLst/>
                <a:gdLst/>
                <a:ahLst/>
                <a:cxnLst>
                  <a:cxn ang="0">
                    <a:pos x="0" y="0"/>
                  </a:cxn>
                  <a:cxn ang="0">
                    <a:pos x="1290" y="0"/>
                  </a:cxn>
                  <a:cxn ang="0">
                    <a:pos x="1290" y="38"/>
                  </a:cxn>
                  <a:cxn ang="0">
                    <a:pos x="1266" y="61"/>
                  </a:cxn>
                  <a:cxn ang="0">
                    <a:pos x="24" y="61"/>
                  </a:cxn>
                  <a:cxn ang="0">
                    <a:pos x="0" y="38"/>
                  </a:cxn>
                  <a:cxn ang="0">
                    <a:pos x="0" y="0"/>
                  </a:cxn>
                </a:cxnLst>
                <a:rect l="0" t="0" r="r" b="b"/>
                <a:pathLst>
                  <a:path w="1290" h="61">
                    <a:moveTo>
                      <a:pt x="0" y="0"/>
                    </a:moveTo>
                    <a:cubicBezTo>
                      <a:pt x="1290" y="0"/>
                      <a:pt x="1290" y="0"/>
                      <a:pt x="1290" y="0"/>
                    </a:cubicBezTo>
                    <a:cubicBezTo>
                      <a:pt x="1290" y="38"/>
                      <a:pt x="1290" y="38"/>
                      <a:pt x="1290" y="38"/>
                    </a:cubicBezTo>
                    <a:cubicBezTo>
                      <a:pt x="1290" y="51"/>
                      <a:pt x="1280" y="61"/>
                      <a:pt x="1266" y="61"/>
                    </a:cubicBezTo>
                    <a:cubicBezTo>
                      <a:pt x="24" y="61"/>
                      <a:pt x="24" y="61"/>
                      <a:pt x="24" y="61"/>
                    </a:cubicBezTo>
                    <a:cubicBezTo>
                      <a:pt x="11" y="61"/>
                      <a:pt x="0" y="51"/>
                      <a:pt x="0" y="38"/>
                    </a:cubicBezTo>
                    <a:lnTo>
                      <a:pt x="0" y="0"/>
                    </a:lnTo>
                    <a:close/>
                  </a:path>
                </a:pathLst>
              </a:custGeom>
              <a:solidFill>
                <a:schemeClr val="tx1">
                  <a:lumMod val="75000"/>
                  <a:lumOff val="25000"/>
                </a:schemeClr>
              </a:solidFill>
              <a:ln w="9525">
                <a:noFill/>
                <a:round/>
              </a:ln>
            </p:spPr>
            <p:txBody>
              <a:bodyPr vert="horz" wrap="square" lIns="91440" tIns="45720" rIns="91440" bIns="45720" numCol="1" anchor="t" anchorCtr="0" compatLnSpc="1"/>
              <a:lstStyle/>
              <a:p>
                <a:endParaRPr lang="en-US">
                  <a:latin typeface="+mn-ea"/>
                </a:endParaRPr>
              </a:p>
            </p:txBody>
          </p:sp>
          <p:sp>
            <p:nvSpPr>
              <p:cNvPr id="1035" name="Rectangle 11"/>
              <p:cNvSpPr>
                <a:spLocks noChangeArrowheads="1"/>
              </p:cNvSpPr>
              <p:nvPr/>
            </p:nvSpPr>
            <p:spPr bwMode="auto">
              <a:xfrm>
                <a:off x="1196" y="2376"/>
                <a:ext cx="413" cy="27"/>
              </a:xfrm>
              <a:prstGeom prst="roundRect">
                <a:avLst/>
              </a:prstGeom>
              <a:solidFill>
                <a:srgbClr val="707071"/>
              </a:solidFill>
              <a:ln w="9525">
                <a:noFill/>
                <a:miter lim="800000"/>
              </a:ln>
            </p:spPr>
            <p:txBody>
              <a:bodyPr vert="horz" wrap="square" lIns="91440" tIns="45720" rIns="91440" bIns="45720" numCol="1" anchor="t" anchorCtr="0" compatLnSpc="1"/>
              <a:lstStyle/>
              <a:p>
                <a:endParaRPr lang="en-US">
                  <a:latin typeface="+mn-ea"/>
                </a:endParaRPr>
              </a:p>
            </p:txBody>
          </p:sp>
          <p:sp>
            <p:nvSpPr>
              <p:cNvPr id="1036" name="Rectangle 12"/>
              <p:cNvSpPr>
                <a:spLocks noChangeArrowheads="1"/>
              </p:cNvSpPr>
              <p:nvPr/>
            </p:nvSpPr>
            <p:spPr bwMode="auto">
              <a:xfrm>
                <a:off x="376" y="2325"/>
                <a:ext cx="2053" cy="30"/>
              </a:xfrm>
              <a:prstGeom prst="rect">
                <a:avLst/>
              </a:prstGeom>
              <a:solidFill>
                <a:schemeClr val="bg1">
                  <a:lumMod val="85000"/>
                </a:schemeClr>
              </a:solidFill>
              <a:ln w="9525">
                <a:noFill/>
                <a:miter lim="800000"/>
              </a:ln>
            </p:spPr>
            <p:txBody>
              <a:bodyPr vert="horz" wrap="square" lIns="91440" tIns="45720" rIns="91440" bIns="45720" numCol="1" anchor="t" anchorCtr="0" compatLnSpc="1"/>
              <a:lstStyle/>
              <a:p>
                <a:endParaRPr lang="en-US">
                  <a:latin typeface="+mn-ea"/>
                </a:endParaRPr>
              </a:p>
            </p:txBody>
          </p:sp>
        </p:grpSp>
        <p:sp>
          <p:nvSpPr>
            <p:cNvPr id="70" name="Freeform 69"/>
            <p:cNvSpPr/>
            <p:nvPr/>
          </p:nvSpPr>
          <p:spPr>
            <a:xfrm>
              <a:off x="1777224" y="2121054"/>
              <a:ext cx="900552" cy="900552"/>
            </a:xfrm>
            <a:custGeom>
              <a:avLst/>
              <a:gdLst>
                <a:gd name="connsiteX0" fmla="*/ 0 w 1293577"/>
                <a:gd name="connsiteY0" fmla="*/ 646789 h 1293577"/>
                <a:gd name="connsiteX1" fmla="*/ 189441 w 1293577"/>
                <a:gd name="connsiteY1" fmla="*/ 189440 h 1293577"/>
                <a:gd name="connsiteX2" fmla="*/ 646790 w 1293577"/>
                <a:gd name="connsiteY2" fmla="*/ 1 h 1293577"/>
                <a:gd name="connsiteX3" fmla="*/ 1104139 w 1293577"/>
                <a:gd name="connsiteY3" fmla="*/ 189442 h 1293577"/>
                <a:gd name="connsiteX4" fmla="*/ 1293578 w 1293577"/>
                <a:gd name="connsiteY4" fmla="*/ 646791 h 1293577"/>
                <a:gd name="connsiteX5" fmla="*/ 1104138 w 1293577"/>
                <a:gd name="connsiteY5" fmla="*/ 1104140 h 1293577"/>
                <a:gd name="connsiteX6" fmla="*/ 646789 w 1293577"/>
                <a:gd name="connsiteY6" fmla="*/ 1293580 h 1293577"/>
                <a:gd name="connsiteX7" fmla="*/ 189440 w 1293577"/>
                <a:gd name="connsiteY7" fmla="*/ 1104139 h 1293577"/>
                <a:gd name="connsiteX8" fmla="*/ 0 w 1293577"/>
                <a:gd name="connsiteY8" fmla="*/ 646790 h 1293577"/>
                <a:gd name="connsiteX9" fmla="*/ 0 w 1293577"/>
                <a:gd name="connsiteY9" fmla="*/ 646789 h 129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3577" h="1293577">
                  <a:moveTo>
                    <a:pt x="0" y="646789"/>
                  </a:moveTo>
                  <a:cubicBezTo>
                    <a:pt x="0" y="475250"/>
                    <a:pt x="68144" y="310737"/>
                    <a:pt x="189441" y="189440"/>
                  </a:cubicBezTo>
                  <a:cubicBezTo>
                    <a:pt x="310738" y="68144"/>
                    <a:pt x="475251" y="0"/>
                    <a:pt x="646790" y="1"/>
                  </a:cubicBezTo>
                  <a:cubicBezTo>
                    <a:pt x="818329" y="1"/>
                    <a:pt x="982842" y="68145"/>
                    <a:pt x="1104139" y="189442"/>
                  </a:cubicBezTo>
                  <a:cubicBezTo>
                    <a:pt x="1225435" y="310739"/>
                    <a:pt x="1293579" y="475252"/>
                    <a:pt x="1293578" y="646791"/>
                  </a:cubicBezTo>
                  <a:cubicBezTo>
                    <a:pt x="1293578" y="818330"/>
                    <a:pt x="1225434" y="982844"/>
                    <a:pt x="1104138" y="1104140"/>
                  </a:cubicBezTo>
                  <a:cubicBezTo>
                    <a:pt x="982841" y="1225436"/>
                    <a:pt x="818328" y="1293580"/>
                    <a:pt x="646789" y="1293580"/>
                  </a:cubicBezTo>
                  <a:cubicBezTo>
                    <a:pt x="475250" y="1293580"/>
                    <a:pt x="310736" y="1225436"/>
                    <a:pt x="189440" y="1104139"/>
                  </a:cubicBezTo>
                  <a:cubicBezTo>
                    <a:pt x="68144" y="982842"/>
                    <a:pt x="0" y="818329"/>
                    <a:pt x="0" y="646790"/>
                  </a:cubicBezTo>
                  <a:lnTo>
                    <a:pt x="0" y="646789"/>
                  </a:lnTo>
                  <a:close/>
                </a:path>
              </a:pathLst>
            </a:custGeom>
            <a:solidFill>
              <a:schemeClr val="tx1">
                <a:lumMod val="65000"/>
                <a:lumOff val="3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6270" tIns="365760" rIns="226270" bIns="226270" numCol="1" spcCol="1270" anchor="b" anchorCtr="0">
              <a:noAutofit/>
            </a:bodyPr>
            <a:lstStyle/>
            <a:p>
              <a:pPr algn="ctr" defTabSz="1718310">
                <a:lnSpc>
                  <a:spcPct val="90000"/>
                </a:lnSpc>
                <a:spcBef>
                  <a:spcPct val="0"/>
                </a:spcBef>
                <a:spcAft>
                  <a:spcPct val="35000"/>
                </a:spcAft>
              </a:pPr>
              <a:endParaRPr lang="en-US" sz="1400" dirty="0">
                <a:latin typeface="+mn-ea"/>
              </a:endParaRPr>
            </a:p>
          </p:txBody>
        </p:sp>
      </p:grpSp>
      <p:grpSp>
        <p:nvGrpSpPr>
          <p:cNvPr id="68" name="Group 67"/>
          <p:cNvGrpSpPr/>
          <p:nvPr/>
        </p:nvGrpSpPr>
        <p:grpSpPr>
          <a:xfrm>
            <a:off x="6221832" y="1853823"/>
            <a:ext cx="2869502" cy="3765437"/>
            <a:chOff x="4551052" y="1390367"/>
            <a:chExt cx="2152407" cy="2824078"/>
          </a:xfrm>
        </p:grpSpPr>
        <p:cxnSp>
          <p:nvCxnSpPr>
            <p:cNvPr id="75" name="Elbow Connector 74"/>
            <p:cNvCxnSpPr/>
            <p:nvPr/>
          </p:nvCxnSpPr>
          <p:spPr>
            <a:xfrm rot="10800000" flipV="1">
              <a:off x="4551052" y="1390367"/>
              <a:ext cx="2146058" cy="317277"/>
            </a:xfrm>
            <a:prstGeom prst="bentConnector3">
              <a:avLst>
                <a:gd name="adj1" fmla="val 99710"/>
              </a:avLst>
            </a:pr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H="1">
              <a:off x="5896963" y="2328622"/>
              <a:ext cx="806496" cy="0"/>
            </a:xfrm>
            <a:prstGeom prst="line">
              <a:avLst/>
            </a:pr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H="1">
              <a:off x="5896963" y="3275734"/>
              <a:ext cx="806496" cy="0"/>
            </a:xfrm>
            <a:prstGeom prst="line">
              <a:avLst/>
            </a:pr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rot="10800000">
              <a:off x="4551052" y="3897168"/>
              <a:ext cx="2146058" cy="317277"/>
            </a:xfrm>
            <a:prstGeom prst="bentConnector3">
              <a:avLst>
                <a:gd name="adj1" fmla="val 99710"/>
              </a:avLst>
            </a:pr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87" name="Group 86"/>
          <p:cNvGrpSpPr/>
          <p:nvPr/>
        </p:nvGrpSpPr>
        <p:grpSpPr>
          <a:xfrm>
            <a:off x="9087102" y="1447436"/>
            <a:ext cx="2461810" cy="795557"/>
            <a:chOff x="6815499" y="1085577"/>
            <a:chExt cx="1846598" cy="596668"/>
          </a:xfrm>
        </p:grpSpPr>
        <p:sp>
          <p:nvSpPr>
            <p:cNvPr id="53" name="Freeform 52"/>
            <p:cNvSpPr>
              <a:spLocks noChangeAspect="1"/>
            </p:cNvSpPr>
            <p:nvPr/>
          </p:nvSpPr>
          <p:spPr>
            <a:xfrm>
              <a:off x="6815499" y="1085577"/>
              <a:ext cx="596668" cy="596668"/>
            </a:xfrm>
            <a:custGeom>
              <a:avLst/>
              <a:gdLst>
                <a:gd name="connsiteX0" fmla="*/ 0 w 852383"/>
                <a:gd name="connsiteY0" fmla="*/ 426192 h 852383"/>
                <a:gd name="connsiteX1" fmla="*/ 124829 w 852383"/>
                <a:gd name="connsiteY1" fmla="*/ 124829 h 852383"/>
                <a:gd name="connsiteX2" fmla="*/ 426193 w 852383"/>
                <a:gd name="connsiteY2" fmla="*/ 1 h 852383"/>
                <a:gd name="connsiteX3" fmla="*/ 727556 w 852383"/>
                <a:gd name="connsiteY3" fmla="*/ 124830 h 852383"/>
                <a:gd name="connsiteX4" fmla="*/ 852384 w 852383"/>
                <a:gd name="connsiteY4" fmla="*/ 426194 h 852383"/>
                <a:gd name="connsiteX5" fmla="*/ 727555 w 852383"/>
                <a:gd name="connsiteY5" fmla="*/ 727557 h 852383"/>
                <a:gd name="connsiteX6" fmla="*/ 426192 w 852383"/>
                <a:gd name="connsiteY6" fmla="*/ 852386 h 852383"/>
                <a:gd name="connsiteX7" fmla="*/ 124829 w 852383"/>
                <a:gd name="connsiteY7" fmla="*/ 727557 h 852383"/>
                <a:gd name="connsiteX8" fmla="*/ 1 w 852383"/>
                <a:gd name="connsiteY8" fmla="*/ 426194 h 852383"/>
                <a:gd name="connsiteX9" fmla="*/ 0 w 852383"/>
                <a:gd name="connsiteY9" fmla="*/ 426192 h 8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2383" h="852383">
                  <a:moveTo>
                    <a:pt x="0" y="426192"/>
                  </a:moveTo>
                  <a:cubicBezTo>
                    <a:pt x="0" y="313159"/>
                    <a:pt x="44903" y="204755"/>
                    <a:pt x="124829" y="124829"/>
                  </a:cubicBezTo>
                  <a:cubicBezTo>
                    <a:pt x="204756" y="44903"/>
                    <a:pt x="313159" y="0"/>
                    <a:pt x="426193" y="1"/>
                  </a:cubicBezTo>
                  <a:cubicBezTo>
                    <a:pt x="539226" y="1"/>
                    <a:pt x="647630" y="44904"/>
                    <a:pt x="727556" y="124830"/>
                  </a:cubicBezTo>
                  <a:cubicBezTo>
                    <a:pt x="807482" y="204757"/>
                    <a:pt x="852385" y="313160"/>
                    <a:pt x="852384" y="426194"/>
                  </a:cubicBezTo>
                  <a:cubicBezTo>
                    <a:pt x="852384" y="539227"/>
                    <a:pt x="807482" y="647631"/>
                    <a:pt x="727555" y="727557"/>
                  </a:cubicBezTo>
                  <a:cubicBezTo>
                    <a:pt x="647628" y="807484"/>
                    <a:pt x="539225" y="852386"/>
                    <a:pt x="426192" y="852386"/>
                  </a:cubicBezTo>
                  <a:cubicBezTo>
                    <a:pt x="313159" y="852386"/>
                    <a:pt x="204755" y="807484"/>
                    <a:pt x="124829" y="727557"/>
                  </a:cubicBezTo>
                  <a:cubicBezTo>
                    <a:pt x="44903" y="647630"/>
                    <a:pt x="0" y="539227"/>
                    <a:pt x="1" y="426194"/>
                  </a:cubicBezTo>
                  <a:cubicBezTo>
                    <a:pt x="1" y="426193"/>
                    <a:pt x="0" y="426193"/>
                    <a:pt x="0" y="426192"/>
                  </a:cubicBezTo>
                  <a:close/>
                </a:path>
              </a:pathLst>
            </a:custGeom>
            <a:solidFill>
              <a:schemeClr val="tx2">
                <a:lumMod val="7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8959" tIns="148959" rIns="148959" bIns="148959" numCol="1" spcCol="1270" anchor="ctr" anchorCtr="0">
              <a:noAutofit/>
            </a:bodyPr>
            <a:lstStyle/>
            <a:p>
              <a:pPr algn="ctr" defTabSz="1125855">
                <a:lnSpc>
                  <a:spcPct val="90000"/>
                </a:lnSpc>
                <a:spcBef>
                  <a:spcPct val="0"/>
                </a:spcBef>
                <a:spcAft>
                  <a:spcPct val="35000"/>
                </a:spcAft>
              </a:pPr>
              <a:endParaRPr lang="en-US" sz="3200" dirty="0">
                <a:latin typeface="+mn-ea"/>
              </a:endParaRPr>
            </a:p>
          </p:txBody>
        </p:sp>
        <p:sp>
          <p:nvSpPr>
            <p:cNvPr id="57" name="Text Placeholder 3"/>
            <p:cNvSpPr txBox="1"/>
            <p:nvPr/>
          </p:nvSpPr>
          <p:spPr>
            <a:xfrm>
              <a:off x="7412167" y="1117076"/>
              <a:ext cx="1249930" cy="484346"/>
            </a:xfrm>
            <a:prstGeom prst="rect">
              <a:avLst/>
            </a:prstGeom>
          </p:spPr>
          <p:txBody>
            <a:bodyPr wrap="squar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8565">
                <a:spcBef>
                  <a:spcPct val="20000"/>
                </a:spcBef>
                <a:defRPr/>
              </a:pPr>
              <a:r>
                <a:rPr lang="zh-CN" altLang="en-US" sz="2100" b="1" dirty="0">
                  <a:solidFill>
                    <a:schemeClr val="tx2">
                      <a:lumMod val="75000"/>
                    </a:schemeClr>
                  </a:solidFill>
                  <a:latin typeface="+mn-ea"/>
                </a:rPr>
                <a:t>自主筛选关键词</a:t>
              </a:r>
              <a:endParaRPr lang="zh-CN" altLang="en-US" sz="2100" b="1" dirty="0">
                <a:solidFill>
                  <a:schemeClr val="tx2">
                    <a:lumMod val="75000"/>
                  </a:schemeClr>
                </a:solidFill>
                <a:latin typeface="+mn-ea"/>
              </a:endParaRPr>
            </a:p>
          </p:txBody>
        </p:sp>
      </p:grpSp>
      <p:grpSp>
        <p:nvGrpSpPr>
          <p:cNvPr id="89" name="Group 88"/>
          <p:cNvGrpSpPr/>
          <p:nvPr/>
        </p:nvGrpSpPr>
        <p:grpSpPr>
          <a:xfrm>
            <a:off x="9087102" y="2702460"/>
            <a:ext cx="2461810" cy="795557"/>
            <a:chOff x="6815499" y="2026845"/>
            <a:chExt cx="1846598" cy="596668"/>
          </a:xfrm>
        </p:grpSpPr>
        <p:sp>
          <p:nvSpPr>
            <p:cNvPr id="56" name="Freeform 55"/>
            <p:cNvSpPr>
              <a:spLocks noChangeAspect="1"/>
            </p:cNvSpPr>
            <p:nvPr/>
          </p:nvSpPr>
          <p:spPr>
            <a:xfrm>
              <a:off x="6815499" y="2026845"/>
              <a:ext cx="596668" cy="596668"/>
            </a:xfrm>
            <a:custGeom>
              <a:avLst/>
              <a:gdLst>
                <a:gd name="connsiteX0" fmla="*/ 0 w 852383"/>
                <a:gd name="connsiteY0" fmla="*/ 426192 h 852383"/>
                <a:gd name="connsiteX1" fmla="*/ 124829 w 852383"/>
                <a:gd name="connsiteY1" fmla="*/ 124829 h 852383"/>
                <a:gd name="connsiteX2" fmla="*/ 426193 w 852383"/>
                <a:gd name="connsiteY2" fmla="*/ 1 h 852383"/>
                <a:gd name="connsiteX3" fmla="*/ 727556 w 852383"/>
                <a:gd name="connsiteY3" fmla="*/ 124830 h 852383"/>
                <a:gd name="connsiteX4" fmla="*/ 852384 w 852383"/>
                <a:gd name="connsiteY4" fmla="*/ 426194 h 852383"/>
                <a:gd name="connsiteX5" fmla="*/ 727555 w 852383"/>
                <a:gd name="connsiteY5" fmla="*/ 727557 h 852383"/>
                <a:gd name="connsiteX6" fmla="*/ 426192 w 852383"/>
                <a:gd name="connsiteY6" fmla="*/ 852386 h 852383"/>
                <a:gd name="connsiteX7" fmla="*/ 124829 w 852383"/>
                <a:gd name="connsiteY7" fmla="*/ 727557 h 852383"/>
                <a:gd name="connsiteX8" fmla="*/ 1 w 852383"/>
                <a:gd name="connsiteY8" fmla="*/ 426194 h 852383"/>
                <a:gd name="connsiteX9" fmla="*/ 0 w 852383"/>
                <a:gd name="connsiteY9" fmla="*/ 426192 h 8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2383" h="852383">
                  <a:moveTo>
                    <a:pt x="0" y="426192"/>
                  </a:moveTo>
                  <a:cubicBezTo>
                    <a:pt x="0" y="313159"/>
                    <a:pt x="44903" y="204755"/>
                    <a:pt x="124829" y="124829"/>
                  </a:cubicBezTo>
                  <a:cubicBezTo>
                    <a:pt x="204756" y="44903"/>
                    <a:pt x="313159" y="0"/>
                    <a:pt x="426193" y="1"/>
                  </a:cubicBezTo>
                  <a:cubicBezTo>
                    <a:pt x="539226" y="1"/>
                    <a:pt x="647630" y="44904"/>
                    <a:pt x="727556" y="124830"/>
                  </a:cubicBezTo>
                  <a:cubicBezTo>
                    <a:pt x="807482" y="204757"/>
                    <a:pt x="852385" y="313160"/>
                    <a:pt x="852384" y="426194"/>
                  </a:cubicBezTo>
                  <a:cubicBezTo>
                    <a:pt x="852384" y="539227"/>
                    <a:pt x="807482" y="647631"/>
                    <a:pt x="727555" y="727557"/>
                  </a:cubicBezTo>
                  <a:cubicBezTo>
                    <a:pt x="647628" y="807484"/>
                    <a:pt x="539225" y="852386"/>
                    <a:pt x="426192" y="852386"/>
                  </a:cubicBezTo>
                  <a:cubicBezTo>
                    <a:pt x="313159" y="852386"/>
                    <a:pt x="204755" y="807484"/>
                    <a:pt x="124829" y="727557"/>
                  </a:cubicBezTo>
                  <a:cubicBezTo>
                    <a:pt x="44903" y="647630"/>
                    <a:pt x="0" y="539227"/>
                    <a:pt x="1" y="426194"/>
                  </a:cubicBezTo>
                  <a:cubicBezTo>
                    <a:pt x="1" y="426193"/>
                    <a:pt x="0" y="426193"/>
                    <a:pt x="0" y="426192"/>
                  </a:cubicBezTo>
                  <a:close/>
                </a:path>
              </a:pathLst>
            </a:cu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8959" tIns="148959" rIns="148959" bIns="148959" numCol="1" spcCol="1270" anchor="ctr" anchorCtr="0">
              <a:noAutofit/>
            </a:bodyPr>
            <a:lstStyle/>
            <a:p>
              <a:pPr algn="ctr" defTabSz="1125855">
                <a:lnSpc>
                  <a:spcPct val="90000"/>
                </a:lnSpc>
                <a:spcBef>
                  <a:spcPct val="0"/>
                </a:spcBef>
                <a:spcAft>
                  <a:spcPct val="35000"/>
                </a:spcAft>
              </a:pPr>
              <a:endParaRPr lang="en-US" sz="3200" dirty="0">
                <a:latin typeface="+mn-ea"/>
              </a:endParaRPr>
            </a:p>
          </p:txBody>
        </p:sp>
        <p:sp>
          <p:nvSpPr>
            <p:cNvPr id="58" name="Text Placeholder 3"/>
            <p:cNvSpPr txBox="1"/>
            <p:nvPr/>
          </p:nvSpPr>
          <p:spPr>
            <a:xfrm>
              <a:off x="7412167" y="2207120"/>
              <a:ext cx="1249930" cy="241935"/>
            </a:xfrm>
            <a:prstGeom prst="rect">
              <a:avLst/>
            </a:prstGeom>
          </p:spPr>
          <p:txBody>
            <a:bodyPr wrap="squar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8565">
                <a:spcBef>
                  <a:spcPct val="20000"/>
                </a:spcBef>
                <a:defRPr/>
              </a:pPr>
              <a:r>
                <a:rPr lang="zh-CN" altLang="en-US" sz="2100" b="1" dirty="0">
                  <a:solidFill>
                    <a:schemeClr val="tx1">
                      <a:lumMod val="85000"/>
                      <a:lumOff val="15000"/>
                    </a:schemeClr>
                  </a:solidFill>
                  <a:latin typeface="+mn-ea"/>
                </a:rPr>
                <a:t>出价可控</a:t>
              </a:r>
              <a:endParaRPr lang="zh-CN" altLang="en-US" sz="2100" b="1" dirty="0">
                <a:solidFill>
                  <a:schemeClr val="tx1">
                    <a:lumMod val="85000"/>
                    <a:lumOff val="15000"/>
                  </a:schemeClr>
                </a:solidFill>
                <a:latin typeface="+mn-ea"/>
              </a:endParaRPr>
            </a:p>
          </p:txBody>
        </p:sp>
      </p:grpSp>
      <p:grpSp>
        <p:nvGrpSpPr>
          <p:cNvPr id="92" name="Group 91"/>
          <p:cNvGrpSpPr/>
          <p:nvPr/>
        </p:nvGrpSpPr>
        <p:grpSpPr>
          <a:xfrm>
            <a:off x="9087102" y="3957484"/>
            <a:ext cx="2461810" cy="795557"/>
            <a:chOff x="6815499" y="2968113"/>
            <a:chExt cx="1846598" cy="596668"/>
          </a:xfrm>
        </p:grpSpPr>
        <p:sp>
          <p:nvSpPr>
            <p:cNvPr id="55" name="Freeform 54"/>
            <p:cNvSpPr>
              <a:spLocks noChangeAspect="1"/>
            </p:cNvSpPr>
            <p:nvPr/>
          </p:nvSpPr>
          <p:spPr>
            <a:xfrm>
              <a:off x="6815499" y="2968113"/>
              <a:ext cx="596668" cy="596668"/>
            </a:xfrm>
            <a:custGeom>
              <a:avLst/>
              <a:gdLst>
                <a:gd name="connsiteX0" fmla="*/ 0 w 852383"/>
                <a:gd name="connsiteY0" fmla="*/ 426192 h 852383"/>
                <a:gd name="connsiteX1" fmla="*/ 124829 w 852383"/>
                <a:gd name="connsiteY1" fmla="*/ 124829 h 852383"/>
                <a:gd name="connsiteX2" fmla="*/ 426193 w 852383"/>
                <a:gd name="connsiteY2" fmla="*/ 1 h 852383"/>
                <a:gd name="connsiteX3" fmla="*/ 727556 w 852383"/>
                <a:gd name="connsiteY3" fmla="*/ 124830 h 852383"/>
                <a:gd name="connsiteX4" fmla="*/ 852384 w 852383"/>
                <a:gd name="connsiteY4" fmla="*/ 426194 h 852383"/>
                <a:gd name="connsiteX5" fmla="*/ 727555 w 852383"/>
                <a:gd name="connsiteY5" fmla="*/ 727557 h 852383"/>
                <a:gd name="connsiteX6" fmla="*/ 426192 w 852383"/>
                <a:gd name="connsiteY6" fmla="*/ 852386 h 852383"/>
                <a:gd name="connsiteX7" fmla="*/ 124829 w 852383"/>
                <a:gd name="connsiteY7" fmla="*/ 727557 h 852383"/>
                <a:gd name="connsiteX8" fmla="*/ 1 w 852383"/>
                <a:gd name="connsiteY8" fmla="*/ 426194 h 852383"/>
                <a:gd name="connsiteX9" fmla="*/ 0 w 852383"/>
                <a:gd name="connsiteY9" fmla="*/ 426192 h 8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2383" h="852383">
                  <a:moveTo>
                    <a:pt x="0" y="426192"/>
                  </a:moveTo>
                  <a:cubicBezTo>
                    <a:pt x="0" y="313159"/>
                    <a:pt x="44903" y="204755"/>
                    <a:pt x="124829" y="124829"/>
                  </a:cubicBezTo>
                  <a:cubicBezTo>
                    <a:pt x="204756" y="44903"/>
                    <a:pt x="313159" y="0"/>
                    <a:pt x="426193" y="1"/>
                  </a:cubicBezTo>
                  <a:cubicBezTo>
                    <a:pt x="539226" y="1"/>
                    <a:pt x="647630" y="44904"/>
                    <a:pt x="727556" y="124830"/>
                  </a:cubicBezTo>
                  <a:cubicBezTo>
                    <a:pt x="807482" y="204757"/>
                    <a:pt x="852385" y="313160"/>
                    <a:pt x="852384" y="426194"/>
                  </a:cubicBezTo>
                  <a:cubicBezTo>
                    <a:pt x="852384" y="539227"/>
                    <a:pt x="807482" y="647631"/>
                    <a:pt x="727555" y="727557"/>
                  </a:cubicBezTo>
                  <a:cubicBezTo>
                    <a:pt x="647628" y="807484"/>
                    <a:pt x="539225" y="852386"/>
                    <a:pt x="426192" y="852386"/>
                  </a:cubicBezTo>
                  <a:cubicBezTo>
                    <a:pt x="313159" y="852386"/>
                    <a:pt x="204755" y="807484"/>
                    <a:pt x="124829" y="727557"/>
                  </a:cubicBezTo>
                  <a:cubicBezTo>
                    <a:pt x="44903" y="647630"/>
                    <a:pt x="0" y="539227"/>
                    <a:pt x="1" y="426194"/>
                  </a:cubicBezTo>
                  <a:cubicBezTo>
                    <a:pt x="1" y="426193"/>
                    <a:pt x="0" y="426193"/>
                    <a:pt x="0" y="426192"/>
                  </a:cubicBezTo>
                  <a:close/>
                </a:path>
              </a:pathLst>
            </a:custGeom>
            <a:solidFill>
              <a:schemeClr val="accent4"/>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8959" tIns="148959" rIns="148959" bIns="148959" numCol="1" spcCol="1270" anchor="ctr" anchorCtr="0">
              <a:noAutofit/>
            </a:bodyPr>
            <a:lstStyle/>
            <a:p>
              <a:pPr algn="ctr" defTabSz="1125855">
                <a:lnSpc>
                  <a:spcPct val="90000"/>
                </a:lnSpc>
                <a:spcBef>
                  <a:spcPct val="0"/>
                </a:spcBef>
                <a:spcAft>
                  <a:spcPct val="35000"/>
                </a:spcAft>
              </a:pPr>
              <a:endParaRPr lang="en-US" sz="3200" dirty="0">
                <a:solidFill>
                  <a:schemeClr val="bg1"/>
                </a:solidFill>
                <a:latin typeface="+mn-ea"/>
              </a:endParaRPr>
            </a:p>
          </p:txBody>
        </p:sp>
        <p:sp>
          <p:nvSpPr>
            <p:cNvPr id="60" name="Text Placeholder 3"/>
            <p:cNvSpPr txBox="1"/>
            <p:nvPr/>
          </p:nvSpPr>
          <p:spPr>
            <a:xfrm>
              <a:off x="7412167" y="3033560"/>
              <a:ext cx="1249930" cy="484346"/>
            </a:xfrm>
            <a:prstGeom prst="rect">
              <a:avLst/>
            </a:prstGeom>
          </p:spPr>
          <p:txBody>
            <a:bodyPr wrap="squar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8565">
                <a:spcBef>
                  <a:spcPct val="20000"/>
                </a:spcBef>
                <a:defRPr/>
              </a:pPr>
              <a:r>
                <a:rPr lang="zh-CN" altLang="en-US" sz="2100" b="1" dirty="0">
                  <a:solidFill>
                    <a:schemeClr val="accent4"/>
                  </a:solidFill>
                  <a:latin typeface="+mn-ea"/>
                </a:rPr>
                <a:t>大量的精力调整</a:t>
              </a:r>
              <a:endParaRPr lang="zh-CN" altLang="en-US" sz="2100" b="1" dirty="0">
                <a:solidFill>
                  <a:schemeClr val="accent4"/>
                </a:solidFill>
                <a:latin typeface="+mn-ea"/>
              </a:endParaRPr>
            </a:p>
          </p:txBody>
        </p:sp>
      </p:grpSp>
      <p:grpSp>
        <p:nvGrpSpPr>
          <p:cNvPr id="94" name="Group 93"/>
          <p:cNvGrpSpPr/>
          <p:nvPr/>
        </p:nvGrpSpPr>
        <p:grpSpPr>
          <a:xfrm>
            <a:off x="9087102" y="5212508"/>
            <a:ext cx="2461810" cy="795557"/>
            <a:chOff x="6815499" y="3909381"/>
            <a:chExt cx="1846598" cy="596668"/>
          </a:xfrm>
        </p:grpSpPr>
        <p:sp>
          <p:nvSpPr>
            <p:cNvPr id="54" name="Freeform 53"/>
            <p:cNvSpPr>
              <a:spLocks noChangeAspect="1"/>
            </p:cNvSpPr>
            <p:nvPr/>
          </p:nvSpPr>
          <p:spPr>
            <a:xfrm>
              <a:off x="6815499" y="3909381"/>
              <a:ext cx="596668" cy="596668"/>
            </a:xfrm>
            <a:custGeom>
              <a:avLst/>
              <a:gdLst>
                <a:gd name="connsiteX0" fmla="*/ 0 w 852383"/>
                <a:gd name="connsiteY0" fmla="*/ 426192 h 852383"/>
                <a:gd name="connsiteX1" fmla="*/ 124829 w 852383"/>
                <a:gd name="connsiteY1" fmla="*/ 124829 h 852383"/>
                <a:gd name="connsiteX2" fmla="*/ 426193 w 852383"/>
                <a:gd name="connsiteY2" fmla="*/ 1 h 852383"/>
                <a:gd name="connsiteX3" fmla="*/ 727556 w 852383"/>
                <a:gd name="connsiteY3" fmla="*/ 124830 h 852383"/>
                <a:gd name="connsiteX4" fmla="*/ 852384 w 852383"/>
                <a:gd name="connsiteY4" fmla="*/ 426194 h 852383"/>
                <a:gd name="connsiteX5" fmla="*/ 727555 w 852383"/>
                <a:gd name="connsiteY5" fmla="*/ 727557 h 852383"/>
                <a:gd name="connsiteX6" fmla="*/ 426192 w 852383"/>
                <a:gd name="connsiteY6" fmla="*/ 852386 h 852383"/>
                <a:gd name="connsiteX7" fmla="*/ 124829 w 852383"/>
                <a:gd name="connsiteY7" fmla="*/ 727557 h 852383"/>
                <a:gd name="connsiteX8" fmla="*/ 1 w 852383"/>
                <a:gd name="connsiteY8" fmla="*/ 426194 h 852383"/>
                <a:gd name="connsiteX9" fmla="*/ 0 w 852383"/>
                <a:gd name="connsiteY9" fmla="*/ 426192 h 8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2383" h="852383">
                  <a:moveTo>
                    <a:pt x="0" y="426192"/>
                  </a:moveTo>
                  <a:cubicBezTo>
                    <a:pt x="0" y="313159"/>
                    <a:pt x="44903" y="204755"/>
                    <a:pt x="124829" y="124829"/>
                  </a:cubicBezTo>
                  <a:cubicBezTo>
                    <a:pt x="204756" y="44903"/>
                    <a:pt x="313159" y="0"/>
                    <a:pt x="426193" y="1"/>
                  </a:cubicBezTo>
                  <a:cubicBezTo>
                    <a:pt x="539226" y="1"/>
                    <a:pt x="647630" y="44904"/>
                    <a:pt x="727556" y="124830"/>
                  </a:cubicBezTo>
                  <a:cubicBezTo>
                    <a:pt x="807482" y="204757"/>
                    <a:pt x="852385" y="313160"/>
                    <a:pt x="852384" y="426194"/>
                  </a:cubicBezTo>
                  <a:cubicBezTo>
                    <a:pt x="852384" y="539227"/>
                    <a:pt x="807482" y="647631"/>
                    <a:pt x="727555" y="727557"/>
                  </a:cubicBezTo>
                  <a:cubicBezTo>
                    <a:pt x="647628" y="807484"/>
                    <a:pt x="539225" y="852386"/>
                    <a:pt x="426192" y="852386"/>
                  </a:cubicBezTo>
                  <a:cubicBezTo>
                    <a:pt x="313159" y="852386"/>
                    <a:pt x="204755" y="807484"/>
                    <a:pt x="124829" y="727557"/>
                  </a:cubicBezTo>
                  <a:cubicBezTo>
                    <a:pt x="44903" y="647630"/>
                    <a:pt x="0" y="539227"/>
                    <a:pt x="1" y="426194"/>
                  </a:cubicBezTo>
                  <a:cubicBezTo>
                    <a:pt x="1" y="426193"/>
                    <a:pt x="0" y="426193"/>
                    <a:pt x="0" y="426192"/>
                  </a:cubicBezTo>
                  <a:close/>
                </a:path>
              </a:pathLst>
            </a:cu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8959" tIns="148959" rIns="148959" bIns="148959" numCol="1" spcCol="1270" anchor="ctr" anchorCtr="0">
              <a:noAutofit/>
            </a:bodyPr>
            <a:lstStyle/>
            <a:p>
              <a:pPr algn="ctr" defTabSz="1125855">
                <a:lnSpc>
                  <a:spcPct val="90000"/>
                </a:lnSpc>
                <a:spcBef>
                  <a:spcPct val="0"/>
                </a:spcBef>
                <a:spcAft>
                  <a:spcPct val="35000"/>
                </a:spcAft>
              </a:pPr>
              <a:endParaRPr lang="en-US" sz="3200" dirty="0">
                <a:latin typeface="+mn-ea"/>
              </a:endParaRPr>
            </a:p>
          </p:txBody>
        </p:sp>
        <p:sp>
          <p:nvSpPr>
            <p:cNvPr id="65" name="Text Placeholder 3"/>
            <p:cNvSpPr txBox="1"/>
            <p:nvPr/>
          </p:nvSpPr>
          <p:spPr>
            <a:xfrm>
              <a:off x="7412167" y="3972272"/>
              <a:ext cx="1249930" cy="484346"/>
            </a:xfrm>
            <a:prstGeom prst="rect">
              <a:avLst/>
            </a:prstGeom>
          </p:spPr>
          <p:txBody>
            <a:bodyPr wrap="squar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8565">
                <a:spcBef>
                  <a:spcPct val="20000"/>
                </a:spcBef>
                <a:defRPr/>
              </a:pPr>
              <a:r>
                <a:rPr lang="zh-CN" altLang="en-US" sz="2100" b="1" dirty="0">
                  <a:solidFill>
                    <a:schemeClr val="accent1"/>
                  </a:solidFill>
                  <a:latin typeface="+mn-ea"/>
                </a:rPr>
                <a:t>关键词整理分类</a:t>
              </a:r>
              <a:endParaRPr lang="zh-CN" altLang="en-US" sz="2100" b="1" dirty="0">
                <a:solidFill>
                  <a:schemeClr val="accent1"/>
                </a:solidFill>
                <a:latin typeface="+mn-ea"/>
              </a:endParaRPr>
            </a:p>
          </p:txBody>
        </p:sp>
      </p:grpSp>
      <p:grpSp>
        <p:nvGrpSpPr>
          <p:cNvPr id="69" name="Group 68"/>
          <p:cNvGrpSpPr/>
          <p:nvPr/>
        </p:nvGrpSpPr>
        <p:grpSpPr>
          <a:xfrm flipH="1">
            <a:off x="3149859" y="1853823"/>
            <a:ext cx="2869502" cy="3765437"/>
            <a:chOff x="4551052" y="1390367"/>
            <a:chExt cx="2152407" cy="2824078"/>
          </a:xfrm>
        </p:grpSpPr>
        <p:cxnSp>
          <p:nvCxnSpPr>
            <p:cNvPr id="71" name="Elbow Connector 70"/>
            <p:cNvCxnSpPr/>
            <p:nvPr/>
          </p:nvCxnSpPr>
          <p:spPr>
            <a:xfrm rot="10800000" flipV="1">
              <a:off x="4551052" y="1390367"/>
              <a:ext cx="2146058" cy="317277"/>
            </a:xfrm>
            <a:prstGeom prst="bentConnector3">
              <a:avLst>
                <a:gd name="adj1" fmla="val 99710"/>
              </a:avLst>
            </a:pr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H="1">
              <a:off x="5896963" y="2328622"/>
              <a:ext cx="806496" cy="0"/>
            </a:xfrm>
            <a:prstGeom prst="line">
              <a:avLst/>
            </a:pr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H="1">
              <a:off x="5896963" y="3275734"/>
              <a:ext cx="806496" cy="0"/>
            </a:xfrm>
            <a:prstGeom prst="line">
              <a:avLst/>
            </a:pr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4" name="Elbow Connector 73"/>
            <p:cNvCxnSpPr/>
            <p:nvPr/>
          </p:nvCxnSpPr>
          <p:spPr>
            <a:xfrm rot="10800000">
              <a:off x="4551052" y="3897168"/>
              <a:ext cx="2146058" cy="317277"/>
            </a:xfrm>
            <a:prstGeom prst="bentConnector3">
              <a:avLst>
                <a:gd name="adj1" fmla="val 99710"/>
              </a:avLst>
            </a:pr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88" name="Group 87"/>
          <p:cNvGrpSpPr/>
          <p:nvPr/>
        </p:nvGrpSpPr>
        <p:grpSpPr>
          <a:xfrm>
            <a:off x="720206" y="1447436"/>
            <a:ext cx="2420762" cy="795557"/>
            <a:chOff x="539510" y="1085577"/>
            <a:chExt cx="1815808" cy="596668"/>
          </a:xfrm>
        </p:grpSpPr>
        <p:sp>
          <p:nvSpPr>
            <p:cNvPr id="76" name="Freeform 75"/>
            <p:cNvSpPr>
              <a:spLocks noChangeAspect="1"/>
            </p:cNvSpPr>
            <p:nvPr/>
          </p:nvSpPr>
          <p:spPr>
            <a:xfrm>
              <a:off x="1758650" y="1085577"/>
              <a:ext cx="596668" cy="596668"/>
            </a:xfrm>
            <a:custGeom>
              <a:avLst/>
              <a:gdLst>
                <a:gd name="connsiteX0" fmla="*/ 0 w 852383"/>
                <a:gd name="connsiteY0" fmla="*/ 426192 h 852383"/>
                <a:gd name="connsiteX1" fmla="*/ 124829 w 852383"/>
                <a:gd name="connsiteY1" fmla="*/ 124829 h 852383"/>
                <a:gd name="connsiteX2" fmla="*/ 426193 w 852383"/>
                <a:gd name="connsiteY2" fmla="*/ 1 h 852383"/>
                <a:gd name="connsiteX3" fmla="*/ 727556 w 852383"/>
                <a:gd name="connsiteY3" fmla="*/ 124830 h 852383"/>
                <a:gd name="connsiteX4" fmla="*/ 852384 w 852383"/>
                <a:gd name="connsiteY4" fmla="*/ 426194 h 852383"/>
                <a:gd name="connsiteX5" fmla="*/ 727555 w 852383"/>
                <a:gd name="connsiteY5" fmla="*/ 727557 h 852383"/>
                <a:gd name="connsiteX6" fmla="*/ 426192 w 852383"/>
                <a:gd name="connsiteY6" fmla="*/ 852386 h 852383"/>
                <a:gd name="connsiteX7" fmla="*/ 124829 w 852383"/>
                <a:gd name="connsiteY7" fmla="*/ 727557 h 852383"/>
                <a:gd name="connsiteX8" fmla="*/ 1 w 852383"/>
                <a:gd name="connsiteY8" fmla="*/ 426194 h 852383"/>
                <a:gd name="connsiteX9" fmla="*/ 0 w 852383"/>
                <a:gd name="connsiteY9" fmla="*/ 426192 h 8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2383" h="852383">
                  <a:moveTo>
                    <a:pt x="0" y="426192"/>
                  </a:moveTo>
                  <a:cubicBezTo>
                    <a:pt x="0" y="313159"/>
                    <a:pt x="44903" y="204755"/>
                    <a:pt x="124829" y="124829"/>
                  </a:cubicBezTo>
                  <a:cubicBezTo>
                    <a:pt x="204756" y="44903"/>
                    <a:pt x="313159" y="0"/>
                    <a:pt x="426193" y="1"/>
                  </a:cubicBezTo>
                  <a:cubicBezTo>
                    <a:pt x="539226" y="1"/>
                    <a:pt x="647630" y="44904"/>
                    <a:pt x="727556" y="124830"/>
                  </a:cubicBezTo>
                  <a:cubicBezTo>
                    <a:pt x="807482" y="204757"/>
                    <a:pt x="852385" y="313160"/>
                    <a:pt x="852384" y="426194"/>
                  </a:cubicBezTo>
                  <a:cubicBezTo>
                    <a:pt x="852384" y="539227"/>
                    <a:pt x="807482" y="647631"/>
                    <a:pt x="727555" y="727557"/>
                  </a:cubicBezTo>
                  <a:cubicBezTo>
                    <a:pt x="647628" y="807484"/>
                    <a:pt x="539225" y="852386"/>
                    <a:pt x="426192" y="852386"/>
                  </a:cubicBezTo>
                  <a:cubicBezTo>
                    <a:pt x="313159" y="852386"/>
                    <a:pt x="204755" y="807484"/>
                    <a:pt x="124829" y="727557"/>
                  </a:cubicBezTo>
                  <a:cubicBezTo>
                    <a:pt x="44903" y="647630"/>
                    <a:pt x="0" y="539227"/>
                    <a:pt x="1" y="426194"/>
                  </a:cubicBezTo>
                  <a:cubicBezTo>
                    <a:pt x="1" y="426193"/>
                    <a:pt x="0" y="426193"/>
                    <a:pt x="0" y="426192"/>
                  </a:cubicBezTo>
                  <a:close/>
                </a:path>
              </a:pathLst>
            </a:custGeom>
            <a:solidFill>
              <a:schemeClr val="accent4">
                <a:lumMod val="7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8959" tIns="148959" rIns="148959" bIns="148959" numCol="1" spcCol="1270" anchor="ctr" anchorCtr="0">
              <a:noAutofit/>
            </a:bodyPr>
            <a:lstStyle/>
            <a:p>
              <a:pPr algn="ctr" defTabSz="1125855">
                <a:lnSpc>
                  <a:spcPct val="90000"/>
                </a:lnSpc>
                <a:spcBef>
                  <a:spcPct val="0"/>
                </a:spcBef>
                <a:spcAft>
                  <a:spcPct val="35000"/>
                </a:spcAft>
              </a:pPr>
              <a:endParaRPr lang="en-US" sz="3200" dirty="0">
                <a:latin typeface="+mn-ea"/>
              </a:endParaRPr>
            </a:p>
          </p:txBody>
        </p:sp>
        <p:sp>
          <p:nvSpPr>
            <p:cNvPr id="80" name="Text Placeholder 3"/>
            <p:cNvSpPr txBox="1"/>
            <p:nvPr/>
          </p:nvSpPr>
          <p:spPr>
            <a:xfrm>
              <a:off x="539510" y="1117076"/>
              <a:ext cx="1249930" cy="484346"/>
            </a:xfrm>
            <a:prstGeom prst="rect">
              <a:avLst/>
            </a:prstGeom>
          </p:spPr>
          <p:txBody>
            <a:bodyPr wrap="squar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8565">
                <a:spcBef>
                  <a:spcPct val="20000"/>
                </a:spcBef>
                <a:defRPr/>
              </a:pPr>
              <a:r>
                <a:rPr lang="en-US" sz="2100" b="1" dirty="0">
                  <a:solidFill>
                    <a:schemeClr val="accent4"/>
                  </a:solidFill>
                  <a:latin typeface="+mn-ea"/>
                </a:rPr>
                <a:t> </a:t>
              </a:r>
              <a:r>
                <a:rPr lang="zh-CN" altLang="en-US" sz="2100" b="1" dirty="0">
                  <a:solidFill>
                    <a:schemeClr val="accent4"/>
                  </a:solidFill>
                  <a:latin typeface="+mn-ea"/>
                </a:rPr>
                <a:t>获取未知关键词</a:t>
              </a:r>
              <a:endParaRPr lang="zh-CN" altLang="en-US" sz="2100" b="1" dirty="0">
                <a:solidFill>
                  <a:schemeClr val="accent4"/>
                </a:solidFill>
                <a:latin typeface="+mn-ea"/>
              </a:endParaRPr>
            </a:p>
          </p:txBody>
        </p:sp>
      </p:grpSp>
      <p:grpSp>
        <p:nvGrpSpPr>
          <p:cNvPr id="90" name="Group 89"/>
          <p:cNvGrpSpPr/>
          <p:nvPr/>
        </p:nvGrpSpPr>
        <p:grpSpPr>
          <a:xfrm>
            <a:off x="720206" y="2702460"/>
            <a:ext cx="2420762" cy="795557"/>
            <a:chOff x="539510" y="2026845"/>
            <a:chExt cx="1815808" cy="596668"/>
          </a:xfrm>
        </p:grpSpPr>
        <p:sp>
          <p:nvSpPr>
            <p:cNvPr id="79" name="Freeform 78"/>
            <p:cNvSpPr>
              <a:spLocks noChangeAspect="1"/>
            </p:cNvSpPr>
            <p:nvPr/>
          </p:nvSpPr>
          <p:spPr>
            <a:xfrm>
              <a:off x="1758650" y="2026845"/>
              <a:ext cx="596668" cy="596668"/>
            </a:xfrm>
            <a:custGeom>
              <a:avLst/>
              <a:gdLst>
                <a:gd name="connsiteX0" fmla="*/ 0 w 852383"/>
                <a:gd name="connsiteY0" fmla="*/ 426192 h 852383"/>
                <a:gd name="connsiteX1" fmla="*/ 124829 w 852383"/>
                <a:gd name="connsiteY1" fmla="*/ 124829 h 852383"/>
                <a:gd name="connsiteX2" fmla="*/ 426193 w 852383"/>
                <a:gd name="connsiteY2" fmla="*/ 1 h 852383"/>
                <a:gd name="connsiteX3" fmla="*/ 727556 w 852383"/>
                <a:gd name="connsiteY3" fmla="*/ 124830 h 852383"/>
                <a:gd name="connsiteX4" fmla="*/ 852384 w 852383"/>
                <a:gd name="connsiteY4" fmla="*/ 426194 h 852383"/>
                <a:gd name="connsiteX5" fmla="*/ 727555 w 852383"/>
                <a:gd name="connsiteY5" fmla="*/ 727557 h 852383"/>
                <a:gd name="connsiteX6" fmla="*/ 426192 w 852383"/>
                <a:gd name="connsiteY6" fmla="*/ 852386 h 852383"/>
                <a:gd name="connsiteX7" fmla="*/ 124829 w 852383"/>
                <a:gd name="connsiteY7" fmla="*/ 727557 h 852383"/>
                <a:gd name="connsiteX8" fmla="*/ 1 w 852383"/>
                <a:gd name="connsiteY8" fmla="*/ 426194 h 852383"/>
                <a:gd name="connsiteX9" fmla="*/ 0 w 852383"/>
                <a:gd name="connsiteY9" fmla="*/ 426192 h 8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2383" h="852383">
                  <a:moveTo>
                    <a:pt x="0" y="426192"/>
                  </a:moveTo>
                  <a:cubicBezTo>
                    <a:pt x="0" y="313159"/>
                    <a:pt x="44903" y="204755"/>
                    <a:pt x="124829" y="124829"/>
                  </a:cubicBezTo>
                  <a:cubicBezTo>
                    <a:pt x="204756" y="44903"/>
                    <a:pt x="313159" y="0"/>
                    <a:pt x="426193" y="1"/>
                  </a:cubicBezTo>
                  <a:cubicBezTo>
                    <a:pt x="539226" y="1"/>
                    <a:pt x="647630" y="44904"/>
                    <a:pt x="727556" y="124830"/>
                  </a:cubicBezTo>
                  <a:cubicBezTo>
                    <a:pt x="807482" y="204757"/>
                    <a:pt x="852385" y="313160"/>
                    <a:pt x="852384" y="426194"/>
                  </a:cubicBezTo>
                  <a:cubicBezTo>
                    <a:pt x="852384" y="539227"/>
                    <a:pt x="807482" y="647631"/>
                    <a:pt x="727555" y="727557"/>
                  </a:cubicBezTo>
                  <a:cubicBezTo>
                    <a:pt x="647628" y="807484"/>
                    <a:pt x="539225" y="852386"/>
                    <a:pt x="426192" y="852386"/>
                  </a:cubicBezTo>
                  <a:cubicBezTo>
                    <a:pt x="313159" y="852386"/>
                    <a:pt x="204755" y="807484"/>
                    <a:pt x="124829" y="727557"/>
                  </a:cubicBezTo>
                  <a:cubicBezTo>
                    <a:pt x="44903" y="647630"/>
                    <a:pt x="0" y="539227"/>
                    <a:pt x="1" y="426194"/>
                  </a:cubicBezTo>
                  <a:cubicBezTo>
                    <a:pt x="1" y="426193"/>
                    <a:pt x="0" y="426193"/>
                    <a:pt x="0" y="426192"/>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8959" tIns="148959" rIns="148959" bIns="148959" numCol="1" spcCol="1270" anchor="ctr" anchorCtr="0">
              <a:noAutofit/>
            </a:bodyPr>
            <a:lstStyle/>
            <a:p>
              <a:pPr algn="ctr" defTabSz="1125855">
                <a:lnSpc>
                  <a:spcPct val="90000"/>
                </a:lnSpc>
                <a:spcBef>
                  <a:spcPct val="0"/>
                </a:spcBef>
                <a:spcAft>
                  <a:spcPct val="35000"/>
                </a:spcAft>
              </a:pPr>
              <a:endParaRPr lang="en-US" sz="3200" dirty="0">
                <a:latin typeface="+mn-ea"/>
              </a:endParaRPr>
            </a:p>
          </p:txBody>
        </p:sp>
        <p:sp>
          <p:nvSpPr>
            <p:cNvPr id="81" name="Text Placeholder 3"/>
            <p:cNvSpPr txBox="1"/>
            <p:nvPr/>
          </p:nvSpPr>
          <p:spPr>
            <a:xfrm>
              <a:off x="539510" y="2207120"/>
              <a:ext cx="1249930" cy="241935"/>
            </a:xfrm>
            <a:prstGeom prst="rect">
              <a:avLst/>
            </a:prstGeom>
          </p:spPr>
          <p:txBody>
            <a:bodyPr wrap="squar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8565">
                <a:spcBef>
                  <a:spcPct val="20000"/>
                </a:spcBef>
                <a:defRPr/>
              </a:pPr>
              <a:r>
                <a:rPr lang="zh-CN" altLang="en-US" sz="2100" b="1" dirty="0">
                  <a:solidFill>
                    <a:schemeClr val="accent1"/>
                  </a:solidFill>
                  <a:latin typeface="+mn-ea"/>
                </a:rPr>
                <a:t>自动匹配</a:t>
              </a:r>
              <a:endParaRPr lang="zh-CN" altLang="en-US" sz="2100" b="1" dirty="0">
                <a:solidFill>
                  <a:schemeClr val="accent1"/>
                </a:solidFill>
                <a:latin typeface="+mn-ea"/>
              </a:endParaRPr>
            </a:p>
          </p:txBody>
        </p:sp>
      </p:grpSp>
      <p:grpSp>
        <p:nvGrpSpPr>
          <p:cNvPr id="91" name="Group 90"/>
          <p:cNvGrpSpPr/>
          <p:nvPr/>
        </p:nvGrpSpPr>
        <p:grpSpPr>
          <a:xfrm>
            <a:off x="720206" y="3957484"/>
            <a:ext cx="2420762" cy="795557"/>
            <a:chOff x="539510" y="2968113"/>
            <a:chExt cx="1815808" cy="596668"/>
          </a:xfrm>
        </p:grpSpPr>
        <p:sp>
          <p:nvSpPr>
            <p:cNvPr id="78" name="Freeform 77"/>
            <p:cNvSpPr>
              <a:spLocks noChangeAspect="1"/>
            </p:cNvSpPr>
            <p:nvPr/>
          </p:nvSpPr>
          <p:spPr>
            <a:xfrm>
              <a:off x="1758650" y="2968113"/>
              <a:ext cx="596668" cy="596668"/>
            </a:xfrm>
            <a:custGeom>
              <a:avLst/>
              <a:gdLst>
                <a:gd name="connsiteX0" fmla="*/ 0 w 852383"/>
                <a:gd name="connsiteY0" fmla="*/ 426192 h 852383"/>
                <a:gd name="connsiteX1" fmla="*/ 124829 w 852383"/>
                <a:gd name="connsiteY1" fmla="*/ 124829 h 852383"/>
                <a:gd name="connsiteX2" fmla="*/ 426193 w 852383"/>
                <a:gd name="connsiteY2" fmla="*/ 1 h 852383"/>
                <a:gd name="connsiteX3" fmla="*/ 727556 w 852383"/>
                <a:gd name="connsiteY3" fmla="*/ 124830 h 852383"/>
                <a:gd name="connsiteX4" fmla="*/ 852384 w 852383"/>
                <a:gd name="connsiteY4" fmla="*/ 426194 h 852383"/>
                <a:gd name="connsiteX5" fmla="*/ 727555 w 852383"/>
                <a:gd name="connsiteY5" fmla="*/ 727557 h 852383"/>
                <a:gd name="connsiteX6" fmla="*/ 426192 w 852383"/>
                <a:gd name="connsiteY6" fmla="*/ 852386 h 852383"/>
                <a:gd name="connsiteX7" fmla="*/ 124829 w 852383"/>
                <a:gd name="connsiteY7" fmla="*/ 727557 h 852383"/>
                <a:gd name="connsiteX8" fmla="*/ 1 w 852383"/>
                <a:gd name="connsiteY8" fmla="*/ 426194 h 852383"/>
                <a:gd name="connsiteX9" fmla="*/ 0 w 852383"/>
                <a:gd name="connsiteY9" fmla="*/ 426192 h 8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2383" h="852383">
                  <a:moveTo>
                    <a:pt x="0" y="426192"/>
                  </a:moveTo>
                  <a:cubicBezTo>
                    <a:pt x="0" y="313159"/>
                    <a:pt x="44903" y="204755"/>
                    <a:pt x="124829" y="124829"/>
                  </a:cubicBezTo>
                  <a:cubicBezTo>
                    <a:pt x="204756" y="44903"/>
                    <a:pt x="313159" y="0"/>
                    <a:pt x="426193" y="1"/>
                  </a:cubicBezTo>
                  <a:cubicBezTo>
                    <a:pt x="539226" y="1"/>
                    <a:pt x="647630" y="44904"/>
                    <a:pt x="727556" y="124830"/>
                  </a:cubicBezTo>
                  <a:cubicBezTo>
                    <a:pt x="807482" y="204757"/>
                    <a:pt x="852385" y="313160"/>
                    <a:pt x="852384" y="426194"/>
                  </a:cubicBezTo>
                  <a:cubicBezTo>
                    <a:pt x="852384" y="539227"/>
                    <a:pt x="807482" y="647631"/>
                    <a:pt x="727555" y="727557"/>
                  </a:cubicBezTo>
                  <a:cubicBezTo>
                    <a:pt x="647628" y="807484"/>
                    <a:pt x="539225" y="852386"/>
                    <a:pt x="426192" y="852386"/>
                  </a:cubicBezTo>
                  <a:cubicBezTo>
                    <a:pt x="313159" y="852386"/>
                    <a:pt x="204755" y="807484"/>
                    <a:pt x="124829" y="727557"/>
                  </a:cubicBezTo>
                  <a:cubicBezTo>
                    <a:pt x="44903" y="647630"/>
                    <a:pt x="0" y="539227"/>
                    <a:pt x="1" y="426194"/>
                  </a:cubicBezTo>
                  <a:cubicBezTo>
                    <a:pt x="1" y="426193"/>
                    <a:pt x="0" y="426193"/>
                    <a:pt x="0" y="426192"/>
                  </a:cubicBezTo>
                  <a:close/>
                </a:path>
              </a:pathLst>
            </a:custGeom>
            <a:solidFill>
              <a:schemeClr val="accent2"/>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8959" tIns="148959" rIns="148959" bIns="148959" numCol="1" spcCol="1270" anchor="ctr" anchorCtr="0">
              <a:noAutofit/>
            </a:bodyPr>
            <a:lstStyle/>
            <a:p>
              <a:pPr algn="ctr" defTabSz="1125855">
                <a:lnSpc>
                  <a:spcPct val="90000"/>
                </a:lnSpc>
                <a:spcBef>
                  <a:spcPct val="0"/>
                </a:spcBef>
                <a:spcAft>
                  <a:spcPct val="35000"/>
                </a:spcAft>
              </a:pPr>
              <a:endParaRPr lang="en-US" sz="3200" dirty="0">
                <a:latin typeface="+mn-ea"/>
              </a:endParaRPr>
            </a:p>
          </p:txBody>
        </p:sp>
        <p:sp>
          <p:nvSpPr>
            <p:cNvPr id="82" name="Text Placeholder 3"/>
            <p:cNvSpPr txBox="1"/>
            <p:nvPr/>
          </p:nvSpPr>
          <p:spPr>
            <a:xfrm>
              <a:off x="539510" y="3154766"/>
              <a:ext cx="1249930" cy="241935"/>
            </a:xfrm>
            <a:prstGeom prst="rect">
              <a:avLst/>
            </a:prstGeom>
          </p:spPr>
          <p:txBody>
            <a:bodyPr wrap="squar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8565">
                <a:spcBef>
                  <a:spcPct val="20000"/>
                </a:spcBef>
                <a:defRPr/>
              </a:pPr>
              <a:r>
                <a:rPr lang="zh-CN" altLang="en-US" sz="2100" b="1" dirty="0">
                  <a:solidFill>
                    <a:schemeClr val="accent2"/>
                  </a:solidFill>
                  <a:latin typeface="+mn-ea"/>
                </a:rPr>
                <a:t>少量的精力</a:t>
              </a:r>
              <a:endParaRPr lang="zh-CN" altLang="en-US" sz="2100" b="1" dirty="0">
                <a:solidFill>
                  <a:schemeClr val="accent2"/>
                </a:solidFill>
                <a:latin typeface="+mn-ea"/>
              </a:endParaRPr>
            </a:p>
          </p:txBody>
        </p:sp>
      </p:grpSp>
      <p:grpSp>
        <p:nvGrpSpPr>
          <p:cNvPr id="93" name="Group 92"/>
          <p:cNvGrpSpPr/>
          <p:nvPr/>
        </p:nvGrpSpPr>
        <p:grpSpPr>
          <a:xfrm>
            <a:off x="720206" y="5212508"/>
            <a:ext cx="2420762" cy="795557"/>
            <a:chOff x="539510" y="3909381"/>
            <a:chExt cx="1815808" cy="596668"/>
          </a:xfrm>
        </p:grpSpPr>
        <p:sp>
          <p:nvSpPr>
            <p:cNvPr id="77" name="Freeform 76"/>
            <p:cNvSpPr>
              <a:spLocks noChangeAspect="1"/>
            </p:cNvSpPr>
            <p:nvPr/>
          </p:nvSpPr>
          <p:spPr>
            <a:xfrm>
              <a:off x="1758650" y="3909381"/>
              <a:ext cx="596668" cy="596668"/>
            </a:xfrm>
            <a:custGeom>
              <a:avLst/>
              <a:gdLst>
                <a:gd name="connsiteX0" fmla="*/ 0 w 852383"/>
                <a:gd name="connsiteY0" fmla="*/ 426192 h 852383"/>
                <a:gd name="connsiteX1" fmla="*/ 124829 w 852383"/>
                <a:gd name="connsiteY1" fmla="*/ 124829 h 852383"/>
                <a:gd name="connsiteX2" fmla="*/ 426193 w 852383"/>
                <a:gd name="connsiteY2" fmla="*/ 1 h 852383"/>
                <a:gd name="connsiteX3" fmla="*/ 727556 w 852383"/>
                <a:gd name="connsiteY3" fmla="*/ 124830 h 852383"/>
                <a:gd name="connsiteX4" fmla="*/ 852384 w 852383"/>
                <a:gd name="connsiteY4" fmla="*/ 426194 h 852383"/>
                <a:gd name="connsiteX5" fmla="*/ 727555 w 852383"/>
                <a:gd name="connsiteY5" fmla="*/ 727557 h 852383"/>
                <a:gd name="connsiteX6" fmla="*/ 426192 w 852383"/>
                <a:gd name="connsiteY6" fmla="*/ 852386 h 852383"/>
                <a:gd name="connsiteX7" fmla="*/ 124829 w 852383"/>
                <a:gd name="connsiteY7" fmla="*/ 727557 h 852383"/>
                <a:gd name="connsiteX8" fmla="*/ 1 w 852383"/>
                <a:gd name="connsiteY8" fmla="*/ 426194 h 852383"/>
                <a:gd name="connsiteX9" fmla="*/ 0 w 852383"/>
                <a:gd name="connsiteY9" fmla="*/ 426192 h 8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2383" h="852383">
                  <a:moveTo>
                    <a:pt x="0" y="426192"/>
                  </a:moveTo>
                  <a:cubicBezTo>
                    <a:pt x="0" y="313159"/>
                    <a:pt x="44903" y="204755"/>
                    <a:pt x="124829" y="124829"/>
                  </a:cubicBezTo>
                  <a:cubicBezTo>
                    <a:pt x="204756" y="44903"/>
                    <a:pt x="313159" y="0"/>
                    <a:pt x="426193" y="1"/>
                  </a:cubicBezTo>
                  <a:cubicBezTo>
                    <a:pt x="539226" y="1"/>
                    <a:pt x="647630" y="44904"/>
                    <a:pt x="727556" y="124830"/>
                  </a:cubicBezTo>
                  <a:cubicBezTo>
                    <a:pt x="807482" y="204757"/>
                    <a:pt x="852385" y="313160"/>
                    <a:pt x="852384" y="426194"/>
                  </a:cubicBezTo>
                  <a:cubicBezTo>
                    <a:pt x="852384" y="539227"/>
                    <a:pt x="807482" y="647631"/>
                    <a:pt x="727555" y="727557"/>
                  </a:cubicBezTo>
                  <a:cubicBezTo>
                    <a:pt x="647628" y="807484"/>
                    <a:pt x="539225" y="852386"/>
                    <a:pt x="426192" y="852386"/>
                  </a:cubicBezTo>
                  <a:cubicBezTo>
                    <a:pt x="313159" y="852386"/>
                    <a:pt x="204755" y="807484"/>
                    <a:pt x="124829" y="727557"/>
                  </a:cubicBezTo>
                  <a:cubicBezTo>
                    <a:pt x="44903" y="647630"/>
                    <a:pt x="0" y="539227"/>
                    <a:pt x="1" y="426194"/>
                  </a:cubicBezTo>
                  <a:cubicBezTo>
                    <a:pt x="1" y="426193"/>
                    <a:pt x="0" y="426193"/>
                    <a:pt x="0" y="426192"/>
                  </a:cubicBezTo>
                  <a:close/>
                </a:path>
              </a:pathLst>
            </a:custGeom>
            <a:solidFill>
              <a:schemeClr val="accent1">
                <a:lumMod val="7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8959" tIns="148959" rIns="148959" bIns="148959" numCol="1" spcCol="1270" anchor="ctr" anchorCtr="0">
              <a:noAutofit/>
            </a:bodyPr>
            <a:lstStyle/>
            <a:p>
              <a:pPr algn="ctr" defTabSz="1125855">
                <a:lnSpc>
                  <a:spcPct val="90000"/>
                </a:lnSpc>
                <a:spcBef>
                  <a:spcPct val="0"/>
                </a:spcBef>
                <a:spcAft>
                  <a:spcPct val="35000"/>
                </a:spcAft>
              </a:pPr>
              <a:endParaRPr lang="en-US" sz="3200" dirty="0">
                <a:latin typeface="+mn-ea"/>
              </a:endParaRPr>
            </a:p>
          </p:txBody>
        </p:sp>
        <p:sp>
          <p:nvSpPr>
            <p:cNvPr id="83" name="Text Placeholder 3"/>
            <p:cNvSpPr txBox="1"/>
            <p:nvPr/>
          </p:nvSpPr>
          <p:spPr>
            <a:xfrm>
              <a:off x="539510" y="4093478"/>
              <a:ext cx="1249930" cy="241935"/>
            </a:xfrm>
            <a:prstGeom prst="rect">
              <a:avLst/>
            </a:prstGeom>
          </p:spPr>
          <p:txBody>
            <a:bodyPr wrap="squar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8565">
                <a:spcBef>
                  <a:spcPct val="20000"/>
                </a:spcBef>
                <a:defRPr/>
              </a:pPr>
              <a:r>
                <a:rPr lang="zh-CN" altLang="en-US" sz="2100" b="1" dirty="0">
                  <a:solidFill>
                    <a:schemeClr val="accent1">
                      <a:lumMod val="75000"/>
                    </a:schemeClr>
                  </a:solidFill>
                  <a:latin typeface="+mn-ea"/>
                </a:rPr>
                <a:t>烧钱不够精准</a:t>
              </a:r>
              <a:endParaRPr lang="zh-CN" altLang="en-US" sz="2100" b="1" dirty="0">
                <a:solidFill>
                  <a:schemeClr val="accent1">
                    <a:lumMod val="75000"/>
                  </a:schemeClr>
                </a:solidFill>
                <a:latin typeface="+mn-ea"/>
              </a:endParaRPr>
            </a:p>
          </p:txBody>
        </p:sp>
      </p:grpSp>
      <p:grpSp>
        <p:nvGrpSpPr>
          <p:cNvPr id="51" name="组合 50"/>
          <p:cNvGrpSpPr/>
          <p:nvPr/>
        </p:nvGrpSpPr>
        <p:grpSpPr>
          <a:xfrm>
            <a:off x="5960525" y="3211222"/>
            <a:ext cx="578463" cy="563929"/>
            <a:chOff x="8175625" y="987426"/>
            <a:chExt cx="314325" cy="306388"/>
          </a:xfrm>
          <a:solidFill>
            <a:schemeClr val="bg1"/>
          </a:solidFill>
        </p:grpSpPr>
        <p:sp>
          <p:nvSpPr>
            <p:cNvPr id="61" name="Freeform 106"/>
            <p:cNvSpPr/>
            <p:nvPr/>
          </p:nvSpPr>
          <p:spPr bwMode="auto">
            <a:xfrm>
              <a:off x="8232775" y="987426"/>
              <a:ext cx="36513" cy="63500"/>
            </a:xfrm>
            <a:custGeom>
              <a:avLst/>
              <a:gdLst>
                <a:gd name="T0" fmla="*/ 3 w 16"/>
                <a:gd name="T1" fmla="*/ 28 h 28"/>
                <a:gd name="T2" fmla="*/ 13 w 16"/>
                <a:gd name="T3" fmla="*/ 28 h 28"/>
                <a:gd name="T4" fmla="*/ 16 w 16"/>
                <a:gd name="T5" fmla="*/ 25 h 28"/>
                <a:gd name="T6" fmla="*/ 16 w 16"/>
                <a:gd name="T7" fmla="*/ 3 h 28"/>
                <a:gd name="T8" fmla="*/ 13 w 16"/>
                <a:gd name="T9" fmla="*/ 0 h 28"/>
                <a:gd name="T10" fmla="*/ 3 w 16"/>
                <a:gd name="T11" fmla="*/ 0 h 28"/>
                <a:gd name="T12" fmla="*/ 0 w 16"/>
                <a:gd name="T13" fmla="*/ 3 h 28"/>
                <a:gd name="T14" fmla="*/ 0 w 16"/>
                <a:gd name="T15" fmla="*/ 25 h 28"/>
                <a:gd name="T16" fmla="*/ 3 w 16"/>
                <a:gd name="T17"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28">
                  <a:moveTo>
                    <a:pt x="3" y="28"/>
                  </a:moveTo>
                  <a:cubicBezTo>
                    <a:pt x="13" y="28"/>
                    <a:pt x="13" y="28"/>
                    <a:pt x="13" y="28"/>
                  </a:cubicBezTo>
                  <a:cubicBezTo>
                    <a:pt x="14" y="28"/>
                    <a:pt x="16" y="27"/>
                    <a:pt x="16" y="25"/>
                  </a:cubicBezTo>
                  <a:cubicBezTo>
                    <a:pt x="16" y="3"/>
                    <a:pt x="16" y="3"/>
                    <a:pt x="16" y="3"/>
                  </a:cubicBezTo>
                  <a:cubicBezTo>
                    <a:pt x="16" y="2"/>
                    <a:pt x="14" y="0"/>
                    <a:pt x="13" y="0"/>
                  </a:cubicBezTo>
                  <a:cubicBezTo>
                    <a:pt x="3" y="0"/>
                    <a:pt x="3" y="0"/>
                    <a:pt x="3" y="0"/>
                  </a:cubicBezTo>
                  <a:cubicBezTo>
                    <a:pt x="1" y="0"/>
                    <a:pt x="0" y="2"/>
                    <a:pt x="0" y="3"/>
                  </a:cubicBezTo>
                  <a:cubicBezTo>
                    <a:pt x="0" y="25"/>
                    <a:pt x="0" y="25"/>
                    <a:pt x="0" y="25"/>
                  </a:cubicBezTo>
                  <a:cubicBezTo>
                    <a:pt x="0" y="27"/>
                    <a:pt x="1" y="28"/>
                    <a:pt x="3"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endParaRPr>
            </a:p>
          </p:txBody>
        </p:sp>
        <p:sp>
          <p:nvSpPr>
            <p:cNvPr id="62" name="Freeform 107"/>
            <p:cNvSpPr/>
            <p:nvPr/>
          </p:nvSpPr>
          <p:spPr bwMode="auto">
            <a:xfrm>
              <a:off x="8396288" y="987426"/>
              <a:ext cx="36513" cy="63500"/>
            </a:xfrm>
            <a:custGeom>
              <a:avLst/>
              <a:gdLst>
                <a:gd name="T0" fmla="*/ 3 w 16"/>
                <a:gd name="T1" fmla="*/ 28 h 28"/>
                <a:gd name="T2" fmla="*/ 13 w 16"/>
                <a:gd name="T3" fmla="*/ 28 h 28"/>
                <a:gd name="T4" fmla="*/ 16 w 16"/>
                <a:gd name="T5" fmla="*/ 25 h 28"/>
                <a:gd name="T6" fmla="*/ 16 w 16"/>
                <a:gd name="T7" fmla="*/ 3 h 28"/>
                <a:gd name="T8" fmla="*/ 13 w 16"/>
                <a:gd name="T9" fmla="*/ 0 h 28"/>
                <a:gd name="T10" fmla="*/ 3 w 16"/>
                <a:gd name="T11" fmla="*/ 0 h 28"/>
                <a:gd name="T12" fmla="*/ 0 w 16"/>
                <a:gd name="T13" fmla="*/ 3 h 28"/>
                <a:gd name="T14" fmla="*/ 0 w 16"/>
                <a:gd name="T15" fmla="*/ 25 h 28"/>
                <a:gd name="T16" fmla="*/ 3 w 16"/>
                <a:gd name="T17"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28">
                  <a:moveTo>
                    <a:pt x="3" y="28"/>
                  </a:moveTo>
                  <a:cubicBezTo>
                    <a:pt x="13" y="28"/>
                    <a:pt x="13" y="28"/>
                    <a:pt x="13" y="28"/>
                  </a:cubicBezTo>
                  <a:cubicBezTo>
                    <a:pt x="14" y="28"/>
                    <a:pt x="16" y="27"/>
                    <a:pt x="16" y="25"/>
                  </a:cubicBezTo>
                  <a:cubicBezTo>
                    <a:pt x="16" y="3"/>
                    <a:pt x="16" y="3"/>
                    <a:pt x="16" y="3"/>
                  </a:cubicBezTo>
                  <a:cubicBezTo>
                    <a:pt x="16" y="2"/>
                    <a:pt x="14" y="0"/>
                    <a:pt x="13" y="0"/>
                  </a:cubicBezTo>
                  <a:cubicBezTo>
                    <a:pt x="3" y="0"/>
                    <a:pt x="3" y="0"/>
                    <a:pt x="3" y="0"/>
                  </a:cubicBezTo>
                  <a:cubicBezTo>
                    <a:pt x="1" y="0"/>
                    <a:pt x="0" y="2"/>
                    <a:pt x="0" y="3"/>
                  </a:cubicBezTo>
                  <a:cubicBezTo>
                    <a:pt x="0" y="25"/>
                    <a:pt x="0" y="25"/>
                    <a:pt x="0" y="25"/>
                  </a:cubicBezTo>
                  <a:cubicBezTo>
                    <a:pt x="0" y="27"/>
                    <a:pt x="1" y="28"/>
                    <a:pt x="3"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endParaRPr>
            </a:p>
          </p:txBody>
        </p:sp>
        <p:sp>
          <p:nvSpPr>
            <p:cNvPr id="63" name="Freeform 108"/>
            <p:cNvSpPr>
              <a:spLocks noEditPoints="1"/>
            </p:cNvSpPr>
            <p:nvPr/>
          </p:nvSpPr>
          <p:spPr bwMode="auto">
            <a:xfrm>
              <a:off x="8175625" y="1012826"/>
              <a:ext cx="314325" cy="280988"/>
            </a:xfrm>
            <a:custGeom>
              <a:avLst/>
              <a:gdLst>
                <a:gd name="T0" fmla="*/ 121 w 137"/>
                <a:gd name="T1" fmla="*/ 0 h 122"/>
                <a:gd name="T2" fmla="*/ 117 w 137"/>
                <a:gd name="T3" fmla="*/ 0 h 122"/>
                <a:gd name="T4" fmla="*/ 117 w 137"/>
                <a:gd name="T5" fmla="*/ 14 h 122"/>
                <a:gd name="T6" fmla="*/ 109 w 137"/>
                <a:gd name="T7" fmla="*/ 23 h 122"/>
                <a:gd name="T8" fmla="*/ 99 w 137"/>
                <a:gd name="T9" fmla="*/ 23 h 122"/>
                <a:gd name="T10" fmla="*/ 90 w 137"/>
                <a:gd name="T11" fmla="*/ 14 h 122"/>
                <a:gd name="T12" fmla="*/ 90 w 137"/>
                <a:gd name="T13" fmla="*/ 0 h 122"/>
                <a:gd name="T14" fmla="*/ 46 w 137"/>
                <a:gd name="T15" fmla="*/ 0 h 122"/>
                <a:gd name="T16" fmla="*/ 46 w 137"/>
                <a:gd name="T17" fmla="*/ 14 h 122"/>
                <a:gd name="T18" fmla="*/ 38 w 137"/>
                <a:gd name="T19" fmla="*/ 23 h 122"/>
                <a:gd name="T20" fmla="*/ 28 w 137"/>
                <a:gd name="T21" fmla="*/ 23 h 122"/>
                <a:gd name="T22" fmla="*/ 20 w 137"/>
                <a:gd name="T23" fmla="*/ 14 h 122"/>
                <a:gd name="T24" fmla="*/ 20 w 137"/>
                <a:gd name="T25" fmla="*/ 0 h 122"/>
                <a:gd name="T26" fmla="*/ 16 w 137"/>
                <a:gd name="T27" fmla="*/ 0 h 122"/>
                <a:gd name="T28" fmla="*/ 0 w 137"/>
                <a:gd name="T29" fmla="*/ 16 h 122"/>
                <a:gd name="T30" fmla="*/ 0 w 137"/>
                <a:gd name="T31" fmla="*/ 46 h 122"/>
                <a:gd name="T32" fmla="*/ 0 w 137"/>
                <a:gd name="T33" fmla="*/ 106 h 122"/>
                <a:gd name="T34" fmla="*/ 16 w 137"/>
                <a:gd name="T35" fmla="*/ 122 h 122"/>
                <a:gd name="T36" fmla="*/ 121 w 137"/>
                <a:gd name="T37" fmla="*/ 122 h 122"/>
                <a:gd name="T38" fmla="*/ 137 w 137"/>
                <a:gd name="T39" fmla="*/ 106 h 122"/>
                <a:gd name="T40" fmla="*/ 137 w 137"/>
                <a:gd name="T41" fmla="*/ 46 h 122"/>
                <a:gd name="T42" fmla="*/ 137 w 137"/>
                <a:gd name="T43" fmla="*/ 16 h 122"/>
                <a:gd name="T44" fmla="*/ 121 w 137"/>
                <a:gd name="T45" fmla="*/ 0 h 122"/>
                <a:gd name="T46" fmla="*/ 127 w 137"/>
                <a:gd name="T47" fmla="*/ 106 h 122"/>
                <a:gd name="T48" fmla="*/ 121 w 137"/>
                <a:gd name="T49" fmla="*/ 112 h 122"/>
                <a:gd name="T50" fmla="*/ 16 w 137"/>
                <a:gd name="T51" fmla="*/ 112 h 122"/>
                <a:gd name="T52" fmla="*/ 10 w 137"/>
                <a:gd name="T53" fmla="*/ 106 h 122"/>
                <a:gd name="T54" fmla="*/ 10 w 137"/>
                <a:gd name="T55" fmla="*/ 46 h 122"/>
                <a:gd name="T56" fmla="*/ 127 w 137"/>
                <a:gd name="T57" fmla="*/ 46 h 122"/>
                <a:gd name="T58" fmla="*/ 127 w 137"/>
                <a:gd name="T59" fmla="*/ 106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7" h="122">
                  <a:moveTo>
                    <a:pt x="121" y="0"/>
                  </a:moveTo>
                  <a:cubicBezTo>
                    <a:pt x="117" y="0"/>
                    <a:pt x="117" y="0"/>
                    <a:pt x="117" y="0"/>
                  </a:cubicBezTo>
                  <a:cubicBezTo>
                    <a:pt x="117" y="14"/>
                    <a:pt x="117" y="14"/>
                    <a:pt x="117" y="14"/>
                  </a:cubicBezTo>
                  <a:cubicBezTo>
                    <a:pt x="117" y="19"/>
                    <a:pt x="113" y="23"/>
                    <a:pt x="109" y="23"/>
                  </a:cubicBezTo>
                  <a:cubicBezTo>
                    <a:pt x="99" y="23"/>
                    <a:pt x="99" y="23"/>
                    <a:pt x="99" y="23"/>
                  </a:cubicBezTo>
                  <a:cubicBezTo>
                    <a:pt x="94" y="23"/>
                    <a:pt x="90" y="19"/>
                    <a:pt x="90" y="14"/>
                  </a:cubicBezTo>
                  <a:cubicBezTo>
                    <a:pt x="90" y="0"/>
                    <a:pt x="90" y="0"/>
                    <a:pt x="90" y="0"/>
                  </a:cubicBezTo>
                  <a:cubicBezTo>
                    <a:pt x="46" y="0"/>
                    <a:pt x="46" y="0"/>
                    <a:pt x="46" y="0"/>
                  </a:cubicBezTo>
                  <a:cubicBezTo>
                    <a:pt x="46" y="14"/>
                    <a:pt x="46" y="14"/>
                    <a:pt x="46" y="14"/>
                  </a:cubicBezTo>
                  <a:cubicBezTo>
                    <a:pt x="46" y="19"/>
                    <a:pt x="42" y="23"/>
                    <a:pt x="38" y="23"/>
                  </a:cubicBezTo>
                  <a:cubicBezTo>
                    <a:pt x="28" y="23"/>
                    <a:pt x="28" y="23"/>
                    <a:pt x="28" y="23"/>
                  </a:cubicBezTo>
                  <a:cubicBezTo>
                    <a:pt x="23" y="23"/>
                    <a:pt x="20" y="19"/>
                    <a:pt x="20" y="14"/>
                  </a:cubicBezTo>
                  <a:cubicBezTo>
                    <a:pt x="20" y="0"/>
                    <a:pt x="20" y="0"/>
                    <a:pt x="20" y="0"/>
                  </a:cubicBezTo>
                  <a:cubicBezTo>
                    <a:pt x="16" y="0"/>
                    <a:pt x="16" y="0"/>
                    <a:pt x="16" y="0"/>
                  </a:cubicBezTo>
                  <a:cubicBezTo>
                    <a:pt x="7" y="0"/>
                    <a:pt x="0" y="7"/>
                    <a:pt x="0" y="16"/>
                  </a:cubicBezTo>
                  <a:cubicBezTo>
                    <a:pt x="0" y="46"/>
                    <a:pt x="0" y="46"/>
                    <a:pt x="0" y="46"/>
                  </a:cubicBezTo>
                  <a:cubicBezTo>
                    <a:pt x="0" y="106"/>
                    <a:pt x="0" y="106"/>
                    <a:pt x="0" y="106"/>
                  </a:cubicBezTo>
                  <a:cubicBezTo>
                    <a:pt x="0" y="115"/>
                    <a:pt x="7" y="122"/>
                    <a:pt x="16" y="122"/>
                  </a:cubicBezTo>
                  <a:cubicBezTo>
                    <a:pt x="121" y="122"/>
                    <a:pt x="121" y="122"/>
                    <a:pt x="121" y="122"/>
                  </a:cubicBezTo>
                  <a:cubicBezTo>
                    <a:pt x="129" y="122"/>
                    <a:pt x="137" y="115"/>
                    <a:pt x="137" y="106"/>
                  </a:cubicBezTo>
                  <a:cubicBezTo>
                    <a:pt x="137" y="46"/>
                    <a:pt x="137" y="46"/>
                    <a:pt x="137" y="46"/>
                  </a:cubicBezTo>
                  <a:cubicBezTo>
                    <a:pt x="137" y="16"/>
                    <a:pt x="137" y="16"/>
                    <a:pt x="137" y="16"/>
                  </a:cubicBezTo>
                  <a:cubicBezTo>
                    <a:pt x="137" y="7"/>
                    <a:pt x="129" y="0"/>
                    <a:pt x="121" y="0"/>
                  </a:cubicBezTo>
                  <a:close/>
                  <a:moveTo>
                    <a:pt x="127" y="106"/>
                  </a:moveTo>
                  <a:cubicBezTo>
                    <a:pt x="127" y="109"/>
                    <a:pt x="124" y="112"/>
                    <a:pt x="121" y="112"/>
                  </a:cubicBezTo>
                  <a:cubicBezTo>
                    <a:pt x="16" y="112"/>
                    <a:pt x="16" y="112"/>
                    <a:pt x="16" y="112"/>
                  </a:cubicBezTo>
                  <a:cubicBezTo>
                    <a:pt x="13" y="112"/>
                    <a:pt x="10" y="109"/>
                    <a:pt x="10" y="106"/>
                  </a:cubicBezTo>
                  <a:cubicBezTo>
                    <a:pt x="10" y="46"/>
                    <a:pt x="10" y="46"/>
                    <a:pt x="10" y="46"/>
                  </a:cubicBezTo>
                  <a:cubicBezTo>
                    <a:pt x="127" y="46"/>
                    <a:pt x="127" y="46"/>
                    <a:pt x="127" y="46"/>
                  </a:cubicBezTo>
                  <a:lnTo>
                    <a:pt x="127" y="1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endParaRPr>
            </a:p>
          </p:txBody>
        </p:sp>
      </p:grpSp>
      <p:sp>
        <p:nvSpPr>
          <p:cNvPr id="64" name="Freeform 143"/>
          <p:cNvSpPr>
            <a:spLocks noEditPoints="1"/>
          </p:cNvSpPr>
          <p:nvPr/>
        </p:nvSpPr>
        <p:spPr bwMode="auto">
          <a:xfrm>
            <a:off x="9235385" y="1596997"/>
            <a:ext cx="501624" cy="462083"/>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chemeClr val="bg1"/>
          </a:solidFill>
          <a:ln>
            <a:noFill/>
          </a:ln>
        </p:spPr>
        <p:txBody>
          <a:bodyPr vert="horz" wrap="square" lIns="121908" tIns="60954" rIns="121908" bIns="60954" numCol="1" anchor="t" anchorCtr="0" compatLnSpc="1"/>
          <a:lstStyle/>
          <a:p>
            <a:endParaRPr lang="en-US">
              <a:latin typeface="+mn-ea"/>
            </a:endParaRPr>
          </a:p>
        </p:txBody>
      </p:sp>
      <p:sp>
        <p:nvSpPr>
          <p:cNvPr id="66" name="Freeform 92"/>
          <p:cNvSpPr>
            <a:spLocks noEditPoints="1"/>
          </p:cNvSpPr>
          <p:nvPr/>
        </p:nvSpPr>
        <p:spPr bwMode="auto">
          <a:xfrm>
            <a:off x="9283032" y="2884441"/>
            <a:ext cx="473024" cy="481888"/>
          </a:xfrm>
          <a:custGeom>
            <a:avLst/>
            <a:gdLst>
              <a:gd name="T0" fmla="*/ 143 w 148"/>
              <a:gd name="T1" fmla="*/ 130 h 151"/>
              <a:gd name="T2" fmla="*/ 100 w 148"/>
              <a:gd name="T3" fmla="*/ 86 h 151"/>
              <a:gd name="T4" fmla="*/ 110 w 148"/>
              <a:gd name="T5" fmla="*/ 55 h 151"/>
              <a:gd name="T6" fmla="*/ 55 w 148"/>
              <a:gd name="T7" fmla="*/ 0 h 151"/>
              <a:gd name="T8" fmla="*/ 0 w 148"/>
              <a:gd name="T9" fmla="*/ 55 h 151"/>
              <a:gd name="T10" fmla="*/ 55 w 148"/>
              <a:gd name="T11" fmla="*/ 109 h 151"/>
              <a:gd name="T12" fmla="*/ 81 w 148"/>
              <a:gd name="T13" fmla="*/ 103 h 151"/>
              <a:gd name="T14" fmla="*/ 126 w 148"/>
              <a:gd name="T15" fmla="*/ 147 h 151"/>
              <a:gd name="T16" fmla="*/ 143 w 148"/>
              <a:gd name="T17" fmla="*/ 147 h 151"/>
              <a:gd name="T18" fmla="*/ 143 w 148"/>
              <a:gd name="T19" fmla="*/ 130 h 151"/>
              <a:gd name="T20" fmla="*/ 19 w 148"/>
              <a:gd name="T21" fmla="*/ 55 h 151"/>
              <a:gd name="T22" fmla="*/ 55 w 148"/>
              <a:gd name="T23" fmla="*/ 18 h 151"/>
              <a:gd name="T24" fmla="*/ 92 w 148"/>
              <a:gd name="T25" fmla="*/ 55 h 151"/>
              <a:gd name="T26" fmla="*/ 55 w 148"/>
              <a:gd name="T27" fmla="*/ 91 h 151"/>
              <a:gd name="T28" fmla="*/ 19 w 148"/>
              <a:gd name="T29" fmla="*/ 5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8" h="151">
                <a:moveTo>
                  <a:pt x="143" y="130"/>
                </a:moveTo>
                <a:cubicBezTo>
                  <a:pt x="100" y="86"/>
                  <a:pt x="100" y="86"/>
                  <a:pt x="100" y="86"/>
                </a:cubicBezTo>
                <a:cubicBezTo>
                  <a:pt x="106" y="77"/>
                  <a:pt x="110" y="67"/>
                  <a:pt x="110" y="55"/>
                </a:cubicBezTo>
                <a:cubicBezTo>
                  <a:pt x="110" y="24"/>
                  <a:pt x="85" y="0"/>
                  <a:pt x="55" y="0"/>
                </a:cubicBezTo>
                <a:cubicBezTo>
                  <a:pt x="25" y="0"/>
                  <a:pt x="0" y="24"/>
                  <a:pt x="0" y="55"/>
                </a:cubicBezTo>
                <a:cubicBezTo>
                  <a:pt x="0" y="85"/>
                  <a:pt x="25" y="109"/>
                  <a:pt x="55" y="109"/>
                </a:cubicBezTo>
                <a:cubicBezTo>
                  <a:pt x="65" y="109"/>
                  <a:pt x="74" y="107"/>
                  <a:pt x="81" y="103"/>
                </a:cubicBezTo>
                <a:cubicBezTo>
                  <a:pt x="126" y="147"/>
                  <a:pt x="126" y="147"/>
                  <a:pt x="126" y="147"/>
                </a:cubicBezTo>
                <a:cubicBezTo>
                  <a:pt x="130" y="151"/>
                  <a:pt x="138" y="151"/>
                  <a:pt x="143" y="147"/>
                </a:cubicBezTo>
                <a:cubicBezTo>
                  <a:pt x="148" y="142"/>
                  <a:pt x="148" y="134"/>
                  <a:pt x="143" y="130"/>
                </a:cubicBezTo>
                <a:close/>
                <a:moveTo>
                  <a:pt x="19" y="55"/>
                </a:moveTo>
                <a:cubicBezTo>
                  <a:pt x="19" y="34"/>
                  <a:pt x="35" y="18"/>
                  <a:pt x="55" y="18"/>
                </a:cubicBezTo>
                <a:cubicBezTo>
                  <a:pt x="75" y="18"/>
                  <a:pt x="92" y="34"/>
                  <a:pt x="92" y="55"/>
                </a:cubicBezTo>
                <a:cubicBezTo>
                  <a:pt x="92" y="75"/>
                  <a:pt x="75" y="91"/>
                  <a:pt x="55" y="91"/>
                </a:cubicBezTo>
                <a:cubicBezTo>
                  <a:pt x="35" y="91"/>
                  <a:pt x="19" y="75"/>
                  <a:pt x="19" y="55"/>
                </a:cubicBezTo>
                <a:close/>
              </a:path>
            </a:pathLst>
          </a:custGeom>
          <a:solidFill>
            <a:schemeClr val="bg1"/>
          </a:solidFill>
          <a:ln>
            <a:noFill/>
          </a:ln>
        </p:spPr>
        <p:txBody>
          <a:bodyPr vert="horz" wrap="square" lIns="121908" tIns="60954" rIns="121908" bIns="60954" numCol="1" anchor="t" anchorCtr="0" compatLnSpc="1"/>
          <a:lstStyle/>
          <a:p>
            <a:endParaRPr lang="en-US">
              <a:latin typeface="+mn-ea"/>
            </a:endParaRPr>
          </a:p>
        </p:txBody>
      </p:sp>
      <p:grpSp>
        <p:nvGrpSpPr>
          <p:cNvPr id="67" name="组合 66"/>
          <p:cNvGrpSpPr/>
          <p:nvPr/>
        </p:nvGrpSpPr>
        <p:grpSpPr>
          <a:xfrm>
            <a:off x="9279981" y="4139155"/>
            <a:ext cx="444423" cy="415877"/>
            <a:chOff x="6661150" y="233363"/>
            <a:chExt cx="320675" cy="300038"/>
          </a:xfrm>
          <a:solidFill>
            <a:schemeClr val="bg1"/>
          </a:solidFill>
        </p:grpSpPr>
        <p:sp>
          <p:nvSpPr>
            <p:cNvPr id="95" name="Freeform 153"/>
            <p:cNvSpPr/>
            <p:nvPr/>
          </p:nvSpPr>
          <p:spPr bwMode="auto">
            <a:xfrm>
              <a:off x="6677025" y="315913"/>
              <a:ext cx="79375" cy="187325"/>
            </a:xfrm>
            <a:custGeom>
              <a:avLst/>
              <a:gdLst>
                <a:gd name="T0" fmla="*/ 34 w 34"/>
                <a:gd name="T1" fmla="*/ 81 h 81"/>
                <a:gd name="T2" fmla="*/ 34 w 34"/>
                <a:gd name="T3" fmla="*/ 8 h 81"/>
                <a:gd name="T4" fmla="*/ 26 w 34"/>
                <a:gd name="T5" fmla="*/ 0 h 81"/>
                <a:gd name="T6" fmla="*/ 9 w 34"/>
                <a:gd name="T7" fmla="*/ 0 h 81"/>
                <a:gd name="T8" fmla="*/ 0 w 34"/>
                <a:gd name="T9" fmla="*/ 8 h 81"/>
                <a:gd name="T10" fmla="*/ 0 w 34"/>
                <a:gd name="T11" fmla="*/ 81 h 81"/>
                <a:gd name="T12" fmla="*/ 34 w 34"/>
                <a:gd name="T13" fmla="*/ 81 h 81"/>
              </a:gdLst>
              <a:ahLst/>
              <a:cxnLst>
                <a:cxn ang="0">
                  <a:pos x="T0" y="T1"/>
                </a:cxn>
                <a:cxn ang="0">
                  <a:pos x="T2" y="T3"/>
                </a:cxn>
                <a:cxn ang="0">
                  <a:pos x="T4" y="T5"/>
                </a:cxn>
                <a:cxn ang="0">
                  <a:pos x="T6" y="T7"/>
                </a:cxn>
                <a:cxn ang="0">
                  <a:pos x="T8" y="T9"/>
                </a:cxn>
                <a:cxn ang="0">
                  <a:pos x="T10" y="T11"/>
                </a:cxn>
                <a:cxn ang="0">
                  <a:pos x="T12" y="T13"/>
                </a:cxn>
              </a:cxnLst>
              <a:rect l="0" t="0" r="r" b="b"/>
              <a:pathLst>
                <a:path w="34" h="81">
                  <a:moveTo>
                    <a:pt x="34" y="81"/>
                  </a:moveTo>
                  <a:cubicBezTo>
                    <a:pt x="34" y="8"/>
                    <a:pt x="34" y="8"/>
                    <a:pt x="34" y="8"/>
                  </a:cubicBezTo>
                  <a:cubicBezTo>
                    <a:pt x="34" y="4"/>
                    <a:pt x="30" y="0"/>
                    <a:pt x="26" y="0"/>
                  </a:cubicBezTo>
                  <a:cubicBezTo>
                    <a:pt x="9" y="0"/>
                    <a:pt x="9" y="0"/>
                    <a:pt x="9" y="0"/>
                  </a:cubicBezTo>
                  <a:cubicBezTo>
                    <a:pt x="4" y="0"/>
                    <a:pt x="0" y="4"/>
                    <a:pt x="0" y="8"/>
                  </a:cubicBezTo>
                  <a:cubicBezTo>
                    <a:pt x="0" y="81"/>
                    <a:pt x="0" y="81"/>
                    <a:pt x="0" y="81"/>
                  </a:cubicBezTo>
                  <a:lnTo>
                    <a:pt x="34" y="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endParaRPr>
            </a:p>
          </p:txBody>
        </p:sp>
        <p:sp>
          <p:nvSpPr>
            <p:cNvPr id="96" name="Freeform 154"/>
            <p:cNvSpPr/>
            <p:nvPr/>
          </p:nvSpPr>
          <p:spPr bwMode="auto">
            <a:xfrm>
              <a:off x="6783388" y="233363"/>
              <a:ext cx="77788" cy="269875"/>
            </a:xfrm>
            <a:custGeom>
              <a:avLst/>
              <a:gdLst>
                <a:gd name="T0" fmla="*/ 34 w 34"/>
                <a:gd name="T1" fmla="*/ 117 h 117"/>
                <a:gd name="T2" fmla="*/ 34 w 34"/>
                <a:gd name="T3" fmla="*/ 8 h 117"/>
                <a:gd name="T4" fmla="*/ 25 w 34"/>
                <a:gd name="T5" fmla="*/ 0 h 117"/>
                <a:gd name="T6" fmla="*/ 8 w 34"/>
                <a:gd name="T7" fmla="*/ 0 h 117"/>
                <a:gd name="T8" fmla="*/ 0 w 34"/>
                <a:gd name="T9" fmla="*/ 8 h 117"/>
                <a:gd name="T10" fmla="*/ 0 w 34"/>
                <a:gd name="T11" fmla="*/ 117 h 117"/>
                <a:gd name="T12" fmla="*/ 34 w 34"/>
                <a:gd name="T13" fmla="*/ 117 h 117"/>
              </a:gdLst>
              <a:ahLst/>
              <a:cxnLst>
                <a:cxn ang="0">
                  <a:pos x="T0" y="T1"/>
                </a:cxn>
                <a:cxn ang="0">
                  <a:pos x="T2" y="T3"/>
                </a:cxn>
                <a:cxn ang="0">
                  <a:pos x="T4" y="T5"/>
                </a:cxn>
                <a:cxn ang="0">
                  <a:pos x="T6" y="T7"/>
                </a:cxn>
                <a:cxn ang="0">
                  <a:pos x="T8" y="T9"/>
                </a:cxn>
                <a:cxn ang="0">
                  <a:pos x="T10" y="T11"/>
                </a:cxn>
                <a:cxn ang="0">
                  <a:pos x="T12" y="T13"/>
                </a:cxn>
              </a:cxnLst>
              <a:rect l="0" t="0" r="r" b="b"/>
              <a:pathLst>
                <a:path w="34" h="117">
                  <a:moveTo>
                    <a:pt x="34" y="117"/>
                  </a:moveTo>
                  <a:cubicBezTo>
                    <a:pt x="34" y="8"/>
                    <a:pt x="34" y="8"/>
                    <a:pt x="34" y="8"/>
                  </a:cubicBezTo>
                  <a:cubicBezTo>
                    <a:pt x="34" y="4"/>
                    <a:pt x="30" y="0"/>
                    <a:pt x="25" y="0"/>
                  </a:cubicBezTo>
                  <a:cubicBezTo>
                    <a:pt x="8" y="0"/>
                    <a:pt x="8" y="0"/>
                    <a:pt x="8" y="0"/>
                  </a:cubicBezTo>
                  <a:cubicBezTo>
                    <a:pt x="3" y="0"/>
                    <a:pt x="0" y="4"/>
                    <a:pt x="0" y="8"/>
                  </a:cubicBezTo>
                  <a:cubicBezTo>
                    <a:pt x="0" y="117"/>
                    <a:pt x="0" y="117"/>
                    <a:pt x="0" y="117"/>
                  </a:cubicBezTo>
                  <a:lnTo>
                    <a:pt x="34"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endParaRPr>
            </a:p>
          </p:txBody>
        </p:sp>
        <p:sp>
          <p:nvSpPr>
            <p:cNvPr id="97" name="Freeform 155"/>
            <p:cNvSpPr/>
            <p:nvPr/>
          </p:nvSpPr>
          <p:spPr bwMode="auto">
            <a:xfrm>
              <a:off x="6886575" y="358776"/>
              <a:ext cx="79375" cy="144463"/>
            </a:xfrm>
            <a:custGeom>
              <a:avLst/>
              <a:gdLst>
                <a:gd name="T0" fmla="*/ 34 w 34"/>
                <a:gd name="T1" fmla="*/ 63 h 63"/>
                <a:gd name="T2" fmla="*/ 34 w 34"/>
                <a:gd name="T3" fmla="*/ 8 h 63"/>
                <a:gd name="T4" fmla="*/ 25 w 34"/>
                <a:gd name="T5" fmla="*/ 0 h 63"/>
                <a:gd name="T6" fmla="*/ 8 w 34"/>
                <a:gd name="T7" fmla="*/ 0 h 63"/>
                <a:gd name="T8" fmla="*/ 0 w 34"/>
                <a:gd name="T9" fmla="*/ 8 h 63"/>
                <a:gd name="T10" fmla="*/ 0 w 34"/>
                <a:gd name="T11" fmla="*/ 63 h 63"/>
                <a:gd name="T12" fmla="*/ 34 w 34"/>
                <a:gd name="T13" fmla="*/ 63 h 63"/>
              </a:gdLst>
              <a:ahLst/>
              <a:cxnLst>
                <a:cxn ang="0">
                  <a:pos x="T0" y="T1"/>
                </a:cxn>
                <a:cxn ang="0">
                  <a:pos x="T2" y="T3"/>
                </a:cxn>
                <a:cxn ang="0">
                  <a:pos x="T4" y="T5"/>
                </a:cxn>
                <a:cxn ang="0">
                  <a:pos x="T6" y="T7"/>
                </a:cxn>
                <a:cxn ang="0">
                  <a:pos x="T8" y="T9"/>
                </a:cxn>
                <a:cxn ang="0">
                  <a:pos x="T10" y="T11"/>
                </a:cxn>
                <a:cxn ang="0">
                  <a:pos x="T12" y="T13"/>
                </a:cxn>
              </a:cxnLst>
              <a:rect l="0" t="0" r="r" b="b"/>
              <a:pathLst>
                <a:path w="34" h="63">
                  <a:moveTo>
                    <a:pt x="34" y="63"/>
                  </a:moveTo>
                  <a:cubicBezTo>
                    <a:pt x="34" y="8"/>
                    <a:pt x="34" y="8"/>
                    <a:pt x="34" y="8"/>
                  </a:cubicBezTo>
                  <a:cubicBezTo>
                    <a:pt x="34" y="4"/>
                    <a:pt x="30" y="0"/>
                    <a:pt x="25" y="0"/>
                  </a:cubicBezTo>
                  <a:cubicBezTo>
                    <a:pt x="8" y="0"/>
                    <a:pt x="8" y="0"/>
                    <a:pt x="8" y="0"/>
                  </a:cubicBezTo>
                  <a:cubicBezTo>
                    <a:pt x="4" y="0"/>
                    <a:pt x="0" y="4"/>
                    <a:pt x="0" y="8"/>
                  </a:cubicBezTo>
                  <a:cubicBezTo>
                    <a:pt x="0" y="63"/>
                    <a:pt x="0" y="63"/>
                    <a:pt x="0" y="63"/>
                  </a:cubicBezTo>
                  <a:lnTo>
                    <a:pt x="34" y="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endParaRPr>
            </a:p>
          </p:txBody>
        </p:sp>
        <p:sp>
          <p:nvSpPr>
            <p:cNvPr id="98" name="Rectangle 156"/>
            <p:cNvSpPr>
              <a:spLocks noChangeArrowheads="1"/>
            </p:cNvSpPr>
            <p:nvPr/>
          </p:nvSpPr>
          <p:spPr bwMode="auto">
            <a:xfrm>
              <a:off x="6661150" y="512763"/>
              <a:ext cx="320675"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latin typeface="+mn-ea"/>
              </a:endParaRPr>
            </a:p>
          </p:txBody>
        </p:sp>
      </p:grpSp>
      <p:sp>
        <p:nvSpPr>
          <p:cNvPr id="99" name="Freeform 140"/>
          <p:cNvSpPr>
            <a:spLocks noEditPoints="1"/>
          </p:cNvSpPr>
          <p:nvPr/>
        </p:nvSpPr>
        <p:spPr bwMode="auto">
          <a:xfrm>
            <a:off x="9241624" y="5384139"/>
            <a:ext cx="493228" cy="493292"/>
          </a:xfrm>
          <a:custGeom>
            <a:avLst/>
            <a:gdLst>
              <a:gd name="T0" fmla="*/ 103 w 112"/>
              <a:gd name="T1" fmla="*/ 47 h 112"/>
              <a:gd name="T2" fmla="*/ 106 w 112"/>
              <a:gd name="T3" fmla="*/ 36 h 112"/>
              <a:gd name="T4" fmla="*/ 102 w 112"/>
              <a:gd name="T5" fmla="*/ 22 h 112"/>
              <a:gd name="T6" fmla="*/ 92 w 112"/>
              <a:gd name="T7" fmla="*/ 25 h 112"/>
              <a:gd name="T8" fmla="*/ 90 w 112"/>
              <a:gd name="T9" fmla="*/ 14 h 112"/>
              <a:gd name="T10" fmla="*/ 79 w 112"/>
              <a:gd name="T11" fmla="*/ 4 h 112"/>
              <a:gd name="T12" fmla="*/ 71 w 112"/>
              <a:gd name="T13" fmla="*/ 11 h 112"/>
              <a:gd name="T14" fmla="*/ 64 w 112"/>
              <a:gd name="T15" fmla="*/ 3 h 112"/>
              <a:gd name="T16" fmla="*/ 50 w 112"/>
              <a:gd name="T17" fmla="*/ 0 h 112"/>
              <a:gd name="T18" fmla="*/ 47 w 112"/>
              <a:gd name="T19" fmla="*/ 10 h 112"/>
              <a:gd name="T20" fmla="*/ 37 w 112"/>
              <a:gd name="T21" fmla="*/ 6 h 112"/>
              <a:gd name="T22" fmla="*/ 23 w 112"/>
              <a:gd name="T23" fmla="*/ 11 h 112"/>
              <a:gd name="T24" fmla="*/ 25 w 112"/>
              <a:gd name="T25" fmla="*/ 20 h 112"/>
              <a:gd name="T26" fmla="*/ 14 w 112"/>
              <a:gd name="T27" fmla="*/ 22 h 112"/>
              <a:gd name="T28" fmla="*/ 5 w 112"/>
              <a:gd name="T29" fmla="*/ 33 h 112"/>
              <a:gd name="T30" fmla="*/ 12 w 112"/>
              <a:gd name="T31" fmla="*/ 41 h 112"/>
              <a:gd name="T32" fmla="*/ 3 w 112"/>
              <a:gd name="T33" fmla="*/ 48 h 112"/>
              <a:gd name="T34" fmla="*/ 0 w 112"/>
              <a:gd name="T35" fmla="*/ 62 h 112"/>
              <a:gd name="T36" fmla="*/ 10 w 112"/>
              <a:gd name="T37" fmla="*/ 65 h 112"/>
              <a:gd name="T38" fmla="*/ 6 w 112"/>
              <a:gd name="T39" fmla="*/ 75 h 112"/>
              <a:gd name="T40" fmla="*/ 11 w 112"/>
              <a:gd name="T41" fmla="*/ 89 h 112"/>
              <a:gd name="T42" fmla="*/ 21 w 112"/>
              <a:gd name="T43" fmla="*/ 87 h 112"/>
              <a:gd name="T44" fmla="*/ 23 w 112"/>
              <a:gd name="T45" fmla="*/ 98 h 112"/>
              <a:gd name="T46" fmla="*/ 34 w 112"/>
              <a:gd name="T47" fmla="*/ 108 h 112"/>
              <a:gd name="T48" fmla="*/ 41 w 112"/>
              <a:gd name="T49" fmla="*/ 101 h 112"/>
              <a:gd name="T50" fmla="*/ 48 w 112"/>
              <a:gd name="T51" fmla="*/ 109 h 112"/>
              <a:gd name="T52" fmla="*/ 63 w 112"/>
              <a:gd name="T53" fmla="*/ 112 h 112"/>
              <a:gd name="T54" fmla="*/ 66 w 112"/>
              <a:gd name="T55" fmla="*/ 102 h 112"/>
              <a:gd name="T56" fmla="*/ 76 w 112"/>
              <a:gd name="T57" fmla="*/ 106 h 112"/>
              <a:gd name="T58" fmla="*/ 90 w 112"/>
              <a:gd name="T59" fmla="*/ 101 h 112"/>
              <a:gd name="T60" fmla="*/ 88 w 112"/>
              <a:gd name="T61" fmla="*/ 91 h 112"/>
              <a:gd name="T62" fmla="*/ 98 w 112"/>
              <a:gd name="T63" fmla="*/ 89 h 112"/>
              <a:gd name="T64" fmla="*/ 108 w 112"/>
              <a:gd name="T65" fmla="*/ 78 h 112"/>
              <a:gd name="T66" fmla="*/ 101 w 112"/>
              <a:gd name="T67" fmla="*/ 71 h 112"/>
              <a:gd name="T68" fmla="*/ 110 w 112"/>
              <a:gd name="T69" fmla="*/ 64 h 112"/>
              <a:gd name="T70" fmla="*/ 112 w 112"/>
              <a:gd name="T71" fmla="*/ 49 h 112"/>
              <a:gd name="T72" fmla="*/ 56 w 112"/>
              <a:gd name="T73" fmla="*/ 86 h 112"/>
              <a:gd name="T74" fmla="*/ 56 w 112"/>
              <a:gd name="T75" fmla="*/ 26 h 112"/>
              <a:gd name="T76" fmla="*/ 56 w 112"/>
              <a:gd name="T7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 h="112">
                <a:moveTo>
                  <a:pt x="110" y="47"/>
                </a:moveTo>
                <a:cubicBezTo>
                  <a:pt x="103" y="47"/>
                  <a:pt x="103" y="47"/>
                  <a:pt x="103" y="47"/>
                </a:cubicBezTo>
                <a:cubicBezTo>
                  <a:pt x="102" y="44"/>
                  <a:pt x="101" y="42"/>
                  <a:pt x="101" y="39"/>
                </a:cubicBezTo>
                <a:cubicBezTo>
                  <a:pt x="106" y="36"/>
                  <a:pt x="106" y="36"/>
                  <a:pt x="106" y="36"/>
                </a:cubicBezTo>
                <a:cubicBezTo>
                  <a:pt x="108" y="35"/>
                  <a:pt x="108" y="34"/>
                  <a:pt x="107" y="32"/>
                </a:cubicBezTo>
                <a:cubicBezTo>
                  <a:pt x="102" y="22"/>
                  <a:pt x="102" y="22"/>
                  <a:pt x="102" y="22"/>
                </a:cubicBezTo>
                <a:cubicBezTo>
                  <a:pt x="101" y="21"/>
                  <a:pt x="99" y="20"/>
                  <a:pt x="98" y="21"/>
                </a:cubicBezTo>
                <a:cubicBezTo>
                  <a:pt x="92" y="25"/>
                  <a:pt x="92" y="25"/>
                  <a:pt x="92" y="25"/>
                </a:cubicBezTo>
                <a:cubicBezTo>
                  <a:pt x="90" y="23"/>
                  <a:pt x="88" y="21"/>
                  <a:pt x="87" y="20"/>
                </a:cubicBezTo>
                <a:cubicBezTo>
                  <a:pt x="90" y="14"/>
                  <a:pt x="90" y="14"/>
                  <a:pt x="90" y="14"/>
                </a:cubicBezTo>
                <a:cubicBezTo>
                  <a:pt x="91" y="12"/>
                  <a:pt x="90" y="11"/>
                  <a:pt x="89" y="10"/>
                </a:cubicBezTo>
                <a:cubicBezTo>
                  <a:pt x="79" y="4"/>
                  <a:pt x="79" y="4"/>
                  <a:pt x="79" y="4"/>
                </a:cubicBezTo>
                <a:cubicBezTo>
                  <a:pt x="77" y="3"/>
                  <a:pt x="76" y="4"/>
                  <a:pt x="75" y="5"/>
                </a:cubicBezTo>
                <a:cubicBezTo>
                  <a:pt x="71" y="11"/>
                  <a:pt x="71" y="11"/>
                  <a:pt x="71" y="11"/>
                </a:cubicBezTo>
                <a:cubicBezTo>
                  <a:pt x="69" y="10"/>
                  <a:pt x="67" y="10"/>
                  <a:pt x="64" y="9"/>
                </a:cubicBezTo>
                <a:cubicBezTo>
                  <a:pt x="64" y="3"/>
                  <a:pt x="64" y="3"/>
                  <a:pt x="64" y="3"/>
                </a:cubicBezTo>
                <a:cubicBezTo>
                  <a:pt x="64" y="1"/>
                  <a:pt x="63" y="0"/>
                  <a:pt x="61" y="0"/>
                </a:cubicBezTo>
                <a:cubicBezTo>
                  <a:pt x="50" y="0"/>
                  <a:pt x="50" y="0"/>
                  <a:pt x="50" y="0"/>
                </a:cubicBezTo>
                <a:cubicBezTo>
                  <a:pt x="48" y="0"/>
                  <a:pt x="47" y="1"/>
                  <a:pt x="47" y="3"/>
                </a:cubicBezTo>
                <a:cubicBezTo>
                  <a:pt x="47" y="10"/>
                  <a:pt x="47" y="10"/>
                  <a:pt x="47" y="10"/>
                </a:cubicBezTo>
                <a:cubicBezTo>
                  <a:pt x="45" y="10"/>
                  <a:pt x="42" y="11"/>
                  <a:pt x="40" y="12"/>
                </a:cubicBezTo>
                <a:cubicBezTo>
                  <a:pt x="37" y="6"/>
                  <a:pt x="37" y="6"/>
                  <a:pt x="37" y="6"/>
                </a:cubicBezTo>
                <a:cubicBezTo>
                  <a:pt x="36" y="4"/>
                  <a:pt x="34" y="4"/>
                  <a:pt x="33" y="5"/>
                </a:cubicBezTo>
                <a:cubicBezTo>
                  <a:pt x="23" y="11"/>
                  <a:pt x="23" y="11"/>
                  <a:pt x="23" y="11"/>
                </a:cubicBezTo>
                <a:cubicBezTo>
                  <a:pt x="21" y="11"/>
                  <a:pt x="21" y="13"/>
                  <a:pt x="22" y="14"/>
                </a:cubicBezTo>
                <a:cubicBezTo>
                  <a:pt x="25" y="20"/>
                  <a:pt x="25" y="20"/>
                  <a:pt x="25" y="20"/>
                </a:cubicBezTo>
                <a:cubicBezTo>
                  <a:pt x="23" y="22"/>
                  <a:pt x="22" y="24"/>
                  <a:pt x="20" y="26"/>
                </a:cubicBezTo>
                <a:cubicBezTo>
                  <a:pt x="14" y="22"/>
                  <a:pt x="14" y="22"/>
                  <a:pt x="14" y="22"/>
                </a:cubicBezTo>
                <a:cubicBezTo>
                  <a:pt x="13" y="22"/>
                  <a:pt x="11" y="22"/>
                  <a:pt x="10" y="23"/>
                </a:cubicBezTo>
                <a:cubicBezTo>
                  <a:pt x="5" y="33"/>
                  <a:pt x="5" y="33"/>
                  <a:pt x="5" y="33"/>
                </a:cubicBezTo>
                <a:cubicBezTo>
                  <a:pt x="4" y="35"/>
                  <a:pt x="4" y="36"/>
                  <a:pt x="6" y="37"/>
                </a:cubicBezTo>
                <a:cubicBezTo>
                  <a:pt x="12" y="41"/>
                  <a:pt x="12" y="41"/>
                  <a:pt x="12" y="41"/>
                </a:cubicBezTo>
                <a:cubicBezTo>
                  <a:pt x="11" y="43"/>
                  <a:pt x="10" y="45"/>
                  <a:pt x="10" y="48"/>
                </a:cubicBezTo>
                <a:cubicBezTo>
                  <a:pt x="3" y="48"/>
                  <a:pt x="3" y="48"/>
                  <a:pt x="3" y="48"/>
                </a:cubicBezTo>
                <a:cubicBezTo>
                  <a:pt x="2" y="48"/>
                  <a:pt x="0" y="49"/>
                  <a:pt x="0" y="51"/>
                </a:cubicBezTo>
                <a:cubicBezTo>
                  <a:pt x="0" y="62"/>
                  <a:pt x="0" y="62"/>
                  <a:pt x="0" y="62"/>
                </a:cubicBezTo>
                <a:cubicBezTo>
                  <a:pt x="0" y="64"/>
                  <a:pt x="2" y="65"/>
                  <a:pt x="3" y="65"/>
                </a:cubicBezTo>
                <a:cubicBezTo>
                  <a:pt x="10" y="65"/>
                  <a:pt x="10" y="65"/>
                  <a:pt x="10" y="65"/>
                </a:cubicBezTo>
                <a:cubicBezTo>
                  <a:pt x="11" y="68"/>
                  <a:pt x="11" y="70"/>
                  <a:pt x="12" y="72"/>
                </a:cubicBezTo>
                <a:cubicBezTo>
                  <a:pt x="6" y="75"/>
                  <a:pt x="6" y="75"/>
                  <a:pt x="6" y="75"/>
                </a:cubicBezTo>
                <a:cubicBezTo>
                  <a:pt x="5" y="76"/>
                  <a:pt x="5" y="78"/>
                  <a:pt x="5" y="79"/>
                </a:cubicBezTo>
                <a:cubicBezTo>
                  <a:pt x="11" y="89"/>
                  <a:pt x="11" y="89"/>
                  <a:pt x="11" y="89"/>
                </a:cubicBezTo>
                <a:cubicBezTo>
                  <a:pt x="12" y="91"/>
                  <a:pt x="14" y="91"/>
                  <a:pt x="15" y="90"/>
                </a:cubicBezTo>
                <a:cubicBezTo>
                  <a:pt x="21" y="87"/>
                  <a:pt x="21" y="87"/>
                  <a:pt x="21" y="87"/>
                </a:cubicBezTo>
                <a:cubicBezTo>
                  <a:pt x="23" y="89"/>
                  <a:pt x="24" y="91"/>
                  <a:pt x="26" y="92"/>
                </a:cubicBezTo>
                <a:cubicBezTo>
                  <a:pt x="23" y="98"/>
                  <a:pt x="23" y="98"/>
                  <a:pt x="23" y="98"/>
                </a:cubicBezTo>
                <a:cubicBezTo>
                  <a:pt x="22" y="99"/>
                  <a:pt x="23" y="101"/>
                  <a:pt x="24" y="102"/>
                </a:cubicBezTo>
                <a:cubicBezTo>
                  <a:pt x="34" y="108"/>
                  <a:pt x="34" y="108"/>
                  <a:pt x="34" y="108"/>
                </a:cubicBezTo>
                <a:cubicBezTo>
                  <a:pt x="35" y="108"/>
                  <a:pt x="37" y="108"/>
                  <a:pt x="38" y="106"/>
                </a:cubicBezTo>
                <a:cubicBezTo>
                  <a:pt x="41" y="101"/>
                  <a:pt x="41" y="101"/>
                  <a:pt x="41" y="101"/>
                </a:cubicBezTo>
                <a:cubicBezTo>
                  <a:pt x="44" y="101"/>
                  <a:pt x="46" y="102"/>
                  <a:pt x="48" y="102"/>
                </a:cubicBezTo>
                <a:cubicBezTo>
                  <a:pt x="48" y="109"/>
                  <a:pt x="48" y="109"/>
                  <a:pt x="48" y="109"/>
                </a:cubicBezTo>
                <a:cubicBezTo>
                  <a:pt x="48" y="111"/>
                  <a:pt x="50" y="112"/>
                  <a:pt x="51" y="112"/>
                </a:cubicBezTo>
                <a:cubicBezTo>
                  <a:pt x="63" y="112"/>
                  <a:pt x="63" y="112"/>
                  <a:pt x="63" y="112"/>
                </a:cubicBezTo>
                <a:cubicBezTo>
                  <a:pt x="64" y="112"/>
                  <a:pt x="66" y="111"/>
                  <a:pt x="66" y="109"/>
                </a:cubicBezTo>
                <a:cubicBezTo>
                  <a:pt x="66" y="102"/>
                  <a:pt x="66" y="102"/>
                  <a:pt x="66" y="102"/>
                </a:cubicBezTo>
                <a:cubicBezTo>
                  <a:pt x="68" y="102"/>
                  <a:pt x="70" y="101"/>
                  <a:pt x="73" y="100"/>
                </a:cubicBezTo>
                <a:cubicBezTo>
                  <a:pt x="76" y="106"/>
                  <a:pt x="76" y="106"/>
                  <a:pt x="76" y="106"/>
                </a:cubicBezTo>
                <a:cubicBezTo>
                  <a:pt x="77" y="107"/>
                  <a:pt x="79" y="108"/>
                  <a:pt x="80" y="107"/>
                </a:cubicBezTo>
                <a:cubicBezTo>
                  <a:pt x="90" y="101"/>
                  <a:pt x="90" y="101"/>
                  <a:pt x="90" y="101"/>
                </a:cubicBezTo>
                <a:cubicBezTo>
                  <a:pt x="91" y="100"/>
                  <a:pt x="92" y="99"/>
                  <a:pt x="91" y="97"/>
                </a:cubicBezTo>
                <a:cubicBezTo>
                  <a:pt x="88" y="91"/>
                  <a:pt x="88" y="91"/>
                  <a:pt x="88" y="91"/>
                </a:cubicBezTo>
                <a:cubicBezTo>
                  <a:pt x="89" y="90"/>
                  <a:pt x="91" y="88"/>
                  <a:pt x="93" y="86"/>
                </a:cubicBezTo>
                <a:cubicBezTo>
                  <a:pt x="98" y="89"/>
                  <a:pt x="98" y="89"/>
                  <a:pt x="98" y="89"/>
                </a:cubicBezTo>
                <a:cubicBezTo>
                  <a:pt x="100" y="90"/>
                  <a:pt x="102" y="90"/>
                  <a:pt x="102" y="88"/>
                </a:cubicBezTo>
                <a:cubicBezTo>
                  <a:pt x="108" y="78"/>
                  <a:pt x="108" y="78"/>
                  <a:pt x="108" y="78"/>
                </a:cubicBezTo>
                <a:cubicBezTo>
                  <a:pt x="109" y="77"/>
                  <a:pt x="108" y="75"/>
                  <a:pt x="107" y="74"/>
                </a:cubicBezTo>
                <a:cubicBezTo>
                  <a:pt x="101" y="71"/>
                  <a:pt x="101" y="71"/>
                  <a:pt x="101" y="71"/>
                </a:cubicBezTo>
                <a:cubicBezTo>
                  <a:pt x="102" y="69"/>
                  <a:pt x="102" y="66"/>
                  <a:pt x="103" y="64"/>
                </a:cubicBezTo>
                <a:cubicBezTo>
                  <a:pt x="110" y="64"/>
                  <a:pt x="110" y="64"/>
                  <a:pt x="110" y="64"/>
                </a:cubicBezTo>
                <a:cubicBezTo>
                  <a:pt x="111" y="64"/>
                  <a:pt x="112" y="63"/>
                  <a:pt x="112" y="61"/>
                </a:cubicBezTo>
                <a:cubicBezTo>
                  <a:pt x="112" y="49"/>
                  <a:pt x="112" y="49"/>
                  <a:pt x="112" y="49"/>
                </a:cubicBezTo>
                <a:cubicBezTo>
                  <a:pt x="112" y="48"/>
                  <a:pt x="111" y="47"/>
                  <a:pt x="110" y="47"/>
                </a:cubicBezTo>
                <a:close/>
                <a:moveTo>
                  <a:pt x="56" y="86"/>
                </a:moveTo>
                <a:cubicBezTo>
                  <a:pt x="40" y="86"/>
                  <a:pt x="26" y="72"/>
                  <a:pt x="26" y="56"/>
                </a:cubicBezTo>
                <a:cubicBezTo>
                  <a:pt x="26" y="39"/>
                  <a:pt x="40" y="26"/>
                  <a:pt x="56" y="26"/>
                </a:cubicBezTo>
                <a:cubicBezTo>
                  <a:pt x="73" y="26"/>
                  <a:pt x="86" y="39"/>
                  <a:pt x="86" y="56"/>
                </a:cubicBezTo>
                <a:cubicBezTo>
                  <a:pt x="86" y="72"/>
                  <a:pt x="73" y="86"/>
                  <a:pt x="56" y="86"/>
                </a:cubicBezTo>
                <a:close/>
              </a:path>
            </a:pathLst>
          </a:custGeom>
          <a:solidFill>
            <a:schemeClr val="bg1"/>
          </a:solidFill>
          <a:ln>
            <a:noFill/>
          </a:ln>
        </p:spPr>
        <p:txBody>
          <a:bodyPr vert="horz" wrap="square" lIns="121908" tIns="60954" rIns="121908" bIns="60954" numCol="1" anchor="t" anchorCtr="0" compatLnSpc="1"/>
          <a:lstStyle/>
          <a:p>
            <a:endParaRPr lang="en-US">
              <a:latin typeface="+mn-ea"/>
            </a:endParaRPr>
          </a:p>
        </p:txBody>
      </p:sp>
      <p:sp>
        <p:nvSpPr>
          <p:cNvPr id="100" name="Freeform 143"/>
          <p:cNvSpPr>
            <a:spLocks noEditPoints="1"/>
          </p:cNvSpPr>
          <p:nvPr/>
        </p:nvSpPr>
        <p:spPr bwMode="auto">
          <a:xfrm>
            <a:off x="2474858" y="1562932"/>
            <a:ext cx="501624" cy="462083"/>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chemeClr val="bg1"/>
          </a:solidFill>
          <a:ln>
            <a:noFill/>
          </a:ln>
        </p:spPr>
        <p:txBody>
          <a:bodyPr vert="horz" wrap="square" lIns="121908" tIns="60954" rIns="121908" bIns="60954" numCol="1" anchor="t" anchorCtr="0" compatLnSpc="1"/>
          <a:lstStyle/>
          <a:p>
            <a:endParaRPr lang="en-US">
              <a:latin typeface="+mn-ea"/>
            </a:endParaRPr>
          </a:p>
        </p:txBody>
      </p:sp>
      <p:sp>
        <p:nvSpPr>
          <p:cNvPr id="101" name="Freeform 92"/>
          <p:cNvSpPr>
            <a:spLocks noEditPoints="1"/>
          </p:cNvSpPr>
          <p:nvPr/>
        </p:nvSpPr>
        <p:spPr bwMode="auto">
          <a:xfrm>
            <a:off x="2522506" y="2850376"/>
            <a:ext cx="473024" cy="481888"/>
          </a:xfrm>
          <a:custGeom>
            <a:avLst/>
            <a:gdLst>
              <a:gd name="T0" fmla="*/ 143 w 148"/>
              <a:gd name="T1" fmla="*/ 130 h 151"/>
              <a:gd name="T2" fmla="*/ 100 w 148"/>
              <a:gd name="T3" fmla="*/ 86 h 151"/>
              <a:gd name="T4" fmla="*/ 110 w 148"/>
              <a:gd name="T5" fmla="*/ 55 h 151"/>
              <a:gd name="T6" fmla="*/ 55 w 148"/>
              <a:gd name="T7" fmla="*/ 0 h 151"/>
              <a:gd name="T8" fmla="*/ 0 w 148"/>
              <a:gd name="T9" fmla="*/ 55 h 151"/>
              <a:gd name="T10" fmla="*/ 55 w 148"/>
              <a:gd name="T11" fmla="*/ 109 h 151"/>
              <a:gd name="T12" fmla="*/ 81 w 148"/>
              <a:gd name="T13" fmla="*/ 103 h 151"/>
              <a:gd name="T14" fmla="*/ 126 w 148"/>
              <a:gd name="T15" fmla="*/ 147 h 151"/>
              <a:gd name="T16" fmla="*/ 143 w 148"/>
              <a:gd name="T17" fmla="*/ 147 h 151"/>
              <a:gd name="T18" fmla="*/ 143 w 148"/>
              <a:gd name="T19" fmla="*/ 130 h 151"/>
              <a:gd name="T20" fmla="*/ 19 w 148"/>
              <a:gd name="T21" fmla="*/ 55 h 151"/>
              <a:gd name="T22" fmla="*/ 55 w 148"/>
              <a:gd name="T23" fmla="*/ 18 h 151"/>
              <a:gd name="T24" fmla="*/ 92 w 148"/>
              <a:gd name="T25" fmla="*/ 55 h 151"/>
              <a:gd name="T26" fmla="*/ 55 w 148"/>
              <a:gd name="T27" fmla="*/ 91 h 151"/>
              <a:gd name="T28" fmla="*/ 19 w 148"/>
              <a:gd name="T29" fmla="*/ 5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8" h="151">
                <a:moveTo>
                  <a:pt x="143" y="130"/>
                </a:moveTo>
                <a:cubicBezTo>
                  <a:pt x="100" y="86"/>
                  <a:pt x="100" y="86"/>
                  <a:pt x="100" y="86"/>
                </a:cubicBezTo>
                <a:cubicBezTo>
                  <a:pt x="106" y="77"/>
                  <a:pt x="110" y="67"/>
                  <a:pt x="110" y="55"/>
                </a:cubicBezTo>
                <a:cubicBezTo>
                  <a:pt x="110" y="24"/>
                  <a:pt x="85" y="0"/>
                  <a:pt x="55" y="0"/>
                </a:cubicBezTo>
                <a:cubicBezTo>
                  <a:pt x="25" y="0"/>
                  <a:pt x="0" y="24"/>
                  <a:pt x="0" y="55"/>
                </a:cubicBezTo>
                <a:cubicBezTo>
                  <a:pt x="0" y="85"/>
                  <a:pt x="25" y="109"/>
                  <a:pt x="55" y="109"/>
                </a:cubicBezTo>
                <a:cubicBezTo>
                  <a:pt x="65" y="109"/>
                  <a:pt x="74" y="107"/>
                  <a:pt x="81" y="103"/>
                </a:cubicBezTo>
                <a:cubicBezTo>
                  <a:pt x="126" y="147"/>
                  <a:pt x="126" y="147"/>
                  <a:pt x="126" y="147"/>
                </a:cubicBezTo>
                <a:cubicBezTo>
                  <a:pt x="130" y="151"/>
                  <a:pt x="138" y="151"/>
                  <a:pt x="143" y="147"/>
                </a:cubicBezTo>
                <a:cubicBezTo>
                  <a:pt x="148" y="142"/>
                  <a:pt x="148" y="134"/>
                  <a:pt x="143" y="130"/>
                </a:cubicBezTo>
                <a:close/>
                <a:moveTo>
                  <a:pt x="19" y="55"/>
                </a:moveTo>
                <a:cubicBezTo>
                  <a:pt x="19" y="34"/>
                  <a:pt x="35" y="18"/>
                  <a:pt x="55" y="18"/>
                </a:cubicBezTo>
                <a:cubicBezTo>
                  <a:pt x="75" y="18"/>
                  <a:pt x="92" y="34"/>
                  <a:pt x="92" y="55"/>
                </a:cubicBezTo>
                <a:cubicBezTo>
                  <a:pt x="92" y="75"/>
                  <a:pt x="75" y="91"/>
                  <a:pt x="55" y="91"/>
                </a:cubicBezTo>
                <a:cubicBezTo>
                  <a:pt x="35" y="91"/>
                  <a:pt x="19" y="75"/>
                  <a:pt x="19" y="55"/>
                </a:cubicBezTo>
                <a:close/>
              </a:path>
            </a:pathLst>
          </a:custGeom>
          <a:solidFill>
            <a:schemeClr val="bg1"/>
          </a:solidFill>
          <a:ln>
            <a:noFill/>
          </a:ln>
        </p:spPr>
        <p:txBody>
          <a:bodyPr vert="horz" wrap="square" lIns="121908" tIns="60954" rIns="121908" bIns="60954" numCol="1" anchor="t" anchorCtr="0" compatLnSpc="1"/>
          <a:lstStyle/>
          <a:p>
            <a:endParaRPr lang="en-US">
              <a:latin typeface="+mn-ea"/>
            </a:endParaRPr>
          </a:p>
        </p:txBody>
      </p:sp>
      <p:grpSp>
        <p:nvGrpSpPr>
          <p:cNvPr id="102" name="组合 101"/>
          <p:cNvGrpSpPr/>
          <p:nvPr/>
        </p:nvGrpSpPr>
        <p:grpSpPr>
          <a:xfrm>
            <a:off x="2519454" y="4105090"/>
            <a:ext cx="444423" cy="415877"/>
            <a:chOff x="6661150" y="233363"/>
            <a:chExt cx="320675" cy="300038"/>
          </a:xfrm>
          <a:solidFill>
            <a:schemeClr val="bg1"/>
          </a:solidFill>
        </p:grpSpPr>
        <p:sp>
          <p:nvSpPr>
            <p:cNvPr id="103" name="Freeform 153"/>
            <p:cNvSpPr/>
            <p:nvPr/>
          </p:nvSpPr>
          <p:spPr bwMode="auto">
            <a:xfrm>
              <a:off x="6677025" y="315913"/>
              <a:ext cx="79375" cy="187325"/>
            </a:xfrm>
            <a:custGeom>
              <a:avLst/>
              <a:gdLst>
                <a:gd name="T0" fmla="*/ 34 w 34"/>
                <a:gd name="T1" fmla="*/ 81 h 81"/>
                <a:gd name="T2" fmla="*/ 34 w 34"/>
                <a:gd name="T3" fmla="*/ 8 h 81"/>
                <a:gd name="T4" fmla="*/ 26 w 34"/>
                <a:gd name="T5" fmla="*/ 0 h 81"/>
                <a:gd name="T6" fmla="*/ 9 w 34"/>
                <a:gd name="T7" fmla="*/ 0 h 81"/>
                <a:gd name="T8" fmla="*/ 0 w 34"/>
                <a:gd name="T9" fmla="*/ 8 h 81"/>
                <a:gd name="T10" fmla="*/ 0 w 34"/>
                <a:gd name="T11" fmla="*/ 81 h 81"/>
                <a:gd name="T12" fmla="*/ 34 w 34"/>
                <a:gd name="T13" fmla="*/ 81 h 81"/>
              </a:gdLst>
              <a:ahLst/>
              <a:cxnLst>
                <a:cxn ang="0">
                  <a:pos x="T0" y="T1"/>
                </a:cxn>
                <a:cxn ang="0">
                  <a:pos x="T2" y="T3"/>
                </a:cxn>
                <a:cxn ang="0">
                  <a:pos x="T4" y="T5"/>
                </a:cxn>
                <a:cxn ang="0">
                  <a:pos x="T6" y="T7"/>
                </a:cxn>
                <a:cxn ang="0">
                  <a:pos x="T8" y="T9"/>
                </a:cxn>
                <a:cxn ang="0">
                  <a:pos x="T10" y="T11"/>
                </a:cxn>
                <a:cxn ang="0">
                  <a:pos x="T12" y="T13"/>
                </a:cxn>
              </a:cxnLst>
              <a:rect l="0" t="0" r="r" b="b"/>
              <a:pathLst>
                <a:path w="34" h="81">
                  <a:moveTo>
                    <a:pt x="34" y="81"/>
                  </a:moveTo>
                  <a:cubicBezTo>
                    <a:pt x="34" y="8"/>
                    <a:pt x="34" y="8"/>
                    <a:pt x="34" y="8"/>
                  </a:cubicBezTo>
                  <a:cubicBezTo>
                    <a:pt x="34" y="4"/>
                    <a:pt x="30" y="0"/>
                    <a:pt x="26" y="0"/>
                  </a:cubicBezTo>
                  <a:cubicBezTo>
                    <a:pt x="9" y="0"/>
                    <a:pt x="9" y="0"/>
                    <a:pt x="9" y="0"/>
                  </a:cubicBezTo>
                  <a:cubicBezTo>
                    <a:pt x="4" y="0"/>
                    <a:pt x="0" y="4"/>
                    <a:pt x="0" y="8"/>
                  </a:cubicBezTo>
                  <a:cubicBezTo>
                    <a:pt x="0" y="81"/>
                    <a:pt x="0" y="81"/>
                    <a:pt x="0" y="81"/>
                  </a:cubicBezTo>
                  <a:lnTo>
                    <a:pt x="34" y="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endParaRPr>
            </a:p>
          </p:txBody>
        </p:sp>
        <p:sp>
          <p:nvSpPr>
            <p:cNvPr id="104" name="Freeform 154"/>
            <p:cNvSpPr/>
            <p:nvPr/>
          </p:nvSpPr>
          <p:spPr bwMode="auto">
            <a:xfrm>
              <a:off x="6783388" y="233363"/>
              <a:ext cx="77788" cy="269875"/>
            </a:xfrm>
            <a:custGeom>
              <a:avLst/>
              <a:gdLst>
                <a:gd name="T0" fmla="*/ 34 w 34"/>
                <a:gd name="T1" fmla="*/ 117 h 117"/>
                <a:gd name="T2" fmla="*/ 34 w 34"/>
                <a:gd name="T3" fmla="*/ 8 h 117"/>
                <a:gd name="T4" fmla="*/ 25 w 34"/>
                <a:gd name="T5" fmla="*/ 0 h 117"/>
                <a:gd name="T6" fmla="*/ 8 w 34"/>
                <a:gd name="T7" fmla="*/ 0 h 117"/>
                <a:gd name="T8" fmla="*/ 0 w 34"/>
                <a:gd name="T9" fmla="*/ 8 h 117"/>
                <a:gd name="T10" fmla="*/ 0 w 34"/>
                <a:gd name="T11" fmla="*/ 117 h 117"/>
                <a:gd name="T12" fmla="*/ 34 w 34"/>
                <a:gd name="T13" fmla="*/ 117 h 117"/>
              </a:gdLst>
              <a:ahLst/>
              <a:cxnLst>
                <a:cxn ang="0">
                  <a:pos x="T0" y="T1"/>
                </a:cxn>
                <a:cxn ang="0">
                  <a:pos x="T2" y="T3"/>
                </a:cxn>
                <a:cxn ang="0">
                  <a:pos x="T4" y="T5"/>
                </a:cxn>
                <a:cxn ang="0">
                  <a:pos x="T6" y="T7"/>
                </a:cxn>
                <a:cxn ang="0">
                  <a:pos x="T8" y="T9"/>
                </a:cxn>
                <a:cxn ang="0">
                  <a:pos x="T10" y="T11"/>
                </a:cxn>
                <a:cxn ang="0">
                  <a:pos x="T12" y="T13"/>
                </a:cxn>
              </a:cxnLst>
              <a:rect l="0" t="0" r="r" b="b"/>
              <a:pathLst>
                <a:path w="34" h="117">
                  <a:moveTo>
                    <a:pt x="34" y="117"/>
                  </a:moveTo>
                  <a:cubicBezTo>
                    <a:pt x="34" y="8"/>
                    <a:pt x="34" y="8"/>
                    <a:pt x="34" y="8"/>
                  </a:cubicBezTo>
                  <a:cubicBezTo>
                    <a:pt x="34" y="4"/>
                    <a:pt x="30" y="0"/>
                    <a:pt x="25" y="0"/>
                  </a:cubicBezTo>
                  <a:cubicBezTo>
                    <a:pt x="8" y="0"/>
                    <a:pt x="8" y="0"/>
                    <a:pt x="8" y="0"/>
                  </a:cubicBezTo>
                  <a:cubicBezTo>
                    <a:pt x="3" y="0"/>
                    <a:pt x="0" y="4"/>
                    <a:pt x="0" y="8"/>
                  </a:cubicBezTo>
                  <a:cubicBezTo>
                    <a:pt x="0" y="117"/>
                    <a:pt x="0" y="117"/>
                    <a:pt x="0" y="117"/>
                  </a:cubicBezTo>
                  <a:lnTo>
                    <a:pt x="34"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endParaRPr>
            </a:p>
          </p:txBody>
        </p:sp>
        <p:sp>
          <p:nvSpPr>
            <p:cNvPr id="105" name="Freeform 155"/>
            <p:cNvSpPr/>
            <p:nvPr/>
          </p:nvSpPr>
          <p:spPr bwMode="auto">
            <a:xfrm>
              <a:off x="6886575" y="358776"/>
              <a:ext cx="79375" cy="144463"/>
            </a:xfrm>
            <a:custGeom>
              <a:avLst/>
              <a:gdLst>
                <a:gd name="T0" fmla="*/ 34 w 34"/>
                <a:gd name="T1" fmla="*/ 63 h 63"/>
                <a:gd name="T2" fmla="*/ 34 w 34"/>
                <a:gd name="T3" fmla="*/ 8 h 63"/>
                <a:gd name="T4" fmla="*/ 25 w 34"/>
                <a:gd name="T5" fmla="*/ 0 h 63"/>
                <a:gd name="T6" fmla="*/ 8 w 34"/>
                <a:gd name="T7" fmla="*/ 0 h 63"/>
                <a:gd name="T8" fmla="*/ 0 w 34"/>
                <a:gd name="T9" fmla="*/ 8 h 63"/>
                <a:gd name="T10" fmla="*/ 0 w 34"/>
                <a:gd name="T11" fmla="*/ 63 h 63"/>
                <a:gd name="T12" fmla="*/ 34 w 34"/>
                <a:gd name="T13" fmla="*/ 63 h 63"/>
              </a:gdLst>
              <a:ahLst/>
              <a:cxnLst>
                <a:cxn ang="0">
                  <a:pos x="T0" y="T1"/>
                </a:cxn>
                <a:cxn ang="0">
                  <a:pos x="T2" y="T3"/>
                </a:cxn>
                <a:cxn ang="0">
                  <a:pos x="T4" y="T5"/>
                </a:cxn>
                <a:cxn ang="0">
                  <a:pos x="T6" y="T7"/>
                </a:cxn>
                <a:cxn ang="0">
                  <a:pos x="T8" y="T9"/>
                </a:cxn>
                <a:cxn ang="0">
                  <a:pos x="T10" y="T11"/>
                </a:cxn>
                <a:cxn ang="0">
                  <a:pos x="T12" y="T13"/>
                </a:cxn>
              </a:cxnLst>
              <a:rect l="0" t="0" r="r" b="b"/>
              <a:pathLst>
                <a:path w="34" h="63">
                  <a:moveTo>
                    <a:pt x="34" y="63"/>
                  </a:moveTo>
                  <a:cubicBezTo>
                    <a:pt x="34" y="8"/>
                    <a:pt x="34" y="8"/>
                    <a:pt x="34" y="8"/>
                  </a:cubicBezTo>
                  <a:cubicBezTo>
                    <a:pt x="34" y="4"/>
                    <a:pt x="30" y="0"/>
                    <a:pt x="25" y="0"/>
                  </a:cubicBezTo>
                  <a:cubicBezTo>
                    <a:pt x="8" y="0"/>
                    <a:pt x="8" y="0"/>
                    <a:pt x="8" y="0"/>
                  </a:cubicBezTo>
                  <a:cubicBezTo>
                    <a:pt x="4" y="0"/>
                    <a:pt x="0" y="4"/>
                    <a:pt x="0" y="8"/>
                  </a:cubicBezTo>
                  <a:cubicBezTo>
                    <a:pt x="0" y="63"/>
                    <a:pt x="0" y="63"/>
                    <a:pt x="0" y="63"/>
                  </a:cubicBezTo>
                  <a:lnTo>
                    <a:pt x="34" y="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endParaRPr>
            </a:p>
          </p:txBody>
        </p:sp>
        <p:sp>
          <p:nvSpPr>
            <p:cNvPr id="106" name="Rectangle 156"/>
            <p:cNvSpPr>
              <a:spLocks noChangeArrowheads="1"/>
            </p:cNvSpPr>
            <p:nvPr/>
          </p:nvSpPr>
          <p:spPr bwMode="auto">
            <a:xfrm>
              <a:off x="6661150" y="512763"/>
              <a:ext cx="320675"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latin typeface="+mn-ea"/>
              </a:endParaRPr>
            </a:p>
          </p:txBody>
        </p:sp>
      </p:grpSp>
      <p:sp>
        <p:nvSpPr>
          <p:cNvPr id="107" name="Freeform 140"/>
          <p:cNvSpPr>
            <a:spLocks noEditPoints="1"/>
          </p:cNvSpPr>
          <p:nvPr/>
        </p:nvSpPr>
        <p:spPr bwMode="auto">
          <a:xfrm>
            <a:off x="2481097" y="5350074"/>
            <a:ext cx="493228" cy="493292"/>
          </a:xfrm>
          <a:custGeom>
            <a:avLst/>
            <a:gdLst>
              <a:gd name="T0" fmla="*/ 103 w 112"/>
              <a:gd name="T1" fmla="*/ 47 h 112"/>
              <a:gd name="T2" fmla="*/ 106 w 112"/>
              <a:gd name="T3" fmla="*/ 36 h 112"/>
              <a:gd name="T4" fmla="*/ 102 w 112"/>
              <a:gd name="T5" fmla="*/ 22 h 112"/>
              <a:gd name="T6" fmla="*/ 92 w 112"/>
              <a:gd name="T7" fmla="*/ 25 h 112"/>
              <a:gd name="T8" fmla="*/ 90 w 112"/>
              <a:gd name="T9" fmla="*/ 14 h 112"/>
              <a:gd name="T10" fmla="*/ 79 w 112"/>
              <a:gd name="T11" fmla="*/ 4 h 112"/>
              <a:gd name="T12" fmla="*/ 71 w 112"/>
              <a:gd name="T13" fmla="*/ 11 h 112"/>
              <a:gd name="T14" fmla="*/ 64 w 112"/>
              <a:gd name="T15" fmla="*/ 3 h 112"/>
              <a:gd name="T16" fmla="*/ 50 w 112"/>
              <a:gd name="T17" fmla="*/ 0 h 112"/>
              <a:gd name="T18" fmla="*/ 47 w 112"/>
              <a:gd name="T19" fmla="*/ 10 h 112"/>
              <a:gd name="T20" fmla="*/ 37 w 112"/>
              <a:gd name="T21" fmla="*/ 6 h 112"/>
              <a:gd name="T22" fmla="*/ 23 w 112"/>
              <a:gd name="T23" fmla="*/ 11 h 112"/>
              <a:gd name="T24" fmla="*/ 25 w 112"/>
              <a:gd name="T25" fmla="*/ 20 h 112"/>
              <a:gd name="T26" fmla="*/ 14 w 112"/>
              <a:gd name="T27" fmla="*/ 22 h 112"/>
              <a:gd name="T28" fmla="*/ 5 w 112"/>
              <a:gd name="T29" fmla="*/ 33 h 112"/>
              <a:gd name="T30" fmla="*/ 12 w 112"/>
              <a:gd name="T31" fmla="*/ 41 h 112"/>
              <a:gd name="T32" fmla="*/ 3 w 112"/>
              <a:gd name="T33" fmla="*/ 48 h 112"/>
              <a:gd name="T34" fmla="*/ 0 w 112"/>
              <a:gd name="T35" fmla="*/ 62 h 112"/>
              <a:gd name="T36" fmla="*/ 10 w 112"/>
              <a:gd name="T37" fmla="*/ 65 h 112"/>
              <a:gd name="T38" fmla="*/ 6 w 112"/>
              <a:gd name="T39" fmla="*/ 75 h 112"/>
              <a:gd name="T40" fmla="*/ 11 w 112"/>
              <a:gd name="T41" fmla="*/ 89 h 112"/>
              <a:gd name="T42" fmla="*/ 21 w 112"/>
              <a:gd name="T43" fmla="*/ 87 h 112"/>
              <a:gd name="T44" fmla="*/ 23 w 112"/>
              <a:gd name="T45" fmla="*/ 98 h 112"/>
              <a:gd name="T46" fmla="*/ 34 w 112"/>
              <a:gd name="T47" fmla="*/ 108 h 112"/>
              <a:gd name="T48" fmla="*/ 41 w 112"/>
              <a:gd name="T49" fmla="*/ 101 h 112"/>
              <a:gd name="T50" fmla="*/ 48 w 112"/>
              <a:gd name="T51" fmla="*/ 109 h 112"/>
              <a:gd name="T52" fmla="*/ 63 w 112"/>
              <a:gd name="T53" fmla="*/ 112 h 112"/>
              <a:gd name="T54" fmla="*/ 66 w 112"/>
              <a:gd name="T55" fmla="*/ 102 h 112"/>
              <a:gd name="T56" fmla="*/ 76 w 112"/>
              <a:gd name="T57" fmla="*/ 106 h 112"/>
              <a:gd name="T58" fmla="*/ 90 w 112"/>
              <a:gd name="T59" fmla="*/ 101 h 112"/>
              <a:gd name="T60" fmla="*/ 88 w 112"/>
              <a:gd name="T61" fmla="*/ 91 h 112"/>
              <a:gd name="T62" fmla="*/ 98 w 112"/>
              <a:gd name="T63" fmla="*/ 89 h 112"/>
              <a:gd name="T64" fmla="*/ 108 w 112"/>
              <a:gd name="T65" fmla="*/ 78 h 112"/>
              <a:gd name="T66" fmla="*/ 101 w 112"/>
              <a:gd name="T67" fmla="*/ 71 h 112"/>
              <a:gd name="T68" fmla="*/ 110 w 112"/>
              <a:gd name="T69" fmla="*/ 64 h 112"/>
              <a:gd name="T70" fmla="*/ 112 w 112"/>
              <a:gd name="T71" fmla="*/ 49 h 112"/>
              <a:gd name="T72" fmla="*/ 56 w 112"/>
              <a:gd name="T73" fmla="*/ 86 h 112"/>
              <a:gd name="T74" fmla="*/ 56 w 112"/>
              <a:gd name="T75" fmla="*/ 26 h 112"/>
              <a:gd name="T76" fmla="*/ 56 w 112"/>
              <a:gd name="T7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 h="112">
                <a:moveTo>
                  <a:pt x="110" y="47"/>
                </a:moveTo>
                <a:cubicBezTo>
                  <a:pt x="103" y="47"/>
                  <a:pt x="103" y="47"/>
                  <a:pt x="103" y="47"/>
                </a:cubicBezTo>
                <a:cubicBezTo>
                  <a:pt x="102" y="44"/>
                  <a:pt x="101" y="42"/>
                  <a:pt x="101" y="39"/>
                </a:cubicBezTo>
                <a:cubicBezTo>
                  <a:pt x="106" y="36"/>
                  <a:pt x="106" y="36"/>
                  <a:pt x="106" y="36"/>
                </a:cubicBezTo>
                <a:cubicBezTo>
                  <a:pt x="108" y="35"/>
                  <a:pt x="108" y="34"/>
                  <a:pt x="107" y="32"/>
                </a:cubicBezTo>
                <a:cubicBezTo>
                  <a:pt x="102" y="22"/>
                  <a:pt x="102" y="22"/>
                  <a:pt x="102" y="22"/>
                </a:cubicBezTo>
                <a:cubicBezTo>
                  <a:pt x="101" y="21"/>
                  <a:pt x="99" y="20"/>
                  <a:pt x="98" y="21"/>
                </a:cubicBezTo>
                <a:cubicBezTo>
                  <a:pt x="92" y="25"/>
                  <a:pt x="92" y="25"/>
                  <a:pt x="92" y="25"/>
                </a:cubicBezTo>
                <a:cubicBezTo>
                  <a:pt x="90" y="23"/>
                  <a:pt x="88" y="21"/>
                  <a:pt x="87" y="20"/>
                </a:cubicBezTo>
                <a:cubicBezTo>
                  <a:pt x="90" y="14"/>
                  <a:pt x="90" y="14"/>
                  <a:pt x="90" y="14"/>
                </a:cubicBezTo>
                <a:cubicBezTo>
                  <a:pt x="91" y="12"/>
                  <a:pt x="90" y="11"/>
                  <a:pt x="89" y="10"/>
                </a:cubicBezTo>
                <a:cubicBezTo>
                  <a:pt x="79" y="4"/>
                  <a:pt x="79" y="4"/>
                  <a:pt x="79" y="4"/>
                </a:cubicBezTo>
                <a:cubicBezTo>
                  <a:pt x="77" y="3"/>
                  <a:pt x="76" y="4"/>
                  <a:pt x="75" y="5"/>
                </a:cubicBezTo>
                <a:cubicBezTo>
                  <a:pt x="71" y="11"/>
                  <a:pt x="71" y="11"/>
                  <a:pt x="71" y="11"/>
                </a:cubicBezTo>
                <a:cubicBezTo>
                  <a:pt x="69" y="10"/>
                  <a:pt x="67" y="10"/>
                  <a:pt x="64" y="9"/>
                </a:cubicBezTo>
                <a:cubicBezTo>
                  <a:pt x="64" y="3"/>
                  <a:pt x="64" y="3"/>
                  <a:pt x="64" y="3"/>
                </a:cubicBezTo>
                <a:cubicBezTo>
                  <a:pt x="64" y="1"/>
                  <a:pt x="63" y="0"/>
                  <a:pt x="61" y="0"/>
                </a:cubicBezTo>
                <a:cubicBezTo>
                  <a:pt x="50" y="0"/>
                  <a:pt x="50" y="0"/>
                  <a:pt x="50" y="0"/>
                </a:cubicBezTo>
                <a:cubicBezTo>
                  <a:pt x="48" y="0"/>
                  <a:pt x="47" y="1"/>
                  <a:pt x="47" y="3"/>
                </a:cubicBezTo>
                <a:cubicBezTo>
                  <a:pt x="47" y="10"/>
                  <a:pt x="47" y="10"/>
                  <a:pt x="47" y="10"/>
                </a:cubicBezTo>
                <a:cubicBezTo>
                  <a:pt x="45" y="10"/>
                  <a:pt x="42" y="11"/>
                  <a:pt x="40" y="12"/>
                </a:cubicBezTo>
                <a:cubicBezTo>
                  <a:pt x="37" y="6"/>
                  <a:pt x="37" y="6"/>
                  <a:pt x="37" y="6"/>
                </a:cubicBezTo>
                <a:cubicBezTo>
                  <a:pt x="36" y="4"/>
                  <a:pt x="34" y="4"/>
                  <a:pt x="33" y="5"/>
                </a:cubicBezTo>
                <a:cubicBezTo>
                  <a:pt x="23" y="11"/>
                  <a:pt x="23" y="11"/>
                  <a:pt x="23" y="11"/>
                </a:cubicBezTo>
                <a:cubicBezTo>
                  <a:pt x="21" y="11"/>
                  <a:pt x="21" y="13"/>
                  <a:pt x="22" y="14"/>
                </a:cubicBezTo>
                <a:cubicBezTo>
                  <a:pt x="25" y="20"/>
                  <a:pt x="25" y="20"/>
                  <a:pt x="25" y="20"/>
                </a:cubicBezTo>
                <a:cubicBezTo>
                  <a:pt x="23" y="22"/>
                  <a:pt x="22" y="24"/>
                  <a:pt x="20" y="26"/>
                </a:cubicBezTo>
                <a:cubicBezTo>
                  <a:pt x="14" y="22"/>
                  <a:pt x="14" y="22"/>
                  <a:pt x="14" y="22"/>
                </a:cubicBezTo>
                <a:cubicBezTo>
                  <a:pt x="13" y="22"/>
                  <a:pt x="11" y="22"/>
                  <a:pt x="10" y="23"/>
                </a:cubicBezTo>
                <a:cubicBezTo>
                  <a:pt x="5" y="33"/>
                  <a:pt x="5" y="33"/>
                  <a:pt x="5" y="33"/>
                </a:cubicBezTo>
                <a:cubicBezTo>
                  <a:pt x="4" y="35"/>
                  <a:pt x="4" y="36"/>
                  <a:pt x="6" y="37"/>
                </a:cubicBezTo>
                <a:cubicBezTo>
                  <a:pt x="12" y="41"/>
                  <a:pt x="12" y="41"/>
                  <a:pt x="12" y="41"/>
                </a:cubicBezTo>
                <a:cubicBezTo>
                  <a:pt x="11" y="43"/>
                  <a:pt x="10" y="45"/>
                  <a:pt x="10" y="48"/>
                </a:cubicBezTo>
                <a:cubicBezTo>
                  <a:pt x="3" y="48"/>
                  <a:pt x="3" y="48"/>
                  <a:pt x="3" y="48"/>
                </a:cubicBezTo>
                <a:cubicBezTo>
                  <a:pt x="2" y="48"/>
                  <a:pt x="0" y="49"/>
                  <a:pt x="0" y="51"/>
                </a:cubicBezTo>
                <a:cubicBezTo>
                  <a:pt x="0" y="62"/>
                  <a:pt x="0" y="62"/>
                  <a:pt x="0" y="62"/>
                </a:cubicBezTo>
                <a:cubicBezTo>
                  <a:pt x="0" y="64"/>
                  <a:pt x="2" y="65"/>
                  <a:pt x="3" y="65"/>
                </a:cubicBezTo>
                <a:cubicBezTo>
                  <a:pt x="10" y="65"/>
                  <a:pt x="10" y="65"/>
                  <a:pt x="10" y="65"/>
                </a:cubicBezTo>
                <a:cubicBezTo>
                  <a:pt x="11" y="68"/>
                  <a:pt x="11" y="70"/>
                  <a:pt x="12" y="72"/>
                </a:cubicBezTo>
                <a:cubicBezTo>
                  <a:pt x="6" y="75"/>
                  <a:pt x="6" y="75"/>
                  <a:pt x="6" y="75"/>
                </a:cubicBezTo>
                <a:cubicBezTo>
                  <a:pt x="5" y="76"/>
                  <a:pt x="5" y="78"/>
                  <a:pt x="5" y="79"/>
                </a:cubicBezTo>
                <a:cubicBezTo>
                  <a:pt x="11" y="89"/>
                  <a:pt x="11" y="89"/>
                  <a:pt x="11" y="89"/>
                </a:cubicBezTo>
                <a:cubicBezTo>
                  <a:pt x="12" y="91"/>
                  <a:pt x="14" y="91"/>
                  <a:pt x="15" y="90"/>
                </a:cubicBezTo>
                <a:cubicBezTo>
                  <a:pt x="21" y="87"/>
                  <a:pt x="21" y="87"/>
                  <a:pt x="21" y="87"/>
                </a:cubicBezTo>
                <a:cubicBezTo>
                  <a:pt x="23" y="89"/>
                  <a:pt x="24" y="91"/>
                  <a:pt x="26" y="92"/>
                </a:cubicBezTo>
                <a:cubicBezTo>
                  <a:pt x="23" y="98"/>
                  <a:pt x="23" y="98"/>
                  <a:pt x="23" y="98"/>
                </a:cubicBezTo>
                <a:cubicBezTo>
                  <a:pt x="22" y="99"/>
                  <a:pt x="23" y="101"/>
                  <a:pt x="24" y="102"/>
                </a:cubicBezTo>
                <a:cubicBezTo>
                  <a:pt x="34" y="108"/>
                  <a:pt x="34" y="108"/>
                  <a:pt x="34" y="108"/>
                </a:cubicBezTo>
                <a:cubicBezTo>
                  <a:pt x="35" y="108"/>
                  <a:pt x="37" y="108"/>
                  <a:pt x="38" y="106"/>
                </a:cubicBezTo>
                <a:cubicBezTo>
                  <a:pt x="41" y="101"/>
                  <a:pt x="41" y="101"/>
                  <a:pt x="41" y="101"/>
                </a:cubicBezTo>
                <a:cubicBezTo>
                  <a:pt x="44" y="101"/>
                  <a:pt x="46" y="102"/>
                  <a:pt x="48" y="102"/>
                </a:cubicBezTo>
                <a:cubicBezTo>
                  <a:pt x="48" y="109"/>
                  <a:pt x="48" y="109"/>
                  <a:pt x="48" y="109"/>
                </a:cubicBezTo>
                <a:cubicBezTo>
                  <a:pt x="48" y="111"/>
                  <a:pt x="50" y="112"/>
                  <a:pt x="51" y="112"/>
                </a:cubicBezTo>
                <a:cubicBezTo>
                  <a:pt x="63" y="112"/>
                  <a:pt x="63" y="112"/>
                  <a:pt x="63" y="112"/>
                </a:cubicBezTo>
                <a:cubicBezTo>
                  <a:pt x="64" y="112"/>
                  <a:pt x="66" y="111"/>
                  <a:pt x="66" y="109"/>
                </a:cubicBezTo>
                <a:cubicBezTo>
                  <a:pt x="66" y="102"/>
                  <a:pt x="66" y="102"/>
                  <a:pt x="66" y="102"/>
                </a:cubicBezTo>
                <a:cubicBezTo>
                  <a:pt x="68" y="102"/>
                  <a:pt x="70" y="101"/>
                  <a:pt x="73" y="100"/>
                </a:cubicBezTo>
                <a:cubicBezTo>
                  <a:pt x="76" y="106"/>
                  <a:pt x="76" y="106"/>
                  <a:pt x="76" y="106"/>
                </a:cubicBezTo>
                <a:cubicBezTo>
                  <a:pt x="77" y="107"/>
                  <a:pt x="79" y="108"/>
                  <a:pt x="80" y="107"/>
                </a:cubicBezTo>
                <a:cubicBezTo>
                  <a:pt x="90" y="101"/>
                  <a:pt x="90" y="101"/>
                  <a:pt x="90" y="101"/>
                </a:cubicBezTo>
                <a:cubicBezTo>
                  <a:pt x="91" y="100"/>
                  <a:pt x="92" y="99"/>
                  <a:pt x="91" y="97"/>
                </a:cubicBezTo>
                <a:cubicBezTo>
                  <a:pt x="88" y="91"/>
                  <a:pt x="88" y="91"/>
                  <a:pt x="88" y="91"/>
                </a:cubicBezTo>
                <a:cubicBezTo>
                  <a:pt x="89" y="90"/>
                  <a:pt x="91" y="88"/>
                  <a:pt x="93" y="86"/>
                </a:cubicBezTo>
                <a:cubicBezTo>
                  <a:pt x="98" y="89"/>
                  <a:pt x="98" y="89"/>
                  <a:pt x="98" y="89"/>
                </a:cubicBezTo>
                <a:cubicBezTo>
                  <a:pt x="100" y="90"/>
                  <a:pt x="102" y="90"/>
                  <a:pt x="102" y="88"/>
                </a:cubicBezTo>
                <a:cubicBezTo>
                  <a:pt x="108" y="78"/>
                  <a:pt x="108" y="78"/>
                  <a:pt x="108" y="78"/>
                </a:cubicBezTo>
                <a:cubicBezTo>
                  <a:pt x="109" y="77"/>
                  <a:pt x="108" y="75"/>
                  <a:pt x="107" y="74"/>
                </a:cubicBezTo>
                <a:cubicBezTo>
                  <a:pt x="101" y="71"/>
                  <a:pt x="101" y="71"/>
                  <a:pt x="101" y="71"/>
                </a:cubicBezTo>
                <a:cubicBezTo>
                  <a:pt x="102" y="69"/>
                  <a:pt x="102" y="66"/>
                  <a:pt x="103" y="64"/>
                </a:cubicBezTo>
                <a:cubicBezTo>
                  <a:pt x="110" y="64"/>
                  <a:pt x="110" y="64"/>
                  <a:pt x="110" y="64"/>
                </a:cubicBezTo>
                <a:cubicBezTo>
                  <a:pt x="111" y="64"/>
                  <a:pt x="112" y="63"/>
                  <a:pt x="112" y="61"/>
                </a:cubicBezTo>
                <a:cubicBezTo>
                  <a:pt x="112" y="49"/>
                  <a:pt x="112" y="49"/>
                  <a:pt x="112" y="49"/>
                </a:cubicBezTo>
                <a:cubicBezTo>
                  <a:pt x="112" y="48"/>
                  <a:pt x="111" y="47"/>
                  <a:pt x="110" y="47"/>
                </a:cubicBezTo>
                <a:close/>
                <a:moveTo>
                  <a:pt x="56" y="86"/>
                </a:moveTo>
                <a:cubicBezTo>
                  <a:pt x="40" y="86"/>
                  <a:pt x="26" y="72"/>
                  <a:pt x="26" y="56"/>
                </a:cubicBezTo>
                <a:cubicBezTo>
                  <a:pt x="26" y="39"/>
                  <a:pt x="40" y="26"/>
                  <a:pt x="56" y="26"/>
                </a:cubicBezTo>
                <a:cubicBezTo>
                  <a:pt x="73" y="26"/>
                  <a:pt x="86" y="39"/>
                  <a:pt x="86" y="56"/>
                </a:cubicBezTo>
                <a:cubicBezTo>
                  <a:pt x="86" y="72"/>
                  <a:pt x="73" y="86"/>
                  <a:pt x="56" y="86"/>
                </a:cubicBezTo>
                <a:close/>
              </a:path>
            </a:pathLst>
          </a:custGeom>
          <a:solidFill>
            <a:schemeClr val="bg1"/>
          </a:solidFill>
          <a:ln>
            <a:noFill/>
          </a:ln>
        </p:spPr>
        <p:txBody>
          <a:bodyPr vert="horz" wrap="square" lIns="121908" tIns="60954" rIns="121908" bIns="60954" numCol="1" anchor="t" anchorCtr="0" compatLnSpc="1"/>
          <a:lstStyle/>
          <a:p>
            <a:endParaRPr lang="en-US">
              <a:latin typeface="+mn-ea"/>
            </a:endParaRPr>
          </a:p>
        </p:txBody>
      </p:sp>
      <p:sp>
        <p:nvSpPr>
          <p:cNvPr id="4" name="矩形 3"/>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sp>
        <p:nvSpPr>
          <p:cNvPr id="11" name="文本框 10"/>
          <p:cNvSpPr txBox="1"/>
          <p:nvPr/>
        </p:nvSpPr>
        <p:spPr>
          <a:xfrm>
            <a:off x="5937885" y="3490595"/>
            <a:ext cx="623570" cy="284480"/>
          </a:xfrm>
          <a:prstGeom prst="rect">
            <a:avLst/>
          </a:prstGeom>
          <a:noFill/>
        </p:spPr>
        <p:txBody>
          <a:bodyPr wrap="square" rtlCol="0">
            <a:spAutoFit/>
          </a:bodyPr>
          <a:p>
            <a:pPr algn="ctr" defTabSz="1718310">
              <a:lnSpc>
                <a:spcPct val="90000"/>
              </a:lnSpc>
              <a:spcBef>
                <a:spcPct val="0"/>
              </a:spcBef>
              <a:spcAft>
                <a:spcPct val="35000"/>
              </a:spcAft>
            </a:pPr>
            <a:r>
              <a:rPr lang="en-US" sz="140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mn-ea"/>
                <a:sym typeface="+mn-ea"/>
              </a:rPr>
              <a:t>CPC</a:t>
            </a:r>
            <a:endParaRPr lang="en-US" altLang="en-US" sz="140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mn-ea"/>
              <a:sym typeface="+mn-ea"/>
            </a:endParaRPr>
          </a:p>
        </p:txBody>
      </p:sp>
      <p:sp>
        <p:nvSpPr>
          <p:cNvPr id="29" name="文本框 28"/>
          <p:cNvSpPr txBox="1"/>
          <p:nvPr/>
        </p:nvSpPr>
        <p:spPr>
          <a:xfrm>
            <a:off x="857885" y="283210"/>
            <a:ext cx="4246880" cy="583565"/>
          </a:xfrm>
          <a:prstGeom prst="rect">
            <a:avLst/>
          </a:prstGeom>
          <a:noFill/>
        </p:spPr>
        <p:txBody>
          <a:bodyPr wrap="none" rtlCol="0">
            <a:spAutoFit/>
          </a:bodyPr>
          <a:p>
            <a:pPr algn="l"/>
            <a:r>
              <a:rPr lang="zh-CN" altLang="en-US" sz="3200" b="1" dirty="0">
                <a:solidFill>
                  <a:schemeClr val="tx1">
                    <a:lumMod val="75000"/>
                    <a:lumOff val="25000"/>
                  </a:schemeClr>
                </a:solidFill>
                <a:latin typeface="微软雅黑" panose="020B0503020204020204" charset="-122"/>
                <a:ea typeface="微软雅黑" panose="020B0503020204020204" charset="-122"/>
                <a:sym typeface="+mn-ea"/>
              </a:rPr>
              <a:t>自动与手动广告的区别</a:t>
            </a:r>
            <a:endParaRPr lang="en-US" altLang="zh-CN" sz="3200" b="1">
              <a:solidFill>
                <a:schemeClr val="tx1">
                  <a:lumMod val="75000"/>
                  <a:lumOff val="25000"/>
                </a:schemeClr>
              </a:solidFill>
            </a:endParaRPr>
          </a:p>
        </p:txBody>
      </p:sp>
      <p:sp>
        <p:nvSpPr>
          <p:cNvPr id="18" name="矩形 17"/>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8" presetClass="entr" presetSubtype="12" fill="hold" nodeType="afterEffect">
                                  <p:stCondLst>
                                    <p:cond delay="0"/>
                                  </p:stCondLst>
                                  <p:childTnLst>
                                    <p:set>
                                      <p:cBhvr>
                                        <p:cTn id="11" dur="1" fill="hold">
                                          <p:stCondLst>
                                            <p:cond delay="0"/>
                                          </p:stCondLst>
                                        </p:cTn>
                                        <p:tgtEl>
                                          <p:spTgt spid="68"/>
                                        </p:tgtEl>
                                        <p:attrNameLst>
                                          <p:attrName>style.visibility</p:attrName>
                                        </p:attrNameLst>
                                      </p:cBhvr>
                                      <p:to>
                                        <p:strVal val="visible"/>
                                      </p:to>
                                    </p:set>
                                    <p:animEffect transition="in" filter="strips(downLeft)">
                                      <p:cBhvr>
                                        <p:cTn id="12" dur="500"/>
                                        <p:tgtEl>
                                          <p:spTgt spid="68"/>
                                        </p:tgtEl>
                                      </p:cBhvr>
                                    </p:animEffect>
                                  </p:childTnLst>
                                </p:cTn>
                              </p:par>
                            </p:childTnLst>
                          </p:cTn>
                        </p:par>
                        <p:par>
                          <p:cTn id="13" fill="hold">
                            <p:stCondLst>
                              <p:cond delay="1000"/>
                            </p:stCondLst>
                            <p:childTnLst>
                              <p:par>
                                <p:cTn id="14" presetID="18" presetClass="entr" presetSubtype="6" fill="hold" nodeType="after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strips(downRight)">
                                      <p:cBhvr>
                                        <p:cTn id="16" dur="500"/>
                                        <p:tgtEl>
                                          <p:spTgt spid="69"/>
                                        </p:tgtEl>
                                      </p:cBhvr>
                                    </p:animEffect>
                                  </p:childTnLst>
                                </p:cTn>
                              </p:par>
                            </p:childTnLst>
                          </p:cTn>
                        </p:par>
                        <p:par>
                          <p:cTn id="17" fill="hold">
                            <p:stCondLst>
                              <p:cond delay="1500"/>
                            </p:stCondLst>
                            <p:childTnLst>
                              <p:par>
                                <p:cTn id="18" presetID="2" presetClass="entr" presetSubtype="2" accel="50000" decel="50000" fill="hold" nodeType="afterEffect">
                                  <p:stCondLst>
                                    <p:cond delay="0"/>
                                  </p:stCondLst>
                                  <p:childTnLst>
                                    <p:set>
                                      <p:cBhvr>
                                        <p:cTn id="19" dur="1" fill="hold">
                                          <p:stCondLst>
                                            <p:cond delay="0"/>
                                          </p:stCondLst>
                                        </p:cTn>
                                        <p:tgtEl>
                                          <p:spTgt spid="87"/>
                                        </p:tgtEl>
                                        <p:attrNameLst>
                                          <p:attrName>style.visibility</p:attrName>
                                        </p:attrNameLst>
                                      </p:cBhvr>
                                      <p:to>
                                        <p:strVal val="visible"/>
                                      </p:to>
                                    </p:set>
                                    <p:anim calcmode="lin" valueType="num">
                                      <p:cBhvr additive="base">
                                        <p:cTn id="20" dur="500" fill="hold"/>
                                        <p:tgtEl>
                                          <p:spTgt spid="87"/>
                                        </p:tgtEl>
                                        <p:attrNameLst>
                                          <p:attrName>ppt_x</p:attrName>
                                        </p:attrNameLst>
                                      </p:cBhvr>
                                      <p:tavLst>
                                        <p:tav tm="0">
                                          <p:val>
                                            <p:strVal val="1+#ppt_w/2"/>
                                          </p:val>
                                        </p:tav>
                                        <p:tav tm="100000">
                                          <p:val>
                                            <p:strVal val="#ppt_x"/>
                                          </p:val>
                                        </p:tav>
                                      </p:tavLst>
                                    </p:anim>
                                    <p:anim calcmode="lin" valueType="num">
                                      <p:cBhvr additive="base">
                                        <p:cTn id="21" dur="500" fill="hold"/>
                                        <p:tgtEl>
                                          <p:spTgt spid="87"/>
                                        </p:tgtEl>
                                        <p:attrNameLst>
                                          <p:attrName>ppt_y</p:attrName>
                                        </p:attrNameLst>
                                      </p:cBhvr>
                                      <p:tavLst>
                                        <p:tav tm="0">
                                          <p:val>
                                            <p:strVal val="#ppt_y"/>
                                          </p:val>
                                        </p:tav>
                                        <p:tav tm="100000">
                                          <p:val>
                                            <p:strVal val="#ppt_y"/>
                                          </p:val>
                                        </p:tav>
                                      </p:tavLst>
                                    </p:anim>
                                  </p:childTnLst>
                                </p:cTn>
                              </p:par>
                            </p:childTnLst>
                          </p:cTn>
                        </p:par>
                        <p:par>
                          <p:cTn id="22" fill="hold">
                            <p:stCondLst>
                              <p:cond delay="2000"/>
                            </p:stCondLst>
                            <p:childTnLst>
                              <p:par>
                                <p:cTn id="23" presetID="2" presetClass="entr" presetSubtype="8" accel="50000" decel="50000" fill="hold" nodeType="afterEffect">
                                  <p:stCondLst>
                                    <p:cond delay="0"/>
                                  </p:stCondLst>
                                  <p:childTnLst>
                                    <p:set>
                                      <p:cBhvr>
                                        <p:cTn id="24" dur="1" fill="hold">
                                          <p:stCondLst>
                                            <p:cond delay="0"/>
                                          </p:stCondLst>
                                        </p:cTn>
                                        <p:tgtEl>
                                          <p:spTgt spid="88"/>
                                        </p:tgtEl>
                                        <p:attrNameLst>
                                          <p:attrName>style.visibility</p:attrName>
                                        </p:attrNameLst>
                                      </p:cBhvr>
                                      <p:to>
                                        <p:strVal val="visible"/>
                                      </p:to>
                                    </p:set>
                                    <p:anim calcmode="lin" valueType="num">
                                      <p:cBhvr additive="base">
                                        <p:cTn id="25" dur="500" fill="hold"/>
                                        <p:tgtEl>
                                          <p:spTgt spid="88"/>
                                        </p:tgtEl>
                                        <p:attrNameLst>
                                          <p:attrName>ppt_x</p:attrName>
                                        </p:attrNameLst>
                                      </p:cBhvr>
                                      <p:tavLst>
                                        <p:tav tm="0">
                                          <p:val>
                                            <p:strVal val="0-#ppt_w/2"/>
                                          </p:val>
                                        </p:tav>
                                        <p:tav tm="100000">
                                          <p:val>
                                            <p:strVal val="#ppt_x"/>
                                          </p:val>
                                        </p:tav>
                                      </p:tavLst>
                                    </p:anim>
                                    <p:anim calcmode="lin" valueType="num">
                                      <p:cBhvr additive="base">
                                        <p:cTn id="26" dur="500" fill="hold"/>
                                        <p:tgtEl>
                                          <p:spTgt spid="88"/>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2" presetClass="entr" presetSubtype="2" accel="50000" decel="50000" fill="hold" nodeType="afterEffect">
                                  <p:stCondLst>
                                    <p:cond delay="0"/>
                                  </p:stCondLst>
                                  <p:childTnLst>
                                    <p:set>
                                      <p:cBhvr>
                                        <p:cTn id="29" dur="1" fill="hold">
                                          <p:stCondLst>
                                            <p:cond delay="0"/>
                                          </p:stCondLst>
                                        </p:cTn>
                                        <p:tgtEl>
                                          <p:spTgt spid="89"/>
                                        </p:tgtEl>
                                        <p:attrNameLst>
                                          <p:attrName>style.visibility</p:attrName>
                                        </p:attrNameLst>
                                      </p:cBhvr>
                                      <p:to>
                                        <p:strVal val="visible"/>
                                      </p:to>
                                    </p:set>
                                    <p:anim calcmode="lin" valueType="num">
                                      <p:cBhvr additive="base">
                                        <p:cTn id="30" dur="500" fill="hold"/>
                                        <p:tgtEl>
                                          <p:spTgt spid="89"/>
                                        </p:tgtEl>
                                        <p:attrNameLst>
                                          <p:attrName>ppt_x</p:attrName>
                                        </p:attrNameLst>
                                      </p:cBhvr>
                                      <p:tavLst>
                                        <p:tav tm="0">
                                          <p:val>
                                            <p:strVal val="1+#ppt_w/2"/>
                                          </p:val>
                                        </p:tav>
                                        <p:tav tm="100000">
                                          <p:val>
                                            <p:strVal val="#ppt_x"/>
                                          </p:val>
                                        </p:tav>
                                      </p:tavLst>
                                    </p:anim>
                                    <p:anim calcmode="lin" valueType="num">
                                      <p:cBhvr additive="base">
                                        <p:cTn id="31" dur="500" fill="hold"/>
                                        <p:tgtEl>
                                          <p:spTgt spid="89"/>
                                        </p:tgtEl>
                                        <p:attrNameLst>
                                          <p:attrName>ppt_y</p:attrName>
                                        </p:attrNameLst>
                                      </p:cBhvr>
                                      <p:tavLst>
                                        <p:tav tm="0">
                                          <p:val>
                                            <p:strVal val="#ppt_y"/>
                                          </p:val>
                                        </p:tav>
                                        <p:tav tm="100000">
                                          <p:val>
                                            <p:strVal val="#ppt_y"/>
                                          </p:val>
                                        </p:tav>
                                      </p:tavLst>
                                    </p:anim>
                                  </p:childTnLst>
                                </p:cTn>
                              </p:par>
                            </p:childTnLst>
                          </p:cTn>
                        </p:par>
                        <p:par>
                          <p:cTn id="32" fill="hold">
                            <p:stCondLst>
                              <p:cond delay="3000"/>
                            </p:stCondLst>
                            <p:childTnLst>
                              <p:par>
                                <p:cTn id="33" presetID="2" presetClass="entr" presetSubtype="8" accel="50000" decel="50000" fill="hold" nodeType="afterEffect">
                                  <p:stCondLst>
                                    <p:cond delay="0"/>
                                  </p:stCondLst>
                                  <p:childTnLst>
                                    <p:set>
                                      <p:cBhvr>
                                        <p:cTn id="34" dur="1" fill="hold">
                                          <p:stCondLst>
                                            <p:cond delay="0"/>
                                          </p:stCondLst>
                                        </p:cTn>
                                        <p:tgtEl>
                                          <p:spTgt spid="90"/>
                                        </p:tgtEl>
                                        <p:attrNameLst>
                                          <p:attrName>style.visibility</p:attrName>
                                        </p:attrNameLst>
                                      </p:cBhvr>
                                      <p:to>
                                        <p:strVal val="visible"/>
                                      </p:to>
                                    </p:set>
                                    <p:anim calcmode="lin" valueType="num">
                                      <p:cBhvr additive="base">
                                        <p:cTn id="35" dur="500" fill="hold"/>
                                        <p:tgtEl>
                                          <p:spTgt spid="90"/>
                                        </p:tgtEl>
                                        <p:attrNameLst>
                                          <p:attrName>ppt_x</p:attrName>
                                        </p:attrNameLst>
                                      </p:cBhvr>
                                      <p:tavLst>
                                        <p:tav tm="0">
                                          <p:val>
                                            <p:strVal val="0-#ppt_w/2"/>
                                          </p:val>
                                        </p:tav>
                                        <p:tav tm="100000">
                                          <p:val>
                                            <p:strVal val="#ppt_x"/>
                                          </p:val>
                                        </p:tav>
                                      </p:tavLst>
                                    </p:anim>
                                    <p:anim calcmode="lin" valueType="num">
                                      <p:cBhvr additive="base">
                                        <p:cTn id="36" dur="500" fill="hold"/>
                                        <p:tgtEl>
                                          <p:spTgt spid="90"/>
                                        </p:tgtEl>
                                        <p:attrNameLst>
                                          <p:attrName>ppt_y</p:attrName>
                                        </p:attrNameLst>
                                      </p:cBhvr>
                                      <p:tavLst>
                                        <p:tav tm="0">
                                          <p:val>
                                            <p:strVal val="#ppt_y"/>
                                          </p:val>
                                        </p:tav>
                                        <p:tav tm="100000">
                                          <p:val>
                                            <p:strVal val="#ppt_y"/>
                                          </p:val>
                                        </p:tav>
                                      </p:tavLst>
                                    </p:anim>
                                  </p:childTnLst>
                                </p:cTn>
                              </p:par>
                            </p:childTnLst>
                          </p:cTn>
                        </p:par>
                        <p:par>
                          <p:cTn id="37" fill="hold">
                            <p:stCondLst>
                              <p:cond delay="3500"/>
                            </p:stCondLst>
                            <p:childTnLst>
                              <p:par>
                                <p:cTn id="38" presetID="2" presetClass="entr" presetSubtype="2" accel="50000" decel="50000" fill="hold" nodeType="afterEffect">
                                  <p:stCondLst>
                                    <p:cond delay="0"/>
                                  </p:stCondLst>
                                  <p:childTnLst>
                                    <p:set>
                                      <p:cBhvr>
                                        <p:cTn id="39" dur="1" fill="hold">
                                          <p:stCondLst>
                                            <p:cond delay="0"/>
                                          </p:stCondLst>
                                        </p:cTn>
                                        <p:tgtEl>
                                          <p:spTgt spid="92"/>
                                        </p:tgtEl>
                                        <p:attrNameLst>
                                          <p:attrName>style.visibility</p:attrName>
                                        </p:attrNameLst>
                                      </p:cBhvr>
                                      <p:to>
                                        <p:strVal val="visible"/>
                                      </p:to>
                                    </p:set>
                                    <p:anim calcmode="lin" valueType="num">
                                      <p:cBhvr additive="base">
                                        <p:cTn id="40" dur="500" fill="hold"/>
                                        <p:tgtEl>
                                          <p:spTgt spid="92"/>
                                        </p:tgtEl>
                                        <p:attrNameLst>
                                          <p:attrName>ppt_x</p:attrName>
                                        </p:attrNameLst>
                                      </p:cBhvr>
                                      <p:tavLst>
                                        <p:tav tm="0">
                                          <p:val>
                                            <p:strVal val="1+#ppt_w/2"/>
                                          </p:val>
                                        </p:tav>
                                        <p:tav tm="100000">
                                          <p:val>
                                            <p:strVal val="#ppt_x"/>
                                          </p:val>
                                        </p:tav>
                                      </p:tavLst>
                                    </p:anim>
                                    <p:anim calcmode="lin" valueType="num">
                                      <p:cBhvr additive="base">
                                        <p:cTn id="41" dur="500" fill="hold"/>
                                        <p:tgtEl>
                                          <p:spTgt spid="92"/>
                                        </p:tgtEl>
                                        <p:attrNameLst>
                                          <p:attrName>ppt_y</p:attrName>
                                        </p:attrNameLst>
                                      </p:cBhvr>
                                      <p:tavLst>
                                        <p:tav tm="0">
                                          <p:val>
                                            <p:strVal val="#ppt_y"/>
                                          </p:val>
                                        </p:tav>
                                        <p:tav tm="100000">
                                          <p:val>
                                            <p:strVal val="#ppt_y"/>
                                          </p:val>
                                        </p:tav>
                                      </p:tavLst>
                                    </p:anim>
                                  </p:childTnLst>
                                </p:cTn>
                              </p:par>
                            </p:childTnLst>
                          </p:cTn>
                        </p:par>
                        <p:par>
                          <p:cTn id="42" fill="hold">
                            <p:stCondLst>
                              <p:cond delay="4000"/>
                            </p:stCondLst>
                            <p:childTnLst>
                              <p:par>
                                <p:cTn id="43" presetID="2" presetClass="entr" presetSubtype="8" accel="50000" decel="50000" fill="hold" nodeType="afterEffect">
                                  <p:stCondLst>
                                    <p:cond delay="0"/>
                                  </p:stCondLst>
                                  <p:childTnLst>
                                    <p:set>
                                      <p:cBhvr>
                                        <p:cTn id="44" dur="1" fill="hold">
                                          <p:stCondLst>
                                            <p:cond delay="0"/>
                                          </p:stCondLst>
                                        </p:cTn>
                                        <p:tgtEl>
                                          <p:spTgt spid="91"/>
                                        </p:tgtEl>
                                        <p:attrNameLst>
                                          <p:attrName>style.visibility</p:attrName>
                                        </p:attrNameLst>
                                      </p:cBhvr>
                                      <p:to>
                                        <p:strVal val="visible"/>
                                      </p:to>
                                    </p:set>
                                    <p:anim calcmode="lin" valueType="num">
                                      <p:cBhvr additive="base">
                                        <p:cTn id="45" dur="500" fill="hold"/>
                                        <p:tgtEl>
                                          <p:spTgt spid="91"/>
                                        </p:tgtEl>
                                        <p:attrNameLst>
                                          <p:attrName>ppt_x</p:attrName>
                                        </p:attrNameLst>
                                      </p:cBhvr>
                                      <p:tavLst>
                                        <p:tav tm="0">
                                          <p:val>
                                            <p:strVal val="0-#ppt_w/2"/>
                                          </p:val>
                                        </p:tav>
                                        <p:tav tm="100000">
                                          <p:val>
                                            <p:strVal val="#ppt_x"/>
                                          </p:val>
                                        </p:tav>
                                      </p:tavLst>
                                    </p:anim>
                                    <p:anim calcmode="lin" valueType="num">
                                      <p:cBhvr additive="base">
                                        <p:cTn id="46" dur="500" fill="hold"/>
                                        <p:tgtEl>
                                          <p:spTgt spid="91"/>
                                        </p:tgtEl>
                                        <p:attrNameLst>
                                          <p:attrName>ppt_y</p:attrName>
                                        </p:attrNameLst>
                                      </p:cBhvr>
                                      <p:tavLst>
                                        <p:tav tm="0">
                                          <p:val>
                                            <p:strVal val="#ppt_y"/>
                                          </p:val>
                                        </p:tav>
                                        <p:tav tm="100000">
                                          <p:val>
                                            <p:strVal val="#ppt_y"/>
                                          </p:val>
                                        </p:tav>
                                      </p:tavLst>
                                    </p:anim>
                                  </p:childTnLst>
                                </p:cTn>
                              </p:par>
                            </p:childTnLst>
                          </p:cTn>
                        </p:par>
                        <p:par>
                          <p:cTn id="47" fill="hold">
                            <p:stCondLst>
                              <p:cond delay="4500"/>
                            </p:stCondLst>
                            <p:childTnLst>
                              <p:par>
                                <p:cTn id="48" presetID="2" presetClass="entr" presetSubtype="2" accel="50000" decel="50000" fill="hold" nodeType="afterEffect">
                                  <p:stCondLst>
                                    <p:cond delay="0"/>
                                  </p:stCondLst>
                                  <p:childTnLst>
                                    <p:set>
                                      <p:cBhvr>
                                        <p:cTn id="49" dur="1" fill="hold">
                                          <p:stCondLst>
                                            <p:cond delay="0"/>
                                          </p:stCondLst>
                                        </p:cTn>
                                        <p:tgtEl>
                                          <p:spTgt spid="94"/>
                                        </p:tgtEl>
                                        <p:attrNameLst>
                                          <p:attrName>style.visibility</p:attrName>
                                        </p:attrNameLst>
                                      </p:cBhvr>
                                      <p:to>
                                        <p:strVal val="visible"/>
                                      </p:to>
                                    </p:set>
                                    <p:anim calcmode="lin" valueType="num">
                                      <p:cBhvr additive="base">
                                        <p:cTn id="50" dur="500" fill="hold"/>
                                        <p:tgtEl>
                                          <p:spTgt spid="94"/>
                                        </p:tgtEl>
                                        <p:attrNameLst>
                                          <p:attrName>ppt_x</p:attrName>
                                        </p:attrNameLst>
                                      </p:cBhvr>
                                      <p:tavLst>
                                        <p:tav tm="0">
                                          <p:val>
                                            <p:strVal val="1+#ppt_w/2"/>
                                          </p:val>
                                        </p:tav>
                                        <p:tav tm="100000">
                                          <p:val>
                                            <p:strVal val="#ppt_x"/>
                                          </p:val>
                                        </p:tav>
                                      </p:tavLst>
                                    </p:anim>
                                    <p:anim calcmode="lin" valueType="num">
                                      <p:cBhvr additive="base">
                                        <p:cTn id="51" dur="500" fill="hold"/>
                                        <p:tgtEl>
                                          <p:spTgt spid="94"/>
                                        </p:tgtEl>
                                        <p:attrNameLst>
                                          <p:attrName>ppt_y</p:attrName>
                                        </p:attrNameLst>
                                      </p:cBhvr>
                                      <p:tavLst>
                                        <p:tav tm="0">
                                          <p:val>
                                            <p:strVal val="#ppt_y"/>
                                          </p:val>
                                        </p:tav>
                                        <p:tav tm="100000">
                                          <p:val>
                                            <p:strVal val="#ppt_y"/>
                                          </p:val>
                                        </p:tav>
                                      </p:tavLst>
                                    </p:anim>
                                  </p:childTnLst>
                                </p:cTn>
                              </p:par>
                            </p:childTnLst>
                          </p:cTn>
                        </p:par>
                        <p:par>
                          <p:cTn id="52" fill="hold">
                            <p:stCondLst>
                              <p:cond delay="5000"/>
                            </p:stCondLst>
                            <p:childTnLst>
                              <p:par>
                                <p:cTn id="53" presetID="2" presetClass="entr" presetSubtype="8" accel="50000" decel="50000" fill="hold" nodeType="afterEffect">
                                  <p:stCondLst>
                                    <p:cond delay="0"/>
                                  </p:stCondLst>
                                  <p:childTnLst>
                                    <p:set>
                                      <p:cBhvr>
                                        <p:cTn id="54" dur="1" fill="hold">
                                          <p:stCondLst>
                                            <p:cond delay="0"/>
                                          </p:stCondLst>
                                        </p:cTn>
                                        <p:tgtEl>
                                          <p:spTgt spid="93"/>
                                        </p:tgtEl>
                                        <p:attrNameLst>
                                          <p:attrName>style.visibility</p:attrName>
                                        </p:attrNameLst>
                                      </p:cBhvr>
                                      <p:to>
                                        <p:strVal val="visible"/>
                                      </p:to>
                                    </p:set>
                                    <p:anim calcmode="lin" valueType="num">
                                      <p:cBhvr additive="base">
                                        <p:cTn id="55" dur="500" fill="hold"/>
                                        <p:tgtEl>
                                          <p:spTgt spid="93"/>
                                        </p:tgtEl>
                                        <p:attrNameLst>
                                          <p:attrName>ppt_x</p:attrName>
                                        </p:attrNameLst>
                                      </p:cBhvr>
                                      <p:tavLst>
                                        <p:tav tm="0">
                                          <p:val>
                                            <p:strVal val="0-#ppt_w/2"/>
                                          </p:val>
                                        </p:tav>
                                        <p:tav tm="100000">
                                          <p:val>
                                            <p:strVal val="#ppt_x"/>
                                          </p:val>
                                        </p:tav>
                                      </p:tavLst>
                                    </p:anim>
                                    <p:anim calcmode="lin" valueType="num">
                                      <p:cBhvr additive="base">
                                        <p:cTn id="56" dur="500" fill="hold"/>
                                        <p:tgtEl>
                                          <p:spTgt spid="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5" name="矩形 4"/>
          <p:cNvSpPr/>
          <p:nvPr/>
        </p:nvSpPr>
        <p:spPr>
          <a:xfrm flipV="1">
            <a:off x="128" y="6762496"/>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grpSp>
        <p:nvGrpSpPr>
          <p:cNvPr id="12" name="组合 11"/>
          <p:cNvGrpSpPr/>
          <p:nvPr/>
        </p:nvGrpSpPr>
        <p:grpSpPr>
          <a:xfrm>
            <a:off x="4093390" y="1271151"/>
            <a:ext cx="3528971" cy="3497262"/>
            <a:chOff x="4104482" y="2103438"/>
            <a:chExt cx="3975100" cy="3939382"/>
          </a:xfrm>
        </p:grpSpPr>
        <p:sp>
          <p:nvSpPr>
            <p:cNvPr id="13" name="AutoShape 2"/>
            <p:cNvSpPr/>
            <p:nvPr/>
          </p:nvSpPr>
          <p:spPr bwMode="auto">
            <a:xfrm>
              <a:off x="4918075" y="2886075"/>
              <a:ext cx="2374900" cy="2374900"/>
            </a:xfrm>
            <a:prstGeom prst="diamond">
              <a:avLst/>
            </a:prstGeom>
            <a:solidFill>
              <a:schemeClr val="tx1">
                <a:lumMod val="65000"/>
                <a:lumOff val="35000"/>
              </a:schemeClr>
            </a:solidFill>
            <a:ln w="25400">
              <a:solidFill>
                <a:schemeClr val="tx1">
                  <a:alpha val="0"/>
                </a:schemeClr>
              </a:solidFill>
              <a:miter lim="800000"/>
            </a:ln>
          </p:spPr>
          <p:txBody>
            <a:bodyPr lIns="0" tIns="0" rIns="0" bIns="0"/>
            <a:lstStyle>
              <a:lvl1pPr eaLnBrk="0" hangingPunct="0">
                <a:defRPr sz="5800">
                  <a:solidFill>
                    <a:srgbClr val="000000"/>
                  </a:solidFill>
                  <a:latin typeface="Gill Sans" charset="0"/>
                  <a:ea typeface="ヒラギノ角ゴ ProN W3" pitchFamily="2" charset="-128"/>
                  <a:sym typeface="Gill Sans" charset="0"/>
                </a:defRPr>
              </a:lvl1pPr>
              <a:lvl2pPr marL="742950" indent="-285750" eaLnBrk="0" hangingPunct="0">
                <a:defRPr sz="5800">
                  <a:solidFill>
                    <a:srgbClr val="000000"/>
                  </a:solidFill>
                  <a:latin typeface="Gill Sans" charset="0"/>
                  <a:ea typeface="ヒラギノ角ゴ ProN W3" pitchFamily="2" charset="-128"/>
                  <a:sym typeface="Gill Sans" charset="0"/>
                </a:defRPr>
              </a:lvl2pPr>
              <a:lvl3pPr marL="1143000" indent="-228600" eaLnBrk="0" hangingPunct="0">
                <a:defRPr sz="5800">
                  <a:solidFill>
                    <a:srgbClr val="000000"/>
                  </a:solidFill>
                  <a:latin typeface="Gill Sans" charset="0"/>
                  <a:ea typeface="ヒラギノ角ゴ ProN W3" pitchFamily="2" charset="-128"/>
                  <a:sym typeface="Gill Sans" charset="0"/>
                </a:defRPr>
              </a:lvl3pPr>
              <a:lvl4pPr marL="1600200" indent="-228600" eaLnBrk="0" hangingPunct="0">
                <a:defRPr sz="5800">
                  <a:solidFill>
                    <a:srgbClr val="000000"/>
                  </a:solidFill>
                  <a:latin typeface="Gill Sans" charset="0"/>
                  <a:ea typeface="ヒラギノ角ゴ ProN W3" pitchFamily="2" charset="-128"/>
                  <a:sym typeface="Gill Sans" charset="0"/>
                </a:defRPr>
              </a:lvl4pPr>
              <a:lvl5pPr marL="2057400" indent="-228600" eaLnBrk="0" hangingPunct="0">
                <a:defRPr sz="5800">
                  <a:solidFill>
                    <a:srgbClr val="000000"/>
                  </a:solidFill>
                  <a:latin typeface="Gill Sans" charset="0"/>
                  <a:ea typeface="ヒラギノ角ゴ ProN W3" pitchFamily="2" charset="-128"/>
                  <a:sym typeface="Gill Sans" charset="0"/>
                </a:defRPr>
              </a:lvl5pPr>
              <a:lvl6pPr marL="25146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6pPr>
              <a:lvl7pPr marL="29718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7pPr>
              <a:lvl8pPr marL="34290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8pPr>
              <a:lvl9pPr marL="38862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9pPr>
            </a:lstStyle>
            <a:p>
              <a:pPr algn="ctr" eaLnBrk="1" hangingPunct="1"/>
              <a:endParaRPr lang="es-ES" altLang="zh-CN" sz="2900">
                <a:solidFill>
                  <a:schemeClr val="tx1">
                    <a:lumMod val="75000"/>
                    <a:lumOff val="25000"/>
                  </a:schemeClr>
                </a:solidFill>
              </a:endParaRPr>
            </a:p>
          </p:txBody>
        </p:sp>
        <p:sp>
          <p:nvSpPr>
            <p:cNvPr id="14" name="AutoShape 3"/>
            <p:cNvSpPr/>
            <p:nvPr/>
          </p:nvSpPr>
          <p:spPr bwMode="auto">
            <a:xfrm>
              <a:off x="4373563" y="2301082"/>
              <a:ext cx="3432969" cy="3454400"/>
            </a:xfrm>
            <a:custGeom>
              <a:avLst/>
              <a:gdLst>
                <a:gd name="T0" fmla="*/ 2044558688 w 19679"/>
                <a:gd name="T1" fmla="*/ 355216379 h 19679"/>
                <a:gd name="T2" fmla="*/ 2044558688 w 19679"/>
                <a:gd name="T3" fmla="*/ 2070165274 h 19679"/>
                <a:gd name="T4" fmla="*/ 350822602 w 19679"/>
                <a:gd name="T5" fmla="*/ 2070165274 h 19679"/>
                <a:gd name="T6" fmla="*/ 350822602 w 19679"/>
                <a:gd name="T7" fmla="*/ 355216379 h 19679"/>
                <a:gd name="T8" fmla="*/ 2044558688 w 19679"/>
                <a:gd name="T9" fmla="*/ 355216379 h 19679"/>
                <a:gd name="T10" fmla="*/ 2044558688 w 19679"/>
                <a:gd name="T11" fmla="*/ 355216379 h 196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noFill/>
            <a:ln w="63500" cap="flat">
              <a:solidFill>
                <a:schemeClr val="tx1">
                  <a:lumMod val="65000"/>
                  <a:lumOff val="35000"/>
                </a:schemeClr>
              </a:solidFill>
              <a:prstDash val="solid"/>
              <a:bevel/>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900">
                <a:solidFill>
                  <a:schemeClr val="tx1">
                    <a:lumMod val="75000"/>
                    <a:lumOff val="25000"/>
                  </a:schemeClr>
                </a:solidFill>
              </a:endParaRPr>
            </a:p>
          </p:txBody>
        </p:sp>
        <p:sp>
          <p:nvSpPr>
            <p:cNvPr id="15" name="AutoShape 16"/>
            <p:cNvSpPr/>
            <p:nvPr/>
          </p:nvSpPr>
          <p:spPr bwMode="auto">
            <a:xfrm rot="10800000">
              <a:off x="5845175" y="5522913"/>
              <a:ext cx="516732" cy="519907"/>
            </a:xfrm>
            <a:custGeom>
              <a:avLst/>
              <a:gdLst>
                <a:gd name="T0" fmla="*/ 46322239 w 19679"/>
                <a:gd name="T1" fmla="*/ 8046332 h 19679"/>
                <a:gd name="T2" fmla="*/ 46322239 w 19679"/>
                <a:gd name="T3" fmla="*/ 46893247 h 19679"/>
                <a:gd name="T4" fmla="*/ 7948354 w 19679"/>
                <a:gd name="T5" fmla="*/ 46893247 h 19679"/>
                <a:gd name="T6" fmla="*/ 7948354 w 19679"/>
                <a:gd name="T7" fmla="*/ 8046332 h 19679"/>
                <a:gd name="T8" fmla="*/ 46322239 w 19679"/>
                <a:gd name="T9" fmla="*/ 8046332 h 19679"/>
                <a:gd name="T10" fmla="*/ 46322239 w 19679"/>
                <a:gd name="T11" fmla="*/ 8046332 h 196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FFFEFE"/>
            </a:solidFill>
            <a:ln w="63500" cap="flat">
              <a:solidFill>
                <a:schemeClr val="tx1">
                  <a:lumMod val="65000"/>
                  <a:lumOff val="35000"/>
                </a:schemeClr>
              </a:solidFill>
              <a:prstDash val="solid"/>
              <a:bevel/>
              <a:headEnd type="none" w="med" len="med"/>
              <a:tailEnd type="none" w="med" len="med"/>
            </a:ln>
          </p:spPr>
          <p:txBody>
            <a:bodyPr lIns="0" tIns="0" rIns="0" bIns="0"/>
            <a:lstStyle/>
            <a:p>
              <a:endParaRPr lang="zh-CN" altLang="en-US" sz="900">
                <a:solidFill>
                  <a:schemeClr val="tx1">
                    <a:lumMod val="75000"/>
                    <a:lumOff val="25000"/>
                  </a:schemeClr>
                </a:solidFill>
              </a:endParaRPr>
            </a:p>
          </p:txBody>
        </p:sp>
        <p:sp>
          <p:nvSpPr>
            <p:cNvPr id="16" name="AutoShape 17"/>
            <p:cNvSpPr/>
            <p:nvPr/>
          </p:nvSpPr>
          <p:spPr bwMode="auto">
            <a:xfrm rot="10800000">
              <a:off x="4591050" y="4989513"/>
              <a:ext cx="516732" cy="519907"/>
            </a:xfrm>
            <a:custGeom>
              <a:avLst/>
              <a:gdLst>
                <a:gd name="T0" fmla="*/ 46322239 w 19679"/>
                <a:gd name="T1" fmla="*/ 8046332 h 19679"/>
                <a:gd name="T2" fmla="*/ 46322239 w 19679"/>
                <a:gd name="T3" fmla="*/ 46893247 h 19679"/>
                <a:gd name="T4" fmla="*/ 7948354 w 19679"/>
                <a:gd name="T5" fmla="*/ 46893247 h 19679"/>
                <a:gd name="T6" fmla="*/ 7948354 w 19679"/>
                <a:gd name="T7" fmla="*/ 8046332 h 19679"/>
                <a:gd name="T8" fmla="*/ 46322239 w 19679"/>
                <a:gd name="T9" fmla="*/ 8046332 h 19679"/>
                <a:gd name="T10" fmla="*/ 46322239 w 19679"/>
                <a:gd name="T11" fmla="*/ 8046332 h 196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FFFEFE"/>
            </a:solidFill>
            <a:ln w="63500" cap="flat">
              <a:solidFill>
                <a:schemeClr val="tx1">
                  <a:lumMod val="65000"/>
                  <a:lumOff val="35000"/>
                </a:schemeClr>
              </a:solidFill>
              <a:prstDash val="solid"/>
              <a:bevel/>
              <a:headEnd type="none" w="med" len="med"/>
              <a:tailEnd type="none" w="med" len="med"/>
            </a:ln>
          </p:spPr>
          <p:txBody>
            <a:bodyPr lIns="0" tIns="0" rIns="0" bIns="0"/>
            <a:lstStyle/>
            <a:p>
              <a:endParaRPr lang="zh-CN" altLang="en-US" sz="900">
                <a:solidFill>
                  <a:schemeClr val="tx1">
                    <a:lumMod val="75000"/>
                    <a:lumOff val="25000"/>
                  </a:schemeClr>
                </a:solidFill>
              </a:endParaRPr>
            </a:p>
          </p:txBody>
        </p:sp>
        <p:sp>
          <p:nvSpPr>
            <p:cNvPr id="17" name="AutoShape 18"/>
            <p:cNvSpPr/>
            <p:nvPr/>
          </p:nvSpPr>
          <p:spPr bwMode="auto">
            <a:xfrm rot="10800000">
              <a:off x="7004050" y="5008563"/>
              <a:ext cx="516732" cy="519907"/>
            </a:xfrm>
            <a:custGeom>
              <a:avLst/>
              <a:gdLst>
                <a:gd name="T0" fmla="*/ 46322239 w 19679"/>
                <a:gd name="T1" fmla="*/ 8046332 h 19679"/>
                <a:gd name="T2" fmla="*/ 46322239 w 19679"/>
                <a:gd name="T3" fmla="*/ 46893247 h 19679"/>
                <a:gd name="T4" fmla="*/ 7948354 w 19679"/>
                <a:gd name="T5" fmla="*/ 46893247 h 19679"/>
                <a:gd name="T6" fmla="*/ 7948354 w 19679"/>
                <a:gd name="T7" fmla="*/ 8046332 h 19679"/>
                <a:gd name="T8" fmla="*/ 46322239 w 19679"/>
                <a:gd name="T9" fmla="*/ 8046332 h 19679"/>
                <a:gd name="T10" fmla="*/ 46322239 w 19679"/>
                <a:gd name="T11" fmla="*/ 8046332 h 196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FFFEFE"/>
            </a:solidFill>
            <a:ln w="63500" cap="flat">
              <a:solidFill>
                <a:schemeClr val="tx1">
                  <a:lumMod val="65000"/>
                  <a:lumOff val="35000"/>
                </a:schemeClr>
              </a:solidFill>
              <a:prstDash val="solid"/>
              <a:bevel/>
              <a:headEnd type="none" w="med" len="med"/>
              <a:tailEnd type="none" w="med" len="med"/>
            </a:ln>
          </p:spPr>
          <p:txBody>
            <a:bodyPr lIns="0" tIns="0" rIns="0" bIns="0"/>
            <a:lstStyle/>
            <a:p>
              <a:endParaRPr lang="zh-CN" altLang="en-US" sz="900">
                <a:solidFill>
                  <a:schemeClr val="tx1">
                    <a:lumMod val="75000"/>
                    <a:lumOff val="25000"/>
                  </a:schemeClr>
                </a:solidFill>
              </a:endParaRPr>
            </a:p>
          </p:txBody>
        </p:sp>
        <p:sp>
          <p:nvSpPr>
            <p:cNvPr id="18" name="AutoShape 19"/>
            <p:cNvSpPr/>
            <p:nvPr/>
          </p:nvSpPr>
          <p:spPr bwMode="auto">
            <a:xfrm>
              <a:off x="5947569" y="5634832"/>
              <a:ext cx="310356" cy="257969"/>
            </a:xfrm>
            <a:custGeom>
              <a:avLst/>
              <a:gdLst>
                <a:gd name="T0" fmla="*/ 17619197 w 21600"/>
                <a:gd name="T1" fmla="*/ 8178127 h 21600"/>
                <a:gd name="T2" fmla="*/ 17837194 w 21600"/>
                <a:gd name="T3" fmla="*/ 11698346 h 21600"/>
                <a:gd name="T4" fmla="*/ 17101420 w 21600"/>
                <a:gd name="T5" fmla="*/ 12323657 h 21600"/>
                <a:gd name="T6" fmla="*/ 12852675 w 21600"/>
                <a:gd name="T7" fmla="*/ 12144512 h 21600"/>
                <a:gd name="T8" fmla="*/ 12647898 w 21600"/>
                <a:gd name="T9" fmla="*/ 8624269 h 21600"/>
                <a:gd name="T10" fmla="*/ 13376257 w 21600"/>
                <a:gd name="T11" fmla="*/ 7998958 h 21600"/>
                <a:gd name="T12" fmla="*/ 14690098 w 21600"/>
                <a:gd name="T13" fmla="*/ 6771745 h 21600"/>
                <a:gd name="T14" fmla="*/ 9474364 w 21600"/>
                <a:gd name="T15" fmla="*/ 6619400 h 21600"/>
                <a:gd name="T16" fmla="*/ 10779928 w 21600"/>
                <a:gd name="T17" fmla="*/ 7998958 h 21600"/>
                <a:gd name="T18" fmla="*/ 11515731 w 21600"/>
                <a:gd name="T19" fmla="*/ 8624269 h 21600"/>
                <a:gd name="T20" fmla="*/ 11297706 w 21600"/>
                <a:gd name="T21" fmla="*/ 12144512 h 21600"/>
                <a:gd name="T22" fmla="*/ 7054765 w 21600"/>
                <a:gd name="T23" fmla="*/ 12323657 h 21600"/>
                <a:gd name="T24" fmla="*/ 6318992 w 21600"/>
                <a:gd name="T25" fmla="*/ 11698346 h 21600"/>
                <a:gd name="T26" fmla="*/ 6535350 w 21600"/>
                <a:gd name="T27" fmla="*/ 8178127 h 21600"/>
                <a:gd name="T28" fmla="*/ 8360358 w 21600"/>
                <a:gd name="T29" fmla="*/ 7998958 h 21600"/>
                <a:gd name="T30" fmla="*/ 3349431 w 21600"/>
                <a:gd name="T31" fmla="*/ 6619400 h 21600"/>
                <a:gd name="T32" fmla="*/ 3155372 w 21600"/>
                <a:gd name="T33" fmla="*/ 7998958 h 21600"/>
                <a:gd name="T34" fmla="*/ 4999375 w 21600"/>
                <a:gd name="T35" fmla="*/ 8178127 h 21600"/>
                <a:gd name="T36" fmla="*/ 5215734 w 21600"/>
                <a:gd name="T37" fmla="*/ 11698346 h 21600"/>
                <a:gd name="T38" fmla="*/ 4460936 w 21600"/>
                <a:gd name="T39" fmla="*/ 12323657 h 21600"/>
                <a:gd name="T40" fmla="*/ 216358 w 21600"/>
                <a:gd name="T41" fmla="*/ 12144512 h 21600"/>
                <a:gd name="T42" fmla="*/ 0 w 21600"/>
                <a:gd name="T43" fmla="*/ 8624269 h 21600"/>
                <a:gd name="T44" fmla="*/ 753964 w 21600"/>
                <a:gd name="T45" fmla="*/ 7998958 h 21600"/>
                <a:gd name="T46" fmla="*/ 2041367 w 21600"/>
                <a:gd name="T47" fmla="*/ 6771745 h 21600"/>
                <a:gd name="T48" fmla="*/ 3347764 w 21600"/>
                <a:gd name="T49" fmla="*/ 5704257 h 21600"/>
                <a:gd name="T50" fmla="*/ 8358720 w 21600"/>
                <a:gd name="T51" fmla="*/ 4308146 h 21600"/>
                <a:gd name="T52" fmla="*/ 6533712 w 21600"/>
                <a:gd name="T53" fmla="*/ 4135283 h 21600"/>
                <a:gd name="T54" fmla="*/ 6317354 w 21600"/>
                <a:gd name="T55" fmla="*/ 608185 h 21600"/>
                <a:gd name="T56" fmla="*/ 7053127 w 21600"/>
                <a:gd name="T57" fmla="*/ 0 h 21600"/>
                <a:gd name="T58" fmla="*/ 11296068 w 21600"/>
                <a:gd name="T59" fmla="*/ 179145 h 21600"/>
                <a:gd name="T60" fmla="*/ 11514064 w 21600"/>
                <a:gd name="T61" fmla="*/ 3699388 h 21600"/>
                <a:gd name="T62" fmla="*/ 10778290 w 21600"/>
                <a:gd name="T63" fmla="*/ 4308146 h 21600"/>
                <a:gd name="T64" fmla="*/ 9472697 w 21600"/>
                <a:gd name="T65" fmla="*/ 5704257 h 21600"/>
                <a:gd name="T66" fmla="*/ 15403572 w 21600"/>
                <a:gd name="T67" fmla="*/ 6012911 h 21600"/>
                <a:gd name="T68" fmla="*/ 15791689 w 21600"/>
                <a:gd name="T69" fmla="*/ 7998958 h 21600"/>
                <a:gd name="T70" fmla="*/ 17101420 w 21600"/>
                <a:gd name="T71" fmla="*/ 7998958 h 216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1600" h="21600">
                  <a:moveTo>
                    <a:pt x="20709" y="14020"/>
                  </a:moveTo>
                  <a:cubicBezTo>
                    <a:pt x="20951" y="14020"/>
                    <a:pt x="21162" y="14126"/>
                    <a:pt x="21336" y="14334"/>
                  </a:cubicBezTo>
                  <a:cubicBezTo>
                    <a:pt x="21512" y="14549"/>
                    <a:pt x="21600" y="14810"/>
                    <a:pt x="21600" y="15116"/>
                  </a:cubicBezTo>
                  <a:lnTo>
                    <a:pt x="21600" y="20504"/>
                  </a:lnTo>
                  <a:cubicBezTo>
                    <a:pt x="21600" y="20816"/>
                    <a:pt x="21512" y="21071"/>
                    <a:pt x="21336" y="21286"/>
                  </a:cubicBezTo>
                  <a:cubicBezTo>
                    <a:pt x="21162" y="21494"/>
                    <a:pt x="20951" y="21600"/>
                    <a:pt x="20709" y="21600"/>
                  </a:cubicBezTo>
                  <a:lnTo>
                    <a:pt x="16198" y="21600"/>
                  </a:lnTo>
                  <a:cubicBezTo>
                    <a:pt x="15940" y="21600"/>
                    <a:pt x="15730" y="21494"/>
                    <a:pt x="15564" y="21286"/>
                  </a:cubicBezTo>
                  <a:cubicBezTo>
                    <a:pt x="15400" y="21071"/>
                    <a:pt x="15316" y="20816"/>
                    <a:pt x="15316" y="20504"/>
                  </a:cubicBezTo>
                  <a:lnTo>
                    <a:pt x="15316" y="15116"/>
                  </a:lnTo>
                  <a:cubicBezTo>
                    <a:pt x="15316" y="14810"/>
                    <a:pt x="15400" y="14549"/>
                    <a:pt x="15571" y="14334"/>
                  </a:cubicBezTo>
                  <a:cubicBezTo>
                    <a:pt x="15737" y="14126"/>
                    <a:pt x="15945" y="14020"/>
                    <a:pt x="16198" y="14020"/>
                  </a:cubicBezTo>
                  <a:lnTo>
                    <a:pt x="17789" y="14020"/>
                  </a:lnTo>
                  <a:lnTo>
                    <a:pt x="17789" y="11869"/>
                  </a:lnTo>
                  <a:cubicBezTo>
                    <a:pt x="17789" y="11699"/>
                    <a:pt x="17708" y="11611"/>
                    <a:pt x="17544" y="11602"/>
                  </a:cubicBezTo>
                  <a:lnTo>
                    <a:pt x="11473" y="11602"/>
                  </a:lnTo>
                  <a:lnTo>
                    <a:pt x="11473" y="14020"/>
                  </a:lnTo>
                  <a:lnTo>
                    <a:pt x="13054" y="14020"/>
                  </a:lnTo>
                  <a:cubicBezTo>
                    <a:pt x="13297" y="14020"/>
                    <a:pt x="13507" y="14126"/>
                    <a:pt x="13681" y="14334"/>
                  </a:cubicBezTo>
                  <a:cubicBezTo>
                    <a:pt x="13857" y="14549"/>
                    <a:pt x="13945" y="14810"/>
                    <a:pt x="13945" y="15116"/>
                  </a:cubicBezTo>
                  <a:lnTo>
                    <a:pt x="13945" y="20504"/>
                  </a:lnTo>
                  <a:cubicBezTo>
                    <a:pt x="13945" y="20816"/>
                    <a:pt x="13857" y="21071"/>
                    <a:pt x="13681" y="21286"/>
                  </a:cubicBezTo>
                  <a:cubicBezTo>
                    <a:pt x="13507" y="21494"/>
                    <a:pt x="13297" y="21600"/>
                    <a:pt x="13054" y="21600"/>
                  </a:cubicBezTo>
                  <a:lnTo>
                    <a:pt x="8543" y="21600"/>
                  </a:lnTo>
                  <a:cubicBezTo>
                    <a:pt x="8298" y="21600"/>
                    <a:pt x="8090" y="21494"/>
                    <a:pt x="7914" y="21286"/>
                  </a:cubicBezTo>
                  <a:cubicBezTo>
                    <a:pt x="7740" y="21071"/>
                    <a:pt x="7652" y="20816"/>
                    <a:pt x="7652" y="20504"/>
                  </a:cubicBezTo>
                  <a:lnTo>
                    <a:pt x="7652" y="15116"/>
                  </a:lnTo>
                  <a:cubicBezTo>
                    <a:pt x="7652" y="14810"/>
                    <a:pt x="7740" y="14549"/>
                    <a:pt x="7914" y="14334"/>
                  </a:cubicBezTo>
                  <a:cubicBezTo>
                    <a:pt x="8090" y="14126"/>
                    <a:pt x="8298" y="14020"/>
                    <a:pt x="8543" y="14020"/>
                  </a:cubicBezTo>
                  <a:lnTo>
                    <a:pt x="10124" y="14020"/>
                  </a:lnTo>
                  <a:lnTo>
                    <a:pt x="10124" y="11602"/>
                  </a:lnTo>
                  <a:lnTo>
                    <a:pt x="4056" y="11602"/>
                  </a:lnTo>
                  <a:cubicBezTo>
                    <a:pt x="3902" y="11602"/>
                    <a:pt x="3821" y="11690"/>
                    <a:pt x="3821" y="11869"/>
                  </a:cubicBezTo>
                  <a:lnTo>
                    <a:pt x="3821" y="14020"/>
                  </a:lnTo>
                  <a:lnTo>
                    <a:pt x="5402" y="14020"/>
                  </a:lnTo>
                  <a:cubicBezTo>
                    <a:pt x="5662" y="14020"/>
                    <a:pt x="5875" y="14126"/>
                    <a:pt x="6054" y="14334"/>
                  </a:cubicBezTo>
                  <a:cubicBezTo>
                    <a:pt x="6230" y="14549"/>
                    <a:pt x="6316" y="14810"/>
                    <a:pt x="6316" y="15116"/>
                  </a:cubicBezTo>
                  <a:lnTo>
                    <a:pt x="6316" y="20504"/>
                  </a:lnTo>
                  <a:cubicBezTo>
                    <a:pt x="6316" y="20816"/>
                    <a:pt x="6230" y="21071"/>
                    <a:pt x="6054" y="21286"/>
                  </a:cubicBezTo>
                  <a:cubicBezTo>
                    <a:pt x="5877" y="21494"/>
                    <a:pt x="5664" y="21600"/>
                    <a:pt x="5402" y="21600"/>
                  </a:cubicBezTo>
                  <a:lnTo>
                    <a:pt x="913" y="21600"/>
                  </a:lnTo>
                  <a:cubicBezTo>
                    <a:pt x="658" y="21600"/>
                    <a:pt x="441" y="21494"/>
                    <a:pt x="262" y="21286"/>
                  </a:cubicBezTo>
                  <a:cubicBezTo>
                    <a:pt x="88" y="21071"/>
                    <a:pt x="0" y="20816"/>
                    <a:pt x="0" y="20504"/>
                  </a:cubicBezTo>
                  <a:lnTo>
                    <a:pt x="0" y="15116"/>
                  </a:lnTo>
                  <a:cubicBezTo>
                    <a:pt x="0" y="14810"/>
                    <a:pt x="88" y="14549"/>
                    <a:pt x="262" y="14334"/>
                  </a:cubicBezTo>
                  <a:cubicBezTo>
                    <a:pt x="438" y="14126"/>
                    <a:pt x="656" y="14020"/>
                    <a:pt x="913" y="14020"/>
                  </a:cubicBezTo>
                  <a:lnTo>
                    <a:pt x="2472" y="14020"/>
                  </a:lnTo>
                  <a:lnTo>
                    <a:pt x="2472" y="11869"/>
                  </a:lnTo>
                  <a:cubicBezTo>
                    <a:pt x="2472" y="11352"/>
                    <a:pt x="2629" y="10912"/>
                    <a:pt x="2942" y="10544"/>
                  </a:cubicBezTo>
                  <a:cubicBezTo>
                    <a:pt x="3253" y="10180"/>
                    <a:pt x="3623" y="9998"/>
                    <a:pt x="4054" y="9998"/>
                  </a:cubicBezTo>
                  <a:lnTo>
                    <a:pt x="10122" y="9998"/>
                  </a:lnTo>
                  <a:lnTo>
                    <a:pt x="10122" y="7551"/>
                  </a:lnTo>
                  <a:lnTo>
                    <a:pt x="8541" y="7551"/>
                  </a:lnTo>
                  <a:cubicBezTo>
                    <a:pt x="8296" y="7551"/>
                    <a:pt x="8088" y="7451"/>
                    <a:pt x="7912" y="7248"/>
                  </a:cubicBezTo>
                  <a:cubicBezTo>
                    <a:pt x="7738" y="7045"/>
                    <a:pt x="7650" y="6790"/>
                    <a:pt x="7650" y="6484"/>
                  </a:cubicBezTo>
                  <a:lnTo>
                    <a:pt x="7650" y="1066"/>
                  </a:lnTo>
                  <a:cubicBezTo>
                    <a:pt x="7650" y="776"/>
                    <a:pt x="7738" y="523"/>
                    <a:pt x="7912" y="314"/>
                  </a:cubicBezTo>
                  <a:cubicBezTo>
                    <a:pt x="8088" y="103"/>
                    <a:pt x="8296" y="0"/>
                    <a:pt x="8541" y="0"/>
                  </a:cubicBezTo>
                  <a:lnTo>
                    <a:pt x="13052" y="0"/>
                  </a:lnTo>
                  <a:cubicBezTo>
                    <a:pt x="13294" y="0"/>
                    <a:pt x="13505" y="103"/>
                    <a:pt x="13679" y="314"/>
                  </a:cubicBezTo>
                  <a:cubicBezTo>
                    <a:pt x="13855" y="523"/>
                    <a:pt x="13943" y="776"/>
                    <a:pt x="13943" y="1066"/>
                  </a:cubicBezTo>
                  <a:lnTo>
                    <a:pt x="13943" y="6484"/>
                  </a:lnTo>
                  <a:cubicBezTo>
                    <a:pt x="13943" y="6790"/>
                    <a:pt x="13855" y="7045"/>
                    <a:pt x="13679" y="7248"/>
                  </a:cubicBezTo>
                  <a:cubicBezTo>
                    <a:pt x="13505" y="7451"/>
                    <a:pt x="13294" y="7551"/>
                    <a:pt x="13052" y="7551"/>
                  </a:cubicBezTo>
                  <a:lnTo>
                    <a:pt x="11471" y="7551"/>
                  </a:lnTo>
                  <a:lnTo>
                    <a:pt x="11471" y="9998"/>
                  </a:lnTo>
                  <a:lnTo>
                    <a:pt x="17541" y="9998"/>
                  </a:lnTo>
                  <a:cubicBezTo>
                    <a:pt x="17970" y="9998"/>
                    <a:pt x="18339" y="10177"/>
                    <a:pt x="18653" y="10539"/>
                  </a:cubicBezTo>
                  <a:cubicBezTo>
                    <a:pt x="18966" y="10900"/>
                    <a:pt x="19123" y="11344"/>
                    <a:pt x="19123" y="11869"/>
                  </a:cubicBezTo>
                  <a:lnTo>
                    <a:pt x="19123" y="14020"/>
                  </a:lnTo>
                  <a:lnTo>
                    <a:pt x="20709" y="14020"/>
                  </a:lnTo>
                  <a:close/>
                  <a:moveTo>
                    <a:pt x="20709" y="14020"/>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19" name="AutoShape 20"/>
            <p:cNvSpPr/>
            <p:nvPr/>
          </p:nvSpPr>
          <p:spPr bwMode="auto">
            <a:xfrm>
              <a:off x="4693444" y="5109369"/>
              <a:ext cx="309563" cy="257969"/>
            </a:xfrm>
            <a:custGeom>
              <a:avLst/>
              <a:gdLst>
                <a:gd name="T0" fmla="*/ 17746100 w 21600"/>
                <a:gd name="T1" fmla="*/ 5368360 h 21579"/>
                <a:gd name="T2" fmla="*/ 17432267 w 21600"/>
                <a:gd name="T3" fmla="*/ 6114950 h 21579"/>
                <a:gd name="T4" fmla="*/ 16647641 w 21600"/>
                <a:gd name="T5" fmla="*/ 6532835 h 21579"/>
                <a:gd name="T6" fmla="*/ 16647641 w 21600"/>
                <a:gd name="T7" fmla="*/ 9495689 h 21579"/>
                <a:gd name="T8" fmla="*/ 16209753 w 21600"/>
                <a:gd name="T9" fmla="*/ 10362876 h 21579"/>
                <a:gd name="T10" fmla="*/ 15165524 w 21600"/>
                <a:gd name="T11" fmla="*/ 10723595 h 21579"/>
                <a:gd name="T12" fmla="*/ 13586440 w 21600"/>
                <a:gd name="T13" fmla="*/ 9663173 h 21579"/>
                <a:gd name="T14" fmla="*/ 11597415 w 21600"/>
                <a:gd name="T15" fmla="*/ 8720528 h 21579"/>
                <a:gd name="T16" fmla="*/ 9407088 w 21600"/>
                <a:gd name="T17" fmla="*/ 7985392 h 21579"/>
                <a:gd name="T18" fmla="*/ 7220861 w 21600"/>
                <a:gd name="T19" fmla="*/ 7584649 h 21579"/>
                <a:gd name="T20" fmla="*/ 6547161 w 21600"/>
                <a:gd name="T21" fmla="*/ 7905368 h 21579"/>
                <a:gd name="T22" fmla="*/ 6190591 w 21600"/>
                <a:gd name="T23" fmla="*/ 8406696 h 21579"/>
                <a:gd name="T24" fmla="*/ 6170870 w 21600"/>
                <a:gd name="T25" fmla="*/ 8973775 h 21579"/>
                <a:gd name="T26" fmla="*/ 6529074 w 21600"/>
                <a:gd name="T27" fmla="*/ 9495689 h 21579"/>
                <a:gd name="T28" fmla="*/ 6307250 w 21600"/>
                <a:gd name="T29" fmla="*/ 10102792 h 21579"/>
                <a:gd name="T30" fmla="*/ 6504453 w 21600"/>
                <a:gd name="T31" fmla="*/ 10636135 h 21579"/>
                <a:gd name="T32" fmla="*/ 6981781 w 21600"/>
                <a:gd name="T33" fmla="*/ 11129478 h 21579"/>
                <a:gd name="T34" fmla="*/ 7616843 w 21600"/>
                <a:gd name="T35" fmla="*/ 11599365 h 21579"/>
                <a:gd name="T36" fmla="*/ 6947270 w 21600"/>
                <a:gd name="T37" fmla="*/ 12126420 h 21579"/>
                <a:gd name="T38" fmla="*/ 5925227 w 21600"/>
                <a:gd name="T39" fmla="*/ 12331083 h 21579"/>
                <a:gd name="T40" fmla="*/ 4861278 w 21600"/>
                <a:gd name="T41" fmla="*/ 12247042 h 21579"/>
                <a:gd name="T42" fmla="*/ 4044635 w 21600"/>
                <a:gd name="T43" fmla="*/ 11896629 h 21579"/>
                <a:gd name="T44" fmla="*/ 3658484 w 21600"/>
                <a:gd name="T45" fmla="*/ 10893374 h 21579"/>
                <a:gd name="T46" fmla="*/ 3312605 w 21600"/>
                <a:gd name="T47" fmla="*/ 9846103 h 21579"/>
                <a:gd name="T48" fmla="*/ 3177860 w 21600"/>
                <a:gd name="T49" fmla="*/ 8735400 h 21579"/>
                <a:gd name="T50" fmla="*/ 3409544 w 21600"/>
                <a:gd name="T51" fmla="*/ 7519497 h 21579"/>
                <a:gd name="T52" fmla="*/ 1482116 w 21600"/>
                <a:gd name="T53" fmla="*/ 7519497 h 21579"/>
                <a:gd name="T54" fmla="*/ 438719 w 21600"/>
                <a:gd name="T55" fmla="*/ 7158778 h 21579"/>
                <a:gd name="T56" fmla="*/ 0 w 21600"/>
                <a:gd name="T57" fmla="*/ 6283008 h 21579"/>
                <a:gd name="T58" fmla="*/ 0 w 21600"/>
                <a:gd name="T59" fmla="*/ 4444006 h 21579"/>
                <a:gd name="T60" fmla="*/ 432155 w 21600"/>
                <a:gd name="T61" fmla="*/ 3569957 h 21579"/>
                <a:gd name="T62" fmla="*/ 1482116 w 21600"/>
                <a:gd name="T63" fmla="*/ 3204098 h 21579"/>
                <a:gd name="T64" fmla="*/ 6287530 w 21600"/>
                <a:gd name="T65" fmla="*/ 3204098 h 21579"/>
                <a:gd name="T66" fmla="*/ 8647113 w 21600"/>
                <a:gd name="T67" fmla="*/ 2936004 h 21579"/>
                <a:gd name="T68" fmla="*/ 11100338 w 21600"/>
                <a:gd name="T69" fmla="*/ 2214567 h 21579"/>
                <a:gd name="T70" fmla="*/ 13369546 w 21600"/>
                <a:gd name="T71" fmla="*/ 1184463 h 21579"/>
                <a:gd name="T72" fmla="*/ 15165524 w 21600"/>
                <a:gd name="T73" fmla="*/ 0 h 21579"/>
                <a:gd name="T74" fmla="*/ 16209753 w 21600"/>
                <a:gd name="T75" fmla="*/ 362416 h 21579"/>
                <a:gd name="T76" fmla="*/ 16647641 w 21600"/>
                <a:gd name="T77" fmla="*/ 1238187 h 21579"/>
                <a:gd name="T78" fmla="*/ 16647641 w 21600"/>
                <a:gd name="T79" fmla="*/ 4192481 h 21579"/>
                <a:gd name="T80" fmla="*/ 17432267 w 21600"/>
                <a:gd name="T81" fmla="*/ 4613786 h 21579"/>
                <a:gd name="T82" fmla="*/ 17746100 w 21600"/>
                <a:gd name="T83" fmla="*/ 5368360 h 21579"/>
                <a:gd name="T84" fmla="*/ 15165524 w 21600"/>
                <a:gd name="T85" fmla="*/ 1632067 h 21579"/>
                <a:gd name="T86" fmla="*/ 13566720 w 21600"/>
                <a:gd name="T87" fmla="*/ 2544993 h 21579"/>
                <a:gd name="T88" fmla="*/ 11732132 w 21600"/>
                <a:gd name="T89" fmla="*/ 3335001 h 21579"/>
                <a:gd name="T90" fmla="*/ 9758700 w 21600"/>
                <a:gd name="T91" fmla="*/ 3957549 h 21579"/>
                <a:gd name="T92" fmla="*/ 7769675 w 21600"/>
                <a:gd name="T93" fmla="*/ 4346839 h 21579"/>
                <a:gd name="T94" fmla="*/ 7769675 w 21600"/>
                <a:gd name="T95" fmla="*/ 6387060 h 21579"/>
                <a:gd name="T96" fmla="*/ 9758700 w 21600"/>
                <a:gd name="T97" fmla="*/ 6780917 h 21579"/>
                <a:gd name="T98" fmla="*/ 11732132 w 21600"/>
                <a:gd name="T99" fmla="*/ 7406884 h 21579"/>
                <a:gd name="T100" fmla="*/ 13576580 w 21600"/>
                <a:gd name="T101" fmla="*/ 8202033 h 21579"/>
                <a:gd name="T102" fmla="*/ 15165524 w 21600"/>
                <a:gd name="T103" fmla="*/ 9101259 h 21579"/>
                <a:gd name="T104" fmla="*/ 15165524 w 21600"/>
                <a:gd name="T105" fmla="*/ 1632067 h 21579"/>
                <a:gd name="T106" fmla="*/ 15165524 w 21600"/>
                <a:gd name="T107" fmla="*/ 1632067 h 2157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1600" h="21579">
                  <a:moveTo>
                    <a:pt x="21600" y="9391"/>
                  </a:moveTo>
                  <a:cubicBezTo>
                    <a:pt x="21600" y="9887"/>
                    <a:pt x="21473" y="10321"/>
                    <a:pt x="21218" y="10697"/>
                  </a:cubicBezTo>
                  <a:cubicBezTo>
                    <a:pt x="20963" y="11073"/>
                    <a:pt x="20648" y="11313"/>
                    <a:pt x="20263" y="11428"/>
                  </a:cubicBezTo>
                  <a:lnTo>
                    <a:pt x="20263" y="16611"/>
                  </a:lnTo>
                  <a:cubicBezTo>
                    <a:pt x="20263" y="17201"/>
                    <a:pt x="20087" y="17708"/>
                    <a:pt x="19730" y="18128"/>
                  </a:cubicBezTo>
                  <a:cubicBezTo>
                    <a:pt x="19375" y="18551"/>
                    <a:pt x="18951" y="18759"/>
                    <a:pt x="18459" y="18759"/>
                  </a:cubicBezTo>
                  <a:cubicBezTo>
                    <a:pt x="17928" y="18122"/>
                    <a:pt x="17286" y="17506"/>
                    <a:pt x="16537" y="16904"/>
                  </a:cubicBezTo>
                  <a:cubicBezTo>
                    <a:pt x="15786" y="16305"/>
                    <a:pt x="14980" y="15757"/>
                    <a:pt x="14116" y="15255"/>
                  </a:cubicBezTo>
                  <a:cubicBezTo>
                    <a:pt x="13254" y="14756"/>
                    <a:pt x="12363" y="14325"/>
                    <a:pt x="11450" y="13969"/>
                  </a:cubicBezTo>
                  <a:cubicBezTo>
                    <a:pt x="10537" y="13614"/>
                    <a:pt x="9648" y="13380"/>
                    <a:pt x="8789" y="13268"/>
                  </a:cubicBezTo>
                  <a:cubicBezTo>
                    <a:pt x="8453" y="13380"/>
                    <a:pt x="8179" y="13564"/>
                    <a:pt x="7969" y="13829"/>
                  </a:cubicBezTo>
                  <a:cubicBezTo>
                    <a:pt x="7758" y="14093"/>
                    <a:pt x="7614" y="14386"/>
                    <a:pt x="7535" y="14706"/>
                  </a:cubicBezTo>
                  <a:cubicBezTo>
                    <a:pt x="7457" y="15029"/>
                    <a:pt x="7450" y="15361"/>
                    <a:pt x="7511" y="15698"/>
                  </a:cubicBezTo>
                  <a:cubicBezTo>
                    <a:pt x="7575" y="16036"/>
                    <a:pt x="7719" y="16341"/>
                    <a:pt x="7947" y="16611"/>
                  </a:cubicBezTo>
                  <a:cubicBezTo>
                    <a:pt x="7751" y="16992"/>
                    <a:pt x="7660" y="17347"/>
                    <a:pt x="7677" y="17673"/>
                  </a:cubicBezTo>
                  <a:cubicBezTo>
                    <a:pt x="7692" y="17993"/>
                    <a:pt x="7773" y="18307"/>
                    <a:pt x="7917" y="18606"/>
                  </a:cubicBezTo>
                  <a:cubicBezTo>
                    <a:pt x="8059" y="18909"/>
                    <a:pt x="8255" y="19193"/>
                    <a:pt x="8498" y="19469"/>
                  </a:cubicBezTo>
                  <a:cubicBezTo>
                    <a:pt x="8737" y="19745"/>
                    <a:pt x="8997" y="20021"/>
                    <a:pt x="9271" y="20291"/>
                  </a:cubicBezTo>
                  <a:cubicBezTo>
                    <a:pt x="9114" y="20696"/>
                    <a:pt x="8843" y="21001"/>
                    <a:pt x="8456" y="21213"/>
                  </a:cubicBezTo>
                  <a:cubicBezTo>
                    <a:pt x="8069" y="21424"/>
                    <a:pt x="7655" y="21541"/>
                    <a:pt x="7212" y="21571"/>
                  </a:cubicBezTo>
                  <a:cubicBezTo>
                    <a:pt x="6772" y="21600"/>
                    <a:pt x="6341" y="21550"/>
                    <a:pt x="5917" y="21424"/>
                  </a:cubicBezTo>
                  <a:cubicBezTo>
                    <a:pt x="5496" y="21295"/>
                    <a:pt x="5163" y="21092"/>
                    <a:pt x="4923" y="20811"/>
                  </a:cubicBezTo>
                  <a:cubicBezTo>
                    <a:pt x="4781" y="20241"/>
                    <a:pt x="4625" y="19657"/>
                    <a:pt x="4453" y="19056"/>
                  </a:cubicBezTo>
                  <a:cubicBezTo>
                    <a:pt x="4282" y="18454"/>
                    <a:pt x="4140" y="17843"/>
                    <a:pt x="4032" y="17224"/>
                  </a:cubicBezTo>
                  <a:cubicBezTo>
                    <a:pt x="3922" y="16599"/>
                    <a:pt x="3868" y="15953"/>
                    <a:pt x="3868" y="15281"/>
                  </a:cubicBezTo>
                  <a:cubicBezTo>
                    <a:pt x="3868" y="14615"/>
                    <a:pt x="3961" y="13905"/>
                    <a:pt x="4150" y="13154"/>
                  </a:cubicBezTo>
                  <a:lnTo>
                    <a:pt x="1804" y="13154"/>
                  </a:lnTo>
                  <a:cubicBezTo>
                    <a:pt x="1312" y="13154"/>
                    <a:pt x="889" y="12945"/>
                    <a:pt x="534" y="12523"/>
                  </a:cubicBezTo>
                  <a:cubicBezTo>
                    <a:pt x="176" y="12100"/>
                    <a:pt x="0" y="11592"/>
                    <a:pt x="0" y="10991"/>
                  </a:cubicBezTo>
                  <a:lnTo>
                    <a:pt x="0" y="7774"/>
                  </a:lnTo>
                  <a:cubicBezTo>
                    <a:pt x="0" y="7184"/>
                    <a:pt x="176" y="6677"/>
                    <a:pt x="526" y="6245"/>
                  </a:cubicBezTo>
                  <a:cubicBezTo>
                    <a:pt x="879" y="5820"/>
                    <a:pt x="1305" y="5605"/>
                    <a:pt x="1804" y="5605"/>
                  </a:cubicBezTo>
                  <a:lnTo>
                    <a:pt x="7653" y="5605"/>
                  </a:lnTo>
                  <a:cubicBezTo>
                    <a:pt x="8551" y="5605"/>
                    <a:pt x="9509" y="5450"/>
                    <a:pt x="10525" y="5136"/>
                  </a:cubicBezTo>
                  <a:cubicBezTo>
                    <a:pt x="11541" y="4822"/>
                    <a:pt x="12537" y="4399"/>
                    <a:pt x="13511" y="3874"/>
                  </a:cubicBezTo>
                  <a:cubicBezTo>
                    <a:pt x="14488" y="3343"/>
                    <a:pt x="15409" y="2744"/>
                    <a:pt x="16273" y="2072"/>
                  </a:cubicBezTo>
                  <a:cubicBezTo>
                    <a:pt x="17135" y="1406"/>
                    <a:pt x="17864" y="713"/>
                    <a:pt x="18459" y="0"/>
                  </a:cubicBezTo>
                  <a:cubicBezTo>
                    <a:pt x="18951" y="0"/>
                    <a:pt x="19375" y="214"/>
                    <a:pt x="19730" y="634"/>
                  </a:cubicBezTo>
                  <a:cubicBezTo>
                    <a:pt x="20087" y="1057"/>
                    <a:pt x="20263" y="1567"/>
                    <a:pt x="20263" y="2166"/>
                  </a:cubicBezTo>
                  <a:lnTo>
                    <a:pt x="20263" y="7334"/>
                  </a:lnTo>
                  <a:cubicBezTo>
                    <a:pt x="20648" y="7446"/>
                    <a:pt x="20963" y="7692"/>
                    <a:pt x="21218" y="8071"/>
                  </a:cubicBezTo>
                  <a:cubicBezTo>
                    <a:pt x="21473" y="8455"/>
                    <a:pt x="21600" y="8895"/>
                    <a:pt x="21600" y="9391"/>
                  </a:cubicBezTo>
                  <a:moveTo>
                    <a:pt x="18459" y="2855"/>
                  </a:moveTo>
                  <a:cubicBezTo>
                    <a:pt x="17864" y="3407"/>
                    <a:pt x="17215" y="3941"/>
                    <a:pt x="16513" y="4452"/>
                  </a:cubicBezTo>
                  <a:cubicBezTo>
                    <a:pt x="15810" y="4963"/>
                    <a:pt x="15066" y="5423"/>
                    <a:pt x="14280" y="5834"/>
                  </a:cubicBezTo>
                  <a:cubicBezTo>
                    <a:pt x="13494" y="6245"/>
                    <a:pt x="12694" y="6609"/>
                    <a:pt x="11878" y="6923"/>
                  </a:cubicBezTo>
                  <a:cubicBezTo>
                    <a:pt x="11061" y="7237"/>
                    <a:pt x="10255" y="7463"/>
                    <a:pt x="9457" y="7604"/>
                  </a:cubicBezTo>
                  <a:lnTo>
                    <a:pt x="9457" y="11173"/>
                  </a:lnTo>
                  <a:cubicBezTo>
                    <a:pt x="10255" y="11325"/>
                    <a:pt x="11061" y="11554"/>
                    <a:pt x="11878" y="11862"/>
                  </a:cubicBezTo>
                  <a:cubicBezTo>
                    <a:pt x="12694" y="12170"/>
                    <a:pt x="13494" y="12537"/>
                    <a:pt x="14280" y="12957"/>
                  </a:cubicBezTo>
                  <a:cubicBezTo>
                    <a:pt x="15066" y="13379"/>
                    <a:pt x="15813" y="13843"/>
                    <a:pt x="16525" y="14348"/>
                  </a:cubicBezTo>
                  <a:cubicBezTo>
                    <a:pt x="17235" y="14856"/>
                    <a:pt x="17881" y="15381"/>
                    <a:pt x="18459" y="15921"/>
                  </a:cubicBezTo>
                  <a:lnTo>
                    <a:pt x="18459" y="2855"/>
                  </a:lnTo>
                  <a:close/>
                  <a:moveTo>
                    <a:pt x="18459" y="2855"/>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20" name="AutoShape 21"/>
            <p:cNvSpPr/>
            <p:nvPr/>
          </p:nvSpPr>
          <p:spPr bwMode="auto">
            <a:xfrm>
              <a:off x="7108032" y="5123657"/>
              <a:ext cx="309563" cy="309563"/>
            </a:xfrm>
            <a:custGeom>
              <a:avLst/>
              <a:gdLst>
                <a:gd name="T0" fmla="*/ 17746100 w 21600"/>
                <a:gd name="T1" fmla="*/ 3430927 h 21600"/>
                <a:gd name="T2" fmla="*/ 16421717 w 21600"/>
                <a:gd name="T3" fmla="*/ 17746100 h 21600"/>
                <a:gd name="T4" fmla="*/ 0 w 21600"/>
                <a:gd name="T5" fmla="*/ 16420886 h 21600"/>
                <a:gd name="T6" fmla="*/ 1324383 w 21600"/>
                <a:gd name="T7" fmla="*/ 2119672 h 21600"/>
                <a:gd name="T8" fmla="*/ 1880592 w 21600"/>
                <a:gd name="T9" fmla="*/ 1266053 h 21600"/>
                <a:gd name="T10" fmla="*/ 3941103 w 21600"/>
                <a:gd name="T11" fmla="*/ 0 h 21600"/>
                <a:gd name="T12" fmla="*/ 6008207 w 21600"/>
                <a:gd name="T13" fmla="*/ 1270152 h 21600"/>
                <a:gd name="T14" fmla="*/ 6682709 w 21600"/>
                <a:gd name="T15" fmla="*/ 2119672 h 21600"/>
                <a:gd name="T16" fmla="*/ 7162531 w 21600"/>
                <a:gd name="T17" fmla="*/ 629329 h 21600"/>
                <a:gd name="T18" fmla="*/ 9876190 w 21600"/>
                <a:gd name="T19" fmla="*/ 174989 h 21600"/>
                <a:gd name="T20" fmla="*/ 11065856 w 21600"/>
                <a:gd name="T21" fmla="*/ 1973432 h 21600"/>
                <a:gd name="T22" fmla="*/ 11619600 w 21600"/>
                <a:gd name="T23" fmla="*/ 1973432 h 21600"/>
                <a:gd name="T24" fmla="*/ 12780488 w 21600"/>
                <a:gd name="T25" fmla="*/ 174989 h 21600"/>
                <a:gd name="T26" fmla="*/ 15499078 w 21600"/>
                <a:gd name="T27" fmla="*/ 629329 h 21600"/>
                <a:gd name="T28" fmla="*/ 15978871 w 21600"/>
                <a:gd name="T29" fmla="*/ 2119672 h 21600"/>
                <a:gd name="T30" fmla="*/ 1791048 w 21600"/>
                <a:gd name="T31" fmla="*/ 6546330 h 21600"/>
                <a:gd name="T32" fmla="*/ 4984530 w 21600"/>
                <a:gd name="T33" fmla="*/ 6546330 h 21600"/>
                <a:gd name="T34" fmla="*/ 1791048 w 21600"/>
                <a:gd name="T35" fmla="*/ 12695043 h 21600"/>
                <a:gd name="T36" fmla="*/ 4984530 w 21600"/>
                <a:gd name="T37" fmla="*/ 13125536 h 21600"/>
                <a:gd name="T38" fmla="*/ 4984530 w 21600"/>
                <a:gd name="T39" fmla="*/ 15957517 h 21600"/>
                <a:gd name="T40" fmla="*/ 3943568 w 21600"/>
                <a:gd name="T41" fmla="*/ 5195663 h 21600"/>
                <a:gd name="T42" fmla="*/ 3943568 w 21600"/>
                <a:gd name="T43" fmla="*/ 1325214 h 21600"/>
                <a:gd name="T44" fmla="*/ 8655339 w 21600"/>
                <a:gd name="T45" fmla="*/ 6546330 h 21600"/>
                <a:gd name="T46" fmla="*/ 8655339 w 21600"/>
                <a:gd name="T47" fmla="*/ 9402158 h 21600"/>
                <a:gd name="T48" fmla="*/ 5428981 w 21600"/>
                <a:gd name="T49" fmla="*/ 9839215 h 21600"/>
                <a:gd name="T50" fmla="*/ 8655339 w 21600"/>
                <a:gd name="T51" fmla="*/ 9839215 h 21600"/>
                <a:gd name="T52" fmla="*/ 5428981 w 21600"/>
                <a:gd name="T53" fmla="*/ 15957517 h 21600"/>
                <a:gd name="T54" fmla="*/ 8030940 w 21600"/>
                <a:gd name="T55" fmla="*/ 4554008 h 21600"/>
                <a:gd name="T56" fmla="*/ 9521283 w 21600"/>
                <a:gd name="T57" fmla="*/ 5044493 h 21600"/>
                <a:gd name="T58" fmla="*/ 9521283 w 21600"/>
                <a:gd name="T59" fmla="*/ 1481314 h 21600"/>
                <a:gd name="T60" fmla="*/ 8030940 w 21600"/>
                <a:gd name="T61" fmla="*/ 1970967 h 21600"/>
                <a:gd name="T62" fmla="*/ 9098157 w 21600"/>
                <a:gd name="T63" fmla="*/ 6546330 h 21600"/>
                <a:gd name="T64" fmla="*/ 12312189 w 21600"/>
                <a:gd name="T65" fmla="*/ 6546330 h 21600"/>
                <a:gd name="T66" fmla="*/ 9098157 w 21600"/>
                <a:gd name="T67" fmla="*/ 12695043 h 21600"/>
                <a:gd name="T68" fmla="*/ 12312189 w 21600"/>
                <a:gd name="T69" fmla="*/ 13125536 h 21600"/>
                <a:gd name="T70" fmla="*/ 12312189 w 21600"/>
                <a:gd name="T71" fmla="*/ 15957517 h 21600"/>
                <a:gd name="T72" fmla="*/ 12752542 w 21600"/>
                <a:gd name="T73" fmla="*/ 6546330 h 21600"/>
                <a:gd name="T74" fmla="*/ 15957517 w 21600"/>
                <a:gd name="T75" fmla="*/ 6546330 h 21600"/>
                <a:gd name="T76" fmla="*/ 12752542 w 21600"/>
                <a:gd name="T77" fmla="*/ 12695043 h 21600"/>
                <a:gd name="T78" fmla="*/ 15957517 w 21600"/>
                <a:gd name="T79" fmla="*/ 13125536 h 21600"/>
                <a:gd name="T80" fmla="*/ 15957517 w 21600"/>
                <a:gd name="T81" fmla="*/ 15957517 h 21600"/>
                <a:gd name="T82" fmla="*/ 13807462 w 21600"/>
                <a:gd name="T83" fmla="*/ 5195663 h 21600"/>
                <a:gd name="T84" fmla="*/ 13807462 w 21600"/>
                <a:gd name="T85" fmla="*/ 1325214 h 21600"/>
                <a:gd name="T86" fmla="*/ 12946448 w 21600"/>
                <a:gd name="T87" fmla="*/ 4554008 h 216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1600" h="21600">
                  <a:moveTo>
                    <a:pt x="19988" y="2580"/>
                  </a:moveTo>
                  <a:cubicBezTo>
                    <a:pt x="20420" y="2580"/>
                    <a:pt x="20794" y="2736"/>
                    <a:pt x="21116" y="3053"/>
                  </a:cubicBezTo>
                  <a:cubicBezTo>
                    <a:pt x="21439" y="3372"/>
                    <a:pt x="21600" y="3744"/>
                    <a:pt x="21600" y="4176"/>
                  </a:cubicBezTo>
                  <a:lnTo>
                    <a:pt x="21600" y="19987"/>
                  </a:lnTo>
                  <a:cubicBezTo>
                    <a:pt x="21600" y="20419"/>
                    <a:pt x="21439" y="20797"/>
                    <a:pt x="21116" y="21116"/>
                  </a:cubicBezTo>
                  <a:cubicBezTo>
                    <a:pt x="20794" y="21439"/>
                    <a:pt x="20420" y="21600"/>
                    <a:pt x="19988" y="21600"/>
                  </a:cubicBezTo>
                  <a:lnTo>
                    <a:pt x="1612" y="21600"/>
                  </a:lnTo>
                  <a:cubicBezTo>
                    <a:pt x="1180" y="21600"/>
                    <a:pt x="806" y="21439"/>
                    <a:pt x="484" y="21116"/>
                  </a:cubicBezTo>
                  <a:cubicBezTo>
                    <a:pt x="161" y="20797"/>
                    <a:pt x="0" y="20419"/>
                    <a:pt x="0" y="19987"/>
                  </a:cubicBezTo>
                  <a:lnTo>
                    <a:pt x="0" y="4176"/>
                  </a:lnTo>
                  <a:cubicBezTo>
                    <a:pt x="0" y="3744"/>
                    <a:pt x="161" y="3372"/>
                    <a:pt x="484" y="3053"/>
                  </a:cubicBezTo>
                  <a:cubicBezTo>
                    <a:pt x="806" y="2736"/>
                    <a:pt x="1180" y="2580"/>
                    <a:pt x="1612" y="2580"/>
                  </a:cubicBezTo>
                  <a:lnTo>
                    <a:pt x="2151" y="2580"/>
                  </a:lnTo>
                  <a:lnTo>
                    <a:pt x="2151" y="2402"/>
                  </a:lnTo>
                  <a:cubicBezTo>
                    <a:pt x="2151" y="2117"/>
                    <a:pt x="2197" y="1829"/>
                    <a:pt x="2289" y="1541"/>
                  </a:cubicBezTo>
                  <a:cubicBezTo>
                    <a:pt x="2381" y="1250"/>
                    <a:pt x="2531" y="991"/>
                    <a:pt x="2738" y="766"/>
                  </a:cubicBezTo>
                  <a:cubicBezTo>
                    <a:pt x="2943" y="542"/>
                    <a:pt x="3216" y="360"/>
                    <a:pt x="3556" y="213"/>
                  </a:cubicBezTo>
                  <a:cubicBezTo>
                    <a:pt x="3896" y="75"/>
                    <a:pt x="4310" y="0"/>
                    <a:pt x="4797" y="0"/>
                  </a:cubicBezTo>
                  <a:cubicBezTo>
                    <a:pt x="5283" y="0"/>
                    <a:pt x="5698" y="75"/>
                    <a:pt x="6038" y="213"/>
                  </a:cubicBezTo>
                  <a:cubicBezTo>
                    <a:pt x="6378" y="360"/>
                    <a:pt x="6651" y="542"/>
                    <a:pt x="6858" y="766"/>
                  </a:cubicBezTo>
                  <a:cubicBezTo>
                    <a:pt x="7063" y="991"/>
                    <a:pt x="7215" y="1256"/>
                    <a:pt x="7313" y="1546"/>
                  </a:cubicBezTo>
                  <a:cubicBezTo>
                    <a:pt x="7411" y="1840"/>
                    <a:pt x="7457" y="2125"/>
                    <a:pt x="7457" y="2402"/>
                  </a:cubicBezTo>
                  <a:lnTo>
                    <a:pt x="7457" y="2580"/>
                  </a:lnTo>
                  <a:lnTo>
                    <a:pt x="8134" y="2580"/>
                  </a:lnTo>
                  <a:lnTo>
                    <a:pt x="8134" y="2402"/>
                  </a:lnTo>
                  <a:cubicBezTo>
                    <a:pt x="8134" y="2117"/>
                    <a:pt x="8180" y="1829"/>
                    <a:pt x="8269" y="1541"/>
                  </a:cubicBezTo>
                  <a:cubicBezTo>
                    <a:pt x="8364" y="1250"/>
                    <a:pt x="8511" y="991"/>
                    <a:pt x="8718" y="766"/>
                  </a:cubicBezTo>
                  <a:cubicBezTo>
                    <a:pt x="8926" y="541"/>
                    <a:pt x="9199" y="360"/>
                    <a:pt x="9539" y="213"/>
                  </a:cubicBezTo>
                  <a:cubicBezTo>
                    <a:pt x="9879" y="75"/>
                    <a:pt x="10293" y="0"/>
                    <a:pt x="10780" y="0"/>
                  </a:cubicBezTo>
                  <a:cubicBezTo>
                    <a:pt x="11266" y="0"/>
                    <a:pt x="11678" y="75"/>
                    <a:pt x="12021" y="213"/>
                  </a:cubicBezTo>
                  <a:cubicBezTo>
                    <a:pt x="12361" y="360"/>
                    <a:pt x="12637" y="542"/>
                    <a:pt x="12853" y="766"/>
                  </a:cubicBezTo>
                  <a:cubicBezTo>
                    <a:pt x="13069" y="991"/>
                    <a:pt x="13227" y="1256"/>
                    <a:pt x="13322" y="1546"/>
                  </a:cubicBezTo>
                  <a:cubicBezTo>
                    <a:pt x="13417" y="1840"/>
                    <a:pt x="13469" y="2125"/>
                    <a:pt x="13469" y="2402"/>
                  </a:cubicBezTo>
                  <a:lnTo>
                    <a:pt x="13469" y="2580"/>
                  </a:lnTo>
                  <a:lnTo>
                    <a:pt x="14143" y="2580"/>
                  </a:lnTo>
                  <a:lnTo>
                    <a:pt x="14143" y="2402"/>
                  </a:lnTo>
                  <a:cubicBezTo>
                    <a:pt x="14143" y="2117"/>
                    <a:pt x="14192" y="1829"/>
                    <a:pt x="14287" y="1541"/>
                  </a:cubicBezTo>
                  <a:cubicBezTo>
                    <a:pt x="14385" y="1250"/>
                    <a:pt x="14534" y="991"/>
                    <a:pt x="14742" y="766"/>
                  </a:cubicBezTo>
                  <a:cubicBezTo>
                    <a:pt x="14949" y="541"/>
                    <a:pt x="15220" y="360"/>
                    <a:pt x="15556" y="213"/>
                  </a:cubicBezTo>
                  <a:cubicBezTo>
                    <a:pt x="15890" y="75"/>
                    <a:pt x="16305" y="0"/>
                    <a:pt x="16803" y="0"/>
                  </a:cubicBezTo>
                  <a:cubicBezTo>
                    <a:pt x="17290" y="0"/>
                    <a:pt x="17704" y="75"/>
                    <a:pt x="18044" y="213"/>
                  </a:cubicBezTo>
                  <a:cubicBezTo>
                    <a:pt x="18384" y="360"/>
                    <a:pt x="18657" y="541"/>
                    <a:pt x="18865" y="766"/>
                  </a:cubicBezTo>
                  <a:cubicBezTo>
                    <a:pt x="19069" y="991"/>
                    <a:pt x="19219" y="1256"/>
                    <a:pt x="19311" y="1546"/>
                  </a:cubicBezTo>
                  <a:cubicBezTo>
                    <a:pt x="19403" y="1840"/>
                    <a:pt x="19449" y="2125"/>
                    <a:pt x="19449" y="2402"/>
                  </a:cubicBezTo>
                  <a:lnTo>
                    <a:pt x="19449" y="2580"/>
                  </a:lnTo>
                  <a:lnTo>
                    <a:pt x="19988" y="2580"/>
                  </a:lnTo>
                  <a:close/>
                  <a:moveTo>
                    <a:pt x="6067" y="7968"/>
                  </a:moveTo>
                  <a:lnTo>
                    <a:pt x="2180" y="7968"/>
                  </a:lnTo>
                  <a:lnTo>
                    <a:pt x="2180" y="11444"/>
                  </a:lnTo>
                  <a:lnTo>
                    <a:pt x="6067" y="11444"/>
                  </a:lnTo>
                  <a:lnTo>
                    <a:pt x="6067" y="7968"/>
                  </a:lnTo>
                  <a:close/>
                  <a:moveTo>
                    <a:pt x="6067" y="11976"/>
                  </a:moveTo>
                  <a:lnTo>
                    <a:pt x="2180" y="11976"/>
                  </a:lnTo>
                  <a:lnTo>
                    <a:pt x="2180" y="15452"/>
                  </a:lnTo>
                  <a:lnTo>
                    <a:pt x="6067" y="15452"/>
                  </a:lnTo>
                  <a:lnTo>
                    <a:pt x="6067" y="11976"/>
                  </a:lnTo>
                  <a:close/>
                  <a:moveTo>
                    <a:pt x="6067" y="15976"/>
                  </a:moveTo>
                  <a:lnTo>
                    <a:pt x="2180" y="15976"/>
                  </a:lnTo>
                  <a:lnTo>
                    <a:pt x="2180" y="19423"/>
                  </a:lnTo>
                  <a:lnTo>
                    <a:pt x="6067" y="19423"/>
                  </a:lnTo>
                  <a:lnTo>
                    <a:pt x="6067" y="15976"/>
                  </a:lnTo>
                  <a:close/>
                  <a:moveTo>
                    <a:pt x="3755" y="5543"/>
                  </a:moveTo>
                  <a:cubicBezTo>
                    <a:pt x="3755" y="6068"/>
                    <a:pt x="4103" y="6324"/>
                    <a:pt x="4800" y="6324"/>
                  </a:cubicBezTo>
                  <a:cubicBezTo>
                    <a:pt x="5499" y="6324"/>
                    <a:pt x="5848" y="6068"/>
                    <a:pt x="5848" y="5543"/>
                  </a:cubicBezTo>
                  <a:lnTo>
                    <a:pt x="5848" y="2399"/>
                  </a:lnTo>
                  <a:cubicBezTo>
                    <a:pt x="5848" y="1878"/>
                    <a:pt x="5499" y="1613"/>
                    <a:pt x="4800" y="1613"/>
                  </a:cubicBezTo>
                  <a:cubicBezTo>
                    <a:pt x="4103" y="1613"/>
                    <a:pt x="3755" y="1878"/>
                    <a:pt x="3755" y="2399"/>
                  </a:cubicBezTo>
                  <a:lnTo>
                    <a:pt x="3755" y="5543"/>
                  </a:lnTo>
                  <a:close/>
                  <a:moveTo>
                    <a:pt x="10535" y="7968"/>
                  </a:moveTo>
                  <a:lnTo>
                    <a:pt x="6608" y="7968"/>
                  </a:lnTo>
                  <a:lnTo>
                    <a:pt x="6608" y="11444"/>
                  </a:lnTo>
                  <a:lnTo>
                    <a:pt x="10535" y="11444"/>
                  </a:lnTo>
                  <a:lnTo>
                    <a:pt x="10535" y="7968"/>
                  </a:lnTo>
                  <a:close/>
                  <a:moveTo>
                    <a:pt x="10535" y="11976"/>
                  </a:moveTo>
                  <a:lnTo>
                    <a:pt x="6608" y="11976"/>
                  </a:lnTo>
                  <a:lnTo>
                    <a:pt x="6608" y="15452"/>
                  </a:lnTo>
                  <a:lnTo>
                    <a:pt x="10535" y="15452"/>
                  </a:lnTo>
                  <a:lnTo>
                    <a:pt x="10535" y="11976"/>
                  </a:lnTo>
                  <a:close/>
                  <a:moveTo>
                    <a:pt x="10535" y="15976"/>
                  </a:moveTo>
                  <a:lnTo>
                    <a:pt x="6608" y="15976"/>
                  </a:lnTo>
                  <a:lnTo>
                    <a:pt x="6608" y="19423"/>
                  </a:lnTo>
                  <a:lnTo>
                    <a:pt x="10535" y="19423"/>
                  </a:lnTo>
                  <a:lnTo>
                    <a:pt x="10535" y="15976"/>
                  </a:lnTo>
                  <a:close/>
                  <a:moveTo>
                    <a:pt x="9775" y="5543"/>
                  </a:moveTo>
                  <a:cubicBezTo>
                    <a:pt x="9775" y="5826"/>
                    <a:pt x="9850" y="6027"/>
                    <a:pt x="9997" y="6145"/>
                  </a:cubicBezTo>
                  <a:cubicBezTo>
                    <a:pt x="10144" y="6269"/>
                    <a:pt x="10406" y="6324"/>
                    <a:pt x="10783" y="6324"/>
                  </a:cubicBezTo>
                  <a:cubicBezTo>
                    <a:pt x="11160" y="6324"/>
                    <a:pt x="11428" y="6263"/>
                    <a:pt x="11589" y="6140"/>
                  </a:cubicBezTo>
                  <a:cubicBezTo>
                    <a:pt x="11750" y="6016"/>
                    <a:pt x="11831" y="5820"/>
                    <a:pt x="11831" y="5544"/>
                  </a:cubicBezTo>
                  <a:lnTo>
                    <a:pt x="11831" y="2399"/>
                  </a:lnTo>
                  <a:cubicBezTo>
                    <a:pt x="11831" y="2128"/>
                    <a:pt x="11750" y="1933"/>
                    <a:pt x="11589" y="1803"/>
                  </a:cubicBezTo>
                  <a:cubicBezTo>
                    <a:pt x="11428" y="1673"/>
                    <a:pt x="11160" y="1613"/>
                    <a:pt x="10783" y="1613"/>
                  </a:cubicBezTo>
                  <a:cubicBezTo>
                    <a:pt x="10406" y="1613"/>
                    <a:pt x="10144" y="1679"/>
                    <a:pt x="9997" y="1814"/>
                  </a:cubicBezTo>
                  <a:cubicBezTo>
                    <a:pt x="9850" y="1944"/>
                    <a:pt x="9775" y="2140"/>
                    <a:pt x="9775" y="2399"/>
                  </a:cubicBezTo>
                  <a:lnTo>
                    <a:pt x="9775" y="5543"/>
                  </a:lnTo>
                  <a:close/>
                  <a:moveTo>
                    <a:pt x="14986" y="7968"/>
                  </a:moveTo>
                  <a:lnTo>
                    <a:pt x="11074" y="7968"/>
                  </a:lnTo>
                  <a:lnTo>
                    <a:pt x="11074" y="11444"/>
                  </a:lnTo>
                  <a:lnTo>
                    <a:pt x="14986" y="11444"/>
                  </a:lnTo>
                  <a:lnTo>
                    <a:pt x="14986" y="7968"/>
                  </a:lnTo>
                  <a:close/>
                  <a:moveTo>
                    <a:pt x="14986" y="11976"/>
                  </a:moveTo>
                  <a:lnTo>
                    <a:pt x="11074" y="11976"/>
                  </a:lnTo>
                  <a:lnTo>
                    <a:pt x="11074" y="15452"/>
                  </a:lnTo>
                  <a:lnTo>
                    <a:pt x="14986" y="15452"/>
                  </a:lnTo>
                  <a:lnTo>
                    <a:pt x="14986" y="11976"/>
                  </a:lnTo>
                  <a:close/>
                  <a:moveTo>
                    <a:pt x="14986" y="15976"/>
                  </a:moveTo>
                  <a:lnTo>
                    <a:pt x="11074" y="15976"/>
                  </a:lnTo>
                  <a:lnTo>
                    <a:pt x="11074" y="19423"/>
                  </a:lnTo>
                  <a:lnTo>
                    <a:pt x="14986" y="19423"/>
                  </a:lnTo>
                  <a:lnTo>
                    <a:pt x="14986" y="15976"/>
                  </a:lnTo>
                  <a:close/>
                  <a:moveTo>
                    <a:pt x="19423" y="7968"/>
                  </a:moveTo>
                  <a:lnTo>
                    <a:pt x="15522" y="7968"/>
                  </a:lnTo>
                  <a:lnTo>
                    <a:pt x="15522" y="11444"/>
                  </a:lnTo>
                  <a:lnTo>
                    <a:pt x="19423" y="11444"/>
                  </a:lnTo>
                  <a:lnTo>
                    <a:pt x="19423" y="7968"/>
                  </a:lnTo>
                  <a:close/>
                  <a:moveTo>
                    <a:pt x="19423" y="11976"/>
                  </a:moveTo>
                  <a:lnTo>
                    <a:pt x="15522" y="11976"/>
                  </a:lnTo>
                  <a:lnTo>
                    <a:pt x="15522" y="15452"/>
                  </a:lnTo>
                  <a:lnTo>
                    <a:pt x="19423" y="15452"/>
                  </a:lnTo>
                  <a:lnTo>
                    <a:pt x="19423" y="11976"/>
                  </a:lnTo>
                  <a:close/>
                  <a:moveTo>
                    <a:pt x="19423" y="15976"/>
                  </a:moveTo>
                  <a:lnTo>
                    <a:pt x="15522" y="15976"/>
                  </a:lnTo>
                  <a:lnTo>
                    <a:pt x="15522" y="19423"/>
                  </a:lnTo>
                  <a:lnTo>
                    <a:pt x="19423" y="19423"/>
                  </a:lnTo>
                  <a:lnTo>
                    <a:pt x="19423" y="15976"/>
                  </a:lnTo>
                  <a:close/>
                  <a:moveTo>
                    <a:pt x="15758" y="5543"/>
                  </a:moveTo>
                  <a:cubicBezTo>
                    <a:pt x="15758" y="6068"/>
                    <a:pt x="16106" y="6324"/>
                    <a:pt x="16806" y="6324"/>
                  </a:cubicBezTo>
                  <a:cubicBezTo>
                    <a:pt x="17503" y="6324"/>
                    <a:pt x="17848" y="6068"/>
                    <a:pt x="17840" y="5543"/>
                  </a:cubicBezTo>
                  <a:lnTo>
                    <a:pt x="17840" y="2399"/>
                  </a:lnTo>
                  <a:cubicBezTo>
                    <a:pt x="17840" y="1878"/>
                    <a:pt x="17494" y="1613"/>
                    <a:pt x="16806" y="1613"/>
                  </a:cubicBezTo>
                  <a:cubicBezTo>
                    <a:pt x="16106" y="1613"/>
                    <a:pt x="15758" y="1878"/>
                    <a:pt x="15758" y="2399"/>
                  </a:cubicBezTo>
                  <a:lnTo>
                    <a:pt x="15758" y="5543"/>
                  </a:lnTo>
                  <a:close/>
                  <a:moveTo>
                    <a:pt x="15758" y="5543"/>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21" name="AutoShape 22"/>
            <p:cNvSpPr/>
            <p:nvPr/>
          </p:nvSpPr>
          <p:spPr bwMode="auto">
            <a:xfrm>
              <a:off x="5819775" y="2103438"/>
              <a:ext cx="516732" cy="519907"/>
            </a:xfrm>
            <a:custGeom>
              <a:avLst/>
              <a:gdLst>
                <a:gd name="T0" fmla="*/ 46322239 w 19679"/>
                <a:gd name="T1" fmla="*/ 8046332 h 19679"/>
                <a:gd name="T2" fmla="*/ 46322239 w 19679"/>
                <a:gd name="T3" fmla="*/ 46893247 h 19679"/>
                <a:gd name="T4" fmla="*/ 7948354 w 19679"/>
                <a:gd name="T5" fmla="*/ 46893247 h 19679"/>
                <a:gd name="T6" fmla="*/ 7948354 w 19679"/>
                <a:gd name="T7" fmla="*/ 8046332 h 19679"/>
                <a:gd name="T8" fmla="*/ 46322239 w 19679"/>
                <a:gd name="T9" fmla="*/ 8046332 h 19679"/>
                <a:gd name="T10" fmla="*/ 46322239 w 19679"/>
                <a:gd name="T11" fmla="*/ 8046332 h 196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FFFEFE"/>
            </a:solidFill>
            <a:ln w="63500" cap="flat">
              <a:solidFill>
                <a:schemeClr val="tx1">
                  <a:lumMod val="65000"/>
                  <a:lumOff val="35000"/>
                </a:schemeClr>
              </a:solidFill>
              <a:prstDash val="solid"/>
              <a:bevel/>
              <a:headEnd type="none" w="med" len="med"/>
              <a:tailEnd type="none" w="med" len="med"/>
            </a:ln>
          </p:spPr>
          <p:txBody>
            <a:bodyPr lIns="0" tIns="0" rIns="0" bIns="0"/>
            <a:lstStyle/>
            <a:p>
              <a:endParaRPr lang="zh-CN" altLang="en-US" sz="900">
                <a:solidFill>
                  <a:schemeClr val="tx1">
                    <a:lumMod val="75000"/>
                    <a:lumOff val="25000"/>
                  </a:schemeClr>
                </a:solidFill>
              </a:endParaRPr>
            </a:p>
          </p:txBody>
        </p:sp>
        <p:sp>
          <p:nvSpPr>
            <p:cNvPr id="22" name="AutoShape 23"/>
            <p:cNvSpPr/>
            <p:nvPr/>
          </p:nvSpPr>
          <p:spPr bwMode="auto">
            <a:xfrm>
              <a:off x="7200900" y="2763838"/>
              <a:ext cx="516732" cy="519907"/>
            </a:xfrm>
            <a:custGeom>
              <a:avLst/>
              <a:gdLst>
                <a:gd name="T0" fmla="*/ 46322239 w 19679"/>
                <a:gd name="T1" fmla="*/ 8046332 h 19679"/>
                <a:gd name="T2" fmla="*/ 46322239 w 19679"/>
                <a:gd name="T3" fmla="*/ 46893247 h 19679"/>
                <a:gd name="T4" fmla="*/ 7948354 w 19679"/>
                <a:gd name="T5" fmla="*/ 46893247 h 19679"/>
                <a:gd name="T6" fmla="*/ 7948354 w 19679"/>
                <a:gd name="T7" fmla="*/ 8046332 h 19679"/>
                <a:gd name="T8" fmla="*/ 46322239 w 19679"/>
                <a:gd name="T9" fmla="*/ 8046332 h 19679"/>
                <a:gd name="T10" fmla="*/ 46322239 w 19679"/>
                <a:gd name="T11" fmla="*/ 8046332 h 196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FFFEFE"/>
            </a:solidFill>
            <a:ln w="63500" cap="flat">
              <a:solidFill>
                <a:schemeClr val="tx1">
                  <a:lumMod val="65000"/>
                  <a:lumOff val="35000"/>
                </a:schemeClr>
              </a:solidFill>
              <a:prstDash val="solid"/>
              <a:bevel/>
              <a:headEnd type="none" w="med" len="med"/>
              <a:tailEnd type="none" w="med" len="med"/>
            </a:ln>
          </p:spPr>
          <p:txBody>
            <a:bodyPr lIns="0" tIns="0" rIns="0" bIns="0"/>
            <a:lstStyle/>
            <a:p>
              <a:endParaRPr lang="zh-CN" altLang="en-US" sz="900">
                <a:solidFill>
                  <a:schemeClr val="tx1">
                    <a:lumMod val="75000"/>
                    <a:lumOff val="25000"/>
                  </a:schemeClr>
                </a:solidFill>
              </a:endParaRPr>
            </a:p>
          </p:txBody>
        </p:sp>
        <p:sp>
          <p:nvSpPr>
            <p:cNvPr id="23" name="AutoShape 24"/>
            <p:cNvSpPr/>
            <p:nvPr/>
          </p:nvSpPr>
          <p:spPr bwMode="auto">
            <a:xfrm>
              <a:off x="4104482" y="3929857"/>
              <a:ext cx="516731" cy="520700"/>
            </a:xfrm>
            <a:custGeom>
              <a:avLst/>
              <a:gdLst>
                <a:gd name="T0" fmla="*/ 46322142 w 19679"/>
                <a:gd name="T1" fmla="*/ 8070943 h 19679"/>
                <a:gd name="T2" fmla="*/ 46322142 w 19679"/>
                <a:gd name="T3" fmla="*/ 47036470 h 19679"/>
                <a:gd name="T4" fmla="*/ 7948346 w 19679"/>
                <a:gd name="T5" fmla="*/ 47036470 h 19679"/>
                <a:gd name="T6" fmla="*/ 7948346 w 19679"/>
                <a:gd name="T7" fmla="*/ 8070943 h 19679"/>
                <a:gd name="T8" fmla="*/ 46322142 w 19679"/>
                <a:gd name="T9" fmla="*/ 8070943 h 19679"/>
                <a:gd name="T10" fmla="*/ 46322142 w 19679"/>
                <a:gd name="T11" fmla="*/ 8070943 h 196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FFFEFE"/>
            </a:solidFill>
            <a:ln w="63500" cap="flat">
              <a:solidFill>
                <a:schemeClr val="tx1">
                  <a:lumMod val="65000"/>
                  <a:lumOff val="35000"/>
                </a:schemeClr>
              </a:solidFill>
              <a:prstDash val="solid"/>
              <a:bevel/>
              <a:headEnd type="none" w="med" len="med"/>
              <a:tailEnd type="none" w="med" len="med"/>
            </a:ln>
          </p:spPr>
          <p:txBody>
            <a:bodyPr lIns="0" tIns="0" rIns="0" bIns="0"/>
            <a:lstStyle/>
            <a:p>
              <a:endParaRPr lang="zh-CN" altLang="en-US" sz="900">
                <a:solidFill>
                  <a:schemeClr val="tx1">
                    <a:lumMod val="75000"/>
                    <a:lumOff val="25000"/>
                  </a:schemeClr>
                </a:solidFill>
              </a:endParaRPr>
            </a:p>
          </p:txBody>
        </p:sp>
        <p:sp>
          <p:nvSpPr>
            <p:cNvPr id="24" name="AutoShape 25"/>
            <p:cNvSpPr/>
            <p:nvPr/>
          </p:nvSpPr>
          <p:spPr bwMode="auto">
            <a:xfrm>
              <a:off x="7562850" y="3929857"/>
              <a:ext cx="516732" cy="520700"/>
            </a:xfrm>
            <a:custGeom>
              <a:avLst/>
              <a:gdLst>
                <a:gd name="T0" fmla="*/ 46322239 w 19679"/>
                <a:gd name="T1" fmla="*/ 8070943 h 19679"/>
                <a:gd name="T2" fmla="*/ 46322239 w 19679"/>
                <a:gd name="T3" fmla="*/ 47036470 h 19679"/>
                <a:gd name="T4" fmla="*/ 7948354 w 19679"/>
                <a:gd name="T5" fmla="*/ 47036470 h 19679"/>
                <a:gd name="T6" fmla="*/ 7948354 w 19679"/>
                <a:gd name="T7" fmla="*/ 8070943 h 19679"/>
                <a:gd name="T8" fmla="*/ 46322239 w 19679"/>
                <a:gd name="T9" fmla="*/ 8070943 h 19679"/>
                <a:gd name="T10" fmla="*/ 46322239 w 19679"/>
                <a:gd name="T11" fmla="*/ 8070943 h 196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FFFEFE"/>
            </a:solidFill>
            <a:ln w="63500" cap="flat">
              <a:solidFill>
                <a:schemeClr val="tx1">
                  <a:lumMod val="65000"/>
                  <a:lumOff val="35000"/>
                </a:schemeClr>
              </a:solidFill>
              <a:prstDash val="solid"/>
              <a:bevel/>
              <a:headEnd type="none" w="med" len="med"/>
              <a:tailEnd type="none" w="med" len="med"/>
            </a:ln>
          </p:spPr>
          <p:txBody>
            <a:bodyPr lIns="0" tIns="0" rIns="0" bIns="0"/>
            <a:lstStyle/>
            <a:p>
              <a:endParaRPr lang="zh-CN" altLang="en-US" sz="900">
                <a:solidFill>
                  <a:schemeClr val="tx1">
                    <a:lumMod val="75000"/>
                    <a:lumOff val="25000"/>
                  </a:schemeClr>
                </a:solidFill>
              </a:endParaRPr>
            </a:p>
          </p:txBody>
        </p:sp>
        <p:sp>
          <p:nvSpPr>
            <p:cNvPr id="25" name="AutoShape 26"/>
            <p:cNvSpPr/>
            <p:nvPr/>
          </p:nvSpPr>
          <p:spPr bwMode="auto">
            <a:xfrm>
              <a:off x="4533900" y="2636838"/>
              <a:ext cx="516732" cy="519907"/>
            </a:xfrm>
            <a:custGeom>
              <a:avLst/>
              <a:gdLst>
                <a:gd name="T0" fmla="*/ 46322239 w 19679"/>
                <a:gd name="T1" fmla="*/ 8046332 h 19679"/>
                <a:gd name="T2" fmla="*/ 46322239 w 19679"/>
                <a:gd name="T3" fmla="*/ 46893247 h 19679"/>
                <a:gd name="T4" fmla="*/ 7948354 w 19679"/>
                <a:gd name="T5" fmla="*/ 46893247 h 19679"/>
                <a:gd name="T6" fmla="*/ 7948354 w 19679"/>
                <a:gd name="T7" fmla="*/ 8046332 h 19679"/>
                <a:gd name="T8" fmla="*/ 46322239 w 19679"/>
                <a:gd name="T9" fmla="*/ 8046332 h 19679"/>
                <a:gd name="T10" fmla="*/ 46322239 w 19679"/>
                <a:gd name="T11" fmla="*/ 8046332 h 196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FFFEFE"/>
            </a:solidFill>
            <a:ln w="63500" cap="flat">
              <a:solidFill>
                <a:schemeClr val="tx1">
                  <a:lumMod val="65000"/>
                  <a:lumOff val="35000"/>
                </a:schemeClr>
              </a:solidFill>
              <a:prstDash val="solid"/>
              <a:bevel/>
              <a:headEnd type="none" w="med" len="med"/>
              <a:tailEnd type="none" w="med" len="med"/>
            </a:ln>
          </p:spPr>
          <p:txBody>
            <a:bodyPr lIns="0" tIns="0" rIns="0" bIns="0"/>
            <a:lstStyle/>
            <a:p>
              <a:endParaRPr lang="zh-CN" altLang="en-US" sz="900">
                <a:solidFill>
                  <a:schemeClr val="tx1">
                    <a:lumMod val="75000"/>
                    <a:lumOff val="25000"/>
                  </a:schemeClr>
                </a:solidFill>
              </a:endParaRPr>
            </a:p>
          </p:txBody>
        </p:sp>
        <p:sp>
          <p:nvSpPr>
            <p:cNvPr id="26" name="AutoShape 27"/>
            <p:cNvSpPr/>
            <p:nvPr/>
          </p:nvSpPr>
          <p:spPr bwMode="auto">
            <a:xfrm>
              <a:off x="5924550" y="2218532"/>
              <a:ext cx="309563" cy="257969"/>
            </a:xfrm>
            <a:custGeom>
              <a:avLst/>
              <a:gdLst>
                <a:gd name="T0" fmla="*/ 17529206 w 21600"/>
                <a:gd name="T1" fmla="*/ 8178127 h 21600"/>
                <a:gd name="T2" fmla="*/ 17746100 w 21600"/>
                <a:gd name="T3" fmla="*/ 11698346 h 21600"/>
                <a:gd name="T4" fmla="*/ 17014071 w 21600"/>
                <a:gd name="T5" fmla="*/ 12323657 h 21600"/>
                <a:gd name="T6" fmla="*/ 12787052 w 21600"/>
                <a:gd name="T7" fmla="*/ 12144512 h 21600"/>
                <a:gd name="T8" fmla="*/ 12583286 w 21600"/>
                <a:gd name="T9" fmla="*/ 8624269 h 21600"/>
                <a:gd name="T10" fmla="*/ 13307920 w 21600"/>
                <a:gd name="T11" fmla="*/ 7998958 h 21600"/>
                <a:gd name="T12" fmla="*/ 14615076 w 21600"/>
                <a:gd name="T13" fmla="*/ 6771745 h 21600"/>
                <a:gd name="T14" fmla="*/ 9425977 w 21600"/>
                <a:gd name="T15" fmla="*/ 6619400 h 21600"/>
                <a:gd name="T16" fmla="*/ 10724879 w 21600"/>
                <a:gd name="T17" fmla="*/ 7998958 h 21600"/>
                <a:gd name="T18" fmla="*/ 11456908 w 21600"/>
                <a:gd name="T19" fmla="*/ 8624269 h 21600"/>
                <a:gd name="T20" fmla="*/ 11240014 w 21600"/>
                <a:gd name="T21" fmla="*/ 12144512 h 21600"/>
                <a:gd name="T22" fmla="*/ 7018756 w 21600"/>
                <a:gd name="T23" fmla="*/ 12323657 h 21600"/>
                <a:gd name="T24" fmla="*/ 6286727 w 21600"/>
                <a:gd name="T25" fmla="*/ 11698346 h 21600"/>
                <a:gd name="T26" fmla="*/ 6501988 w 21600"/>
                <a:gd name="T27" fmla="*/ 8178127 h 21600"/>
                <a:gd name="T28" fmla="*/ 8317658 w 21600"/>
                <a:gd name="T29" fmla="*/ 7998958 h 21600"/>
                <a:gd name="T30" fmla="*/ 3332326 w 21600"/>
                <a:gd name="T31" fmla="*/ 6619400 h 21600"/>
                <a:gd name="T32" fmla="*/ 3139250 w 21600"/>
                <a:gd name="T33" fmla="*/ 7998958 h 21600"/>
                <a:gd name="T34" fmla="*/ 4973838 w 21600"/>
                <a:gd name="T35" fmla="*/ 8178127 h 21600"/>
                <a:gd name="T36" fmla="*/ 5189099 w 21600"/>
                <a:gd name="T37" fmla="*/ 11698346 h 21600"/>
                <a:gd name="T38" fmla="*/ 4438180 w 21600"/>
                <a:gd name="T39" fmla="*/ 12323657 h 21600"/>
                <a:gd name="T40" fmla="*/ 215261 w 21600"/>
                <a:gd name="T41" fmla="*/ 12144512 h 21600"/>
                <a:gd name="T42" fmla="*/ 0 w 21600"/>
                <a:gd name="T43" fmla="*/ 8624269 h 21600"/>
                <a:gd name="T44" fmla="*/ 750087 w 21600"/>
                <a:gd name="T45" fmla="*/ 7998958 h 21600"/>
                <a:gd name="T46" fmla="*/ 2030931 w 21600"/>
                <a:gd name="T47" fmla="*/ 6771745 h 21600"/>
                <a:gd name="T48" fmla="*/ 3330692 w 21600"/>
                <a:gd name="T49" fmla="*/ 5704257 h 21600"/>
                <a:gd name="T50" fmla="*/ 8316024 w 21600"/>
                <a:gd name="T51" fmla="*/ 4308146 h 21600"/>
                <a:gd name="T52" fmla="*/ 6500325 w 21600"/>
                <a:gd name="T53" fmla="*/ 4135283 h 21600"/>
                <a:gd name="T54" fmla="*/ 6285065 w 21600"/>
                <a:gd name="T55" fmla="*/ 608185 h 21600"/>
                <a:gd name="T56" fmla="*/ 7017094 w 21600"/>
                <a:gd name="T57" fmla="*/ 0 h 21600"/>
                <a:gd name="T58" fmla="*/ 11238380 w 21600"/>
                <a:gd name="T59" fmla="*/ 179145 h 21600"/>
                <a:gd name="T60" fmla="*/ 11455274 w 21600"/>
                <a:gd name="T61" fmla="*/ 3699388 h 21600"/>
                <a:gd name="T62" fmla="*/ 10723245 w 21600"/>
                <a:gd name="T63" fmla="*/ 4308146 h 21600"/>
                <a:gd name="T64" fmla="*/ 9424344 w 21600"/>
                <a:gd name="T65" fmla="*/ 5704257 h 21600"/>
                <a:gd name="T66" fmla="*/ 15324920 w 21600"/>
                <a:gd name="T67" fmla="*/ 6012911 h 21600"/>
                <a:gd name="T68" fmla="*/ 15711042 w 21600"/>
                <a:gd name="T69" fmla="*/ 7998958 h 21600"/>
                <a:gd name="T70" fmla="*/ 17014071 w 21600"/>
                <a:gd name="T71" fmla="*/ 7998958 h 216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1600" h="21600">
                  <a:moveTo>
                    <a:pt x="20709" y="14020"/>
                  </a:moveTo>
                  <a:cubicBezTo>
                    <a:pt x="20951" y="14020"/>
                    <a:pt x="21162" y="14126"/>
                    <a:pt x="21336" y="14334"/>
                  </a:cubicBezTo>
                  <a:cubicBezTo>
                    <a:pt x="21512" y="14549"/>
                    <a:pt x="21600" y="14810"/>
                    <a:pt x="21600" y="15116"/>
                  </a:cubicBezTo>
                  <a:lnTo>
                    <a:pt x="21600" y="20504"/>
                  </a:lnTo>
                  <a:cubicBezTo>
                    <a:pt x="21600" y="20816"/>
                    <a:pt x="21512" y="21071"/>
                    <a:pt x="21336" y="21286"/>
                  </a:cubicBezTo>
                  <a:cubicBezTo>
                    <a:pt x="21162" y="21494"/>
                    <a:pt x="20951" y="21600"/>
                    <a:pt x="20709" y="21600"/>
                  </a:cubicBezTo>
                  <a:lnTo>
                    <a:pt x="16198" y="21600"/>
                  </a:lnTo>
                  <a:cubicBezTo>
                    <a:pt x="15940" y="21600"/>
                    <a:pt x="15730" y="21494"/>
                    <a:pt x="15564" y="21286"/>
                  </a:cubicBezTo>
                  <a:cubicBezTo>
                    <a:pt x="15400" y="21071"/>
                    <a:pt x="15316" y="20816"/>
                    <a:pt x="15316" y="20504"/>
                  </a:cubicBezTo>
                  <a:lnTo>
                    <a:pt x="15316" y="15116"/>
                  </a:lnTo>
                  <a:cubicBezTo>
                    <a:pt x="15316" y="14810"/>
                    <a:pt x="15400" y="14549"/>
                    <a:pt x="15571" y="14334"/>
                  </a:cubicBezTo>
                  <a:cubicBezTo>
                    <a:pt x="15737" y="14126"/>
                    <a:pt x="15945" y="14020"/>
                    <a:pt x="16198" y="14020"/>
                  </a:cubicBezTo>
                  <a:lnTo>
                    <a:pt x="17789" y="14020"/>
                  </a:lnTo>
                  <a:lnTo>
                    <a:pt x="17789" y="11869"/>
                  </a:lnTo>
                  <a:cubicBezTo>
                    <a:pt x="17789" y="11699"/>
                    <a:pt x="17708" y="11611"/>
                    <a:pt x="17544" y="11602"/>
                  </a:cubicBezTo>
                  <a:lnTo>
                    <a:pt x="11473" y="11602"/>
                  </a:lnTo>
                  <a:lnTo>
                    <a:pt x="11473" y="14020"/>
                  </a:lnTo>
                  <a:lnTo>
                    <a:pt x="13054" y="14020"/>
                  </a:lnTo>
                  <a:cubicBezTo>
                    <a:pt x="13297" y="14020"/>
                    <a:pt x="13507" y="14126"/>
                    <a:pt x="13681" y="14334"/>
                  </a:cubicBezTo>
                  <a:cubicBezTo>
                    <a:pt x="13857" y="14549"/>
                    <a:pt x="13945" y="14810"/>
                    <a:pt x="13945" y="15116"/>
                  </a:cubicBezTo>
                  <a:lnTo>
                    <a:pt x="13945" y="20504"/>
                  </a:lnTo>
                  <a:cubicBezTo>
                    <a:pt x="13945" y="20816"/>
                    <a:pt x="13857" y="21071"/>
                    <a:pt x="13681" y="21286"/>
                  </a:cubicBezTo>
                  <a:cubicBezTo>
                    <a:pt x="13507" y="21494"/>
                    <a:pt x="13297" y="21600"/>
                    <a:pt x="13054" y="21600"/>
                  </a:cubicBezTo>
                  <a:lnTo>
                    <a:pt x="8543" y="21600"/>
                  </a:lnTo>
                  <a:cubicBezTo>
                    <a:pt x="8298" y="21600"/>
                    <a:pt x="8090" y="21494"/>
                    <a:pt x="7914" y="21286"/>
                  </a:cubicBezTo>
                  <a:cubicBezTo>
                    <a:pt x="7740" y="21071"/>
                    <a:pt x="7652" y="20816"/>
                    <a:pt x="7652" y="20504"/>
                  </a:cubicBezTo>
                  <a:lnTo>
                    <a:pt x="7652" y="15116"/>
                  </a:lnTo>
                  <a:cubicBezTo>
                    <a:pt x="7652" y="14810"/>
                    <a:pt x="7740" y="14549"/>
                    <a:pt x="7914" y="14334"/>
                  </a:cubicBezTo>
                  <a:cubicBezTo>
                    <a:pt x="8090" y="14126"/>
                    <a:pt x="8298" y="14020"/>
                    <a:pt x="8543" y="14020"/>
                  </a:cubicBezTo>
                  <a:lnTo>
                    <a:pt x="10124" y="14020"/>
                  </a:lnTo>
                  <a:lnTo>
                    <a:pt x="10124" y="11602"/>
                  </a:lnTo>
                  <a:lnTo>
                    <a:pt x="4056" y="11602"/>
                  </a:lnTo>
                  <a:cubicBezTo>
                    <a:pt x="3902" y="11602"/>
                    <a:pt x="3821" y="11690"/>
                    <a:pt x="3821" y="11869"/>
                  </a:cubicBezTo>
                  <a:lnTo>
                    <a:pt x="3821" y="14020"/>
                  </a:lnTo>
                  <a:lnTo>
                    <a:pt x="5402" y="14020"/>
                  </a:lnTo>
                  <a:cubicBezTo>
                    <a:pt x="5662" y="14020"/>
                    <a:pt x="5875" y="14126"/>
                    <a:pt x="6054" y="14334"/>
                  </a:cubicBezTo>
                  <a:cubicBezTo>
                    <a:pt x="6230" y="14549"/>
                    <a:pt x="6316" y="14810"/>
                    <a:pt x="6316" y="15116"/>
                  </a:cubicBezTo>
                  <a:lnTo>
                    <a:pt x="6316" y="20504"/>
                  </a:lnTo>
                  <a:cubicBezTo>
                    <a:pt x="6316" y="20816"/>
                    <a:pt x="6230" y="21071"/>
                    <a:pt x="6054" y="21286"/>
                  </a:cubicBezTo>
                  <a:cubicBezTo>
                    <a:pt x="5877" y="21494"/>
                    <a:pt x="5664" y="21600"/>
                    <a:pt x="5402" y="21600"/>
                  </a:cubicBezTo>
                  <a:lnTo>
                    <a:pt x="913" y="21600"/>
                  </a:lnTo>
                  <a:cubicBezTo>
                    <a:pt x="658" y="21600"/>
                    <a:pt x="441" y="21494"/>
                    <a:pt x="262" y="21286"/>
                  </a:cubicBezTo>
                  <a:cubicBezTo>
                    <a:pt x="88" y="21071"/>
                    <a:pt x="0" y="20816"/>
                    <a:pt x="0" y="20504"/>
                  </a:cubicBezTo>
                  <a:lnTo>
                    <a:pt x="0" y="15116"/>
                  </a:lnTo>
                  <a:cubicBezTo>
                    <a:pt x="0" y="14810"/>
                    <a:pt x="88" y="14549"/>
                    <a:pt x="262" y="14334"/>
                  </a:cubicBezTo>
                  <a:cubicBezTo>
                    <a:pt x="438" y="14126"/>
                    <a:pt x="656" y="14020"/>
                    <a:pt x="913" y="14020"/>
                  </a:cubicBezTo>
                  <a:lnTo>
                    <a:pt x="2472" y="14020"/>
                  </a:lnTo>
                  <a:lnTo>
                    <a:pt x="2472" y="11869"/>
                  </a:lnTo>
                  <a:cubicBezTo>
                    <a:pt x="2472" y="11352"/>
                    <a:pt x="2629" y="10912"/>
                    <a:pt x="2942" y="10544"/>
                  </a:cubicBezTo>
                  <a:cubicBezTo>
                    <a:pt x="3253" y="10180"/>
                    <a:pt x="3623" y="9998"/>
                    <a:pt x="4054" y="9998"/>
                  </a:cubicBezTo>
                  <a:lnTo>
                    <a:pt x="10122" y="9998"/>
                  </a:lnTo>
                  <a:lnTo>
                    <a:pt x="10122" y="7551"/>
                  </a:lnTo>
                  <a:lnTo>
                    <a:pt x="8541" y="7551"/>
                  </a:lnTo>
                  <a:cubicBezTo>
                    <a:pt x="8296" y="7551"/>
                    <a:pt x="8088" y="7451"/>
                    <a:pt x="7912" y="7248"/>
                  </a:cubicBezTo>
                  <a:cubicBezTo>
                    <a:pt x="7738" y="7045"/>
                    <a:pt x="7650" y="6790"/>
                    <a:pt x="7650" y="6484"/>
                  </a:cubicBezTo>
                  <a:lnTo>
                    <a:pt x="7650" y="1066"/>
                  </a:lnTo>
                  <a:cubicBezTo>
                    <a:pt x="7650" y="776"/>
                    <a:pt x="7738" y="523"/>
                    <a:pt x="7912" y="314"/>
                  </a:cubicBezTo>
                  <a:cubicBezTo>
                    <a:pt x="8088" y="103"/>
                    <a:pt x="8296" y="0"/>
                    <a:pt x="8541" y="0"/>
                  </a:cubicBezTo>
                  <a:lnTo>
                    <a:pt x="13052" y="0"/>
                  </a:lnTo>
                  <a:cubicBezTo>
                    <a:pt x="13294" y="0"/>
                    <a:pt x="13505" y="103"/>
                    <a:pt x="13679" y="314"/>
                  </a:cubicBezTo>
                  <a:cubicBezTo>
                    <a:pt x="13855" y="523"/>
                    <a:pt x="13943" y="776"/>
                    <a:pt x="13943" y="1066"/>
                  </a:cubicBezTo>
                  <a:lnTo>
                    <a:pt x="13943" y="6484"/>
                  </a:lnTo>
                  <a:cubicBezTo>
                    <a:pt x="13943" y="6790"/>
                    <a:pt x="13855" y="7045"/>
                    <a:pt x="13679" y="7248"/>
                  </a:cubicBezTo>
                  <a:cubicBezTo>
                    <a:pt x="13505" y="7451"/>
                    <a:pt x="13294" y="7551"/>
                    <a:pt x="13052" y="7551"/>
                  </a:cubicBezTo>
                  <a:lnTo>
                    <a:pt x="11471" y="7551"/>
                  </a:lnTo>
                  <a:lnTo>
                    <a:pt x="11471" y="9998"/>
                  </a:lnTo>
                  <a:lnTo>
                    <a:pt x="17541" y="9998"/>
                  </a:lnTo>
                  <a:cubicBezTo>
                    <a:pt x="17970" y="9998"/>
                    <a:pt x="18339" y="10177"/>
                    <a:pt x="18653" y="10539"/>
                  </a:cubicBezTo>
                  <a:cubicBezTo>
                    <a:pt x="18966" y="10900"/>
                    <a:pt x="19123" y="11344"/>
                    <a:pt x="19123" y="11869"/>
                  </a:cubicBezTo>
                  <a:lnTo>
                    <a:pt x="19123" y="14020"/>
                  </a:lnTo>
                  <a:lnTo>
                    <a:pt x="20709" y="14020"/>
                  </a:lnTo>
                  <a:close/>
                  <a:moveTo>
                    <a:pt x="20709" y="14020"/>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27" name="AutoShape 28"/>
            <p:cNvSpPr/>
            <p:nvPr/>
          </p:nvSpPr>
          <p:spPr bwMode="auto">
            <a:xfrm>
              <a:off x="4210050" y="4043363"/>
              <a:ext cx="309563" cy="310357"/>
            </a:xfrm>
            <a:custGeom>
              <a:avLst/>
              <a:gdLst>
                <a:gd name="T0" fmla="*/ 17546461 w 21600"/>
                <a:gd name="T1" fmla="*/ 15526676 h 21600"/>
                <a:gd name="T2" fmla="*/ 17746100 w 21600"/>
                <a:gd name="T3" fmla="*/ 16051035 h 21600"/>
                <a:gd name="T4" fmla="*/ 17546461 w 21600"/>
                <a:gd name="T5" fmla="*/ 16531656 h 21600"/>
                <a:gd name="T6" fmla="*/ 17045285 w 21600"/>
                <a:gd name="T7" fmla="*/ 17127886 h 21600"/>
                <a:gd name="T8" fmla="*/ 16450467 w 21600"/>
                <a:gd name="T9" fmla="*/ 17629973 h 21600"/>
                <a:gd name="T10" fmla="*/ 15977237 w 21600"/>
                <a:gd name="T11" fmla="*/ 17837251 h 21600"/>
                <a:gd name="T12" fmla="*/ 15454707 w 21600"/>
                <a:gd name="T13" fmla="*/ 17625031 h 21600"/>
                <a:gd name="T14" fmla="*/ 11466768 w 21600"/>
                <a:gd name="T15" fmla="*/ 13628156 h 21600"/>
                <a:gd name="T16" fmla="*/ 9522085 w 21600"/>
                <a:gd name="T17" fmla="*/ 14537357 h 21600"/>
                <a:gd name="T18" fmla="*/ 7399948 w 21600"/>
                <a:gd name="T19" fmla="*/ 14856938 h 21600"/>
                <a:gd name="T20" fmla="*/ 4533485 w 21600"/>
                <a:gd name="T21" fmla="*/ 14278899 h 21600"/>
                <a:gd name="T22" fmla="*/ 2173071 w 21600"/>
                <a:gd name="T23" fmla="*/ 12679299 h 21600"/>
                <a:gd name="T24" fmla="*/ 575930 w 21600"/>
                <a:gd name="T25" fmla="*/ 10311738 h 21600"/>
                <a:gd name="T26" fmla="*/ 0 w 21600"/>
                <a:gd name="T27" fmla="*/ 7432176 h 21600"/>
                <a:gd name="T28" fmla="*/ 575930 w 21600"/>
                <a:gd name="T29" fmla="*/ 4554280 h 21600"/>
                <a:gd name="T30" fmla="*/ 2173071 w 21600"/>
                <a:gd name="T31" fmla="*/ 2185053 h 21600"/>
                <a:gd name="T32" fmla="*/ 4528555 w 21600"/>
                <a:gd name="T33" fmla="*/ 585482 h 21600"/>
                <a:gd name="T34" fmla="*/ 7399948 w 21600"/>
                <a:gd name="T35" fmla="*/ 0 h 21600"/>
                <a:gd name="T36" fmla="*/ 10259876 w 21600"/>
                <a:gd name="T37" fmla="*/ 585482 h 21600"/>
                <a:gd name="T38" fmla="*/ 12618627 w 21600"/>
                <a:gd name="T39" fmla="*/ 2185053 h 21600"/>
                <a:gd name="T40" fmla="*/ 14213304 w 21600"/>
                <a:gd name="T41" fmla="*/ 4554280 h 21600"/>
                <a:gd name="T42" fmla="*/ 14790868 w 21600"/>
                <a:gd name="T43" fmla="*/ 7432176 h 21600"/>
                <a:gd name="T44" fmla="*/ 14472935 w 21600"/>
                <a:gd name="T45" fmla="*/ 9570188 h 21600"/>
                <a:gd name="T46" fmla="*/ 13567551 w 21600"/>
                <a:gd name="T47" fmla="*/ 11517416 h 21600"/>
                <a:gd name="T48" fmla="*/ 17546461 w 21600"/>
                <a:gd name="T49" fmla="*/ 15526676 h 21600"/>
                <a:gd name="T50" fmla="*/ 2955233 w 21600"/>
                <a:gd name="T51" fmla="*/ 7432176 h 21600"/>
                <a:gd name="T52" fmla="*/ 3310140 w 21600"/>
                <a:gd name="T53" fmla="*/ 9181236 h 21600"/>
                <a:gd name="T54" fmla="*/ 4266459 w 21600"/>
                <a:gd name="T55" fmla="*/ 10587553 h 21600"/>
                <a:gd name="T56" fmla="*/ 5675456 w 21600"/>
                <a:gd name="T57" fmla="*/ 11536411 h 21600"/>
                <a:gd name="T58" fmla="*/ 7397483 w 21600"/>
                <a:gd name="T59" fmla="*/ 11886539 h 21600"/>
                <a:gd name="T60" fmla="*/ 9112947 w 21600"/>
                <a:gd name="T61" fmla="*/ 11536411 h 21600"/>
                <a:gd name="T62" fmla="*/ 10517845 w 21600"/>
                <a:gd name="T63" fmla="*/ 10587553 h 21600"/>
                <a:gd name="T64" fmla="*/ 11474163 w 21600"/>
                <a:gd name="T65" fmla="*/ 9181236 h 21600"/>
                <a:gd name="T66" fmla="*/ 11829100 w 21600"/>
                <a:gd name="T67" fmla="*/ 7432176 h 21600"/>
                <a:gd name="T68" fmla="*/ 11474163 w 21600"/>
                <a:gd name="T69" fmla="*/ 5708749 h 21600"/>
                <a:gd name="T70" fmla="*/ 10517845 w 21600"/>
                <a:gd name="T71" fmla="*/ 4288380 h 21600"/>
                <a:gd name="T72" fmla="*/ 9112947 w 21600"/>
                <a:gd name="T73" fmla="*/ 3329608 h 21600"/>
                <a:gd name="T74" fmla="*/ 7397483 w 21600"/>
                <a:gd name="T75" fmla="*/ 2977842 h 21600"/>
                <a:gd name="T76" fmla="*/ 5675456 w 21600"/>
                <a:gd name="T77" fmla="*/ 3329608 h 21600"/>
                <a:gd name="T78" fmla="*/ 4266459 w 21600"/>
                <a:gd name="T79" fmla="*/ 4288380 h 21600"/>
                <a:gd name="T80" fmla="*/ 3310140 w 21600"/>
                <a:gd name="T81" fmla="*/ 5708749 h 21600"/>
                <a:gd name="T82" fmla="*/ 2955233 w 21600"/>
                <a:gd name="T83" fmla="*/ 7432176 h 21600"/>
                <a:gd name="T84" fmla="*/ 7399948 w 21600"/>
                <a:gd name="T85" fmla="*/ 4617041 h 21600"/>
                <a:gd name="T86" fmla="*/ 7782803 w 21600"/>
                <a:gd name="T87" fmla="*/ 4778082 h 21600"/>
                <a:gd name="T88" fmla="*/ 7943030 w 21600"/>
                <a:gd name="T89" fmla="*/ 5186028 h 21600"/>
                <a:gd name="T90" fmla="*/ 7782803 w 21600"/>
                <a:gd name="T91" fmla="*/ 5570842 h 21600"/>
                <a:gd name="T92" fmla="*/ 7399948 w 21600"/>
                <a:gd name="T93" fmla="*/ 5734354 h 21600"/>
                <a:gd name="T94" fmla="*/ 6204550 w 21600"/>
                <a:gd name="T95" fmla="*/ 6224056 h 21600"/>
                <a:gd name="T96" fmla="*/ 5709966 w 21600"/>
                <a:gd name="T97" fmla="*/ 7429705 h 21600"/>
                <a:gd name="T98" fmla="*/ 5549768 w 21600"/>
                <a:gd name="T99" fmla="*/ 7817018 h 21600"/>
                <a:gd name="T100" fmla="*/ 5166913 w 21600"/>
                <a:gd name="T101" fmla="*/ 7975559 h 21600"/>
                <a:gd name="T102" fmla="*/ 4753647 w 21600"/>
                <a:gd name="T103" fmla="*/ 7817018 h 21600"/>
                <a:gd name="T104" fmla="*/ 4600844 w 21600"/>
                <a:gd name="T105" fmla="*/ 7429705 h 21600"/>
                <a:gd name="T106" fmla="*/ 4816907 w 21600"/>
                <a:gd name="T107" fmla="*/ 6347078 h 21600"/>
                <a:gd name="T108" fmla="*/ 5419952 w 21600"/>
                <a:gd name="T109" fmla="*/ 5442848 h 21600"/>
                <a:gd name="T110" fmla="*/ 6307250 w 21600"/>
                <a:gd name="T111" fmla="*/ 4836705 h 21600"/>
                <a:gd name="T112" fmla="*/ 7399948 w 21600"/>
                <a:gd name="T113" fmla="*/ 4617041 h 2160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600" h="21600">
                  <a:moveTo>
                    <a:pt x="21357" y="18802"/>
                  </a:moveTo>
                  <a:cubicBezTo>
                    <a:pt x="21518" y="18965"/>
                    <a:pt x="21600" y="19177"/>
                    <a:pt x="21600" y="19437"/>
                  </a:cubicBezTo>
                  <a:cubicBezTo>
                    <a:pt x="21600" y="19581"/>
                    <a:pt x="21518" y="19776"/>
                    <a:pt x="21357" y="20019"/>
                  </a:cubicBezTo>
                  <a:cubicBezTo>
                    <a:pt x="21193" y="20261"/>
                    <a:pt x="20990" y="20504"/>
                    <a:pt x="20747" y="20741"/>
                  </a:cubicBezTo>
                  <a:cubicBezTo>
                    <a:pt x="20504" y="20979"/>
                    <a:pt x="20261" y="21185"/>
                    <a:pt x="20023" y="21349"/>
                  </a:cubicBezTo>
                  <a:cubicBezTo>
                    <a:pt x="19783" y="21518"/>
                    <a:pt x="19594" y="21600"/>
                    <a:pt x="19447" y="21600"/>
                  </a:cubicBezTo>
                  <a:cubicBezTo>
                    <a:pt x="19190" y="21600"/>
                    <a:pt x="18975" y="21515"/>
                    <a:pt x="18811" y="21343"/>
                  </a:cubicBezTo>
                  <a:lnTo>
                    <a:pt x="13957" y="16503"/>
                  </a:lnTo>
                  <a:cubicBezTo>
                    <a:pt x="13217" y="16980"/>
                    <a:pt x="12429" y="17350"/>
                    <a:pt x="11590" y="17604"/>
                  </a:cubicBezTo>
                  <a:cubicBezTo>
                    <a:pt x="10751" y="17864"/>
                    <a:pt x="9892" y="17991"/>
                    <a:pt x="9007" y="17991"/>
                  </a:cubicBezTo>
                  <a:cubicBezTo>
                    <a:pt x="7770" y="17991"/>
                    <a:pt x="6609" y="17760"/>
                    <a:pt x="5518" y="17291"/>
                  </a:cubicBezTo>
                  <a:cubicBezTo>
                    <a:pt x="4427" y="16822"/>
                    <a:pt x="3470" y="16175"/>
                    <a:pt x="2645" y="15354"/>
                  </a:cubicBezTo>
                  <a:cubicBezTo>
                    <a:pt x="1817" y="14535"/>
                    <a:pt x="1173" y="13580"/>
                    <a:pt x="701" y="12487"/>
                  </a:cubicBezTo>
                  <a:cubicBezTo>
                    <a:pt x="232" y="11400"/>
                    <a:pt x="0" y="10237"/>
                    <a:pt x="0" y="9000"/>
                  </a:cubicBezTo>
                  <a:cubicBezTo>
                    <a:pt x="0" y="7769"/>
                    <a:pt x="232" y="6602"/>
                    <a:pt x="701" y="5515"/>
                  </a:cubicBezTo>
                  <a:cubicBezTo>
                    <a:pt x="1170" y="4422"/>
                    <a:pt x="1817" y="3468"/>
                    <a:pt x="2645" y="2646"/>
                  </a:cubicBezTo>
                  <a:cubicBezTo>
                    <a:pt x="3470" y="1827"/>
                    <a:pt x="4425" y="1180"/>
                    <a:pt x="5512" y="709"/>
                  </a:cubicBezTo>
                  <a:cubicBezTo>
                    <a:pt x="6600" y="237"/>
                    <a:pt x="7764" y="0"/>
                    <a:pt x="9007" y="0"/>
                  </a:cubicBezTo>
                  <a:cubicBezTo>
                    <a:pt x="10245" y="0"/>
                    <a:pt x="11403" y="237"/>
                    <a:pt x="12488" y="709"/>
                  </a:cubicBezTo>
                  <a:cubicBezTo>
                    <a:pt x="13573" y="1180"/>
                    <a:pt x="14531" y="1827"/>
                    <a:pt x="15359" y="2646"/>
                  </a:cubicBezTo>
                  <a:cubicBezTo>
                    <a:pt x="16184" y="3468"/>
                    <a:pt x="16831" y="4422"/>
                    <a:pt x="17300" y="5515"/>
                  </a:cubicBezTo>
                  <a:cubicBezTo>
                    <a:pt x="17769" y="6602"/>
                    <a:pt x="18003" y="7769"/>
                    <a:pt x="18003" y="9000"/>
                  </a:cubicBezTo>
                  <a:cubicBezTo>
                    <a:pt x="18003" y="9887"/>
                    <a:pt x="17873" y="10748"/>
                    <a:pt x="17616" y="11589"/>
                  </a:cubicBezTo>
                  <a:cubicBezTo>
                    <a:pt x="17359" y="12434"/>
                    <a:pt x="16992" y="13219"/>
                    <a:pt x="16514" y="13947"/>
                  </a:cubicBezTo>
                  <a:lnTo>
                    <a:pt x="21357" y="18802"/>
                  </a:lnTo>
                  <a:close/>
                  <a:moveTo>
                    <a:pt x="3597" y="9000"/>
                  </a:moveTo>
                  <a:cubicBezTo>
                    <a:pt x="3597" y="9759"/>
                    <a:pt x="3741" y="10465"/>
                    <a:pt x="4029" y="11118"/>
                  </a:cubicBezTo>
                  <a:cubicBezTo>
                    <a:pt x="4317" y="11770"/>
                    <a:pt x="4707" y="12338"/>
                    <a:pt x="5193" y="12821"/>
                  </a:cubicBezTo>
                  <a:cubicBezTo>
                    <a:pt x="5679" y="13301"/>
                    <a:pt x="6253" y="13685"/>
                    <a:pt x="6908" y="13970"/>
                  </a:cubicBezTo>
                  <a:cubicBezTo>
                    <a:pt x="7566" y="14252"/>
                    <a:pt x="8264" y="14394"/>
                    <a:pt x="9004" y="14394"/>
                  </a:cubicBezTo>
                  <a:cubicBezTo>
                    <a:pt x="9745" y="14394"/>
                    <a:pt x="10440" y="14252"/>
                    <a:pt x="11092" y="13970"/>
                  </a:cubicBezTo>
                  <a:cubicBezTo>
                    <a:pt x="11745" y="13685"/>
                    <a:pt x="12319" y="13301"/>
                    <a:pt x="12802" y="12821"/>
                  </a:cubicBezTo>
                  <a:cubicBezTo>
                    <a:pt x="13291" y="12338"/>
                    <a:pt x="13678" y="11770"/>
                    <a:pt x="13966" y="11118"/>
                  </a:cubicBezTo>
                  <a:cubicBezTo>
                    <a:pt x="14254" y="10465"/>
                    <a:pt x="14398" y="9759"/>
                    <a:pt x="14398" y="9000"/>
                  </a:cubicBezTo>
                  <a:cubicBezTo>
                    <a:pt x="14398" y="8260"/>
                    <a:pt x="14254" y="7565"/>
                    <a:pt x="13966" y="6913"/>
                  </a:cubicBezTo>
                  <a:cubicBezTo>
                    <a:pt x="13675" y="6258"/>
                    <a:pt x="13291" y="5684"/>
                    <a:pt x="12802" y="5193"/>
                  </a:cubicBezTo>
                  <a:cubicBezTo>
                    <a:pt x="12316" y="4704"/>
                    <a:pt x="11745" y="4317"/>
                    <a:pt x="11092" y="4032"/>
                  </a:cubicBezTo>
                  <a:cubicBezTo>
                    <a:pt x="10440" y="3750"/>
                    <a:pt x="9742" y="3606"/>
                    <a:pt x="9004" y="3606"/>
                  </a:cubicBezTo>
                  <a:cubicBezTo>
                    <a:pt x="8267" y="3606"/>
                    <a:pt x="7566" y="3750"/>
                    <a:pt x="6908" y="4032"/>
                  </a:cubicBezTo>
                  <a:cubicBezTo>
                    <a:pt x="6253" y="4317"/>
                    <a:pt x="5676" y="4704"/>
                    <a:pt x="5193" y="5193"/>
                  </a:cubicBezTo>
                  <a:cubicBezTo>
                    <a:pt x="4707" y="5684"/>
                    <a:pt x="4317" y="6258"/>
                    <a:pt x="4029" y="6913"/>
                  </a:cubicBezTo>
                  <a:cubicBezTo>
                    <a:pt x="3741" y="7565"/>
                    <a:pt x="3597" y="8257"/>
                    <a:pt x="3597" y="9000"/>
                  </a:cubicBezTo>
                  <a:moveTo>
                    <a:pt x="9007" y="5591"/>
                  </a:moveTo>
                  <a:cubicBezTo>
                    <a:pt x="9185" y="5591"/>
                    <a:pt x="9344" y="5656"/>
                    <a:pt x="9473" y="5786"/>
                  </a:cubicBezTo>
                  <a:cubicBezTo>
                    <a:pt x="9603" y="5919"/>
                    <a:pt x="9668" y="6082"/>
                    <a:pt x="9668" y="6280"/>
                  </a:cubicBezTo>
                  <a:cubicBezTo>
                    <a:pt x="9668" y="6461"/>
                    <a:pt x="9603" y="6616"/>
                    <a:pt x="9473" y="6746"/>
                  </a:cubicBezTo>
                  <a:cubicBezTo>
                    <a:pt x="9344" y="6879"/>
                    <a:pt x="9185" y="6944"/>
                    <a:pt x="9007" y="6944"/>
                  </a:cubicBezTo>
                  <a:cubicBezTo>
                    <a:pt x="8439" y="6944"/>
                    <a:pt x="7953" y="7144"/>
                    <a:pt x="7552" y="7537"/>
                  </a:cubicBezTo>
                  <a:cubicBezTo>
                    <a:pt x="7151" y="7935"/>
                    <a:pt x="6950" y="8423"/>
                    <a:pt x="6950" y="8997"/>
                  </a:cubicBezTo>
                  <a:cubicBezTo>
                    <a:pt x="6950" y="9180"/>
                    <a:pt x="6885" y="9333"/>
                    <a:pt x="6755" y="9466"/>
                  </a:cubicBezTo>
                  <a:cubicBezTo>
                    <a:pt x="6623" y="9596"/>
                    <a:pt x="6467" y="9658"/>
                    <a:pt x="6289" y="9658"/>
                  </a:cubicBezTo>
                  <a:cubicBezTo>
                    <a:pt x="6080" y="9658"/>
                    <a:pt x="5914" y="9596"/>
                    <a:pt x="5786" y="9466"/>
                  </a:cubicBezTo>
                  <a:cubicBezTo>
                    <a:pt x="5659" y="9333"/>
                    <a:pt x="5600" y="9180"/>
                    <a:pt x="5600" y="8997"/>
                  </a:cubicBezTo>
                  <a:cubicBezTo>
                    <a:pt x="5600" y="8539"/>
                    <a:pt x="5685" y="8104"/>
                    <a:pt x="5863" y="7686"/>
                  </a:cubicBezTo>
                  <a:cubicBezTo>
                    <a:pt x="6038" y="7271"/>
                    <a:pt x="6281" y="6907"/>
                    <a:pt x="6597" y="6591"/>
                  </a:cubicBezTo>
                  <a:cubicBezTo>
                    <a:pt x="6905" y="6277"/>
                    <a:pt x="7264" y="6029"/>
                    <a:pt x="7677" y="5857"/>
                  </a:cubicBezTo>
                  <a:cubicBezTo>
                    <a:pt x="8086" y="5681"/>
                    <a:pt x="8530" y="5591"/>
                    <a:pt x="9007" y="5591"/>
                  </a:cubicBez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28" name="AutoShape 29"/>
            <p:cNvSpPr/>
            <p:nvPr/>
          </p:nvSpPr>
          <p:spPr bwMode="auto">
            <a:xfrm>
              <a:off x="7305675" y="2905919"/>
              <a:ext cx="310357" cy="257969"/>
            </a:xfrm>
            <a:custGeom>
              <a:avLst/>
              <a:gdLst>
                <a:gd name="T0" fmla="*/ 17837251 w 21600"/>
                <a:gd name="T1" fmla="*/ 5368360 h 21579"/>
                <a:gd name="T2" fmla="*/ 17521808 w 21600"/>
                <a:gd name="T3" fmla="*/ 6114950 h 21579"/>
                <a:gd name="T4" fmla="*/ 16733158 w 21600"/>
                <a:gd name="T5" fmla="*/ 6532835 h 21579"/>
                <a:gd name="T6" fmla="*/ 16733158 w 21600"/>
                <a:gd name="T7" fmla="*/ 9495689 h 21579"/>
                <a:gd name="T8" fmla="*/ 16292998 w 21600"/>
                <a:gd name="T9" fmla="*/ 10362876 h 21579"/>
                <a:gd name="T10" fmla="*/ 15243418 w 21600"/>
                <a:gd name="T11" fmla="*/ 10723595 h 21579"/>
                <a:gd name="T12" fmla="*/ 13656232 w 21600"/>
                <a:gd name="T13" fmla="*/ 9663173 h 21579"/>
                <a:gd name="T14" fmla="*/ 11656961 w 21600"/>
                <a:gd name="T15" fmla="*/ 8720528 h 21579"/>
                <a:gd name="T16" fmla="*/ 9455384 w 21600"/>
                <a:gd name="T17" fmla="*/ 7985392 h 21579"/>
                <a:gd name="T18" fmla="*/ 7257945 w 21600"/>
                <a:gd name="T19" fmla="*/ 7584649 h 21579"/>
                <a:gd name="T20" fmla="*/ 6580793 w 21600"/>
                <a:gd name="T21" fmla="*/ 7905368 h 21579"/>
                <a:gd name="T22" fmla="*/ 6222389 w 21600"/>
                <a:gd name="T23" fmla="*/ 8406696 h 21579"/>
                <a:gd name="T24" fmla="*/ 6202561 w 21600"/>
                <a:gd name="T25" fmla="*/ 8973775 h 21579"/>
                <a:gd name="T26" fmla="*/ 6562632 w 21600"/>
                <a:gd name="T27" fmla="*/ 9495689 h 21579"/>
                <a:gd name="T28" fmla="*/ 6339664 w 21600"/>
                <a:gd name="T29" fmla="*/ 10102792 h 21579"/>
                <a:gd name="T30" fmla="*/ 6537861 w 21600"/>
                <a:gd name="T31" fmla="*/ 10636135 h 21579"/>
                <a:gd name="T32" fmla="*/ 7017649 w 21600"/>
                <a:gd name="T33" fmla="*/ 11129478 h 21579"/>
                <a:gd name="T34" fmla="*/ 7655978 w 21600"/>
                <a:gd name="T35" fmla="*/ 11599365 h 21579"/>
                <a:gd name="T36" fmla="*/ 6982964 w 21600"/>
                <a:gd name="T37" fmla="*/ 12126420 h 21579"/>
                <a:gd name="T38" fmla="*/ 5955655 w 21600"/>
                <a:gd name="T39" fmla="*/ 12331083 h 21579"/>
                <a:gd name="T40" fmla="*/ 4886247 w 21600"/>
                <a:gd name="T41" fmla="*/ 12247042 h 21579"/>
                <a:gd name="T42" fmla="*/ 4065412 w 21600"/>
                <a:gd name="T43" fmla="*/ 11896629 h 21579"/>
                <a:gd name="T44" fmla="*/ 3677293 w 21600"/>
                <a:gd name="T45" fmla="*/ 10893374 h 21579"/>
                <a:gd name="T46" fmla="*/ 3329608 w 21600"/>
                <a:gd name="T47" fmla="*/ 9846103 h 21579"/>
                <a:gd name="T48" fmla="*/ 3194201 w 21600"/>
                <a:gd name="T49" fmla="*/ 8735400 h 21579"/>
                <a:gd name="T50" fmla="*/ 3427054 w 21600"/>
                <a:gd name="T51" fmla="*/ 7519497 h 21579"/>
                <a:gd name="T52" fmla="*/ 1489740 w 21600"/>
                <a:gd name="T53" fmla="*/ 7519497 h 21579"/>
                <a:gd name="T54" fmla="*/ 440965 w 21600"/>
                <a:gd name="T55" fmla="*/ 7158778 h 21579"/>
                <a:gd name="T56" fmla="*/ 0 w 21600"/>
                <a:gd name="T57" fmla="*/ 6283008 h 21579"/>
                <a:gd name="T58" fmla="*/ 0 w 21600"/>
                <a:gd name="T59" fmla="*/ 4444006 h 21579"/>
                <a:gd name="T60" fmla="*/ 434384 w 21600"/>
                <a:gd name="T61" fmla="*/ 3569957 h 21579"/>
                <a:gd name="T62" fmla="*/ 1489740 w 21600"/>
                <a:gd name="T63" fmla="*/ 3204098 h 21579"/>
                <a:gd name="T64" fmla="*/ 6319835 w 21600"/>
                <a:gd name="T65" fmla="*/ 3204098 h 21579"/>
                <a:gd name="T66" fmla="*/ 8691534 w 21600"/>
                <a:gd name="T67" fmla="*/ 2936004 h 21579"/>
                <a:gd name="T68" fmla="*/ 11157374 w 21600"/>
                <a:gd name="T69" fmla="*/ 2214567 h 21579"/>
                <a:gd name="T70" fmla="*/ 13438235 w 21600"/>
                <a:gd name="T71" fmla="*/ 1184463 h 21579"/>
                <a:gd name="T72" fmla="*/ 15243418 w 21600"/>
                <a:gd name="T73" fmla="*/ 0 h 21579"/>
                <a:gd name="T74" fmla="*/ 16292998 w 21600"/>
                <a:gd name="T75" fmla="*/ 362416 h 21579"/>
                <a:gd name="T76" fmla="*/ 16733158 w 21600"/>
                <a:gd name="T77" fmla="*/ 1238187 h 21579"/>
                <a:gd name="T78" fmla="*/ 16733158 w 21600"/>
                <a:gd name="T79" fmla="*/ 4192481 h 21579"/>
                <a:gd name="T80" fmla="*/ 17521808 w 21600"/>
                <a:gd name="T81" fmla="*/ 4613786 h 21579"/>
                <a:gd name="T82" fmla="*/ 17837251 w 21600"/>
                <a:gd name="T83" fmla="*/ 5368360 h 21579"/>
                <a:gd name="T84" fmla="*/ 15243418 w 21600"/>
                <a:gd name="T85" fmla="*/ 1632067 h 21579"/>
                <a:gd name="T86" fmla="*/ 13636404 w 21600"/>
                <a:gd name="T87" fmla="*/ 2544993 h 21579"/>
                <a:gd name="T88" fmla="*/ 11792398 w 21600"/>
                <a:gd name="T89" fmla="*/ 3335001 h 21579"/>
                <a:gd name="T90" fmla="*/ 9808846 w 21600"/>
                <a:gd name="T91" fmla="*/ 3957549 h 21579"/>
                <a:gd name="T92" fmla="*/ 7809575 w 21600"/>
                <a:gd name="T93" fmla="*/ 4346839 h 21579"/>
                <a:gd name="T94" fmla="*/ 7809575 w 21600"/>
                <a:gd name="T95" fmla="*/ 6387060 h 21579"/>
                <a:gd name="T96" fmla="*/ 9808846 w 21600"/>
                <a:gd name="T97" fmla="*/ 6780917 h 21579"/>
                <a:gd name="T98" fmla="*/ 11792398 w 21600"/>
                <a:gd name="T99" fmla="*/ 7406884 h 21579"/>
                <a:gd name="T100" fmla="*/ 13646318 w 21600"/>
                <a:gd name="T101" fmla="*/ 8202033 h 21579"/>
                <a:gd name="T102" fmla="*/ 15243418 w 21600"/>
                <a:gd name="T103" fmla="*/ 9101259 h 21579"/>
                <a:gd name="T104" fmla="*/ 15243418 w 21600"/>
                <a:gd name="T105" fmla="*/ 1632067 h 21579"/>
                <a:gd name="T106" fmla="*/ 15243418 w 21600"/>
                <a:gd name="T107" fmla="*/ 1632067 h 2157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1600" h="21579">
                  <a:moveTo>
                    <a:pt x="21600" y="9391"/>
                  </a:moveTo>
                  <a:cubicBezTo>
                    <a:pt x="21600" y="9887"/>
                    <a:pt x="21473" y="10321"/>
                    <a:pt x="21218" y="10697"/>
                  </a:cubicBezTo>
                  <a:cubicBezTo>
                    <a:pt x="20963" y="11073"/>
                    <a:pt x="20648" y="11313"/>
                    <a:pt x="20263" y="11428"/>
                  </a:cubicBezTo>
                  <a:lnTo>
                    <a:pt x="20263" y="16611"/>
                  </a:lnTo>
                  <a:cubicBezTo>
                    <a:pt x="20263" y="17201"/>
                    <a:pt x="20087" y="17708"/>
                    <a:pt x="19730" y="18128"/>
                  </a:cubicBezTo>
                  <a:cubicBezTo>
                    <a:pt x="19375" y="18551"/>
                    <a:pt x="18951" y="18759"/>
                    <a:pt x="18459" y="18759"/>
                  </a:cubicBezTo>
                  <a:cubicBezTo>
                    <a:pt x="17928" y="18122"/>
                    <a:pt x="17286" y="17506"/>
                    <a:pt x="16537" y="16904"/>
                  </a:cubicBezTo>
                  <a:cubicBezTo>
                    <a:pt x="15786" y="16305"/>
                    <a:pt x="14980" y="15757"/>
                    <a:pt x="14116" y="15255"/>
                  </a:cubicBezTo>
                  <a:cubicBezTo>
                    <a:pt x="13254" y="14756"/>
                    <a:pt x="12363" y="14325"/>
                    <a:pt x="11450" y="13969"/>
                  </a:cubicBezTo>
                  <a:cubicBezTo>
                    <a:pt x="10537" y="13614"/>
                    <a:pt x="9648" y="13380"/>
                    <a:pt x="8789" y="13268"/>
                  </a:cubicBezTo>
                  <a:cubicBezTo>
                    <a:pt x="8453" y="13379"/>
                    <a:pt x="8179" y="13564"/>
                    <a:pt x="7969" y="13829"/>
                  </a:cubicBezTo>
                  <a:cubicBezTo>
                    <a:pt x="7758" y="14093"/>
                    <a:pt x="7614" y="14386"/>
                    <a:pt x="7535" y="14706"/>
                  </a:cubicBezTo>
                  <a:cubicBezTo>
                    <a:pt x="7457" y="15029"/>
                    <a:pt x="7450" y="15361"/>
                    <a:pt x="7511" y="15698"/>
                  </a:cubicBezTo>
                  <a:cubicBezTo>
                    <a:pt x="7575" y="16036"/>
                    <a:pt x="7719" y="16341"/>
                    <a:pt x="7947" y="16611"/>
                  </a:cubicBezTo>
                  <a:cubicBezTo>
                    <a:pt x="7751" y="16992"/>
                    <a:pt x="7660" y="17347"/>
                    <a:pt x="7677" y="17673"/>
                  </a:cubicBezTo>
                  <a:cubicBezTo>
                    <a:pt x="7692" y="17993"/>
                    <a:pt x="7773" y="18307"/>
                    <a:pt x="7917" y="18606"/>
                  </a:cubicBezTo>
                  <a:cubicBezTo>
                    <a:pt x="8059" y="18909"/>
                    <a:pt x="8255" y="19193"/>
                    <a:pt x="8498" y="19469"/>
                  </a:cubicBezTo>
                  <a:cubicBezTo>
                    <a:pt x="8737" y="19745"/>
                    <a:pt x="8997" y="20021"/>
                    <a:pt x="9271" y="20291"/>
                  </a:cubicBezTo>
                  <a:cubicBezTo>
                    <a:pt x="9114" y="20696"/>
                    <a:pt x="8843" y="21001"/>
                    <a:pt x="8456" y="21213"/>
                  </a:cubicBezTo>
                  <a:cubicBezTo>
                    <a:pt x="8069" y="21424"/>
                    <a:pt x="7655" y="21541"/>
                    <a:pt x="7212" y="21571"/>
                  </a:cubicBezTo>
                  <a:cubicBezTo>
                    <a:pt x="6772" y="21600"/>
                    <a:pt x="6341" y="21550"/>
                    <a:pt x="5917" y="21424"/>
                  </a:cubicBezTo>
                  <a:cubicBezTo>
                    <a:pt x="5496" y="21295"/>
                    <a:pt x="5163" y="21092"/>
                    <a:pt x="4923" y="20811"/>
                  </a:cubicBezTo>
                  <a:cubicBezTo>
                    <a:pt x="4781" y="20241"/>
                    <a:pt x="4625" y="19657"/>
                    <a:pt x="4453" y="19056"/>
                  </a:cubicBezTo>
                  <a:cubicBezTo>
                    <a:pt x="4282" y="18454"/>
                    <a:pt x="4140" y="17843"/>
                    <a:pt x="4032" y="17224"/>
                  </a:cubicBezTo>
                  <a:cubicBezTo>
                    <a:pt x="3922" y="16599"/>
                    <a:pt x="3868" y="15953"/>
                    <a:pt x="3868" y="15281"/>
                  </a:cubicBezTo>
                  <a:cubicBezTo>
                    <a:pt x="3868" y="14615"/>
                    <a:pt x="3961" y="13905"/>
                    <a:pt x="4150" y="13154"/>
                  </a:cubicBezTo>
                  <a:lnTo>
                    <a:pt x="1804" y="13154"/>
                  </a:lnTo>
                  <a:cubicBezTo>
                    <a:pt x="1312" y="13154"/>
                    <a:pt x="889" y="12945"/>
                    <a:pt x="534" y="12523"/>
                  </a:cubicBezTo>
                  <a:cubicBezTo>
                    <a:pt x="176" y="12100"/>
                    <a:pt x="0" y="11592"/>
                    <a:pt x="0" y="10991"/>
                  </a:cubicBezTo>
                  <a:lnTo>
                    <a:pt x="0" y="7774"/>
                  </a:lnTo>
                  <a:cubicBezTo>
                    <a:pt x="0" y="7184"/>
                    <a:pt x="176" y="6677"/>
                    <a:pt x="526" y="6245"/>
                  </a:cubicBezTo>
                  <a:cubicBezTo>
                    <a:pt x="879" y="5820"/>
                    <a:pt x="1305" y="5605"/>
                    <a:pt x="1804" y="5605"/>
                  </a:cubicBezTo>
                  <a:lnTo>
                    <a:pt x="7653" y="5605"/>
                  </a:lnTo>
                  <a:cubicBezTo>
                    <a:pt x="8551" y="5605"/>
                    <a:pt x="9509" y="5450"/>
                    <a:pt x="10525" y="5136"/>
                  </a:cubicBezTo>
                  <a:cubicBezTo>
                    <a:pt x="11541" y="4822"/>
                    <a:pt x="12537" y="4399"/>
                    <a:pt x="13511" y="3874"/>
                  </a:cubicBezTo>
                  <a:cubicBezTo>
                    <a:pt x="14488" y="3343"/>
                    <a:pt x="15409" y="2744"/>
                    <a:pt x="16273" y="2072"/>
                  </a:cubicBezTo>
                  <a:cubicBezTo>
                    <a:pt x="17135" y="1406"/>
                    <a:pt x="17864" y="713"/>
                    <a:pt x="18459" y="0"/>
                  </a:cubicBezTo>
                  <a:cubicBezTo>
                    <a:pt x="18951" y="0"/>
                    <a:pt x="19375" y="214"/>
                    <a:pt x="19730" y="634"/>
                  </a:cubicBezTo>
                  <a:cubicBezTo>
                    <a:pt x="20087" y="1057"/>
                    <a:pt x="20263" y="1567"/>
                    <a:pt x="20263" y="2166"/>
                  </a:cubicBezTo>
                  <a:lnTo>
                    <a:pt x="20263" y="7334"/>
                  </a:lnTo>
                  <a:cubicBezTo>
                    <a:pt x="20648" y="7446"/>
                    <a:pt x="20963" y="7692"/>
                    <a:pt x="21218" y="8071"/>
                  </a:cubicBezTo>
                  <a:cubicBezTo>
                    <a:pt x="21473" y="8455"/>
                    <a:pt x="21600" y="8895"/>
                    <a:pt x="21600" y="9391"/>
                  </a:cubicBezTo>
                  <a:moveTo>
                    <a:pt x="18459" y="2855"/>
                  </a:moveTo>
                  <a:cubicBezTo>
                    <a:pt x="17864" y="3407"/>
                    <a:pt x="17215" y="3941"/>
                    <a:pt x="16513" y="4452"/>
                  </a:cubicBezTo>
                  <a:cubicBezTo>
                    <a:pt x="15810" y="4963"/>
                    <a:pt x="15066" y="5423"/>
                    <a:pt x="14280" y="5834"/>
                  </a:cubicBezTo>
                  <a:cubicBezTo>
                    <a:pt x="13494" y="6245"/>
                    <a:pt x="12694" y="6609"/>
                    <a:pt x="11878" y="6923"/>
                  </a:cubicBezTo>
                  <a:cubicBezTo>
                    <a:pt x="11061" y="7237"/>
                    <a:pt x="10255" y="7463"/>
                    <a:pt x="9457" y="7604"/>
                  </a:cubicBezTo>
                  <a:lnTo>
                    <a:pt x="9457" y="11173"/>
                  </a:lnTo>
                  <a:cubicBezTo>
                    <a:pt x="10255" y="11325"/>
                    <a:pt x="11061" y="11554"/>
                    <a:pt x="11878" y="11862"/>
                  </a:cubicBezTo>
                  <a:cubicBezTo>
                    <a:pt x="12694" y="12170"/>
                    <a:pt x="13494" y="12537"/>
                    <a:pt x="14280" y="12957"/>
                  </a:cubicBezTo>
                  <a:cubicBezTo>
                    <a:pt x="15066" y="13379"/>
                    <a:pt x="15813" y="13843"/>
                    <a:pt x="16525" y="14348"/>
                  </a:cubicBezTo>
                  <a:cubicBezTo>
                    <a:pt x="17235" y="14856"/>
                    <a:pt x="17881" y="15381"/>
                    <a:pt x="18459" y="15921"/>
                  </a:cubicBezTo>
                  <a:lnTo>
                    <a:pt x="18459" y="2855"/>
                  </a:lnTo>
                  <a:close/>
                  <a:moveTo>
                    <a:pt x="18459" y="2855"/>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29" name="AutoShape 30"/>
            <p:cNvSpPr/>
            <p:nvPr/>
          </p:nvSpPr>
          <p:spPr bwMode="auto">
            <a:xfrm>
              <a:off x="4637088" y="2732088"/>
              <a:ext cx="309563" cy="309563"/>
            </a:xfrm>
            <a:custGeom>
              <a:avLst/>
              <a:gdLst>
                <a:gd name="T0" fmla="*/ 17746100 w 21600"/>
                <a:gd name="T1" fmla="*/ 3430927 h 21600"/>
                <a:gd name="T2" fmla="*/ 16421717 w 21600"/>
                <a:gd name="T3" fmla="*/ 17746100 h 21600"/>
                <a:gd name="T4" fmla="*/ 0 w 21600"/>
                <a:gd name="T5" fmla="*/ 16420886 h 21600"/>
                <a:gd name="T6" fmla="*/ 1324383 w 21600"/>
                <a:gd name="T7" fmla="*/ 2119672 h 21600"/>
                <a:gd name="T8" fmla="*/ 1880592 w 21600"/>
                <a:gd name="T9" fmla="*/ 1266053 h 21600"/>
                <a:gd name="T10" fmla="*/ 3941103 w 21600"/>
                <a:gd name="T11" fmla="*/ 0 h 21600"/>
                <a:gd name="T12" fmla="*/ 6008207 w 21600"/>
                <a:gd name="T13" fmla="*/ 1270152 h 21600"/>
                <a:gd name="T14" fmla="*/ 6682709 w 21600"/>
                <a:gd name="T15" fmla="*/ 2119672 h 21600"/>
                <a:gd name="T16" fmla="*/ 7162531 w 21600"/>
                <a:gd name="T17" fmla="*/ 629329 h 21600"/>
                <a:gd name="T18" fmla="*/ 9876190 w 21600"/>
                <a:gd name="T19" fmla="*/ 174989 h 21600"/>
                <a:gd name="T20" fmla="*/ 11065856 w 21600"/>
                <a:gd name="T21" fmla="*/ 1973432 h 21600"/>
                <a:gd name="T22" fmla="*/ 11619600 w 21600"/>
                <a:gd name="T23" fmla="*/ 1973432 h 21600"/>
                <a:gd name="T24" fmla="*/ 12780488 w 21600"/>
                <a:gd name="T25" fmla="*/ 174989 h 21600"/>
                <a:gd name="T26" fmla="*/ 15499078 w 21600"/>
                <a:gd name="T27" fmla="*/ 629329 h 21600"/>
                <a:gd name="T28" fmla="*/ 15978871 w 21600"/>
                <a:gd name="T29" fmla="*/ 2119672 h 21600"/>
                <a:gd name="T30" fmla="*/ 1791048 w 21600"/>
                <a:gd name="T31" fmla="*/ 6546330 h 21600"/>
                <a:gd name="T32" fmla="*/ 4984530 w 21600"/>
                <a:gd name="T33" fmla="*/ 6546330 h 21600"/>
                <a:gd name="T34" fmla="*/ 1791048 w 21600"/>
                <a:gd name="T35" fmla="*/ 12695043 h 21600"/>
                <a:gd name="T36" fmla="*/ 4984530 w 21600"/>
                <a:gd name="T37" fmla="*/ 13125536 h 21600"/>
                <a:gd name="T38" fmla="*/ 4984530 w 21600"/>
                <a:gd name="T39" fmla="*/ 15957517 h 21600"/>
                <a:gd name="T40" fmla="*/ 3943568 w 21600"/>
                <a:gd name="T41" fmla="*/ 5195663 h 21600"/>
                <a:gd name="T42" fmla="*/ 3943568 w 21600"/>
                <a:gd name="T43" fmla="*/ 1325214 h 21600"/>
                <a:gd name="T44" fmla="*/ 8655339 w 21600"/>
                <a:gd name="T45" fmla="*/ 6546330 h 21600"/>
                <a:gd name="T46" fmla="*/ 8655339 w 21600"/>
                <a:gd name="T47" fmla="*/ 9402158 h 21600"/>
                <a:gd name="T48" fmla="*/ 5428981 w 21600"/>
                <a:gd name="T49" fmla="*/ 9839215 h 21600"/>
                <a:gd name="T50" fmla="*/ 8655339 w 21600"/>
                <a:gd name="T51" fmla="*/ 9839215 h 21600"/>
                <a:gd name="T52" fmla="*/ 5428981 w 21600"/>
                <a:gd name="T53" fmla="*/ 15957517 h 21600"/>
                <a:gd name="T54" fmla="*/ 8030940 w 21600"/>
                <a:gd name="T55" fmla="*/ 4554008 h 21600"/>
                <a:gd name="T56" fmla="*/ 9521283 w 21600"/>
                <a:gd name="T57" fmla="*/ 5044493 h 21600"/>
                <a:gd name="T58" fmla="*/ 9521283 w 21600"/>
                <a:gd name="T59" fmla="*/ 1481314 h 21600"/>
                <a:gd name="T60" fmla="*/ 8030940 w 21600"/>
                <a:gd name="T61" fmla="*/ 1970967 h 21600"/>
                <a:gd name="T62" fmla="*/ 9098157 w 21600"/>
                <a:gd name="T63" fmla="*/ 6546330 h 21600"/>
                <a:gd name="T64" fmla="*/ 12312189 w 21600"/>
                <a:gd name="T65" fmla="*/ 6546330 h 21600"/>
                <a:gd name="T66" fmla="*/ 9098157 w 21600"/>
                <a:gd name="T67" fmla="*/ 12695043 h 21600"/>
                <a:gd name="T68" fmla="*/ 12312189 w 21600"/>
                <a:gd name="T69" fmla="*/ 13125536 h 21600"/>
                <a:gd name="T70" fmla="*/ 12312189 w 21600"/>
                <a:gd name="T71" fmla="*/ 15957517 h 21600"/>
                <a:gd name="T72" fmla="*/ 12752542 w 21600"/>
                <a:gd name="T73" fmla="*/ 6546330 h 21600"/>
                <a:gd name="T74" fmla="*/ 15957517 w 21600"/>
                <a:gd name="T75" fmla="*/ 6546330 h 21600"/>
                <a:gd name="T76" fmla="*/ 12752542 w 21600"/>
                <a:gd name="T77" fmla="*/ 12695043 h 21600"/>
                <a:gd name="T78" fmla="*/ 15957517 w 21600"/>
                <a:gd name="T79" fmla="*/ 13125536 h 21600"/>
                <a:gd name="T80" fmla="*/ 15957517 w 21600"/>
                <a:gd name="T81" fmla="*/ 15957517 h 21600"/>
                <a:gd name="T82" fmla="*/ 13807462 w 21600"/>
                <a:gd name="T83" fmla="*/ 5195663 h 21600"/>
                <a:gd name="T84" fmla="*/ 13807462 w 21600"/>
                <a:gd name="T85" fmla="*/ 1325214 h 21600"/>
                <a:gd name="T86" fmla="*/ 12946448 w 21600"/>
                <a:gd name="T87" fmla="*/ 4554008 h 216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1600" h="21600">
                  <a:moveTo>
                    <a:pt x="19988" y="2580"/>
                  </a:moveTo>
                  <a:cubicBezTo>
                    <a:pt x="20420" y="2580"/>
                    <a:pt x="20794" y="2736"/>
                    <a:pt x="21116" y="3053"/>
                  </a:cubicBezTo>
                  <a:cubicBezTo>
                    <a:pt x="21439" y="3372"/>
                    <a:pt x="21600" y="3744"/>
                    <a:pt x="21600" y="4176"/>
                  </a:cubicBezTo>
                  <a:lnTo>
                    <a:pt x="21600" y="19987"/>
                  </a:lnTo>
                  <a:cubicBezTo>
                    <a:pt x="21600" y="20419"/>
                    <a:pt x="21439" y="20797"/>
                    <a:pt x="21116" y="21116"/>
                  </a:cubicBezTo>
                  <a:cubicBezTo>
                    <a:pt x="20794" y="21439"/>
                    <a:pt x="20420" y="21600"/>
                    <a:pt x="19988" y="21600"/>
                  </a:cubicBezTo>
                  <a:lnTo>
                    <a:pt x="1612" y="21600"/>
                  </a:lnTo>
                  <a:cubicBezTo>
                    <a:pt x="1180" y="21600"/>
                    <a:pt x="806" y="21439"/>
                    <a:pt x="484" y="21116"/>
                  </a:cubicBezTo>
                  <a:cubicBezTo>
                    <a:pt x="161" y="20797"/>
                    <a:pt x="0" y="20419"/>
                    <a:pt x="0" y="19987"/>
                  </a:cubicBezTo>
                  <a:lnTo>
                    <a:pt x="0" y="4176"/>
                  </a:lnTo>
                  <a:cubicBezTo>
                    <a:pt x="0" y="3744"/>
                    <a:pt x="161" y="3372"/>
                    <a:pt x="484" y="3053"/>
                  </a:cubicBezTo>
                  <a:cubicBezTo>
                    <a:pt x="806" y="2736"/>
                    <a:pt x="1180" y="2580"/>
                    <a:pt x="1612" y="2580"/>
                  </a:cubicBezTo>
                  <a:lnTo>
                    <a:pt x="2151" y="2580"/>
                  </a:lnTo>
                  <a:lnTo>
                    <a:pt x="2151" y="2402"/>
                  </a:lnTo>
                  <a:cubicBezTo>
                    <a:pt x="2151" y="2117"/>
                    <a:pt x="2197" y="1829"/>
                    <a:pt x="2289" y="1541"/>
                  </a:cubicBezTo>
                  <a:cubicBezTo>
                    <a:pt x="2381" y="1250"/>
                    <a:pt x="2531" y="991"/>
                    <a:pt x="2738" y="766"/>
                  </a:cubicBezTo>
                  <a:cubicBezTo>
                    <a:pt x="2943" y="542"/>
                    <a:pt x="3216" y="360"/>
                    <a:pt x="3556" y="213"/>
                  </a:cubicBezTo>
                  <a:cubicBezTo>
                    <a:pt x="3896" y="75"/>
                    <a:pt x="4310" y="0"/>
                    <a:pt x="4797" y="0"/>
                  </a:cubicBezTo>
                  <a:cubicBezTo>
                    <a:pt x="5283" y="0"/>
                    <a:pt x="5698" y="75"/>
                    <a:pt x="6038" y="213"/>
                  </a:cubicBezTo>
                  <a:cubicBezTo>
                    <a:pt x="6378" y="360"/>
                    <a:pt x="6651" y="542"/>
                    <a:pt x="6858" y="766"/>
                  </a:cubicBezTo>
                  <a:cubicBezTo>
                    <a:pt x="7063" y="991"/>
                    <a:pt x="7215" y="1256"/>
                    <a:pt x="7313" y="1546"/>
                  </a:cubicBezTo>
                  <a:cubicBezTo>
                    <a:pt x="7411" y="1840"/>
                    <a:pt x="7457" y="2125"/>
                    <a:pt x="7457" y="2402"/>
                  </a:cubicBezTo>
                  <a:lnTo>
                    <a:pt x="7457" y="2580"/>
                  </a:lnTo>
                  <a:lnTo>
                    <a:pt x="8134" y="2580"/>
                  </a:lnTo>
                  <a:lnTo>
                    <a:pt x="8134" y="2402"/>
                  </a:lnTo>
                  <a:cubicBezTo>
                    <a:pt x="8134" y="2117"/>
                    <a:pt x="8180" y="1829"/>
                    <a:pt x="8269" y="1541"/>
                  </a:cubicBezTo>
                  <a:cubicBezTo>
                    <a:pt x="8364" y="1250"/>
                    <a:pt x="8511" y="991"/>
                    <a:pt x="8718" y="766"/>
                  </a:cubicBezTo>
                  <a:cubicBezTo>
                    <a:pt x="8926" y="541"/>
                    <a:pt x="9199" y="360"/>
                    <a:pt x="9539" y="213"/>
                  </a:cubicBezTo>
                  <a:cubicBezTo>
                    <a:pt x="9879" y="75"/>
                    <a:pt x="10293" y="0"/>
                    <a:pt x="10780" y="0"/>
                  </a:cubicBezTo>
                  <a:cubicBezTo>
                    <a:pt x="11266" y="0"/>
                    <a:pt x="11678" y="75"/>
                    <a:pt x="12021" y="213"/>
                  </a:cubicBezTo>
                  <a:cubicBezTo>
                    <a:pt x="12361" y="360"/>
                    <a:pt x="12637" y="542"/>
                    <a:pt x="12853" y="766"/>
                  </a:cubicBezTo>
                  <a:cubicBezTo>
                    <a:pt x="13069" y="991"/>
                    <a:pt x="13227" y="1256"/>
                    <a:pt x="13322" y="1546"/>
                  </a:cubicBezTo>
                  <a:cubicBezTo>
                    <a:pt x="13417" y="1840"/>
                    <a:pt x="13469" y="2125"/>
                    <a:pt x="13469" y="2402"/>
                  </a:cubicBezTo>
                  <a:lnTo>
                    <a:pt x="13469" y="2580"/>
                  </a:lnTo>
                  <a:lnTo>
                    <a:pt x="14143" y="2580"/>
                  </a:lnTo>
                  <a:lnTo>
                    <a:pt x="14143" y="2402"/>
                  </a:lnTo>
                  <a:cubicBezTo>
                    <a:pt x="14143" y="2117"/>
                    <a:pt x="14192" y="1829"/>
                    <a:pt x="14287" y="1541"/>
                  </a:cubicBezTo>
                  <a:cubicBezTo>
                    <a:pt x="14385" y="1250"/>
                    <a:pt x="14534" y="991"/>
                    <a:pt x="14742" y="766"/>
                  </a:cubicBezTo>
                  <a:cubicBezTo>
                    <a:pt x="14949" y="541"/>
                    <a:pt x="15220" y="360"/>
                    <a:pt x="15556" y="213"/>
                  </a:cubicBezTo>
                  <a:cubicBezTo>
                    <a:pt x="15890" y="75"/>
                    <a:pt x="16305" y="0"/>
                    <a:pt x="16803" y="0"/>
                  </a:cubicBezTo>
                  <a:cubicBezTo>
                    <a:pt x="17290" y="0"/>
                    <a:pt x="17704" y="75"/>
                    <a:pt x="18044" y="213"/>
                  </a:cubicBezTo>
                  <a:cubicBezTo>
                    <a:pt x="18384" y="360"/>
                    <a:pt x="18657" y="541"/>
                    <a:pt x="18865" y="766"/>
                  </a:cubicBezTo>
                  <a:cubicBezTo>
                    <a:pt x="19069" y="991"/>
                    <a:pt x="19219" y="1256"/>
                    <a:pt x="19311" y="1546"/>
                  </a:cubicBezTo>
                  <a:cubicBezTo>
                    <a:pt x="19403" y="1840"/>
                    <a:pt x="19449" y="2125"/>
                    <a:pt x="19449" y="2402"/>
                  </a:cubicBezTo>
                  <a:lnTo>
                    <a:pt x="19449" y="2580"/>
                  </a:lnTo>
                  <a:lnTo>
                    <a:pt x="19988" y="2580"/>
                  </a:lnTo>
                  <a:close/>
                  <a:moveTo>
                    <a:pt x="6067" y="7968"/>
                  </a:moveTo>
                  <a:lnTo>
                    <a:pt x="2180" y="7968"/>
                  </a:lnTo>
                  <a:lnTo>
                    <a:pt x="2180" y="11444"/>
                  </a:lnTo>
                  <a:lnTo>
                    <a:pt x="6067" y="11444"/>
                  </a:lnTo>
                  <a:lnTo>
                    <a:pt x="6067" y="7968"/>
                  </a:lnTo>
                  <a:close/>
                  <a:moveTo>
                    <a:pt x="6067" y="11976"/>
                  </a:moveTo>
                  <a:lnTo>
                    <a:pt x="2180" y="11976"/>
                  </a:lnTo>
                  <a:lnTo>
                    <a:pt x="2180" y="15452"/>
                  </a:lnTo>
                  <a:lnTo>
                    <a:pt x="6067" y="15452"/>
                  </a:lnTo>
                  <a:lnTo>
                    <a:pt x="6067" y="11976"/>
                  </a:lnTo>
                  <a:close/>
                  <a:moveTo>
                    <a:pt x="6067" y="15976"/>
                  </a:moveTo>
                  <a:lnTo>
                    <a:pt x="2180" y="15976"/>
                  </a:lnTo>
                  <a:lnTo>
                    <a:pt x="2180" y="19423"/>
                  </a:lnTo>
                  <a:lnTo>
                    <a:pt x="6067" y="19423"/>
                  </a:lnTo>
                  <a:lnTo>
                    <a:pt x="6067" y="15976"/>
                  </a:lnTo>
                  <a:close/>
                  <a:moveTo>
                    <a:pt x="3755" y="5543"/>
                  </a:moveTo>
                  <a:cubicBezTo>
                    <a:pt x="3755" y="6068"/>
                    <a:pt x="4103" y="6324"/>
                    <a:pt x="4800" y="6324"/>
                  </a:cubicBezTo>
                  <a:cubicBezTo>
                    <a:pt x="5499" y="6324"/>
                    <a:pt x="5848" y="6068"/>
                    <a:pt x="5848" y="5543"/>
                  </a:cubicBezTo>
                  <a:lnTo>
                    <a:pt x="5848" y="2399"/>
                  </a:lnTo>
                  <a:cubicBezTo>
                    <a:pt x="5848" y="1878"/>
                    <a:pt x="5499" y="1613"/>
                    <a:pt x="4800" y="1613"/>
                  </a:cubicBezTo>
                  <a:cubicBezTo>
                    <a:pt x="4103" y="1613"/>
                    <a:pt x="3755" y="1878"/>
                    <a:pt x="3755" y="2399"/>
                  </a:cubicBezTo>
                  <a:lnTo>
                    <a:pt x="3755" y="5543"/>
                  </a:lnTo>
                  <a:close/>
                  <a:moveTo>
                    <a:pt x="10535" y="7968"/>
                  </a:moveTo>
                  <a:lnTo>
                    <a:pt x="6608" y="7968"/>
                  </a:lnTo>
                  <a:lnTo>
                    <a:pt x="6608" y="11444"/>
                  </a:lnTo>
                  <a:lnTo>
                    <a:pt x="10535" y="11444"/>
                  </a:lnTo>
                  <a:lnTo>
                    <a:pt x="10535" y="7968"/>
                  </a:lnTo>
                  <a:close/>
                  <a:moveTo>
                    <a:pt x="10535" y="11976"/>
                  </a:moveTo>
                  <a:lnTo>
                    <a:pt x="6608" y="11976"/>
                  </a:lnTo>
                  <a:lnTo>
                    <a:pt x="6608" y="15452"/>
                  </a:lnTo>
                  <a:lnTo>
                    <a:pt x="10535" y="15452"/>
                  </a:lnTo>
                  <a:lnTo>
                    <a:pt x="10535" y="11976"/>
                  </a:lnTo>
                  <a:close/>
                  <a:moveTo>
                    <a:pt x="10535" y="15976"/>
                  </a:moveTo>
                  <a:lnTo>
                    <a:pt x="6608" y="15976"/>
                  </a:lnTo>
                  <a:lnTo>
                    <a:pt x="6608" y="19423"/>
                  </a:lnTo>
                  <a:lnTo>
                    <a:pt x="10535" y="19423"/>
                  </a:lnTo>
                  <a:lnTo>
                    <a:pt x="10535" y="15976"/>
                  </a:lnTo>
                  <a:close/>
                  <a:moveTo>
                    <a:pt x="9775" y="5543"/>
                  </a:moveTo>
                  <a:cubicBezTo>
                    <a:pt x="9775" y="5826"/>
                    <a:pt x="9850" y="6027"/>
                    <a:pt x="9997" y="6145"/>
                  </a:cubicBezTo>
                  <a:cubicBezTo>
                    <a:pt x="10144" y="6269"/>
                    <a:pt x="10406" y="6324"/>
                    <a:pt x="10783" y="6324"/>
                  </a:cubicBezTo>
                  <a:cubicBezTo>
                    <a:pt x="11160" y="6324"/>
                    <a:pt x="11428" y="6263"/>
                    <a:pt x="11589" y="6140"/>
                  </a:cubicBezTo>
                  <a:cubicBezTo>
                    <a:pt x="11750" y="6016"/>
                    <a:pt x="11831" y="5820"/>
                    <a:pt x="11831" y="5544"/>
                  </a:cubicBezTo>
                  <a:lnTo>
                    <a:pt x="11831" y="2399"/>
                  </a:lnTo>
                  <a:cubicBezTo>
                    <a:pt x="11831" y="2128"/>
                    <a:pt x="11750" y="1933"/>
                    <a:pt x="11589" y="1803"/>
                  </a:cubicBezTo>
                  <a:cubicBezTo>
                    <a:pt x="11428" y="1673"/>
                    <a:pt x="11160" y="1613"/>
                    <a:pt x="10783" y="1613"/>
                  </a:cubicBezTo>
                  <a:cubicBezTo>
                    <a:pt x="10406" y="1613"/>
                    <a:pt x="10144" y="1679"/>
                    <a:pt x="9997" y="1814"/>
                  </a:cubicBezTo>
                  <a:cubicBezTo>
                    <a:pt x="9850" y="1944"/>
                    <a:pt x="9775" y="2140"/>
                    <a:pt x="9775" y="2399"/>
                  </a:cubicBezTo>
                  <a:lnTo>
                    <a:pt x="9775" y="5543"/>
                  </a:lnTo>
                  <a:close/>
                  <a:moveTo>
                    <a:pt x="14986" y="7968"/>
                  </a:moveTo>
                  <a:lnTo>
                    <a:pt x="11074" y="7968"/>
                  </a:lnTo>
                  <a:lnTo>
                    <a:pt x="11074" y="11444"/>
                  </a:lnTo>
                  <a:lnTo>
                    <a:pt x="14986" y="11444"/>
                  </a:lnTo>
                  <a:lnTo>
                    <a:pt x="14986" y="7968"/>
                  </a:lnTo>
                  <a:close/>
                  <a:moveTo>
                    <a:pt x="14986" y="11976"/>
                  </a:moveTo>
                  <a:lnTo>
                    <a:pt x="11074" y="11976"/>
                  </a:lnTo>
                  <a:lnTo>
                    <a:pt x="11074" y="15452"/>
                  </a:lnTo>
                  <a:lnTo>
                    <a:pt x="14986" y="15452"/>
                  </a:lnTo>
                  <a:lnTo>
                    <a:pt x="14986" y="11976"/>
                  </a:lnTo>
                  <a:close/>
                  <a:moveTo>
                    <a:pt x="14986" y="15976"/>
                  </a:moveTo>
                  <a:lnTo>
                    <a:pt x="11074" y="15976"/>
                  </a:lnTo>
                  <a:lnTo>
                    <a:pt x="11074" y="19423"/>
                  </a:lnTo>
                  <a:lnTo>
                    <a:pt x="14986" y="19423"/>
                  </a:lnTo>
                  <a:lnTo>
                    <a:pt x="14986" y="15976"/>
                  </a:lnTo>
                  <a:close/>
                  <a:moveTo>
                    <a:pt x="19423" y="7968"/>
                  </a:moveTo>
                  <a:lnTo>
                    <a:pt x="15522" y="7968"/>
                  </a:lnTo>
                  <a:lnTo>
                    <a:pt x="15522" y="11444"/>
                  </a:lnTo>
                  <a:lnTo>
                    <a:pt x="19423" y="11444"/>
                  </a:lnTo>
                  <a:lnTo>
                    <a:pt x="19423" y="7968"/>
                  </a:lnTo>
                  <a:close/>
                  <a:moveTo>
                    <a:pt x="19423" y="11976"/>
                  </a:moveTo>
                  <a:lnTo>
                    <a:pt x="15522" y="11976"/>
                  </a:lnTo>
                  <a:lnTo>
                    <a:pt x="15522" y="15452"/>
                  </a:lnTo>
                  <a:lnTo>
                    <a:pt x="19423" y="15452"/>
                  </a:lnTo>
                  <a:lnTo>
                    <a:pt x="19423" y="11976"/>
                  </a:lnTo>
                  <a:close/>
                  <a:moveTo>
                    <a:pt x="19423" y="15976"/>
                  </a:moveTo>
                  <a:lnTo>
                    <a:pt x="15522" y="15976"/>
                  </a:lnTo>
                  <a:lnTo>
                    <a:pt x="15522" y="19423"/>
                  </a:lnTo>
                  <a:lnTo>
                    <a:pt x="19423" y="19423"/>
                  </a:lnTo>
                  <a:lnTo>
                    <a:pt x="19423" y="15976"/>
                  </a:lnTo>
                  <a:close/>
                  <a:moveTo>
                    <a:pt x="15758" y="5543"/>
                  </a:moveTo>
                  <a:cubicBezTo>
                    <a:pt x="15758" y="6068"/>
                    <a:pt x="16106" y="6324"/>
                    <a:pt x="16806" y="6324"/>
                  </a:cubicBezTo>
                  <a:cubicBezTo>
                    <a:pt x="17503" y="6324"/>
                    <a:pt x="17848" y="6068"/>
                    <a:pt x="17840" y="5543"/>
                  </a:cubicBezTo>
                  <a:lnTo>
                    <a:pt x="17840" y="2399"/>
                  </a:lnTo>
                  <a:cubicBezTo>
                    <a:pt x="17840" y="1878"/>
                    <a:pt x="17494" y="1613"/>
                    <a:pt x="16806" y="1613"/>
                  </a:cubicBezTo>
                  <a:cubicBezTo>
                    <a:pt x="16106" y="1613"/>
                    <a:pt x="15758" y="1878"/>
                    <a:pt x="15758" y="2399"/>
                  </a:cubicBezTo>
                  <a:lnTo>
                    <a:pt x="15758" y="5543"/>
                  </a:lnTo>
                  <a:close/>
                  <a:moveTo>
                    <a:pt x="15758" y="5543"/>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30" name="AutoShape 31"/>
            <p:cNvSpPr/>
            <p:nvPr/>
          </p:nvSpPr>
          <p:spPr bwMode="auto">
            <a:xfrm>
              <a:off x="7676357" y="4049713"/>
              <a:ext cx="309563" cy="273844"/>
            </a:xfrm>
            <a:custGeom>
              <a:avLst/>
              <a:gdLst>
                <a:gd name="T0" fmla="*/ 17746100 w 21600"/>
                <a:gd name="T1" fmla="*/ 5554849 h 21600"/>
                <a:gd name="T2" fmla="*/ 8873064 w 21600"/>
                <a:gd name="T3" fmla="*/ 0 h 21600"/>
                <a:gd name="T4" fmla="*/ 0 w 21600"/>
                <a:gd name="T5" fmla="*/ 5554849 h 21600"/>
                <a:gd name="T6" fmla="*/ 4827599 w 21600"/>
                <a:gd name="T7" fmla="*/ 10531077 h 21600"/>
                <a:gd name="T8" fmla="*/ 2739972 w 21600"/>
                <a:gd name="T9" fmla="*/ 13887136 h 21600"/>
                <a:gd name="T10" fmla="*/ 9394763 w 21600"/>
                <a:gd name="T11" fmla="*/ 11109699 h 21600"/>
                <a:gd name="T12" fmla="*/ 17746100 w 21600"/>
                <a:gd name="T13" fmla="*/ 5554849 h 21600"/>
                <a:gd name="T14" fmla="*/ 17746100 w 21600"/>
                <a:gd name="T15" fmla="*/ 5554849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8640"/>
                  </a:moveTo>
                  <a:cubicBezTo>
                    <a:pt x="21600" y="3960"/>
                    <a:pt x="16676" y="0"/>
                    <a:pt x="10800" y="0"/>
                  </a:cubicBezTo>
                  <a:cubicBezTo>
                    <a:pt x="4765" y="0"/>
                    <a:pt x="0" y="3960"/>
                    <a:pt x="0" y="8640"/>
                  </a:cubicBezTo>
                  <a:cubicBezTo>
                    <a:pt x="0" y="12060"/>
                    <a:pt x="2382" y="14940"/>
                    <a:pt x="5876" y="16380"/>
                  </a:cubicBezTo>
                  <a:cubicBezTo>
                    <a:pt x="6035" y="17280"/>
                    <a:pt x="5718" y="19080"/>
                    <a:pt x="3335" y="21600"/>
                  </a:cubicBezTo>
                  <a:cubicBezTo>
                    <a:pt x="3335" y="21600"/>
                    <a:pt x="8576" y="19980"/>
                    <a:pt x="11435" y="17280"/>
                  </a:cubicBezTo>
                  <a:cubicBezTo>
                    <a:pt x="17153" y="16920"/>
                    <a:pt x="21600" y="13140"/>
                    <a:pt x="21600" y="8640"/>
                  </a:cubicBezTo>
                  <a:close/>
                  <a:moveTo>
                    <a:pt x="21600" y="8640"/>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31" name="AutoShape 32"/>
            <p:cNvSpPr/>
            <p:nvPr/>
          </p:nvSpPr>
          <p:spPr bwMode="auto">
            <a:xfrm>
              <a:off x="5811838" y="3748882"/>
              <a:ext cx="587375" cy="587375"/>
            </a:xfrm>
            <a:custGeom>
              <a:avLst/>
              <a:gdLst>
                <a:gd name="T0" fmla="*/ 63171855 w 21600"/>
                <a:gd name="T1" fmla="*/ 55614405 h 21600"/>
                <a:gd name="T2" fmla="*/ 63890628 w 21600"/>
                <a:gd name="T3" fmla="*/ 57492700 h 21600"/>
                <a:gd name="T4" fmla="*/ 63171855 w 21600"/>
                <a:gd name="T5" fmla="*/ 59214198 h 21600"/>
                <a:gd name="T6" fmla="*/ 61367526 w 21600"/>
                <a:gd name="T7" fmla="*/ 61349796 h 21600"/>
                <a:gd name="T8" fmla="*/ 59226000 w 21600"/>
                <a:gd name="T9" fmla="*/ 63148197 h 21600"/>
                <a:gd name="T10" fmla="*/ 57522286 w 21600"/>
                <a:gd name="T11" fmla="*/ 63890628 h 21600"/>
                <a:gd name="T12" fmla="*/ 55641055 w 21600"/>
                <a:gd name="T13" fmla="*/ 63130467 h 21600"/>
                <a:gd name="T14" fmla="*/ 41283380 w 21600"/>
                <a:gd name="T15" fmla="*/ 48814234 h 21600"/>
                <a:gd name="T16" fmla="*/ 34282033 w 21600"/>
                <a:gd name="T17" fmla="*/ 52070848 h 21600"/>
                <a:gd name="T18" fmla="*/ 26641807 w 21600"/>
                <a:gd name="T19" fmla="*/ 53215577 h 21600"/>
                <a:gd name="T20" fmla="*/ 16321683 w 21600"/>
                <a:gd name="T21" fmla="*/ 51145025 h 21600"/>
                <a:gd name="T22" fmla="*/ 7823617 w 21600"/>
                <a:gd name="T23" fmla="*/ 45415563 h 21600"/>
                <a:gd name="T24" fmla="*/ 2073488 w 21600"/>
                <a:gd name="T25" fmla="*/ 36935282 h 21600"/>
                <a:gd name="T26" fmla="*/ 0 w 21600"/>
                <a:gd name="T27" fmla="*/ 26621086 h 21600"/>
                <a:gd name="T28" fmla="*/ 2073488 w 21600"/>
                <a:gd name="T29" fmla="*/ 16312818 h 21600"/>
                <a:gd name="T30" fmla="*/ 7823617 w 21600"/>
                <a:gd name="T31" fmla="*/ 7826609 h 21600"/>
                <a:gd name="T32" fmla="*/ 16303953 w 21600"/>
                <a:gd name="T33" fmla="*/ 2097146 h 21600"/>
                <a:gd name="T34" fmla="*/ 26641807 w 21600"/>
                <a:gd name="T35" fmla="*/ 0 h 21600"/>
                <a:gd name="T36" fmla="*/ 36938273 w 21600"/>
                <a:gd name="T37" fmla="*/ 2097146 h 21600"/>
                <a:gd name="T38" fmla="*/ 45430356 w 21600"/>
                <a:gd name="T39" fmla="*/ 7826609 h 21600"/>
                <a:gd name="T40" fmla="*/ 51171675 w 21600"/>
                <a:gd name="T41" fmla="*/ 16312818 h 21600"/>
                <a:gd name="T42" fmla="*/ 53251037 w 21600"/>
                <a:gd name="T43" fmla="*/ 26621086 h 21600"/>
                <a:gd name="T44" fmla="*/ 52106363 w 21600"/>
                <a:gd name="T45" fmla="*/ 34279096 h 21600"/>
                <a:gd name="T46" fmla="*/ 48846758 w 21600"/>
                <a:gd name="T47" fmla="*/ 41256785 h 21600"/>
                <a:gd name="T48" fmla="*/ 63171855 w 21600"/>
                <a:gd name="T49" fmla="*/ 55614405 h 21600"/>
                <a:gd name="T50" fmla="*/ 10639591 w 21600"/>
                <a:gd name="T51" fmla="*/ 26621086 h 21600"/>
                <a:gd name="T52" fmla="*/ 11917404 w 21600"/>
                <a:gd name="T53" fmla="*/ 32885930 h 21600"/>
                <a:gd name="T54" fmla="*/ 15360346 w 21600"/>
                <a:gd name="T55" fmla="*/ 37923214 h 21600"/>
                <a:gd name="T56" fmla="*/ 20433145 w 21600"/>
                <a:gd name="T57" fmla="*/ 41321831 h 21600"/>
                <a:gd name="T58" fmla="*/ 26632942 w 21600"/>
                <a:gd name="T59" fmla="*/ 42575986 h 21600"/>
                <a:gd name="T60" fmla="*/ 32809027 w 21600"/>
                <a:gd name="T61" fmla="*/ 41321831 h 21600"/>
                <a:gd name="T62" fmla="*/ 37867033 w 21600"/>
                <a:gd name="T63" fmla="*/ 37923214 h 21600"/>
                <a:gd name="T64" fmla="*/ 41310029 w 21600"/>
                <a:gd name="T65" fmla="*/ 32885930 h 21600"/>
                <a:gd name="T66" fmla="*/ 42587842 w 21600"/>
                <a:gd name="T67" fmla="*/ 26621086 h 21600"/>
                <a:gd name="T68" fmla="*/ 41310029 w 21600"/>
                <a:gd name="T69" fmla="*/ 20447938 h 21600"/>
                <a:gd name="T70" fmla="*/ 37867033 w 21600"/>
                <a:gd name="T71" fmla="*/ 15360346 h 21600"/>
                <a:gd name="T72" fmla="*/ 32809027 w 21600"/>
                <a:gd name="T73" fmla="*/ 11926269 h 21600"/>
                <a:gd name="T74" fmla="*/ 26632942 w 21600"/>
                <a:gd name="T75" fmla="*/ 10666186 h 21600"/>
                <a:gd name="T76" fmla="*/ 20433145 w 21600"/>
                <a:gd name="T77" fmla="*/ 11926269 h 21600"/>
                <a:gd name="T78" fmla="*/ 15360346 w 21600"/>
                <a:gd name="T79" fmla="*/ 15360346 h 21600"/>
                <a:gd name="T80" fmla="*/ 11917404 w 21600"/>
                <a:gd name="T81" fmla="*/ 20447938 h 21600"/>
                <a:gd name="T82" fmla="*/ 10639591 w 21600"/>
                <a:gd name="T83" fmla="*/ 26621086 h 21600"/>
                <a:gd name="T84" fmla="*/ 26641807 w 21600"/>
                <a:gd name="T85" fmla="*/ 16537598 h 21600"/>
                <a:gd name="T86" fmla="*/ 28020181 w 21600"/>
                <a:gd name="T87" fmla="*/ 17114422 h 21600"/>
                <a:gd name="T88" fmla="*/ 28596950 w 21600"/>
                <a:gd name="T89" fmla="*/ 18575626 h 21600"/>
                <a:gd name="T90" fmla="*/ 28020181 w 21600"/>
                <a:gd name="T91" fmla="*/ 19953999 h 21600"/>
                <a:gd name="T92" fmla="*/ 26641807 w 21600"/>
                <a:gd name="T93" fmla="*/ 20539634 h 21600"/>
                <a:gd name="T94" fmla="*/ 22338034 w 21600"/>
                <a:gd name="T95" fmla="*/ 22293709 h 21600"/>
                <a:gd name="T96" fmla="*/ 20557418 w 21600"/>
                <a:gd name="T97" fmla="*/ 26612221 h 21600"/>
                <a:gd name="T98" fmla="*/ 19980594 w 21600"/>
                <a:gd name="T99" fmla="*/ 27999459 h 21600"/>
                <a:gd name="T100" fmla="*/ 18602221 w 21600"/>
                <a:gd name="T101" fmla="*/ 28567418 h 21600"/>
                <a:gd name="T102" fmla="*/ 17114422 w 21600"/>
                <a:gd name="T103" fmla="*/ 27999459 h 21600"/>
                <a:gd name="T104" fmla="*/ 16564247 w 21600"/>
                <a:gd name="T105" fmla="*/ 26612221 h 21600"/>
                <a:gd name="T106" fmla="*/ 17342138 w 21600"/>
                <a:gd name="T107" fmla="*/ 22734404 h 21600"/>
                <a:gd name="T108" fmla="*/ 19513250 w 21600"/>
                <a:gd name="T109" fmla="*/ 19495520 h 21600"/>
                <a:gd name="T110" fmla="*/ 22707809 w 21600"/>
                <a:gd name="T111" fmla="*/ 17324408 h 21600"/>
                <a:gd name="T112" fmla="*/ 26641807 w 21600"/>
                <a:gd name="T113" fmla="*/ 16537598 h 2160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600" h="21600">
                  <a:moveTo>
                    <a:pt x="21357" y="18802"/>
                  </a:moveTo>
                  <a:cubicBezTo>
                    <a:pt x="21518" y="18965"/>
                    <a:pt x="21600" y="19177"/>
                    <a:pt x="21600" y="19437"/>
                  </a:cubicBezTo>
                  <a:cubicBezTo>
                    <a:pt x="21600" y="19581"/>
                    <a:pt x="21518" y="19776"/>
                    <a:pt x="21357" y="20019"/>
                  </a:cubicBezTo>
                  <a:cubicBezTo>
                    <a:pt x="21193" y="20261"/>
                    <a:pt x="20990" y="20504"/>
                    <a:pt x="20747" y="20741"/>
                  </a:cubicBezTo>
                  <a:cubicBezTo>
                    <a:pt x="20504" y="20979"/>
                    <a:pt x="20261" y="21185"/>
                    <a:pt x="20023" y="21349"/>
                  </a:cubicBezTo>
                  <a:cubicBezTo>
                    <a:pt x="19783" y="21518"/>
                    <a:pt x="19594" y="21600"/>
                    <a:pt x="19447" y="21600"/>
                  </a:cubicBezTo>
                  <a:cubicBezTo>
                    <a:pt x="19190" y="21600"/>
                    <a:pt x="18975" y="21515"/>
                    <a:pt x="18811" y="21343"/>
                  </a:cubicBezTo>
                  <a:lnTo>
                    <a:pt x="13957" y="16503"/>
                  </a:lnTo>
                  <a:cubicBezTo>
                    <a:pt x="13217" y="16980"/>
                    <a:pt x="12429" y="17350"/>
                    <a:pt x="11590" y="17604"/>
                  </a:cubicBezTo>
                  <a:cubicBezTo>
                    <a:pt x="10751" y="17864"/>
                    <a:pt x="9892" y="17991"/>
                    <a:pt x="9007" y="17991"/>
                  </a:cubicBezTo>
                  <a:cubicBezTo>
                    <a:pt x="7770" y="17991"/>
                    <a:pt x="6609" y="17760"/>
                    <a:pt x="5518" y="17291"/>
                  </a:cubicBezTo>
                  <a:cubicBezTo>
                    <a:pt x="4427" y="16822"/>
                    <a:pt x="3470" y="16175"/>
                    <a:pt x="2645" y="15354"/>
                  </a:cubicBezTo>
                  <a:cubicBezTo>
                    <a:pt x="1817" y="14535"/>
                    <a:pt x="1173" y="13580"/>
                    <a:pt x="701" y="12487"/>
                  </a:cubicBezTo>
                  <a:cubicBezTo>
                    <a:pt x="232" y="11400"/>
                    <a:pt x="0" y="10237"/>
                    <a:pt x="0" y="9000"/>
                  </a:cubicBezTo>
                  <a:cubicBezTo>
                    <a:pt x="0" y="7769"/>
                    <a:pt x="232" y="6602"/>
                    <a:pt x="701" y="5515"/>
                  </a:cubicBezTo>
                  <a:cubicBezTo>
                    <a:pt x="1170" y="4422"/>
                    <a:pt x="1817" y="3468"/>
                    <a:pt x="2645" y="2646"/>
                  </a:cubicBezTo>
                  <a:cubicBezTo>
                    <a:pt x="3470" y="1827"/>
                    <a:pt x="4425" y="1180"/>
                    <a:pt x="5512" y="709"/>
                  </a:cubicBezTo>
                  <a:cubicBezTo>
                    <a:pt x="6600" y="237"/>
                    <a:pt x="7764" y="0"/>
                    <a:pt x="9007" y="0"/>
                  </a:cubicBezTo>
                  <a:cubicBezTo>
                    <a:pt x="10245" y="0"/>
                    <a:pt x="11403" y="237"/>
                    <a:pt x="12488" y="709"/>
                  </a:cubicBezTo>
                  <a:cubicBezTo>
                    <a:pt x="13573" y="1180"/>
                    <a:pt x="14531" y="1827"/>
                    <a:pt x="15359" y="2646"/>
                  </a:cubicBezTo>
                  <a:cubicBezTo>
                    <a:pt x="16184" y="3468"/>
                    <a:pt x="16831" y="4422"/>
                    <a:pt x="17300" y="5515"/>
                  </a:cubicBezTo>
                  <a:cubicBezTo>
                    <a:pt x="17769" y="6602"/>
                    <a:pt x="18003" y="7769"/>
                    <a:pt x="18003" y="9000"/>
                  </a:cubicBezTo>
                  <a:cubicBezTo>
                    <a:pt x="18003" y="9887"/>
                    <a:pt x="17873" y="10748"/>
                    <a:pt x="17616" y="11589"/>
                  </a:cubicBezTo>
                  <a:cubicBezTo>
                    <a:pt x="17359" y="12434"/>
                    <a:pt x="16992" y="13219"/>
                    <a:pt x="16514" y="13948"/>
                  </a:cubicBezTo>
                  <a:lnTo>
                    <a:pt x="21357" y="18802"/>
                  </a:lnTo>
                  <a:close/>
                  <a:moveTo>
                    <a:pt x="3597" y="9000"/>
                  </a:moveTo>
                  <a:cubicBezTo>
                    <a:pt x="3597" y="9759"/>
                    <a:pt x="3741" y="10465"/>
                    <a:pt x="4029" y="11118"/>
                  </a:cubicBezTo>
                  <a:cubicBezTo>
                    <a:pt x="4317" y="11770"/>
                    <a:pt x="4707" y="12338"/>
                    <a:pt x="5193" y="12821"/>
                  </a:cubicBezTo>
                  <a:cubicBezTo>
                    <a:pt x="5679" y="13301"/>
                    <a:pt x="6253" y="13685"/>
                    <a:pt x="6908" y="13970"/>
                  </a:cubicBezTo>
                  <a:cubicBezTo>
                    <a:pt x="7566" y="14252"/>
                    <a:pt x="8264" y="14394"/>
                    <a:pt x="9004" y="14394"/>
                  </a:cubicBezTo>
                  <a:cubicBezTo>
                    <a:pt x="9745" y="14394"/>
                    <a:pt x="10440" y="14252"/>
                    <a:pt x="11092" y="13970"/>
                  </a:cubicBezTo>
                  <a:cubicBezTo>
                    <a:pt x="11745" y="13685"/>
                    <a:pt x="12319" y="13301"/>
                    <a:pt x="12802" y="12821"/>
                  </a:cubicBezTo>
                  <a:cubicBezTo>
                    <a:pt x="13291" y="12338"/>
                    <a:pt x="13678" y="11770"/>
                    <a:pt x="13966" y="11118"/>
                  </a:cubicBezTo>
                  <a:cubicBezTo>
                    <a:pt x="14254" y="10465"/>
                    <a:pt x="14398" y="9759"/>
                    <a:pt x="14398" y="9000"/>
                  </a:cubicBezTo>
                  <a:cubicBezTo>
                    <a:pt x="14398" y="8260"/>
                    <a:pt x="14254" y="7565"/>
                    <a:pt x="13966" y="6913"/>
                  </a:cubicBezTo>
                  <a:cubicBezTo>
                    <a:pt x="13675" y="6258"/>
                    <a:pt x="13291" y="5684"/>
                    <a:pt x="12802" y="5193"/>
                  </a:cubicBezTo>
                  <a:cubicBezTo>
                    <a:pt x="12316" y="4704"/>
                    <a:pt x="11745" y="4317"/>
                    <a:pt x="11092" y="4032"/>
                  </a:cubicBezTo>
                  <a:cubicBezTo>
                    <a:pt x="10440" y="3750"/>
                    <a:pt x="9742" y="3606"/>
                    <a:pt x="9004" y="3606"/>
                  </a:cubicBezTo>
                  <a:cubicBezTo>
                    <a:pt x="8267" y="3606"/>
                    <a:pt x="7566" y="3750"/>
                    <a:pt x="6908" y="4032"/>
                  </a:cubicBezTo>
                  <a:cubicBezTo>
                    <a:pt x="6253" y="4317"/>
                    <a:pt x="5676" y="4704"/>
                    <a:pt x="5193" y="5193"/>
                  </a:cubicBezTo>
                  <a:cubicBezTo>
                    <a:pt x="4707" y="5684"/>
                    <a:pt x="4317" y="6258"/>
                    <a:pt x="4029" y="6913"/>
                  </a:cubicBezTo>
                  <a:cubicBezTo>
                    <a:pt x="3741" y="7565"/>
                    <a:pt x="3597" y="8257"/>
                    <a:pt x="3597" y="9000"/>
                  </a:cubicBezTo>
                  <a:moveTo>
                    <a:pt x="9007" y="5591"/>
                  </a:moveTo>
                  <a:cubicBezTo>
                    <a:pt x="9185" y="5591"/>
                    <a:pt x="9344" y="5656"/>
                    <a:pt x="9473" y="5786"/>
                  </a:cubicBezTo>
                  <a:cubicBezTo>
                    <a:pt x="9603" y="5919"/>
                    <a:pt x="9668" y="6082"/>
                    <a:pt x="9668" y="6280"/>
                  </a:cubicBezTo>
                  <a:cubicBezTo>
                    <a:pt x="9668" y="6461"/>
                    <a:pt x="9603" y="6616"/>
                    <a:pt x="9473" y="6746"/>
                  </a:cubicBezTo>
                  <a:cubicBezTo>
                    <a:pt x="9344" y="6879"/>
                    <a:pt x="9185" y="6944"/>
                    <a:pt x="9007" y="6944"/>
                  </a:cubicBezTo>
                  <a:cubicBezTo>
                    <a:pt x="8439" y="6944"/>
                    <a:pt x="7953" y="7144"/>
                    <a:pt x="7552" y="7537"/>
                  </a:cubicBezTo>
                  <a:cubicBezTo>
                    <a:pt x="7151" y="7935"/>
                    <a:pt x="6950" y="8423"/>
                    <a:pt x="6950" y="8997"/>
                  </a:cubicBezTo>
                  <a:cubicBezTo>
                    <a:pt x="6950" y="9180"/>
                    <a:pt x="6885" y="9333"/>
                    <a:pt x="6755" y="9466"/>
                  </a:cubicBezTo>
                  <a:cubicBezTo>
                    <a:pt x="6623" y="9596"/>
                    <a:pt x="6467" y="9658"/>
                    <a:pt x="6289" y="9658"/>
                  </a:cubicBezTo>
                  <a:cubicBezTo>
                    <a:pt x="6080" y="9658"/>
                    <a:pt x="5914" y="9596"/>
                    <a:pt x="5786" y="9466"/>
                  </a:cubicBezTo>
                  <a:cubicBezTo>
                    <a:pt x="5659" y="9333"/>
                    <a:pt x="5600" y="9180"/>
                    <a:pt x="5600" y="8997"/>
                  </a:cubicBezTo>
                  <a:cubicBezTo>
                    <a:pt x="5600" y="8539"/>
                    <a:pt x="5685" y="8104"/>
                    <a:pt x="5863" y="7686"/>
                  </a:cubicBezTo>
                  <a:cubicBezTo>
                    <a:pt x="6038" y="7271"/>
                    <a:pt x="6281" y="6907"/>
                    <a:pt x="6597" y="6591"/>
                  </a:cubicBezTo>
                  <a:cubicBezTo>
                    <a:pt x="6905" y="6277"/>
                    <a:pt x="7264" y="6029"/>
                    <a:pt x="7677" y="5857"/>
                  </a:cubicBezTo>
                  <a:cubicBezTo>
                    <a:pt x="8086" y="5681"/>
                    <a:pt x="8530" y="5591"/>
                    <a:pt x="9007" y="5591"/>
                  </a:cubicBezTo>
                </a:path>
              </a:pathLst>
            </a:custGeom>
            <a:solidFill>
              <a:srgbClr val="FFFFFF"/>
            </a:solidFill>
            <a:ln>
              <a:noFill/>
            </a:ln>
            <a:extLs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lstStyle/>
            <a:p>
              <a:endParaRPr lang="zh-CN" altLang="en-US" sz="900">
                <a:solidFill>
                  <a:schemeClr val="tx1">
                    <a:lumMod val="75000"/>
                    <a:lumOff val="25000"/>
                  </a:schemeClr>
                </a:solidFill>
              </a:endParaRPr>
            </a:p>
          </p:txBody>
        </p:sp>
      </p:grpSp>
      <p:sp>
        <p:nvSpPr>
          <p:cNvPr id="48" name="文本框 47"/>
          <p:cNvSpPr txBox="1"/>
          <p:nvPr/>
        </p:nvSpPr>
        <p:spPr>
          <a:xfrm>
            <a:off x="7903657" y="1828593"/>
            <a:ext cx="2409920" cy="275590"/>
          </a:xfrm>
          <a:prstGeom prst="rect">
            <a:avLst/>
          </a:prstGeom>
          <a:noFill/>
        </p:spPr>
        <p:txBody>
          <a:bodyPr wrap="square" rtlCol="0">
            <a:spAutoFit/>
          </a:bodyPr>
          <a:lstStyle/>
          <a:p>
            <a:r>
              <a:rPr lang="zh-CN" altLang="en-US" sz="1200">
                <a:sym typeface="+mn-ea"/>
              </a:rPr>
              <a:t>广告的花费</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p:txBody>
      </p:sp>
      <p:sp>
        <p:nvSpPr>
          <p:cNvPr id="49" name="文本框 48"/>
          <p:cNvSpPr txBox="1"/>
          <p:nvPr/>
        </p:nvSpPr>
        <p:spPr>
          <a:xfrm>
            <a:off x="7903657" y="1549908"/>
            <a:ext cx="1434042" cy="337185"/>
          </a:xfrm>
          <a:prstGeom prst="rect">
            <a:avLst/>
          </a:prstGeom>
          <a:noFill/>
        </p:spPr>
        <p:txBody>
          <a:bodyPr wrap="square" rtlCol="0">
            <a:spAutoFit/>
          </a:bodyPr>
          <a:lstStyle/>
          <a:p>
            <a:r>
              <a:rPr lang="en-US" altLang="zh-CN" sz="1600">
                <a:sym typeface="+mn-ea"/>
              </a:rPr>
              <a:t>Spend</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50" name="文本框 49"/>
          <p:cNvSpPr txBox="1"/>
          <p:nvPr/>
        </p:nvSpPr>
        <p:spPr>
          <a:xfrm>
            <a:off x="7903657" y="2883731"/>
            <a:ext cx="2409920" cy="275590"/>
          </a:xfrm>
          <a:prstGeom prst="rect">
            <a:avLst/>
          </a:prstGeom>
          <a:noFill/>
        </p:spPr>
        <p:txBody>
          <a:bodyPr wrap="square" rtlCol="0">
            <a:spAutoFit/>
          </a:bodyPr>
          <a:lstStyle/>
          <a:p>
            <a:r>
              <a:rPr lang="zh-CN" altLang="en-US" sz="1200">
                <a:sym typeface="+mn-ea"/>
              </a:rPr>
              <a:t>点击量与曝光量的比率</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p:txBody>
      </p:sp>
      <p:sp>
        <p:nvSpPr>
          <p:cNvPr id="51" name="文本框 50"/>
          <p:cNvSpPr txBox="1"/>
          <p:nvPr/>
        </p:nvSpPr>
        <p:spPr>
          <a:xfrm>
            <a:off x="7903657" y="2546626"/>
            <a:ext cx="1434042" cy="337185"/>
          </a:xfrm>
          <a:prstGeom prst="rect">
            <a:avLst/>
          </a:prstGeom>
          <a:noFill/>
        </p:spPr>
        <p:txBody>
          <a:bodyPr wrap="square" rtlCol="0">
            <a:spAutoFit/>
          </a:bodyPr>
          <a:lstStyle/>
          <a:p>
            <a:r>
              <a:rPr lang="en-US" altLang="zh-CN" sz="1600">
                <a:sym typeface="+mn-ea"/>
              </a:rPr>
              <a:t>CTR</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52" name="文本框 51"/>
          <p:cNvSpPr txBox="1"/>
          <p:nvPr/>
        </p:nvSpPr>
        <p:spPr>
          <a:xfrm>
            <a:off x="7903657" y="4011315"/>
            <a:ext cx="2409920" cy="275590"/>
          </a:xfrm>
          <a:prstGeom prst="rect">
            <a:avLst/>
          </a:prstGeom>
          <a:noFill/>
        </p:spPr>
        <p:txBody>
          <a:bodyPr wrap="square" rtlCol="0">
            <a:spAutoFit/>
          </a:bodyPr>
          <a:lstStyle/>
          <a:p>
            <a:r>
              <a:rPr lang="zh-CN" altLang="en-US" sz="1200">
                <a:sym typeface="+mn-ea"/>
              </a:rPr>
              <a:t>广告上的支出占销售额的比例</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p:txBody>
      </p:sp>
      <p:sp>
        <p:nvSpPr>
          <p:cNvPr id="53" name="文本框 52"/>
          <p:cNvSpPr txBox="1"/>
          <p:nvPr/>
        </p:nvSpPr>
        <p:spPr>
          <a:xfrm>
            <a:off x="7903657" y="3732630"/>
            <a:ext cx="1434042" cy="337185"/>
          </a:xfrm>
          <a:prstGeom prst="rect">
            <a:avLst/>
          </a:prstGeom>
          <a:noFill/>
        </p:spPr>
        <p:txBody>
          <a:bodyPr wrap="square" rtlCol="0">
            <a:spAutoFit/>
          </a:bodyPr>
          <a:lstStyle/>
          <a:p>
            <a:r>
              <a:rPr lang="en-US" altLang="zh-CN" sz="1600">
                <a:sym typeface="+mn-ea"/>
              </a:rPr>
              <a:t>Acos</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54" name="文本框 53"/>
          <p:cNvSpPr txBox="1"/>
          <p:nvPr/>
        </p:nvSpPr>
        <p:spPr>
          <a:xfrm>
            <a:off x="1365369" y="1828593"/>
            <a:ext cx="2409920" cy="275590"/>
          </a:xfrm>
          <a:prstGeom prst="rect">
            <a:avLst/>
          </a:prstGeom>
          <a:noFill/>
        </p:spPr>
        <p:txBody>
          <a:bodyPr wrap="square" rtlCol="0">
            <a:spAutoFit/>
          </a:bodyPr>
          <a:lstStyle/>
          <a:p>
            <a:pPr algn="r"/>
            <a:r>
              <a:rPr lang="zh-CN" altLang="en-US" sz="1200">
                <a:sym typeface="+mn-ea"/>
              </a:rPr>
              <a:t>每天广告组的预算</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p:txBody>
      </p:sp>
      <p:sp>
        <p:nvSpPr>
          <p:cNvPr id="55" name="文本框 54"/>
          <p:cNvSpPr txBox="1"/>
          <p:nvPr/>
        </p:nvSpPr>
        <p:spPr>
          <a:xfrm>
            <a:off x="2341247" y="1549908"/>
            <a:ext cx="1434042" cy="337185"/>
          </a:xfrm>
          <a:prstGeom prst="rect">
            <a:avLst/>
          </a:prstGeom>
          <a:noFill/>
        </p:spPr>
        <p:txBody>
          <a:bodyPr wrap="square" rtlCol="0">
            <a:spAutoFit/>
          </a:bodyPr>
          <a:lstStyle/>
          <a:p>
            <a:pPr algn="r"/>
            <a:r>
              <a:rPr lang="en-US" altLang="zh-CN" sz="1600">
                <a:sym typeface="+mn-ea"/>
              </a:rPr>
              <a:t>Daily Budget</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56" name="文本框 55"/>
          <p:cNvSpPr txBox="1"/>
          <p:nvPr/>
        </p:nvSpPr>
        <p:spPr>
          <a:xfrm>
            <a:off x="1365369" y="2883731"/>
            <a:ext cx="2409920" cy="460375"/>
          </a:xfrm>
          <a:prstGeom prst="rect">
            <a:avLst/>
          </a:prstGeom>
          <a:noFill/>
        </p:spPr>
        <p:txBody>
          <a:bodyPr wrap="square" rtlCol="0">
            <a:spAutoFit/>
          </a:bodyPr>
          <a:lstStyle/>
          <a:p>
            <a:pPr algn="r"/>
            <a:r>
              <a:rPr lang="zh-CN" altLang="en-US" sz="1200">
                <a:sym typeface="+mn-ea"/>
              </a:rPr>
              <a:t>曝光量，此广告组中的广告得到曝光的次数。</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p:txBody>
      </p:sp>
      <p:sp>
        <p:nvSpPr>
          <p:cNvPr id="57" name="文本框 56"/>
          <p:cNvSpPr txBox="1"/>
          <p:nvPr/>
        </p:nvSpPr>
        <p:spPr>
          <a:xfrm>
            <a:off x="2341247" y="2605046"/>
            <a:ext cx="1434042" cy="337185"/>
          </a:xfrm>
          <a:prstGeom prst="rect">
            <a:avLst/>
          </a:prstGeom>
          <a:noFill/>
        </p:spPr>
        <p:txBody>
          <a:bodyPr wrap="square" rtlCol="0">
            <a:spAutoFit/>
          </a:bodyPr>
          <a:lstStyle/>
          <a:p>
            <a:pPr algn="r"/>
            <a:r>
              <a:rPr lang="en-US" altLang="zh-CN" sz="1600">
                <a:sym typeface="+mn-ea"/>
              </a:rPr>
              <a:t>Impression</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58" name="文本框 57"/>
          <p:cNvSpPr txBox="1"/>
          <p:nvPr/>
        </p:nvSpPr>
        <p:spPr>
          <a:xfrm>
            <a:off x="1365369" y="4011315"/>
            <a:ext cx="2409920" cy="275590"/>
          </a:xfrm>
          <a:prstGeom prst="rect">
            <a:avLst/>
          </a:prstGeom>
          <a:noFill/>
        </p:spPr>
        <p:txBody>
          <a:bodyPr wrap="square" rtlCol="0">
            <a:spAutoFit/>
          </a:bodyPr>
          <a:lstStyle/>
          <a:p>
            <a:pPr algn="r"/>
            <a:r>
              <a:rPr lang="zh-CN" altLang="en-US" sz="1200">
                <a:sym typeface="+mn-ea"/>
              </a:rPr>
              <a:t>广告被点击的次数</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p:txBody>
      </p:sp>
      <p:sp>
        <p:nvSpPr>
          <p:cNvPr id="59" name="文本框 58"/>
          <p:cNvSpPr txBox="1"/>
          <p:nvPr/>
        </p:nvSpPr>
        <p:spPr>
          <a:xfrm>
            <a:off x="2341247" y="3732630"/>
            <a:ext cx="1434042" cy="337185"/>
          </a:xfrm>
          <a:prstGeom prst="rect">
            <a:avLst/>
          </a:prstGeom>
          <a:noFill/>
        </p:spPr>
        <p:txBody>
          <a:bodyPr wrap="square" rtlCol="0">
            <a:spAutoFit/>
          </a:bodyPr>
          <a:lstStyle/>
          <a:p>
            <a:pPr algn="r"/>
            <a:r>
              <a:rPr lang="en-US" altLang="zh-CN" sz="1600">
                <a:sym typeface="+mn-ea"/>
              </a:rPr>
              <a:t>Click</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2" name="矩形 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pic>
        <p:nvPicPr>
          <p:cNvPr id="33" name="图片 32" descr="7NAR@ZV(ID]1A}@6[`@C790"/>
          <p:cNvPicPr>
            <a:picLocks noChangeAspect="1"/>
          </p:cNvPicPr>
          <p:nvPr/>
        </p:nvPicPr>
        <p:blipFill>
          <a:blip r:embed="rId1"/>
          <a:srcRect b="17631"/>
          <a:stretch>
            <a:fillRect/>
          </a:stretch>
        </p:blipFill>
        <p:spPr>
          <a:xfrm>
            <a:off x="1066800" y="4855210"/>
            <a:ext cx="10058400" cy="1907540"/>
          </a:xfrm>
          <a:prstGeom prst="rect">
            <a:avLst/>
          </a:prstGeom>
        </p:spPr>
      </p:pic>
      <p:sp>
        <p:nvSpPr>
          <p:cNvPr id="10" name="文本框 9"/>
          <p:cNvSpPr txBox="1"/>
          <p:nvPr/>
        </p:nvSpPr>
        <p:spPr>
          <a:xfrm>
            <a:off x="857885" y="283210"/>
            <a:ext cx="2623185" cy="583565"/>
          </a:xfrm>
          <a:prstGeom prst="rect">
            <a:avLst/>
          </a:prstGeom>
          <a:noFill/>
        </p:spPr>
        <p:txBody>
          <a:bodyPr wrap="none" rtlCol="0">
            <a:spAutoFit/>
          </a:bodyPr>
          <a:p>
            <a:pPr algn="l"/>
            <a:r>
              <a:rPr lang="en-US" altLang="zh-CN" sz="3200" b="1" dirty="0">
                <a:solidFill>
                  <a:schemeClr val="tx1">
                    <a:lumMod val="75000"/>
                    <a:lumOff val="25000"/>
                  </a:schemeClr>
                </a:solidFill>
                <a:latin typeface="微软雅黑" panose="020B0503020204020204" charset="-122"/>
                <a:ea typeface="微软雅黑" panose="020B0503020204020204" charset="-122"/>
                <a:sym typeface="+mn-ea"/>
              </a:rPr>
              <a:t>CPC</a:t>
            </a:r>
            <a:r>
              <a:rPr lang="zh-CN" altLang="en-US" sz="3200" b="1" dirty="0">
                <a:solidFill>
                  <a:schemeClr val="tx1">
                    <a:lumMod val="75000"/>
                    <a:lumOff val="25000"/>
                  </a:schemeClr>
                </a:solidFill>
                <a:latin typeface="微软雅黑" panose="020B0503020204020204" charset="-122"/>
                <a:ea typeface="微软雅黑" panose="020B0503020204020204" charset="-122"/>
                <a:sym typeface="+mn-ea"/>
              </a:rPr>
              <a:t>基本词汇</a:t>
            </a:r>
            <a:endParaRPr lang="en-US" altLang="zh-CN" sz="3200" b="1">
              <a:solidFill>
                <a:schemeClr val="tx1">
                  <a:lumMod val="75000"/>
                  <a:lumOff val="25000"/>
                </a:schemeClr>
              </a:solidFill>
            </a:endParaRPr>
          </a:p>
        </p:txBody>
      </p:sp>
      <p:sp>
        <p:nvSpPr>
          <p:cNvPr id="11" name="矩形 10"/>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1"/>
          <p:cNvSpPr/>
          <p:nvPr/>
        </p:nvSpPr>
        <p:spPr bwMode="auto">
          <a:xfrm>
            <a:off x="2684548" y="4517224"/>
            <a:ext cx="1733550" cy="1733550"/>
          </a:xfrm>
          <a:prstGeom prst="roundRect">
            <a:avLst/>
          </a:prstGeom>
          <a:solidFill>
            <a:schemeClr val="tx2">
              <a:lumMod val="50000"/>
            </a:schemeClr>
          </a:solidFill>
          <a:ln w="25400" cap="flat" cmpd="sng" algn="ctr">
            <a:noFill/>
            <a:prstDash val="solid"/>
            <a:round/>
            <a:headEnd type="none" w="med" len="med"/>
            <a:tailEnd type="none" w="med" len="med"/>
          </a:ln>
          <a:effectLst/>
        </p:spPr>
        <p:txBody>
          <a:bodyPr vert="horz" wrap="square" lIns="45720" tIns="22860" rIns="45720" bIns="22860" numCol="1" rtlCol="0" anchor="t" anchorCtr="0" compatLnSpc="1"/>
          <a:lstStyle/>
          <a:p>
            <a:pPr algn="ctr" fontAlgn="base">
              <a:spcBef>
                <a:spcPct val="0"/>
              </a:spcBef>
              <a:spcAft>
                <a:spcPct val="0"/>
              </a:spcAft>
            </a:pPr>
            <a:endParaRPr lang="en-US" sz="2800">
              <a:solidFill>
                <a:srgbClr val="000000"/>
              </a:solidFill>
              <a:sym typeface="Gill Sans" charset="0"/>
            </a:endParaRPr>
          </a:p>
        </p:txBody>
      </p:sp>
      <p:sp>
        <p:nvSpPr>
          <p:cNvPr id="10" name="Rounded Rectangle 10"/>
          <p:cNvSpPr/>
          <p:nvPr/>
        </p:nvSpPr>
        <p:spPr bwMode="auto">
          <a:xfrm>
            <a:off x="7498225" y="1050124"/>
            <a:ext cx="1733550" cy="1733550"/>
          </a:xfrm>
          <a:prstGeom prst="roundRect">
            <a:avLst/>
          </a:prstGeom>
          <a:solidFill>
            <a:schemeClr val="tx1">
              <a:lumMod val="85000"/>
              <a:lumOff val="15000"/>
            </a:schemeClr>
          </a:solidFill>
          <a:ln w="25400" cap="flat" cmpd="sng" algn="ctr">
            <a:noFill/>
            <a:prstDash val="solid"/>
            <a:round/>
            <a:headEnd type="none" w="med" len="med"/>
            <a:tailEnd type="none" w="med" len="med"/>
          </a:ln>
          <a:effectLst/>
        </p:spPr>
        <p:txBody>
          <a:bodyPr vert="horz" wrap="square" lIns="45720" tIns="22860" rIns="45720" bIns="22860" numCol="1" rtlCol="0" anchor="t" anchorCtr="0" compatLnSpc="1"/>
          <a:lstStyle/>
          <a:p>
            <a:pPr algn="ctr" fontAlgn="base">
              <a:spcBef>
                <a:spcPct val="0"/>
              </a:spcBef>
              <a:spcAft>
                <a:spcPct val="0"/>
              </a:spcAft>
            </a:pPr>
            <a:endParaRPr lang="en-US" sz="2800">
              <a:solidFill>
                <a:srgbClr val="000000"/>
              </a:solidFill>
              <a:sym typeface="Gill Sans" charset="0"/>
            </a:endParaRPr>
          </a:p>
        </p:txBody>
      </p:sp>
      <p:sp>
        <p:nvSpPr>
          <p:cNvPr id="13" name="Rounded Rectangle 10"/>
          <p:cNvSpPr/>
          <p:nvPr/>
        </p:nvSpPr>
        <p:spPr bwMode="auto">
          <a:xfrm>
            <a:off x="5118333" y="2783674"/>
            <a:ext cx="1733550" cy="1733550"/>
          </a:xfrm>
          <a:prstGeom prst="roundRect">
            <a:avLst/>
          </a:prstGeom>
          <a:solidFill>
            <a:schemeClr val="tx1">
              <a:lumMod val="95000"/>
              <a:lumOff val="5000"/>
            </a:schemeClr>
          </a:solidFill>
          <a:ln w="25400" cap="flat" cmpd="sng" algn="ctr">
            <a:noFill/>
            <a:prstDash val="solid"/>
            <a:round/>
            <a:headEnd type="none" w="med" len="med"/>
            <a:tailEnd type="none" w="med" len="med"/>
          </a:ln>
          <a:effectLst/>
        </p:spPr>
        <p:txBody>
          <a:bodyPr vert="horz" wrap="square" lIns="45720" tIns="22860" rIns="45720" bIns="22860" numCol="1" rtlCol="0" anchor="t" anchorCtr="0" compatLnSpc="1"/>
          <a:lstStyle/>
          <a:p>
            <a:pPr algn="ctr" fontAlgn="base">
              <a:spcBef>
                <a:spcPct val="0"/>
              </a:spcBef>
              <a:spcAft>
                <a:spcPct val="0"/>
              </a:spcAft>
            </a:pPr>
            <a:endParaRPr lang="en-US" sz="2800">
              <a:solidFill>
                <a:srgbClr val="000000"/>
              </a:solidFill>
              <a:sym typeface="Gill Sans" charset="0"/>
            </a:endParaRPr>
          </a:p>
        </p:txBody>
      </p:sp>
      <p:sp>
        <p:nvSpPr>
          <p:cNvPr id="2" name="矩形 1"/>
          <p:cNvSpPr/>
          <p:nvPr/>
        </p:nvSpPr>
        <p:spPr>
          <a:xfrm>
            <a:off x="4554220" y="4730750"/>
            <a:ext cx="7171690" cy="2183765"/>
          </a:xfrm>
          <a:prstGeom prst="rect">
            <a:avLst/>
          </a:prstGeom>
        </p:spPr>
        <p:txBody>
          <a:bodyPr wrap="square">
            <a:spAutoFit/>
          </a:bodyPr>
          <a:lstStyle/>
          <a:p>
            <a:pPr>
              <a:spcBef>
                <a:spcPct val="0"/>
              </a:spcBef>
            </a:pPr>
            <a:r>
              <a:rPr lang="zh-CN" altLang="en-US" sz="2000" b="1" dirty="0">
                <a:solidFill>
                  <a:srgbClr val="062F3D"/>
                </a:solidFill>
                <a:latin typeface="方正静蕾简体" panose="02000000000000000000" pitchFamily="2" charset="-122"/>
                <a:ea typeface="方正静蕾简体" panose="02000000000000000000" pitchFamily="2" charset="-122"/>
                <a:sym typeface="+mn-ea"/>
              </a:rPr>
              <a:t>Phrase Match</a:t>
            </a:r>
            <a:endParaRPr lang="en-US" altLang="zh-CN" sz="1200" b="1" dirty="0">
              <a:solidFill>
                <a:srgbClr val="000000"/>
              </a:solidFill>
              <a:latin typeface="微软雅黑" panose="020B0503020204020204" charset="-122"/>
              <a:ea typeface="微软雅黑" panose="020B0503020204020204" charset="-122"/>
              <a:sym typeface="方正姚体" panose="02010601030101010101" pitchFamily="2" charset="-122"/>
            </a:endParaRPr>
          </a:p>
          <a:p>
            <a:pPr algn="l"/>
            <a:r>
              <a:rPr lang="zh-CN" altLang="en-US" sz="1600" b="1" dirty="0">
                <a:solidFill>
                  <a:srgbClr val="062F3D"/>
                </a:solidFill>
                <a:latin typeface="方正静蕾简体" panose="02000000000000000000" pitchFamily="2" charset="-122"/>
                <a:ea typeface="方正静蕾简体" panose="02000000000000000000" pitchFamily="2" charset="-122"/>
                <a:sym typeface="+mn-ea"/>
              </a:rPr>
              <a:t>词组匹配，详细搜索短语</a:t>
            </a:r>
            <a:endParaRPr lang="zh-CN" altLang="en-US" sz="1600" b="1" dirty="0">
              <a:solidFill>
                <a:srgbClr val="062F3D"/>
              </a:solidFill>
              <a:latin typeface="方正静蕾简体" panose="02000000000000000000" pitchFamily="2" charset="-122"/>
              <a:ea typeface="方正静蕾简体" panose="02000000000000000000" pitchFamily="2" charset="-122"/>
            </a:endParaRPr>
          </a:p>
          <a:p>
            <a:pPr algn="l"/>
            <a:r>
              <a:rPr lang="zh-CN" altLang="en-US" sz="1600" b="1" dirty="0">
                <a:solidFill>
                  <a:srgbClr val="062F3D"/>
                </a:solidFill>
                <a:latin typeface="方正静蕾简体" panose="02000000000000000000" pitchFamily="2" charset="-122"/>
                <a:ea typeface="方正静蕾简体" panose="02000000000000000000" pitchFamily="2" charset="-122"/>
                <a:sym typeface="+mn-ea"/>
              </a:rPr>
              <a:t>买家搜索词组会与关键词的部分一致</a:t>
            </a:r>
            <a:endParaRPr lang="zh-CN" altLang="en-US" sz="1600" b="1" dirty="0">
              <a:solidFill>
                <a:srgbClr val="062F3D"/>
              </a:solidFill>
              <a:latin typeface="方正静蕾简体" panose="02000000000000000000" pitchFamily="2" charset="-122"/>
              <a:ea typeface="方正静蕾简体" panose="02000000000000000000" pitchFamily="2" charset="-122"/>
              <a:sym typeface="+mn-ea"/>
            </a:endParaRPr>
          </a:p>
          <a:p>
            <a:pPr algn="l"/>
            <a:r>
              <a:rPr lang="zh-CN" altLang="en-US" sz="1400" b="1" dirty="0" smtClean="0">
                <a:solidFill>
                  <a:schemeClr val="bg1">
                    <a:lumMod val="50000"/>
                  </a:schemeClr>
                </a:solidFill>
                <a:latin typeface="方正静蕾简体" panose="02000000000000000000" pitchFamily="2" charset="-122"/>
                <a:ea typeface="方正静蕾简体" panose="02000000000000000000" pitchFamily="2" charset="-122"/>
                <a:sym typeface="+mn-ea"/>
              </a:rPr>
              <a:t>比如：</a:t>
            </a:r>
            <a:r>
              <a:rPr lang="en-US" altLang="zh-CN" sz="1400" b="1" dirty="0" smtClean="0">
                <a:solidFill>
                  <a:schemeClr val="bg1">
                    <a:lumMod val="50000"/>
                  </a:schemeClr>
                </a:solidFill>
                <a:latin typeface="方正静蕾简体" panose="02000000000000000000" pitchFamily="2" charset="-122"/>
                <a:ea typeface="方正静蕾简体" panose="02000000000000000000" pitchFamily="2" charset="-122"/>
                <a:sym typeface="+mn-ea"/>
              </a:rPr>
              <a:t>Party Lights</a:t>
            </a:r>
            <a:endParaRPr lang="en-US" altLang="zh-CN" sz="1400" b="1" dirty="0" smtClean="0">
              <a:solidFill>
                <a:schemeClr val="bg1">
                  <a:lumMod val="50000"/>
                </a:schemeClr>
              </a:solidFill>
              <a:latin typeface="方正静蕾简体" panose="02000000000000000000" pitchFamily="2" charset="-122"/>
              <a:ea typeface="方正静蕾简体" panose="02000000000000000000" pitchFamily="2" charset="-122"/>
              <a:sym typeface="+mn-ea"/>
            </a:endParaRPr>
          </a:p>
          <a:p>
            <a:pPr algn="l"/>
            <a:r>
              <a:rPr lang="zh-CN" altLang="en-US" sz="1400" b="1" dirty="0" smtClean="0">
                <a:solidFill>
                  <a:schemeClr val="bg1">
                    <a:lumMod val="50000"/>
                  </a:schemeClr>
                </a:solidFill>
                <a:latin typeface="方正静蕾简体" panose="02000000000000000000" pitchFamily="2" charset="-122"/>
                <a:ea typeface="方正静蕾简体" panose="02000000000000000000" pitchFamily="2" charset="-122"/>
                <a:sym typeface="+mn-ea"/>
              </a:rPr>
              <a:t>显示广告：</a:t>
            </a:r>
            <a:r>
              <a:rPr lang="en-US" altLang="zh-CN" sz="1400" b="1" dirty="0" smtClean="0">
                <a:solidFill>
                  <a:schemeClr val="bg1">
                    <a:lumMod val="50000"/>
                  </a:schemeClr>
                </a:solidFill>
                <a:latin typeface="方正静蕾简体" panose="02000000000000000000" pitchFamily="2" charset="-122"/>
                <a:ea typeface="方正静蕾简体" panose="02000000000000000000" pitchFamily="2" charset="-122"/>
                <a:sym typeface="+mn-ea"/>
              </a:rPr>
              <a:t>Party Lights Colorful Disco Lamp</a:t>
            </a:r>
            <a:endParaRPr lang="en-US" altLang="zh-CN" sz="1400" b="1" dirty="0" smtClean="0">
              <a:solidFill>
                <a:schemeClr val="bg1">
                  <a:lumMod val="50000"/>
                </a:schemeClr>
              </a:solidFill>
              <a:latin typeface="方正静蕾简体" panose="02000000000000000000" pitchFamily="2" charset="-122"/>
              <a:ea typeface="方正静蕾简体" panose="02000000000000000000" pitchFamily="2" charset="-122"/>
              <a:sym typeface="+mn-ea"/>
            </a:endParaRPr>
          </a:p>
          <a:p>
            <a:pPr algn="l"/>
            <a:r>
              <a:rPr lang="zh-CN" altLang="en-US" sz="1400" b="1" dirty="0" smtClean="0">
                <a:solidFill>
                  <a:schemeClr val="bg1">
                    <a:lumMod val="50000"/>
                  </a:schemeClr>
                </a:solidFill>
                <a:latin typeface="方正静蕾简体" panose="02000000000000000000" pitchFamily="2" charset="-122"/>
                <a:ea typeface="方正静蕾简体" panose="02000000000000000000" pitchFamily="2" charset="-122"/>
                <a:sym typeface="+mn-ea"/>
              </a:rPr>
              <a:t>不显示广告：</a:t>
            </a:r>
            <a:r>
              <a:rPr lang="en-US" altLang="zh-CN" sz="1400" b="1" dirty="0" smtClean="0">
                <a:solidFill>
                  <a:schemeClr val="bg1">
                    <a:lumMod val="50000"/>
                  </a:schemeClr>
                </a:solidFill>
                <a:latin typeface="方正静蕾简体" panose="02000000000000000000" pitchFamily="2" charset="-122"/>
                <a:ea typeface="方正静蕾简体" panose="02000000000000000000" pitchFamily="2" charset="-122"/>
                <a:sym typeface="+mn-ea"/>
              </a:rPr>
              <a:t>Party Colorful Lights </a:t>
            </a:r>
            <a:endParaRPr lang="en-US" altLang="zh-CN" sz="1400" b="1" dirty="0" smtClean="0">
              <a:solidFill>
                <a:schemeClr val="bg1">
                  <a:lumMod val="50000"/>
                </a:schemeClr>
              </a:solidFill>
              <a:latin typeface="方正静蕾简体" panose="02000000000000000000" pitchFamily="2" charset="-122"/>
              <a:ea typeface="方正静蕾简体" panose="02000000000000000000" pitchFamily="2" charset="-122"/>
              <a:sym typeface="+mn-ea"/>
            </a:endParaRPr>
          </a:p>
          <a:p>
            <a:pPr algn="l"/>
            <a:r>
              <a:rPr lang="zh-CN" altLang="en-US" sz="1400" dirty="0">
                <a:solidFill>
                  <a:schemeClr val="tx1">
                    <a:lumMod val="65000"/>
                    <a:lumOff val="35000"/>
                  </a:schemeClr>
                </a:solidFill>
                <a:sym typeface="+mn-ea"/>
              </a:rPr>
              <a:t>特点：缩小展现范围，可以看到广告的买家数量比</a:t>
            </a:r>
            <a:r>
              <a:rPr lang="en-US" altLang="zh-CN" sz="1400" dirty="0">
                <a:solidFill>
                  <a:schemeClr val="tx1">
                    <a:lumMod val="65000"/>
                    <a:lumOff val="35000"/>
                  </a:schemeClr>
                </a:solidFill>
                <a:sym typeface="+mn-ea"/>
              </a:rPr>
              <a:t>Broad match</a:t>
            </a:r>
            <a:r>
              <a:rPr lang="zh-CN" altLang="en-US" sz="1400" dirty="0">
                <a:solidFill>
                  <a:schemeClr val="tx1">
                    <a:lumMod val="65000"/>
                    <a:lumOff val="35000"/>
                  </a:schemeClr>
                </a:solidFill>
                <a:sym typeface="+mn-ea"/>
              </a:rPr>
              <a:t>少，但比较精准，而且搜索配对要求没有Exact Match 来得严苛。适合优质的关键字。</a:t>
            </a:r>
            <a:endParaRPr lang="zh-CN" altLang="en-US" sz="1400" dirty="0">
              <a:solidFill>
                <a:schemeClr val="tx1">
                  <a:lumMod val="65000"/>
                  <a:lumOff val="35000"/>
                </a:schemeClr>
              </a:solidFill>
            </a:endParaRPr>
          </a:p>
          <a:p>
            <a:pPr algn="l"/>
            <a:r>
              <a:rPr lang="en-US" altLang="zh-CN" sz="1400" b="1" dirty="0" smtClean="0">
                <a:solidFill>
                  <a:srgbClr val="062F3D"/>
                </a:solidFill>
                <a:latin typeface="方正静蕾简体" panose="02000000000000000000" pitchFamily="2" charset="-122"/>
                <a:ea typeface="方正静蕾简体" panose="02000000000000000000" pitchFamily="2" charset="-122"/>
                <a:sym typeface="+mn-ea"/>
              </a:rPr>
              <a:t> </a:t>
            </a:r>
            <a:endPar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endParaRPr>
          </a:p>
        </p:txBody>
      </p:sp>
      <p:sp>
        <p:nvSpPr>
          <p:cNvPr id="3" name="矩形 2"/>
          <p:cNvSpPr/>
          <p:nvPr/>
        </p:nvSpPr>
        <p:spPr>
          <a:xfrm>
            <a:off x="7067550" y="2783840"/>
            <a:ext cx="5001260" cy="1753235"/>
          </a:xfrm>
          <a:prstGeom prst="rect">
            <a:avLst/>
          </a:prstGeom>
        </p:spPr>
        <p:txBody>
          <a:bodyPr wrap="square">
            <a:spAutoFit/>
          </a:bodyPr>
          <a:lstStyle/>
          <a:p>
            <a:pPr>
              <a:spcBef>
                <a:spcPct val="0"/>
              </a:spcBef>
            </a:pPr>
            <a:r>
              <a:rPr lang="zh-CN" altLang="en-US" sz="2000" b="1" dirty="0">
                <a:solidFill>
                  <a:srgbClr val="062F3D"/>
                </a:solidFill>
                <a:latin typeface="方正静蕾简体" panose="02000000000000000000" pitchFamily="2" charset="-122"/>
                <a:ea typeface="方正静蕾简体" panose="02000000000000000000" pitchFamily="2" charset="-122"/>
                <a:sym typeface="+mn-ea"/>
              </a:rPr>
              <a:t>Broad Match</a:t>
            </a:r>
            <a:endParaRPr lang="en-US" altLang="zh-CN" sz="1200" b="1" dirty="0">
              <a:solidFill>
                <a:srgbClr val="000000"/>
              </a:solidFill>
              <a:latin typeface="微软雅黑" panose="020B0503020204020204" charset="-122"/>
              <a:ea typeface="微软雅黑" panose="020B0503020204020204" charset="-122"/>
              <a:sym typeface="方正姚体" panose="02010601030101010101" pitchFamily="2" charset="-122"/>
            </a:endParaRPr>
          </a:p>
          <a:p>
            <a:pPr algn="l"/>
            <a:r>
              <a:rPr lang="zh-CN" altLang="en-US" sz="1600" b="1" dirty="0">
                <a:solidFill>
                  <a:srgbClr val="062F3D"/>
                </a:solidFill>
                <a:latin typeface="方正静蕾简体" panose="02000000000000000000" pitchFamily="2" charset="-122"/>
                <a:ea typeface="方正静蕾简体" panose="02000000000000000000" pitchFamily="2" charset="-122"/>
                <a:sym typeface="+mn-ea"/>
              </a:rPr>
              <a:t>广泛匹配，单词，通用短语</a:t>
            </a:r>
            <a:endParaRPr lang="zh-CN" altLang="en-US" sz="1600" b="1" dirty="0">
              <a:solidFill>
                <a:srgbClr val="062F3D"/>
              </a:solidFill>
              <a:latin typeface="方正静蕾简体" panose="02000000000000000000" pitchFamily="2" charset="-122"/>
              <a:ea typeface="方正静蕾简体" panose="02000000000000000000" pitchFamily="2" charset="-122"/>
            </a:endParaRPr>
          </a:p>
          <a:p>
            <a:pPr algn="l"/>
            <a:r>
              <a:rPr lang="zh-CN" altLang="en-US" sz="1600" b="1" dirty="0">
                <a:solidFill>
                  <a:srgbClr val="062F3D"/>
                </a:solidFill>
                <a:latin typeface="方正静蕾简体" panose="02000000000000000000" pitchFamily="2" charset="-122"/>
                <a:ea typeface="方正静蕾简体" panose="02000000000000000000" pitchFamily="2" charset="-122"/>
                <a:sym typeface="+mn-ea"/>
              </a:rPr>
              <a:t>买家搜寻的关键词中只有少部分匹配或是有关联性</a:t>
            </a:r>
            <a:endParaRPr lang="zh-CN" altLang="en-US" sz="1600" b="1" dirty="0">
              <a:solidFill>
                <a:srgbClr val="062F3D"/>
              </a:solidFill>
              <a:latin typeface="方正静蕾简体" panose="02000000000000000000" pitchFamily="2" charset="-122"/>
              <a:ea typeface="方正静蕾简体" panose="02000000000000000000" pitchFamily="2" charset="-122"/>
              <a:sym typeface="+mn-ea"/>
            </a:endParaRPr>
          </a:p>
          <a:p>
            <a:pPr algn="l"/>
            <a:r>
              <a:rPr lang="zh-CN" altLang="en-US" sz="1400" dirty="0">
                <a:solidFill>
                  <a:srgbClr val="8E8D8F"/>
                </a:solidFill>
                <a:latin typeface="微软雅黑" panose="020B0503020204020204" charset="-122"/>
                <a:ea typeface="微软雅黑" panose="020B0503020204020204" charset="-122"/>
                <a:sym typeface="方正姚体" panose="02010601030101010101" pitchFamily="2" charset="-122"/>
              </a:rPr>
              <a:t>比如：</a:t>
            </a:r>
            <a:r>
              <a:rPr lang="en-US" altLang="zh-CN" sz="1400" b="1" dirty="0" smtClean="0">
                <a:solidFill>
                  <a:srgbClr val="8E8D8F"/>
                </a:solidFill>
                <a:latin typeface="方正静蕾简体" panose="02000000000000000000" pitchFamily="2" charset="-122"/>
                <a:ea typeface="方正静蕾简体" panose="02000000000000000000" pitchFamily="2" charset="-122"/>
                <a:sym typeface="+mn-ea"/>
              </a:rPr>
              <a:t>Disco Lights</a:t>
            </a:r>
            <a:endParaRPr lang="en-US" altLang="zh-CN" sz="1400" b="1" dirty="0" smtClean="0">
              <a:solidFill>
                <a:srgbClr val="8E8D8F"/>
              </a:solidFill>
              <a:latin typeface="方正静蕾简体" panose="02000000000000000000" pitchFamily="2" charset="-122"/>
              <a:ea typeface="方正静蕾简体" panose="02000000000000000000" pitchFamily="2" charset="-122"/>
              <a:sym typeface="+mn-ea"/>
            </a:endParaRPr>
          </a:p>
          <a:p>
            <a:pPr algn="l"/>
            <a:r>
              <a:rPr lang="zh-CN" altLang="en-US" sz="1400" dirty="0">
                <a:solidFill>
                  <a:srgbClr val="8E8D8F"/>
                </a:solidFill>
                <a:ea typeface="黑体" panose="02010609060101010101" charset="-122"/>
                <a:sym typeface="+mn-ea"/>
              </a:rPr>
              <a:t>显示广告：</a:t>
            </a:r>
            <a:r>
              <a:rPr lang="en-US" altLang="zh-CN" sz="1400" b="1" dirty="0" smtClean="0">
                <a:solidFill>
                  <a:srgbClr val="8E8D8F"/>
                </a:solidFill>
                <a:latin typeface="方正静蕾简体" panose="02000000000000000000" pitchFamily="2" charset="-122"/>
                <a:ea typeface="方正静蕾简体" panose="02000000000000000000" pitchFamily="2" charset="-122"/>
                <a:sym typeface="+mn-ea"/>
              </a:rPr>
              <a:t>Disco light</a:t>
            </a:r>
            <a:r>
              <a:rPr lang="zh-CN" altLang="en-US" sz="1400" dirty="0">
                <a:solidFill>
                  <a:srgbClr val="8E8D8F"/>
                </a:solidFill>
                <a:ea typeface="黑体" panose="02010609060101010101" charset="-122"/>
                <a:sym typeface="+mn-ea"/>
              </a:rPr>
              <a:t>（单数）</a:t>
            </a:r>
            <a:r>
              <a:rPr lang="en-US" altLang="zh-CN" sz="1400" b="1" dirty="0" smtClean="0">
                <a:solidFill>
                  <a:srgbClr val="8E8D8F"/>
                </a:solidFill>
                <a:latin typeface="方正静蕾简体" panose="02000000000000000000" pitchFamily="2" charset="-122"/>
                <a:ea typeface="方正静蕾简体" panose="02000000000000000000" pitchFamily="2" charset="-122"/>
                <a:sym typeface="+mn-ea"/>
              </a:rPr>
              <a:t>Discoo lights</a:t>
            </a:r>
            <a:r>
              <a:rPr lang="zh-CN" altLang="en-US" sz="1400" dirty="0">
                <a:solidFill>
                  <a:srgbClr val="8E8D8F"/>
                </a:solidFill>
                <a:ea typeface="黑体" panose="02010609060101010101" charset="-122"/>
                <a:sym typeface="+mn-ea"/>
              </a:rPr>
              <a:t>（拼写错误）</a:t>
            </a:r>
            <a:r>
              <a:rPr lang="en-US" altLang="zh-CN" sz="1400" b="1" dirty="0" smtClean="0">
                <a:solidFill>
                  <a:srgbClr val="8E8D8F"/>
                </a:solidFill>
                <a:latin typeface="方正静蕾简体" panose="02000000000000000000" pitchFamily="2" charset="-122"/>
                <a:ea typeface="方正静蕾简体" panose="02000000000000000000" pitchFamily="2" charset="-122"/>
                <a:sym typeface="+mn-ea"/>
              </a:rPr>
              <a:t>Disco l</a:t>
            </a:r>
            <a:r>
              <a:rPr lang="en-US" altLang="zh-CN" sz="1400" dirty="0">
                <a:solidFill>
                  <a:srgbClr val="8E8D8F"/>
                </a:solidFill>
                <a:ea typeface="黑体" panose="02010609060101010101" charset="-122"/>
                <a:sym typeface="+mn-ea"/>
              </a:rPr>
              <a:t>amp</a:t>
            </a:r>
            <a:r>
              <a:rPr lang="zh-CN" altLang="en-US" sz="1400" dirty="0">
                <a:solidFill>
                  <a:srgbClr val="8E8D8F"/>
                </a:solidFill>
                <a:ea typeface="黑体" panose="02010609060101010101" charset="-122"/>
                <a:sym typeface="+mn-ea"/>
              </a:rPr>
              <a:t>（相似词）</a:t>
            </a:r>
            <a:r>
              <a:rPr lang="en-US" altLang="zh-CN" sz="1400" b="1" dirty="0" smtClean="0">
                <a:solidFill>
                  <a:srgbClr val="8E8D8F"/>
                </a:solidFill>
                <a:latin typeface="方正静蕾简体" panose="02000000000000000000" pitchFamily="2" charset="-122"/>
                <a:ea typeface="方正静蕾简体" panose="02000000000000000000" pitchFamily="2" charset="-122"/>
                <a:sym typeface="+mn-ea"/>
              </a:rPr>
              <a:t>Lights disco</a:t>
            </a:r>
            <a:r>
              <a:rPr lang="zh-CN" altLang="en-US" sz="1400" dirty="0">
                <a:solidFill>
                  <a:srgbClr val="8E8D8F"/>
                </a:solidFill>
                <a:ea typeface="黑体" panose="02010609060101010101" charset="-122"/>
                <a:sym typeface="+mn-ea"/>
              </a:rPr>
              <a:t>（顺序颠倒）</a:t>
            </a:r>
            <a:endParaRPr lang="zh-CN" altLang="en-US" sz="1400" dirty="0">
              <a:solidFill>
                <a:srgbClr val="8E8D8F"/>
              </a:solidFill>
              <a:ea typeface="黑体" panose="02010609060101010101" charset="-122"/>
              <a:sym typeface="+mn-ea"/>
            </a:endParaRPr>
          </a:p>
          <a:p>
            <a:pPr algn="l"/>
            <a:r>
              <a:rPr lang="en-US" altLang="zh-CN" sz="1400" dirty="0">
                <a:solidFill>
                  <a:srgbClr val="8E8D8F"/>
                </a:solidFill>
                <a:ea typeface="黑体" panose="02010609060101010101" charset="-122"/>
                <a:sym typeface="+mn-ea"/>
              </a:rPr>
              <a:t>Payty lights Colorful</a:t>
            </a:r>
            <a:r>
              <a:rPr lang="zh-CN" altLang="en-US" sz="1400" dirty="0">
                <a:solidFill>
                  <a:srgbClr val="8E8D8F"/>
                </a:solidFill>
                <a:ea typeface="黑体" panose="02010609060101010101" charset="-122"/>
                <a:sym typeface="+mn-ea"/>
              </a:rPr>
              <a:t>（只匹配其中一个词根）</a:t>
            </a:r>
            <a:endParaRPr lang="zh-CN" altLang="en-US" sz="1400" dirty="0">
              <a:solidFill>
                <a:srgbClr val="8E8D8F"/>
              </a:solidFill>
              <a:latin typeface="微软雅黑" panose="020B0503020204020204" charset="-122"/>
              <a:ea typeface="黑体" panose="02010609060101010101" charset="-122"/>
              <a:sym typeface="+mn-ea"/>
            </a:endParaRPr>
          </a:p>
        </p:txBody>
      </p:sp>
      <p:sp>
        <p:nvSpPr>
          <p:cNvPr id="4" name="矩形 3"/>
          <p:cNvSpPr/>
          <p:nvPr/>
        </p:nvSpPr>
        <p:spPr>
          <a:xfrm>
            <a:off x="601345" y="825500"/>
            <a:ext cx="6466205" cy="2183765"/>
          </a:xfrm>
          <a:prstGeom prst="rect">
            <a:avLst/>
          </a:prstGeom>
        </p:spPr>
        <p:txBody>
          <a:bodyPr wrap="square">
            <a:spAutoFit/>
          </a:bodyPr>
          <a:lstStyle/>
          <a:p>
            <a:pPr>
              <a:spcBef>
                <a:spcPct val="0"/>
              </a:spcBef>
            </a:pPr>
            <a:r>
              <a:rPr lang="zh-CN" altLang="en-US" sz="2000" b="1" dirty="0">
                <a:solidFill>
                  <a:srgbClr val="062F3D"/>
                </a:solidFill>
                <a:latin typeface="方正静蕾简体" panose="02000000000000000000" pitchFamily="2" charset="-122"/>
                <a:ea typeface="方正静蕾简体" panose="02000000000000000000" pitchFamily="2" charset="-122"/>
                <a:sym typeface="+mn-ea"/>
              </a:rPr>
              <a:t>Exact Match</a:t>
            </a:r>
            <a:endParaRPr lang="en-US" altLang="zh-CN" sz="1200" b="1" dirty="0">
              <a:solidFill>
                <a:srgbClr val="000000"/>
              </a:solidFill>
              <a:latin typeface="微软雅黑" panose="020B0503020204020204" charset="-122"/>
              <a:ea typeface="微软雅黑" panose="020B0503020204020204" charset="-122"/>
              <a:sym typeface="方正姚体" panose="02010601030101010101" pitchFamily="2" charset="-122"/>
            </a:endParaRPr>
          </a:p>
          <a:p>
            <a:pPr algn="l"/>
            <a:r>
              <a:rPr lang="zh-CN" altLang="en-US" sz="1600" b="1" dirty="0">
                <a:solidFill>
                  <a:srgbClr val="062F3D"/>
                </a:solidFill>
                <a:latin typeface="方正静蕾简体" panose="02000000000000000000" pitchFamily="2" charset="-122"/>
                <a:ea typeface="方正静蕾简体" panose="02000000000000000000" pitchFamily="2" charset="-122"/>
                <a:sym typeface="+mn-ea"/>
              </a:rPr>
              <a:t>精确匹配，精确的目标短语</a:t>
            </a:r>
            <a:endParaRPr lang="zh-CN" altLang="en-US" sz="1600" b="1" dirty="0">
              <a:solidFill>
                <a:srgbClr val="062F3D"/>
              </a:solidFill>
              <a:latin typeface="方正静蕾简体" panose="02000000000000000000" pitchFamily="2" charset="-122"/>
              <a:ea typeface="方正静蕾简体" panose="02000000000000000000" pitchFamily="2" charset="-122"/>
            </a:endParaRPr>
          </a:p>
          <a:p>
            <a:pPr algn="l"/>
            <a:r>
              <a:rPr lang="zh-CN" altLang="en-US" sz="1600" b="1" dirty="0">
                <a:solidFill>
                  <a:srgbClr val="062F3D"/>
                </a:solidFill>
                <a:latin typeface="方正静蕾简体" panose="02000000000000000000" pitchFamily="2" charset="-122"/>
                <a:ea typeface="方正静蕾简体" panose="02000000000000000000" pitchFamily="2" charset="-122"/>
                <a:sym typeface="+mn-ea"/>
              </a:rPr>
              <a:t>买家搜索词与你填写的关键词完全一致</a:t>
            </a:r>
            <a:endParaRPr lang="zh-CN" altLang="en-US" sz="1600" b="1" dirty="0">
              <a:solidFill>
                <a:srgbClr val="062F3D"/>
              </a:solidFill>
              <a:latin typeface="方正静蕾简体" panose="02000000000000000000" pitchFamily="2" charset="-122"/>
              <a:ea typeface="方正静蕾简体" panose="02000000000000000000" pitchFamily="2" charset="-122"/>
              <a:sym typeface="+mn-ea"/>
            </a:endParaRPr>
          </a:p>
          <a:p>
            <a:pPr algn="l"/>
            <a:r>
              <a:rPr lang="zh-CN" altLang="en-US" sz="1400" dirty="0">
                <a:solidFill>
                  <a:schemeClr val="bg1">
                    <a:lumMod val="50000"/>
                  </a:schemeClr>
                </a:solidFill>
                <a:latin typeface="微软雅黑" panose="020B0503020204020204" charset="-122"/>
                <a:ea typeface="微软雅黑" panose="020B0503020204020204" charset="-122"/>
                <a:sym typeface="方正姚体" panose="02010601030101010101" pitchFamily="2" charset="-122"/>
              </a:rPr>
              <a:t>比如：</a:t>
            </a:r>
            <a:r>
              <a:rPr lang="en-US" altLang="zh-CN" sz="1400" b="1" dirty="0" smtClean="0">
                <a:solidFill>
                  <a:schemeClr val="bg1">
                    <a:lumMod val="50000"/>
                  </a:schemeClr>
                </a:solidFill>
                <a:latin typeface="方正静蕾简体" panose="02000000000000000000" pitchFamily="2" charset="-122"/>
                <a:ea typeface="方正静蕾简体" panose="02000000000000000000" pitchFamily="2" charset="-122"/>
                <a:sym typeface="+mn-ea"/>
              </a:rPr>
              <a:t>stage light</a:t>
            </a:r>
            <a:endParaRPr lang="en-US" altLang="zh-CN" sz="1400" b="1" dirty="0" smtClean="0">
              <a:solidFill>
                <a:schemeClr val="bg1">
                  <a:lumMod val="50000"/>
                </a:schemeClr>
              </a:solidFill>
              <a:latin typeface="方正静蕾简体" panose="02000000000000000000" pitchFamily="2" charset="-122"/>
              <a:ea typeface="方正静蕾简体" panose="02000000000000000000" pitchFamily="2" charset="-122"/>
              <a:sym typeface="+mn-ea"/>
            </a:endParaRPr>
          </a:p>
          <a:p>
            <a:pPr algn="l"/>
            <a:r>
              <a:rPr lang="zh-CN" altLang="en-US" sz="1400" dirty="0">
                <a:solidFill>
                  <a:schemeClr val="tx1">
                    <a:lumMod val="65000"/>
                    <a:lumOff val="35000"/>
                  </a:schemeClr>
                </a:solidFill>
                <a:sym typeface="+mn-ea"/>
              </a:rPr>
              <a:t>特点：专门针对特定买家的搜索，基本上这就是赚钱关键字了，买家看到Exact Match的广告展现，需要买家搜寻跟你设置 exact match 一模一样的关键字，会针对特定关键字查找的买家都会有很高的几率带来转化。建议可以使用Long-tail keywords（长关键字：像是usb to micro usb cable），转化率高的短关键字也是可行的。</a:t>
            </a:r>
            <a:endParaRPr lang="en-US" altLang="zh-CN" sz="1400" b="1" dirty="0" smtClean="0">
              <a:solidFill>
                <a:schemeClr val="bg1">
                  <a:lumMod val="50000"/>
                </a:schemeClr>
              </a:solidFill>
              <a:latin typeface="方正静蕾简体" panose="02000000000000000000" pitchFamily="2" charset="-122"/>
              <a:ea typeface="方正静蕾简体" panose="02000000000000000000" pitchFamily="2" charset="-122"/>
              <a:sym typeface="+mn-ea"/>
            </a:endParaRPr>
          </a:p>
        </p:txBody>
      </p:sp>
      <p:pic>
        <p:nvPicPr>
          <p:cNvPr id="15" name="Picture 4" descr="C:\Users\User\Desktop\Indalia\Icons\bicycle4.png"/>
          <p:cNvPicPr>
            <a:picLocks noChangeAspect="1" noChangeArrowheads="1"/>
          </p:cNvPicPr>
          <p:nvPr/>
        </p:nvPicPr>
        <p:blipFill>
          <a:blip r:embed="rId1" cstate="email">
            <a:extLst>
              <a:ext uri="{BEBA8EAE-BF5A-486C-A8C5-ECC9F3942E4B}">
                <a14:imgProps xmlns:a14="http://schemas.microsoft.com/office/drawing/2010/main">
                  <a14:imgLayer r:embed="rId2">
                    <a14:imgEffect>
                      <a14:brightnessContrast bright="100000" contrast="100000"/>
                    </a14:imgEffect>
                  </a14:imgLayer>
                </a14:imgProps>
              </a:ext>
              <a:ext uri="{28A0092B-C50C-407E-A947-70E740481C1C}">
                <a14:useLocalDpi xmlns:a14="http://schemas.microsoft.com/office/drawing/2010/main" val="0"/>
              </a:ext>
            </a:extLst>
          </a:blip>
          <a:srcRect/>
          <a:stretch>
            <a:fillRect/>
          </a:stretch>
        </p:blipFill>
        <p:spPr bwMode="auto">
          <a:xfrm>
            <a:off x="5549036" y="3380449"/>
            <a:ext cx="872143" cy="540000"/>
          </a:xfrm>
          <a:prstGeom prst="rect">
            <a:avLst/>
          </a:prstGeom>
          <a:noFill/>
          <a:effectLst>
            <a:innerShdw blurRad="1270000" dist="2540000">
              <a:srgbClr val="F3FFE2"/>
            </a:innerShdw>
          </a:effectLst>
          <a:extLst>
            <a:ext uri="{909E8E84-426E-40DD-AFC4-6F175D3DCCD1}">
              <a14:hiddenFill xmlns:a14="http://schemas.microsoft.com/office/drawing/2010/main">
                <a:solidFill>
                  <a:srgbClr val="FFFFFF"/>
                </a:solidFill>
              </a14:hiddenFill>
            </a:ext>
          </a:extLst>
        </p:spPr>
      </p:pic>
      <p:pic>
        <p:nvPicPr>
          <p:cNvPr id="16" name="Picture 9" descr="C:\Users\User\Desktop\Indalia\Icons\boat2.png"/>
          <p:cNvPicPr>
            <a:picLocks noChangeAspect="1" noChangeArrowheads="1"/>
          </p:cNvPicPr>
          <p:nvPr/>
        </p:nvPicPr>
        <p:blipFill>
          <a:blip r:embed="rId3" cstate="email">
            <a:extLst>
              <a:ext uri="{BEBA8EAE-BF5A-486C-A8C5-ECC9F3942E4B}">
                <a14:imgProps xmlns:a14="http://schemas.microsoft.com/office/drawing/2010/main">
                  <a14:imgLayer r:embed="rId4">
                    <a14:imgEffect>
                      <a14:brightnessContrast bright="100000" contrast="100000"/>
                    </a14:imgEffect>
                  </a14:imgLayer>
                </a14:imgProps>
              </a:ext>
              <a:ext uri="{28A0092B-C50C-407E-A947-70E740481C1C}">
                <a14:useLocalDpi xmlns:a14="http://schemas.microsoft.com/office/drawing/2010/main" val="0"/>
              </a:ext>
            </a:extLst>
          </a:blip>
          <a:srcRect/>
          <a:stretch>
            <a:fillRect/>
          </a:stretch>
        </p:blipFill>
        <p:spPr bwMode="auto">
          <a:xfrm>
            <a:off x="3048000" y="4933082"/>
            <a:ext cx="839722" cy="901833"/>
          </a:xfrm>
          <a:prstGeom prst="rect">
            <a:avLst/>
          </a:prstGeom>
          <a:noFill/>
          <a:effectLst>
            <a:innerShdw blurRad="1270000" dist="2540000">
              <a:srgbClr val="F3FFE2"/>
            </a:innerShdw>
          </a:effectLst>
          <a:extLst>
            <a:ext uri="{909E8E84-426E-40DD-AFC4-6F175D3DCCD1}">
              <a14:hiddenFill xmlns:a14="http://schemas.microsoft.com/office/drawing/2010/main">
                <a:solidFill>
                  <a:srgbClr val="FFFFFF"/>
                </a:solidFill>
              </a14:hiddenFill>
            </a:ext>
          </a:extLst>
        </p:spPr>
      </p:pic>
      <p:pic>
        <p:nvPicPr>
          <p:cNvPr id="17" name="Picture 3" descr="C:\Users\User\Desktop\Indalia\Icons\bag19.png"/>
          <p:cNvPicPr>
            <a:picLocks noChangeAspect="1" noChangeArrowheads="1"/>
          </p:cNvPicPr>
          <p:nvPr/>
        </p:nvPicPr>
        <p:blipFill>
          <a:blip r:embed="rId5" cstate="email">
            <a:extLst>
              <a:ext uri="{BEBA8EAE-BF5A-486C-A8C5-ECC9F3942E4B}">
                <a14:imgProps xmlns:a14="http://schemas.microsoft.com/office/drawing/2010/main">
                  <a14:imgLayer r:embed="rId6">
                    <a14:imgEffect>
                      <a14:brightnessContrast bright="100000" contrast="100000"/>
                    </a14:imgEffect>
                  </a14:imgLayer>
                </a14:imgProps>
              </a:ext>
              <a:ext uri="{28A0092B-C50C-407E-A947-70E740481C1C}">
                <a14:useLocalDpi xmlns:a14="http://schemas.microsoft.com/office/drawing/2010/main" val="0"/>
              </a:ext>
            </a:extLst>
          </a:blip>
          <a:srcRect/>
          <a:stretch>
            <a:fillRect/>
          </a:stretch>
        </p:blipFill>
        <p:spPr bwMode="auto">
          <a:xfrm>
            <a:off x="8095000" y="1628075"/>
            <a:ext cx="540000" cy="540000"/>
          </a:xfrm>
          <a:prstGeom prst="rect">
            <a:avLst/>
          </a:prstGeom>
          <a:noFill/>
          <a:effectLst>
            <a:innerShdw blurRad="1270000" dist="2540000">
              <a:srgbClr val="F3FFE2"/>
            </a:innerShdw>
          </a:effectLst>
          <a:extLst>
            <a:ext uri="{909E8E84-426E-40DD-AFC4-6F175D3DCCD1}">
              <a14:hiddenFill xmlns:a14="http://schemas.microsoft.com/office/drawing/2010/main">
                <a:solidFill>
                  <a:srgbClr val="FFFFFF"/>
                </a:solidFill>
              </a14:hiddenFill>
            </a:ext>
          </a:extLst>
        </p:spPr>
      </p:pic>
      <p:sp>
        <p:nvSpPr>
          <p:cNvPr id="5" name="矩形 4"/>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6" name="矩形 5"/>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sp>
        <p:nvSpPr>
          <p:cNvPr id="29" name="文本框 28"/>
          <p:cNvSpPr txBox="1"/>
          <p:nvPr/>
        </p:nvSpPr>
        <p:spPr>
          <a:xfrm>
            <a:off x="857885" y="283210"/>
            <a:ext cx="5669915" cy="1076325"/>
          </a:xfrm>
          <a:prstGeom prst="rect">
            <a:avLst/>
          </a:prstGeom>
          <a:noFill/>
        </p:spPr>
        <p:txBody>
          <a:bodyPr wrap="none" rtlCol="0">
            <a:spAutoFit/>
          </a:bodyPr>
          <a:p>
            <a:pPr algn="l"/>
            <a:r>
              <a:rPr lang="en-US" altLang="zh-CN" sz="3200" b="1">
                <a:solidFill>
                  <a:schemeClr val="tx1">
                    <a:lumMod val="75000"/>
                    <a:lumOff val="25000"/>
                  </a:schemeClr>
                </a:solidFill>
                <a:latin typeface="+mj-ea"/>
                <a:ea typeface="+mj-ea"/>
                <a:sym typeface="+mn-ea"/>
              </a:rPr>
              <a:t>KEY WORDS CPC</a:t>
            </a:r>
            <a:r>
              <a:rPr lang="zh-CN" altLang="en-US" sz="3200" b="1">
                <a:solidFill>
                  <a:schemeClr val="tx1">
                    <a:lumMod val="75000"/>
                    <a:lumOff val="25000"/>
                  </a:schemeClr>
                </a:solidFill>
                <a:latin typeface="+mj-ea"/>
                <a:ea typeface="+mj-ea"/>
                <a:sym typeface="+mn-ea"/>
              </a:rPr>
              <a:t>关键词类型</a:t>
            </a:r>
            <a:endParaRPr lang="zh-CN" altLang="en-US" sz="3200" b="1" dirty="0">
              <a:solidFill>
                <a:schemeClr val="tx1">
                  <a:lumMod val="75000"/>
                  <a:lumOff val="25000"/>
                </a:schemeClr>
              </a:solidFill>
              <a:latin typeface="+mj-ea"/>
              <a:ea typeface="+mj-ea"/>
              <a:sym typeface="+mn-ea"/>
            </a:endParaRPr>
          </a:p>
          <a:p>
            <a:pPr algn="l"/>
            <a:endParaRPr lang="en-US" altLang="zh-CN" sz="3200" b="1">
              <a:solidFill>
                <a:schemeClr val="tx1">
                  <a:lumMod val="75000"/>
                  <a:lumOff val="25000"/>
                </a:schemeClr>
              </a:solidFill>
            </a:endParaRPr>
          </a:p>
        </p:txBody>
      </p:sp>
      <p:sp>
        <p:nvSpPr>
          <p:cNvPr id="11" name="矩形 10"/>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spd="med" p14:dur="20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par>
                                <p:cTn id="24" presetID="53" presetClass="entr" presetSubtype="16"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fltVal val="0"/>
                                          </p:val>
                                        </p:tav>
                                        <p:tav tm="100000">
                                          <p:val>
                                            <p:strVal val="#ppt_h"/>
                                          </p:val>
                                        </p:tav>
                                      </p:tavLst>
                                    </p:anim>
                                    <p:animEffect transition="in" filter="fade">
                                      <p:cBhvr>
                                        <p:cTn id="28" dur="500"/>
                                        <p:tgtEl>
                                          <p:spTgt spid="15"/>
                                        </p:tgtEl>
                                      </p:cBhvr>
                                    </p:animEffect>
                                  </p:childTnLst>
                                </p:cTn>
                              </p:par>
                              <p:par>
                                <p:cTn id="29" presetID="53" presetClass="entr" presetSubtype="16"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500" fill="hold"/>
                                        <p:tgtEl>
                                          <p:spTgt spid="17"/>
                                        </p:tgtEl>
                                        <p:attrNameLst>
                                          <p:attrName>ppt_w</p:attrName>
                                        </p:attrNameLst>
                                      </p:cBhvr>
                                      <p:tavLst>
                                        <p:tav tm="0">
                                          <p:val>
                                            <p:fltVal val="0"/>
                                          </p:val>
                                        </p:tav>
                                        <p:tav tm="100000">
                                          <p:val>
                                            <p:strVal val="#ppt_w"/>
                                          </p:val>
                                        </p:tav>
                                      </p:tavLst>
                                    </p:anim>
                                    <p:anim calcmode="lin" valueType="num">
                                      <p:cBhvr>
                                        <p:cTn id="32" dur="500" fill="hold"/>
                                        <p:tgtEl>
                                          <p:spTgt spid="17"/>
                                        </p:tgtEl>
                                        <p:attrNameLst>
                                          <p:attrName>ppt_h</p:attrName>
                                        </p:attrNameLst>
                                      </p:cBhvr>
                                      <p:tavLst>
                                        <p:tav tm="0">
                                          <p:val>
                                            <p:fltVal val="0"/>
                                          </p:val>
                                        </p:tav>
                                        <p:tav tm="100000">
                                          <p:val>
                                            <p:strVal val="#ppt_h"/>
                                          </p:val>
                                        </p:tav>
                                      </p:tavLst>
                                    </p:anim>
                                    <p:animEffect transition="in" filter="fade">
                                      <p:cBhvr>
                                        <p:cTn id="3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3"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Pentagon 23"/>
          <p:cNvSpPr/>
          <p:nvPr/>
        </p:nvSpPr>
        <p:spPr bwMode="auto">
          <a:xfrm>
            <a:off x="1333500" y="5327638"/>
            <a:ext cx="2374226" cy="423863"/>
          </a:xfrm>
          <a:prstGeom prst="homePlate">
            <a:avLst/>
          </a:prstGeom>
          <a:solidFill>
            <a:schemeClr val="tx1">
              <a:lumMod val="85000"/>
              <a:lumOff val="15000"/>
            </a:schemeClr>
          </a:solidFill>
          <a:ln w="25400" cap="flat" cmpd="sng" algn="ctr">
            <a:noFill/>
            <a:prstDash val="solid"/>
            <a:round/>
            <a:headEnd type="none" w="med" len="med"/>
            <a:tailEnd type="none" w="med" len="med"/>
          </a:ln>
          <a:effectLst/>
        </p:spPr>
        <p:txBody>
          <a:bodyPr vert="horz" wrap="square" lIns="45720" tIns="22860" rIns="45720" bIns="22860" numCol="1" rtlCol="0" anchor="t" anchorCtr="0" compatLnSpc="1"/>
          <a:lstStyle/>
          <a:p>
            <a:pPr algn="ctr" fontAlgn="base">
              <a:spcBef>
                <a:spcPct val="0"/>
              </a:spcBef>
              <a:spcAft>
                <a:spcPct val="0"/>
              </a:spcAft>
            </a:pPr>
            <a:endParaRPr lang="zh-CN" altLang="en-US" dirty="0">
              <a:solidFill>
                <a:prstClr val="white"/>
              </a:solidFill>
              <a:latin typeface="微软雅黑" panose="020B0503020204020204" charset="-122"/>
              <a:ea typeface="微软雅黑" panose="020B0503020204020204" charset="-122"/>
            </a:endParaRPr>
          </a:p>
        </p:txBody>
      </p:sp>
      <p:sp>
        <p:nvSpPr>
          <p:cNvPr id="17" name="Pentagon 16"/>
          <p:cNvSpPr/>
          <p:nvPr/>
        </p:nvSpPr>
        <p:spPr bwMode="auto">
          <a:xfrm>
            <a:off x="1304925" y="3047680"/>
            <a:ext cx="2374226" cy="423863"/>
          </a:xfrm>
          <a:prstGeom prst="homePlate">
            <a:avLst/>
          </a:prstGeom>
          <a:solidFill>
            <a:schemeClr val="bg2">
              <a:lumMod val="10000"/>
            </a:schemeClr>
          </a:solidFill>
          <a:ln w="25400" cap="flat" cmpd="sng" algn="ctr">
            <a:noFill/>
            <a:prstDash val="solid"/>
            <a:round/>
            <a:headEnd type="none" w="med" len="med"/>
            <a:tailEnd type="none" w="med" len="med"/>
          </a:ln>
          <a:effectLst/>
        </p:spPr>
        <p:txBody>
          <a:bodyPr vert="horz" wrap="square" lIns="45720" tIns="22860" rIns="45720" bIns="22860" numCol="1" rtlCol="0" anchor="t" anchorCtr="0" compatLnSpc="1"/>
          <a:lstStyle/>
          <a:p>
            <a:pPr algn="l"/>
            <a:r>
              <a:rPr lang="en-US" altLang="zh-CN" b="1" dirty="0">
                <a:solidFill>
                  <a:prstClr val="white"/>
                </a:solidFill>
                <a:latin typeface="微软雅黑" panose="020B0503020204020204" charset="-122"/>
                <a:ea typeface="微软雅黑" panose="020B0503020204020204" charset="-122"/>
              </a:rPr>
              <a:t>     </a:t>
            </a:r>
            <a:endParaRPr lang="zh-CN" altLang="en-US" b="1" dirty="0">
              <a:solidFill>
                <a:prstClr val="white"/>
              </a:solidFill>
              <a:latin typeface="微软雅黑" panose="020B0503020204020204" charset="-122"/>
              <a:ea typeface="微软雅黑" panose="020B0503020204020204" charset="-122"/>
            </a:endParaRPr>
          </a:p>
        </p:txBody>
      </p:sp>
      <p:sp>
        <p:nvSpPr>
          <p:cNvPr id="13" name="Rectangle 12"/>
          <p:cNvSpPr/>
          <p:nvPr/>
        </p:nvSpPr>
        <p:spPr>
          <a:xfrm>
            <a:off x="1234876" y="1625552"/>
            <a:ext cx="2876550" cy="600164"/>
          </a:xfrm>
          <a:prstGeom prst="rect">
            <a:avLst/>
          </a:prstGeom>
        </p:spPr>
        <p:txBody>
          <a:bodyPr wrap="square" anchor="ctr">
            <a:spAutoFit/>
          </a:bodyPr>
          <a:lstStyle/>
          <a:p>
            <a:pPr>
              <a:lnSpc>
                <a:spcPct val="150000"/>
              </a:lnSpc>
            </a:pPr>
            <a:r>
              <a:rPr lang="en-US" sz="2200" b="1" dirty="0">
                <a:solidFill>
                  <a:srgbClr val="F3FFE2"/>
                </a:solidFill>
                <a:latin typeface="Arial" panose="020B0604020202020204" pitchFamily="34" charset="0"/>
                <a:ea typeface="Droid Sans" pitchFamily="34" charset="0"/>
                <a:cs typeface="Droid Sans" pitchFamily="34" charset="0"/>
              </a:rPr>
              <a:t>FULL WIDTH:</a:t>
            </a:r>
            <a:endParaRPr lang="en-US" sz="2200" b="1" dirty="0">
              <a:solidFill>
                <a:srgbClr val="F3FFE2"/>
              </a:solidFill>
              <a:latin typeface="Arial" panose="020B0604020202020204" pitchFamily="34" charset="0"/>
              <a:ea typeface="Droid Sans" pitchFamily="34" charset="0"/>
              <a:cs typeface="Droid Sans" pitchFamily="34" charset="0"/>
            </a:endParaRPr>
          </a:p>
        </p:txBody>
      </p:sp>
      <p:sp>
        <p:nvSpPr>
          <p:cNvPr id="14" name="Rectangle 13"/>
          <p:cNvSpPr/>
          <p:nvPr/>
        </p:nvSpPr>
        <p:spPr>
          <a:xfrm>
            <a:off x="1304925" y="4187659"/>
            <a:ext cx="2876550" cy="600164"/>
          </a:xfrm>
          <a:prstGeom prst="rect">
            <a:avLst/>
          </a:prstGeom>
        </p:spPr>
        <p:txBody>
          <a:bodyPr wrap="square" anchor="ctr">
            <a:spAutoFit/>
          </a:bodyPr>
          <a:lstStyle/>
          <a:p>
            <a:pPr>
              <a:lnSpc>
                <a:spcPct val="150000"/>
              </a:lnSpc>
            </a:pPr>
            <a:r>
              <a:rPr lang="en-US" sz="2200" b="1" dirty="0">
                <a:solidFill>
                  <a:srgbClr val="F3FFE2"/>
                </a:solidFill>
                <a:latin typeface="Arial" panose="020B0604020202020204" pitchFamily="34" charset="0"/>
                <a:ea typeface="Droid Sans" pitchFamily="34" charset="0"/>
                <a:cs typeface="Droid Sans" pitchFamily="34" charset="0"/>
              </a:rPr>
              <a:t>BULLETS:</a:t>
            </a:r>
            <a:endParaRPr lang="en-US" sz="2200" b="1" dirty="0">
              <a:solidFill>
                <a:srgbClr val="F3FFE2"/>
              </a:solidFill>
              <a:latin typeface="Arial" panose="020B0604020202020204" pitchFamily="34" charset="0"/>
              <a:ea typeface="Droid Sans" pitchFamily="34" charset="0"/>
              <a:cs typeface="Droid Sans" pitchFamily="34" charset="0"/>
            </a:endParaRPr>
          </a:p>
        </p:txBody>
      </p:sp>
      <p:sp>
        <p:nvSpPr>
          <p:cNvPr id="25" name="Pentagon 23"/>
          <p:cNvSpPr/>
          <p:nvPr/>
        </p:nvSpPr>
        <p:spPr bwMode="auto">
          <a:xfrm>
            <a:off x="1305504" y="4187659"/>
            <a:ext cx="2374226" cy="423863"/>
          </a:xfrm>
          <a:prstGeom prst="homePlate">
            <a:avLst/>
          </a:prstGeom>
          <a:solidFill>
            <a:schemeClr val="tx1">
              <a:lumMod val="95000"/>
              <a:lumOff val="5000"/>
            </a:schemeClr>
          </a:solidFill>
          <a:ln w="25400" cap="flat" cmpd="sng" algn="ctr">
            <a:noFill/>
            <a:prstDash val="solid"/>
            <a:round/>
            <a:headEnd type="none" w="med" len="med"/>
            <a:tailEnd type="none" w="med" len="med"/>
          </a:ln>
          <a:effectLst/>
        </p:spPr>
        <p:txBody>
          <a:bodyPr vert="horz" wrap="square" lIns="45720" tIns="22860" rIns="45720" bIns="22860" numCol="1" rtlCol="0" anchor="t" anchorCtr="0" compatLnSpc="1"/>
          <a:lstStyle/>
          <a:p>
            <a:pPr algn="ctr" fontAlgn="base">
              <a:spcBef>
                <a:spcPct val="0"/>
              </a:spcBef>
              <a:spcAft>
                <a:spcPct val="0"/>
              </a:spcAft>
            </a:pPr>
            <a:r>
              <a:rPr lang="en-US" altLang="zh-CN" b="1" dirty="0">
                <a:solidFill>
                  <a:prstClr val="white"/>
                </a:solidFill>
                <a:latin typeface="微软雅黑" panose="020B0503020204020204" charset="-122"/>
                <a:ea typeface="微软雅黑" panose="020B0503020204020204" charset="-122"/>
              </a:rPr>
              <a:t>     </a:t>
            </a:r>
            <a:endParaRPr lang="zh-CN" altLang="en-US" b="1" dirty="0">
              <a:solidFill>
                <a:prstClr val="white"/>
              </a:solidFill>
              <a:latin typeface="锐字工房云字库锐倩GBK" panose="02010604000000000000" charset="-122"/>
              <a:ea typeface="锐字工房云字库锐倩GBK" panose="02010604000000000000" charset="-122"/>
              <a:sym typeface="+mn-ea"/>
            </a:endParaRPr>
          </a:p>
        </p:txBody>
      </p:sp>
      <p:sp>
        <p:nvSpPr>
          <p:cNvPr id="26" name="Pentagon 23"/>
          <p:cNvSpPr/>
          <p:nvPr/>
        </p:nvSpPr>
        <p:spPr bwMode="auto">
          <a:xfrm>
            <a:off x="1304925" y="1903669"/>
            <a:ext cx="2374226" cy="423863"/>
          </a:xfrm>
          <a:prstGeom prst="homePlate">
            <a:avLst/>
          </a:prstGeom>
          <a:solidFill>
            <a:schemeClr val="tx1"/>
          </a:solidFill>
          <a:ln w="25400" cap="flat" cmpd="sng" algn="ctr">
            <a:noFill/>
            <a:prstDash val="solid"/>
            <a:round/>
            <a:headEnd type="none" w="med" len="med"/>
            <a:tailEnd type="none" w="med" len="med"/>
          </a:ln>
          <a:effectLst/>
        </p:spPr>
        <p:txBody>
          <a:bodyPr vert="horz" wrap="square" lIns="45720" tIns="22860" rIns="45720" bIns="22860" numCol="1" rtlCol="0" anchor="t" anchorCtr="0" compatLnSpc="1"/>
          <a:lstStyle/>
          <a:p>
            <a:pPr algn="ctr" defTabSz="457200" fontAlgn="base">
              <a:spcBef>
                <a:spcPct val="0"/>
              </a:spcBef>
              <a:spcAft>
                <a:spcPct val="0"/>
              </a:spcAft>
            </a:pPr>
            <a:endParaRPr lang="en-US" sz="2800">
              <a:solidFill>
                <a:srgbClr val="000000"/>
              </a:solidFill>
              <a:latin typeface="Gill Sans" charset="0"/>
              <a:ea typeface="ヒラギノ角ゴ ProN W3" charset="0"/>
              <a:cs typeface="ヒラギノ角ゴ ProN W3" charset="0"/>
              <a:sym typeface="Gill Sans" charset="0"/>
            </a:endParaRPr>
          </a:p>
        </p:txBody>
      </p:sp>
      <p:sp>
        <p:nvSpPr>
          <p:cNvPr id="4" name="矩形 3"/>
          <p:cNvSpPr/>
          <p:nvPr/>
        </p:nvSpPr>
        <p:spPr>
          <a:xfrm>
            <a:off x="4974547" y="3047650"/>
            <a:ext cx="6096000" cy="953135"/>
          </a:xfrm>
          <a:prstGeom prst="rect">
            <a:avLst/>
          </a:prstGeom>
        </p:spPr>
        <p:txBody>
          <a:bodyPr>
            <a:spAutoFit/>
          </a:bodyPr>
          <a:lstStyle/>
          <a:p>
            <a:pPr algn="just">
              <a:defRPr/>
            </a:pPr>
            <a:r>
              <a:rPr lang="zh-CN" altLang="en-US" sz="1600" b="1" kern="0" dirty="0">
                <a:solidFill>
                  <a:schemeClr val="tx1">
                    <a:lumMod val="85000"/>
                    <a:lumOff val="15000"/>
                  </a:schemeClr>
                </a:solidFill>
                <a:latin typeface="+mj-ea"/>
                <a:ea typeface="+mj-ea"/>
                <a:sym typeface="+mn-ea"/>
              </a:rPr>
              <a:t>产品单价低，预计出单不高，利润不高的前提下，广告意义不大，没钱赚。</a:t>
            </a:r>
            <a:endParaRPr lang="zh-CN" altLang="en-US" sz="1600" b="1" kern="0" dirty="0">
              <a:solidFill>
                <a:schemeClr val="tx1">
                  <a:lumMod val="85000"/>
                  <a:lumOff val="15000"/>
                </a:schemeClr>
              </a:solidFill>
              <a:latin typeface="+mj-ea"/>
              <a:ea typeface="+mj-ea"/>
              <a:sym typeface="+mn-ea"/>
            </a:endParaRPr>
          </a:p>
          <a:p>
            <a:pPr algn="just">
              <a:defRPr/>
            </a:pPr>
            <a:r>
              <a:rPr lang="zh-CN" altLang="en-US" sz="1200" kern="0" dirty="0">
                <a:solidFill>
                  <a:schemeClr val="tx1">
                    <a:lumMod val="50000"/>
                    <a:lumOff val="50000"/>
                  </a:schemeClr>
                </a:solidFill>
                <a:latin typeface="+mj-ea"/>
                <a:ea typeface="+mj-ea"/>
                <a:sym typeface="+mn-ea"/>
              </a:rPr>
              <a:t>比如：</a:t>
            </a:r>
            <a:r>
              <a:rPr lang="zh-CN" altLang="en-US" sz="1200" kern="0" dirty="0">
                <a:solidFill>
                  <a:schemeClr val="bg1">
                    <a:lumMod val="50000"/>
                  </a:schemeClr>
                </a:solidFill>
                <a:latin typeface="+mj-ea"/>
                <a:ea typeface="+mj-ea"/>
                <a:sym typeface="+mn-ea"/>
              </a:rPr>
              <a:t>售价</a:t>
            </a:r>
            <a:r>
              <a:rPr lang="en-US" altLang="zh-CN" sz="1200" kern="0" dirty="0">
                <a:solidFill>
                  <a:schemeClr val="bg1">
                    <a:lumMod val="50000"/>
                  </a:schemeClr>
                </a:solidFill>
                <a:latin typeface="+mj-ea"/>
                <a:ea typeface="+mj-ea"/>
                <a:sym typeface="+mn-ea"/>
              </a:rPr>
              <a:t>9.99</a:t>
            </a:r>
            <a:r>
              <a:rPr lang="zh-CN" altLang="en-US" sz="1200" kern="0" dirty="0">
                <a:solidFill>
                  <a:schemeClr val="bg1">
                    <a:lumMod val="50000"/>
                  </a:schemeClr>
                </a:solidFill>
                <a:latin typeface="+mj-ea"/>
                <a:ea typeface="+mj-ea"/>
                <a:sym typeface="+mn-ea"/>
              </a:rPr>
              <a:t>美金，日均出单</a:t>
            </a:r>
            <a:r>
              <a:rPr lang="en-US" altLang="zh-CN" sz="1200" kern="0" dirty="0">
                <a:solidFill>
                  <a:schemeClr val="bg1">
                    <a:lumMod val="50000"/>
                  </a:schemeClr>
                </a:solidFill>
                <a:latin typeface="+mj-ea"/>
                <a:ea typeface="+mj-ea"/>
                <a:sym typeface="+mn-ea"/>
              </a:rPr>
              <a:t>30</a:t>
            </a:r>
            <a:r>
              <a:rPr lang="zh-CN" altLang="en-US" sz="1200" kern="0" dirty="0">
                <a:solidFill>
                  <a:schemeClr val="bg1">
                    <a:lumMod val="50000"/>
                  </a:schemeClr>
                </a:solidFill>
                <a:latin typeface="+mj-ea"/>
                <a:ea typeface="+mj-ea"/>
                <a:sym typeface="+mn-ea"/>
              </a:rPr>
              <a:t>，客单价利润</a:t>
            </a:r>
            <a:r>
              <a:rPr lang="en-US" altLang="zh-CN" sz="1200" kern="0" dirty="0">
                <a:solidFill>
                  <a:schemeClr val="bg1">
                    <a:lumMod val="50000"/>
                  </a:schemeClr>
                </a:solidFill>
                <a:latin typeface="+mj-ea"/>
                <a:ea typeface="+mj-ea"/>
                <a:sym typeface="+mn-ea"/>
              </a:rPr>
              <a:t>30%</a:t>
            </a:r>
            <a:r>
              <a:rPr lang="zh-CN" altLang="en-US" sz="1200" kern="0" dirty="0">
                <a:solidFill>
                  <a:schemeClr val="bg1">
                    <a:lumMod val="50000"/>
                  </a:schemeClr>
                </a:solidFill>
                <a:latin typeface="+mj-ea"/>
                <a:ea typeface="+mj-ea"/>
                <a:sym typeface="+mn-ea"/>
              </a:rPr>
              <a:t>，</a:t>
            </a:r>
            <a:r>
              <a:rPr lang="en-US" altLang="zh-CN" sz="1200" kern="0" dirty="0">
                <a:solidFill>
                  <a:schemeClr val="bg1">
                    <a:lumMod val="50000"/>
                  </a:schemeClr>
                </a:solidFill>
                <a:latin typeface="+mj-ea"/>
                <a:ea typeface="+mj-ea"/>
                <a:sym typeface="+mn-ea"/>
              </a:rPr>
              <a:t>Acos15%</a:t>
            </a:r>
            <a:r>
              <a:rPr lang="zh-CN" altLang="en-US" sz="1200" kern="0" dirty="0">
                <a:solidFill>
                  <a:schemeClr val="bg1">
                    <a:lumMod val="50000"/>
                  </a:schemeClr>
                </a:solidFill>
                <a:latin typeface="+mj-ea"/>
                <a:ea typeface="+mj-ea"/>
                <a:sym typeface="+mn-ea"/>
              </a:rPr>
              <a:t>，扣除亚马逊佣金</a:t>
            </a:r>
            <a:r>
              <a:rPr lang="en-US" altLang="zh-CN" sz="1200" kern="0" dirty="0">
                <a:solidFill>
                  <a:schemeClr val="bg1">
                    <a:lumMod val="50000"/>
                  </a:schemeClr>
                </a:solidFill>
                <a:latin typeface="+mj-ea"/>
                <a:ea typeface="+mj-ea"/>
                <a:sym typeface="+mn-ea"/>
              </a:rPr>
              <a:t>15%</a:t>
            </a:r>
            <a:r>
              <a:rPr lang="zh-CN" altLang="en-US" sz="1200" kern="0" dirty="0">
                <a:solidFill>
                  <a:schemeClr val="bg1">
                    <a:lumMod val="50000"/>
                  </a:schemeClr>
                </a:solidFill>
                <a:latin typeface="+mj-ea"/>
                <a:ea typeface="+mj-ea"/>
                <a:sym typeface="+mn-ea"/>
              </a:rPr>
              <a:t>左右，广告出单不赚钱。</a:t>
            </a:r>
            <a:endParaRPr lang="en-US" altLang="zh-CN" sz="1200" dirty="0">
              <a:solidFill>
                <a:srgbClr val="000000"/>
              </a:solidFill>
              <a:latin typeface="+mj-ea"/>
              <a:ea typeface="+mj-ea"/>
              <a:sym typeface="方正姚体" panose="02010601030101010101" pitchFamily="2" charset="-122"/>
            </a:endParaRPr>
          </a:p>
        </p:txBody>
      </p:sp>
      <p:sp>
        <p:nvSpPr>
          <p:cNvPr id="5" name="矩形 4"/>
          <p:cNvSpPr/>
          <p:nvPr/>
        </p:nvSpPr>
        <p:spPr>
          <a:xfrm>
            <a:off x="4974547" y="4187629"/>
            <a:ext cx="6096000" cy="521970"/>
          </a:xfrm>
          <a:prstGeom prst="rect">
            <a:avLst/>
          </a:prstGeom>
        </p:spPr>
        <p:txBody>
          <a:bodyPr>
            <a:spAutoFit/>
          </a:bodyPr>
          <a:lstStyle/>
          <a:p>
            <a:pPr algn="just">
              <a:defRPr/>
            </a:pPr>
            <a:r>
              <a:rPr lang="zh-CN" altLang="en-US" sz="1600" b="1" dirty="0">
                <a:solidFill>
                  <a:schemeClr val="tx1">
                    <a:lumMod val="85000"/>
                    <a:lumOff val="15000"/>
                  </a:schemeClr>
                </a:solidFill>
                <a:latin typeface="+mj-ea"/>
                <a:ea typeface="+mj-ea"/>
                <a:sym typeface="+mn-ea"/>
              </a:rPr>
              <a:t>市场竞争力，与产品关键词广告排名，市场自然排名。</a:t>
            </a:r>
            <a:endParaRPr lang="zh-CN" altLang="en-US" sz="1600" b="1" dirty="0">
              <a:solidFill>
                <a:schemeClr val="tx1">
                  <a:lumMod val="85000"/>
                  <a:lumOff val="15000"/>
                </a:schemeClr>
              </a:solidFill>
              <a:latin typeface="+mj-ea"/>
              <a:ea typeface="+mj-ea"/>
              <a:sym typeface="+mn-ea"/>
            </a:endParaRPr>
          </a:p>
          <a:p>
            <a:pPr algn="just">
              <a:defRPr/>
            </a:pPr>
            <a:r>
              <a:rPr lang="zh-CN" altLang="en-US" sz="1200" kern="0" dirty="0">
                <a:solidFill>
                  <a:schemeClr val="tx1">
                    <a:lumMod val="50000"/>
                    <a:lumOff val="50000"/>
                  </a:schemeClr>
                </a:solidFill>
                <a:latin typeface="+mj-ea"/>
                <a:ea typeface="+mj-ea"/>
                <a:sym typeface="+mn-ea"/>
              </a:rPr>
              <a:t>比如：自然搜索排名在首页的关键词添加广告</a:t>
            </a:r>
            <a:r>
              <a:rPr lang="zh-CN" altLang="en-US" sz="1200" kern="0" dirty="0">
                <a:solidFill>
                  <a:schemeClr val="bg1">
                    <a:lumMod val="50000"/>
                  </a:schemeClr>
                </a:solidFill>
                <a:latin typeface="+mj-ea"/>
                <a:ea typeface="+mj-ea"/>
                <a:sym typeface="+mn-ea"/>
              </a:rPr>
              <a:t>，包括长尾关键词。</a:t>
            </a:r>
            <a:endParaRPr lang="en-US" altLang="zh-CN" sz="1200" dirty="0">
              <a:solidFill>
                <a:srgbClr val="000000"/>
              </a:solidFill>
              <a:latin typeface="+mj-ea"/>
              <a:ea typeface="+mj-ea"/>
              <a:sym typeface="方正姚体" panose="02010601030101010101" pitchFamily="2" charset="-122"/>
            </a:endParaRPr>
          </a:p>
        </p:txBody>
      </p:sp>
      <p:sp>
        <p:nvSpPr>
          <p:cNvPr id="6" name="矩形 5"/>
          <p:cNvSpPr/>
          <p:nvPr/>
        </p:nvSpPr>
        <p:spPr>
          <a:xfrm>
            <a:off x="4974547" y="5327608"/>
            <a:ext cx="6096000" cy="521970"/>
          </a:xfrm>
          <a:prstGeom prst="rect">
            <a:avLst/>
          </a:prstGeom>
        </p:spPr>
        <p:txBody>
          <a:bodyPr>
            <a:spAutoFit/>
          </a:bodyPr>
          <a:lstStyle/>
          <a:p>
            <a:pPr algn="just">
              <a:defRPr/>
            </a:pPr>
            <a:r>
              <a:rPr lang="zh-CN" altLang="en-US" sz="1600" b="1" dirty="0">
                <a:solidFill>
                  <a:schemeClr val="tx1">
                    <a:lumMod val="85000"/>
                    <a:lumOff val="15000"/>
                  </a:schemeClr>
                </a:solidFill>
                <a:latin typeface="+mj-ea"/>
                <a:ea typeface="+mj-ea"/>
                <a:sym typeface="+mn-ea"/>
              </a:rPr>
              <a:t>结合产品利润与实际出单情况，宏观调控。</a:t>
            </a:r>
            <a:endParaRPr lang="zh-CN" altLang="en-US" sz="1600" b="1" dirty="0">
              <a:solidFill>
                <a:schemeClr val="tx1">
                  <a:lumMod val="85000"/>
                  <a:lumOff val="15000"/>
                </a:schemeClr>
              </a:solidFill>
              <a:latin typeface="+mj-ea"/>
              <a:ea typeface="+mj-ea"/>
              <a:sym typeface="+mn-ea"/>
            </a:endParaRPr>
          </a:p>
          <a:p>
            <a:pPr algn="just">
              <a:defRPr/>
            </a:pPr>
            <a:r>
              <a:rPr lang="zh-CN" altLang="en-US" sz="1200" kern="0" dirty="0">
                <a:solidFill>
                  <a:schemeClr val="tx1">
                    <a:lumMod val="50000"/>
                    <a:lumOff val="50000"/>
                  </a:schemeClr>
                </a:solidFill>
                <a:latin typeface="+mj-ea"/>
                <a:ea typeface="+mj-ea"/>
                <a:sym typeface="+mn-ea"/>
              </a:rPr>
              <a:t>比如：流量起伏期，预算的上下调整，缺货或者页面显示不全，广告需要做调整。</a:t>
            </a:r>
            <a:endParaRPr lang="en-US" altLang="zh-CN" sz="1200" dirty="0">
              <a:solidFill>
                <a:srgbClr val="000000"/>
              </a:solidFill>
              <a:latin typeface="+mj-ea"/>
              <a:ea typeface="+mj-ea"/>
              <a:sym typeface="方正姚体" panose="02010601030101010101" pitchFamily="2" charset="-122"/>
            </a:endParaRPr>
          </a:p>
        </p:txBody>
      </p:sp>
      <p:sp>
        <p:nvSpPr>
          <p:cNvPr id="7" name="文本框 6"/>
          <p:cNvSpPr txBox="1"/>
          <p:nvPr/>
        </p:nvSpPr>
        <p:spPr>
          <a:xfrm>
            <a:off x="1924050" y="1933575"/>
            <a:ext cx="1135380" cy="368300"/>
          </a:xfrm>
          <a:prstGeom prst="rect">
            <a:avLst/>
          </a:prstGeom>
          <a:noFill/>
        </p:spPr>
        <p:txBody>
          <a:bodyPr wrap="square" rtlCol="0">
            <a:spAutoFit/>
          </a:bodyPr>
          <a:lstStyle/>
          <a:p>
            <a:r>
              <a:rPr lang="zh-CN" altLang="en-US" b="1" dirty="0">
                <a:solidFill>
                  <a:prstClr val="white"/>
                </a:solidFill>
                <a:latin typeface="微软雅黑" panose="020B0503020204020204" charset="-122"/>
                <a:ea typeface="微软雅黑" panose="020B0503020204020204" charset="-122"/>
              </a:rPr>
              <a:t>库       存</a:t>
            </a:r>
            <a:endParaRPr lang="zh-CN" altLang="en-US" b="1" dirty="0">
              <a:solidFill>
                <a:prstClr val="white"/>
              </a:solidFill>
              <a:latin typeface="微软雅黑" panose="020B0503020204020204" charset="-122"/>
              <a:ea typeface="微软雅黑" panose="020B0503020204020204" charset="-122"/>
            </a:endParaRPr>
          </a:p>
        </p:txBody>
      </p:sp>
      <p:sp>
        <p:nvSpPr>
          <p:cNvPr id="12" name="矩形 11"/>
          <p:cNvSpPr/>
          <p:nvPr/>
        </p:nvSpPr>
        <p:spPr>
          <a:xfrm>
            <a:off x="11449376" y="0"/>
            <a:ext cx="181897" cy="685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矩形 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8" name="文本框 7"/>
          <p:cNvSpPr txBox="1"/>
          <p:nvPr/>
        </p:nvSpPr>
        <p:spPr>
          <a:xfrm>
            <a:off x="1924050" y="3075305"/>
            <a:ext cx="1097280" cy="368300"/>
          </a:xfrm>
          <a:prstGeom prst="rect">
            <a:avLst/>
          </a:prstGeom>
          <a:noFill/>
        </p:spPr>
        <p:txBody>
          <a:bodyPr wrap="none" rtlCol="0">
            <a:spAutoFit/>
          </a:bodyPr>
          <a:p>
            <a:pPr algn="l"/>
            <a:r>
              <a:rPr lang="zh-CN" altLang="en-US" b="1" dirty="0">
                <a:solidFill>
                  <a:prstClr val="white"/>
                </a:solidFill>
                <a:latin typeface="微软雅黑" panose="020B0503020204020204" charset="-122"/>
                <a:ea typeface="微软雅黑" panose="020B0503020204020204" charset="-122"/>
                <a:sym typeface="+mn-ea"/>
              </a:rPr>
              <a:t>产品单价</a:t>
            </a:r>
            <a:endParaRPr lang="zh-CN" altLang="en-US"/>
          </a:p>
        </p:txBody>
      </p:sp>
      <p:sp>
        <p:nvSpPr>
          <p:cNvPr id="9" name="文本框 8"/>
          <p:cNvSpPr txBox="1"/>
          <p:nvPr/>
        </p:nvSpPr>
        <p:spPr>
          <a:xfrm>
            <a:off x="1856105" y="4215765"/>
            <a:ext cx="1329055" cy="368300"/>
          </a:xfrm>
          <a:prstGeom prst="rect">
            <a:avLst/>
          </a:prstGeom>
          <a:noFill/>
        </p:spPr>
        <p:txBody>
          <a:bodyPr wrap="none" rtlCol="0">
            <a:spAutoFit/>
          </a:bodyPr>
          <a:p>
            <a:pPr algn="l"/>
            <a:r>
              <a:rPr lang="zh-CN" altLang="en-US" b="1" dirty="0">
                <a:solidFill>
                  <a:prstClr val="white"/>
                </a:solidFill>
                <a:latin typeface="锐字工房云字库锐倩GBK" panose="02010604000000000000" charset="-122"/>
                <a:ea typeface="锐字工房云字库锐倩GBK" panose="02010604000000000000" charset="-122"/>
                <a:sym typeface="+mn-ea"/>
              </a:rPr>
              <a:t>关键词热度</a:t>
            </a:r>
            <a:endParaRPr lang="zh-CN" altLang="en-US"/>
          </a:p>
        </p:txBody>
      </p:sp>
      <p:sp>
        <p:nvSpPr>
          <p:cNvPr id="10" name="文本框 9"/>
          <p:cNvSpPr txBox="1"/>
          <p:nvPr/>
        </p:nvSpPr>
        <p:spPr>
          <a:xfrm>
            <a:off x="2055495" y="5355590"/>
            <a:ext cx="834390" cy="368300"/>
          </a:xfrm>
          <a:prstGeom prst="rect">
            <a:avLst/>
          </a:prstGeom>
          <a:noFill/>
        </p:spPr>
        <p:txBody>
          <a:bodyPr wrap="none" rtlCol="0">
            <a:spAutoFit/>
          </a:bodyPr>
          <a:p>
            <a:pPr algn="l"/>
            <a:r>
              <a:rPr lang="en-US" altLang="zh-CN" dirty="0">
                <a:solidFill>
                  <a:prstClr val="white"/>
                </a:solidFill>
                <a:latin typeface="Impact" panose="020B0806030902050204" pitchFamily="34" charset="0"/>
                <a:sym typeface="+mn-ea"/>
              </a:rPr>
              <a:t>Acos %</a:t>
            </a:r>
            <a:endParaRPr lang="zh-CN" altLang="en-US"/>
          </a:p>
        </p:txBody>
      </p:sp>
      <p:sp>
        <p:nvSpPr>
          <p:cNvPr id="15" name="矩形 14"/>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cxnSp>
        <p:nvCxnSpPr>
          <p:cNvPr id="51" name="直接连接符 50"/>
          <p:cNvCxnSpPr/>
          <p:nvPr/>
        </p:nvCxnSpPr>
        <p:spPr>
          <a:xfrm>
            <a:off x="3216849" y="2117524"/>
            <a:ext cx="1757387" cy="0"/>
          </a:xfrm>
          <a:prstGeom prst="line">
            <a:avLst/>
          </a:prstGeom>
          <a:noFill/>
          <a:ln w="9525" cap="flat" cmpd="sng" algn="ctr">
            <a:solidFill>
              <a:sysClr val="windowText" lastClr="000000"/>
            </a:solidFill>
            <a:prstDash val="sysDash"/>
            <a:headEnd type="oval"/>
            <a:tailEnd type="oval"/>
          </a:ln>
          <a:effectLst/>
        </p:spPr>
      </p:cxnSp>
      <p:cxnSp>
        <p:nvCxnSpPr>
          <p:cNvPr id="23" name="直接连接符 22"/>
          <p:cNvCxnSpPr/>
          <p:nvPr/>
        </p:nvCxnSpPr>
        <p:spPr>
          <a:xfrm>
            <a:off x="3272094" y="5539539"/>
            <a:ext cx="1757387" cy="0"/>
          </a:xfrm>
          <a:prstGeom prst="line">
            <a:avLst/>
          </a:prstGeom>
          <a:noFill/>
          <a:ln w="9525" cap="flat" cmpd="sng" algn="ctr">
            <a:solidFill>
              <a:sysClr val="windowText" lastClr="000000"/>
            </a:solidFill>
            <a:prstDash val="sysDash"/>
            <a:headEnd type="oval"/>
            <a:tailEnd type="oval"/>
          </a:ln>
          <a:effectLst/>
        </p:spPr>
      </p:cxnSp>
      <p:cxnSp>
        <p:nvCxnSpPr>
          <p:cNvPr id="27" name="直接连接符 26"/>
          <p:cNvCxnSpPr/>
          <p:nvPr/>
        </p:nvCxnSpPr>
        <p:spPr>
          <a:xfrm>
            <a:off x="3216849" y="4399714"/>
            <a:ext cx="1757387" cy="0"/>
          </a:xfrm>
          <a:prstGeom prst="line">
            <a:avLst/>
          </a:prstGeom>
          <a:noFill/>
          <a:ln w="9525" cap="flat" cmpd="sng" algn="ctr">
            <a:solidFill>
              <a:sysClr val="windowText" lastClr="000000"/>
            </a:solidFill>
            <a:prstDash val="sysDash"/>
            <a:headEnd type="oval"/>
            <a:tailEnd type="oval"/>
          </a:ln>
          <a:effectLst/>
        </p:spPr>
      </p:cxnSp>
      <p:cxnSp>
        <p:nvCxnSpPr>
          <p:cNvPr id="28" name="直接连接符 27"/>
          <p:cNvCxnSpPr/>
          <p:nvPr/>
        </p:nvCxnSpPr>
        <p:spPr>
          <a:xfrm>
            <a:off x="3185099" y="3259254"/>
            <a:ext cx="1757387" cy="0"/>
          </a:xfrm>
          <a:prstGeom prst="line">
            <a:avLst/>
          </a:prstGeom>
          <a:noFill/>
          <a:ln w="9525" cap="flat" cmpd="sng" algn="ctr">
            <a:solidFill>
              <a:sysClr val="windowText" lastClr="000000"/>
            </a:solidFill>
            <a:prstDash val="sysDash"/>
            <a:headEnd type="oval"/>
            <a:tailEnd type="oval"/>
          </a:ln>
          <a:effectLst/>
        </p:spPr>
      </p:cxnSp>
      <p:sp>
        <p:nvSpPr>
          <p:cNvPr id="3" name="矩形 2"/>
          <p:cNvSpPr/>
          <p:nvPr/>
        </p:nvSpPr>
        <p:spPr>
          <a:xfrm>
            <a:off x="4974547" y="1549309"/>
            <a:ext cx="6096000" cy="1137285"/>
          </a:xfrm>
          <a:prstGeom prst="rect">
            <a:avLst/>
          </a:prstGeom>
        </p:spPr>
        <p:txBody>
          <a:bodyPr>
            <a:spAutoFit/>
          </a:bodyPr>
          <a:lstStyle/>
          <a:p>
            <a:pPr algn="just">
              <a:defRPr/>
            </a:pPr>
            <a:r>
              <a:rPr lang="zh-CN" altLang="en-US" sz="1600" b="1" kern="0" dirty="0">
                <a:solidFill>
                  <a:schemeClr val="tx1">
                    <a:lumMod val="85000"/>
                    <a:lumOff val="15000"/>
                  </a:schemeClr>
                </a:solidFill>
                <a:latin typeface="+mj-ea"/>
                <a:ea typeface="+mj-ea"/>
                <a:sym typeface="+mn-ea"/>
              </a:rPr>
              <a:t>库存充足：几十个库存，不要一味的加大预算，调高竞价，毫无意义。</a:t>
            </a:r>
            <a:endParaRPr lang="zh-CN" altLang="en-US" sz="1600" b="1" kern="0" dirty="0">
              <a:solidFill>
                <a:schemeClr val="tx1">
                  <a:lumMod val="85000"/>
                  <a:lumOff val="15000"/>
                </a:schemeClr>
              </a:solidFill>
              <a:latin typeface="+mj-ea"/>
              <a:ea typeface="+mj-ea"/>
              <a:sym typeface="+mn-ea"/>
            </a:endParaRPr>
          </a:p>
          <a:p>
            <a:pPr algn="just">
              <a:defRPr/>
            </a:pPr>
            <a:r>
              <a:rPr lang="zh-CN" altLang="en-US" sz="1200" kern="0" dirty="0">
                <a:solidFill>
                  <a:schemeClr val="tx1">
                    <a:lumMod val="50000"/>
                    <a:lumOff val="50000"/>
                  </a:schemeClr>
                </a:solidFill>
                <a:latin typeface="+mj-ea"/>
                <a:ea typeface="+mj-ea"/>
                <a:sym typeface="+mn-ea"/>
              </a:rPr>
              <a:t>比如：观察对手德国排名大类</a:t>
            </a:r>
            <a:r>
              <a:rPr lang="en-US" altLang="zh-CN" sz="1200" kern="0" dirty="0">
                <a:solidFill>
                  <a:schemeClr val="tx1">
                    <a:lumMod val="50000"/>
                    <a:lumOff val="50000"/>
                  </a:schemeClr>
                </a:solidFill>
                <a:latin typeface="+mj-ea"/>
                <a:ea typeface="+mj-ea"/>
                <a:sym typeface="+mn-ea"/>
              </a:rPr>
              <a:t>5000</a:t>
            </a:r>
            <a:r>
              <a:rPr lang="zh-CN" altLang="en-US" sz="1200" kern="0" dirty="0">
                <a:solidFill>
                  <a:schemeClr val="tx1">
                    <a:lumMod val="50000"/>
                    <a:lumOff val="50000"/>
                  </a:schemeClr>
                </a:solidFill>
                <a:latin typeface="+mj-ea"/>
                <a:ea typeface="+mj-ea"/>
                <a:sym typeface="+mn-ea"/>
              </a:rPr>
              <a:t>，小类第</a:t>
            </a:r>
            <a:r>
              <a:rPr lang="en-US" altLang="zh-CN" sz="1200" kern="0" dirty="0">
                <a:solidFill>
                  <a:schemeClr val="tx1">
                    <a:lumMod val="50000"/>
                    <a:lumOff val="50000"/>
                  </a:schemeClr>
                </a:solidFill>
                <a:latin typeface="+mj-ea"/>
                <a:ea typeface="+mj-ea"/>
                <a:sym typeface="+mn-ea"/>
              </a:rPr>
              <a:t>2</a:t>
            </a:r>
            <a:r>
              <a:rPr lang="zh-CN" altLang="en-US" sz="1200" kern="0" dirty="0">
                <a:solidFill>
                  <a:schemeClr val="tx1">
                    <a:lumMod val="50000"/>
                    <a:lumOff val="50000"/>
                  </a:schemeClr>
                </a:solidFill>
                <a:latin typeface="+mj-ea"/>
                <a:ea typeface="+mj-ea"/>
                <a:sym typeface="+mn-ea"/>
              </a:rPr>
              <a:t>，</a:t>
            </a:r>
            <a:r>
              <a:rPr lang="en-US" altLang="zh-CN" sz="1200" kern="0" dirty="0">
                <a:solidFill>
                  <a:schemeClr val="tx1">
                    <a:lumMod val="50000"/>
                    <a:lumOff val="50000"/>
                  </a:schemeClr>
                </a:solidFill>
                <a:latin typeface="+mj-ea"/>
                <a:ea typeface="+mj-ea"/>
                <a:sym typeface="+mn-ea"/>
              </a:rPr>
              <a:t>Review35</a:t>
            </a:r>
            <a:r>
              <a:rPr lang="zh-CN" altLang="en-US" sz="1200" kern="0" dirty="0">
                <a:solidFill>
                  <a:schemeClr val="tx1">
                    <a:lumMod val="50000"/>
                    <a:lumOff val="50000"/>
                  </a:schemeClr>
                </a:solidFill>
                <a:latin typeface="+mj-ea"/>
                <a:ea typeface="+mj-ea"/>
                <a:sym typeface="+mn-ea"/>
              </a:rPr>
              <a:t>个，七天日均出单</a:t>
            </a:r>
            <a:r>
              <a:rPr lang="en-US" altLang="zh-CN" sz="1200" kern="0" dirty="0">
                <a:solidFill>
                  <a:schemeClr val="tx1">
                    <a:lumMod val="50000"/>
                    <a:lumOff val="50000"/>
                  </a:schemeClr>
                </a:solidFill>
                <a:latin typeface="+mj-ea"/>
                <a:ea typeface="+mj-ea"/>
                <a:sym typeface="+mn-ea"/>
              </a:rPr>
              <a:t>15</a:t>
            </a:r>
            <a:r>
              <a:rPr lang="zh-CN" altLang="en-US" sz="1200" kern="0" dirty="0">
                <a:solidFill>
                  <a:schemeClr val="tx1">
                    <a:lumMod val="50000"/>
                    <a:lumOff val="50000"/>
                  </a:schemeClr>
                </a:solidFill>
                <a:latin typeface="+mj-ea"/>
                <a:ea typeface="+mj-ea"/>
                <a:sym typeface="+mn-ea"/>
              </a:rPr>
              <a:t>单，排名浮动不大</a:t>
            </a:r>
            <a:endParaRPr lang="zh-CN" altLang="en-US" sz="1200" kern="0" dirty="0">
              <a:solidFill>
                <a:schemeClr val="tx1">
                  <a:lumMod val="50000"/>
                  <a:lumOff val="50000"/>
                </a:schemeClr>
              </a:solidFill>
              <a:latin typeface="+mj-ea"/>
              <a:ea typeface="+mj-ea"/>
            </a:endParaRPr>
          </a:p>
          <a:p>
            <a:pPr algn="just">
              <a:defRPr/>
            </a:pPr>
            <a:r>
              <a:rPr lang="zh-CN" altLang="en-US" sz="1200" kern="0" dirty="0">
                <a:solidFill>
                  <a:schemeClr val="tx1">
                    <a:lumMod val="50000"/>
                    <a:lumOff val="50000"/>
                  </a:schemeClr>
                </a:solidFill>
                <a:latin typeface="+mj-ea"/>
                <a:ea typeface="+mj-ea"/>
                <a:sym typeface="+mn-ea"/>
              </a:rPr>
              <a:t>那么：得出自己要做到大类</a:t>
            </a:r>
            <a:r>
              <a:rPr lang="en-US" altLang="zh-CN" sz="1200" kern="0" dirty="0">
                <a:solidFill>
                  <a:schemeClr val="tx1">
                    <a:lumMod val="50000"/>
                    <a:lumOff val="50000"/>
                  </a:schemeClr>
                </a:solidFill>
                <a:latin typeface="+mj-ea"/>
                <a:ea typeface="+mj-ea"/>
                <a:sym typeface="+mn-ea"/>
              </a:rPr>
              <a:t>5000</a:t>
            </a:r>
            <a:r>
              <a:rPr lang="zh-CN" altLang="en-US" sz="1200" kern="0" dirty="0">
                <a:solidFill>
                  <a:schemeClr val="tx1">
                    <a:lumMod val="50000"/>
                    <a:lumOff val="50000"/>
                  </a:schemeClr>
                </a:solidFill>
                <a:latin typeface="+mj-ea"/>
                <a:ea typeface="+mj-ea"/>
                <a:sym typeface="+mn-ea"/>
              </a:rPr>
              <a:t>小类第二，</a:t>
            </a:r>
            <a:r>
              <a:rPr lang="en-US" altLang="zh-CN" sz="1200" kern="0" dirty="0">
                <a:solidFill>
                  <a:schemeClr val="tx1">
                    <a:lumMod val="50000"/>
                    <a:lumOff val="50000"/>
                  </a:schemeClr>
                </a:solidFill>
                <a:latin typeface="+mj-ea"/>
                <a:ea typeface="+mj-ea"/>
                <a:sym typeface="+mn-ea"/>
              </a:rPr>
              <a:t>35</a:t>
            </a:r>
            <a:r>
              <a:rPr lang="zh-CN" altLang="en-US" sz="1200" kern="0" dirty="0">
                <a:solidFill>
                  <a:schemeClr val="tx1">
                    <a:lumMod val="50000"/>
                    <a:lumOff val="50000"/>
                  </a:schemeClr>
                </a:solidFill>
                <a:latin typeface="+mj-ea"/>
                <a:ea typeface="+mj-ea"/>
                <a:sym typeface="+mn-ea"/>
              </a:rPr>
              <a:t>个评论，大概需要多少库存。</a:t>
            </a:r>
            <a:endParaRPr lang="en-US" altLang="zh-CN" sz="1200" dirty="0">
              <a:solidFill>
                <a:srgbClr val="000000"/>
              </a:solidFill>
              <a:latin typeface="+mj-ea"/>
              <a:ea typeface="+mj-ea"/>
              <a:sym typeface="方正姚体" panose="02010601030101010101" pitchFamily="2" charset="-122"/>
            </a:endParaRPr>
          </a:p>
        </p:txBody>
      </p:sp>
      <p:sp>
        <p:nvSpPr>
          <p:cNvPr id="29" name="文本框 28"/>
          <p:cNvSpPr txBox="1"/>
          <p:nvPr/>
        </p:nvSpPr>
        <p:spPr>
          <a:xfrm>
            <a:off x="857885" y="283210"/>
            <a:ext cx="4655185" cy="583565"/>
          </a:xfrm>
          <a:prstGeom prst="rect">
            <a:avLst/>
          </a:prstGeom>
          <a:noFill/>
        </p:spPr>
        <p:txBody>
          <a:bodyPr wrap="none" rtlCol="0">
            <a:spAutoFit/>
          </a:bodyPr>
          <a:p>
            <a:pPr algn="l">
              <a:buFont typeface="Arial" panose="020B0604020202020204" pitchFamily="34" charset="0"/>
              <a:buNone/>
            </a:pPr>
            <a:r>
              <a:rPr lang="en-US" altLang="zh-CN" sz="3200" b="1" dirty="0">
                <a:solidFill>
                  <a:schemeClr val="tx1">
                    <a:lumMod val="75000"/>
                    <a:lumOff val="25000"/>
                  </a:schemeClr>
                </a:solidFill>
                <a:latin typeface="微软雅黑" panose="020B0503020204020204" charset="-122"/>
                <a:ea typeface="微软雅黑" panose="020B0503020204020204" charset="-122"/>
                <a:sym typeface="+mn-ea"/>
              </a:rPr>
              <a:t>CPC</a:t>
            </a:r>
            <a:r>
              <a:rPr lang="zh-CN" altLang="en-US" sz="3200" b="1" dirty="0">
                <a:solidFill>
                  <a:schemeClr val="tx1">
                    <a:lumMod val="75000"/>
                    <a:lumOff val="25000"/>
                  </a:schemeClr>
                </a:solidFill>
                <a:latin typeface="微软雅黑" panose="020B0503020204020204" charset="-122"/>
                <a:ea typeface="微软雅黑" panose="020B0503020204020204" charset="-122"/>
                <a:sym typeface="+mn-ea"/>
              </a:rPr>
              <a:t>预算判断的前提条件</a:t>
            </a:r>
            <a:endParaRPr lang="en-US" altLang="zh-CN" sz="3200" b="1">
              <a:solidFill>
                <a:schemeClr val="tx1">
                  <a:lumMod val="75000"/>
                  <a:lumOff val="25000"/>
                </a:schemeClr>
              </a:solidFill>
            </a:endParaRPr>
          </a:p>
        </p:txBody>
      </p:sp>
      <p:sp>
        <p:nvSpPr>
          <p:cNvPr id="11" name="矩形 10"/>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spd="med" p14:dur="15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wipe(left)">
                                      <p:cBhvr>
                                        <p:cTn id="2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17" grpId="0" bldLvl="0" animBg="1"/>
      <p:bldP spid="13" grpId="0"/>
      <p:bldP spid="14" grpId="0"/>
      <p:bldP spid="25" grpId="0" bldLvl="0" animBg="1"/>
      <p:bldP spid="26"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1620000">
            <a:off x="7947978"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grpSp>
        <p:nvGrpSpPr>
          <p:cNvPr id="83" name="组合 82"/>
          <p:cNvGrpSpPr/>
          <p:nvPr/>
        </p:nvGrpSpPr>
        <p:grpSpPr>
          <a:xfrm>
            <a:off x="3640549" y="3299036"/>
            <a:ext cx="1134320" cy="1467179"/>
            <a:chOff x="2051050" y="2136776"/>
            <a:chExt cx="1109663" cy="1435100"/>
          </a:xfrm>
          <a:solidFill>
            <a:schemeClr val="bg1">
              <a:lumMod val="50000"/>
            </a:schemeClr>
          </a:solidFill>
        </p:grpSpPr>
        <p:sp>
          <p:nvSpPr>
            <p:cNvPr id="84" name="Freeform 5"/>
            <p:cNvSpPr/>
            <p:nvPr/>
          </p:nvSpPr>
          <p:spPr bwMode="auto">
            <a:xfrm>
              <a:off x="2051050" y="2136776"/>
              <a:ext cx="1000125" cy="717550"/>
            </a:xfrm>
            <a:custGeom>
              <a:avLst/>
              <a:gdLst>
                <a:gd name="T0" fmla="*/ 458 w 630"/>
                <a:gd name="T1" fmla="*/ 452 h 452"/>
                <a:gd name="T2" fmla="*/ 0 w 630"/>
                <a:gd name="T3" fmla="*/ 452 h 452"/>
                <a:gd name="T4" fmla="*/ 274 w 630"/>
                <a:gd name="T5" fmla="*/ 0 h 452"/>
                <a:gd name="T6" fmla="*/ 630 w 630"/>
                <a:gd name="T7" fmla="*/ 0 h 452"/>
                <a:gd name="T8" fmla="*/ 458 w 630"/>
                <a:gd name="T9" fmla="*/ 452 h 452"/>
              </a:gdLst>
              <a:ahLst/>
              <a:cxnLst>
                <a:cxn ang="0">
                  <a:pos x="T0" y="T1"/>
                </a:cxn>
                <a:cxn ang="0">
                  <a:pos x="T2" y="T3"/>
                </a:cxn>
                <a:cxn ang="0">
                  <a:pos x="T4" y="T5"/>
                </a:cxn>
                <a:cxn ang="0">
                  <a:pos x="T6" y="T7"/>
                </a:cxn>
                <a:cxn ang="0">
                  <a:pos x="T8" y="T9"/>
                </a:cxn>
              </a:cxnLst>
              <a:rect l="0" t="0" r="r" b="b"/>
              <a:pathLst>
                <a:path w="630" h="452">
                  <a:moveTo>
                    <a:pt x="458" y="452"/>
                  </a:moveTo>
                  <a:lnTo>
                    <a:pt x="0" y="452"/>
                  </a:lnTo>
                  <a:lnTo>
                    <a:pt x="274" y="0"/>
                  </a:lnTo>
                  <a:lnTo>
                    <a:pt x="630" y="0"/>
                  </a:lnTo>
                  <a:lnTo>
                    <a:pt x="458" y="452"/>
                  </a:lnTo>
                  <a:close/>
                </a:path>
              </a:pathLst>
            </a:custGeom>
            <a:grpFill/>
            <a:ln>
              <a:noFill/>
            </a:ln>
          </p:spPr>
          <p:txBody>
            <a:bodyPr vert="horz" wrap="square" lIns="91440" tIns="45720" rIns="91440" bIns="45720" numCol="1" anchor="t" anchorCtr="0" compatLnSpc="1"/>
            <a:lstStyle/>
            <a:p>
              <a:endParaRPr lang="zh-CN" altLang="en-US"/>
            </a:p>
          </p:txBody>
        </p:sp>
        <p:sp>
          <p:nvSpPr>
            <p:cNvPr id="85" name="Freeform 6"/>
            <p:cNvSpPr/>
            <p:nvPr/>
          </p:nvSpPr>
          <p:spPr bwMode="auto">
            <a:xfrm>
              <a:off x="2051050" y="2854326"/>
              <a:ext cx="1000125" cy="717550"/>
            </a:xfrm>
            <a:custGeom>
              <a:avLst/>
              <a:gdLst>
                <a:gd name="T0" fmla="*/ 458 w 630"/>
                <a:gd name="T1" fmla="*/ 0 h 452"/>
                <a:gd name="T2" fmla="*/ 0 w 630"/>
                <a:gd name="T3" fmla="*/ 0 h 452"/>
                <a:gd name="T4" fmla="*/ 274 w 630"/>
                <a:gd name="T5" fmla="*/ 452 h 452"/>
                <a:gd name="T6" fmla="*/ 630 w 630"/>
                <a:gd name="T7" fmla="*/ 452 h 452"/>
                <a:gd name="T8" fmla="*/ 458 w 630"/>
                <a:gd name="T9" fmla="*/ 0 h 452"/>
              </a:gdLst>
              <a:ahLst/>
              <a:cxnLst>
                <a:cxn ang="0">
                  <a:pos x="T0" y="T1"/>
                </a:cxn>
                <a:cxn ang="0">
                  <a:pos x="T2" y="T3"/>
                </a:cxn>
                <a:cxn ang="0">
                  <a:pos x="T4" y="T5"/>
                </a:cxn>
                <a:cxn ang="0">
                  <a:pos x="T6" y="T7"/>
                </a:cxn>
                <a:cxn ang="0">
                  <a:pos x="T8" y="T9"/>
                </a:cxn>
              </a:cxnLst>
              <a:rect l="0" t="0" r="r" b="b"/>
              <a:pathLst>
                <a:path w="630" h="452">
                  <a:moveTo>
                    <a:pt x="458" y="0"/>
                  </a:moveTo>
                  <a:lnTo>
                    <a:pt x="0" y="0"/>
                  </a:lnTo>
                  <a:lnTo>
                    <a:pt x="274" y="452"/>
                  </a:lnTo>
                  <a:lnTo>
                    <a:pt x="630" y="452"/>
                  </a:lnTo>
                  <a:lnTo>
                    <a:pt x="458" y="0"/>
                  </a:lnTo>
                  <a:close/>
                </a:path>
              </a:pathLst>
            </a:custGeom>
            <a:grpFill/>
            <a:ln>
              <a:noFill/>
            </a:ln>
          </p:spPr>
          <p:txBody>
            <a:bodyPr vert="horz" wrap="square" lIns="91440" tIns="45720" rIns="91440" bIns="45720" numCol="1" anchor="t" anchorCtr="0" compatLnSpc="1"/>
            <a:lstStyle/>
            <a:p>
              <a:endParaRPr lang="zh-CN" altLang="en-US"/>
            </a:p>
          </p:txBody>
        </p:sp>
        <p:sp>
          <p:nvSpPr>
            <p:cNvPr id="86" name="Freeform 7"/>
            <p:cNvSpPr/>
            <p:nvPr/>
          </p:nvSpPr>
          <p:spPr bwMode="auto">
            <a:xfrm>
              <a:off x="2774950" y="2136776"/>
              <a:ext cx="385763" cy="1435100"/>
            </a:xfrm>
            <a:custGeom>
              <a:avLst/>
              <a:gdLst>
                <a:gd name="T0" fmla="*/ 243 w 243"/>
                <a:gd name="T1" fmla="*/ 452 h 904"/>
                <a:gd name="T2" fmla="*/ 172 w 243"/>
                <a:gd name="T3" fmla="*/ 904 h 904"/>
                <a:gd name="T4" fmla="*/ 0 w 243"/>
                <a:gd name="T5" fmla="*/ 452 h 904"/>
                <a:gd name="T6" fmla="*/ 172 w 243"/>
                <a:gd name="T7" fmla="*/ 0 h 904"/>
                <a:gd name="T8" fmla="*/ 243 w 243"/>
                <a:gd name="T9" fmla="*/ 452 h 904"/>
              </a:gdLst>
              <a:ahLst/>
              <a:cxnLst>
                <a:cxn ang="0">
                  <a:pos x="T0" y="T1"/>
                </a:cxn>
                <a:cxn ang="0">
                  <a:pos x="T2" y="T3"/>
                </a:cxn>
                <a:cxn ang="0">
                  <a:pos x="T4" y="T5"/>
                </a:cxn>
                <a:cxn ang="0">
                  <a:pos x="T6" y="T7"/>
                </a:cxn>
                <a:cxn ang="0">
                  <a:pos x="T8" y="T9"/>
                </a:cxn>
              </a:cxnLst>
              <a:rect l="0" t="0" r="r" b="b"/>
              <a:pathLst>
                <a:path w="243" h="904">
                  <a:moveTo>
                    <a:pt x="243" y="452"/>
                  </a:moveTo>
                  <a:lnTo>
                    <a:pt x="172" y="904"/>
                  </a:lnTo>
                  <a:lnTo>
                    <a:pt x="0" y="452"/>
                  </a:lnTo>
                  <a:lnTo>
                    <a:pt x="172" y="0"/>
                  </a:lnTo>
                  <a:lnTo>
                    <a:pt x="243" y="452"/>
                  </a:lnTo>
                  <a:close/>
                </a:path>
              </a:pathLst>
            </a:custGeom>
            <a:grpFill/>
            <a:ln>
              <a:noFill/>
            </a:ln>
          </p:spPr>
          <p:txBody>
            <a:bodyPr vert="horz" wrap="square" lIns="91440" tIns="45720" rIns="91440" bIns="45720" numCol="1" anchor="t" anchorCtr="0" compatLnSpc="1"/>
            <a:lstStyle/>
            <a:p>
              <a:endParaRPr lang="zh-CN" altLang="en-US"/>
            </a:p>
          </p:txBody>
        </p:sp>
        <p:sp>
          <p:nvSpPr>
            <p:cNvPr id="87" name="圆角矩形 86"/>
            <p:cNvSpPr/>
            <p:nvPr/>
          </p:nvSpPr>
          <p:spPr>
            <a:xfrm>
              <a:off x="2075345" y="2847652"/>
              <a:ext cx="648000" cy="108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圆角矩形 87"/>
            <p:cNvSpPr/>
            <p:nvPr/>
          </p:nvSpPr>
          <p:spPr>
            <a:xfrm rot="6646667">
              <a:off x="2589257" y="2486653"/>
              <a:ext cx="648000" cy="108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a:off x="7402211" y="3306656"/>
            <a:ext cx="1134319" cy="1467179"/>
            <a:chOff x="5719763" y="2136776"/>
            <a:chExt cx="1109662" cy="1435100"/>
          </a:xfrm>
          <a:solidFill>
            <a:schemeClr val="bg1">
              <a:lumMod val="50000"/>
            </a:schemeClr>
          </a:solidFill>
        </p:grpSpPr>
        <p:sp>
          <p:nvSpPr>
            <p:cNvPr id="90" name="Freeform 11"/>
            <p:cNvSpPr/>
            <p:nvPr/>
          </p:nvSpPr>
          <p:spPr bwMode="auto">
            <a:xfrm>
              <a:off x="5829300" y="2136776"/>
              <a:ext cx="1000125" cy="717550"/>
            </a:xfrm>
            <a:custGeom>
              <a:avLst/>
              <a:gdLst>
                <a:gd name="T0" fmla="*/ 172 w 630"/>
                <a:gd name="T1" fmla="*/ 452 h 452"/>
                <a:gd name="T2" fmla="*/ 630 w 630"/>
                <a:gd name="T3" fmla="*/ 452 h 452"/>
                <a:gd name="T4" fmla="*/ 357 w 630"/>
                <a:gd name="T5" fmla="*/ 0 h 452"/>
                <a:gd name="T6" fmla="*/ 0 w 630"/>
                <a:gd name="T7" fmla="*/ 0 h 452"/>
                <a:gd name="T8" fmla="*/ 172 w 630"/>
                <a:gd name="T9" fmla="*/ 452 h 452"/>
              </a:gdLst>
              <a:ahLst/>
              <a:cxnLst>
                <a:cxn ang="0">
                  <a:pos x="T0" y="T1"/>
                </a:cxn>
                <a:cxn ang="0">
                  <a:pos x="T2" y="T3"/>
                </a:cxn>
                <a:cxn ang="0">
                  <a:pos x="T4" y="T5"/>
                </a:cxn>
                <a:cxn ang="0">
                  <a:pos x="T6" y="T7"/>
                </a:cxn>
                <a:cxn ang="0">
                  <a:pos x="T8" y="T9"/>
                </a:cxn>
              </a:cxnLst>
              <a:rect l="0" t="0" r="r" b="b"/>
              <a:pathLst>
                <a:path w="630" h="452">
                  <a:moveTo>
                    <a:pt x="172" y="452"/>
                  </a:moveTo>
                  <a:lnTo>
                    <a:pt x="630" y="452"/>
                  </a:lnTo>
                  <a:lnTo>
                    <a:pt x="357" y="0"/>
                  </a:lnTo>
                  <a:lnTo>
                    <a:pt x="0" y="0"/>
                  </a:lnTo>
                  <a:lnTo>
                    <a:pt x="172" y="452"/>
                  </a:lnTo>
                  <a:close/>
                </a:path>
              </a:pathLst>
            </a:custGeom>
            <a:grpFill/>
            <a:ln>
              <a:noFill/>
            </a:ln>
          </p:spPr>
          <p:txBody>
            <a:bodyPr vert="horz" wrap="square" lIns="91440" tIns="45720" rIns="91440" bIns="45720" numCol="1" anchor="t" anchorCtr="0" compatLnSpc="1"/>
            <a:lstStyle/>
            <a:p>
              <a:endParaRPr lang="zh-CN" altLang="en-US"/>
            </a:p>
          </p:txBody>
        </p:sp>
        <p:sp>
          <p:nvSpPr>
            <p:cNvPr id="91" name="Freeform 12"/>
            <p:cNvSpPr/>
            <p:nvPr/>
          </p:nvSpPr>
          <p:spPr bwMode="auto">
            <a:xfrm>
              <a:off x="5829300" y="2854326"/>
              <a:ext cx="1000125" cy="717550"/>
            </a:xfrm>
            <a:custGeom>
              <a:avLst/>
              <a:gdLst>
                <a:gd name="T0" fmla="*/ 172 w 630"/>
                <a:gd name="T1" fmla="*/ 0 h 452"/>
                <a:gd name="T2" fmla="*/ 630 w 630"/>
                <a:gd name="T3" fmla="*/ 0 h 452"/>
                <a:gd name="T4" fmla="*/ 357 w 630"/>
                <a:gd name="T5" fmla="*/ 452 h 452"/>
                <a:gd name="T6" fmla="*/ 0 w 630"/>
                <a:gd name="T7" fmla="*/ 452 h 452"/>
                <a:gd name="T8" fmla="*/ 172 w 630"/>
                <a:gd name="T9" fmla="*/ 0 h 452"/>
              </a:gdLst>
              <a:ahLst/>
              <a:cxnLst>
                <a:cxn ang="0">
                  <a:pos x="T0" y="T1"/>
                </a:cxn>
                <a:cxn ang="0">
                  <a:pos x="T2" y="T3"/>
                </a:cxn>
                <a:cxn ang="0">
                  <a:pos x="T4" y="T5"/>
                </a:cxn>
                <a:cxn ang="0">
                  <a:pos x="T6" y="T7"/>
                </a:cxn>
                <a:cxn ang="0">
                  <a:pos x="T8" y="T9"/>
                </a:cxn>
              </a:cxnLst>
              <a:rect l="0" t="0" r="r" b="b"/>
              <a:pathLst>
                <a:path w="630" h="452">
                  <a:moveTo>
                    <a:pt x="172" y="0"/>
                  </a:moveTo>
                  <a:lnTo>
                    <a:pt x="630" y="0"/>
                  </a:lnTo>
                  <a:lnTo>
                    <a:pt x="357" y="452"/>
                  </a:lnTo>
                  <a:lnTo>
                    <a:pt x="0" y="452"/>
                  </a:lnTo>
                  <a:lnTo>
                    <a:pt x="172" y="0"/>
                  </a:lnTo>
                  <a:close/>
                </a:path>
              </a:pathLst>
            </a:custGeom>
            <a:grpFill/>
            <a:ln>
              <a:noFill/>
            </a:ln>
          </p:spPr>
          <p:txBody>
            <a:bodyPr vert="horz" wrap="square" lIns="91440" tIns="45720" rIns="91440" bIns="45720" numCol="1" anchor="t" anchorCtr="0" compatLnSpc="1"/>
            <a:lstStyle/>
            <a:p>
              <a:endParaRPr lang="zh-CN" altLang="en-US"/>
            </a:p>
          </p:txBody>
        </p:sp>
        <p:sp>
          <p:nvSpPr>
            <p:cNvPr id="92" name="Freeform 13"/>
            <p:cNvSpPr/>
            <p:nvPr/>
          </p:nvSpPr>
          <p:spPr bwMode="auto">
            <a:xfrm>
              <a:off x="5719763" y="2136776"/>
              <a:ext cx="385763" cy="1435100"/>
            </a:xfrm>
            <a:custGeom>
              <a:avLst/>
              <a:gdLst>
                <a:gd name="T0" fmla="*/ 0 w 243"/>
                <a:gd name="T1" fmla="*/ 452 h 904"/>
                <a:gd name="T2" fmla="*/ 71 w 243"/>
                <a:gd name="T3" fmla="*/ 904 h 904"/>
                <a:gd name="T4" fmla="*/ 243 w 243"/>
                <a:gd name="T5" fmla="*/ 452 h 904"/>
                <a:gd name="T6" fmla="*/ 71 w 243"/>
                <a:gd name="T7" fmla="*/ 0 h 904"/>
                <a:gd name="T8" fmla="*/ 0 w 243"/>
                <a:gd name="T9" fmla="*/ 452 h 904"/>
              </a:gdLst>
              <a:ahLst/>
              <a:cxnLst>
                <a:cxn ang="0">
                  <a:pos x="T0" y="T1"/>
                </a:cxn>
                <a:cxn ang="0">
                  <a:pos x="T2" y="T3"/>
                </a:cxn>
                <a:cxn ang="0">
                  <a:pos x="T4" y="T5"/>
                </a:cxn>
                <a:cxn ang="0">
                  <a:pos x="T6" y="T7"/>
                </a:cxn>
                <a:cxn ang="0">
                  <a:pos x="T8" y="T9"/>
                </a:cxn>
              </a:cxnLst>
              <a:rect l="0" t="0" r="r" b="b"/>
              <a:pathLst>
                <a:path w="243" h="904">
                  <a:moveTo>
                    <a:pt x="0" y="452"/>
                  </a:moveTo>
                  <a:lnTo>
                    <a:pt x="71" y="904"/>
                  </a:lnTo>
                  <a:lnTo>
                    <a:pt x="243" y="452"/>
                  </a:lnTo>
                  <a:lnTo>
                    <a:pt x="71" y="0"/>
                  </a:lnTo>
                  <a:lnTo>
                    <a:pt x="0" y="452"/>
                  </a:lnTo>
                  <a:close/>
                </a:path>
              </a:pathLst>
            </a:custGeom>
            <a:grpFill/>
            <a:ln>
              <a:noFill/>
            </a:ln>
          </p:spPr>
          <p:txBody>
            <a:bodyPr vert="horz" wrap="square" lIns="91440" tIns="45720" rIns="91440" bIns="45720" numCol="1" anchor="t" anchorCtr="0" compatLnSpc="1"/>
            <a:lstStyle/>
            <a:p>
              <a:endParaRPr lang="zh-CN" altLang="en-US"/>
            </a:p>
          </p:txBody>
        </p:sp>
        <p:sp>
          <p:nvSpPr>
            <p:cNvPr id="93" name="圆角矩形 92"/>
            <p:cNvSpPr/>
            <p:nvPr/>
          </p:nvSpPr>
          <p:spPr>
            <a:xfrm>
              <a:off x="6144425" y="2847652"/>
              <a:ext cx="648000" cy="108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圆角矩形 93"/>
            <p:cNvSpPr/>
            <p:nvPr/>
          </p:nvSpPr>
          <p:spPr>
            <a:xfrm rot="14953333" flipH="1">
              <a:off x="5642261" y="2486654"/>
              <a:ext cx="648000" cy="108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5" name="组合 94"/>
          <p:cNvGrpSpPr/>
          <p:nvPr/>
        </p:nvGrpSpPr>
        <p:grpSpPr>
          <a:xfrm>
            <a:off x="4637286" y="2875437"/>
            <a:ext cx="1134320" cy="2314377"/>
            <a:chOff x="3013075" y="1722438"/>
            <a:chExt cx="1109663" cy="2263776"/>
          </a:xfrm>
          <a:solidFill>
            <a:schemeClr val="tx1">
              <a:lumMod val="75000"/>
              <a:lumOff val="25000"/>
            </a:schemeClr>
          </a:solidFill>
        </p:grpSpPr>
        <p:sp>
          <p:nvSpPr>
            <p:cNvPr id="96" name="Freeform 8"/>
            <p:cNvSpPr/>
            <p:nvPr/>
          </p:nvSpPr>
          <p:spPr bwMode="auto">
            <a:xfrm>
              <a:off x="3013075" y="1722438"/>
              <a:ext cx="887413" cy="1131888"/>
            </a:xfrm>
            <a:custGeom>
              <a:avLst/>
              <a:gdLst>
                <a:gd name="T0" fmla="*/ 458 w 559"/>
                <a:gd name="T1" fmla="*/ 713 h 713"/>
                <a:gd name="T2" fmla="*/ 0 w 559"/>
                <a:gd name="T3" fmla="*/ 713 h 713"/>
                <a:gd name="T4" fmla="*/ 203 w 559"/>
                <a:gd name="T5" fmla="*/ 0 h 713"/>
                <a:gd name="T6" fmla="*/ 559 w 559"/>
                <a:gd name="T7" fmla="*/ 0 h 713"/>
                <a:gd name="T8" fmla="*/ 458 w 559"/>
                <a:gd name="T9" fmla="*/ 713 h 713"/>
              </a:gdLst>
              <a:ahLst/>
              <a:cxnLst>
                <a:cxn ang="0">
                  <a:pos x="T0" y="T1"/>
                </a:cxn>
                <a:cxn ang="0">
                  <a:pos x="T2" y="T3"/>
                </a:cxn>
                <a:cxn ang="0">
                  <a:pos x="T4" y="T5"/>
                </a:cxn>
                <a:cxn ang="0">
                  <a:pos x="T6" y="T7"/>
                </a:cxn>
                <a:cxn ang="0">
                  <a:pos x="T8" y="T9"/>
                </a:cxn>
              </a:cxnLst>
              <a:rect l="0" t="0" r="r" b="b"/>
              <a:pathLst>
                <a:path w="559" h="713">
                  <a:moveTo>
                    <a:pt x="458" y="713"/>
                  </a:moveTo>
                  <a:lnTo>
                    <a:pt x="0" y="713"/>
                  </a:lnTo>
                  <a:lnTo>
                    <a:pt x="203" y="0"/>
                  </a:lnTo>
                  <a:lnTo>
                    <a:pt x="559" y="0"/>
                  </a:lnTo>
                  <a:lnTo>
                    <a:pt x="458" y="713"/>
                  </a:lnTo>
                  <a:close/>
                </a:path>
              </a:pathLst>
            </a:custGeom>
            <a:grpFill/>
            <a:ln>
              <a:noFill/>
            </a:ln>
          </p:spPr>
          <p:txBody>
            <a:bodyPr vert="horz" wrap="square" lIns="91440" tIns="45720" rIns="91440" bIns="45720" numCol="1" anchor="t" anchorCtr="0" compatLnSpc="1"/>
            <a:lstStyle/>
            <a:p>
              <a:endParaRPr lang="zh-CN" altLang="en-US"/>
            </a:p>
          </p:txBody>
        </p:sp>
        <p:sp>
          <p:nvSpPr>
            <p:cNvPr id="97" name="Freeform 9"/>
            <p:cNvSpPr/>
            <p:nvPr/>
          </p:nvSpPr>
          <p:spPr bwMode="auto">
            <a:xfrm>
              <a:off x="3013075" y="2854326"/>
              <a:ext cx="887413" cy="1131888"/>
            </a:xfrm>
            <a:custGeom>
              <a:avLst/>
              <a:gdLst>
                <a:gd name="T0" fmla="*/ 458 w 559"/>
                <a:gd name="T1" fmla="*/ 0 h 713"/>
                <a:gd name="T2" fmla="*/ 0 w 559"/>
                <a:gd name="T3" fmla="*/ 0 h 713"/>
                <a:gd name="T4" fmla="*/ 203 w 559"/>
                <a:gd name="T5" fmla="*/ 713 h 713"/>
                <a:gd name="T6" fmla="*/ 559 w 559"/>
                <a:gd name="T7" fmla="*/ 713 h 713"/>
                <a:gd name="T8" fmla="*/ 458 w 559"/>
                <a:gd name="T9" fmla="*/ 0 h 713"/>
              </a:gdLst>
              <a:ahLst/>
              <a:cxnLst>
                <a:cxn ang="0">
                  <a:pos x="T0" y="T1"/>
                </a:cxn>
                <a:cxn ang="0">
                  <a:pos x="T2" y="T3"/>
                </a:cxn>
                <a:cxn ang="0">
                  <a:pos x="T4" y="T5"/>
                </a:cxn>
                <a:cxn ang="0">
                  <a:pos x="T6" y="T7"/>
                </a:cxn>
                <a:cxn ang="0">
                  <a:pos x="T8" y="T9"/>
                </a:cxn>
              </a:cxnLst>
              <a:rect l="0" t="0" r="r" b="b"/>
              <a:pathLst>
                <a:path w="559" h="713">
                  <a:moveTo>
                    <a:pt x="458" y="0"/>
                  </a:moveTo>
                  <a:lnTo>
                    <a:pt x="0" y="0"/>
                  </a:lnTo>
                  <a:lnTo>
                    <a:pt x="203" y="713"/>
                  </a:lnTo>
                  <a:lnTo>
                    <a:pt x="559" y="713"/>
                  </a:lnTo>
                  <a:lnTo>
                    <a:pt x="458" y="0"/>
                  </a:lnTo>
                  <a:close/>
                </a:path>
              </a:pathLst>
            </a:custGeom>
            <a:grpFill/>
            <a:ln>
              <a:noFill/>
            </a:ln>
          </p:spPr>
          <p:txBody>
            <a:bodyPr vert="horz" wrap="square" lIns="91440" tIns="45720" rIns="91440" bIns="45720" numCol="1" anchor="t" anchorCtr="0" compatLnSpc="1"/>
            <a:lstStyle/>
            <a:p>
              <a:endParaRPr lang="zh-CN" altLang="en-US"/>
            </a:p>
          </p:txBody>
        </p:sp>
        <p:sp>
          <p:nvSpPr>
            <p:cNvPr id="98" name="Freeform 10"/>
            <p:cNvSpPr/>
            <p:nvPr/>
          </p:nvSpPr>
          <p:spPr bwMode="auto">
            <a:xfrm>
              <a:off x="3736975" y="1722438"/>
              <a:ext cx="385763" cy="2263775"/>
            </a:xfrm>
            <a:custGeom>
              <a:avLst/>
              <a:gdLst>
                <a:gd name="T0" fmla="*/ 243 w 243"/>
                <a:gd name="T1" fmla="*/ 713 h 1426"/>
                <a:gd name="T2" fmla="*/ 101 w 243"/>
                <a:gd name="T3" fmla="*/ 1426 h 1426"/>
                <a:gd name="T4" fmla="*/ 0 w 243"/>
                <a:gd name="T5" fmla="*/ 713 h 1426"/>
                <a:gd name="T6" fmla="*/ 101 w 243"/>
                <a:gd name="T7" fmla="*/ 0 h 1426"/>
                <a:gd name="T8" fmla="*/ 243 w 243"/>
                <a:gd name="T9" fmla="*/ 713 h 1426"/>
              </a:gdLst>
              <a:ahLst/>
              <a:cxnLst>
                <a:cxn ang="0">
                  <a:pos x="T0" y="T1"/>
                </a:cxn>
                <a:cxn ang="0">
                  <a:pos x="T2" y="T3"/>
                </a:cxn>
                <a:cxn ang="0">
                  <a:pos x="T4" y="T5"/>
                </a:cxn>
                <a:cxn ang="0">
                  <a:pos x="T6" y="T7"/>
                </a:cxn>
                <a:cxn ang="0">
                  <a:pos x="T8" y="T9"/>
                </a:cxn>
              </a:cxnLst>
              <a:rect l="0" t="0" r="r" b="b"/>
              <a:pathLst>
                <a:path w="243" h="1426">
                  <a:moveTo>
                    <a:pt x="243" y="713"/>
                  </a:moveTo>
                  <a:lnTo>
                    <a:pt x="101" y="1426"/>
                  </a:lnTo>
                  <a:lnTo>
                    <a:pt x="0" y="713"/>
                  </a:lnTo>
                  <a:lnTo>
                    <a:pt x="101" y="0"/>
                  </a:lnTo>
                  <a:lnTo>
                    <a:pt x="243" y="713"/>
                  </a:lnTo>
                  <a:close/>
                </a:path>
              </a:pathLst>
            </a:custGeom>
            <a:grpFill/>
            <a:ln>
              <a:noFill/>
            </a:ln>
          </p:spPr>
          <p:txBody>
            <a:bodyPr vert="horz" wrap="square" lIns="91440" tIns="45720" rIns="91440" bIns="45720" numCol="1" anchor="t" anchorCtr="0" compatLnSpc="1"/>
            <a:lstStyle/>
            <a:p>
              <a:endParaRPr lang="zh-CN" altLang="en-US"/>
            </a:p>
          </p:txBody>
        </p:sp>
        <p:sp>
          <p:nvSpPr>
            <p:cNvPr id="143" name="圆角矩形 142"/>
            <p:cNvSpPr/>
            <p:nvPr/>
          </p:nvSpPr>
          <p:spPr>
            <a:xfrm>
              <a:off x="3038005" y="2850827"/>
              <a:ext cx="648000" cy="108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圆角矩形 143"/>
            <p:cNvSpPr/>
            <p:nvPr/>
          </p:nvSpPr>
          <p:spPr>
            <a:xfrm rot="5874219">
              <a:off x="3348789" y="2285863"/>
              <a:ext cx="936000" cy="108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5" name="组合 144"/>
          <p:cNvGrpSpPr/>
          <p:nvPr/>
        </p:nvGrpSpPr>
        <p:grpSpPr>
          <a:xfrm>
            <a:off x="6422337" y="2875437"/>
            <a:ext cx="1132698" cy="2314377"/>
            <a:chOff x="4759325" y="1722438"/>
            <a:chExt cx="1108076" cy="2263776"/>
          </a:xfrm>
          <a:solidFill>
            <a:schemeClr val="tx1">
              <a:lumMod val="75000"/>
              <a:lumOff val="25000"/>
            </a:schemeClr>
          </a:solidFill>
        </p:grpSpPr>
        <p:sp>
          <p:nvSpPr>
            <p:cNvPr id="146" name="Freeform 14"/>
            <p:cNvSpPr/>
            <p:nvPr/>
          </p:nvSpPr>
          <p:spPr bwMode="auto">
            <a:xfrm>
              <a:off x="4979988" y="1722438"/>
              <a:ext cx="887413" cy="1131888"/>
            </a:xfrm>
            <a:custGeom>
              <a:avLst/>
              <a:gdLst>
                <a:gd name="T0" fmla="*/ 102 w 559"/>
                <a:gd name="T1" fmla="*/ 713 h 713"/>
                <a:gd name="T2" fmla="*/ 559 w 559"/>
                <a:gd name="T3" fmla="*/ 713 h 713"/>
                <a:gd name="T4" fmla="*/ 357 w 559"/>
                <a:gd name="T5" fmla="*/ 0 h 713"/>
                <a:gd name="T6" fmla="*/ 0 w 559"/>
                <a:gd name="T7" fmla="*/ 0 h 713"/>
                <a:gd name="T8" fmla="*/ 102 w 559"/>
                <a:gd name="T9" fmla="*/ 713 h 713"/>
              </a:gdLst>
              <a:ahLst/>
              <a:cxnLst>
                <a:cxn ang="0">
                  <a:pos x="T0" y="T1"/>
                </a:cxn>
                <a:cxn ang="0">
                  <a:pos x="T2" y="T3"/>
                </a:cxn>
                <a:cxn ang="0">
                  <a:pos x="T4" y="T5"/>
                </a:cxn>
                <a:cxn ang="0">
                  <a:pos x="T6" y="T7"/>
                </a:cxn>
                <a:cxn ang="0">
                  <a:pos x="T8" y="T9"/>
                </a:cxn>
              </a:cxnLst>
              <a:rect l="0" t="0" r="r" b="b"/>
              <a:pathLst>
                <a:path w="559" h="713">
                  <a:moveTo>
                    <a:pt x="102" y="713"/>
                  </a:moveTo>
                  <a:lnTo>
                    <a:pt x="559" y="713"/>
                  </a:lnTo>
                  <a:lnTo>
                    <a:pt x="357" y="0"/>
                  </a:lnTo>
                  <a:lnTo>
                    <a:pt x="0" y="0"/>
                  </a:lnTo>
                  <a:lnTo>
                    <a:pt x="102" y="713"/>
                  </a:lnTo>
                  <a:close/>
                </a:path>
              </a:pathLst>
            </a:custGeom>
            <a:grpFill/>
            <a:ln>
              <a:noFill/>
            </a:ln>
          </p:spPr>
          <p:txBody>
            <a:bodyPr vert="horz" wrap="square" lIns="91440" tIns="45720" rIns="91440" bIns="45720" numCol="1" anchor="t" anchorCtr="0" compatLnSpc="1"/>
            <a:lstStyle/>
            <a:p>
              <a:endParaRPr lang="zh-CN" altLang="en-US"/>
            </a:p>
          </p:txBody>
        </p:sp>
        <p:sp>
          <p:nvSpPr>
            <p:cNvPr id="147" name="Freeform 15"/>
            <p:cNvSpPr/>
            <p:nvPr/>
          </p:nvSpPr>
          <p:spPr bwMode="auto">
            <a:xfrm>
              <a:off x="4979988" y="2854326"/>
              <a:ext cx="887413" cy="1131888"/>
            </a:xfrm>
            <a:custGeom>
              <a:avLst/>
              <a:gdLst>
                <a:gd name="T0" fmla="*/ 102 w 559"/>
                <a:gd name="T1" fmla="*/ 0 h 713"/>
                <a:gd name="T2" fmla="*/ 559 w 559"/>
                <a:gd name="T3" fmla="*/ 0 h 713"/>
                <a:gd name="T4" fmla="*/ 357 w 559"/>
                <a:gd name="T5" fmla="*/ 713 h 713"/>
                <a:gd name="T6" fmla="*/ 0 w 559"/>
                <a:gd name="T7" fmla="*/ 713 h 713"/>
                <a:gd name="T8" fmla="*/ 102 w 559"/>
                <a:gd name="T9" fmla="*/ 0 h 713"/>
              </a:gdLst>
              <a:ahLst/>
              <a:cxnLst>
                <a:cxn ang="0">
                  <a:pos x="T0" y="T1"/>
                </a:cxn>
                <a:cxn ang="0">
                  <a:pos x="T2" y="T3"/>
                </a:cxn>
                <a:cxn ang="0">
                  <a:pos x="T4" y="T5"/>
                </a:cxn>
                <a:cxn ang="0">
                  <a:pos x="T6" y="T7"/>
                </a:cxn>
                <a:cxn ang="0">
                  <a:pos x="T8" y="T9"/>
                </a:cxn>
              </a:cxnLst>
              <a:rect l="0" t="0" r="r" b="b"/>
              <a:pathLst>
                <a:path w="559" h="713">
                  <a:moveTo>
                    <a:pt x="102" y="0"/>
                  </a:moveTo>
                  <a:lnTo>
                    <a:pt x="559" y="0"/>
                  </a:lnTo>
                  <a:lnTo>
                    <a:pt x="357" y="713"/>
                  </a:lnTo>
                  <a:lnTo>
                    <a:pt x="0" y="713"/>
                  </a:lnTo>
                  <a:lnTo>
                    <a:pt x="102" y="0"/>
                  </a:lnTo>
                  <a:close/>
                </a:path>
              </a:pathLst>
            </a:custGeom>
            <a:grpFill/>
            <a:ln>
              <a:noFill/>
            </a:ln>
          </p:spPr>
          <p:txBody>
            <a:bodyPr vert="horz" wrap="square" lIns="91440" tIns="45720" rIns="91440" bIns="45720" numCol="1" anchor="t" anchorCtr="0" compatLnSpc="1"/>
            <a:lstStyle/>
            <a:p>
              <a:endParaRPr lang="zh-CN" altLang="en-US"/>
            </a:p>
          </p:txBody>
        </p:sp>
        <p:sp>
          <p:nvSpPr>
            <p:cNvPr id="148" name="Freeform 16"/>
            <p:cNvSpPr/>
            <p:nvPr/>
          </p:nvSpPr>
          <p:spPr bwMode="auto">
            <a:xfrm>
              <a:off x="4759325" y="1722438"/>
              <a:ext cx="385763" cy="2263775"/>
            </a:xfrm>
            <a:custGeom>
              <a:avLst/>
              <a:gdLst>
                <a:gd name="T0" fmla="*/ 0 w 243"/>
                <a:gd name="T1" fmla="*/ 713 h 1426"/>
                <a:gd name="T2" fmla="*/ 141 w 243"/>
                <a:gd name="T3" fmla="*/ 1426 h 1426"/>
                <a:gd name="T4" fmla="*/ 243 w 243"/>
                <a:gd name="T5" fmla="*/ 713 h 1426"/>
                <a:gd name="T6" fmla="*/ 141 w 243"/>
                <a:gd name="T7" fmla="*/ 0 h 1426"/>
                <a:gd name="T8" fmla="*/ 0 w 243"/>
                <a:gd name="T9" fmla="*/ 713 h 1426"/>
              </a:gdLst>
              <a:ahLst/>
              <a:cxnLst>
                <a:cxn ang="0">
                  <a:pos x="T0" y="T1"/>
                </a:cxn>
                <a:cxn ang="0">
                  <a:pos x="T2" y="T3"/>
                </a:cxn>
                <a:cxn ang="0">
                  <a:pos x="T4" y="T5"/>
                </a:cxn>
                <a:cxn ang="0">
                  <a:pos x="T6" y="T7"/>
                </a:cxn>
                <a:cxn ang="0">
                  <a:pos x="T8" y="T9"/>
                </a:cxn>
              </a:cxnLst>
              <a:rect l="0" t="0" r="r" b="b"/>
              <a:pathLst>
                <a:path w="243" h="1426">
                  <a:moveTo>
                    <a:pt x="0" y="713"/>
                  </a:moveTo>
                  <a:lnTo>
                    <a:pt x="141" y="1426"/>
                  </a:lnTo>
                  <a:lnTo>
                    <a:pt x="243" y="713"/>
                  </a:lnTo>
                  <a:lnTo>
                    <a:pt x="141" y="0"/>
                  </a:lnTo>
                  <a:lnTo>
                    <a:pt x="0" y="713"/>
                  </a:lnTo>
                  <a:close/>
                </a:path>
              </a:pathLst>
            </a:custGeom>
            <a:grpFill/>
            <a:ln>
              <a:noFill/>
            </a:ln>
          </p:spPr>
          <p:txBody>
            <a:bodyPr vert="horz" wrap="square" lIns="91440" tIns="45720" rIns="91440" bIns="45720" numCol="1" anchor="t" anchorCtr="0" compatLnSpc="1"/>
            <a:lstStyle/>
            <a:p>
              <a:endParaRPr lang="zh-CN" altLang="en-US"/>
            </a:p>
          </p:txBody>
        </p:sp>
        <p:sp>
          <p:nvSpPr>
            <p:cNvPr id="149" name="圆角矩形 148"/>
            <p:cNvSpPr/>
            <p:nvPr/>
          </p:nvSpPr>
          <p:spPr>
            <a:xfrm>
              <a:off x="5179225" y="2850827"/>
              <a:ext cx="648000" cy="108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圆角矩形 149"/>
            <p:cNvSpPr/>
            <p:nvPr/>
          </p:nvSpPr>
          <p:spPr>
            <a:xfrm rot="15725781" flipH="1">
              <a:off x="4597566" y="2285863"/>
              <a:ext cx="936000" cy="108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1" name="组合 150"/>
          <p:cNvGrpSpPr/>
          <p:nvPr/>
        </p:nvGrpSpPr>
        <p:grpSpPr>
          <a:xfrm>
            <a:off x="5604108" y="2443723"/>
            <a:ext cx="988270" cy="3177805"/>
            <a:chOff x="3957638" y="1300163"/>
            <a:chExt cx="966788" cy="3108326"/>
          </a:xfrm>
          <a:solidFill>
            <a:schemeClr val="tx1">
              <a:lumMod val="95000"/>
              <a:lumOff val="5000"/>
            </a:schemeClr>
          </a:solidFill>
        </p:grpSpPr>
        <p:sp>
          <p:nvSpPr>
            <p:cNvPr id="152" name="Freeform 17"/>
            <p:cNvSpPr/>
            <p:nvPr/>
          </p:nvSpPr>
          <p:spPr bwMode="auto">
            <a:xfrm>
              <a:off x="3957638" y="1300163"/>
              <a:ext cx="966788" cy="1554163"/>
            </a:xfrm>
            <a:custGeom>
              <a:avLst/>
              <a:gdLst>
                <a:gd name="T0" fmla="*/ 609 w 609"/>
                <a:gd name="T1" fmla="*/ 979 h 979"/>
                <a:gd name="T2" fmla="*/ 0 w 609"/>
                <a:gd name="T3" fmla="*/ 979 h 979"/>
                <a:gd name="T4" fmla="*/ 100 w 609"/>
                <a:gd name="T5" fmla="*/ 0 h 979"/>
                <a:gd name="T6" fmla="*/ 508 w 609"/>
                <a:gd name="T7" fmla="*/ 0 h 979"/>
                <a:gd name="T8" fmla="*/ 609 w 609"/>
                <a:gd name="T9" fmla="*/ 979 h 979"/>
              </a:gdLst>
              <a:ahLst/>
              <a:cxnLst>
                <a:cxn ang="0">
                  <a:pos x="T0" y="T1"/>
                </a:cxn>
                <a:cxn ang="0">
                  <a:pos x="T2" y="T3"/>
                </a:cxn>
                <a:cxn ang="0">
                  <a:pos x="T4" y="T5"/>
                </a:cxn>
                <a:cxn ang="0">
                  <a:pos x="T6" y="T7"/>
                </a:cxn>
                <a:cxn ang="0">
                  <a:pos x="T8" y="T9"/>
                </a:cxn>
              </a:cxnLst>
              <a:rect l="0" t="0" r="r" b="b"/>
              <a:pathLst>
                <a:path w="609" h="979">
                  <a:moveTo>
                    <a:pt x="609" y="979"/>
                  </a:moveTo>
                  <a:lnTo>
                    <a:pt x="0" y="979"/>
                  </a:lnTo>
                  <a:lnTo>
                    <a:pt x="100" y="0"/>
                  </a:lnTo>
                  <a:lnTo>
                    <a:pt x="508" y="0"/>
                  </a:lnTo>
                  <a:lnTo>
                    <a:pt x="609" y="979"/>
                  </a:lnTo>
                  <a:close/>
                </a:path>
              </a:pathLst>
            </a:custGeom>
            <a:grpFill/>
            <a:ln>
              <a:noFill/>
            </a:ln>
          </p:spPr>
          <p:txBody>
            <a:bodyPr vert="horz" wrap="square" lIns="91440" tIns="45720" rIns="91440" bIns="45720" numCol="1" anchor="t" anchorCtr="0" compatLnSpc="1"/>
            <a:lstStyle/>
            <a:p>
              <a:endParaRPr lang="zh-CN" altLang="en-US"/>
            </a:p>
          </p:txBody>
        </p:sp>
        <p:sp>
          <p:nvSpPr>
            <p:cNvPr id="153" name="Freeform 18"/>
            <p:cNvSpPr/>
            <p:nvPr/>
          </p:nvSpPr>
          <p:spPr bwMode="auto">
            <a:xfrm>
              <a:off x="3957638" y="2854326"/>
              <a:ext cx="966788" cy="1554163"/>
            </a:xfrm>
            <a:custGeom>
              <a:avLst/>
              <a:gdLst>
                <a:gd name="T0" fmla="*/ 609 w 609"/>
                <a:gd name="T1" fmla="*/ 0 h 979"/>
                <a:gd name="T2" fmla="*/ 0 w 609"/>
                <a:gd name="T3" fmla="*/ 0 h 979"/>
                <a:gd name="T4" fmla="*/ 100 w 609"/>
                <a:gd name="T5" fmla="*/ 979 h 979"/>
                <a:gd name="T6" fmla="*/ 508 w 609"/>
                <a:gd name="T7" fmla="*/ 979 h 979"/>
                <a:gd name="T8" fmla="*/ 609 w 609"/>
                <a:gd name="T9" fmla="*/ 0 h 979"/>
              </a:gdLst>
              <a:ahLst/>
              <a:cxnLst>
                <a:cxn ang="0">
                  <a:pos x="T0" y="T1"/>
                </a:cxn>
                <a:cxn ang="0">
                  <a:pos x="T2" y="T3"/>
                </a:cxn>
                <a:cxn ang="0">
                  <a:pos x="T4" y="T5"/>
                </a:cxn>
                <a:cxn ang="0">
                  <a:pos x="T6" y="T7"/>
                </a:cxn>
                <a:cxn ang="0">
                  <a:pos x="T8" y="T9"/>
                </a:cxn>
              </a:cxnLst>
              <a:rect l="0" t="0" r="r" b="b"/>
              <a:pathLst>
                <a:path w="609" h="979">
                  <a:moveTo>
                    <a:pt x="609" y="0"/>
                  </a:moveTo>
                  <a:lnTo>
                    <a:pt x="0" y="0"/>
                  </a:lnTo>
                  <a:lnTo>
                    <a:pt x="100" y="979"/>
                  </a:lnTo>
                  <a:lnTo>
                    <a:pt x="508" y="979"/>
                  </a:lnTo>
                  <a:lnTo>
                    <a:pt x="609" y="0"/>
                  </a:lnTo>
                  <a:close/>
                </a:path>
              </a:pathLst>
            </a:custGeom>
            <a:grpFill/>
            <a:ln>
              <a:noFill/>
            </a:ln>
          </p:spPr>
          <p:txBody>
            <a:bodyPr vert="horz" wrap="square" lIns="91440" tIns="45720" rIns="91440" bIns="45720" numCol="1" anchor="t" anchorCtr="0" compatLnSpc="1"/>
            <a:lstStyle/>
            <a:p>
              <a:endParaRPr lang="zh-CN" altLang="en-US"/>
            </a:p>
          </p:txBody>
        </p:sp>
        <p:sp>
          <p:nvSpPr>
            <p:cNvPr id="154" name="圆角矩形 153"/>
            <p:cNvSpPr/>
            <p:nvPr/>
          </p:nvSpPr>
          <p:spPr>
            <a:xfrm>
              <a:off x="4026700" y="2850827"/>
              <a:ext cx="792000" cy="108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5" name="矩形 154"/>
          <p:cNvSpPr/>
          <p:nvPr/>
        </p:nvSpPr>
        <p:spPr>
          <a:xfrm>
            <a:off x="579515" y="4640046"/>
            <a:ext cx="2889596" cy="1479550"/>
          </a:xfrm>
          <a:prstGeom prst="rect">
            <a:avLst/>
          </a:prstGeom>
        </p:spPr>
        <p:txBody>
          <a:bodyPr wrap="square" lIns="121908" tIns="60954" rIns="121908" bIns="60954">
            <a:spAutoFit/>
          </a:bodyPr>
          <a:lstStyle/>
          <a:p>
            <a:pPr algn="ctr">
              <a:lnSpc>
                <a:spcPct val="130000"/>
              </a:lnSpc>
            </a:pPr>
            <a:r>
              <a:rPr lang="zh-CN" altLang="en-US" sz="1300" dirty="0">
                <a:solidFill>
                  <a:schemeClr val="accent3"/>
                </a:solidFill>
                <a:latin typeface="微软雅黑" panose="020B0503020204020204" charset="-122"/>
                <a:ea typeface="微软雅黑" panose="020B0503020204020204" charset="-122"/>
              </a:rPr>
              <a:t>没有刷选关键词进行分类</a:t>
            </a:r>
            <a:endParaRPr lang="zh-CN" altLang="en-US" sz="1300" dirty="0">
              <a:solidFill>
                <a:schemeClr val="accent3"/>
              </a:solidFill>
              <a:latin typeface="微软雅黑" panose="020B0503020204020204" charset="-122"/>
              <a:ea typeface="微软雅黑" panose="020B0503020204020204" charset="-122"/>
            </a:endParaRPr>
          </a:p>
          <a:p>
            <a:pPr algn="l">
              <a:lnSpc>
                <a:spcPct val="130000"/>
              </a:lnSpc>
            </a:pPr>
            <a:r>
              <a:rPr lang="zh-CN" altLang="en-US" sz="1100" dirty="0">
                <a:solidFill>
                  <a:schemeClr val="bg1">
                    <a:lumMod val="50000"/>
                  </a:schemeClr>
                </a:solidFill>
                <a:latin typeface="微软雅黑" panose="020B0503020204020204" charset="-122"/>
                <a:ea typeface="微软雅黑" panose="020B0503020204020204" charset="-122"/>
              </a:rPr>
              <a:t>广告</a:t>
            </a:r>
            <a:r>
              <a:rPr lang="en-US" altLang="zh-CN" sz="1100" dirty="0">
                <a:solidFill>
                  <a:schemeClr val="bg1">
                    <a:lumMod val="50000"/>
                  </a:schemeClr>
                </a:solidFill>
                <a:latin typeface="微软雅黑" panose="020B0503020204020204" charset="-122"/>
                <a:ea typeface="微软雅黑" panose="020B0503020204020204" charset="-122"/>
              </a:rPr>
              <a:t>Acos</a:t>
            </a:r>
            <a:r>
              <a:rPr lang="zh-CN" altLang="en-US" sz="1100" dirty="0">
                <a:solidFill>
                  <a:schemeClr val="bg1">
                    <a:lumMod val="50000"/>
                  </a:schemeClr>
                </a:solidFill>
                <a:latin typeface="微软雅黑" panose="020B0503020204020204" charset="-122"/>
                <a:ea typeface="微软雅黑" panose="020B0503020204020204" charset="-122"/>
              </a:rPr>
              <a:t>整体较好，但是个别超标关键词和表现较好的关键词，没有进行分类处理</a:t>
            </a:r>
            <a:endParaRPr lang="zh-CN" altLang="en-US" sz="1100" dirty="0">
              <a:solidFill>
                <a:schemeClr val="bg1">
                  <a:lumMod val="50000"/>
                </a:schemeClr>
              </a:solidFill>
              <a:latin typeface="微软雅黑" panose="020B0503020204020204" charset="-122"/>
              <a:ea typeface="微软雅黑" panose="020B0503020204020204" charset="-122"/>
            </a:endParaRPr>
          </a:p>
          <a:p>
            <a:pPr algn="l">
              <a:lnSpc>
                <a:spcPct val="130000"/>
              </a:lnSpc>
            </a:pPr>
            <a:r>
              <a:rPr lang="zh-CN" altLang="en-US" sz="1100" dirty="0">
                <a:solidFill>
                  <a:schemeClr val="bg1">
                    <a:lumMod val="50000"/>
                  </a:schemeClr>
                </a:solidFill>
                <a:latin typeface="微软雅黑" panose="020B0503020204020204" charset="-122"/>
                <a:ea typeface="微软雅黑" panose="020B0503020204020204" charset="-122"/>
              </a:rPr>
              <a:t>比如：</a:t>
            </a:r>
            <a:endParaRPr lang="zh-CN" altLang="en-US" sz="1100" dirty="0">
              <a:solidFill>
                <a:schemeClr val="bg1">
                  <a:lumMod val="50000"/>
                </a:schemeClr>
              </a:solidFill>
              <a:latin typeface="微软雅黑" panose="020B0503020204020204" charset="-122"/>
              <a:ea typeface="微软雅黑" panose="020B0503020204020204" charset="-122"/>
            </a:endParaRPr>
          </a:p>
          <a:p>
            <a:pPr algn="l">
              <a:lnSpc>
                <a:spcPct val="130000"/>
              </a:lnSpc>
            </a:pPr>
            <a:r>
              <a:rPr lang="zh-CN" altLang="en-US" sz="1100" dirty="0">
                <a:solidFill>
                  <a:schemeClr val="bg1">
                    <a:lumMod val="50000"/>
                  </a:schemeClr>
                </a:solidFill>
                <a:latin typeface="微软雅黑" panose="020B0503020204020204" charset="-122"/>
                <a:ea typeface="微软雅黑" panose="020B0503020204020204" charset="-122"/>
              </a:rPr>
              <a:t>精准关键词放一个组别</a:t>
            </a:r>
            <a:endParaRPr lang="zh-CN" altLang="en-US" sz="1100" dirty="0">
              <a:solidFill>
                <a:schemeClr val="bg1">
                  <a:lumMod val="50000"/>
                </a:schemeClr>
              </a:solidFill>
              <a:latin typeface="微软雅黑" panose="020B0503020204020204" charset="-122"/>
              <a:ea typeface="微软雅黑" panose="020B0503020204020204" charset="-122"/>
            </a:endParaRPr>
          </a:p>
          <a:p>
            <a:pPr algn="l">
              <a:lnSpc>
                <a:spcPct val="130000"/>
              </a:lnSpc>
            </a:pPr>
            <a:r>
              <a:rPr lang="zh-CN" altLang="en-US" sz="1100" dirty="0">
                <a:solidFill>
                  <a:schemeClr val="bg1">
                    <a:lumMod val="50000"/>
                  </a:schemeClr>
                </a:solidFill>
                <a:latin typeface="微软雅黑" panose="020B0503020204020204" charset="-122"/>
                <a:ea typeface="微软雅黑" panose="020B0503020204020204" charset="-122"/>
              </a:rPr>
              <a:t>长尾关键词放一个组别</a:t>
            </a:r>
            <a:endParaRPr lang="zh-CN" altLang="en-US" sz="1100" dirty="0">
              <a:solidFill>
                <a:schemeClr val="bg1">
                  <a:lumMod val="50000"/>
                </a:schemeClr>
              </a:solidFill>
              <a:latin typeface="微软雅黑" panose="020B0503020204020204" charset="-122"/>
              <a:ea typeface="微软雅黑" panose="020B0503020204020204" charset="-122"/>
            </a:endParaRPr>
          </a:p>
        </p:txBody>
      </p:sp>
      <p:sp>
        <p:nvSpPr>
          <p:cNvPr id="156" name="矩形 155"/>
          <p:cNvSpPr/>
          <p:nvPr/>
        </p:nvSpPr>
        <p:spPr>
          <a:xfrm>
            <a:off x="579515" y="1826873"/>
            <a:ext cx="2889596" cy="600075"/>
          </a:xfrm>
          <a:prstGeom prst="rect">
            <a:avLst/>
          </a:prstGeom>
        </p:spPr>
        <p:txBody>
          <a:bodyPr wrap="square" lIns="121908" tIns="60954" rIns="121908" bIns="60954">
            <a:spAutoFit/>
          </a:bodyPr>
          <a:lstStyle/>
          <a:p>
            <a:pPr algn="ctr">
              <a:lnSpc>
                <a:spcPct val="130000"/>
              </a:lnSpc>
            </a:pPr>
            <a:r>
              <a:rPr lang="zh-CN" altLang="en-US" sz="1300" dirty="0">
                <a:solidFill>
                  <a:schemeClr val="accent2"/>
                </a:solidFill>
                <a:latin typeface="微软雅黑" panose="020B0503020204020204" charset="-122"/>
                <a:ea typeface="微软雅黑" panose="020B0503020204020204" charset="-122"/>
              </a:rPr>
              <a:t>好吃的时候使劲吃</a:t>
            </a:r>
            <a:endParaRPr lang="zh-CN" altLang="en-US" sz="1300" dirty="0">
              <a:solidFill>
                <a:schemeClr val="accent2"/>
              </a:solidFill>
              <a:latin typeface="微软雅黑" panose="020B0503020204020204" charset="-122"/>
              <a:ea typeface="微软雅黑" panose="020B0503020204020204" charset="-122"/>
            </a:endParaRPr>
          </a:p>
          <a:p>
            <a:pPr algn="ctr">
              <a:lnSpc>
                <a:spcPct val="130000"/>
              </a:lnSpc>
            </a:pPr>
            <a:r>
              <a:rPr lang="zh-CN" altLang="en-US" sz="1100" dirty="0">
                <a:solidFill>
                  <a:schemeClr val="bg1">
                    <a:lumMod val="50000"/>
                  </a:schemeClr>
                </a:solidFill>
                <a:latin typeface="微软雅黑" panose="020B0503020204020204" charset="-122"/>
                <a:ea typeface="微软雅黑" panose="020B0503020204020204" charset="-122"/>
              </a:rPr>
              <a:t>转化率好的时候使劲调大广告</a:t>
            </a:r>
            <a:endParaRPr lang="zh-CN" altLang="en-US" sz="1100" dirty="0">
              <a:solidFill>
                <a:schemeClr val="bg1">
                  <a:lumMod val="50000"/>
                </a:schemeClr>
              </a:solidFill>
              <a:latin typeface="微软雅黑" panose="020B0503020204020204" charset="-122"/>
              <a:ea typeface="微软雅黑" panose="020B0503020204020204" charset="-122"/>
            </a:endParaRPr>
          </a:p>
        </p:txBody>
      </p:sp>
      <p:sp>
        <p:nvSpPr>
          <p:cNvPr id="157" name="矩形 156"/>
          <p:cNvSpPr/>
          <p:nvPr/>
        </p:nvSpPr>
        <p:spPr>
          <a:xfrm>
            <a:off x="8723210" y="4640046"/>
            <a:ext cx="2889596" cy="819785"/>
          </a:xfrm>
          <a:prstGeom prst="rect">
            <a:avLst/>
          </a:prstGeom>
        </p:spPr>
        <p:txBody>
          <a:bodyPr wrap="square" lIns="121908" tIns="60954" rIns="121908" bIns="60954">
            <a:spAutoFit/>
          </a:bodyPr>
          <a:lstStyle/>
          <a:p>
            <a:pPr algn="ctr">
              <a:lnSpc>
                <a:spcPct val="130000"/>
              </a:lnSpc>
            </a:pPr>
            <a:r>
              <a:rPr lang="zh-CN" altLang="en-US" sz="1300" dirty="0">
                <a:solidFill>
                  <a:schemeClr val="accent4"/>
                </a:solidFill>
                <a:latin typeface="微软雅黑" panose="020B0503020204020204" charset="-122"/>
                <a:ea typeface="微软雅黑" panose="020B0503020204020204" charset="-122"/>
              </a:rPr>
              <a:t>没有明确调整周期</a:t>
            </a:r>
            <a:endParaRPr lang="zh-CN" altLang="en-US" sz="1300" dirty="0">
              <a:solidFill>
                <a:schemeClr val="accent4"/>
              </a:solidFill>
              <a:latin typeface="微软雅黑" panose="020B0503020204020204" charset="-122"/>
              <a:ea typeface="微软雅黑" panose="020B0503020204020204" charset="-122"/>
            </a:endParaRPr>
          </a:p>
          <a:p>
            <a:pPr algn="ctr">
              <a:lnSpc>
                <a:spcPct val="130000"/>
              </a:lnSpc>
            </a:pPr>
            <a:r>
              <a:rPr lang="zh-CN" altLang="en-US" sz="1100" dirty="0">
                <a:solidFill>
                  <a:schemeClr val="bg1">
                    <a:lumMod val="50000"/>
                  </a:schemeClr>
                </a:solidFill>
                <a:latin typeface="微软雅黑" panose="020B0503020204020204" charset="-122"/>
                <a:ea typeface="微软雅黑" panose="020B0503020204020204" charset="-122"/>
              </a:rPr>
              <a:t>两天做一次数据分析</a:t>
            </a:r>
            <a:endParaRPr lang="zh-CN" altLang="en-US" sz="1100" dirty="0">
              <a:solidFill>
                <a:schemeClr val="bg1">
                  <a:lumMod val="50000"/>
                </a:schemeClr>
              </a:solidFill>
              <a:latin typeface="微软雅黑" panose="020B0503020204020204" charset="-122"/>
              <a:ea typeface="微软雅黑" panose="020B0503020204020204" charset="-122"/>
            </a:endParaRPr>
          </a:p>
          <a:p>
            <a:pPr algn="ctr">
              <a:lnSpc>
                <a:spcPct val="130000"/>
              </a:lnSpc>
            </a:pPr>
            <a:r>
              <a:rPr lang="zh-CN" altLang="en-US" sz="1100" dirty="0">
                <a:solidFill>
                  <a:schemeClr val="bg1">
                    <a:lumMod val="50000"/>
                  </a:schemeClr>
                </a:solidFill>
                <a:latin typeface="微软雅黑" panose="020B0503020204020204" charset="-122"/>
                <a:ea typeface="微软雅黑" panose="020B0503020204020204" charset="-122"/>
              </a:rPr>
              <a:t>一周下载一次报表</a:t>
            </a:r>
            <a:endParaRPr lang="zh-CN" altLang="en-US" sz="1100" dirty="0">
              <a:solidFill>
                <a:schemeClr val="bg1">
                  <a:lumMod val="50000"/>
                </a:schemeClr>
              </a:solidFill>
              <a:latin typeface="微软雅黑" panose="020B0503020204020204" charset="-122"/>
              <a:ea typeface="微软雅黑" panose="020B0503020204020204" charset="-122"/>
            </a:endParaRPr>
          </a:p>
        </p:txBody>
      </p:sp>
      <p:sp>
        <p:nvSpPr>
          <p:cNvPr id="158" name="矩形 157"/>
          <p:cNvSpPr/>
          <p:nvPr/>
        </p:nvSpPr>
        <p:spPr>
          <a:xfrm>
            <a:off x="8717100" y="1826873"/>
            <a:ext cx="2889596" cy="819785"/>
          </a:xfrm>
          <a:prstGeom prst="rect">
            <a:avLst/>
          </a:prstGeom>
        </p:spPr>
        <p:txBody>
          <a:bodyPr wrap="square" lIns="121908" tIns="60954" rIns="121908" bIns="60954">
            <a:spAutoFit/>
          </a:bodyPr>
          <a:lstStyle/>
          <a:p>
            <a:pPr algn="ctr">
              <a:lnSpc>
                <a:spcPct val="130000"/>
              </a:lnSpc>
            </a:pPr>
            <a:r>
              <a:rPr lang="zh-CN" altLang="en-US" sz="1300" dirty="0">
                <a:solidFill>
                  <a:schemeClr val="accent1"/>
                </a:solidFill>
                <a:latin typeface="微软雅黑" panose="020B0503020204020204" charset="-122"/>
                <a:ea typeface="微软雅黑" panose="020B0503020204020204" charset="-122"/>
              </a:rPr>
              <a:t>没有明确短期目标</a:t>
            </a:r>
            <a:endParaRPr lang="zh-CN" altLang="en-US" sz="1300" dirty="0">
              <a:solidFill>
                <a:schemeClr val="accent1"/>
              </a:solidFill>
              <a:latin typeface="微软雅黑" panose="020B0503020204020204" charset="-122"/>
              <a:ea typeface="微软雅黑" panose="020B0503020204020204" charset="-122"/>
            </a:endParaRPr>
          </a:p>
          <a:p>
            <a:pPr algn="ctr">
              <a:lnSpc>
                <a:spcPct val="130000"/>
              </a:lnSpc>
            </a:pPr>
            <a:r>
              <a:rPr lang="zh-CN" altLang="en-US" sz="1100" dirty="0">
                <a:solidFill>
                  <a:schemeClr val="bg1">
                    <a:lumMod val="50000"/>
                  </a:schemeClr>
                </a:solidFill>
                <a:latin typeface="微软雅黑" panose="020B0503020204020204" charset="-122"/>
                <a:ea typeface="微软雅黑" panose="020B0503020204020204" charset="-122"/>
              </a:rPr>
              <a:t>对预期出单的判断</a:t>
            </a:r>
            <a:endParaRPr lang="zh-CN" altLang="en-US" sz="1100" dirty="0">
              <a:solidFill>
                <a:schemeClr val="bg1">
                  <a:lumMod val="50000"/>
                </a:schemeClr>
              </a:solidFill>
              <a:latin typeface="微软雅黑" panose="020B0503020204020204" charset="-122"/>
              <a:ea typeface="微软雅黑" panose="020B0503020204020204" charset="-122"/>
            </a:endParaRPr>
          </a:p>
          <a:p>
            <a:pPr algn="ctr">
              <a:lnSpc>
                <a:spcPct val="130000"/>
              </a:lnSpc>
            </a:pPr>
            <a:r>
              <a:rPr lang="zh-CN" altLang="en-US" sz="1100" dirty="0">
                <a:solidFill>
                  <a:schemeClr val="bg1">
                    <a:lumMod val="50000"/>
                  </a:schemeClr>
                </a:solidFill>
                <a:latin typeface="微软雅黑" panose="020B0503020204020204" charset="-122"/>
                <a:ea typeface="微软雅黑" panose="020B0503020204020204" charset="-122"/>
              </a:rPr>
              <a:t>结合</a:t>
            </a:r>
            <a:r>
              <a:rPr lang="en-US" altLang="zh-CN" sz="1100" dirty="0">
                <a:solidFill>
                  <a:schemeClr val="bg1">
                    <a:lumMod val="50000"/>
                  </a:schemeClr>
                </a:solidFill>
                <a:latin typeface="微软雅黑" panose="020B0503020204020204" charset="-122"/>
                <a:ea typeface="微软雅黑" panose="020B0503020204020204" charset="-122"/>
              </a:rPr>
              <a:t>Review</a:t>
            </a:r>
            <a:r>
              <a:rPr lang="zh-CN" altLang="en-US" sz="1100" dirty="0">
                <a:solidFill>
                  <a:schemeClr val="bg1">
                    <a:lumMod val="50000"/>
                  </a:schemeClr>
                </a:solidFill>
                <a:latin typeface="微软雅黑" panose="020B0503020204020204" charset="-122"/>
                <a:ea typeface="微软雅黑" panose="020B0503020204020204" charset="-122"/>
              </a:rPr>
              <a:t>回评数量</a:t>
            </a:r>
            <a:endParaRPr lang="zh-CN" altLang="en-US" sz="1100" dirty="0">
              <a:solidFill>
                <a:schemeClr val="bg1">
                  <a:lumMod val="50000"/>
                </a:schemeClr>
              </a:solidFill>
              <a:latin typeface="微软雅黑" panose="020B0503020204020204" charset="-122"/>
              <a:ea typeface="微软雅黑" panose="020B0503020204020204" charset="-122"/>
            </a:endParaRPr>
          </a:p>
        </p:txBody>
      </p:sp>
      <p:sp>
        <p:nvSpPr>
          <p:cNvPr id="159" name="矩形 158"/>
          <p:cNvSpPr/>
          <p:nvPr/>
        </p:nvSpPr>
        <p:spPr>
          <a:xfrm>
            <a:off x="4085880" y="1182634"/>
            <a:ext cx="3978525" cy="819785"/>
          </a:xfrm>
          <a:prstGeom prst="rect">
            <a:avLst/>
          </a:prstGeom>
        </p:spPr>
        <p:txBody>
          <a:bodyPr wrap="square" lIns="121908" tIns="60954" rIns="121908" bIns="60954">
            <a:spAutoFit/>
          </a:bodyPr>
          <a:lstStyle/>
          <a:p>
            <a:pPr algn="ctr">
              <a:lnSpc>
                <a:spcPct val="130000"/>
              </a:lnSpc>
            </a:pPr>
            <a:r>
              <a:rPr lang="zh-CN" altLang="en-US" sz="1300" dirty="0">
                <a:solidFill>
                  <a:schemeClr val="accent5"/>
                </a:solidFill>
                <a:latin typeface="微软雅黑" panose="020B0503020204020204" charset="-122"/>
                <a:ea typeface="微软雅黑" panose="020B0503020204020204" charset="-122"/>
              </a:rPr>
              <a:t>盲目跟风</a:t>
            </a:r>
            <a:endParaRPr lang="zh-CN" altLang="en-US" sz="1300" dirty="0">
              <a:solidFill>
                <a:schemeClr val="accent5"/>
              </a:solidFill>
              <a:latin typeface="微软雅黑" panose="020B0503020204020204" charset="-122"/>
              <a:ea typeface="微软雅黑" panose="020B0503020204020204" charset="-122"/>
            </a:endParaRPr>
          </a:p>
          <a:p>
            <a:pPr algn="ctr">
              <a:lnSpc>
                <a:spcPct val="130000"/>
              </a:lnSpc>
            </a:pPr>
            <a:r>
              <a:rPr lang="zh-CN" altLang="en-US" sz="1100" dirty="0">
                <a:solidFill>
                  <a:schemeClr val="bg1">
                    <a:lumMod val="50000"/>
                  </a:schemeClr>
                </a:solidFill>
                <a:latin typeface="微软雅黑" panose="020B0503020204020204" charset="-122"/>
                <a:ea typeface="微软雅黑" panose="020B0503020204020204" charset="-122"/>
              </a:rPr>
              <a:t>看到同行广告预算多少也添加多少</a:t>
            </a:r>
            <a:endParaRPr lang="zh-CN" altLang="en-US" sz="1100" dirty="0">
              <a:solidFill>
                <a:schemeClr val="bg1">
                  <a:lumMod val="50000"/>
                </a:schemeClr>
              </a:solidFill>
              <a:latin typeface="微软雅黑" panose="020B0503020204020204" charset="-122"/>
              <a:ea typeface="微软雅黑" panose="020B0503020204020204" charset="-122"/>
            </a:endParaRPr>
          </a:p>
          <a:p>
            <a:pPr algn="ctr">
              <a:lnSpc>
                <a:spcPct val="130000"/>
              </a:lnSpc>
            </a:pPr>
            <a:r>
              <a:rPr lang="zh-CN" altLang="en-US" sz="1100" dirty="0">
                <a:solidFill>
                  <a:schemeClr val="bg1">
                    <a:lumMod val="50000"/>
                  </a:schemeClr>
                </a:solidFill>
                <a:latin typeface="微软雅黑" panose="020B0503020204020204" charset="-122"/>
                <a:ea typeface="微软雅黑" panose="020B0503020204020204" charset="-122"/>
              </a:rPr>
              <a:t>根本没花时间了解市场</a:t>
            </a:r>
            <a:r>
              <a:rPr lang="zh-CN" altLang="en-US" sz="1100" dirty="0">
                <a:solidFill>
                  <a:schemeClr val="bg1">
                    <a:lumMod val="50000"/>
                  </a:schemeClr>
                </a:solidFill>
                <a:latin typeface="微软雅黑" panose="020B0503020204020204" charset="-122"/>
                <a:ea typeface="微软雅黑" panose="020B0503020204020204" charset="-122"/>
                <a:sym typeface="+mn-ea"/>
              </a:rPr>
              <a:t>关键词</a:t>
            </a:r>
            <a:endParaRPr lang="zh-CN" altLang="en-US" sz="1100" dirty="0">
              <a:solidFill>
                <a:schemeClr val="bg1">
                  <a:lumMod val="50000"/>
                </a:schemeClr>
              </a:solidFill>
              <a:latin typeface="微软雅黑" panose="020B0503020204020204" charset="-122"/>
              <a:ea typeface="微软雅黑" panose="020B0503020204020204" charset="-122"/>
            </a:endParaRPr>
          </a:p>
        </p:txBody>
      </p:sp>
      <p:cxnSp>
        <p:nvCxnSpPr>
          <p:cNvPr id="160" name="直接连接符 159"/>
          <p:cNvCxnSpPr/>
          <p:nvPr/>
        </p:nvCxnSpPr>
        <p:spPr>
          <a:xfrm flipH="1">
            <a:off x="6074995" y="2024667"/>
            <a:ext cx="147" cy="353987"/>
          </a:xfrm>
          <a:prstGeom prst="line">
            <a:avLst/>
          </a:prstGeom>
          <a:ln w="12700">
            <a:solidFill>
              <a:schemeClr val="bg1">
                <a:lumMod val="75000"/>
              </a:schemeClr>
            </a:solidFill>
            <a:prstDash val="sys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7416805" y="5186238"/>
            <a:ext cx="1306645" cy="1"/>
          </a:xfrm>
          <a:prstGeom prst="line">
            <a:avLst/>
          </a:prstGeom>
          <a:ln w="12700">
            <a:solidFill>
              <a:schemeClr val="bg1">
                <a:lumMod val="75000"/>
              </a:schemeClr>
            </a:solidFill>
            <a:prstDash val="sys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62" name="直接连接符 161"/>
          <p:cNvCxnSpPr/>
          <p:nvPr/>
        </p:nvCxnSpPr>
        <p:spPr>
          <a:xfrm flipV="1">
            <a:off x="3477574" y="5189816"/>
            <a:ext cx="1310631" cy="1"/>
          </a:xfrm>
          <a:prstGeom prst="line">
            <a:avLst/>
          </a:prstGeom>
          <a:ln w="12700">
            <a:solidFill>
              <a:schemeClr val="bg1">
                <a:lumMod val="75000"/>
              </a:schemeClr>
            </a:solidFill>
            <a:prstDash val="sys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63" name="肘形连接符 162"/>
          <p:cNvCxnSpPr/>
          <p:nvPr/>
        </p:nvCxnSpPr>
        <p:spPr>
          <a:xfrm flipH="1" flipV="1">
            <a:off x="2037287" y="2856897"/>
            <a:ext cx="1502420" cy="1175728"/>
          </a:xfrm>
          <a:prstGeom prst="bentConnector2">
            <a:avLst/>
          </a:prstGeom>
          <a:ln w="12700">
            <a:solidFill>
              <a:schemeClr val="bg1">
                <a:lumMod val="75000"/>
              </a:schemeClr>
            </a:solidFill>
            <a:prstDash val="sysDot"/>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64" name="肘形连接符 163"/>
          <p:cNvCxnSpPr/>
          <p:nvPr/>
        </p:nvCxnSpPr>
        <p:spPr>
          <a:xfrm flipV="1">
            <a:off x="8650405" y="2856897"/>
            <a:ext cx="1511493" cy="1175728"/>
          </a:xfrm>
          <a:prstGeom prst="bentConnector2">
            <a:avLst/>
          </a:prstGeom>
          <a:ln w="12700">
            <a:solidFill>
              <a:schemeClr val="bg1">
                <a:lumMod val="75000"/>
              </a:schemeClr>
            </a:solidFill>
            <a:prstDash val="sysDot"/>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917123" y="3075305"/>
            <a:ext cx="460375" cy="706755"/>
          </a:xfrm>
          <a:prstGeom prst="rect">
            <a:avLst/>
          </a:prstGeom>
          <a:noFill/>
        </p:spPr>
        <p:txBody>
          <a:bodyPr wrap="none" rtlCol="0">
            <a:spAutoFit/>
          </a:bodyPr>
          <a:p>
            <a:r>
              <a:rPr lang="en-US" altLang="zh-CN" sz="4000" b="1">
                <a:solidFill>
                  <a:schemeClr val="bg1"/>
                </a:solidFill>
                <a:latin typeface="锐字工房云字库锐倩GBK" panose="02010604000000000000" charset="-122"/>
                <a:ea typeface="锐字工房云字库锐倩GBK" panose="02010604000000000000" charset="-122"/>
              </a:rPr>
              <a:t>C</a:t>
            </a:r>
            <a:endParaRPr lang="en-US" altLang="zh-CN" sz="4000" b="1">
              <a:solidFill>
                <a:schemeClr val="bg1"/>
              </a:solidFill>
              <a:latin typeface="锐字工房云字库锐倩GBK" panose="02010604000000000000" charset="-122"/>
              <a:ea typeface="锐字工房云字库锐倩GBK" panose="02010604000000000000" charset="-122"/>
            </a:endParaRPr>
          </a:p>
        </p:txBody>
      </p:sp>
      <p:sp>
        <p:nvSpPr>
          <p:cNvPr id="5" name="文本框 4"/>
          <p:cNvSpPr txBox="1"/>
          <p:nvPr/>
        </p:nvSpPr>
        <p:spPr>
          <a:xfrm>
            <a:off x="5850573" y="2714625"/>
            <a:ext cx="493395" cy="706755"/>
          </a:xfrm>
          <a:prstGeom prst="rect">
            <a:avLst/>
          </a:prstGeom>
          <a:noFill/>
        </p:spPr>
        <p:txBody>
          <a:bodyPr wrap="none" rtlCol="0">
            <a:spAutoFit/>
          </a:bodyPr>
          <a:p>
            <a:r>
              <a:rPr lang="en-US" altLang="zh-CN" sz="4000" b="1">
                <a:solidFill>
                  <a:schemeClr val="bg1"/>
                </a:solidFill>
                <a:latin typeface="锐字工房云字库锐倩GBK" panose="02010604000000000000" charset="-122"/>
                <a:ea typeface="锐字工房云字库锐倩GBK" panose="02010604000000000000" charset="-122"/>
              </a:rPr>
              <a:t>P</a:t>
            </a:r>
            <a:endParaRPr lang="en-US" altLang="zh-CN" sz="4000" b="1">
              <a:solidFill>
                <a:schemeClr val="bg1"/>
              </a:solidFill>
              <a:latin typeface="锐字工房云字库锐倩GBK" panose="02010604000000000000" charset="-122"/>
              <a:ea typeface="锐字工房云字库锐倩GBK" panose="02010604000000000000" charset="-122"/>
            </a:endParaRPr>
          </a:p>
        </p:txBody>
      </p:sp>
      <p:sp>
        <p:nvSpPr>
          <p:cNvPr id="6" name="文本框 5"/>
          <p:cNvSpPr txBox="1"/>
          <p:nvPr/>
        </p:nvSpPr>
        <p:spPr>
          <a:xfrm>
            <a:off x="6816408" y="3075940"/>
            <a:ext cx="460375" cy="706755"/>
          </a:xfrm>
          <a:prstGeom prst="rect">
            <a:avLst/>
          </a:prstGeom>
          <a:noFill/>
        </p:spPr>
        <p:txBody>
          <a:bodyPr wrap="none" rtlCol="0">
            <a:spAutoFit/>
          </a:bodyPr>
          <a:p>
            <a:r>
              <a:rPr lang="en-US" altLang="zh-CN" sz="4000" b="1">
                <a:solidFill>
                  <a:schemeClr val="bg1"/>
                </a:solidFill>
                <a:latin typeface="锐字工房云字库锐倩GBK" panose="02010604000000000000" charset="-122"/>
                <a:ea typeface="锐字工房云字库锐倩GBK" panose="02010604000000000000" charset="-122"/>
              </a:rPr>
              <a:t>C</a:t>
            </a:r>
            <a:endParaRPr lang="en-US" altLang="zh-CN" sz="4000" b="1">
              <a:solidFill>
                <a:schemeClr val="bg1"/>
              </a:solidFill>
              <a:latin typeface="锐字工房云字库锐倩GBK" panose="02010604000000000000" charset="-122"/>
              <a:ea typeface="锐字工房云字库锐倩GBK" panose="02010604000000000000" charset="-122"/>
            </a:endParaRPr>
          </a:p>
        </p:txBody>
      </p:sp>
      <p:sp>
        <p:nvSpPr>
          <p:cNvPr id="7" name="矩形 6"/>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29" name="文本框 28"/>
          <p:cNvSpPr txBox="1"/>
          <p:nvPr/>
        </p:nvSpPr>
        <p:spPr>
          <a:xfrm>
            <a:off x="857885" y="283210"/>
            <a:ext cx="3840480" cy="583565"/>
          </a:xfrm>
          <a:prstGeom prst="rect">
            <a:avLst/>
          </a:prstGeom>
          <a:noFill/>
        </p:spPr>
        <p:txBody>
          <a:bodyPr wrap="none" rtlCol="0">
            <a:spAutoFit/>
          </a:bodyPr>
          <a:p>
            <a:pPr algn="l">
              <a:buFont typeface="Arial" panose="020B0604020202020204" pitchFamily="34" charset="0"/>
              <a:buNone/>
            </a:pPr>
            <a:r>
              <a:rPr lang="zh-CN" altLang="en-US" sz="3200" b="1" dirty="0">
                <a:solidFill>
                  <a:schemeClr val="tx1">
                    <a:lumMod val="75000"/>
                    <a:lumOff val="25000"/>
                  </a:schemeClr>
                </a:solidFill>
                <a:latin typeface="微软雅黑" panose="020B0503020204020204" charset="-122"/>
                <a:ea typeface="微软雅黑" panose="020B0503020204020204" charset="-122"/>
                <a:sym typeface="+mn-ea"/>
              </a:rPr>
              <a:t>为什么广告打不起来</a:t>
            </a:r>
            <a:endParaRPr lang="en-US" altLang="zh-CN" sz="3200" b="1">
              <a:solidFill>
                <a:schemeClr val="tx1">
                  <a:lumMod val="75000"/>
                  <a:lumOff val="25000"/>
                </a:schemeClr>
              </a:solidFill>
            </a:endParaRPr>
          </a:p>
        </p:txBody>
      </p:sp>
      <p:sp>
        <p:nvSpPr>
          <p:cNvPr id="18" name="矩形 17"/>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anim calcmode="lin" valueType="num">
                                      <p:cBhvr>
                                        <p:cTn id="8" dur="500" fill="hold"/>
                                        <p:tgtEl>
                                          <p:spTgt spid="151"/>
                                        </p:tgtEl>
                                        <p:attrNameLst>
                                          <p:attrName>ppt_x</p:attrName>
                                        </p:attrNameLst>
                                      </p:cBhvr>
                                      <p:tavLst>
                                        <p:tav tm="0">
                                          <p:val>
                                            <p:strVal val="#ppt_x"/>
                                          </p:val>
                                        </p:tav>
                                        <p:tav tm="100000">
                                          <p:val>
                                            <p:strVal val="#ppt_x"/>
                                          </p:val>
                                        </p:tav>
                                      </p:tavLst>
                                    </p:anim>
                                    <p:anim calcmode="lin" valueType="num">
                                      <p:cBhvr>
                                        <p:cTn id="9" dur="500" fill="hold"/>
                                        <p:tgtEl>
                                          <p:spTgt spid="151"/>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145"/>
                                        </p:tgtEl>
                                        <p:attrNameLst>
                                          <p:attrName>style.visibility</p:attrName>
                                        </p:attrNameLst>
                                      </p:cBhvr>
                                      <p:to>
                                        <p:strVal val="visible"/>
                                      </p:to>
                                    </p:set>
                                    <p:animEffect transition="in" filter="fade">
                                      <p:cBhvr>
                                        <p:cTn id="13" dur="500"/>
                                        <p:tgtEl>
                                          <p:spTgt spid="145"/>
                                        </p:tgtEl>
                                      </p:cBhvr>
                                    </p:animEffect>
                                    <p:anim calcmode="lin" valueType="num">
                                      <p:cBhvr>
                                        <p:cTn id="14" dur="500" fill="hold"/>
                                        <p:tgtEl>
                                          <p:spTgt spid="145"/>
                                        </p:tgtEl>
                                        <p:attrNameLst>
                                          <p:attrName>ppt_x</p:attrName>
                                        </p:attrNameLst>
                                      </p:cBhvr>
                                      <p:tavLst>
                                        <p:tav tm="0">
                                          <p:val>
                                            <p:strVal val="#ppt_x"/>
                                          </p:val>
                                        </p:tav>
                                        <p:tav tm="100000">
                                          <p:val>
                                            <p:strVal val="#ppt_x"/>
                                          </p:val>
                                        </p:tav>
                                      </p:tavLst>
                                    </p:anim>
                                    <p:anim calcmode="lin" valueType="num">
                                      <p:cBhvr>
                                        <p:cTn id="15" dur="500" fill="hold"/>
                                        <p:tgtEl>
                                          <p:spTgt spid="145"/>
                                        </p:tgtEl>
                                        <p:attrNameLst>
                                          <p:attrName>ppt_y</p:attrName>
                                        </p:attrNameLst>
                                      </p:cBhvr>
                                      <p:tavLst>
                                        <p:tav tm="0">
                                          <p:val>
                                            <p:strVal val="#ppt_y-.1"/>
                                          </p:val>
                                        </p:tav>
                                        <p:tav tm="100000">
                                          <p:val>
                                            <p:strVal val="#ppt_y"/>
                                          </p:val>
                                        </p:tav>
                                      </p:tavLst>
                                    </p:anim>
                                  </p:childTnLst>
                                </p:cTn>
                              </p:par>
                              <p:par>
                                <p:cTn id="16" presetID="47" presetClass="entr" presetSubtype="0" fill="hold" nodeType="withEffect">
                                  <p:stCondLst>
                                    <p:cond delay="0"/>
                                  </p:stCondLst>
                                  <p:childTnLst>
                                    <p:set>
                                      <p:cBhvr>
                                        <p:cTn id="17" dur="1" fill="hold">
                                          <p:stCondLst>
                                            <p:cond delay="0"/>
                                          </p:stCondLst>
                                        </p:cTn>
                                        <p:tgtEl>
                                          <p:spTgt spid="95"/>
                                        </p:tgtEl>
                                        <p:attrNameLst>
                                          <p:attrName>style.visibility</p:attrName>
                                        </p:attrNameLst>
                                      </p:cBhvr>
                                      <p:to>
                                        <p:strVal val="visible"/>
                                      </p:to>
                                    </p:set>
                                    <p:animEffect transition="in" filter="fade">
                                      <p:cBhvr>
                                        <p:cTn id="18" dur="500"/>
                                        <p:tgtEl>
                                          <p:spTgt spid="95"/>
                                        </p:tgtEl>
                                      </p:cBhvr>
                                    </p:animEffect>
                                    <p:anim calcmode="lin" valueType="num">
                                      <p:cBhvr>
                                        <p:cTn id="19" dur="500" fill="hold"/>
                                        <p:tgtEl>
                                          <p:spTgt spid="95"/>
                                        </p:tgtEl>
                                        <p:attrNameLst>
                                          <p:attrName>ppt_x</p:attrName>
                                        </p:attrNameLst>
                                      </p:cBhvr>
                                      <p:tavLst>
                                        <p:tav tm="0">
                                          <p:val>
                                            <p:strVal val="#ppt_x"/>
                                          </p:val>
                                        </p:tav>
                                        <p:tav tm="100000">
                                          <p:val>
                                            <p:strVal val="#ppt_x"/>
                                          </p:val>
                                        </p:tav>
                                      </p:tavLst>
                                    </p:anim>
                                    <p:anim calcmode="lin" valueType="num">
                                      <p:cBhvr>
                                        <p:cTn id="20" dur="500" fill="hold"/>
                                        <p:tgtEl>
                                          <p:spTgt spid="95"/>
                                        </p:tgtEl>
                                        <p:attrNameLst>
                                          <p:attrName>ppt_y</p:attrName>
                                        </p:attrNameLst>
                                      </p:cBhvr>
                                      <p:tavLst>
                                        <p:tav tm="0">
                                          <p:val>
                                            <p:strVal val="#ppt_y-.1"/>
                                          </p:val>
                                        </p:tav>
                                        <p:tav tm="100000">
                                          <p:val>
                                            <p:strVal val="#ppt_y"/>
                                          </p:val>
                                        </p:tav>
                                      </p:tavLst>
                                    </p:anim>
                                  </p:childTnLst>
                                </p:cTn>
                              </p:par>
                            </p:childTnLst>
                          </p:cTn>
                        </p:par>
                        <p:par>
                          <p:cTn id="21" fill="hold">
                            <p:stCondLst>
                              <p:cond delay="1000"/>
                            </p:stCondLst>
                            <p:childTnLst>
                              <p:par>
                                <p:cTn id="22" presetID="2" presetClass="entr" presetSubtype="2" fill="hold" nodeType="afterEffect">
                                  <p:stCondLst>
                                    <p:cond delay="0"/>
                                  </p:stCondLst>
                                  <p:childTnLst>
                                    <p:set>
                                      <p:cBhvr>
                                        <p:cTn id="23" dur="1" fill="hold">
                                          <p:stCondLst>
                                            <p:cond delay="0"/>
                                          </p:stCondLst>
                                        </p:cTn>
                                        <p:tgtEl>
                                          <p:spTgt spid="89"/>
                                        </p:tgtEl>
                                        <p:attrNameLst>
                                          <p:attrName>style.visibility</p:attrName>
                                        </p:attrNameLst>
                                      </p:cBhvr>
                                      <p:to>
                                        <p:strVal val="visible"/>
                                      </p:to>
                                    </p:set>
                                    <p:anim calcmode="lin" valueType="num">
                                      <p:cBhvr additive="base">
                                        <p:cTn id="24" dur="500" fill="hold"/>
                                        <p:tgtEl>
                                          <p:spTgt spid="89"/>
                                        </p:tgtEl>
                                        <p:attrNameLst>
                                          <p:attrName>ppt_x</p:attrName>
                                        </p:attrNameLst>
                                      </p:cBhvr>
                                      <p:tavLst>
                                        <p:tav tm="0">
                                          <p:val>
                                            <p:strVal val="1+#ppt_w/2"/>
                                          </p:val>
                                        </p:tav>
                                        <p:tav tm="100000">
                                          <p:val>
                                            <p:strVal val="#ppt_x"/>
                                          </p:val>
                                        </p:tav>
                                      </p:tavLst>
                                    </p:anim>
                                    <p:anim calcmode="lin" valueType="num">
                                      <p:cBhvr additive="base">
                                        <p:cTn id="25" dur="500" fill="hold"/>
                                        <p:tgtEl>
                                          <p:spTgt spid="89"/>
                                        </p:tgtEl>
                                        <p:attrNameLst>
                                          <p:attrName>ppt_y</p:attrName>
                                        </p:attrNameLst>
                                      </p:cBhvr>
                                      <p:tavLst>
                                        <p:tav tm="0">
                                          <p:val>
                                            <p:strVal val="#ppt_y"/>
                                          </p:val>
                                        </p:tav>
                                        <p:tav tm="100000">
                                          <p:val>
                                            <p:strVal val="#ppt_y"/>
                                          </p:val>
                                        </p:tav>
                                      </p:tavLst>
                                    </p:anim>
                                  </p:childTnLst>
                                </p:cTn>
                              </p:par>
                              <p:par>
                                <p:cTn id="26" presetID="2" presetClass="entr" presetSubtype="8" fill="hold" nodeType="withEffect">
                                  <p:stCondLst>
                                    <p:cond delay="0"/>
                                  </p:stCondLst>
                                  <p:childTnLst>
                                    <p:set>
                                      <p:cBhvr>
                                        <p:cTn id="27" dur="1" fill="hold">
                                          <p:stCondLst>
                                            <p:cond delay="0"/>
                                          </p:stCondLst>
                                        </p:cTn>
                                        <p:tgtEl>
                                          <p:spTgt spid="83"/>
                                        </p:tgtEl>
                                        <p:attrNameLst>
                                          <p:attrName>style.visibility</p:attrName>
                                        </p:attrNameLst>
                                      </p:cBhvr>
                                      <p:to>
                                        <p:strVal val="visible"/>
                                      </p:to>
                                    </p:set>
                                    <p:anim calcmode="lin" valueType="num">
                                      <p:cBhvr additive="base">
                                        <p:cTn id="28" dur="500" fill="hold"/>
                                        <p:tgtEl>
                                          <p:spTgt spid="83"/>
                                        </p:tgtEl>
                                        <p:attrNameLst>
                                          <p:attrName>ppt_x</p:attrName>
                                        </p:attrNameLst>
                                      </p:cBhvr>
                                      <p:tavLst>
                                        <p:tav tm="0">
                                          <p:val>
                                            <p:strVal val="0-#ppt_w/2"/>
                                          </p:val>
                                        </p:tav>
                                        <p:tav tm="100000">
                                          <p:val>
                                            <p:strVal val="#ppt_x"/>
                                          </p:val>
                                        </p:tav>
                                      </p:tavLst>
                                    </p:anim>
                                    <p:anim calcmode="lin" valueType="num">
                                      <p:cBhvr additive="base">
                                        <p:cTn id="29" dur="500" fill="hold"/>
                                        <p:tgtEl>
                                          <p:spTgt spid="83"/>
                                        </p:tgtEl>
                                        <p:attrNameLst>
                                          <p:attrName>ppt_y</p:attrName>
                                        </p:attrNameLst>
                                      </p:cBhvr>
                                      <p:tavLst>
                                        <p:tav tm="0">
                                          <p:val>
                                            <p:strVal val="#ppt_y"/>
                                          </p:val>
                                        </p:tav>
                                        <p:tav tm="100000">
                                          <p:val>
                                            <p:strVal val="#ppt_y"/>
                                          </p:val>
                                        </p:tav>
                                      </p:tavLst>
                                    </p:anim>
                                  </p:childTnLst>
                                </p:cTn>
                              </p:par>
                            </p:childTnLst>
                          </p:cTn>
                        </p:par>
                        <p:par>
                          <p:cTn id="30" fill="hold">
                            <p:stCondLst>
                              <p:cond delay="1500"/>
                            </p:stCondLst>
                            <p:childTnLst>
                              <p:par>
                                <p:cTn id="31" presetID="22" presetClass="entr" presetSubtype="4" fill="hold" nodeType="afterEffect">
                                  <p:stCondLst>
                                    <p:cond delay="0"/>
                                  </p:stCondLst>
                                  <p:childTnLst>
                                    <p:set>
                                      <p:cBhvr>
                                        <p:cTn id="32" dur="1" fill="hold">
                                          <p:stCondLst>
                                            <p:cond delay="0"/>
                                          </p:stCondLst>
                                        </p:cTn>
                                        <p:tgtEl>
                                          <p:spTgt spid="160"/>
                                        </p:tgtEl>
                                        <p:attrNameLst>
                                          <p:attrName>style.visibility</p:attrName>
                                        </p:attrNameLst>
                                      </p:cBhvr>
                                      <p:to>
                                        <p:strVal val="visible"/>
                                      </p:to>
                                    </p:set>
                                    <p:animEffect transition="in" filter="wipe(down)">
                                      <p:cBhvr>
                                        <p:cTn id="33" dur="300"/>
                                        <p:tgtEl>
                                          <p:spTgt spid="160"/>
                                        </p:tgtEl>
                                      </p:cBhvr>
                                    </p:animEffect>
                                  </p:childTnLst>
                                </p:cTn>
                              </p:par>
                            </p:childTnLst>
                          </p:cTn>
                        </p:par>
                        <p:par>
                          <p:cTn id="34" fill="hold">
                            <p:stCondLst>
                              <p:cond delay="2000"/>
                            </p:stCondLst>
                            <p:childTnLst>
                              <p:par>
                                <p:cTn id="35" presetID="10" presetClass="entr" presetSubtype="0" fill="hold" grpId="0" nodeType="afterEffect">
                                  <p:stCondLst>
                                    <p:cond delay="0"/>
                                  </p:stCondLst>
                                  <p:childTnLst>
                                    <p:set>
                                      <p:cBhvr>
                                        <p:cTn id="36" dur="1" fill="hold">
                                          <p:stCondLst>
                                            <p:cond delay="0"/>
                                          </p:stCondLst>
                                        </p:cTn>
                                        <p:tgtEl>
                                          <p:spTgt spid="159"/>
                                        </p:tgtEl>
                                        <p:attrNameLst>
                                          <p:attrName>style.visibility</p:attrName>
                                        </p:attrNameLst>
                                      </p:cBhvr>
                                      <p:to>
                                        <p:strVal val="visible"/>
                                      </p:to>
                                    </p:set>
                                    <p:animEffect transition="in" filter="fade">
                                      <p:cBhvr>
                                        <p:cTn id="37" dur="300"/>
                                        <p:tgtEl>
                                          <p:spTgt spid="159"/>
                                        </p:tgtEl>
                                      </p:cBhvr>
                                    </p:animEffect>
                                  </p:childTnLst>
                                </p:cTn>
                              </p:par>
                            </p:childTnLst>
                          </p:cTn>
                        </p:par>
                        <p:par>
                          <p:cTn id="38" fill="hold">
                            <p:stCondLst>
                              <p:cond delay="2500"/>
                            </p:stCondLst>
                            <p:childTnLst>
                              <p:par>
                                <p:cTn id="39" presetID="22" presetClass="entr" presetSubtype="2" fill="hold" nodeType="afterEffect">
                                  <p:stCondLst>
                                    <p:cond delay="0"/>
                                  </p:stCondLst>
                                  <p:childTnLst>
                                    <p:set>
                                      <p:cBhvr>
                                        <p:cTn id="40" dur="1" fill="hold">
                                          <p:stCondLst>
                                            <p:cond delay="0"/>
                                          </p:stCondLst>
                                        </p:cTn>
                                        <p:tgtEl>
                                          <p:spTgt spid="163"/>
                                        </p:tgtEl>
                                        <p:attrNameLst>
                                          <p:attrName>style.visibility</p:attrName>
                                        </p:attrNameLst>
                                      </p:cBhvr>
                                      <p:to>
                                        <p:strVal val="visible"/>
                                      </p:to>
                                    </p:set>
                                    <p:animEffect transition="in" filter="wipe(right)">
                                      <p:cBhvr>
                                        <p:cTn id="41" dur="300"/>
                                        <p:tgtEl>
                                          <p:spTgt spid="163"/>
                                        </p:tgtEl>
                                      </p:cBhvr>
                                    </p:animEffect>
                                  </p:childTnLst>
                                </p:cTn>
                              </p:par>
                            </p:childTnLst>
                          </p:cTn>
                        </p:par>
                        <p:par>
                          <p:cTn id="42" fill="hold">
                            <p:stCondLst>
                              <p:cond delay="3000"/>
                            </p:stCondLst>
                            <p:childTnLst>
                              <p:par>
                                <p:cTn id="43" presetID="10" presetClass="entr" presetSubtype="0" fill="hold" grpId="0" nodeType="afterEffect">
                                  <p:stCondLst>
                                    <p:cond delay="0"/>
                                  </p:stCondLst>
                                  <p:childTnLst>
                                    <p:set>
                                      <p:cBhvr>
                                        <p:cTn id="44" dur="1" fill="hold">
                                          <p:stCondLst>
                                            <p:cond delay="0"/>
                                          </p:stCondLst>
                                        </p:cTn>
                                        <p:tgtEl>
                                          <p:spTgt spid="156"/>
                                        </p:tgtEl>
                                        <p:attrNameLst>
                                          <p:attrName>style.visibility</p:attrName>
                                        </p:attrNameLst>
                                      </p:cBhvr>
                                      <p:to>
                                        <p:strVal val="visible"/>
                                      </p:to>
                                    </p:set>
                                    <p:animEffect transition="in" filter="fade">
                                      <p:cBhvr>
                                        <p:cTn id="45" dur="300"/>
                                        <p:tgtEl>
                                          <p:spTgt spid="156"/>
                                        </p:tgtEl>
                                      </p:cBhvr>
                                    </p:animEffect>
                                  </p:childTnLst>
                                </p:cTn>
                              </p:par>
                            </p:childTnLst>
                          </p:cTn>
                        </p:par>
                        <p:par>
                          <p:cTn id="46" fill="hold">
                            <p:stCondLst>
                              <p:cond delay="3500"/>
                            </p:stCondLst>
                            <p:childTnLst>
                              <p:par>
                                <p:cTn id="47" presetID="22" presetClass="entr" presetSubtype="8" fill="hold" nodeType="afterEffect">
                                  <p:stCondLst>
                                    <p:cond delay="0"/>
                                  </p:stCondLst>
                                  <p:childTnLst>
                                    <p:set>
                                      <p:cBhvr>
                                        <p:cTn id="48" dur="1" fill="hold">
                                          <p:stCondLst>
                                            <p:cond delay="0"/>
                                          </p:stCondLst>
                                        </p:cTn>
                                        <p:tgtEl>
                                          <p:spTgt spid="164"/>
                                        </p:tgtEl>
                                        <p:attrNameLst>
                                          <p:attrName>style.visibility</p:attrName>
                                        </p:attrNameLst>
                                      </p:cBhvr>
                                      <p:to>
                                        <p:strVal val="visible"/>
                                      </p:to>
                                    </p:set>
                                    <p:animEffect transition="in" filter="wipe(left)">
                                      <p:cBhvr>
                                        <p:cTn id="49" dur="300"/>
                                        <p:tgtEl>
                                          <p:spTgt spid="164"/>
                                        </p:tgtEl>
                                      </p:cBhvr>
                                    </p:animEffect>
                                  </p:childTnLst>
                                </p:cTn>
                              </p:par>
                            </p:childTnLst>
                          </p:cTn>
                        </p:par>
                        <p:par>
                          <p:cTn id="50" fill="hold">
                            <p:stCondLst>
                              <p:cond delay="4000"/>
                            </p:stCondLst>
                            <p:childTnLst>
                              <p:par>
                                <p:cTn id="51" presetID="10" presetClass="entr" presetSubtype="0" fill="hold" grpId="0" nodeType="afterEffect">
                                  <p:stCondLst>
                                    <p:cond delay="0"/>
                                  </p:stCondLst>
                                  <p:childTnLst>
                                    <p:set>
                                      <p:cBhvr>
                                        <p:cTn id="52" dur="1" fill="hold">
                                          <p:stCondLst>
                                            <p:cond delay="0"/>
                                          </p:stCondLst>
                                        </p:cTn>
                                        <p:tgtEl>
                                          <p:spTgt spid="158"/>
                                        </p:tgtEl>
                                        <p:attrNameLst>
                                          <p:attrName>style.visibility</p:attrName>
                                        </p:attrNameLst>
                                      </p:cBhvr>
                                      <p:to>
                                        <p:strVal val="visible"/>
                                      </p:to>
                                    </p:set>
                                    <p:animEffect transition="in" filter="fade">
                                      <p:cBhvr>
                                        <p:cTn id="53" dur="300"/>
                                        <p:tgtEl>
                                          <p:spTgt spid="158"/>
                                        </p:tgtEl>
                                      </p:cBhvr>
                                    </p:animEffect>
                                  </p:childTnLst>
                                </p:cTn>
                              </p:par>
                            </p:childTnLst>
                          </p:cTn>
                        </p:par>
                        <p:par>
                          <p:cTn id="54" fill="hold">
                            <p:stCondLst>
                              <p:cond delay="4500"/>
                            </p:stCondLst>
                            <p:childTnLst>
                              <p:par>
                                <p:cTn id="55" presetID="22" presetClass="entr" presetSubtype="2" fill="hold" nodeType="afterEffect">
                                  <p:stCondLst>
                                    <p:cond delay="0"/>
                                  </p:stCondLst>
                                  <p:childTnLst>
                                    <p:set>
                                      <p:cBhvr>
                                        <p:cTn id="56" dur="1" fill="hold">
                                          <p:stCondLst>
                                            <p:cond delay="0"/>
                                          </p:stCondLst>
                                        </p:cTn>
                                        <p:tgtEl>
                                          <p:spTgt spid="162"/>
                                        </p:tgtEl>
                                        <p:attrNameLst>
                                          <p:attrName>style.visibility</p:attrName>
                                        </p:attrNameLst>
                                      </p:cBhvr>
                                      <p:to>
                                        <p:strVal val="visible"/>
                                      </p:to>
                                    </p:set>
                                    <p:animEffect transition="in" filter="wipe(right)">
                                      <p:cBhvr>
                                        <p:cTn id="57" dur="300"/>
                                        <p:tgtEl>
                                          <p:spTgt spid="162"/>
                                        </p:tgtEl>
                                      </p:cBhvr>
                                    </p:animEffect>
                                  </p:childTnLst>
                                </p:cTn>
                              </p:par>
                            </p:childTnLst>
                          </p:cTn>
                        </p:par>
                        <p:par>
                          <p:cTn id="58" fill="hold">
                            <p:stCondLst>
                              <p:cond delay="5000"/>
                            </p:stCondLst>
                            <p:childTnLst>
                              <p:par>
                                <p:cTn id="59" presetID="10" presetClass="entr" presetSubtype="0" fill="hold" grpId="0" nodeType="afterEffect">
                                  <p:stCondLst>
                                    <p:cond delay="0"/>
                                  </p:stCondLst>
                                  <p:childTnLst>
                                    <p:set>
                                      <p:cBhvr>
                                        <p:cTn id="60" dur="1" fill="hold">
                                          <p:stCondLst>
                                            <p:cond delay="0"/>
                                          </p:stCondLst>
                                        </p:cTn>
                                        <p:tgtEl>
                                          <p:spTgt spid="155"/>
                                        </p:tgtEl>
                                        <p:attrNameLst>
                                          <p:attrName>style.visibility</p:attrName>
                                        </p:attrNameLst>
                                      </p:cBhvr>
                                      <p:to>
                                        <p:strVal val="visible"/>
                                      </p:to>
                                    </p:set>
                                    <p:animEffect transition="in" filter="fade">
                                      <p:cBhvr>
                                        <p:cTn id="61" dur="300"/>
                                        <p:tgtEl>
                                          <p:spTgt spid="155"/>
                                        </p:tgtEl>
                                      </p:cBhvr>
                                    </p:animEffect>
                                  </p:childTnLst>
                                </p:cTn>
                              </p:par>
                            </p:childTnLst>
                          </p:cTn>
                        </p:par>
                        <p:par>
                          <p:cTn id="62" fill="hold">
                            <p:stCondLst>
                              <p:cond delay="5500"/>
                            </p:stCondLst>
                            <p:childTnLst>
                              <p:par>
                                <p:cTn id="63" presetID="22" presetClass="entr" presetSubtype="8" fill="hold" nodeType="afterEffect">
                                  <p:stCondLst>
                                    <p:cond delay="0"/>
                                  </p:stCondLst>
                                  <p:childTnLst>
                                    <p:set>
                                      <p:cBhvr>
                                        <p:cTn id="64" dur="1" fill="hold">
                                          <p:stCondLst>
                                            <p:cond delay="0"/>
                                          </p:stCondLst>
                                        </p:cTn>
                                        <p:tgtEl>
                                          <p:spTgt spid="161"/>
                                        </p:tgtEl>
                                        <p:attrNameLst>
                                          <p:attrName>style.visibility</p:attrName>
                                        </p:attrNameLst>
                                      </p:cBhvr>
                                      <p:to>
                                        <p:strVal val="visible"/>
                                      </p:to>
                                    </p:set>
                                    <p:animEffect transition="in" filter="wipe(left)">
                                      <p:cBhvr>
                                        <p:cTn id="65" dur="300"/>
                                        <p:tgtEl>
                                          <p:spTgt spid="161"/>
                                        </p:tgtEl>
                                      </p:cBhvr>
                                    </p:animEffect>
                                  </p:childTnLst>
                                </p:cTn>
                              </p:par>
                            </p:childTnLst>
                          </p:cTn>
                        </p:par>
                        <p:par>
                          <p:cTn id="66" fill="hold">
                            <p:stCondLst>
                              <p:cond delay="6000"/>
                            </p:stCondLst>
                            <p:childTnLst>
                              <p:par>
                                <p:cTn id="67" presetID="10" presetClass="entr" presetSubtype="0" fill="hold" grpId="0" nodeType="afterEffect">
                                  <p:stCondLst>
                                    <p:cond delay="0"/>
                                  </p:stCondLst>
                                  <p:childTnLst>
                                    <p:set>
                                      <p:cBhvr>
                                        <p:cTn id="68" dur="1" fill="hold">
                                          <p:stCondLst>
                                            <p:cond delay="0"/>
                                          </p:stCondLst>
                                        </p:cTn>
                                        <p:tgtEl>
                                          <p:spTgt spid="157"/>
                                        </p:tgtEl>
                                        <p:attrNameLst>
                                          <p:attrName>style.visibility</p:attrName>
                                        </p:attrNameLst>
                                      </p:cBhvr>
                                      <p:to>
                                        <p:strVal val="visible"/>
                                      </p:to>
                                    </p:set>
                                    <p:animEffect transition="in" filter="fade">
                                      <p:cBhvr>
                                        <p:cTn id="69" dur="300"/>
                                        <p:tgtEl>
                                          <p:spTgt spid="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0"/>
      <p:bldP spid="156" grpId="0"/>
      <p:bldP spid="157" grpId="0"/>
      <p:bldP spid="158" grpId="0"/>
      <p:bldP spid="15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304925" y="1563326"/>
            <a:ext cx="1368607" cy="1322070"/>
          </a:xfrm>
          <a:prstGeom prst="rect">
            <a:avLst/>
          </a:prstGeom>
          <a:solidFill>
            <a:schemeClr val="tx2">
              <a:lumMod val="50000"/>
            </a:schemeClr>
          </a:solidFill>
          <a:ln>
            <a:noFill/>
          </a:ln>
        </p:spPr>
        <p:txBody>
          <a:bodyPr wrap="square" rtlCol="0">
            <a:spAutoFit/>
          </a:bodyPr>
          <a:lstStyle/>
          <a:p>
            <a:endParaRPr lang="en-US" sz="2000" dirty="0">
              <a:solidFill>
                <a:srgbClr val="F3FFE2"/>
              </a:solidFill>
              <a:latin typeface="Arial" panose="020B0604020202020204" pitchFamily="34" charset="0"/>
              <a:ea typeface="Droid Sans" pitchFamily="34" charset="0"/>
              <a:cs typeface="Droid Sans" pitchFamily="34" charset="0"/>
            </a:endParaRPr>
          </a:p>
          <a:p>
            <a:endParaRPr lang="en-US" sz="2000" dirty="0">
              <a:solidFill>
                <a:srgbClr val="F3FFE2"/>
              </a:solidFill>
              <a:latin typeface="Arial" panose="020B0604020202020204" pitchFamily="34" charset="0"/>
              <a:ea typeface="Droid Sans" pitchFamily="34" charset="0"/>
              <a:cs typeface="Droid Sans" pitchFamily="34" charset="0"/>
            </a:endParaRPr>
          </a:p>
          <a:p>
            <a:endParaRPr lang="en-US" sz="2000" dirty="0">
              <a:solidFill>
                <a:srgbClr val="F3FFE2"/>
              </a:solidFill>
              <a:latin typeface="Arial" panose="020B0604020202020204" pitchFamily="34" charset="0"/>
              <a:ea typeface="Droid Sans" pitchFamily="34" charset="0"/>
              <a:cs typeface="Droid Sans" pitchFamily="34" charset="0"/>
            </a:endParaRPr>
          </a:p>
          <a:p>
            <a:endParaRPr lang="en-US" sz="2000" dirty="0">
              <a:solidFill>
                <a:srgbClr val="F3FFE2"/>
              </a:solidFill>
              <a:latin typeface="Arial" panose="020B0604020202020204" pitchFamily="34" charset="0"/>
              <a:ea typeface="Droid Sans" pitchFamily="34" charset="0"/>
              <a:cs typeface="Droid Sans" pitchFamily="34" charset="0"/>
            </a:endParaRPr>
          </a:p>
        </p:txBody>
      </p:sp>
      <p:sp>
        <p:nvSpPr>
          <p:cNvPr id="11" name="Rectangle 10"/>
          <p:cNvSpPr/>
          <p:nvPr/>
        </p:nvSpPr>
        <p:spPr>
          <a:xfrm>
            <a:off x="2867660" y="1717040"/>
            <a:ext cx="3270885" cy="2276475"/>
          </a:xfrm>
          <a:prstGeom prst="rect">
            <a:avLst/>
          </a:prstGeom>
        </p:spPr>
        <p:txBody>
          <a:bodyPr wrap="square">
            <a:spAutoFit/>
          </a:bodyPr>
          <a:lstStyle/>
          <a:p>
            <a:pPr>
              <a:spcBef>
                <a:spcPct val="0"/>
              </a:spcBef>
            </a:pPr>
            <a:r>
              <a:rPr lang="zh-CN" altLang="en-US" sz="1600" b="1" dirty="0">
                <a:solidFill>
                  <a:srgbClr val="062F3D"/>
                </a:solidFill>
                <a:latin typeface="方正静蕾简体" panose="02000000000000000000" pitchFamily="2" charset="-122"/>
                <a:ea typeface="方正静蕾简体" panose="02000000000000000000" pitchFamily="2" charset="-122"/>
                <a:sym typeface="+mn-ea"/>
              </a:rPr>
              <a:t>竞价高排名就一定会靠前？</a:t>
            </a:r>
            <a:endParaRPr lang="en-US" altLang="zh-CN" sz="1050" b="1" dirty="0">
              <a:solidFill>
                <a:srgbClr val="000000"/>
              </a:solidFill>
              <a:latin typeface="微软雅黑" panose="020B0503020204020204" charset="-122"/>
              <a:ea typeface="微软雅黑" panose="020B0503020204020204" charset="-122"/>
              <a:sym typeface="方正姚体" panose="02010601030101010101" pitchFamily="2" charset="-122"/>
            </a:endParaRPr>
          </a:p>
          <a:p>
            <a:pPr>
              <a:lnSpc>
                <a:spcPct val="150000"/>
              </a:lnSpc>
              <a:buSzPct val="150000"/>
            </a:pPr>
            <a:r>
              <a:rPr lang="en-US" altLang="zh-CN" sz="1200" dirty="0" smtClean="0">
                <a:solidFill>
                  <a:schemeClr val="tx1">
                    <a:lumMod val="75000"/>
                    <a:lumOff val="25000"/>
                  </a:schemeClr>
                </a:solidFill>
                <a:latin typeface="方正静蕾简体" panose="02000000000000000000" pitchFamily="2" charset="-122"/>
                <a:ea typeface="方正静蕾简体" panose="02000000000000000000" pitchFamily="2" charset="-122"/>
                <a:sym typeface="+mn-ea"/>
              </a:rPr>
              <a:t>1.</a:t>
            </a:r>
            <a:r>
              <a:rPr lang="zh-CN" altLang="en-US" sz="1200" dirty="0" smtClean="0">
                <a:solidFill>
                  <a:schemeClr val="tx1">
                    <a:lumMod val="75000"/>
                    <a:lumOff val="25000"/>
                  </a:schemeClr>
                </a:solidFill>
                <a:latin typeface="方正静蕾简体" panose="02000000000000000000" pitchFamily="2" charset="-122"/>
                <a:ea typeface="方正静蕾简体" panose="02000000000000000000" pitchFamily="2" charset="-122"/>
                <a:sym typeface="+mn-ea"/>
              </a:rPr>
              <a:t>店铺</a:t>
            </a:r>
            <a:r>
              <a:rPr lang="en-US" altLang="zh-CN" sz="1200" dirty="0" smtClean="0">
                <a:solidFill>
                  <a:schemeClr val="tx1">
                    <a:lumMod val="75000"/>
                    <a:lumOff val="25000"/>
                  </a:schemeClr>
                </a:solidFill>
                <a:latin typeface="方正静蕾简体" panose="02000000000000000000" pitchFamily="2" charset="-122"/>
                <a:ea typeface="方正静蕾简体" panose="02000000000000000000" pitchFamily="2" charset="-122"/>
                <a:sym typeface="+mn-ea"/>
              </a:rPr>
              <a:t>Performance</a:t>
            </a:r>
            <a:r>
              <a:rPr lang="zh-CN" altLang="en-US" sz="1200" dirty="0" smtClean="0">
                <a:solidFill>
                  <a:schemeClr val="tx1">
                    <a:lumMod val="75000"/>
                    <a:lumOff val="25000"/>
                  </a:schemeClr>
                </a:solidFill>
                <a:latin typeface="方正静蕾简体" panose="02000000000000000000" pitchFamily="2" charset="-122"/>
                <a:ea typeface="方正静蕾简体" panose="02000000000000000000" pitchFamily="2" charset="-122"/>
                <a:sym typeface="+mn-ea"/>
              </a:rPr>
              <a:t>，并非出价Bid越高，Listing就越有竞争力。</a:t>
            </a:r>
            <a:endParaRPr lang="zh-CN" altLang="en-US" sz="1200" dirty="0" smtClean="0">
              <a:solidFill>
                <a:schemeClr val="tx1">
                  <a:lumMod val="75000"/>
                  <a:lumOff val="25000"/>
                </a:schemeClr>
              </a:solidFill>
              <a:latin typeface="方正静蕾简体" panose="02000000000000000000" pitchFamily="2" charset="-122"/>
              <a:ea typeface="方正静蕾简体" panose="02000000000000000000" pitchFamily="2" charset="-122"/>
              <a:sym typeface="+mn-ea"/>
            </a:endParaRPr>
          </a:p>
          <a:p>
            <a:pPr>
              <a:lnSpc>
                <a:spcPct val="150000"/>
              </a:lnSpc>
              <a:buSzPct val="150000"/>
            </a:pPr>
            <a:r>
              <a:rPr lang="en-US" sz="1200" dirty="0">
                <a:solidFill>
                  <a:schemeClr val="tx1">
                    <a:lumMod val="75000"/>
                    <a:lumOff val="25000"/>
                  </a:schemeClr>
                </a:solidFill>
                <a:latin typeface="Arial" panose="020B0604020202020204" pitchFamily="34" charset="0"/>
                <a:ea typeface="Droid Sans" pitchFamily="34" charset="0"/>
                <a:cs typeface="Droid Sans" pitchFamily="34" charset="0"/>
              </a:rPr>
              <a:t>2.CPC广告的点击价格由第二名的出价+第一名与第二名之间差价的百分比+Listing的表现构成</a:t>
            </a:r>
            <a:endParaRPr lang="en-US" sz="1200" dirty="0">
              <a:solidFill>
                <a:schemeClr val="tx1">
                  <a:lumMod val="75000"/>
                  <a:lumOff val="25000"/>
                </a:schemeClr>
              </a:solidFill>
              <a:latin typeface="Arial" panose="020B0604020202020204" pitchFamily="34" charset="0"/>
              <a:ea typeface="Droid Sans" pitchFamily="34" charset="0"/>
              <a:cs typeface="Droid Sans" pitchFamily="34" charset="0"/>
            </a:endParaRPr>
          </a:p>
          <a:p>
            <a:pPr>
              <a:lnSpc>
                <a:spcPct val="150000"/>
              </a:lnSpc>
              <a:buSzPct val="150000"/>
            </a:pPr>
            <a:r>
              <a:rPr lang="en-US" sz="1200" dirty="0">
                <a:solidFill>
                  <a:schemeClr val="tx1">
                    <a:lumMod val="75000"/>
                    <a:lumOff val="25000"/>
                  </a:schemeClr>
                </a:solidFill>
                <a:latin typeface="Arial" panose="020B0604020202020204" pitchFamily="34" charset="0"/>
                <a:ea typeface="Droid Sans" pitchFamily="34" charset="0"/>
                <a:cs typeface="Droid Sans" pitchFamily="34" charset="0"/>
              </a:rPr>
              <a:t>3.转化率越高，表现获得的权重就越大，排位就越靠前</a:t>
            </a:r>
            <a:endParaRPr lang="en-US" sz="1200" dirty="0">
              <a:solidFill>
                <a:schemeClr val="tx1">
                  <a:lumMod val="75000"/>
                  <a:lumOff val="25000"/>
                </a:schemeClr>
              </a:solidFill>
              <a:latin typeface="Arial" panose="020B0604020202020204" pitchFamily="34" charset="0"/>
              <a:ea typeface="Droid Sans" pitchFamily="34" charset="0"/>
              <a:cs typeface="Droid Sans" pitchFamily="34" charset="0"/>
            </a:endParaRPr>
          </a:p>
        </p:txBody>
      </p:sp>
      <p:sp>
        <p:nvSpPr>
          <p:cNvPr id="12" name="TextBox 11"/>
          <p:cNvSpPr txBox="1"/>
          <p:nvPr/>
        </p:nvSpPr>
        <p:spPr>
          <a:xfrm>
            <a:off x="1304925" y="4193120"/>
            <a:ext cx="1368607" cy="1322070"/>
          </a:xfrm>
          <a:prstGeom prst="rect">
            <a:avLst/>
          </a:prstGeom>
          <a:solidFill>
            <a:schemeClr val="tx1">
              <a:lumMod val="95000"/>
              <a:lumOff val="5000"/>
            </a:schemeClr>
          </a:solidFill>
        </p:spPr>
        <p:txBody>
          <a:bodyPr wrap="square" rtlCol="0">
            <a:spAutoFit/>
          </a:bodyPr>
          <a:lstStyle/>
          <a:p>
            <a:endParaRPr lang="en-US" sz="2000" dirty="0">
              <a:solidFill>
                <a:srgbClr val="F3FFE2"/>
              </a:solidFill>
              <a:latin typeface="Arial" panose="020B0604020202020204" pitchFamily="34" charset="0"/>
              <a:ea typeface="Droid Sans" pitchFamily="34" charset="0"/>
              <a:cs typeface="Droid Sans" pitchFamily="34" charset="0"/>
            </a:endParaRPr>
          </a:p>
          <a:p>
            <a:endParaRPr lang="en-US" sz="2000" dirty="0">
              <a:solidFill>
                <a:srgbClr val="F3FFE2"/>
              </a:solidFill>
              <a:latin typeface="Arial" panose="020B0604020202020204" pitchFamily="34" charset="0"/>
              <a:ea typeface="Droid Sans" pitchFamily="34" charset="0"/>
              <a:cs typeface="Droid Sans" pitchFamily="34" charset="0"/>
            </a:endParaRPr>
          </a:p>
          <a:p>
            <a:endParaRPr lang="en-US" sz="2000" dirty="0">
              <a:solidFill>
                <a:srgbClr val="F3FFE2"/>
              </a:solidFill>
              <a:latin typeface="Arial" panose="020B0604020202020204" pitchFamily="34" charset="0"/>
              <a:ea typeface="Droid Sans" pitchFamily="34" charset="0"/>
              <a:cs typeface="Droid Sans" pitchFamily="34" charset="0"/>
            </a:endParaRPr>
          </a:p>
          <a:p>
            <a:endParaRPr lang="en-US" sz="2000" dirty="0">
              <a:solidFill>
                <a:srgbClr val="F3FFE2"/>
              </a:solidFill>
              <a:latin typeface="Arial" panose="020B0604020202020204" pitchFamily="34" charset="0"/>
              <a:ea typeface="Droid Sans" pitchFamily="34" charset="0"/>
              <a:cs typeface="Droid Sans" pitchFamily="34" charset="0"/>
            </a:endParaRPr>
          </a:p>
        </p:txBody>
      </p:sp>
      <p:sp>
        <p:nvSpPr>
          <p:cNvPr id="14" name="Rectangle 13"/>
          <p:cNvSpPr/>
          <p:nvPr/>
        </p:nvSpPr>
        <p:spPr>
          <a:xfrm>
            <a:off x="2867660" y="4392930"/>
            <a:ext cx="3762375" cy="1414780"/>
          </a:xfrm>
          <a:prstGeom prst="rect">
            <a:avLst/>
          </a:prstGeom>
        </p:spPr>
        <p:txBody>
          <a:bodyPr wrap="square">
            <a:spAutoFit/>
          </a:bodyPr>
          <a:lstStyle/>
          <a:p>
            <a:pPr>
              <a:spcBef>
                <a:spcPct val="0"/>
              </a:spcBef>
            </a:pPr>
            <a:r>
              <a:rPr lang="en-US" altLang="zh-CN" sz="1600" b="1" dirty="0">
                <a:solidFill>
                  <a:srgbClr val="062F3D"/>
                </a:solidFill>
                <a:latin typeface="方正静蕾简体" panose="02000000000000000000" pitchFamily="2" charset="-122"/>
                <a:ea typeface="方正静蕾简体" panose="02000000000000000000" pitchFamily="2" charset="-122"/>
                <a:sym typeface="+mn-ea"/>
              </a:rPr>
              <a:t>A</a:t>
            </a:r>
            <a:r>
              <a:rPr lang="zh-CN" altLang="en-US" sz="1600" b="1" dirty="0">
                <a:solidFill>
                  <a:srgbClr val="062F3D"/>
                </a:solidFill>
                <a:latin typeface="方正静蕾简体" panose="02000000000000000000" pitchFamily="2" charset="-122"/>
                <a:ea typeface="方正静蕾简体" panose="02000000000000000000" pitchFamily="2" charset="-122"/>
                <a:sym typeface="+mn-ea"/>
              </a:rPr>
              <a:t>utomatic自动付费广告让它一直自己跑？</a:t>
            </a:r>
            <a:endParaRPr lang="en-US" altLang="zh-CN" sz="1050" b="1" dirty="0">
              <a:solidFill>
                <a:srgbClr val="000000"/>
              </a:solidFill>
              <a:latin typeface="微软雅黑" panose="020B0503020204020204" charset="-122"/>
              <a:ea typeface="微软雅黑" panose="020B0503020204020204" charset="-122"/>
              <a:sym typeface="方正姚体" panose="02010601030101010101" pitchFamily="2" charset="-122"/>
            </a:endParaRPr>
          </a:p>
          <a:p>
            <a:pPr fontAlgn="auto">
              <a:lnSpc>
                <a:spcPct val="150000"/>
              </a:lnSpc>
              <a:spcBef>
                <a:spcPct val="0"/>
              </a:spcBef>
            </a:pPr>
            <a:r>
              <a:rPr lang="en-US" altLang="zh-CN" sz="1200" dirty="0" smtClean="0">
                <a:solidFill>
                  <a:schemeClr val="tx1">
                    <a:lumMod val="75000"/>
                    <a:lumOff val="25000"/>
                  </a:schemeClr>
                </a:solidFill>
                <a:latin typeface="方正静蕾简体" panose="02000000000000000000" pitchFamily="2" charset="-122"/>
                <a:ea typeface="方正静蕾简体" panose="02000000000000000000" pitchFamily="2" charset="-122"/>
                <a:sym typeface="+mn-ea"/>
              </a:rPr>
              <a:t>1.</a:t>
            </a:r>
            <a:r>
              <a:rPr lang="zh-CN" altLang="en-US" sz="1200" dirty="0" smtClean="0">
                <a:solidFill>
                  <a:schemeClr val="tx1">
                    <a:lumMod val="75000"/>
                    <a:lumOff val="25000"/>
                  </a:schemeClr>
                </a:solidFill>
                <a:latin typeface="方正静蕾简体" panose="02000000000000000000" pitchFamily="2" charset="-122"/>
                <a:ea typeface="方正静蕾简体" panose="02000000000000000000" pitchFamily="2" charset="-122"/>
                <a:sym typeface="+mn-ea"/>
              </a:rPr>
              <a:t>报表</a:t>
            </a:r>
            <a:endParaRPr lang="zh-CN" altLang="en-US" sz="1200" dirty="0" smtClean="0">
              <a:solidFill>
                <a:schemeClr val="tx1">
                  <a:lumMod val="75000"/>
                  <a:lumOff val="25000"/>
                </a:schemeClr>
              </a:solidFill>
              <a:latin typeface="方正静蕾简体" panose="02000000000000000000" pitchFamily="2" charset="-122"/>
              <a:ea typeface="方正静蕾简体" panose="02000000000000000000" pitchFamily="2" charset="-122"/>
              <a:sym typeface="+mn-ea"/>
            </a:endParaRPr>
          </a:p>
          <a:p>
            <a:pPr fontAlgn="auto">
              <a:lnSpc>
                <a:spcPct val="150000"/>
              </a:lnSpc>
              <a:spcBef>
                <a:spcPct val="0"/>
              </a:spcBef>
            </a:pP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2.</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一周查看两次数据</a:t>
            </a:r>
            <a:endPar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endParaRPr>
          </a:p>
          <a:p>
            <a:pPr fontAlgn="auto">
              <a:lnSpc>
                <a:spcPct val="150000"/>
              </a:lnSpc>
              <a:spcBef>
                <a:spcPct val="0"/>
              </a:spcBef>
            </a:pP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3.</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一周下载一次报表，关键词优化到手动广告与</a:t>
            </a: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ST</a:t>
            </a:r>
            <a:endPar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endParaRPr>
          </a:p>
        </p:txBody>
      </p:sp>
      <p:sp>
        <p:nvSpPr>
          <p:cNvPr id="22" name="TextBox 21"/>
          <p:cNvSpPr txBox="1"/>
          <p:nvPr/>
        </p:nvSpPr>
        <p:spPr>
          <a:xfrm>
            <a:off x="6629400" y="1563325"/>
            <a:ext cx="1368607" cy="1322070"/>
          </a:xfrm>
          <a:prstGeom prst="rect">
            <a:avLst/>
          </a:prstGeom>
          <a:solidFill>
            <a:schemeClr val="tx1">
              <a:lumMod val="75000"/>
              <a:lumOff val="25000"/>
            </a:schemeClr>
          </a:solidFill>
        </p:spPr>
        <p:txBody>
          <a:bodyPr wrap="square" rtlCol="0">
            <a:spAutoFit/>
          </a:bodyPr>
          <a:lstStyle/>
          <a:p>
            <a:endParaRPr lang="en-US" sz="2000" dirty="0">
              <a:solidFill>
                <a:srgbClr val="F3FFE2"/>
              </a:solidFill>
              <a:latin typeface="Arial" panose="020B0604020202020204" pitchFamily="34" charset="0"/>
              <a:ea typeface="Droid Sans" pitchFamily="34" charset="0"/>
              <a:cs typeface="Droid Sans" pitchFamily="34" charset="0"/>
            </a:endParaRPr>
          </a:p>
          <a:p>
            <a:endParaRPr lang="en-US" sz="2000" dirty="0">
              <a:solidFill>
                <a:srgbClr val="F3FFE2"/>
              </a:solidFill>
              <a:latin typeface="Arial" panose="020B0604020202020204" pitchFamily="34" charset="0"/>
              <a:ea typeface="Droid Sans" pitchFamily="34" charset="0"/>
              <a:cs typeface="Droid Sans" pitchFamily="34" charset="0"/>
            </a:endParaRPr>
          </a:p>
          <a:p>
            <a:endParaRPr lang="en-US" sz="2000" dirty="0">
              <a:solidFill>
                <a:srgbClr val="F3FFE2"/>
              </a:solidFill>
              <a:latin typeface="Arial" panose="020B0604020202020204" pitchFamily="34" charset="0"/>
              <a:ea typeface="Droid Sans" pitchFamily="34" charset="0"/>
              <a:cs typeface="Droid Sans" pitchFamily="34" charset="0"/>
            </a:endParaRPr>
          </a:p>
          <a:p>
            <a:endParaRPr lang="en-US" sz="2000" dirty="0">
              <a:solidFill>
                <a:srgbClr val="F3FFE2"/>
              </a:solidFill>
              <a:latin typeface="Arial" panose="020B0604020202020204" pitchFamily="34" charset="0"/>
              <a:ea typeface="Droid Sans" pitchFamily="34" charset="0"/>
              <a:cs typeface="Droid Sans" pitchFamily="34" charset="0"/>
            </a:endParaRPr>
          </a:p>
        </p:txBody>
      </p:sp>
      <p:sp>
        <p:nvSpPr>
          <p:cNvPr id="24" name="Rectangle 23"/>
          <p:cNvSpPr/>
          <p:nvPr/>
        </p:nvSpPr>
        <p:spPr>
          <a:xfrm>
            <a:off x="8192135" y="1717040"/>
            <a:ext cx="3765550" cy="2830195"/>
          </a:xfrm>
          <a:prstGeom prst="rect">
            <a:avLst/>
          </a:prstGeom>
        </p:spPr>
        <p:txBody>
          <a:bodyPr wrap="square">
            <a:spAutoFit/>
          </a:bodyPr>
          <a:lstStyle/>
          <a:p>
            <a:pPr>
              <a:spcBef>
                <a:spcPct val="0"/>
              </a:spcBef>
            </a:pPr>
            <a:r>
              <a:rPr lang="zh-CN" altLang="en-US" sz="1600" b="1" dirty="0">
                <a:solidFill>
                  <a:srgbClr val="062F3D"/>
                </a:solidFill>
                <a:latin typeface="方正静蕾简体" panose="02000000000000000000" pitchFamily="2" charset="-122"/>
                <a:ea typeface="方正静蕾简体" panose="02000000000000000000" pitchFamily="2" charset="-122"/>
                <a:sym typeface="+mn-ea"/>
              </a:rPr>
              <a:t>广告打得好就等于能爆单？</a:t>
            </a:r>
            <a:endParaRPr lang="zh-CN" altLang="en-US" sz="1600" b="1" dirty="0">
              <a:solidFill>
                <a:srgbClr val="062F3D"/>
              </a:solidFill>
              <a:latin typeface="方正静蕾简体" panose="02000000000000000000" pitchFamily="2" charset="-122"/>
              <a:ea typeface="方正静蕾简体" panose="02000000000000000000" pitchFamily="2" charset="-122"/>
              <a:sym typeface="+mn-ea"/>
            </a:endParaRPr>
          </a:p>
          <a:p>
            <a:pPr fontAlgn="auto">
              <a:lnSpc>
                <a:spcPct val="150000"/>
              </a:lnSpc>
              <a:spcBef>
                <a:spcPct val="0"/>
              </a:spcBef>
            </a:pP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1.CPC</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前期只是辅助</a:t>
            </a: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Listing</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增加流量，测试产品有市场</a:t>
            </a:r>
            <a:endPar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endParaRPr>
          </a:p>
          <a:p>
            <a:pPr fontAlgn="auto">
              <a:lnSpc>
                <a:spcPct val="150000"/>
              </a:lnSpc>
              <a:spcBef>
                <a:spcPct val="0"/>
              </a:spcBef>
            </a:pP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2.CPC</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可以带来</a:t>
            </a: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40%</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的出单，但是</a:t>
            </a: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ACOS</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不能低于</a:t>
            </a: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10%</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基本上都是不赚钱，后期主要还是以自然订单为目标才能达到赚钱目的，并非一味的烧钱打广告</a:t>
            </a:r>
            <a:endPar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endParaRPr>
          </a:p>
          <a:p>
            <a:pPr fontAlgn="auto">
              <a:lnSpc>
                <a:spcPct val="150000"/>
              </a:lnSpc>
              <a:spcBef>
                <a:spcPct val="0"/>
              </a:spcBef>
            </a:pP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3.</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前期做</a:t>
            </a: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Listing</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状态，后期维护</a:t>
            </a: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Listing</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状态，产品质量优化，质量才是爆款王道，并非一味的调整广告数据</a:t>
            </a:r>
            <a:endPar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endParaRPr>
          </a:p>
          <a:p>
            <a:pPr>
              <a:lnSpc>
                <a:spcPct val="150000"/>
              </a:lnSpc>
              <a:buSzPct val="150000"/>
            </a:pPr>
            <a:r>
              <a:rPr lang="en-US" sz="1200" dirty="0">
                <a:solidFill>
                  <a:srgbClr val="FFFFFF">
                    <a:lumMod val="50000"/>
                  </a:srgbClr>
                </a:solidFill>
                <a:latin typeface="Arial" panose="020B0604020202020204" pitchFamily="34" charset="0"/>
                <a:ea typeface="Droid Sans" pitchFamily="34" charset="0"/>
                <a:cs typeface="Droid Sans" pitchFamily="34" charset="0"/>
              </a:rPr>
              <a:t>.</a:t>
            </a:r>
            <a:endParaRPr lang="en-US" sz="1200" dirty="0">
              <a:solidFill>
                <a:srgbClr val="FFFFFF">
                  <a:lumMod val="50000"/>
                </a:srgbClr>
              </a:solidFill>
              <a:latin typeface="Arial" panose="020B0604020202020204" pitchFamily="34" charset="0"/>
              <a:ea typeface="Droid Sans" pitchFamily="34" charset="0"/>
              <a:cs typeface="Droid Sans" pitchFamily="34" charset="0"/>
            </a:endParaRPr>
          </a:p>
        </p:txBody>
      </p:sp>
      <p:sp>
        <p:nvSpPr>
          <p:cNvPr id="25" name="TextBox 24"/>
          <p:cNvSpPr txBox="1"/>
          <p:nvPr/>
        </p:nvSpPr>
        <p:spPr>
          <a:xfrm>
            <a:off x="6629399" y="4193119"/>
            <a:ext cx="1368607" cy="1322070"/>
          </a:xfrm>
          <a:prstGeom prst="rect">
            <a:avLst/>
          </a:prstGeom>
          <a:solidFill>
            <a:schemeClr val="tx1">
              <a:lumMod val="95000"/>
              <a:lumOff val="5000"/>
            </a:schemeClr>
          </a:solidFill>
        </p:spPr>
        <p:txBody>
          <a:bodyPr wrap="square" rtlCol="0">
            <a:spAutoFit/>
          </a:bodyPr>
          <a:lstStyle/>
          <a:p>
            <a:endParaRPr lang="en-US" sz="2000" dirty="0">
              <a:solidFill>
                <a:srgbClr val="F3FFE2"/>
              </a:solidFill>
              <a:latin typeface="Arial" panose="020B0604020202020204" pitchFamily="34" charset="0"/>
              <a:ea typeface="Droid Sans" pitchFamily="34" charset="0"/>
              <a:cs typeface="Droid Sans" pitchFamily="34" charset="0"/>
            </a:endParaRPr>
          </a:p>
          <a:p>
            <a:endParaRPr lang="en-US" sz="2000" dirty="0">
              <a:solidFill>
                <a:srgbClr val="F3FFE2"/>
              </a:solidFill>
              <a:latin typeface="Arial" panose="020B0604020202020204" pitchFamily="34" charset="0"/>
              <a:ea typeface="Droid Sans" pitchFamily="34" charset="0"/>
              <a:cs typeface="Droid Sans" pitchFamily="34" charset="0"/>
            </a:endParaRPr>
          </a:p>
          <a:p>
            <a:endParaRPr lang="en-US" sz="2000" dirty="0">
              <a:solidFill>
                <a:srgbClr val="F3FFE2"/>
              </a:solidFill>
              <a:latin typeface="Arial" panose="020B0604020202020204" pitchFamily="34" charset="0"/>
              <a:ea typeface="Droid Sans" pitchFamily="34" charset="0"/>
              <a:cs typeface="Droid Sans" pitchFamily="34" charset="0"/>
            </a:endParaRPr>
          </a:p>
          <a:p>
            <a:endParaRPr lang="en-US" sz="2000" dirty="0">
              <a:solidFill>
                <a:srgbClr val="F3FFE2"/>
              </a:solidFill>
              <a:latin typeface="Arial" panose="020B0604020202020204" pitchFamily="34" charset="0"/>
              <a:ea typeface="Droid Sans" pitchFamily="34" charset="0"/>
              <a:cs typeface="Droid Sans" pitchFamily="34" charset="0"/>
            </a:endParaRPr>
          </a:p>
        </p:txBody>
      </p:sp>
      <p:sp>
        <p:nvSpPr>
          <p:cNvPr id="27" name="Rectangle 26"/>
          <p:cNvSpPr/>
          <p:nvPr/>
        </p:nvSpPr>
        <p:spPr>
          <a:xfrm>
            <a:off x="8192135" y="4392930"/>
            <a:ext cx="3765550" cy="1722120"/>
          </a:xfrm>
          <a:prstGeom prst="rect">
            <a:avLst/>
          </a:prstGeom>
        </p:spPr>
        <p:txBody>
          <a:bodyPr wrap="square">
            <a:spAutoFit/>
          </a:bodyPr>
          <a:lstStyle/>
          <a:p>
            <a:pPr>
              <a:spcBef>
                <a:spcPct val="0"/>
              </a:spcBef>
            </a:pPr>
            <a:r>
              <a:rPr lang="en-US" altLang="zh-CN" sz="1600" b="1" dirty="0">
                <a:solidFill>
                  <a:srgbClr val="062F3D"/>
                </a:solidFill>
                <a:latin typeface="方正静蕾简体" panose="02000000000000000000" pitchFamily="2" charset="-122"/>
                <a:ea typeface="方正静蕾简体" panose="02000000000000000000" pitchFamily="2" charset="-122"/>
                <a:sym typeface="+mn-ea"/>
              </a:rPr>
              <a:t>Acos</a:t>
            </a:r>
            <a:r>
              <a:rPr lang="zh-CN" altLang="en-US" sz="1600" b="1" dirty="0">
                <a:solidFill>
                  <a:srgbClr val="062F3D"/>
                </a:solidFill>
                <a:latin typeface="方正静蕾简体" panose="02000000000000000000" pitchFamily="2" charset="-122"/>
                <a:ea typeface="方正静蕾简体" panose="02000000000000000000" pitchFamily="2" charset="-122"/>
                <a:sym typeface="+mn-ea"/>
              </a:rPr>
              <a:t>连续一周</a:t>
            </a:r>
            <a:r>
              <a:rPr lang="en-US" altLang="zh-CN" sz="1600" b="1" dirty="0">
                <a:solidFill>
                  <a:srgbClr val="062F3D"/>
                </a:solidFill>
                <a:latin typeface="方正静蕾简体" panose="02000000000000000000" pitchFamily="2" charset="-122"/>
                <a:ea typeface="方正静蕾简体" panose="02000000000000000000" pitchFamily="2" charset="-122"/>
                <a:sym typeface="+mn-ea"/>
              </a:rPr>
              <a:t>90%</a:t>
            </a:r>
            <a:r>
              <a:rPr lang="zh-CN" altLang="en-US" sz="1600" b="1" dirty="0">
                <a:solidFill>
                  <a:srgbClr val="062F3D"/>
                </a:solidFill>
                <a:latin typeface="方正静蕾简体" panose="02000000000000000000" pitchFamily="2" charset="-122"/>
                <a:ea typeface="方正静蕾简体" panose="02000000000000000000" pitchFamily="2" charset="-122"/>
                <a:sym typeface="+mn-ea"/>
              </a:rPr>
              <a:t>要暂停？</a:t>
            </a:r>
            <a:endParaRPr lang="en-US" altLang="zh-CN" sz="1050" b="1" dirty="0">
              <a:solidFill>
                <a:srgbClr val="000000"/>
              </a:solidFill>
              <a:latin typeface="微软雅黑" panose="020B0503020204020204" charset="-122"/>
              <a:ea typeface="微软雅黑" panose="020B0503020204020204" charset="-122"/>
              <a:sym typeface="方正姚体" panose="02010601030101010101" pitchFamily="2" charset="-122"/>
            </a:endParaRPr>
          </a:p>
          <a:p>
            <a:pPr fontAlgn="auto">
              <a:lnSpc>
                <a:spcPct val="150000"/>
              </a:lnSpc>
              <a:spcBef>
                <a:spcPct val="0"/>
              </a:spcBef>
            </a:pP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1.</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首先要找原因</a:t>
            </a: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主图不够吸引，价格太高，功能描述不清晰</a:t>
            </a: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a:t>
            </a:r>
            <a:endPar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endParaRPr>
          </a:p>
          <a:p>
            <a:pPr fontAlgn="auto">
              <a:lnSpc>
                <a:spcPct val="150000"/>
              </a:lnSpc>
              <a:spcBef>
                <a:spcPct val="0"/>
              </a:spcBef>
            </a:pP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2.</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找到解决方案</a:t>
            </a:r>
            <a:endPar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endParaRPr>
          </a:p>
          <a:p>
            <a:pPr fontAlgn="auto">
              <a:lnSpc>
                <a:spcPct val="150000"/>
              </a:lnSpc>
              <a:spcBef>
                <a:spcPct val="0"/>
              </a:spcBef>
            </a:pP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3.</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进行调整，</a:t>
            </a: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ACOS</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一个月要控制下来</a:t>
            </a: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20%</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，两个月</a:t>
            </a:r>
            <a:r>
              <a:rPr lang="en-US" altLang="zh-CN"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10%</a:t>
            </a:r>
            <a:r>
              <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rPr>
              <a:t>，连续超标要考虑重新打广告还是放弃打广告</a:t>
            </a:r>
            <a:endParaRPr lang="zh-CN" altLang="en-US" sz="1200" dirty="0">
              <a:solidFill>
                <a:schemeClr val="tx1">
                  <a:lumMod val="75000"/>
                  <a:lumOff val="25000"/>
                </a:schemeClr>
              </a:solidFill>
              <a:latin typeface="微软雅黑" panose="020B0503020204020204" charset="-122"/>
              <a:ea typeface="微软雅黑" panose="020B0503020204020204" charset="-122"/>
              <a:sym typeface="方正姚体" panose="02010601030101010101" pitchFamily="2" charset="-122"/>
            </a:endParaRPr>
          </a:p>
        </p:txBody>
      </p:sp>
      <p:sp>
        <p:nvSpPr>
          <p:cNvPr id="2" name="矩形 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535" name="Freeform 30"/>
          <p:cNvSpPr>
            <a:spLocks noEditPoints="1"/>
          </p:cNvSpPr>
          <p:nvPr/>
        </p:nvSpPr>
        <p:spPr bwMode="auto">
          <a:xfrm>
            <a:off x="1821283" y="2062101"/>
            <a:ext cx="335491" cy="324806"/>
          </a:xfrm>
          <a:custGeom>
            <a:avLst/>
            <a:gdLst>
              <a:gd name="T0" fmla="*/ 10 w 31"/>
              <a:gd name="T1" fmla="*/ 19 h 30"/>
              <a:gd name="T2" fmla="*/ 11 w 31"/>
              <a:gd name="T3" fmla="*/ 0 h 30"/>
              <a:gd name="T4" fmla="*/ 28 w 31"/>
              <a:gd name="T5" fmla="*/ 8 h 30"/>
              <a:gd name="T6" fmla="*/ 26 w 31"/>
              <a:gd name="T7" fmla="*/ 27 h 30"/>
              <a:gd name="T8" fmla="*/ 23 w 31"/>
              <a:gd name="T9" fmla="*/ 25 h 30"/>
              <a:gd name="T10" fmla="*/ 22 w 31"/>
              <a:gd name="T11" fmla="*/ 21 h 30"/>
              <a:gd name="T12" fmla="*/ 29 w 31"/>
              <a:gd name="T13" fmla="*/ 9 h 30"/>
              <a:gd name="T14" fmla="*/ 22 w 31"/>
              <a:gd name="T15" fmla="*/ 24 h 30"/>
              <a:gd name="T16" fmla="*/ 21 w 31"/>
              <a:gd name="T17" fmla="*/ 22 h 30"/>
              <a:gd name="T18" fmla="*/ 28 w 31"/>
              <a:gd name="T19" fmla="*/ 10 h 30"/>
              <a:gd name="T20" fmla="*/ 24 w 31"/>
              <a:gd name="T21" fmla="*/ 14 h 30"/>
              <a:gd name="T22" fmla="*/ 21 w 31"/>
              <a:gd name="T23" fmla="*/ 18 h 30"/>
              <a:gd name="T24" fmla="*/ 24 w 31"/>
              <a:gd name="T25" fmla="*/ 14 h 30"/>
              <a:gd name="T26" fmla="*/ 20 w 31"/>
              <a:gd name="T27" fmla="*/ 19 h 30"/>
              <a:gd name="T28" fmla="*/ 19 w 31"/>
              <a:gd name="T29" fmla="*/ 20 h 30"/>
              <a:gd name="T30" fmla="*/ 22 w 31"/>
              <a:gd name="T31" fmla="*/ 14 h 30"/>
              <a:gd name="T32" fmla="*/ 23 w 31"/>
              <a:gd name="T33" fmla="*/ 10 h 30"/>
              <a:gd name="T34" fmla="*/ 17 w 31"/>
              <a:gd name="T35" fmla="*/ 22 h 30"/>
              <a:gd name="T36" fmla="*/ 20 w 31"/>
              <a:gd name="T37" fmla="*/ 16 h 30"/>
              <a:gd name="T38" fmla="*/ 16 w 31"/>
              <a:gd name="T39" fmla="*/ 19 h 30"/>
              <a:gd name="T40" fmla="*/ 19 w 31"/>
              <a:gd name="T41" fmla="*/ 12 h 30"/>
              <a:gd name="T42" fmla="*/ 17 w 31"/>
              <a:gd name="T43" fmla="*/ 18 h 30"/>
              <a:gd name="T44" fmla="*/ 21 w 31"/>
              <a:gd name="T45" fmla="*/ 11 h 30"/>
              <a:gd name="T46" fmla="*/ 21 w 31"/>
              <a:gd name="T47" fmla="*/ 10 h 30"/>
              <a:gd name="T48" fmla="*/ 15 w 31"/>
              <a:gd name="T49" fmla="*/ 23 h 30"/>
              <a:gd name="T50" fmla="*/ 16 w 31"/>
              <a:gd name="T51" fmla="*/ 20 h 30"/>
              <a:gd name="T52" fmla="*/ 15 w 31"/>
              <a:gd name="T53" fmla="*/ 13 h 30"/>
              <a:gd name="T54" fmla="*/ 11 w 31"/>
              <a:gd name="T55" fmla="*/ 28 h 30"/>
              <a:gd name="T56" fmla="*/ 17 w 31"/>
              <a:gd name="T57" fmla="*/ 13 h 30"/>
              <a:gd name="T58" fmla="*/ 17 w 31"/>
              <a:gd name="T59" fmla="*/ 17 h 30"/>
              <a:gd name="T60" fmla="*/ 14 w 31"/>
              <a:gd name="T61" fmla="*/ 23 h 30"/>
              <a:gd name="T62" fmla="*/ 19 w 31"/>
              <a:gd name="T63" fmla="*/ 11 h 30"/>
              <a:gd name="T64" fmla="*/ 12 w 31"/>
              <a:gd name="T65" fmla="*/ 26 h 30"/>
              <a:gd name="T66" fmla="*/ 11 w 31"/>
              <a:gd name="T67" fmla="*/ 27 h 30"/>
              <a:gd name="T68" fmla="*/ 11 w 31"/>
              <a:gd name="T69" fmla="*/ 23 h 30"/>
              <a:gd name="T70" fmla="*/ 12 w 31"/>
              <a:gd name="T71" fmla="*/ 20 h 30"/>
              <a:gd name="T72" fmla="*/ 17 w 31"/>
              <a:gd name="T73" fmla="*/ 10 h 30"/>
              <a:gd name="T74" fmla="*/ 11 w 31"/>
              <a:gd name="T75" fmla="*/ 13 h 30"/>
              <a:gd name="T76" fmla="*/ 15 w 31"/>
              <a:gd name="T77" fmla="*/ 8 h 30"/>
              <a:gd name="T78" fmla="*/ 11 w 31"/>
              <a:gd name="T79" fmla="*/ 16 h 30"/>
              <a:gd name="T80" fmla="*/ 11 w 31"/>
              <a:gd name="T81" fmla="*/ 15 h 30"/>
              <a:gd name="T82" fmla="*/ 11 w 31"/>
              <a:gd name="T83" fmla="*/ 11 h 30"/>
              <a:gd name="T84" fmla="*/ 10 w 31"/>
              <a:gd name="T85" fmla="*/ 18 h 30"/>
              <a:gd name="T86" fmla="*/ 14 w 31"/>
              <a:gd name="T87" fmla="*/ 9 h 30"/>
              <a:gd name="T88" fmla="*/ 11 w 31"/>
              <a:gd name="T89" fmla="*/ 12 h 30"/>
              <a:gd name="T90" fmla="*/ 12 w 31"/>
              <a:gd name="T91" fmla="*/ 7 h 30"/>
              <a:gd name="T92" fmla="*/ 12 w 31"/>
              <a:gd name="T93" fmla="*/ 4 h 30"/>
              <a:gd name="T94" fmla="*/ 10 w 31"/>
              <a:gd name="T95" fmla="*/ 14 h 30"/>
              <a:gd name="T96" fmla="*/ 10 w 31"/>
              <a:gd name="T97" fmla="*/ 15 h 30"/>
              <a:gd name="T98" fmla="*/ 10 w 31"/>
              <a:gd name="T99" fmla="*/ 12 h 30"/>
              <a:gd name="T100" fmla="*/ 12 w 31"/>
              <a:gd name="T101" fmla="*/ 7 h 30"/>
              <a:gd name="T102" fmla="*/ 9 w 31"/>
              <a:gd name="T103" fmla="*/ 11 h 30"/>
              <a:gd name="T104" fmla="*/ 5 w 31"/>
              <a:gd name="T105" fmla="*/ 11 h 30"/>
              <a:gd name="T106" fmla="*/ 12 w 31"/>
              <a:gd name="T107" fmla="*/ 2 h 30"/>
              <a:gd name="T108" fmla="*/ 1 w 31"/>
              <a:gd name="T109"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 h="30">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rgbClr val="FACD06"/>
          </a:solidFill>
          <a:ln>
            <a:noFill/>
          </a:ln>
        </p:spPr>
        <p:txBody>
          <a:bodyPr vert="horz" wrap="square" lIns="91440" tIns="45720" rIns="91440" bIns="45720" numCol="1" anchor="t" anchorCtr="0" compatLnSpc="1"/>
          <a:p>
            <a:endParaRPr lang="zh-CN" altLang="en-US" sz="1600">
              <a:solidFill>
                <a:srgbClr val="062F3D"/>
              </a:solidFill>
            </a:endParaRPr>
          </a:p>
        </p:txBody>
      </p:sp>
      <p:sp>
        <p:nvSpPr>
          <p:cNvPr id="3" name="Freeform 30"/>
          <p:cNvSpPr>
            <a:spLocks noEditPoints="1"/>
          </p:cNvSpPr>
          <p:nvPr/>
        </p:nvSpPr>
        <p:spPr bwMode="auto">
          <a:xfrm>
            <a:off x="7146393" y="4691636"/>
            <a:ext cx="335491" cy="324806"/>
          </a:xfrm>
          <a:custGeom>
            <a:avLst/>
            <a:gdLst>
              <a:gd name="T0" fmla="*/ 10 w 31"/>
              <a:gd name="T1" fmla="*/ 19 h 30"/>
              <a:gd name="T2" fmla="*/ 11 w 31"/>
              <a:gd name="T3" fmla="*/ 0 h 30"/>
              <a:gd name="T4" fmla="*/ 28 w 31"/>
              <a:gd name="T5" fmla="*/ 8 h 30"/>
              <a:gd name="T6" fmla="*/ 26 w 31"/>
              <a:gd name="T7" fmla="*/ 27 h 30"/>
              <a:gd name="T8" fmla="*/ 23 w 31"/>
              <a:gd name="T9" fmla="*/ 25 h 30"/>
              <a:gd name="T10" fmla="*/ 22 w 31"/>
              <a:gd name="T11" fmla="*/ 21 h 30"/>
              <a:gd name="T12" fmla="*/ 29 w 31"/>
              <a:gd name="T13" fmla="*/ 9 h 30"/>
              <a:gd name="T14" fmla="*/ 22 w 31"/>
              <a:gd name="T15" fmla="*/ 24 h 30"/>
              <a:gd name="T16" fmla="*/ 21 w 31"/>
              <a:gd name="T17" fmla="*/ 22 h 30"/>
              <a:gd name="T18" fmla="*/ 28 w 31"/>
              <a:gd name="T19" fmla="*/ 10 h 30"/>
              <a:gd name="T20" fmla="*/ 24 w 31"/>
              <a:gd name="T21" fmla="*/ 14 h 30"/>
              <a:gd name="T22" fmla="*/ 21 w 31"/>
              <a:gd name="T23" fmla="*/ 18 h 30"/>
              <a:gd name="T24" fmla="*/ 24 w 31"/>
              <a:gd name="T25" fmla="*/ 14 h 30"/>
              <a:gd name="T26" fmla="*/ 20 w 31"/>
              <a:gd name="T27" fmla="*/ 19 h 30"/>
              <a:gd name="T28" fmla="*/ 19 w 31"/>
              <a:gd name="T29" fmla="*/ 20 h 30"/>
              <a:gd name="T30" fmla="*/ 22 w 31"/>
              <a:gd name="T31" fmla="*/ 14 h 30"/>
              <a:gd name="T32" fmla="*/ 23 w 31"/>
              <a:gd name="T33" fmla="*/ 10 h 30"/>
              <a:gd name="T34" fmla="*/ 17 w 31"/>
              <a:gd name="T35" fmla="*/ 22 h 30"/>
              <a:gd name="T36" fmla="*/ 20 w 31"/>
              <a:gd name="T37" fmla="*/ 16 h 30"/>
              <a:gd name="T38" fmla="*/ 16 w 31"/>
              <a:gd name="T39" fmla="*/ 19 h 30"/>
              <a:gd name="T40" fmla="*/ 19 w 31"/>
              <a:gd name="T41" fmla="*/ 12 h 30"/>
              <a:gd name="T42" fmla="*/ 17 w 31"/>
              <a:gd name="T43" fmla="*/ 18 h 30"/>
              <a:gd name="T44" fmla="*/ 21 w 31"/>
              <a:gd name="T45" fmla="*/ 11 h 30"/>
              <a:gd name="T46" fmla="*/ 21 w 31"/>
              <a:gd name="T47" fmla="*/ 10 h 30"/>
              <a:gd name="T48" fmla="*/ 15 w 31"/>
              <a:gd name="T49" fmla="*/ 23 h 30"/>
              <a:gd name="T50" fmla="*/ 16 w 31"/>
              <a:gd name="T51" fmla="*/ 20 h 30"/>
              <a:gd name="T52" fmla="*/ 15 w 31"/>
              <a:gd name="T53" fmla="*/ 13 h 30"/>
              <a:gd name="T54" fmla="*/ 11 w 31"/>
              <a:gd name="T55" fmla="*/ 28 h 30"/>
              <a:gd name="T56" fmla="*/ 17 w 31"/>
              <a:gd name="T57" fmla="*/ 13 h 30"/>
              <a:gd name="T58" fmla="*/ 17 w 31"/>
              <a:gd name="T59" fmla="*/ 17 h 30"/>
              <a:gd name="T60" fmla="*/ 14 w 31"/>
              <a:gd name="T61" fmla="*/ 23 h 30"/>
              <a:gd name="T62" fmla="*/ 19 w 31"/>
              <a:gd name="T63" fmla="*/ 11 h 30"/>
              <a:gd name="T64" fmla="*/ 12 w 31"/>
              <a:gd name="T65" fmla="*/ 26 h 30"/>
              <a:gd name="T66" fmla="*/ 11 w 31"/>
              <a:gd name="T67" fmla="*/ 27 h 30"/>
              <a:gd name="T68" fmla="*/ 11 w 31"/>
              <a:gd name="T69" fmla="*/ 23 h 30"/>
              <a:gd name="T70" fmla="*/ 12 w 31"/>
              <a:gd name="T71" fmla="*/ 20 h 30"/>
              <a:gd name="T72" fmla="*/ 17 w 31"/>
              <a:gd name="T73" fmla="*/ 10 h 30"/>
              <a:gd name="T74" fmla="*/ 11 w 31"/>
              <a:gd name="T75" fmla="*/ 13 h 30"/>
              <a:gd name="T76" fmla="*/ 15 w 31"/>
              <a:gd name="T77" fmla="*/ 8 h 30"/>
              <a:gd name="T78" fmla="*/ 11 w 31"/>
              <a:gd name="T79" fmla="*/ 16 h 30"/>
              <a:gd name="T80" fmla="*/ 11 w 31"/>
              <a:gd name="T81" fmla="*/ 15 h 30"/>
              <a:gd name="T82" fmla="*/ 11 w 31"/>
              <a:gd name="T83" fmla="*/ 11 h 30"/>
              <a:gd name="T84" fmla="*/ 10 w 31"/>
              <a:gd name="T85" fmla="*/ 18 h 30"/>
              <a:gd name="T86" fmla="*/ 14 w 31"/>
              <a:gd name="T87" fmla="*/ 9 h 30"/>
              <a:gd name="T88" fmla="*/ 11 w 31"/>
              <a:gd name="T89" fmla="*/ 12 h 30"/>
              <a:gd name="T90" fmla="*/ 12 w 31"/>
              <a:gd name="T91" fmla="*/ 7 h 30"/>
              <a:gd name="T92" fmla="*/ 12 w 31"/>
              <a:gd name="T93" fmla="*/ 4 h 30"/>
              <a:gd name="T94" fmla="*/ 10 w 31"/>
              <a:gd name="T95" fmla="*/ 14 h 30"/>
              <a:gd name="T96" fmla="*/ 10 w 31"/>
              <a:gd name="T97" fmla="*/ 15 h 30"/>
              <a:gd name="T98" fmla="*/ 10 w 31"/>
              <a:gd name="T99" fmla="*/ 12 h 30"/>
              <a:gd name="T100" fmla="*/ 12 w 31"/>
              <a:gd name="T101" fmla="*/ 7 h 30"/>
              <a:gd name="T102" fmla="*/ 9 w 31"/>
              <a:gd name="T103" fmla="*/ 11 h 30"/>
              <a:gd name="T104" fmla="*/ 5 w 31"/>
              <a:gd name="T105" fmla="*/ 11 h 30"/>
              <a:gd name="T106" fmla="*/ 12 w 31"/>
              <a:gd name="T107" fmla="*/ 2 h 30"/>
              <a:gd name="T108" fmla="*/ 1 w 31"/>
              <a:gd name="T109"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 h="30">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rgbClr val="FACD06"/>
          </a:solidFill>
          <a:ln>
            <a:noFill/>
          </a:ln>
        </p:spPr>
        <p:txBody>
          <a:bodyPr vert="horz" wrap="square" lIns="91440" tIns="45720" rIns="91440" bIns="45720" numCol="1" anchor="t" anchorCtr="0" compatLnSpc="1"/>
          <a:p>
            <a:endParaRPr lang="zh-CN" altLang="en-US" sz="1600">
              <a:solidFill>
                <a:srgbClr val="062F3D"/>
              </a:solidFill>
            </a:endParaRPr>
          </a:p>
        </p:txBody>
      </p:sp>
      <p:sp>
        <p:nvSpPr>
          <p:cNvPr id="4" name="Freeform 30"/>
          <p:cNvSpPr>
            <a:spLocks noEditPoints="1"/>
          </p:cNvSpPr>
          <p:nvPr/>
        </p:nvSpPr>
        <p:spPr bwMode="auto">
          <a:xfrm>
            <a:off x="1821283" y="4692271"/>
            <a:ext cx="335491" cy="324806"/>
          </a:xfrm>
          <a:custGeom>
            <a:avLst/>
            <a:gdLst>
              <a:gd name="T0" fmla="*/ 10 w 31"/>
              <a:gd name="T1" fmla="*/ 19 h 30"/>
              <a:gd name="T2" fmla="*/ 11 w 31"/>
              <a:gd name="T3" fmla="*/ 0 h 30"/>
              <a:gd name="T4" fmla="*/ 28 w 31"/>
              <a:gd name="T5" fmla="*/ 8 h 30"/>
              <a:gd name="T6" fmla="*/ 26 w 31"/>
              <a:gd name="T7" fmla="*/ 27 h 30"/>
              <a:gd name="T8" fmla="*/ 23 w 31"/>
              <a:gd name="T9" fmla="*/ 25 h 30"/>
              <a:gd name="T10" fmla="*/ 22 w 31"/>
              <a:gd name="T11" fmla="*/ 21 h 30"/>
              <a:gd name="T12" fmla="*/ 29 w 31"/>
              <a:gd name="T13" fmla="*/ 9 h 30"/>
              <a:gd name="T14" fmla="*/ 22 w 31"/>
              <a:gd name="T15" fmla="*/ 24 h 30"/>
              <a:gd name="T16" fmla="*/ 21 w 31"/>
              <a:gd name="T17" fmla="*/ 22 h 30"/>
              <a:gd name="T18" fmla="*/ 28 w 31"/>
              <a:gd name="T19" fmla="*/ 10 h 30"/>
              <a:gd name="T20" fmla="*/ 24 w 31"/>
              <a:gd name="T21" fmla="*/ 14 h 30"/>
              <a:gd name="T22" fmla="*/ 21 w 31"/>
              <a:gd name="T23" fmla="*/ 18 h 30"/>
              <a:gd name="T24" fmla="*/ 24 w 31"/>
              <a:gd name="T25" fmla="*/ 14 h 30"/>
              <a:gd name="T26" fmla="*/ 20 w 31"/>
              <a:gd name="T27" fmla="*/ 19 h 30"/>
              <a:gd name="T28" fmla="*/ 19 w 31"/>
              <a:gd name="T29" fmla="*/ 20 h 30"/>
              <a:gd name="T30" fmla="*/ 22 w 31"/>
              <a:gd name="T31" fmla="*/ 14 h 30"/>
              <a:gd name="T32" fmla="*/ 23 w 31"/>
              <a:gd name="T33" fmla="*/ 10 h 30"/>
              <a:gd name="T34" fmla="*/ 17 w 31"/>
              <a:gd name="T35" fmla="*/ 22 h 30"/>
              <a:gd name="T36" fmla="*/ 20 w 31"/>
              <a:gd name="T37" fmla="*/ 16 h 30"/>
              <a:gd name="T38" fmla="*/ 16 w 31"/>
              <a:gd name="T39" fmla="*/ 19 h 30"/>
              <a:gd name="T40" fmla="*/ 19 w 31"/>
              <a:gd name="T41" fmla="*/ 12 h 30"/>
              <a:gd name="T42" fmla="*/ 17 w 31"/>
              <a:gd name="T43" fmla="*/ 18 h 30"/>
              <a:gd name="T44" fmla="*/ 21 w 31"/>
              <a:gd name="T45" fmla="*/ 11 h 30"/>
              <a:gd name="T46" fmla="*/ 21 w 31"/>
              <a:gd name="T47" fmla="*/ 10 h 30"/>
              <a:gd name="T48" fmla="*/ 15 w 31"/>
              <a:gd name="T49" fmla="*/ 23 h 30"/>
              <a:gd name="T50" fmla="*/ 16 w 31"/>
              <a:gd name="T51" fmla="*/ 20 h 30"/>
              <a:gd name="T52" fmla="*/ 15 w 31"/>
              <a:gd name="T53" fmla="*/ 13 h 30"/>
              <a:gd name="T54" fmla="*/ 11 w 31"/>
              <a:gd name="T55" fmla="*/ 28 h 30"/>
              <a:gd name="T56" fmla="*/ 17 w 31"/>
              <a:gd name="T57" fmla="*/ 13 h 30"/>
              <a:gd name="T58" fmla="*/ 17 w 31"/>
              <a:gd name="T59" fmla="*/ 17 h 30"/>
              <a:gd name="T60" fmla="*/ 14 w 31"/>
              <a:gd name="T61" fmla="*/ 23 h 30"/>
              <a:gd name="T62" fmla="*/ 19 w 31"/>
              <a:gd name="T63" fmla="*/ 11 h 30"/>
              <a:gd name="T64" fmla="*/ 12 w 31"/>
              <a:gd name="T65" fmla="*/ 26 h 30"/>
              <a:gd name="T66" fmla="*/ 11 w 31"/>
              <a:gd name="T67" fmla="*/ 27 h 30"/>
              <a:gd name="T68" fmla="*/ 11 w 31"/>
              <a:gd name="T69" fmla="*/ 23 h 30"/>
              <a:gd name="T70" fmla="*/ 12 w 31"/>
              <a:gd name="T71" fmla="*/ 20 h 30"/>
              <a:gd name="T72" fmla="*/ 17 w 31"/>
              <a:gd name="T73" fmla="*/ 10 h 30"/>
              <a:gd name="T74" fmla="*/ 11 w 31"/>
              <a:gd name="T75" fmla="*/ 13 h 30"/>
              <a:gd name="T76" fmla="*/ 15 w 31"/>
              <a:gd name="T77" fmla="*/ 8 h 30"/>
              <a:gd name="T78" fmla="*/ 11 w 31"/>
              <a:gd name="T79" fmla="*/ 16 h 30"/>
              <a:gd name="T80" fmla="*/ 11 w 31"/>
              <a:gd name="T81" fmla="*/ 15 h 30"/>
              <a:gd name="T82" fmla="*/ 11 w 31"/>
              <a:gd name="T83" fmla="*/ 11 h 30"/>
              <a:gd name="T84" fmla="*/ 10 w 31"/>
              <a:gd name="T85" fmla="*/ 18 h 30"/>
              <a:gd name="T86" fmla="*/ 14 w 31"/>
              <a:gd name="T87" fmla="*/ 9 h 30"/>
              <a:gd name="T88" fmla="*/ 11 w 31"/>
              <a:gd name="T89" fmla="*/ 12 h 30"/>
              <a:gd name="T90" fmla="*/ 12 w 31"/>
              <a:gd name="T91" fmla="*/ 7 h 30"/>
              <a:gd name="T92" fmla="*/ 12 w 31"/>
              <a:gd name="T93" fmla="*/ 4 h 30"/>
              <a:gd name="T94" fmla="*/ 10 w 31"/>
              <a:gd name="T95" fmla="*/ 14 h 30"/>
              <a:gd name="T96" fmla="*/ 10 w 31"/>
              <a:gd name="T97" fmla="*/ 15 h 30"/>
              <a:gd name="T98" fmla="*/ 10 w 31"/>
              <a:gd name="T99" fmla="*/ 12 h 30"/>
              <a:gd name="T100" fmla="*/ 12 w 31"/>
              <a:gd name="T101" fmla="*/ 7 h 30"/>
              <a:gd name="T102" fmla="*/ 9 w 31"/>
              <a:gd name="T103" fmla="*/ 11 h 30"/>
              <a:gd name="T104" fmla="*/ 5 w 31"/>
              <a:gd name="T105" fmla="*/ 11 h 30"/>
              <a:gd name="T106" fmla="*/ 12 w 31"/>
              <a:gd name="T107" fmla="*/ 2 h 30"/>
              <a:gd name="T108" fmla="*/ 1 w 31"/>
              <a:gd name="T109"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 h="30">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rgbClr val="FACD06"/>
          </a:solidFill>
          <a:ln>
            <a:noFill/>
          </a:ln>
        </p:spPr>
        <p:txBody>
          <a:bodyPr vert="horz" wrap="square" lIns="91440" tIns="45720" rIns="91440" bIns="45720" numCol="1" anchor="t" anchorCtr="0" compatLnSpc="1"/>
          <a:p>
            <a:endParaRPr lang="zh-CN" altLang="en-US" sz="1600">
              <a:solidFill>
                <a:srgbClr val="062F3D"/>
              </a:solidFill>
            </a:endParaRPr>
          </a:p>
        </p:txBody>
      </p:sp>
      <p:sp>
        <p:nvSpPr>
          <p:cNvPr id="5" name="Freeform 30"/>
          <p:cNvSpPr>
            <a:spLocks noEditPoints="1"/>
          </p:cNvSpPr>
          <p:nvPr/>
        </p:nvSpPr>
        <p:spPr bwMode="auto">
          <a:xfrm>
            <a:off x="7145758" y="2062101"/>
            <a:ext cx="335491" cy="324806"/>
          </a:xfrm>
          <a:custGeom>
            <a:avLst/>
            <a:gdLst>
              <a:gd name="T0" fmla="*/ 10 w 31"/>
              <a:gd name="T1" fmla="*/ 19 h 30"/>
              <a:gd name="T2" fmla="*/ 11 w 31"/>
              <a:gd name="T3" fmla="*/ 0 h 30"/>
              <a:gd name="T4" fmla="*/ 28 w 31"/>
              <a:gd name="T5" fmla="*/ 8 h 30"/>
              <a:gd name="T6" fmla="*/ 26 w 31"/>
              <a:gd name="T7" fmla="*/ 27 h 30"/>
              <a:gd name="T8" fmla="*/ 23 w 31"/>
              <a:gd name="T9" fmla="*/ 25 h 30"/>
              <a:gd name="T10" fmla="*/ 22 w 31"/>
              <a:gd name="T11" fmla="*/ 21 h 30"/>
              <a:gd name="T12" fmla="*/ 29 w 31"/>
              <a:gd name="T13" fmla="*/ 9 h 30"/>
              <a:gd name="T14" fmla="*/ 22 w 31"/>
              <a:gd name="T15" fmla="*/ 24 h 30"/>
              <a:gd name="T16" fmla="*/ 21 w 31"/>
              <a:gd name="T17" fmla="*/ 22 h 30"/>
              <a:gd name="T18" fmla="*/ 28 w 31"/>
              <a:gd name="T19" fmla="*/ 10 h 30"/>
              <a:gd name="T20" fmla="*/ 24 w 31"/>
              <a:gd name="T21" fmla="*/ 14 h 30"/>
              <a:gd name="T22" fmla="*/ 21 w 31"/>
              <a:gd name="T23" fmla="*/ 18 h 30"/>
              <a:gd name="T24" fmla="*/ 24 w 31"/>
              <a:gd name="T25" fmla="*/ 14 h 30"/>
              <a:gd name="T26" fmla="*/ 20 w 31"/>
              <a:gd name="T27" fmla="*/ 19 h 30"/>
              <a:gd name="T28" fmla="*/ 19 w 31"/>
              <a:gd name="T29" fmla="*/ 20 h 30"/>
              <a:gd name="T30" fmla="*/ 22 w 31"/>
              <a:gd name="T31" fmla="*/ 14 h 30"/>
              <a:gd name="T32" fmla="*/ 23 w 31"/>
              <a:gd name="T33" fmla="*/ 10 h 30"/>
              <a:gd name="T34" fmla="*/ 17 w 31"/>
              <a:gd name="T35" fmla="*/ 22 h 30"/>
              <a:gd name="T36" fmla="*/ 20 w 31"/>
              <a:gd name="T37" fmla="*/ 16 h 30"/>
              <a:gd name="T38" fmla="*/ 16 w 31"/>
              <a:gd name="T39" fmla="*/ 19 h 30"/>
              <a:gd name="T40" fmla="*/ 19 w 31"/>
              <a:gd name="T41" fmla="*/ 12 h 30"/>
              <a:gd name="T42" fmla="*/ 17 w 31"/>
              <a:gd name="T43" fmla="*/ 18 h 30"/>
              <a:gd name="T44" fmla="*/ 21 w 31"/>
              <a:gd name="T45" fmla="*/ 11 h 30"/>
              <a:gd name="T46" fmla="*/ 21 w 31"/>
              <a:gd name="T47" fmla="*/ 10 h 30"/>
              <a:gd name="T48" fmla="*/ 15 w 31"/>
              <a:gd name="T49" fmla="*/ 23 h 30"/>
              <a:gd name="T50" fmla="*/ 16 w 31"/>
              <a:gd name="T51" fmla="*/ 20 h 30"/>
              <a:gd name="T52" fmla="*/ 15 w 31"/>
              <a:gd name="T53" fmla="*/ 13 h 30"/>
              <a:gd name="T54" fmla="*/ 11 w 31"/>
              <a:gd name="T55" fmla="*/ 28 h 30"/>
              <a:gd name="T56" fmla="*/ 17 w 31"/>
              <a:gd name="T57" fmla="*/ 13 h 30"/>
              <a:gd name="T58" fmla="*/ 17 w 31"/>
              <a:gd name="T59" fmla="*/ 17 h 30"/>
              <a:gd name="T60" fmla="*/ 14 w 31"/>
              <a:gd name="T61" fmla="*/ 23 h 30"/>
              <a:gd name="T62" fmla="*/ 19 w 31"/>
              <a:gd name="T63" fmla="*/ 11 h 30"/>
              <a:gd name="T64" fmla="*/ 12 w 31"/>
              <a:gd name="T65" fmla="*/ 26 h 30"/>
              <a:gd name="T66" fmla="*/ 11 w 31"/>
              <a:gd name="T67" fmla="*/ 27 h 30"/>
              <a:gd name="T68" fmla="*/ 11 w 31"/>
              <a:gd name="T69" fmla="*/ 23 h 30"/>
              <a:gd name="T70" fmla="*/ 12 w 31"/>
              <a:gd name="T71" fmla="*/ 20 h 30"/>
              <a:gd name="T72" fmla="*/ 17 w 31"/>
              <a:gd name="T73" fmla="*/ 10 h 30"/>
              <a:gd name="T74" fmla="*/ 11 w 31"/>
              <a:gd name="T75" fmla="*/ 13 h 30"/>
              <a:gd name="T76" fmla="*/ 15 w 31"/>
              <a:gd name="T77" fmla="*/ 8 h 30"/>
              <a:gd name="T78" fmla="*/ 11 w 31"/>
              <a:gd name="T79" fmla="*/ 16 h 30"/>
              <a:gd name="T80" fmla="*/ 11 w 31"/>
              <a:gd name="T81" fmla="*/ 15 h 30"/>
              <a:gd name="T82" fmla="*/ 11 w 31"/>
              <a:gd name="T83" fmla="*/ 11 h 30"/>
              <a:gd name="T84" fmla="*/ 10 w 31"/>
              <a:gd name="T85" fmla="*/ 18 h 30"/>
              <a:gd name="T86" fmla="*/ 14 w 31"/>
              <a:gd name="T87" fmla="*/ 9 h 30"/>
              <a:gd name="T88" fmla="*/ 11 w 31"/>
              <a:gd name="T89" fmla="*/ 12 h 30"/>
              <a:gd name="T90" fmla="*/ 12 w 31"/>
              <a:gd name="T91" fmla="*/ 7 h 30"/>
              <a:gd name="T92" fmla="*/ 12 w 31"/>
              <a:gd name="T93" fmla="*/ 4 h 30"/>
              <a:gd name="T94" fmla="*/ 10 w 31"/>
              <a:gd name="T95" fmla="*/ 14 h 30"/>
              <a:gd name="T96" fmla="*/ 10 w 31"/>
              <a:gd name="T97" fmla="*/ 15 h 30"/>
              <a:gd name="T98" fmla="*/ 10 w 31"/>
              <a:gd name="T99" fmla="*/ 12 h 30"/>
              <a:gd name="T100" fmla="*/ 12 w 31"/>
              <a:gd name="T101" fmla="*/ 7 h 30"/>
              <a:gd name="T102" fmla="*/ 9 w 31"/>
              <a:gd name="T103" fmla="*/ 11 h 30"/>
              <a:gd name="T104" fmla="*/ 5 w 31"/>
              <a:gd name="T105" fmla="*/ 11 h 30"/>
              <a:gd name="T106" fmla="*/ 12 w 31"/>
              <a:gd name="T107" fmla="*/ 2 h 30"/>
              <a:gd name="T108" fmla="*/ 1 w 31"/>
              <a:gd name="T109"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 h="30">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rgbClr val="FACD06"/>
          </a:solidFill>
          <a:ln>
            <a:noFill/>
          </a:ln>
        </p:spPr>
        <p:txBody>
          <a:bodyPr vert="horz" wrap="square" lIns="91440" tIns="45720" rIns="91440" bIns="45720" numCol="1" anchor="t" anchorCtr="0" compatLnSpc="1"/>
          <a:p>
            <a:endParaRPr lang="zh-CN" altLang="en-US" sz="1600">
              <a:solidFill>
                <a:srgbClr val="062F3D"/>
              </a:solidFill>
            </a:endParaRPr>
          </a:p>
        </p:txBody>
      </p:sp>
      <p:sp>
        <p:nvSpPr>
          <p:cNvPr id="7" name="矩形 6"/>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sp>
        <p:nvSpPr>
          <p:cNvPr id="29" name="文本框 28"/>
          <p:cNvSpPr txBox="1"/>
          <p:nvPr/>
        </p:nvSpPr>
        <p:spPr>
          <a:xfrm>
            <a:off x="857885" y="283210"/>
            <a:ext cx="2035810" cy="583565"/>
          </a:xfrm>
          <a:prstGeom prst="rect">
            <a:avLst/>
          </a:prstGeom>
          <a:noFill/>
        </p:spPr>
        <p:txBody>
          <a:bodyPr wrap="none" rtlCol="0">
            <a:spAutoFit/>
          </a:bodyPr>
          <a:p>
            <a:pPr algn="l"/>
            <a:r>
              <a:rPr lang="en-US" altLang="zh-CN" sz="3200" b="1" dirty="0" smtClean="0">
                <a:solidFill>
                  <a:schemeClr val="tx1">
                    <a:lumMod val="75000"/>
                    <a:lumOff val="25000"/>
                  </a:schemeClr>
                </a:solidFill>
                <a:latin typeface="微软雅黑" panose="020B0503020204020204" charset="-122"/>
                <a:ea typeface="微软雅黑" panose="020B0503020204020204" charset="-122"/>
                <a:sym typeface="+mn-ea"/>
              </a:rPr>
              <a:t>Q</a:t>
            </a:r>
            <a:r>
              <a:rPr lang="zh-CN" altLang="en-US" sz="3200" b="1" dirty="0" smtClean="0">
                <a:solidFill>
                  <a:schemeClr val="tx1">
                    <a:lumMod val="75000"/>
                    <a:lumOff val="25000"/>
                  </a:schemeClr>
                </a:solidFill>
                <a:latin typeface="微软雅黑" panose="020B0503020204020204" charset="-122"/>
                <a:ea typeface="微软雅黑" panose="020B0503020204020204" charset="-122"/>
                <a:sym typeface="+mn-ea"/>
              </a:rPr>
              <a:t>uestion</a:t>
            </a:r>
            <a:endParaRPr lang="en-US" altLang="zh-CN" sz="3200" b="1">
              <a:solidFill>
                <a:schemeClr val="tx1">
                  <a:lumMod val="75000"/>
                  <a:lumOff val="25000"/>
                </a:schemeClr>
              </a:solidFill>
            </a:endParaRPr>
          </a:p>
        </p:txBody>
      </p:sp>
      <p:sp>
        <p:nvSpPr>
          <p:cNvPr id="18" name="矩形 17"/>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spd="med" p14:dur="15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ppt_w</p:attrName>
                                        </p:attrNameLst>
                                      </p:cBhvr>
                                      <p:tavLst>
                                        <p:tav tm="0">
                                          <p:val>
                                            <p:fltVal val="0"/>
                                          </p:val>
                                        </p:tav>
                                        <p:tav tm="100000">
                                          <p:val>
                                            <p:strVal val="#ppt_w"/>
                                          </p:val>
                                        </p:tav>
                                      </p:tavLst>
                                    </p:anim>
                                    <p:anim calcmode="lin" valueType="num">
                                      <p:cBhvr>
                                        <p:cTn id="30" dur="500" fill="hold"/>
                                        <p:tgtEl>
                                          <p:spTgt spid="22"/>
                                        </p:tgtEl>
                                        <p:attrNameLst>
                                          <p:attrName>ppt_h</p:attrName>
                                        </p:attrNameLst>
                                      </p:cBhvr>
                                      <p:tavLst>
                                        <p:tav tm="0">
                                          <p:val>
                                            <p:fltVal val="0"/>
                                          </p:val>
                                        </p:tav>
                                        <p:tav tm="100000">
                                          <p:val>
                                            <p:strVal val="#ppt_h"/>
                                          </p:val>
                                        </p:tav>
                                      </p:tavLst>
                                    </p:anim>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p:cTn id="39" dur="500" fill="hold"/>
                                        <p:tgtEl>
                                          <p:spTgt spid="25"/>
                                        </p:tgtEl>
                                        <p:attrNameLst>
                                          <p:attrName>ppt_w</p:attrName>
                                        </p:attrNameLst>
                                      </p:cBhvr>
                                      <p:tavLst>
                                        <p:tav tm="0">
                                          <p:val>
                                            <p:fltVal val="0"/>
                                          </p:val>
                                        </p:tav>
                                        <p:tav tm="100000">
                                          <p:val>
                                            <p:strVal val="#ppt_w"/>
                                          </p:val>
                                        </p:tav>
                                      </p:tavLst>
                                    </p:anim>
                                    <p:anim calcmode="lin" valueType="num">
                                      <p:cBhvr>
                                        <p:cTn id="40" dur="500" fill="hold"/>
                                        <p:tgtEl>
                                          <p:spTgt spid="25"/>
                                        </p:tgtEl>
                                        <p:attrNameLst>
                                          <p:attrName>ppt_h</p:attrName>
                                        </p:attrNameLst>
                                      </p:cBhvr>
                                      <p:tavLst>
                                        <p:tav tm="0">
                                          <p:val>
                                            <p:fltVal val="0"/>
                                          </p:val>
                                        </p:tav>
                                        <p:tav tm="100000">
                                          <p:val>
                                            <p:strVal val="#ppt_h"/>
                                          </p:val>
                                        </p:tav>
                                      </p:tavLst>
                                    </p:anim>
                                    <p:animEffect transition="in" filter="fade">
                                      <p:cBhvr>
                                        <p:cTn id="41" dur="5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1" grpId="0"/>
      <p:bldP spid="12" grpId="0" bldLvl="0" animBg="1"/>
      <p:bldP spid="14" grpId="0"/>
      <p:bldP spid="22" grpId="0" bldLvl="0" animBg="1"/>
      <p:bldP spid="24" grpId="0"/>
      <p:bldP spid="25" grpId="0" bldLvl="0" animBg="1"/>
      <p:bldP spid="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矩形 56"/>
          <p:cNvSpPr/>
          <p:nvPr/>
        </p:nvSpPr>
        <p:spPr>
          <a:xfrm>
            <a:off x="7146360" y="2757228"/>
            <a:ext cx="902970" cy="639445"/>
          </a:xfrm>
          <a:prstGeom prst="rect">
            <a:avLst/>
          </a:prstGeom>
        </p:spPr>
        <p:txBody>
          <a:bodyPr wrap="none" lIns="121908" tIns="60954" rIns="121908" bIns="60954">
            <a:spAutoFit/>
          </a:bodyPr>
          <a:lstStyle/>
          <a:p>
            <a:pPr algn="ctr">
              <a:lnSpc>
                <a:spcPct val="130000"/>
              </a:lnSpc>
            </a:pPr>
            <a:r>
              <a:rPr lang="zh-CN" altLang="en-US" sz="1300" dirty="0">
                <a:solidFill>
                  <a:schemeClr val="bg1"/>
                </a:solidFill>
                <a:latin typeface="微软雅黑" panose="020B0503020204020204" charset="-122"/>
                <a:ea typeface="微软雅黑" panose="020B0503020204020204" charset="-122"/>
              </a:rPr>
              <a:t>在此</a:t>
            </a:r>
            <a:endParaRPr lang="en-US" altLang="zh-CN" sz="1300" dirty="0">
              <a:solidFill>
                <a:schemeClr val="bg1"/>
              </a:solidFill>
              <a:latin typeface="微软雅黑" panose="020B0503020204020204" charset="-122"/>
              <a:ea typeface="微软雅黑" panose="020B0503020204020204" charset="-122"/>
            </a:endParaRPr>
          </a:p>
          <a:p>
            <a:pPr algn="ctr">
              <a:lnSpc>
                <a:spcPct val="130000"/>
              </a:lnSpc>
            </a:pPr>
            <a:r>
              <a:rPr lang="zh-CN" altLang="en-US" sz="1300" dirty="0">
                <a:solidFill>
                  <a:schemeClr val="bg1"/>
                </a:solidFill>
                <a:latin typeface="微软雅黑" panose="020B0503020204020204" charset="-122"/>
                <a:ea typeface="微软雅黑" panose="020B0503020204020204" charset="-122"/>
              </a:rPr>
              <a:t>输入标题</a:t>
            </a:r>
            <a:endParaRPr lang="en-US" altLang="zh-CN" sz="1300" dirty="0">
              <a:solidFill>
                <a:schemeClr val="bg1"/>
              </a:solidFill>
              <a:latin typeface="微软雅黑" panose="020B0503020204020204" charset="-122"/>
              <a:ea typeface="微软雅黑" panose="020B0503020204020204" charset="-122"/>
            </a:endParaRPr>
          </a:p>
        </p:txBody>
      </p:sp>
      <p:sp>
        <p:nvSpPr>
          <p:cNvPr id="3" name="矩形 2"/>
          <p:cNvSpPr/>
          <p:nvPr/>
        </p:nvSpPr>
        <p:spPr>
          <a:xfrm rot="1620000">
            <a:off x="7947978" y="889000"/>
            <a:ext cx="4205605" cy="1198880"/>
          </a:xfrm>
          <a:prstGeom prst="rect">
            <a:avLst/>
          </a:prstGeom>
          <a:noFill/>
          <a:ln>
            <a:noFill/>
          </a:ln>
          <a:effectLst>
            <a:glow rad="127000">
              <a:schemeClr val="accent1">
                <a:alpha val="0"/>
              </a:schemeClr>
            </a:glow>
            <a:outerShdw dist="50800" dir="5400000" sx="1000" sy="1000" algn="ctr" rotWithShape="0">
              <a:srgbClr val="000000">
                <a:alpha val="0"/>
              </a:srgbClr>
            </a:outerShdw>
          </a:effectLst>
        </p:spPr>
        <p:txBody>
          <a:bodyPr wrap="square" rtlCol="0" anchor="t">
            <a:spAutoFit/>
          </a:bodyPr>
          <a:p>
            <a:pPr algn="ctr"/>
            <a:r>
              <a:rPr lang="zh-CN" altLang="en-US" sz="7200">
                <a:gradFill>
                  <a:gsLst>
                    <a:gs pos="21000">
                      <a:srgbClr val="53575C">
                        <a:alpha val="0"/>
                      </a:srgbClr>
                    </a:gs>
                    <a:gs pos="88000">
                      <a:srgbClr val="C5C7CA"/>
                    </a:gs>
                  </a:gsLst>
                  <a:lin ang="5400000"/>
                </a:gradFill>
                <a:effectLst/>
                <a:sym typeface="+mn-ea"/>
              </a:rPr>
              <a:t>孟    想</a:t>
            </a:r>
            <a:endParaRPr lang="zh-CN" altLang="en-US" sz="7200">
              <a:gradFill>
                <a:gsLst>
                  <a:gs pos="21000">
                    <a:srgbClr val="53575C">
                      <a:alpha val="0"/>
                    </a:srgbClr>
                  </a:gs>
                  <a:gs pos="88000">
                    <a:srgbClr val="C5C7CA"/>
                  </a:gs>
                </a:gsLst>
                <a:lin ang="5400000"/>
              </a:gradFill>
              <a:effectLst/>
              <a:sym typeface="+mn-ea"/>
            </a:endParaRPr>
          </a:p>
        </p:txBody>
      </p:sp>
      <p:sp>
        <p:nvSpPr>
          <p:cNvPr id="5" name="圆角矩形 4"/>
          <p:cNvSpPr/>
          <p:nvPr/>
        </p:nvSpPr>
        <p:spPr>
          <a:xfrm>
            <a:off x="603568" y="1306195"/>
            <a:ext cx="1445260" cy="519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宋体" panose="02010600030101010101" pitchFamily="2" charset="-122"/>
                <a:ea typeface="宋体" panose="02010600030101010101" pitchFamily="2" charset="-122"/>
              </a:rPr>
              <a:t>广告添加</a:t>
            </a:r>
            <a:endParaRPr lang="zh-CN" altLang="zh-CN" b="1">
              <a:latin typeface="宋体" panose="02010600030101010101" pitchFamily="2" charset="-122"/>
              <a:ea typeface="宋体" panose="02010600030101010101" pitchFamily="2" charset="-122"/>
            </a:endParaRPr>
          </a:p>
        </p:txBody>
      </p:sp>
      <p:sp>
        <p:nvSpPr>
          <p:cNvPr id="6" name="右箭头 5"/>
          <p:cNvSpPr/>
          <p:nvPr/>
        </p:nvSpPr>
        <p:spPr>
          <a:xfrm>
            <a:off x="2048828" y="1472565"/>
            <a:ext cx="979170" cy="1873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圆角矩形 6"/>
          <p:cNvSpPr/>
          <p:nvPr/>
        </p:nvSpPr>
        <p:spPr>
          <a:xfrm>
            <a:off x="3027998" y="1306830"/>
            <a:ext cx="1445260" cy="519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zh-CN" b="1">
                <a:latin typeface="宋体" panose="02010600030101010101" pitchFamily="2" charset="-122"/>
                <a:ea typeface="宋体" panose="02010600030101010101" pitchFamily="2" charset="-122"/>
              </a:rPr>
              <a:t>整体预算</a:t>
            </a:r>
            <a:endParaRPr lang="zh-CN" altLang="zh-CN" b="1">
              <a:latin typeface="宋体" panose="02010600030101010101" pitchFamily="2" charset="-122"/>
              <a:ea typeface="宋体" panose="02010600030101010101" pitchFamily="2" charset="-122"/>
            </a:endParaRPr>
          </a:p>
        </p:txBody>
      </p:sp>
      <p:sp>
        <p:nvSpPr>
          <p:cNvPr id="8" name="圆角矩形 7"/>
          <p:cNvSpPr/>
          <p:nvPr/>
        </p:nvSpPr>
        <p:spPr>
          <a:xfrm>
            <a:off x="5452428" y="1306830"/>
            <a:ext cx="1445260" cy="519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latin typeface="宋体" panose="02010600030101010101" pitchFamily="2" charset="-122"/>
                <a:ea typeface="宋体" panose="02010600030101010101" pitchFamily="2" charset="-122"/>
              </a:rPr>
              <a:t>Bid</a:t>
            </a:r>
            <a:r>
              <a:rPr lang="zh-CN" altLang="en-US" b="1">
                <a:latin typeface="宋体" panose="02010600030101010101" pitchFamily="2" charset="-122"/>
                <a:ea typeface="宋体" panose="02010600030101010101" pitchFamily="2" charset="-122"/>
              </a:rPr>
              <a:t>竞</a:t>
            </a:r>
            <a:r>
              <a:rPr lang="zh-CN" altLang="en-US" b="1">
                <a:latin typeface="锐字工房云字库锐倩GBK" panose="02010604000000000000" charset="-122"/>
                <a:ea typeface="锐字工房云字库锐倩GBK" panose="02010604000000000000" charset="-122"/>
              </a:rPr>
              <a:t>价</a:t>
            </a:r>
            <a:endParaRPr lang="zh-CN" altLang="en-US" b="1">
              <a:latin typeface="锐字工房云字库锐倩GBK" panose="02010604000000000000" charset="-122"/>
              <a:ea typeface="锐字工房云字库锐倩GBK" panose="02010604000000000000" charset="-122"/>
            </a:endParaRPr>
          </a:p>
        </p:txBody>
      </p:sp>
      <p:sp>
        <p:nvSpPr>
          <p:cNvPr id="9" name="圆角矩形 8"/>
          <p:cNvSpPr/>
          <p:nvPr/>
        </p:nvSpPr>
        <p:spPr>
          <a:xfrm>
            <a:off x="7876858" y="1306830"/>
            <a:ext cx="1445260" cy="519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zh-CN" b="1">
                <a:latin typeface="宋体" panose="02010600030101010101" pitchFamily="2" charset="-122"/>
                <a:ea typeface="宋体" panose="02010600030101010101" pitchFamily="2" charset="-122"/>
                <a:sym typeface="+mn-ea"/>
              </a:rPr>
              <a:t>产品曝光</a:t>
            </a:r>
            <a:endParaRPr lang="zh-CN" altLang="zh-CN" b="1">
              <a:latin typeface="宋体" panose="02010600030101010101" pitchFamily="2" charset="-122"/>
              <a:ea typeface="宋体" panose="02010600030101010101" pitchFamily="2" charset="-122"/>
              <a:sym typeface="+mn-ea"/>
            </a:endParaRPr>
          </a:p>
          <a:p>
            <a:pPr algn="ctr"/>
            <a:r>
              <a:rPr lang="zh-CN" altLang="zh-CN" b="1">
                <a:latin typeface="宋体" panose="02010600030101010101" pitchFamily="2" charset="-122"/>
                <a:ea typeface="宋体" panose="02010600030101010101" pitchFamily="2" charset="-122"/>
              </a:rPr>
              <a:t>市场排名</a:t>
            </a:r>
            <a:endParaRPr lang="zh-CN" altLang="zh-CN" b="1">
              <a:latin typeface="宋体" panose="02010600030101010101" pitchFamily="2" charset="-122"/>
              <a:ea typeface="宋体" panose="02010600030101010101" pitchFamily="2" charset="-122"/>
            </a:endParaRPr>
          </a:p>
        </p:txBody>
      </p:sp>
      <p:sp>
        <p:nvSpPr>
          <p:cNvPr id="10" name="圆角矩形 9"/>
          <p:cNvSpPr/>
          <p:nvPr/>
        </p:nvSpPr>
        <p:spPr>
          <a:xfrm>
            <a:off x="7876858" y="2819400"/>
            <a:ext cx="1445260" cy="519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zh-CN" b="1">
                <a:latin typeface="宋体" panose="02010600030101010101" pitchFamily="2" charset="-122"/>
                <a:ea typeface="宋体" panose="02010600030101010101" pitchFamily="2" charset="-122"/>
              </a:rPr>
              <a:t>点击Clicks</a:t>
            </a:r>
            <a:endParaRPr lang="zh-CN" altLang="zh-CN" b="1">
              <a:latin typeface="宋体" panose="02010600030101010101" pitchFamily="2" charset="-122"/>
              <a:ea typeface="宋体" panose="02010600030101010101" pitchFamily="2" charset="-122"/>
            </a:endParaRPr>
          </a:p>
        </p:txBody>
      </p:sp>
      <p:sp>
        <p:nvSpPr>
          <p:cNvPr id="11" name="圆角矩形 10"/>
          <p:cNvSpPr/>
          <p:nvPr/>
        </p:nvSpPr>
        <p:spPr>
          <a:xfrm>
            <a:off x="7904798" y="4318000"/>
            <a:ext cx="1445260" cy="519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latin typeface="锐字工房云字库锐倩GBK" panose="02010604000000000000" charset="-122"/>
                <a:ea typeface="锐字工房云字库锐倩GBK" panose="02010604000000000000" charset="-122"/>
              </a:rPr>
              <a:t>ACOS</a:t>
            </a:r>
            <a:endParaRPr lang="en-US" altLang="zh-CN" b="1">
              <a:latin typeface="锐字工房云字库锐倩GBK" panose="02010604000000000000" charset="-122"/>
              <a:ea typeface="锐字工房云字库锐倩GBK" panose="02010604000000000000" charset="-122"/>
            </a:endParaRPr>
          </a:p>
        </p:txBody>
      </p:sp>
      <p:sp>
        <p:nvSpPr>
          <p:cNvPr id="12" name="圆角矩形 11"/>
          <p:cNvSpPr/>
          <p:nvPr/>
        </p:nvSpPr>
        <p:spPr>
          <a:xfrm>
            <a:off x="7904798" y="5816600"/>
            <a:ext cx="1445260" cy="519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宋体" panose="02010600030101010101" pitchFamily="2" charset="-122"/>
                <a:ea typeface="宋体" panose="02010600030101010101" pitchFamily="2" charset="-122"/>
              </a:rPr>
              <a:t>案列</a:t>
            </a:r>
            <a:endParaRPr lang="zh-CN" altLang="en-US" b="1">
              <a:latin typeface="宋体" panose="02010600030101010101" pitchFamily="2" charset="-122"/>
              <a:ea typeface="宋体" panose="02010600030101010101" pitchFamily="2" charset="-122"/>
            </a:endParaRPr>
          </a:p>
        </p:txBody>
      </p:sp>
      <p:sp>
        <p:nvSpPr>
          <p:cNvPr id="13" name="右箭头 12"/>
          <p:cNvSpPr/>
          <p:nvPr/>
        </p:nvSpPr>
        <p:spPr>
          <a:xfrm>
            <a:off x="4473258" y="1473200"/>
            <a:ext cx="979170" cy="1873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右箭头 13"/>
          <p:cNvSpPr/>
          <p:nvPr/>
        </p:nvSpPr>
        <p:spPr>
          <a:xfrm>
            <a:off x="6897688" y="1473200"/>
            <a:ext cx="979170" cy="1873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下箭头 14"/>
          <p:cNvSpPr/>
          <p:nvPr/>
        </p:nvSpPr>
        <p:spPr>
          <a:xfrm>
            <a:off x="8495348" y="1825625"/>
            <a:ext cx="208280" cy="9791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 name="直线箭头"/>
          <p:cNvSpPr/>
          <p:nvPr/>
        </p:nvSpPr>
        <p:spPr>
          <a:xfrm rot="5400000">
            <a:off x="3417888" y="2113915"/>
            <a:ext cx="664210" cy="869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7" name="直线箭头"/>
          <p:cNvSpPr/>
          <p:nvPr/>
        </p:nvSpPr>
        <p:spPr>
          <a:xfrm rot="5400000">
            <a:off x="5833428" y="2114550"/>
            <a:ext cx="664210" cy="869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8" name="圆角矩形 17"/>
          <p:cNvSpPr/>
          <p:nvPr/>
        </p:nvSpPr>
        <p:spPr>
          <a:xfrm>
            <a:off x="3112135" y="2426970"/>
            <a:ext cx="1276985"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2"/>
                </a:solidFill>
                <a:latin typeface="宋体" panose="02010600030101010101" pitchFamily="2" charset="-122"/>
                <a:ea typeface="宋体" panose="02010600030101010101" pitchFamily="2" charset="-122"/>
                <a:sym typeface="+mn-ea"/>
              </a:rPr>
              <a:t>结合实际情况</a:t>
            </a:r>
            <a:endParaRPr lang="zh-CN" altLang="en-US" sz="1200">
              <a:solidFill>
                <a:schemeClr val="bg2"/>
              </a:solidFill>
              <a:latin typeface="宋体" panose="02010600030101010101" pitchFamily="2" charset="-122"/>
              <a:ea typeface="宋体" panose="02010600030101010101" pitchFamily="2" charset="-122"/>
              <a:sym typeface="+mn-ea"/>
            </a:endParaRPr>
          </a:p>
          <a:p>
            <a:pPr algn="ctr"/>
            <a:r>
              <a:rPr lang="en-US" altLang="zh-CN" sz="1200">
                <a:solidFill>
                  <a:schemeClr val="bg2"/>
                </a:solidFill>
                <a:latin typeface="宋体" panose="02010600030101010101" pitchFamily="2" charset="-122"/>
                <a:ea typeface="宋体" panose="02010600030101010101" pitchFamily="2" charset="-122"/>
                <a:sym typeface="+mn-ea"/>
              </a:rPr>
              <a:t>20 /50 /100</a:t>
            </a:r>
            <a:endParaRPr lang="en-US" altLang="zh-CN" sz="1200">
              <a:solidFill>
                <a:schemeClr val="bg2"/>
              </a:solidFill>
              <a:latin typeface="宋体" panose="02010600030101010101" pitchFamily="2" charset="-122"/>
              <a:ea typeface="宋体" panose="02010600030101010101" pitchFamily="2" charset="-122"/>
              <a:sym typeface="+mn-ea"/>
            </a:endParaRPr>
          </a:p>
        </p:txBody>
      </p:sp>
      <p:sp>
        <p:nvSpPr>
          <p:cNvPr id="19" name="圆角矩形 18"/>
          <p:cNvSpPr/>
          <p:nvPr/>
        </p:nvSpPr>
        <p:spPr>
          <a:xfrm>
            <a:off x="5523230" y="2426970"/>
            <a:ext cx="1285875" cy="3930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200">
              <a:solidFill>
                <a:schemeClr val="bg2"/>
              </a:solidFill>
              <a:latin typeface="锐字工房云字库锐倩GBK" panose="02010604000000000000" charset="-122"/>
              <a:ea typeface="锐字工房云字库锐倩GBK" panose="02010604000000000000" charset="-122"/>
              <a:sym typeface="+mn-ea"/>
            </a:endParaRPr>
          </a:p>
          <a:p>
            <a:pPr algn="ctr"/>
            <a:r>
              <a:rPr lang="zh-CN" altLang="en-US" sz="1200">
                <a:solidFill>
                  <a:schemeClr val="bg2"/>
                </a:solidFill>
                <a:latin typeface="宋体" panose="02010600030101010101" pitchFamily="2" charset="-122"/>
                <a:ea typeface="宋体" panose="02010600030101010101" pitchFamily="2" charset="-122"/>
                <a:sym typeface="+mn-ea"/>
              </a:rPr>
              <a:t>结合市场竞价</a:t>
            </a:r>
            <a:endParaRPr lang="zh-CN" altLang="en-US" sz="1200">
              <a:solidFill>
                <a:schemeClr val="bg2"/>
              </a:solidFill>
              <a:latin typeface="宋体" panose="02010600030101010101" pitchFamily="2" charset="-122"/>
              <a:ea typeface="宋体" panose="02010600030101010101" pitchFamily="2" charset="-122"/>
              <a:sym typeface="+mn-ea"/>
            </a:endParaRPr>
          </a:p>
          <a:p>
            <a:pPr algn="ctr"/>
            <a:r>
              <a:rPr lang="zh-CN" altLang="en-US" sz="1200">
                <a:solidFill>
                  <a:schemeClr val="bg2"/>
                </a:solidFill>
                <a:latin typeface="宋体" panose="02010600030101010101" pitchFamily="2" charset="-122"/>
                <a:ea typeface="宋体" panose="02010600030101010101" pitchFamily="2" charset="-122"/>
                <a:sym typeface="+mn-ea"/>
              </a:rPr>
              <a:t>关键词市场排</a:t>
            </a:r>
            <a:r>
              <a:rPr lang="zh-CN" altLang="en-US" sz="1200">
                <a:solidFill>
                  <a:schemeClr val="bg2"/>
                </a:solidFill>
                <a:latin typeface="锐字工房云字库锐倩GBK" panose="02010604000000000000" charset="-122"/>
                <a:ea typeface="锐字工房云字库锐倩GBK" panose="02010604000000000000" charset="-122"/>
                <a:sym typeface="+mn-ea"/>
              </a:rPr>
              <a:t>名</a:t>
            </a:r>
            <a:endParaRPr lang="zh-CN" altLang="en-US" sz="1200">
              <a:solidFill>
                <a:schemeClr val="bg2"/>
              </a:solidFill>
              <a:latin typeface="锐字工房云字库锐倩GBK" panose="02010604000000000000" charset="-122"/>
              <a:ea typeface="锐字工房云字库锐倩GBK" panose="02010604000000000000" charset="-122"/>
              <a:sym typeface="+mn-ea"/>
            </a:endParaRPr>
          </a:p>
        </p:txBody>
      </p:sp>
      <p:sp>
        <p:nvSpPr>
          <p:cNvPr id="20" name="直线箭头"/>
          <p:cNvSpPr/>
          <p:nvPr/>
        </p:nvSpPr>
        <p:spPr>
          <a:xfrm>
            <a:off x="8657908" y="2199005"/>
            <a:ext cx="664210" cy="869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1" name="圆角矩形 20"/>
          <p:cNvSpPr/>
          <p:nvPr/>
        </p:nvSpPr>
        <p:spPr>
          <a:xfrm>
            <a:off x="9350058" y="1982470"/>
            <a:ext cx="1010920" cy="51943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p>
            <a:pPr algn="ctr"/>
            <a:r>
              <a:rPr lang="zh-CN" altLang="zh-CN" sz="1200">
                <a:latin typeface="宋体" panose="02010600030101010101" pitchFamily="2" charset="-122"/>
                <a:ea typeface="宋体" panose="02010600030101010101" pitchFamily="2" charset="-122"/>
              </a:rPr>
              <a:t>客户搜索</a:t>
            </a:r>
            <a:endParaRPr lang="zh-CN" altLang="zh-CN" sz="1200">
              <a:latin typeface="宋体" panose="02010600030101010101" pitchFamily="2" charset="-122"/>
              <a:ea typeface="宋体" panose="02010600030101010101" pitchFamily="2" charset="-122"/>
            </a:endParaRPr>
          </a:p>
        </p:txBody>
      </p:sp>
      <p:sp>
        <p:nvSpPr>
          <p:cNvPr id="22" name="下箭头 21"/>
          <p:cNvSpPr/>
          <p:nvPr/>
        </p:nvSpPr>
        <p:spPr>
          <a:xfrm>
            <a:off x="8495348" y="3338830"/>
            <a:ext cx="208280" cy="9791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直线箭头"/>
          <p:cNvSpPr/>
          <p:nvPr/>
        </p:nvSpPr>
        <p:spPr>
          <a:xfrm rot="5400000">
            <a:off x="993458" y="2114550"/>
            <a:ext cx="664210" cy="869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4" name="圆角矩形 23"/>
          <p:cNvSpPr/>
          <p:nvPr/>
        </p:nvSpPr>
        <p:spPr>
          <a:xfrm>
            <a:off x="712788" y="2490470"/>
            <a:ext cx="1226820" cy="3295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bg2"/>
                </a:solidFill>
                <a:latin typeface="宋体" panose="02010600030101010101" pitchFamily="2" charset="-122"/>
                <a:ea typeface="宋体" panose="02010600030101010101" pitchFamily="2" charset="-122"/>
                <a:sym typeface="+mn-ea"/>
              </a:rPr>
              <a:t>自动 </a:t>
            </a:r>
            <a:r>
              <a:rPr lang="en-US" altLang="zh-CN" sz="1200" b="1">
                <a:solidFill>
                  <a:schemeClr val="bg2"/>
                </a:solidFill>
                <a:latin typeface="宋体" panose="02010600030101010101" pitchFamily="2" charset="-122"/>
                <a:ea typeface="宋体" panose="02010600030101010101" pitchFamily="2" charset="-122"/>
                <a:sym typeface="+mn-ea"/>
              </a:rPr>
              <a:t>/</a:t>
            </a:r>
            <a:r>
              <a:rPr lang="zh-CN" altLang="zh-CN" sz="1200" b="1">
                <a:solidFill>
                  <a:schemeClr val="bg2"/>
                </a:solidFill>
                <a:latin typeface="宋体" panose="02010600030101010101" pitchFamily="2" charset="-122"/>
                <a:ea typeface="宋体" panose="02010600030101010101" pitchFamily="2" charset="-122"/>
                <a:sym typeface="+mn-ea"/>
              </a:rPr>
              <a:t>手动</a:t>
            </a:r>
            <a:endParaRPr lang="zh-CN" altLang="zh-CN" sz="1200" b="1">
              <a:solidFill>
                <a:schemeClr val="bg2"/>
              </a:solidFill>
              <a:latin typeface="宋体" panose="02010600030101010101" pitchFamily="2" charset="-122"/>
              <a:ea typeface="宋体" panose="02010600030101010101" pitchFamily="2" charset="-122"/>
              <a:sym typeface="+mn-ea"/>
            </a:endParaRPr>
          </a:p>
        </p:txBody>
      </p:sp>
      <p:sp>
        <p:nvSpPr>
          <p:cNvPr id="25" name="直线箭头"/>
          <p:cNvSpPr/>
          <p:nvPr/>
        </p:nvSpPr>
        <p:spPr>
          <a:xfrm>
            <a:off x="8657908" y="3784600"/>
            <a:ext cx="664210" cy="869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50" name="左大括号"/>
          <p:cNvSpPr/>
          <p:nvPr/>
        </p:nvSpPr>
        <p:spPr bwMode="auto">
          <a:xfrm rot="10800000">
            <a:off x="10360978" y="1516380"/>
            <a:ext cx="267970" cy="1451610"/>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27" name="文本框 26"/>
          <p:cNvSpPr txBox="1"/>
          <p:nvPr/>
        </p:nvSpPr>
        <p:spPr>
          <a:xfrm>
            <a:off x="10628948" y="1516380"/>
            <a:ext cx="1673860" cy="368300"/>
          </a:xfrm>
          <a:prstGeom prst="rect">
            <a:avLst/>
          </a:prstGeom>
          <a:noFill/>
        </p:spPr>
        <p:txBody>
          <a:bodyPr wrap="none" rtlCol="0">
            <a:spAutoFit/>
          </a:bodyPr>
          <a:p>
            <a:pPr algn="l"/>
            <a:r>
              <a:rPr lang="zh-CN" altLang="en-US">
                <a:solidFill>
                  <a:schemeClr val="tx1">
                    <a:lumMod val="75000"/>
                    <a:lumOff val="25000"/>
                  </a:schemeClr>
                </a:solidFill>
                <a:latin typeface="宋体" panose="02010600030101010101" pitchFamily="2" charset="-122"/>
                <a:ea typeface="宋体" panose="02010600030101010101" pitchFamily="2" charset="-122"/>
              </a:rPr>
              <a:t>精准</a:t>
            </a:r>
            <a:r>
              <a:rPr lang="en-US" altLang="zh-CN">
                <a:solidFill>
                  <a:schemeClr val="tx1">
                    <a:lumMod val="75000"/>
                    <a:lumOff val="25000"/>
                  </a:schemeClr>
                </a:solidFill>
                <a:latin typeface="宋体" panose="02010600030101010101" pitchFamily="2" charset="-122"/>
                <a:ea typeface="宋体" panose="02010600030101010101" pitchFamily="2" charset="-122"/>
              </a:rPr>
              <a:t>/</a:t>
            </a:r>
            <a:r>
              <a:rPr lang="zh-CN" altLang="en-US" b="1" dirty="0">
                <a:solidFill>
                  <a:schemeClr val="tx1">
                    <a:lumMod val="75000"/>
                    <a:lumOff val="25000"/>
                  </a:schemeClr>
                </a:solidFill>
                <a:latin typeface="宋体" panose="02010600030101010101" pitchFamily="2" charset="-122"/>
                <a:ea typeface="宋体" panose="02010600030101010101" pitchFamily="2" charset="-122"/>
                <a:sym typeface="+mn-ea"/>
              </a:rPr>
              <a:t>目标短语</a:t>
            </a:r>
            <a:endParaRPr lang="zh-CN" altLang="en-US" b="1" dirty="0">
              <a:solidFill>
                <a:schemeClr val="tx1">
                  <a:lumMod val="75000"/>
                  <a:lumOff val="25000"/>
                </a:schemeClr>
              </a:solidFill>
              <a:latin typeface="宋体" panose="02010600030101010101" pitchFamily="2" charset="-122"/>
              <a:ea typeface="宋体" panose="02010600030101010101" pitchFamily="2" charset="-122"/>
              <a:sym typeface="+mn-ea"/>
            </a:endParaRPr>
          </a:p>
        </p:txBody>
      </p:sp>
      <p:sp>
        <p:nvSpPr>
          <p:cNvPr id="28" name="文本框 27"/>
          <p:cNvSpPr txBox="1"/>
          <p:nvPr/>
        </p:nvSpPr>
        <p:spPr>
          <a:xfrm>
            <a:off x="10628948" y="2058670"/>
            <a:ext cx="1673860" cy="368300"/>
          </a:xfrm>
          <a:prstGeom prst="rect">
            <a:avLst/>
          </a:prstGeom>
          <a:noFill/>
        </p:spPr>
        <p:txBody>
          <a:bodyPr wrap="none" rtlCol="0">
            <a:spAutoFit/>
          </a:bodyPr>
          <a:p>
            <a:pPr algn="l"/>
            <a:r>
              <a:rPr lang="zh-CN" altLang="en-US">
                <a:solidFill>
                  <a:schemeClr val="tx1">
                    <a:lumMod val="75000"/>
                    <a:lumOff val="25000"/>
                  </a:schemeClr>
                </a:solidFill>
                <a:latin typeface="宋体" panose="02010600030101010101" pitchFamily="2" charset="-122"/>
                <a:ea typeface="宋体" panose="02010600030101010101" pitchFamily="2" charset="-122"/>
              </a:rPr>
              <a:t>广泛</a:t>
            </a:r>
            <a:r>
              <a:rPr lang="en-US" altLang="zh-CN">
                <a:solidFill>
                  <a:schemeClr val="tx1">
                    <a:lumMod val="75000"/>
                    <a:lumOff val="25000"/>
                  </a:schemeClr>
                </a:solidFill>
                <a:latin typeface="宋体" panose="02010600030101010101" pitchFamily="2" charset="-122"/>
                <a:ea typeface="宋体" panose="02010600030101010101" pitchFamily="2" charset="-122"/>
              </a:rPr>
              <a:t>/</a:t>
            </a:r>
            <a:r>
              <a:rPr lang="zh-CN" altLang="en-US" b="1" dirty="0">
                <a:solidFill>
                  <a:schemeClr val="tx1">
                    <a:lumMod val="75000"/>
                    <a:lumOff val="25000"/>
                  </a:schemeClr>
                </a:solidFill>
                <a:latin typeface="宋体" panose="02010600030101010101" pitchFamily="2" charset="-122"/>
                <a:ea typeface="宋体" panose="02010600030101010101" pitchFamily="2" charset="-122"/>
                <a:sym typeface="+mn-ea"/>
              </a:rPr>
              <a:t>通用短语</a:t>
            </a:r>
            <a:endParaRPr lang="zh-CN" altLang="en-US" b="1" dirty="0">
              <a:solidFill>
                <a:schemeClr val="tx1">
                  <a:lumMod val="75000"/>
                  <a:lumOff val="25000"/>
                </a:schemeClr>
              </a:solidFill>
              <a:latin typeface="宋体" panose="02010600030101010101" pitchFamily="2" charset="-122"/>
              <a:ea typeface="宋体" panose="02010600030101010101" pitchFamily="2" charset="-122"/>
              <a:sym typeface="+mn-ea"/>
            </a:endParaRPr>
          </a:p>
        </p:txBody>
      </p:sp>
      <p:sp>
        <p:nvSpPr>
          <p:cNvPr id="29" name="文本框 28"/>
          <p:cNvSpPr txBox="1"/>
          <p:nvPr/>
        </p:nvSpPr>
        <p:spPr>
          <a:xfrm>
            <a:off x="10628948" y="2599690"/>
            <a:ext cx="1673860" cy="368300"/>
          </a:xfrm>
          <a:prstGeom prst="rect">
            <a:avLst/>
          </a:prstGeom>
          <a:noFill/>
        </p:spPr>
        <p:txBody>
          <a:bodyPr wrap="none" rtlCol="0">
            <a:spAutoFit/>
          </a:bodyPr>
          <a:p>
            <a:pPr algn="l"/>
            <a:r>
              <a:rPr lang="zh-CN" altLang="en-US">
                <a:solidFill>
                  <a:schemeClr val="tx1">
                    <a:lumMod val="75000"/>
                    <a:lumOff val="25000"/>
                  </a:schemeClr>
                </a:solidFill>
                <a:latin typeface="宋体" panose="02010600030101010101" pitchFamily="2" charset="-122"/>
                <a:ea typeface="宋体" panose="02010600030101010101" pitchFamily="2" charset="-122"/>
              </a:rPr>
              <a:t>词组</a:t>
            </a:r>
            <a:r>
              <a:rPr lang="en-US" altLang="zh-CN">
                <a:solidFill>
                  <a:schemeClr val="tx1">
                    <a:lumMod val="75000"/>
                    <a:lumOff val="25000"/>
                  </a:schemeClr>
                </a:solidFill>
                <a:latin typeface="宋体" panose="02010600030101010101" pitchFamily="2" charset="-122"/>
                <a:ea typeface="宋体" panose="02010600030101010101" pitchFamily="2" charset="-122"/>
              </a:rPr>
              <a:t>/</a:t>
            </a:r>
            <a:r>
              <a:rPr lang="zh-CN" altLang="en-US" b="1" dirty="0">
                <a:solidFill>
                  <a:schemeClr val="tx1">
                    <a:lumMod val="75000"/>
                    <a:lumOff val="25000"/>
                  </a:schemeClr>
                </a:solidFill>
                <a:latin typeface="宋体" panose="02010600030101010101" pitchFamily="2" charset="-122"/>
                <a:ea typeface="宋体" panose="02010600030101010101" pitchFamily="2" charset="-122"/>
                <a:sym typeface="+mn-ea"/>
              </a:rPr>
              <a:t>搜索短语</a:t>
            </a:r>
            <a:endParaRPr lang="zh-CN" altLang="en-US" b="1" dirty="0">
              <a:solidFill>
                <a:schemeClr val="tx1">
                  <a:lumMod val="75000"/>
                  <a:lumOff val="25000"/>
                </a:schemeClr>
              </a:solidFill>
              <a:latin typeface="宋体" panose="02010600030101010101" pitchFamily="2" charset="-122"/>
              <a:ea typeface="宋体" panose="02010600030101010101" pitchFamily="2" charset="-122"/>
              <a:sym typeface="+mn-ea"/>
            </a:endParaRPr>
          </a:p>
        </p:txBody>
      </p:sp>
      <p:sp>
        <p:nvSpPr>
          <p:cNvPr id="30" name="下箭头 29"/>
          <p:cNvSpPr/>
          <p:nvPr/>
        </p:nvSpPr>
        <p:spPr>
          <a:xfrm>
            <a:off x="8495348" y="4837430"/>
            <a:ext cx="208280" cy="9791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 name="圆角矩形 30"/>
          <p:cNvSpPr/>
          <p:nvPr/>
        </p:nvSpPr>
        <p:spPr>
          <a:xfrm>
            <a:off x="9322118" y="3568065"/>
            <a:ext cx="1010920" cy="51943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p>
            <a:pPr algn="ctr"/>
            <a:r>
              <a:rPr lang="zh-CN" altLang="zh-CN" sz="1200">
                <a:latin typeface="宋体" panose="02010600030101010101" pitchFamily="2" charset="-122"/>
                <a:ea typeface="宋体" panose="02010600030101010101" pitchFamily="2" charset="-122"/>
              </a:rPr>
              <a:t>点击率CTR</a:t>
            </a:r>
            <a:endParaRPr lang="zh-CN" altLang="zh-CN" sz="1200">
              <a:latin typeface="宋体" panose="02010600030101010101" pitchFamily="2" charset="-122"/>
              <a:ea typeface="宋体" panose="02010600030101010101" pitchFamily="2" charset="-122"/>
            </a:endParaRPr>
          </a:p>
        </p:txBody>
      </p:sp>
      <p:sp>
        <p:nvSpPr>
          <p:cNvPr id="32" name="左大括号"/>
          <p:cNvSpPr/>
          <p:nvPr/>
        </p:nvSpPr>
        <p:spPr bwMode="auto">
          <a:xfrm rot="10800000">
            <a:off x="10333038" y="3102610"/>
            <a:ext cx="267970" cy="1451610"/>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95" name="直角箭头"/>
          <p:cNvSpPr/>
          <p:nvPr/>
        </p:nvSpPr>
        <p:spPr bwMode="auto">
          <a:xfrm>
            <a:off x="8845868" y="4837430"/>
            <a:ext cx="914400" cy="906145"/>
          </a:xfrm>
          <a:custGeom>
            <a:avLst/>
            <a:gdLst>
              <a:gd name="T0" fmla="*/ 0 w 480"/>
              <a:gd name="T1" fmla="*/ 0 h 468"/>
              <a:gd name="T2" fmla="*/ 48 w 480"/>
              <a:gd name="T3" fmla="*/ 0 h 468"/>
              <a:gd name="T4" fmla="*/ 48 w 480"/>
              <a:gd name="T5" fmla="*/ 281 h 468"/>
              <a:gd name="T6" fmla="*/ 360 w 480"/>
              <a:gd name="T7" fmla="*/ 281 h 468"/>
              <a:gd name="T8" fmla="*/ 360 w 480"/>
              <a:gd name="T9" fmla="*/ 156 h 468"/>
              <a:gd name="T10" fmla="*/ 480 w 480"/>
              <a:gd name="T11" fmla="*/ 312 h 468"/>
              <a:gd name="T12" fmla="*/ 360 w 480"/>
              <a:gd name="T13" fmla="*/ 468 h 468"/>
              <a:gd name="T14" fmla="*/ 360 w 480"/>
              <a:gd name="T15" fmla="*/ 343 h 468"/>
              <a:gd name="T16" fmla="*/ 0 w 480"/>
              <a:gd name="T17" fmla="*/ 343 h 468"/>
              <a:gd name="T18" fmla="*/ 0 w 480"/>
              <a:gd name="T19"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468">
                <a:moveTo>
                  <a:pt x="0" y="0"/>
                </a:moveTo>
                <a:lnTo>
                  <a:pt x="48" y="0"/>
                </a:lnTo>
                <a:lnTo>
                  <a:pt x="48" y="281"/>
                </a:lnTo>
                <a:lnTo>
                  <a:pt x="360" y="281"/>
                </a:lnTo>
                <a:lnTo>
                  <a:pt x="360" y="156"/>
                </a:lnTo>
                <a:lnTo>
                  <a:pt x="480" y="312"/>
                </a:lnTo>
                <a:lnTo>
                  <a:pt x="360" y="468"/>
                </a:lnTo>
                <a:lnTo>
                  <a:pt x="360" y="343"/>
                </a:lnTo>
                <a:lnTo>
                  <a:pt x="0" y="343"/>
                </a:lnTo>
                <a:lnTo>
                  <a:pt x="0" y="0"/>
                </a:lnTo>
                <a:close/>
              </a:path>
            </a:pathLst>
          </a:custGeom>
          <a:solidFill>
            <a:schemeClr val="accent1"/>
          </a:solidFill>
          <a:ln>
            <a:noFill/>
          </a:ln>
        </p:spPr>
        <p:txBody>
          <a:bodyPr lIns="68580" tIns="34290" rIns="68580" bIns="3429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33" name="圆角矩形 32"/>
          <p:cNvSpPr/>
          <p:nvPr/>
        </p:nvSpPr>
        <p:spPr>
          <a:xfrm>
            <a:off x="9760268" y="5224145"/>
            <a:ext cx="1010920" cy="51943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p>
            <a:pPr algn="ctr"/>
            <a:r>
              <a:rPr lang="zh-CN" altLang="en-US" sz="1200">
                <a:latin typeface="宋体" panose="02010600030101010101" pitchFamily="2" charset="-122"/>
                <a:ea typeface="宋体" panose="02010600030101010101" pitchFamily="2" charset="-122"/>
                <a:sym typeface="+mn-ea"/>
              </a:rPr>
              <a:t>总花费</a:t>
            </a:r>
            <a:endParaRPr lang="zh-CN" altLang="en-US" sz="1200">
              <a:latin typeface="宋体" panose="02010600030101010101" pitchFamily="2" charset="-122"/>
              <a:ea typeface="宋体" panose="02010600030101010101" pitchFamily="2" charset="-122"/>
            </a:endParaRPr>
          </a:p>
          <a:p>
            <a:pPr algn="ctr"/>
            <a:r>
              <a:rPr lang="en-US" altLang="zh-CN" sz="1200">
                <a:latin typeface="宋体" panose="02010600030101010101" pitchFamily="2" charset="-122"/>
                <a:ea typeface="宋体" panose="02010600030101010101" pitchFamily="2" charset="-122"/>
              </a:rPr>
              <a:t>/</a:t>
            </a:r>
            <a:r>
              <a:rPr lang="zh-CN" altLang="zh-CN" sz="1200">
                <a:latin typeface="宋体" panose="02010600030101010101" pitchFamily="2" charset="-122"/>
                <a:ea typeface="宋体" panose="02010600030101010101" pitchFamily="2" charset="-122"/>
              </a:rPr>
              <a:t>总销售额</a:t>
            </a:r>
            <a:endParaRPr lang="zh-CN" altLang="en-US" sz="1200">
              <a:latin typeface="宋体" panose="02010600030101010101" pitchFamily="2" charset="-122"/>
              <a:ea typeface="宋体" panose="02010600030101010101" pitchFamily="2" charset="-122"/>
            </a:endParaRPr>
          </a:p>
        </p:txBody>
      </p:sp>
      <p:sp>
        <p:nvSpPr>
          <p:cNvPr id="34" name="左大括号"/>
          <p:cNvSpPr/>
          <p:nvPr/>
        </p:nvSpPr>
        <p:spPr bwMode="auto">
          <a:xfrm>
            <a:off x="7608888" y="5350510"/>
            <a:ext cx="267970" cy="1451610"/>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35" name="文本框 34"/>
          <p:cNvSpPr txBox="1"/>
          <p:nvPr/>
        </p:nvSpPr>
        <p:spPr>
          <a:xfrm>
            <a:off x="5327333" y="5350510"/>
            <a:ext cx="2170430" cy="306705"/>
          </a:xfrm>
          <a:prstGeom prst="rect">
            <a:avLst/>
          </a:prstGeom>
          <a:noFill/>
        </p:spPr>
        <p:txBody>
          <a:bodyPr wrap="square" rtlCol="0">
            <a:spAutoFit/>
          </a:bodyPr>
          <a:p>
            <a:r>
              <a:rPr lang="zh-CN" altLang="en-US" sz="1400">
                <a:solidFill>
                  <a:schemeClr val="bg1">
                    <a:lumMod val="50000"/>
                  </a:schemeClr>
                </a:solidFill>
                <a:latin typeface="宋体" panose="02010600030101010101" pitchFamily="2" charset="-122"/>
                <a:ea typeface="宋体" panose="02010600030101010101" pitchFamily="2" charset="-122"/>
              </a:rPr>
              <a:t>高曝光  </a:t>
            </a:r>
            <a:r>
              <a:rPr lang="zh-CN" altLang="en-US" sz="1400">
                <a:solidFill>
                  <a:schemeClr val="bg1">
                    <a:lumMod val="50000"/>
                  </a:schemeClr>
                </a:solidFill>
                <a:latin typeface="宋体" panose="02010600030101010101" pitchFamily="2" charset="-122"/>
                <a:ea typeface="宋体" panose="02010600030101010101" pitchFamily="2" charset="-122"/>
                <a:sym typeface="+mn-ea"/>
              </a:rPr>
              <a:t>无点击  无转化</a:t>
            </a:r>
            <a:endParaRPr lang="zh-CN" altLang="en-US" sz="1400">
              <a:solidFill>
                <a:schemeClr val="bg1">
                  <a:lumMod val="50000"/>
                </a:schemeClr>
              </a:solidFill>
              <a:latin typeface="宋体" panose="02010600030101010101" pitchFamily="2" charset="-122"/>
              <a:ea typeface="宋体" panose="02010600030101010101" pitchFamily="2" charset="-122"/>
              <a:sym typeface="+mn-ea"/>
            </a:endParaRPr>
          </a:p>
        </p:txBody>
      </p:sp>
      <p:sp>
        <p:nvSpPr>
          <p:cNvPr id="37" name="文本框 36"/>
          <p:cNvSpPr txBox="1"/>
          <p:nvPr/>
        </p:nvSpPr>
        <p:spPr>
          <a:xfrm>
            <a:off x="5327333" y="5922645"/>
            <a:ext cx="2170430" cy="306705"/>
          </a:xfrm>
          <a:prstGeom prst="rect">
            <a:avLst/>
          </a:prstGeom>
          <a:noFill/>
        </p:spPr>
        <p:txBody>
          <a:bodyPr wrap="square" rtlCol="0">
            <a:spAutoFit/>
          </a:bodyPr>
          <a:p>
            <a:r>
              <a:rPr lang="zh-CN" altLang="en-US" sz="1400">
                <a:solidFill>
                  <a:schemeClr val="bg1">
                    <a:lumMod val="50000"/>
                  </a:schemeClr>
                </a:solidFill>
                <a:latin typeface="宋体" panose="02010600030101010101" pitchFamily="2" charset="-122"/>
                <a:ea typeface="宋体" panose="02010600030101010101" pitchFamily="2" charset="-122"/>
              </a:rPr>
              <a:t>高曝光  </a:t>
            </a:r>
            <a:r>
              <a:rPr lang="zh-CN" altLang="en-US" sz="1400">
                <a:solidFill>
                  <a:schemeClr val="bg1">
                    <a:lumMod val="50000"/>
                  </a:schemeClr>
                </a:solidFill>
                <a:latin typeface="宋体" panose="02010600030101010101" pitchFamily="2" charset="-122"/>
                <a:ea typeface="宋体" panose="02010600030101010101" pitchFamily="2" charset="-122"/>
                <a:sym typeface="+mn-ea"/>
              </a:rPr>
              <a:t>高点击  无转化</a:t>
            </a:r>
            <a:endParaRPr lang="zh-CN" altLang="en-US" sz="1400">
              <a:solidFill>
                <a:schemeClr val="bg1">
                  <a:lumMod val="50000"/>
                </a:schemeClr>
              </a:solidFill>
              <a:latin typeface="宋体" panose="02010600030101010101" pitchFamily="2" charset="-122"/>
              <a:ea typeface="宋体" panose="02010600030101010101" pitchFamily="2" charset="-122"/>
              <a:sym typeface="+mn-ea"/>
            </a:endParaRPr>
          </a:p>
        </p:txBody>
      </p:sp>
      <p:sp>
        <p:nvSpPr>
          <p:cNvPr id="38" name="文本框 37"/>
          <p:cNvSpPr txBox="1"/>
          <p:nvPr/>
        </p:nvSpPr>
        <p:spPr>
          <a:xfrm>
            <a:off x="5327333" y="6495415"/>
            <a:ext cx="2381885" cy="306705"/>
          </a:xfrm>
          <a:prstGeom prst="rect">
            <a:avLst/>
          </a:prstGeom>
          <a:noFill/>
        </p:spPr>
        <p:txBody>
          <a:bodyPr wrap="square" rtlCol="0">
            <a:spAutoFit/>
          </a:bodyPr>
          <a:p>
            <a:r>
              <a:rPr lang="zh-CN" altLang="en-US" sz="1400">
                <a:solidFill>
                  <a:schemeClr val="bg1">
                    <a:lumMod val="50000"/>
                  </a:schemeClr>
                </a:solidFill>
                <a:latin typeface="宋体" panose="02010600030101010101" pitchFamily="2" charset="-122"/>
                <a:ea typeface="宋体" panose="02010600030101010101" pitchFamily="2" charset="-122"/>
              </a:rPr>
              <a:t>高曝光  高点击  </a:t>
            </a:r>
            <a:r>
              <a:rPr lang="en-US" altLang="zh-CN" sz="1400">
                <a:solidFill>
                  <a:schemeClr val="bg1">
                    <a:lumMod val="50000"/>
                  </a:schemeClr>
                </a:solidFill>
                <a:latin typeface="宋体" panose="02010600030101010101" pitchFamily="2" charset="-122"/>
                <a:ea typeface="宋体" panose="02010600030101010101" pitchFamily="2" charset="-122"/>
              </a:rPr>
              <a:t>Acos</a:t>
            </a:r>
            <a:r>
              <a:rPr lang="zh-CN" altLang="en-US" sz="1400">
                <a:solidFill>
                  <a:schemeClr val="bg1">
                    <a:lumMod val="50000"/>
                  </a:schemeClr>
                </a:solidFill>
                <a:latin typeface="宋体" panose="02010600030101010101" pitchFamily="2" charset="-122"/>
                <a:ea typeface="宋体" panose="02010600030101010101" pitchFamily="2" charset="-122"/>
              </a:rPr>
              <a:t>超标</a:t>
            </a:r>
            <a:endParaRPr lang="zh-CN" altLang="en-US" sz="1400">
              <a:solidFill>
                <a:schemeClr val="bg1">
                  <a:lumMod val="50000"/>
                </a:schemeClr>
              </a:solidFill>
              <a:latin typeface="宋体" panose="02010600030101010101" pitchFamily="2" charset="-122"/>
              <a:ea typeface="宋体" panose="02010600030101010101" pitchFamily="2" charset="-122"/>
            </a:endParaRPr>
          </a:p>
        </p:txBody>
      </p:sp>
      <p:sp>
        <p:nvSpPr>
          <p:cNvPr id="39" name="左箭头 38"/>
          <p:cNvSpPr/>
          <p:nvPr/>
        </p:nvSpPr>
        <p:spPr>
          <a:xfrm>
            <a:off x="4196398" y="5833110"/>
            <a:ext cx="979170" cy="48577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左大括号"/>
          <p:cNvSpPr/>
          <p:nvPr/>
        </p:nvSpPr>
        <p:spPr bwMode="auto">
          <a:xfrm rot="10800000">
            <a:off x="5175568" y="5349875"/>
            <a:ext cx="267970" cy="1451610"/>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41" name="左大括号"/>
          <p:cNvSpPr/>
          <p:nvPr/>
        </p:nvSpPr>
        <p:spPr bwMode="auto">
          <a:xfrm rot="10800000">
            <a:off x="10772458" y="4778375"/>
            <a:ext cx="267970" cy="1451610"/>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42" name="文本框 41"/>
          <p:cNvSpPr txBox="1"/>
          <p:nvPr/>
        </p:nvSpPr>
        <p:spPr>
          <a:xfrm>
            <a:off x="10628948" y="3102610"/>
            <a:ext cx="1440180" cy="368300"/>
          </a:xfrm>
          <a:prstGeom prst="rect">
            <a:avLst/>
          </a:prstGeom>
          <a:noFill/>
        </p:spPr>
        <p:txBody>
          <a:bodyPr wrap="none" rtlCol="0">
            <a:spAutoFit/>
          </a:bodyPr>
          <a:p>
            <a:pPr algn="l"/>
            <a:r>
              <a:rPr lang="zh-CN" altLang="en-US">
                <a:solidFill>
                  <a:schemeClr val="tx1">
                    <a:lumMod val="95000"/>
                    <a:lumOff val="5000"/>
                  </a:schemeClr>
                </a:solidFill>
                <a:latin typeface="宋体" panose="02010600030101010101" pitchFamily="2" charset="-122"/>
                <a:ea typeface="宋体" panose="02010600030101010101" pitchFamily="2" charset="-122"/>
              </a:rPr>
              <a:t>展示位 Impr</a:t>
            </a:r>
            <a:endParaRPr lang="zh-CN" altLang="en-US">
              <a:solidFill>
                <a:schemeClr val="tx1">
                  <a:lumMod val="95000"/>
                  <a:lumOff val="5000"/>
                </a:schemeClr>
              </a:solidFill>
              <a:latin typeface="宋体" panose="02010600030101010101" pitchFamily="2" charset="-122"/>
              <a:ea typeface="宋体" panose="02010600030101010101" pitchFamily="2" charset="-122"/>
            </a:endParaRPr>
          </a:p>
        </p:txBody>
      </p:sp>
      <p:sp>
        <p:nvSpPr>
          <p:cNvPr id="43" name="文本框 42"/>
          <p:cNvSpPr txBox="1"/>
          <p:nvPr/>
        </p:nvSpPr>
        <p:spPr>
          <a:xfrm>
            <a:off x="10628948" y="3643630"/>
            <a:ext cx="1097280" cy="368300"/>
          </a:xfrm>
          <a:prstGeom prst="rect">
            <a:avLst/>
          </a:prstGeom>
          <a:noFill/>
        </p:spPr>
        <p:txBody>
          <a:bodyPr wrap="none" rtlCol="0">
            <a:spAutoFit/>
          </a:bodyPr>
          <a:p>
            <a:pPr algn="l"/>
            <a:r>
              <a:rPr lang="zh-CN" altLang="en-US">
                <a:solidFill>
                  <a:schemeClr val="tx1">
                    <a:lumMod val="95000"/>
                    <a:lumOff val="5000"/>
                  </a:schemeClr>
                </a:solidFill>
                <a:latin typeface="宋体" panose="02010600030101010101" pitchFamily="2" charset="-122"/>
                <a:ea typeface="宋体" panose="02010600030101010101" pitchFamily="2" charset="-122"/>
              </a:rPr>
              <a:t>主图 </a:t>
            </a:r>
            <a:r>
              <a:rPr lang="en-US" altLang="zh-CN">
                <a:solidFill>
                  <a:schemeClr val="tx1">
                    <a:lumMod val="95000"/>
                    <a:lumOff val="5000"/>
                  </a:schemeClr>
                </a:solidFill>
                <a:latin typeface="宋体" panose="02010600030101010101" pitchFamily="2" charset="-122"/>
                <a:ea typeface="宋体" panose="02010600030101010101" pitchFamily="2" charset="-122"/>
                <a:sym typeface="+mn-ea"/>
              </a:rPr>
              <a:t>FBA</a:t>
            </a:r>
            <a:endParaRPr lang="en-US" altLang="zh-CN">
              <a:solidFill>
                <a:schemeClr val="tx1">
                  <a:lumMod val="95000"/>
                  <a:lumOff val="5000"/>
                </a:schemeClr>
              </a:solidFill>
              <a:latin typeface="宋体" panose="02010600030101010101" pitchFamily="2" charset="-122"/>
              <a:ea typeface="宋体" panose="02010600030101010101" pitchFamily="2" charset="-122"/>
              <a:sym typeface="+mn-ea"/>
            </a:endParaRPr>
          </a:p>
        </p:txBody>
      </p:sp>
      <p:sp>
        <p:nvSpPr>
          <p:cNvPr id="44" name="文本框 43"/>
          <p:cNvSpPr txBox="1"/>
          <p:nvPr/>
        </p:nvSpPr>
        <p:spPr>
          <a:xfrm>
            <a:off x="10628948" y="4185920"/>
            <a:ext cx="1440180" cy="368300"/>
          </a:xfrm>
          <a:prstGeom prst="rect">
            <a:avLst/>
          </a:prstGeom>
          <a:noFill/>
        </p:spPr>
        <p:txBody>
          <a:bodyPr wrap="none" rtlCol="0">
            <a:spAutoFit/>
          </a:bodyPr>
          <a:p>
            <a:pPr algn="l"/>
            <a:r>
              <a:rPr lang="zh-CN" altLang="en-US">
                <a:solidFill>
                  <a:schemeClr val="tx1">
                    <a:lumMod val="95000"/>
                    <a:lumOff val="5000"/>
                  </a:schemeClr>
                </a:solidFill>
                <a:latin typeface="宋体" panose="02010600030101010101" pitchFamily="2" charset="-122"/>
                <a:ea typeface="宋体" panose="02010600030101010101" pitchFamily="2" charset="-122"/>
              </a:rPr>
              <a:t>售价 </a:t>
            </a:r>
            <a:r>
              <a:rPr lang="en-US" altLang="zh-CN">
                <a:solidFill>
                  <a:schemeClr val="tx1">
                    <a:lumMod val="95000"/>
                    <a:lumOff val="5000"/>
                  </a:schemeClr>
                </a:solidFill>
                <a:latin typeface="宋体" panose="02010600030101010101" pitchFamily="2" charset="-122"/>
                <a:ea typeface="宋体" panose="02010600030101010101" pitchFamily="2" charset="-122"/>
              </a:rPr>
              <a:t>Review</a:t>
            </a:r>
            <a:endParaRPr lang="en-US" altLang="zh-CN">
              <a:solidFill>
                <a:schemeClr val="tx1">
                  <a:lumMod val="95000"/>
                  <a:lumOff val="5000"/>
                </a:schemeClr>
              </a:solidFill>
              <a:latin typeface="宋体" panose="02010600030101010101" pitchFamily="2" charset="-122"/>
              <a:ea typeface="宋体" panose="02010600030101010101" pitchFamily="2" charset="-122"/>
            </a:endParaRPr>
          </a:p>
        </p:txBody>
      </p:sp>
      <p:sp>
        <p:nvSpPr>
          <p:cNvPr id="48" name="文本框 47"/>
          <p:cNvSpPr txBox="1"/>
          <p:nvPr/>
        </p:nvSpPr>
        <p:spPr>
          <a:xfrm>
            <a:off x="11040428" y="4778375"/>
            <a:ext cx="894080" cy="306705"/>
          </a:xfrm>
          <a:prstGeom prst="rect">
            <a:avLst/>
          </a:prstGeom>
          <a:noFill/>
        </p:spPr>
        <p:txBody>
          <a:bodyPr wrap="none" rtlCol="0">
            <a:spAutoFit/>
          </a:bodyPr>
          <a:p>
            <a:pPr algn="l"/>
            <a:r>
              <a:rPr lang="zh-CN" altLang="en-US" sz="1400">
                <a:latin typeface="宋体" panose="02010600030101010101" pitchFamily="2" charset="-122"/>
                <a:ea typeface="宋体" panose="02010600030101010101" pitchFamily="2" charset="-122"/>
              </a:rPr>
              <a:t>图片逻辑</a:t>
            </a:r>
            <a:endParaRPr lang="zh-CN" altLang="en-US" sz="1400">
              <a:latin typeface="宋体" panose="02010600030101010101" pitchFamily="2" charset="-122"/>
              <a:ea typeface="宋体" panose="02010600030101010101" pitchFamily="2" charset="-122"/>
            </a:endParaRPr>
          </a:p>
        </p:txBody>
      </p:sp>
      <p:sp>
        <p:nvSpPr>
          <p:cNvPr id="49" name="文本框 48"/>
          <p:cNvSpPr txBox="1"/>
          <p:nvPr/>
        </p:nvSpPr>
        <p:spPr>
          <a:xfrm>
            <a:off x="11040428" y="5351145"/>
            <a:ext cx="894080" cy="306705"/>
          </a:xfrm>
          <a:prstGeom prst="rect">
            <a:avLst/>
          </a:prstGeom>
          <a:noFill/>
        </p:spPr>
        <p:txBody>
          <a:bodyPr wrap="none" rtlCol="0">
            <a:spAutoFit/>
          </a:bodyPr>
          <a:p>
            <a:pPr algn="l"/>
            <a:r>
              <a:rPr lang="zh-CN" altLang="en-US" sz="1400">
                <a:latin typeface="宋体" panose="02010600030101010101" pitchFamily="2" charset="-122"/>
                <a:ea typeface="宋体" panose="02010600030101010101" pitchFamily="2" charset="-122"/>
              </a:rPr>
              <a:t>功能特点</a:t>
            </a:r>
            <a:endParaRPr lang="zh-CN" altLang="en-US" sz="1400">
              <a:latin typeface="宋体" panose="02010600030101010101" pitchFamily="2" charset="-122"/>
              <a:ea typeface="宋体" panose="02010600030101010101" pitchFamily="2" charset="-122"/>
            </a:endParaRPr>
          </a:p>
        </p:txBody>
      </p:sp>
      <p:sp>
        <p:nvSpPr>
          <p:cNvPr id="58" name="文本框 57"/>
          <p:cNvSpPr txBox="1"/>
          <p:nvPr/>
        </p:nvSpPr>
        <p:spPr>
          <a:xfrm>
            <a:off x="11040428" y="5922010"/>
            <a:ext cx="1071880" cy="306705"/>
          </a:xfrm>
          <a:prstGeom prst="rect">
            <a:avLst/>
          </a:prstGeom>
          <a:noFill/>
        </p:spPr>
        <p:txBody>
          <a:bodyPr wrap="none" rtlCol="0">
            <a:spAutoFit/>
          </a:bodyPr>
          <a:p>
            <a:pPr algn="l"/>
            <a:r>
              <a:rPr lang="en-US" sz="1400">
                <a:latin typeface="宋体" panose="02010600030101010101" pitchFamily="2" charset="-122"/>
                <a:ea typeface="宋体" panose="02010600030101010101" pitchFamily="2" charset="-122"/>
              </a:rPr>
              <a:t>Review</a:t>
            </a:r>
            <a:r>
              <a:rPr lang="zh-CN" altLang="en-US" sz="1400">
                <a:latin typeface="宋体" panose="02010600030101010101" pitchFamily="2" charset="-122"/>
                <a:ea typeface="宋体" panose="02010600030101010101" pitchFamily="2" charset="-122"/>
              </a:rPr>
              <a:t>等级</a:t>
            </a:r>
            <a:endParaRPr lang="zh-CN" altLang="en-US" sz="1400">
              <a:latin typeface="宋体" panose="02010600030101010101" pitchFamily="2" charset="-122"/>
              <a:ea typeface="宋体" panose="02010600030101010101" pitchFamily="2" charset="-122"/>
            </a:endParaRPr>
          </a:p>
        </p:txBody>
      </p:sp>
      <p:sp>
        <p:nvSpPr>
          <p:cNvPr id="59" name="圆角矩形 58"/>
          <p:cNvSpPr/>
          <p:nvPr/>
        </p:nvSpPr>
        <p:spPr>
          <a:xfrm>
            <a:off x="2751138" y="5815330"/>
            <a:ext cx="1445260" cy="519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宋体" panose="02010600030101010101" pitchFamily="2" charset="-122"/>
                <a:ea typeface="宋体" panose="02010600030101010101" pitchFamily="2" charset="-122"/>
              </a:rPr>
              <a:t>页面优化</a:t>
            </a:r>
            <a:endParaRPr lang="zh-CN" altLang="en-US" b="1">
              <a:latin typeface="宋体" panose="02010600030101010101" pitchFamily="2" charset="-122"/>
              <a:ea typeface="宋体" panose="02010600030101010101" pitchFamily="2" charset="-122"/>
            </a:endParaRPr>
          </a:p>
        </p:txBody>
      </p:sp>
      <p:sp>
        <p:nvSpPr>
          <p:cNvPr id="60" name="左箭头 59"/>
          <p:cNvSpPr/>
          <p:nvPr/>
        </p:nvSpPr>
        <p:spPr>
          <a:xfrm>
            <a:off x="1771968" y="5833745"/>
            <a:ext cx="979170" cy="48577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 name="圆角矩形 60"/>
          <p:cNvSpPr/>
          <p:nvPr/>
        </p:nvSpPr>
        <p:spPr>
          <a:xfrm>
            <a:off x="326708" y="5817235"/>
            <a:ext cx="1445260" cy="519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宋体" panose="02010600030101010101" pitchFamily="2" charset="-122"/>
                <a:ea typeface="宋体" panose="02010600030101010101" pitchFamily="2" charset="-122"/>
              </a:rPr>
              <a:t>数据报表</a:t>
            </a:r>
            <a:endParaRPr lang="zh-CN" altLang="en-US" b="1">
              <a:latin typeface="宋体" panose="02010600030101010101" pitchFamily="2" charset="-122"/>
              <a:ea typeface="宋体" panose="02010600030101010101" pitchFamily="2" charset="-122"/>
            </a:endParaRPr>
          </a:p>
        </p:txBody>
      </p:sp>
      <p:sp>
        <p:nvSpPr>
          <p:cNvPr id="80" name="弧形箭头"/>
          <p:cNvSpPr/>
          <p:nvPr/>
        </p:nvSpPr>
        <p:spPr>
          <a:xfrm>
            <a:off x="1568133" y="5480685"/>
            <a:ext cx="480695" cy="441960"/>
          </a:xfrm>
          <a:custGeom>
            <a:avLst/>
            <a:gdLst>
              <a:gd name="connsiteX0" fmla="*/ 3239249 w 4336651"/>
              <a:gd name="connsiteY0" fmla="*/ 0 h 3547393"/>
              <a:gd name="connsiteX1" fmla="*/ 4336651 w 4336651"/>
              <a:gd name="connsiteY1" fmla="*/ 1892072 h 3547393"/>
              <a:gd name="connsiteX2" fmla="*/ 3717068 w 4336651"/>
              <a:gd name="connsiteY2" fmla="*/ 1892072 h 3547393"/>
              <a:gd name="connsiteX3" fmla="*/ 3711644 w 4336651"/>
              <a:gd name="connsiteY3" fmla="*/ 1906388 h 3547393"/>
              <a:gd name="connsiteX4" fmla="*/ 2625527 w 4336651"/>
              <a:gd name="connsiteY4" fmla="*/ 3322191 h 3547393"/>
              <a:gd name="connsiteX5" fmla="*/ 0 w 4336651"/>
              <a:gd name="connsiteY5" fmla="*/ 2973976 h 3547393"/>
              <a:gd name="connsiteX6" fmla="*/ 2732823 w 4336651"/>
              <a:gd name="connsiteY6" fmla="*/ 2066101 h 3547393"/>
              <a:gd name="connsiteX7" fmla="*/ 2762800 w 4336651"/>
              <a:gd name="connsiteY7" fmla="*/ 1892072 h 3547393"/>
              <a:gd name="connsiteX8" fmla="*/ 2141847 w 4336651"/>
              <a:gd name="connsiteY8" fmla="*/ 1892072 h 354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6651" h="3547393">
                <a:moveTo>
                  <a:pt x="3239249" y="0"/>
                </a:moveTo>
                <a:lnTo>
                  <a:pt x="4336651" y="1892072"/>
                </a:lnTo>
                <a:lnTo>
                  <a:pt x="3717068" y="1892072"/>
                </a:lnTo>
                <a:lnTo>
                  <a:pt x="3711644" y="1906388"/>
                </a:lnTo>
                <a:cubicBezTo>
                  <a:pt x="3538495" y="2360757"/>
                  <a:pt x="3267598" y="3005948"/>
                  <a:pt x="2625527" y="3322191"/>
                </a:cubicBezTo>
                <a:cubicBezTo>
                  <a:pt x="2153741" y="3544604"/>
                  <a:pt x="1380909" y="3814943"/>
                  <a:pt x="0" y="2973976"/>
                </a:cubicBezTo>
                <a:cubicBezTo>
                  <a:pt x="1506526" y="3527565"/>
                  <a:pt x="2462928" y="3298880"/>
                  <a:pt x="2732823" y="2066101"/>
                </a:cubicBezTo>
                <a:lnTo>
                  <a:pt x="2762800" y="1892072"/>
                </a:lnTo>
                <a:lnTo>
                  <a:pt x="2141847" y="189207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64" name="椭圆形标注 63"/>
          <p:cNvSpPr/>
          <p:nvPr/>
        </p:nvSpPr>
        <p:spPr>
          <a:xfrm>
            <a:off x="1568133" y="4837430"/>
            <a:ext cx="914400" cy="611505"/>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p>
        </p:txBody>
      </p:sp>
      <p:sp>
        <p:nvSpPr>
          <p:cNvPr id="65" name="文本框 64"/>
          <p:cNvSpPr txBox="1"/>
          <p:nvPr/>
        </p:nvSpPr>
        <p:spPr>
          <a:xfrm>
            <a:off x="1568133" y="4895850"/>
            <a:ext cx="914400" cy="553085"/>
          </a:xfrm>
          <a:prstGeom prst="rect">
            <a:avLst/>
          </a:prstGeom>
          <a:noFill/>
        </p:spPr>
        <p:txBody>
          <a:bodyPr wrap="square" rtlCol="0">
            <a:spAutoFit/>
          </a:bodyPr>
          <a:p>
            <a:pPr algn="ctr"/>
            <a:r>
              <a:rPr lang="zh-CN" sz="1000">
                <a:solidFill>
                  <a:schemeClr val="bg2"/>
                </a:solidFill>
                <a:latin typeface="宋体" panose="02010600030101010101" pitchFamily="2" charset="-122"/>
                <a:ea typeface="宋体" panose="02010600030101010101" pitchFamily="2" charset="-122"/>
                <a:sym typeface="+mn-ea"/>
              </a:rPr>
              <a:t>关键词竞价两天</a:t>
            </a:r>
            <a:endParaRPr lang="zh-CN" sz="1000">
              <a:solidFill>
                <a:schemeClr val="bg2"/>
              </a:solidFill>
              <a:latin typeface="宋体" panose="02010600030101010101" pitchFamily="2" charset="-122"/>
              <a:ea typeface="宋体" panose="02010600030101010101" pitchFamily="2" charset="-122"/>
              <a:sym typeface="+mn-ea"/>
            </a:endParaRPr>
          </a:p>
          <a:p>
            <a:pPr algn="ctr"/>
            <a:r>
              <a:rPr lang="zh-CN" sz="1000">
                <a:solidFill>
                  <a:schemeClr val="bg2"/>
                </a:solidFill>
                <a:latin typeface="宋体" panose="02010600030101010101" pitchFamily="2" charset="-122"/>
                <a:ea typeface="宋体" panose="02010600030101010101" pitchFamily="2" charset="-122"/>
                <a:sym typeface="+mn-ea"/>
              </a:rPr>
              <a:t>报表一周</a:t>
            </a:r>
            <a:endParaRPr lang="zh-CN" altLang="en-US" sz="1000">
              <a:solidFill>
                <a:schemeClr val="bg2"/>
              </a:solidFill>
              <a:latin typeface="宋体" panose="02010600030101010101" pitchFamily="2" charset="-122"/>
              <a:ea typeface="宋体" panose="02010600030101010101" pitchFamily="2" charset="-122"/>
              <a:sym typeface="+mn-ea"/>
            </a:endParaRPr>
          </a:p>
        </p:txBody>
      </p:sp>
      <p:sp>
        <p:nvSpPr>
          <p:cNvPr id="66" name="上箭头 65"/>
          <p:cNvSpPr/>
          <p:nvPr/>
        </p:nvSpPr>
        <p:spPr>
          <a:xfrm>
            <a:off x="806768" y="4854575"/>
            <a:ext cx="485775" cy="97917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7" name="圆角矩形 66"/>
          <p:cNvSpPr/>
          <p:nvPr/>
        </p:nvSpPr>
        <p:spPr>
          <a:xfrm>
            <a:off x="327343" y="4318000"/>
            <a:ext cx="1445260" cy="519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宋体" panose="02010600030101010101" pitchFamily="2" charset="-122"/>
                <a:ea typeface="宋体" panose="02010600030101010101" pitchFamily="2" charset="-122"/>
              </a:rPr>
              <a:t>一个月</a:t>
            </a:r>
            <a:r>
              <a:rPr lang="en-US" altLang="zh-CN" b="1">
                <a:latin typeface="宋体" panose="02010600030101010101" pitchFamily="2" charset="-122"/>
                <a:ea typeface="宋体" panose="02010600030101010101" pitchFamily="2" charset="-122"/>
              </a:rPr>
              <a:t>Acos</a:t>
            </a:r>
            <a:endParaRPr lang="en-US" altLang="zh-CN" b="1">
              <a:latin typeface="宋体" panose="02010600030101010101" pitchFamily="2" charset="-122"/>
              <a:ea typeface="宋体" panose="02010600030101010101" pitchFamily="2" charset="-122"/>
            </a:endParaRPr>
          </a:p>
          <a:p>
            <a:pPr algn="ctr"/>
            <a:r>
              <a:rPr lang="en-US" altLang="zh-CN" b="1">
                <a:latin typeface="宋体" panose="02010600030101010101" pitchFamily="2" charset="-122"/>
                <a:ea typeface="宋体" panose="02010600030101010101" pitchFamily="2" charset="-122"/>
              </a:rPr>
              <a:t>20%</a:t>
            </a:r>
            <a:r>
              <a:rPr lang="zh-CN" altLang="en-US" b="1">
                <a:latin typeface="宋体" panose="02010600030101010101" pitchFamily="2" charset="-122"/>
                <a:ea typeface="宋体" panose="02010600030101010101" pitchFamily="2" charset="-122"/>
              </a:rPr>
              <a:t>以下</a:t>
            </a:r>
            <a:endParaRPr lang="zh-CN" altLang="en-US" b="1">
              <a:latin typeface="宋体" panose="02010600030101010101" pitchFamily="2" charset="-122"/>
              <a:ea typeface="宋体" panose="02010600030101010101" pitchFamily="2" charset="-122"/>
            </a:endParaRPr>
          </a:p>
        </p:txBody>
      </p:sp>
      <p:sp>
        <p:nvSpPr>
          <p:cNvPr id="68" name="圆角右箭头 67"/>
          <p:cNvSpPr/>
          <p:nvPr/>
        </p:nvSpPr>
        <p:spPr>
          <a:xfrm>
            <a:off x="955358" y="3643630"/>
            <a:ext cx="741680" cy="66548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69" name="圆角矩形 68"/>
          <p:cNvSpPr/>
          <p:nvPr/>
        </p:nvSpPr>
        <p:spPr>
          <a:xfrm>
            <a:off x="1697038" y="3568065"/>
            <a:ext cx="1793240" cy="519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zh-CN" b="1">
                <a:latin typeface="宋体" panose="02010600030101010101" pitchFamily="2" charset="-122"/>
                <a:ea typeface="宋体" panose="02010600030101010101" pitchFamily="2" charset="-122"/>
              </a:rPr>
              <a:t>不断优化调整</a:t>
            </a:r>
            <a:endParaRPr lang="zh-CN" altLang="zh-CN" b="1">
              <a:latin typeface="宋体" panose="02010600030101010101" pitchFamily="2" charset="-122"/>
              <a:ea typeface="宋体" panose="02010600030101010101" pitchFamily="2" charset="-122"/>
            </a:endParaRPr>
          </a:p>
          <a:p>
            <a:pPr algn="ctr"/>
            <a:r>
              <a:rPr lang="en-US" altLang="zh-CN" b="1">
                <a:latin typeface="宋体" panose="02010600030101010101" pitchFamily="2" charset="-122"/>
                <a:ea typeface="宋体" panose="02010600030101010101" pitchFamily="2" charset="-122"/>
              </a:rPr>
              <a:t>6.50%</a:t>
            </a:r>
            <a:endParaRPr lang="en-US" altLang="zh-CN" b="1">
              <a:latin typeface="宋体" panose="02010600030101010101" pitchFamily="2" charset="-122"/>
              <a:ea typeface="宋体" panose="02010600030101010101" pitchFamily="2" charset="-122"/>
            </a:endParaRPr>
          </a:p>
        </p:txBody>
      </p:sp>
      <p:sp>
        <p:nvSpPr>
          <p:cNvPr id="70" name="右箭头 69"/>
          <p:cNvSpPr/>
          <p:nvPr/>
        </p:nvSpPr>
        <p:spPr>
          <a:xfrm>
            <a:off x="3494088" y="3601720"/>
            <a:ext cx="979170" cy="4857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 name="圆角矩形 70"/>
          <p:cNvSpPr/>
          <p:nvPr/>
        </p:nvSpPr>
        <p:spPr>
          <a:xfrm>
            <a:off x="4473258" y="3585210"/>
            <a:ext cx="1649095" cy="519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宋体" panose="02010600030101010101" pitchFamily="2" charset="-122"/>
                <a:ea typeface="宋体" panose="02010600030101010101" pitchFamily="2" charset="-122"/>
              </a:rPr>
              <a:t>两个月没赚钱</a:t>
            </a:r>
            <a:endParaRPr lang="zh-CN" altLang="en-US" b="1">
              <a:latin typeface="宋体" panose="02010600030101010101" pitchFamily="2" charset="-122"/>
              <a:ea typeface="宋体" panose="02010600030101010101" pitchFamily="2" charset="-122"/>
            </a:endParaRPr>
          </a:p>
          <a:p>
            <a:pPr algn="ctr"/>
            <a:r>
              <a:rPr lang="zh-CN" altLang="en-US" b="1">
                <a:latin typeface="宋体" panose="02010600030101010101" pitchFamily="2" charset="-122"/>
                <a:ea typeface="宋体" panose="02010600030101010101" pitchFamily="2" charset="-122"/>
              </a:rPr>
              <a:t>放弃打广告</a:t>
            </a:r>
            <a:endParaRPr lang="zh-CN" altLang="en-US" b="1">
              <a:latin typeface="宋体" panose="02010600030101010101" pitchFamily="2" charset="-122"/>
              <a:ea typeface="宋体" panose="02010600030101010101" pitchFamily="2" charset="-122"/>
            </a:endParaRPr>
          </a:p>
        </p:txBody>
      </p:sp>
      <p:sp>
        <p:nvSpPr>
          <p:cNvPr id="4" name="直线箭头"/>
          <p:cNvSpPr/>
          <p:nvPr/>
        </p:nvSpPr>
        <p:spPr>
          <a:xfrm rot="16200000">
            <a:off x="3141663" y="5440045"/>
            <a:ext cx="664210" cy="869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6" name="圆角矩形 15"/>
          <p:cNvSpPr/>
          <p:nvPr/>
        </p:nvSpPr>
        <p:spPr>
          <a:xfrm>
            <a:off x="2835593" y="4822190"/>
            <a:ext cx="1276985" cy="3295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rgbClr val="FFC000"/>
                </a:solidFill>
                <a:latin typeface="宋体" panose="02010600030101010101" pitchFamily="2" charset="-122"/>
                <a:ea typeface="宋体" panose="02010600030101010101" pitchFamily="2" charset="-122"/>
                <a:sym typeface="+mn-ea"/>
              </a:rPr>
              <a:t>先刷长尾词</a:t>
            </a:r>
            <a:endParaRPr lang="zh-CN" altLang="en-US" sz="1200">
              <a:solidFill>
                <a:srgbClr val="FFC000"/>
              </a:solidFill>
              <a:latin typeface="宋体" panose="02010600030101010101" pitchFamily="2" charset="-122"/>
              <a:ea typeface="宋体" panose="02010600030101010101" pitchFamily="2" charset="-122"/>
              <a:sym typeface="+mn-ea"/>
            </a:endParaRPr>
          </a:p>
          <a:p>
            <a:pPr algn="ctr"/>
            <a:r>
              <a:rPr lang="zh-CN" altLang="en-US" sz="1200">
                <a:solidFill>
                  <a:srgbClr val="FFC000"/>
                </a:solidFill>
                <a:latin typeface="宋体" panose="02010600030101010101" pitchFamily="2" charset="-122"/>
                <a:ea typeface="宋体" panose="02010600030101010101" pitchFamily="2" charset="-122"/>
                <a:sym typeface="+mn-ea"/>
              </a:rPr>
              <a:t>后刷精准词</a:t>
            </a:r>
            <a:endParaRPr lang="zh-CN" altLang="en-US" sz="1200">
              <a:solidFill>
                <a:srgbClr val="FFC000"/>
              </a:solidFill>
              <a:latin typeface="宋体" panose="02010600030101010101" pitchFamily="2" charset="-122"/>
              <a:ea typeface="宋体" panose="02010600030101010101" pitchFamily="2" charset="-122"/>
              <a:sym typeface="+mn-ea"/>
            </a:endParaRPr>
          </a:p>
        </p:txBody>
      </p:sp>
      <p:sp>
        <p:nvSpPr>
          <p:cNvPr id="135" name="尖角箭头"/>
          <p:cNvSpPr/>
          <p:nvPr/>
        </p:nvSpPr>
        <p:spPr>
          <a:xfrm>
            <a:off x="1368743" y="1019175"/>
            <a:ext cx="1960245" cy="287020"/>
          </a:xfrm>
          <a:custGeom>
            <a:avLst/>
            <a:gdLst>
              <a:gd name="connsiteX0" fmla="*/ 4381875 w 6516714"/>
              <a:gd name="connsiteY0" fmla="*/ 0 h 2476413"/>
              <a:gd name="connsiteX1" fmla="*/ 6516714 w 6516714"/>
              <a:gd name="connsiteY1" fmla="*/ 1238208 h 2476413"/>
              <a:gd name="connsiteX2" fmla="*/ 4381875 w 6516714"/>
              <a:gd name="connsiteY2" fmla="*/ 2476413 h 2476413"/>
              <a:gd name="connsiteX3" fmla="*/ 4381875 w 6516714"/>
              <a:gd name="connsiteY3" fmla="*/ 2456682 h 2476413"/>
              <a:gd name="connsiteX4" fmla="*/ 4855462 w 6516714"/>
              <a:gd name="connsiteY4" fmla="*/ 1644997 h 2476413"/>
              <a:gd name="connsiteX5" fmla="*/ 0 w 6516714"/>
              <a:gd name="connsiteY5" fmla="*/ 1238206 h 2476413"/>
              <a:gd name="connsiteX6" fmla="*/ 4855461 w 6516714"/>
              <a:gd name="connsiteY6" fmla="*/ 831415 h 2476413"/>
              <a:gd name="connsiteX7" fmla="*/ 4381875 w 6516714"/>
              <a:gd name="connsiteY7" fmla="*/ 19731 h 247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714" h="2476413">
                <a:moveTo>
                  <a:pt x="4381875" y="0"/>
                </a:moveTo>
                <a:lnTo>
                  <a:pt x="6516714" y="1238208"/>
                </a:lnTo>
                <a:lnTo>
                  <a:pt x="4381875" y="2476413"/>
                </a:lnTo>
                <a:lnTo>
                  <a:pt x="4381875" y="2456682"/>
                </a:lnTo>
                <a:lnTo>
                  <a:pt x="4855462" y="1644997"/>
                </a:lnTo>
                <a:lnTo>
                  <a:pt x="0" y="1238206"/>
                </a:lnTo>
                <a:lnTo>
                  <a:pt x="4855461" y="831415"/>
                </a:lnTo>
                <a:lnTo>
                  <a:pt x="4381875" y="19731"/>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p>
            <a:pPr algn="ctr" eaLnBrk="1" fontAlgn="auto" hangingPunct="1">
              <a:spcBef>
                <a:spcPts val="0"/>
              </a:spcBef>
              <a:spcAft>
                <a:spcPts val="0"/>
              </a:spcAft>
              <a:defRPr/>
            </a:pPr>
            <a:endParaRPr lang="zh-CN" altLang="en-US">
              <a:solidFill>
                <a:srgbClr val="FFFFFF"/>
              </a:solidFill>
            </a:endParaRPr>
          </a:p>
        </p:txBody>
      </p:sp>
      <p:sp>
        <p:nvSpPr>
          <p:cNvPr id="26" name="矩形 25"/>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51" name="文本框 50"/>
          <p:cNvSpPr txBox="1"/>
          <p:nvPr/>
        </p:nvSpPr>
        <p:spPr>
          <a:xfrm>
            <a:off x="857885" y="283210"/>
            <a:ext cx="3435985" cy="583565"/>
          </a:xfrm>
          <a:prstGeom prst="rect">
            <a:avLst/>
          </a:prstGeom>
          <a:noFill/>
        </p:spPr>
        <p:txBody>
          <a:bodyPr wrap="none" rtlCol="0">
            <a:spAutoFit/>
          </a:bodyPr>
          <a:p>
            <a:pPr algn="l">
              <a:buFont typeface="Arial" panose="020B0604020202020204" pitchFamily="34" charset="0"/>
              <a:buNone/>
            </a:pPr>
            <a:r>
              <a:rPr lang="en-US" sz="3200" b="1" dirty="0">
                <a:solidFill>
                  <a:schemeClr val="tx1">
                    <a:lumMod val="95000"/>
                    <a:lumOff val="5000"/>
                  </a:schemeClr>
                </a:solidFill>
                <a:latin typeface="微软雅黑" panose="020B0503020204020204" charset="-122"/>
                <a:ea typeface="微软雅黑" panose="020B0503020204020204" charset="-122"/>
                <a:sym typeface="+mn-ea"/>
              </a:rPr>
              <a:t>CPC</a:t>
            </a:r>
            <a:r>
              <a:rPr lang="zh-CN" altLang="en-US" sz="3200" b="1" dirty="0">
                <a:solidFill>
                  <a:schemeClr val="tx1">
                    <a:lumMod val="95000"/>
                    <a:lumOff val="5000"/>
                  </a:schemeClr>
                </a:solidFill>
                <a:latin typeface="微软雅黑" panose="020B0503020204020204" charset="-122"/>
                <a:ea typeface="微软雅黑" panose="020B0503020204020204" charset="-122"/>
                <a:sym typeface="+mn-ea"/>
              </a:rPr>
              <a:t>站内驱动模型</a:t>
            </a:r>
            <a:endParaRPr lang="en-US" altLang="zh-CN" sz="3200" b="1">
              <a:solidFill>
                <a:schemeClr val="tx1">
                  <a:lumMod val="75000"/>
                  <a:lumOff val="25000"/>
                </a:schemeClr>
              </a:solidFill>
            </a:endParaRPr>
          </a:p>
        </p:txBody>
      </p:sp>
      <p:sp>
        <p:nvSpPr>
          <p:cNvPr id="53" name="矩形 52"/>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p:cTn id="7" dur="500" fill="hold"/>
                                        <p:tgtEl>
                                          <p:spTgt spid="57"/>
                                        </p:tgtEl>
                                        <p:attrNameLst>
                                          <p:attrName>ppt_w</p:attrName>
                                        </p:attrNameLst>
                                      </p:cBhvr>
                                      <p:tavLst>
                                        <p:tav tm="0">
                                          <p:val>
                                            <p:fltVal val="0"/>
                                          </p:val>
                                        </p:tav>
                                        <p:tav tm="100000">
                                          <p:val>
                                            <p:strVal val="#ppt_w"/>
                                          </p:val>
                                        </p:tav>
                                      </p:tavLst>
                                    </p:anim>
                                    <p:anim calcmode="lin" valueType="num">
                                      <p:cBhvr>
                                        <p:cTn id="8" dur="500" fill="hold"/>
                                        <p:tgtEl>
                                          <p:spTgt spid="57"/>
                                        </p:tgtEl>
                                        <p:attrNameLst>
                                          <p:attrName>ppt_h</p:attrName>
                                        </p:attrNameLst>
                                      </p:cBhvr>
                                      <p:tavLst>
                                        <p:tav tm="0">
                                          <p:val>
                                            <p:fltVal val="0"/>
                                          </p:val>
                                        </p:tav>
                                        <p:tav tm="100000">
                                          <p:val>
                                            <p:strVal val="#ppt_h"/>
                                          </p:val>
                                        </p:tav>
                                      </p:tavLst>
                                    </p:anim>
                                    <p:animEffect transition="in" filter="fade">
                                      <p:cBhvr>
                                        <p:cTn id="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5" name="矩形 4"/>
          <p:cNvSpPr/>
          <p:nvPr/>
        </p:nvSpPr>
        <p:spPr>
          <a:xfrm flipV="1">
            <a:off x="128" y="6762496"/>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2" name="任意多边形 11"/>
          <p:cNvSpPr/>
          <p:nvPr/>
        </p:nvSpPr>
        <p:spPr>
          <a:xfrm rot="16200000" flipH="1">
            <a:off x="1351807" y="5075570"/>
            <a:ext cx="802644" cy="802645"/>
          </a:xfrm>
          <a:custGeom>
            <a:avLst/>
            <a:gdLst>
              <a:gd name="connsiteX0" fmla="*/ 0 w 1196790"/>
              <a:gd name="connsiteY0" fmla="*/ 0 h 1196791"/>
              <a:gd name="connsiteX1" fmla="*/ 0 w 1196790"/>
              <a:gd name="connsiteY1" fmla="*/ 141225 h 1196791"/>
              <a:gd name="connsiteX2" fmla="*/ 1055566 w 1196790"/>
              <a:gd name="connsiteY2" fmla="*/ 141225 h 1196791"/>
              <a:gd name="connsiteX3" fmla="*/ 1055566 w 1196790"/>
              <a:gd name="connsiteY3" fmla="*/ 1196791 h 1196791"/>
              <a:gd name="connsiteX4" fmla="*/ 1196790 w 1196790"/>
              <a:gd name="connsiteY4" fmla="*/ 1196791 h 1196791"/>
              <a:gd name="connsiteX5" fmla="*/ 1196790 w 1196790"/>
              <a:gd name="connsiteY5" fmla="*/ 0 h 1196791"/>
              <a:gd name="connsiteX6" fmla="*/ 1196790 w 1196790"/>
              <a:gd name="connsiteY6" fmla="*/ 0 h 1196791"/>
              <a:gd name="connsiteX7" fmla="*/ 1055566 w 1196790"/>
              <a:gd name="connsiteY7" fmla="*/ 0 h 1196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6790" h="1196791">
                <a:moveTo>
                  <a:pt x="0" y="0"/>
                </a:moveTo>
                <a:lnTo>
                  <a:pt x="0" y="141225"/>
                </a:lnTo>
                <a:lnTo>
                  <a:pt x="1055566" y="141225"/>
                </a:lnTo>
                <a:lnTo>
                  <a:pt x="1055566" y="1196791"/>
                </a:lnTo>
                <a:lnTo>
                  <a:pt x="1196790" y="1196791"/>
                </a:lnTo>
                <a:lnTo>
                  <a:pt x="1196790" y="0"/>
                </a:lnTo>
                <a:lnTo>
                  <a:pt x="1196790" y="0"/>
                </a:lnTo>
                <a:lnTo>
                  <a:pt x="1055566"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p:nvSpPr>
        <p:spPr>
          <a:xfrm rot="5400000" flipH="1">
            <a:off x="5462246" y="2039642"/>
            <a:ext cx="802644" cy="802645"/>
          </a:xfrm>
          <a:custGeom>
            <a:avLst/>
            <a:gdLst>
              <a:gd name="connsiteX0" fmla="*/ 0 w 1196790"/>
              <a:gd name="connsiteY0" fmla="*/ 0 h 1196791"/>
              <a:gd name="connsiteX1" fmla="*/ 0 w 1196790"/>
              <a:gd name="connsiteY1" fmla="*/ 141225 h 1196791"/>
              <a:gd name="connsiteX2" fmla="*/ 1055566 w 1196790"/>
              <a:gd name="connsiteY2" fmla="*/ 141225 h 1196791"/>
              <a:gd name="connsiteX3" fmla="*/ 1055566 w 1196790"/>
              <a:gd name="connsiteY3" fmla="*/ 1196791 h 1196791"/>
              <a:gd name="connsiteX4" fmla="*/ 1196790 w 1196790"/>
              <a:gd name="connsiteY4" fmla="*/ 1196791 h 1196791"/>
              <a:gd name="connsiteX5" fmla="*/ 1196790 w 1196790"/>
              <a:gd name="connsiteY5" fmla="*/ 0 h 1196791"/>
              <a:gd name="connsiteX6" fmla="*/ 1196790 w 1196790"/>
              <a:gd name="connsiteY6" fmla="*/ 0 h 1196791"/>
              <a:gd name="connsiteX7" fmla="*/ 1055566 w 1196790"/>
              <a:gd name="connsiteY7" fmla="*/ 0 h 1196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6790" h="1196791">
                <a:moveTo>
                  <a:pt x="0" y="0"/>
                </a:moveTo>
                <a:lnTo>
                  <a:pt x="0" y="141225"/>
                </a:lnTo>
                <a:lnTo>
                  <a:pt x="1055566" y="141225"/>
                </a:lnTo>
                <a:lnTo>
                  <a:pt x="1055566" y="1196791"/>
                </a:lnTo>
                <a:lnTo>
                  <a:pt x="1196790" y="1196791"/>
                </a:lnTo>
                <a:lnTo>
                  <a:pt x="1196790" y="0"/>
                </a:lnTo>
                <a:lnTo>
                  <a:pt x="1196790" y="0"/>
                </a:lnTo>
                <a:lnTo>
                  <a:pt x="1055566"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962775" y="2208530"/>
            <a:ext cx="5136515" cy="4246245"/>
          </a:xfrm>
          <a:prstGeom prst="rect">
            <a:avLst/>
          </a:prstGeom>
          <a:noFill/>
        </p:spPr>
        <p:txBody>
          <a:bodyPr wrap="square" rtlCol="0">
            <a:spAutoFit/>
          </a:bodyPr>
          <a:lstStyle/>
          <a:p>
            <a:pPr algn="just" fontAlgn="auto">
              <a:lnSpc>
                <a:spcPct val="150000"/>
              </a:lnSpc>
            </a:pPr>
            <a:r>
              <a:rPr lang="zh-CN" altLang="en-US" sz="1200" dirty="0">
                <a:solidFill>
                  <a:schemeClr val="tx1">
                    <a:lumMod val="75000"/>
                    <a:lumOff val="25000"/>
                  </a:schemeClr>
                </a:solidFill>
                <a:latin typeface="微软雅黑" panose="020B0503020204020204" charset="-122"/>
                <a:ea typeface="微软雅黑" panose="020B0503020204020204" charset="-122"/>
              </a:rPr>
              <a:t>1.广告关键词，可以是小众型关键词，可以搜到同类产品的，这类词可以产生成交率，花费比较小，可以通过对市场的了解和广告报表，搜索工具去获得</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pPr algn="just" fontAlgn="auto">
              <a:lnSpc>
                <a:spcPct val="150000"/>
              </a:lnSpc>
            </a:pPr>
            <a:r>
              <a:rPr lang="zh-CN" altLang="en-US" sz="1200" dirty="0">
                <a:solidFill>
                  <a:schemeClr val="tx1">
                    <a:lumMod val="75000"/>
                    <a:lumOff val="25000"/>
                  </a:schemeClr>
                </a:solidFill>
                <a:latin typeface="微软雅黑" panose="020B0503020204020204" charset="-122"/>
                <a:ea typeface="微软雅黑" panose="020B0503020204020204" charset="-122"/>
              </a:rPr>
              <a:t>2.前期广告关键词可以多，一周下载报表更新一次关键词，一个月一条广告花费还降不下来，是不成功的广告</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pPr algn="just" fontAlgn="auto">
              <a:lnSpc>
                <a:spcPct val="150000"/>
              </a:lnSpc>
            </a:pPr>
            <a:r>
              <a:rPr lang="zh-CN" altLang="en-US" sz="1200" dirty="0">
                <a:solidFill>
                  <a:schemeClr val="tx1">
                    <a:lumMod val="75000"/>
                    <a:lumOff val="25000"/>
                  </a:schemeClr>
                </a:solidFill>
                <a:latin typeface="微软雅黑" panose="020B0503020204020204" charset="-122"/>
                <a:ea typeface="微软雅黑" panose="020B0503020204020204" charset="-122"/>
              </a:rPr>
              <a:t>3.有一些广告怎么调，成交率都很低，这是广告调整的时间没有把控好，亚马逊会给成交率好的广告越来越好，状态不好的广告之后越来越差，这个时候我们可以重新打一条</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pPr algn="just" fontAlgn="auto">
              <a:lnSpc>
                <a:spcPct val="150000"/>
              </a:lnSpc>
            </a:pPr>
            <a:r>
              <a:rPr lang="zh-CN" altLang="en-US" sz="1200" dirty="0">
                <a:solidFill>
                  <a:schemeClr val="tx1">
                    <a:lumMod val="75000"/>
                    <a:lumOff val="25000"/>
                  </a:schemeClr>
                </a:solidFill>
                <a:latin typeface="微软雅黑" panose="020B0503020204020204" charset="-122"/>
                <a:ea typeface="微软雅黑" panose="020B0503020204020204" charset="-122"/>
              </a:rPr>
              <a:t>4.一个月刷选下来，要保留可以产生效益的关键词，删除亏损的关键词，做到精准，把钱花在有用的关键词身上，关键词的定义就是精准</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pPr algn="just" fontAlgn="auto">
              <a:lnSpc>
                <a:spcPct val="150000"/>
              </a:lnSpc>
            </a:pPr>
            <a:r>
              <a:rPr lang="zh-CN" altLang="en-US" sz="1200" dirty="0">
                <a:solidFill>
                  <a:schemeClr val="tx1">
                    <a:lumMod val="75000"/>
                    <a:lumOff val="25000"/>
                  </a:schemeClr>
                </a:solidFill>
                <a:latin typeface="微软雅黑" panose="020B0503020204020204" charset="-122"/>
                <a:ea typeface="微软雅黑" panose="020B0503020204020204" charset="-122"/>
              </a:rPr>
              <a:t>5.能搜到自然排名的关键词一定要用到广告中，因为自然排名是浮动的，广告排名是我们可以调整的，添加的关键词搜出来不是同类产品，那这个关键词是无效的</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pPr algn="just" fontAlgn="auto">
              <a:lnSpc>
                <a:spcPct val="150000"/>
              </a:lnSpc>
            </a:pPr>
            <a:r>
              <a:rPr lang="zh-CN" altLang="en-US" sz="1200" dirty="0">
                <a:solidFill>
                  <a:schemeClr val="tx1">
                    <a:lumMod val="75000"/>
                    <a:lumOff val="25000"/>
                  </a:schemeClr>
                </a:solidFill>
                <a:latin typeface="微软雅黑" panose="020B0503020204020204" charset="-122"/>
                <a:ea typeface="微软雅黑" panose="020B0503020204020204" charset="-122"/>
              </a:rPr>
              <a:t>6.没有特定的方法，也没有最有效最好的方法，只有不断的发掘，探索，学习，分享</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p:txBody>
      </p:sp>
      <p:cxnSp>
        <p:nvCxnSpPr>
          <p:cNvPr id="17" name="直接连接符 16"/>
          <p:cNvCxnSpPr/>
          <p:nvPr/>
        </p:nvCxnSpPr>
        <p:spPr>
          <a:xfrm>
            <a:off x="6762455" y="2405465"/>
            <a:ext cx="0" cy="3078694"/>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8" name="图片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25040" y="2208591"/>
            <a:ext cx="4558638" cy="2564233"/>
          </a:xfrm>
          <a:prstGeom prst="rect">
            <a:avLst/>
          </a:prstGeom>
          <a:effectLst>
            <a:reflection blurRad="6350" stA="52000" endA="300" endPos="35000" dir="5400000" sy="-100000" algn="bl" rotWithShape="0"/>
          </a:effectLst>
        </p:spPr>
      </p:pic>
      <p:sp>
        <p:nvSpPr>
          <p:cNvPr id="2" name="矩形 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14" name="文本框 13"/>
          <p:cNvSpPr txBox="1"/>
          <p:nvPr/>
        </p:nvSpPr>
        <p:spPr>
          <a:xfrm>
            <a:off x="6962775" y="1256030"/>
            <a:ext cx="4600575" cy="783590"/>
          </a:xfrm>
          <a:prstGeom prst="rect">
            <a:avLst/>
          </a:prstGeom>
          <a:noFill/>
        </p:spPr>
        <p:txBody>
          <a:bodyPr wrap="square" rtlCol="0">
            <a:spAutoFit/>
          </a:bodyPr>
          <a:lstStyle/>
          <a:p>
            <a:pPr algn="just">
              <a:lnSpc>
                <a:spcPct val="125000"/>
              </a:lnSpc>
            </a:pPr>
            <a:r>
              <a:rPr lang="zh-CN" altLang="en-US" sz="1200" b="1" dirty="0">
                <a:solidFill>
                  <a:schemeClr val="tx1">
                    <a:lumMod val="75000"/>
                    <a:lumOff val="25000"/>
                  </a:schemeClr>
                </a:solidFill>
                <a:latin typeface="微软雅黑" panose="020B0503020204020204" charset="-122"/>
                <a:ea typeface="微软雅黑" panose="020B0503020204020204" charset="-122"/>
              </a:rPr>
              <a:t>有曝光-无点击-无售出：</a:t>
            </a:r>
            <a:r>
              <a:rPr lang="zh-CN" altLang="en-US" sz="1200" b="1" dirty="0">
                <a:solidFill>
                  <a:srgbClr val="FF0000"/>
                </a:solidFill>
                <a:latin typeface="微软雅黑" panose="020B0503020204020204" charset="-122"/>
                <a:ea typeface="微软雅黑" panose="020B0503020204020204" charset="-122"/>
                <a:sym typeface="+mn-ea"/>
              </a:rPr>
              <a:t>没有吸引顾客点击</a:t>
            </a:r>
            <a:endParaRPr lang="zh-CN" altLang="en-US" sz="1200" b="1" dirty="0">
              <a:solidFill>
                <a:srgbClr val="FF0000"/>
              </a:solidFill>
              <a:latin typeface="微软雅黑" panose="020B0503020204020204" charset="-122"/>
              <a:ea typeface="微软雅黑" panose="020B0503020204020204" charset="-122"/>
              <a:sym typeface="+mn-ea"/>
            </a:endParaRPr>
          </a:p>
          <a:p>
            <a:pPr algn="just">
              <a:lnSpc>
                <a:spcPct val="125000"/>
              </a:lnSpc>
            </a:pPr>
            <a:r>
              <a:rPr lang="zh-CN" altLang="en-US" sz="1200" b="1" dirty="0">
                <a:solidFill>
                  <a:schemeClr val="tx1">
                    <a:lumMod val="75000"/>
                    <a:lumOff val="25000"/>
                  </a:schemeClr>
                </a:solidFill>
                <a:latin typeface="微软雅黑" panose="020B0503020204020204" charset="-122"/>
                <a:ea typeface="微软雅黑" panose="020B0503020204020204" charset="-122"/>
                <a:sym typeface="+mn-ea"/>
              </a:rPr>
              <a:t>有曝光-有点击-无售出：</a:t>
            </a:r>
            <a:r>
              <a:rPr lang="zh-CN" altLang="en-US" sz="1200" b="1" dirty="0">
                <a:solidFill>
                  <a:srgbClr val="FF0000"/>
                </a:solidFill>
                <a:latin typeface="微软雅黑" panose="020B0503020204020204" charset="-122"/>
                <a:ea typeface="微软雅黑" panose="020B0503020204020204" charset="-122"/>
                <a:sym typeface="+mn-ea"/>
              </a:rPr>
              <a:t>出价ok，没有留住客户</a:t>
            </a:r>
            <a:endParaRPr lang="zh-CN" altLang="en-US" sz="1200" b="1" dirty="0">
              <a:solidFill>
                <a:srgbClr val="FF0000"/>
              </a:solidFill>
              <a:latin typeface="微软雅黑" panose="020B0503020204020204" charset="-122"/>
              <a:ea typeface="微软雅黑" panose="020B0503020204020204" charset="-122"/>
              <a:sym typeface="+mn-ea"/>
            </a:endParaRPr>
          </a:p>
          <a:p>
            <a:pPr algn="just">
              <a:lnSpc>
                <a:spcPct val="125000"/>
              </a:lnSpc>
            </a:pPr>
            <a:r>
              <a:rPr lang="zh-CN" altLang="en-US" sz="1200" b="1" dirty="0">
                <a:solidFill>
                  <a:schemeClr val="tx1">
                    <a:lumMod val="75000"/>
                    <a:lumOff val="25000"/>
                  </a:schemeClr>
                </a:solidFill>
                <a:latin typeface="微软雅黑" panose="020B0503020204020204" charset="-122"/>
                <a:ea typeface="微软雅黑" panose="020B0503020204020204" charset="-122"/>
                <a:sym typeface="+mn-ea"/>
              </a:rPr>
              <a:t>有曝光-有点击-Acos超标：</a:t>
            </a:r>
            <a:r>
              <a:rPr lang="zh-CN" altLang="en-US" sz="1200" b="1" dirty="0">
                <a:solidFill>
                  <a:srgbClr val="FF0000"/>
                </a:solidFill>
                <a:latin typeface="微软雅黑" panose="020B0503020204020204" charset="-122"/>
                <a:ea typeface="微软雅黑" panose="020B0503020204020204" charset="-122"/>
                <a:sym typeface="+mn-ea"/>
              </a:rPr>
              <a:t>排名太前不一定就转化率高</a:t>
            </a:r>
            <a:endParaRPr lang="zh-CN" altLang="en-US" sz="1200" b="1" dirty="0">
              <a:solidFill>
                <a:srgbClr val="FF0000"/>
              </a:solidFill>
              <a:latin typeface="微软雅黑" panose="020B0503020204020204" charset="-122"/>
              <a:ea typeface="微软雅黑" panose="020B0503020204020204" charset="-122"/>
              <a:sym typeface="+mn-ea"/>
            </a:endParaRPr>
          </a:p>
        </p:txBody>
      </p:sp>
      <p:sp>
        <p:nvSpPr>
          <p:cNvPr id="29" name="文本框 28"/>
          <p:cNvSpPr txBox="1"/>
          <p:nvPr/>
        </p:nvSpPr>
        <p:spPr>
          <a:xfrm>
            <a:off x="857885" y="283210"/>
            <a:ext cx="1853565" cy="583565"/>
          </a:xfrm>
          <a:prstGeom prst="rect">
            <a:avLst/>
          </a:prstGeom>
          <a:noFill/>
        </p:spPr>
        <p:txBody>
          <a:bodyPr wrap="none" rtlCol="0">
            <a:spAutoFit/>
          </a:bodyPr>
          <a:p>
            <a:pPr algn="l"/>
            <a:r>
              <a:rPr lang="en-US" altLang="zh-CN" sz="3200" b="1">
                <a:sym typeface="+mn-ea"/>
              </a:rPr>
              <a:t>CPC</a:t>
            </a:r>
            <a:r>
              <a:rPr lang="zh-CN" altLang="en-US" sz="3200" b="1">
                <a:sym typeface="+mn-ea"/>
              </a:rPr>
              <a:t>总结</a:t>
            </a:r>
            <a:endParaRPr lang="en-US" altLang="zh-CN" sz="3200" b="1">
              <a:solidFill>
                <a:schemeClr val="tx1">
                  <a:lumMod val="75000"/>
                  <a:lumOff val="25000"/>
                </a:schemeClr>
              </a:solidFill>
            </a:endParaRPr>
          </a:p>
        </p:txBody>
      </p:sp>
      <p:sp>
        <p:nvSpPr>
          <p:cNvPr id="10" name="矩形 9"/>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5" name="矩形 4"/>
          <p:cNvSpPr/>
          <p:nvPr/>
        </p:nvSpPr>
        <p:spPr>
          <a:xfrm flipV="1">
            <a:off x="128" y="6762496"/>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grpSp>
        <p:nvGrpSpPr>
          <p:cNvPr id="10" name="组合 9"/>
          <p:cNvGrpSpPr/>
          <p:nvPr/>
        </p:nvGrpSpPr>
        <p:grpSpPr>
          <a:xfrm>
            <a:off x="1538509" y="2032798"/>
            <a:ext cx="9043862" cy="4650887"/>
            <a:chOff x="1232252" y="2200601"/>
            <a:chExt cx="9043862" cy="4650887"/>
          </a:xfrm>
        </p:grpSpPr>
        <p:graphicFrame>
          <p:nvGraphicFramePr>
            <p:cNvPr id="11" name="Chart 8"/>
            <p:cNvGraphicFramePr>
              <a:graphicFrameLocks noChangeAspect="1"/>
            </p:cNvGraphicFramePr>
            <p:nvPr/>
          </p:nvGraphicFramePr>
          <p:xfrm>
            <a:off x="1232252" y="2299523"/>
            <a:ext cx="2329454" cy="180618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4" name="Chart 15"/>
            <p:cNvGraphicFramePr>
              <a:graphicFrameLocks noChangeAspect="1"/>
            </p:cNvGraphicFramePr>
            <p:nvPr/>
          </p:nvGraphicFramePr>
          <p:xfrm>
            <a:off x="3461995" y="2210630"/>
            <a:ext cx="2329454" cy="18061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22"/>
            <p:cNvGraphicFramePr>
              <a:graphicFrameLocks noChangeAspect="1"/>
            </p:cNvGraphicFramePr>
            <p:nvPr/>
          </p:nvGraphicFramePr>
          <p:xfrm>
            <a:off x="7946660" y="2200601"/>
            <a:ext cx="2329454" cy="18061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41"/>
            <p:cNvGraphicFramePr>
              <a:graphicFrameLocks noChangeAspect="1"/>
            </p:cNvGraphicFramePr>
            <p:nvPr/>
          </p:nvGraphicFramePr>
          <p:xfrm>
            <a:off x="5711512" y="2233162"/>
            <a:ext cx="2329454" cy="1806180"/>
          </p:xfrm>
          <a:graphic>
            <a:graphicData uri="http://schemas.openxmlformats.org/drawingml/2006/chart">
              <c:chart xmlns:c="http://schemas.openxmlformats.org/drawingml/2006/chart" xmlns:r="http://schemas.openxmlformats.org/officeDocument/2006/relationships" r:id="rId4"/>
            </a:graphicData>
          </a:graphic>
        </p:graphicFrame>
        <p:sp>
          <p:nvSpPr>
            <p:cNvPr id="17" name="Oval 48"/>
            <p:cNvSpPr>
              <a:spLocks noChangeAspect="1"/>
            </p:cNvSpPr>
            <p:nvPr/>
          </p:nvSpPr>
          <p:spPr>
            <a:xfrm>
              <a:off x="1794944" y="2602829"/>
              <a:ext cx="1207621" cy="1207620"/>
            </a:xfrm>
            <a:prstGeom prst="ellipse">
              <a:avLst/>
            </a:prstGeom>
            <a:solidFill>
              <a:schemeClr val="tx1">
                <a:lumMod val="50000"/>
                <a:lumOff val="5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lumMod val="75000"/>
                    <a:lumOff val="25000"/>
                  </a:schemeClr>
                </a:solidFill>
              </a:endParaRPr>
            </a:p>
          </p:txBody>
        </p:sp>
        <p:sp>
          <p:nvSpPr>
            <p:cNvPr id="18" name="Oval 49"/>
            <p:cNvSpPr>
              <a:spLocks noChangeAspect="1"/>
            </p:cNvSpPr>
            <p:nvPr/>
          </p:nvSpPr>
          <p:spPr>
            <a:xfrm>
              <a:off x="4018622" y="2521232"/>
              <a:ext cx="1207621" cy="1207620"/>
            </a:xfrm>
            <a:prstGeom prst="ellipse">
              <a:avLst/>
            </a:prstGeom>
            <a:solidFill>
              <a:schemeClr val="tx1">
                <a:lumMod val="50000"/>
                <a:lumOff val="5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lumMod val="75000"/>
                    <a:lumOff val="25000"/>
                  </a:schemeClr>
                </a:solidFill>
              </a:endParaRPr>
            </a:p>
          </p:txBody>
        </p:sp>
        <p:sp>
          <p:nvSpPr>
            <p:cNvPr id="19" name="Oval 50"/>
            <p:cNvSpPr>
              <a:spLocks noChangeAspect="1"/>
            </p:cNvSpPr>
            <p:nvPr/>
          </p:nvSpPr>
          <p:spPr>
            <a:xfrm>
              <a:off x="6275668" y="2537205"/>
              <a:ext cx="1207621" cy="1207620"/>
            </a:xfrm>
            <a:prstGeom prst="ellipse">
              <a:avLst/>
            </a:prstGeom>
            <a:solidFill>
              <a:schemeClr val="tx1">
                <a:lumMod val="50000"/>
                <a:lumOff val="5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lumMod val="75000"/>
                    <a:lumOff val="25000"/>
                  </a:schemeClr>
                </a:solidFill>
              </a:endParaRPr>
            </a:p>
          </p:txBody>
        </p:sp>
        <p:sp>
          <p:nvSpPr>
            <p:cNvPr id="20" name="Oval 51"/>
            <p:cNvSpPr>
              <a:spLocks noChangeAspect="1"/>
            </p:cNvSpPr>
            <p:nvPr/>
          </p:nvSpPr>
          <p:spPr>
            <a:xfrm>
              <a:off x="8516030" y="2486596"/>
              <a:ext cx="1207621" cy="1207620"/>
            </a:xfrm>
            <a:prstGeom prst="ellipse">
              <a:avLst/>
            </a:prstGeom>
            <a:solidFill>
              <a:schemeClr val="tx1">
                <a:lumMod val="50000"/>
                <a:lumOff val="5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lumMod val="75000"/>
                    <a:lumOff val="25000"/>
                  </a:schemeClr>
                </a:solidFill>
              </a:endParaRPr>
            </a:p>
          </p:txBody>
        </p:sp>
        <p:sp>
          <p:nvSpPr>
            <p:cNvPr id="21" name="Content Placeholder 2"/>
            <p:cNvSpPr txBox="1">
              <a:spLocks noChangeAspect="1"/>
            </p:cNvSpPr>
            <p:nvPr/>
          </p:nvSpPr>
          <p:spPr>
            <a:xfrm>
              <a:off x="1794944" y="4085323"/>
              <a:ext cx="1237739" cy="436238"/>
            </a:xfrm>
            <a:prstGeom prst="roundRect">
              <a:avLst/>
            </a:prstGeom>
            <a:solidFill>
              <a:schemeClr val="tx1">
                <a:lumMod val="65000"/>
                <a:lumOff val="35000"/>
              </a:schemeClr>
            </a:solidFill>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endParaRPr lang="en-US" sz="1600" dirty="0">
                <a:solidFill>
                  <a:schemeClr val="tx1">
                    <a:lumMod val="75000"/>
                    <a:lumOff val="25000"/>
                  </a:schemeClr>
                </a:solidFill>
                <a:latin typeface="Raleway" panose="020B0503030101060003" pitchFamily="34" charset="0"/>
                <a:ea typeface="Open Sans" charset="0"/>
                <a:cs typeface="Open Sans" charset="0"/>
              </a:endParaRPr>
            </a:p>
          </p:txBody>
        </p:sp>
        <p:sp>
          <p:nvSpPr>
            <p:cNvPr id="22" name="Content Placeholder 2"/>
            <p:cNvSpPr txBox="1">
              <a:spLocks noChangeAspect="1"/>
            </p:cNvSpPr>
            <p:nvPr/>
          </p:nvSpPr>
          <p:spPr>
            <a:xfrm>
              <a:off x="4018622" y="4037828"/>
              <a:ext cx="1237739" cy="436238"/>
            </a:xfrm>
            <a:prstGeom prst="roundRect">
              <a:avLst/>
            </a:prstGeom>
            <a:solidFill>
              <a:schemeClr val="tx1">
                <a:lumMod val="65000"/>
                <a:lumOff val="35000"/>
              </a:schemeClr>
            </a:solidFill>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endParaRPr lang="en-US" sz="1600" dirty="0">
                <a:solidFill>
                  <a:schemeClr val="tx1">
                    <a:lumMod val="75000"/>
                    <a:lumOff val="25000"/>
                  </a:schemeClr>
                </a:solidFill>
                <a:latin typeface="Raleway" panose="020B0503030101060003" pitchFamily="34" charset="0"/>
                <a:ea typeface="Open Sans" charset="0"/>
                <a:cs typeface="Open Sans" charset="0"/>
              </a:endParaRPr>
            </a:p>
          </p:txBody>
        </p:sp>
        <p:sp>
          <p:nvSpPr>
            <p:cNvPr id="23" name="Content Placeholder 2"/>
            <p:cNvSpPr txBox="1">
              <a:spLocks noChangeAspect="1"/>
            </p:cNvSpPr>
            <p:nvPr/>
          </p:nvSpPr>
          <p:spPr>
            <a:xfrm>
              <a:off x="6280619" y="4040561"/>
              <a:ext cx="1237739" cy="436238"/>
            </a:xfrm>
            <a:prstGeom prst="roundRect">
              <a:avLst/>
            </a:prstGeom>
            <a:solidFill>
              <a:schemeClr val="tx1">
                <a:lumMod val="65000"/>
                <a:lumOff val="35000"/>
              </a:schemeClr>
            </a:solidFill>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endParaRPr lang="en-US" sz="1600" dirty="0">
                <a:solidFill>
                  <a:schemeClr val="tx1">
                    <a:lumMod val="75000"/>
                    <a:lumOff val="25000"/>
                  </a:schemeClr>
                </a:solidFill>
                <a:latin typeface="Raleway" panose="020B0503030101060003" pitchFamily="34" charset="0"/>
                <a:ea typeface="Open Sans" charset="0"/>
                <a:cs typeface="Open Sans" charset="0"/>
              </a:endParaRPr>
            </a:p>
          </p:txBody>
        </p:sp>
        <p:sp>
          <p:nvSpPr>
            <p:cNvPr id="24" name="Content Placeholder 2"/>
            <p:cNvSpPr txBox="1">
              <a:spLocks noChangeAspect="1"/>
            </p:cNvSpPr>
            <p:nvPr/>
          </p:nvSpPr>
          <p:spPr>
            <a:xfrm>
              <a:off x="8504297" y="4047037"/>
              <a:ext cx="1237739" cy="436238"/>
            </a:xfrm>
            <a:prstGeom prst="roundRect">
              <a:avLst/>
            </a:prstGeom>
            <a:solidFill>
              <a:schemeClr val="tx1">
                <a:lumMod val="65000"/>
                <a:lumOff val="35000"/>
              </a:schemeClr>
            </a:solidFill>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endParaRPr lang="en-US" sz="1600" dirty="0">
                <a:solidFill>
                  <a:schemeClr val="tx1">
                    <a:lumMod val="75000"/>
                    <a:lumOff val="25000"/>
                  </a:schemeClr>
                </a:solidFill>
                <a:latin typeface="Raleway" panose="020B0503030101060003" pitchFamily="34" charset="0"/>
                <a:ea typeface="Open Sans" charset="0"/>
                <a:cs typeface="Open Sans" charset="0"/>
              </a:endParaRPr>
            </a:p>
          </p:txBody>
        </p:sp>
        <p:sp>
          <p:nvSpPr>
            <p:cNvPr id="25" name="文本框 24"/>
            <p:cNvSpPr txBox="1"/>
            <p:nvPr/>
          </p:nvSpPr>
          <p:spPr>
            <a:xfrm>
              <a:off x="1414981" y="4567393"/>
              <a:ext cx="1959346" cy="1745615"/>
            </a:xfrm>
            <a:prstGeom prst="rect">
              <a:avLst/>
            </a:prstGeom>
            <a:noFill/>
          </p:spPr>
          <p:txBody>
            <a:bodyPr wrap="square" rtlCol="0">
              <a:spAutoFit/>
            </a:bodyPr>
            <a:lstStyle/>
            <a:p>
              <a:pPr algn="l">
                <a:lnSpc>
                  <a:spcPct val="125000"/>
                </a:lnSpc>
              </a:pPr>
              <a:r>
                <a:rPr lang="en-US" altLang="zh-CN" sz="1400" dirty="0">
                  <a:solidFill>
                    <a:schemeClr val="tx1">
                      <a:lumMod val="75000"/>
                      <a:lumOff val="25000"/>
                    </a:schemeClr>
                  </a:solidFill>
                  <a:latin typeface="微软雅黑" panose="020B0503020204020204" charset="-122"/>
                  <a:ea typeface="微软雅黑" panose="020B0503020204020204" charset="-122"/>
                </a:rPr>
                <a:t>1.</a:t>
              </a:r>
              <a:r>
                <a:rPr lang="zh-CN" altLang="en-US" sz="1400" dirty="0">
                  <a:solidFill>
                    <a:schemeClr val="tx1">
                      <a:lumMod val="75000"/>
                      <a:lumOff val="25000"/>
                    </a:schemeClr>
                  </a:solidFill>
                  <a:latin typeface="微软雅黑" panose="020B0503020204020204" charset="-122"/>
                  <a:ea typeface="微软雅黑" panose="020B0503020204020204" charset="-122"/>
                </a:rPr>
                <a:t>低价意味着利润也低</a:t>
              </a:r>
              <a:r>
                <a:rPr lang="zh-CN" altLang="en-US" sz="1000" b="1" dirty="0">
                  <a:solidFill>
                    <a:schemeClr val="tx1">
                      <a:lumMod val="75000"/>
                      <a:lumOff val="25000"/>
                    </a:schemeClr>
                  </a:solidFill>
                  <a:latin typeface="微软雅黑" panose="020B0503020204020204" charset="-122"/>
                  <a:ea typeface="微软雅黑" panose="020B0503020204020204" charset="-122"/>
                </a:rPr>
                <a:t>比如：售价</a:t>
              </a:r>
              <a:r>
                <a:rPr lang="en-US" altLang="zh-CN" sz="1000" b="1" dirty="0">
                  <a:solidFill>
                    <a:schemeClr val="tx1">
                      <a:lumMod val="75000"/>
                      <a:lumOff val="25000"/>
                    </a:schemeClr>
                  </a:solidFill>
                  <a:latin typeface="微软雅黑" panose="020B0503020204020204" charset="-122"/>
                  <a:ea typeface="微软雅黑" panose="020B0503020204020204" charset="-122"/>
                </a:rPr>
                <a:t>9.99</a:t>
              </a:r>
              <a:r>
                <a:rPr lang="zh-CN" altLang="en-US" sz="1000" b="1" dirty="0">
                  <a:solidFill>
                    <a:schemeClr val="tx1">
                      <a:lumMod val="75000"/>
                      <a:lumOff val="25000"/>
                    </a:schemeClr>
                  </a:solidFill>
                  <a:latin typeface="微软雅黑" panose="020B0503020204020204" charset="-122"/>
                  <a:ea typeface="微软雅黑" panose="020B0503020204020204" charset="-122"/>
                </a:rPr>
                <a:t>，利润</a:t>
              </a:r>
              <a:r>
                <a:rPr lang="en-US" altLang="zh-CN" sz="1000" b="1" dirty="0">
                  <a:solidFill>
                    <a:schemeClr val="tx1">
                      <a:lumMod val="75000"/>
                      <a:lumOff val="25000"/>
                    </a:schemeClr>
                  </a:solidFill>
                  <a:latin typeface="微软雅黑" panose="020B0503020204020204" charset="-122"/>
                  <a:ea typeface="微软雅黑" panose="020B0503020204020204" charset="-122"/>
                </a:rPr>
                <a:t>30%</a:t>
              </a:r>
              <a:r>
                <a:rPr lang="zh-CN" altLang="en-US" sz="1000" b="1" dirty="0">
                  <a:solidFill>
                    <a:schemeClr val="tx1">
                      <a:lumMod val="75000"/>
                      <a:lumOff val="25000"/>
                    </a:schemeClr>
                  </a:solidFill>
                  <a:latin typeface="微软雅黑" panose="020B0503020204020204" charset="-122"/>
                  <a:ea typeface="微软雅黑" panose="020B0503020204020204" charset="-122"/>
                </a:rPr>
                <a:t>，广告预算</a:t>
              </a:r>
              <a:r>
                <a:rPr lang="en-US" altLang="zh-CN" sz="1000" b="1" dirty="0">
                  <a:solidFill>
                    <a:schemeClr val="tx1">
                      <a:lumMod val="75000"/>
                      <a:lumOff val="25000"/>
                    </a:schemeClr>
                  </a:solidFill>
                  <a:latin typeface="微软雅黑" panose="020B0503020204020204" charset="-122"/>
                  <a:ea typeface="微软雅黑" panose="020B0503020204020204" charset="-122"/>
                </a:rPr>
                <a:t>10</a:t>
              </a:r>
              <a:r>
                <a:rPr lang="zh-CN" altLang="en-US" sz="1000" b="1" dirty="0">
                  <a:solidFill>
                    <a:schemeClr val="tx1">
                      <a:lumMod val="75000"/>
                      <a:lumOff val="25000"/>
                    </a:schemeClr>
                  </a:solidFill>
                  <a:latin typeface="微软雅黑" panose="020B0503020204020204" charset="-122"/>
                  <a:ea typeface="微软雅黑" panose="020B0503020204020204" charset="-122"/>
                </a:rPr>
                <a:t>美金一天，如果一天出不到</a:t>
              </a:r>
              <a:r>
                <a:rPr lang="en-US" altLang="zh-CN" sz="1000" b="1" dirty="0">
                  <a:solidFill>
                    <a:schemeClr val="tx1">
                      <a:lumMod val="75000"/>
                      <a:lumOff val="25000"/>
                    </a:schemeClr>
                  </a:solidFill>
                  <a:latin typeface="微软雅黑" panose="020B0503020204020204" charset="-122"/>
                  <a:ea typeface="微软雅黑" panose="020B0503020204020204" charset="-122"/>
                </a:rPr>
                <a:t>50</a:t>
              </a:r>
              <a:r>
                <a:rPr lang="zh-CN" altLang="en-US" sz="1000" b="1" dirty="0">
                  <a:solidFill>
                    <a:schemeClr val="tx1">
                      <a:lumMod val="75000"/>
                      <a:lumOff val="25000"/>
                    </a:schemeClr>
                  </a:solidFill>
                  <a:latin typeface="微软雅黑" panose="020B0503020204020204" charset="-122"/>
                  <a:ea typeface="微软雅黑" panose="020B0503020204020204" charset="-122"/>
                </a:rPr>
                <a:t>单，等于不赚钱</a:t>
              </a:r>
              <a:endParaRPr lang="zh-CN" altLang="en-US" sz="1000" b="1" dirty="0">
                <a:solidFill>
                  <a:schemeClr val="tx1">
                    <a:lumMod val="75000"/>
                    <a:lumOff val="25000"/>
                  </a:schemeClr>
                </a:solidFill>
                <a:latin typeface="微软雅黑" panose="020B0503020204020204" charset="-122"/>
                <a:ea typeface="微软雅黑" panose="020B0503020204020204" charset="-122"/>
              </a:endParaRPr>
            </a:p>
            <a:p>
              <a:pPr algn="l">
                <a:lnSpc>
                  <a:spcPct val="125000"/>
                </a:lnSpc>
              </a:pPr>
              <a:r>
                <a:rPr lang="en-US" altLang="zh-CN" sz="1400" dirty="0" smtClean="0">
                  <a:solidFill>
                    <a:schemeClr val="tx1">
                      <a:lumMod val="75000"/>
                      <a:lumOff val="25000"/>
                    </a:schemeClr>
                  </a:solidFill>
                  <a:latin typeface="微软雅黑" panose="020B0503020204020204" charset="-122"/>
                  <a:ea typeface="微软雅黑" panose="020B0503020204020204" charset="-122"/>
                </a:rPr>
                <a:t>2.</a:t>
              </a:r>
              <a:r>
                <a:rPr lang="zh-CN" altLang="en-US" sz="1400" dirty="0" smtClean="0">
                  <a:solidFill>
                    <a:schemeClr val="tx1">
                      <a:lumMod val="75000"/>
                      <a:lumOff val="25000"/>
                    </a:schemeClr>
                  </a:solidFill>
                  <a:latin typeface="微软雅黑" panose="020B0503020204020204" charset="-122"/>
                  <a:ea typeface="微软雅黑" panose="020B0503020204020204" charset="-122"/>
                </a:rPr>
                <a:t>广告前期亏损为正常情况，主要以测试关键词，把钱花出去</a:t>
              </a:r>
              <a:endParaRPr lang="zh-CN" altLang="en-US" sz="1400"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26" name="文本框 25"/>
            <p:cNvSpPr txBox="1"/>
            <p:nvPr/>
          </p:nvSpPr>
          <p:spPr>
            <a:xfrm>
              <a:off x="1414981" y="4105137"/>
              <a:ext cx="1959345" cy="337185"/>
            </a:xfrm>
            <a:prstGeom prst="rect">
              <a:avLst/>
            </a:prstGeom>
            <a:noFill/>
          </p:spPr>
          <p:txBody>
            <a:bodyPr wrap="square" rtlCol="0">
              <a:spAutoFit/>
            </a:bodyPr>
            <a:lstStyle/>
            <a:p>
              <a:pPr algn="ctr"/>
              <a:r>
                <a:rPr lang="zh-CN" altLang="en-US" sz="1600" b="1">
                  <a:solidFill>
                    <a:schemeClr val="bg1"/>
                  </a:solidFill>
                  <a:sym typeface="+mn-ea"/>
                </a:rPr>
                <a:t>产品定位</a:t>
              </a:r>
              <a:endParaRPr lang="zh-CN" altLang="en-US" sz="1600" b="1" dirty="0">
                <a:solidFill>
                  <a:schemeClr val="bg1"/>
                </a:solidFill>
                <a:latin typeface="微软雅黑" panose="020B0503020204020204" charset="-122"/>
                <a:ea typeface="微软雅黑" panose="020B0503020204020204" charset="-122"/>
                <a:sym typeface="+mn-ea"/>
              </a:endParaRPr>
            </a:p>
          </p:txBody>
        </p:sp>
        <p:sp>
          <p:nvSpPr>
            <p:cNvPr id="27" name="文本框 26"/>
            <p:cNvSpPr txBox="1"/>
            <p:nvPr/>
          </p:nvSpPr>
          <p:spPr>
            <a:xfrm>
              <a:off x="3676978" y="4567393"/>
              <a:ext cx="1959346" cy="899160"/>
            </a:xfrm>
            <a:prstGeom prst="rect">
              <a:avLst/>
            </a:prstGeom>
            <a:noFill/>
          </p:spPr>
          <p:txBody>
            <a:bodyPr wrap="square" rtlCol="0">
              <a:spAutoFit/>
            </a:bodyPr>
            <a:lstStyle/>
            <a:p>
              <a:pPr algn="l">
                <a:lnSpc>
                  <a:spcPct val="125000"/>
                </a:lnSpc>
              </a:pPr>
              <a:r>
                <a:rPr lang="en-US" altLang="zh-CN" sz="1400" dirty="0" smtClean="0">
                  <a:solidFill>
                    <a:schemeClr val="tx1">
                      <a:lumMod val="75000"/>
                      <a:lumOff val="25000"/>
                    </a:schemeClr>
                  </a:solidFill>
                  <a:latin typeface="微软雅黑" panose="020B0503020204020204" charset="-122"/>
                  <a:ea typeface="微软雅黑" panose="020B0503020204020204" charset="-122"/>
                </a:rPr>
                <a:t>1.</a:t>
              </a:r>
              <a:r>
                <a:rPr lang="zh-CN" altLang="en-US" sz="1400" dirty="0" smtClean="0">
                  <a:solidFill>
                    <a:schemeClr val="tx1">
                      <a:lumMod val="75000"/>
                      <a:lumOff val="25000"/>
                    </a:schemeClr>
                  </a:solidFill>
                  <a:latin typeface="微软雅黑" panose="020B0503020204020204" charset="-122"/>
                  <a:ea typeface="微软雅黑" panose="020B0503020204020204" charset="-122"/>
                </a:rPr>
                <a:t>不要跟大牌卖家拼价格，拼广告费</a:t>
              </a:r>
              <a:endParaRPr lang="zh-CN" altLang="en-US" sz="1400" dirty="0" smtClean="0">
                <a:solidFill>
                  <a:schemeClr val="tx1">
                    <a:lumMod val="75000"/>
                    <a:lumOff val="25000"/>
                  </a:schemeClr>
                </a:solidFill>
                <a:latin typeface="微软雅黑" panose="020B0503020204020204" charset="-122"/>
                <a:ea typeface="微软雅黑" panose="020B0503020204020204" charset="-122"/>
              </a:endParaRPr>
            </a:p>
            <a:p>
              <a:pPr algn="l">
                <a:lnSpc>
                  <a:spcPct val="125000"/>
                </a:lnSpc>
              </a:pPr>
              <a:r>
                <a:rPr lang="en-US" altLang="zh-CN" sz="1400" dirty="0" smtClean="0">
                  <a:solidFill>
                    <a:schemeClr val="tx1">
                      <a:lumMod val="75000"/>
                      <a:lumOff val="25000"/>
                    </a:schemeClr>
                  </a:solidFill>
                  <a:latin typeface="微软雅黑" panose="020B0503020204020204" charset="-122"/>
                  <a:ea typeface="微软雅黑" panose="020B0503020204020204" charset="-122"/>
                </a:rPr>
                <a:t>2.</a:t>
              </a:r>
              <a:r>
                <a:rPr lang="zh-CN" altLang="en-US" sz="1400" dirty="0" smtClean="0">
                  <a:solidFill>
                    <a:schemeClr val="tx1">
                      <a:lumMod val="75000"/>
                      <a:lumOff val="25000"/>
                    </a:schemeClr>
                  </a:solidFill>
                  <a:latin typeface="微软雅黑" panose="020B0503020204020204" charset="-122"/>
                  <a:ea typeface="微软雅黑" panose="020B0503020204020204" charset="-122"/>
                </a:rPr>
                <a:t>小类目猥琐发育</a:t>
              </a:r>
              <a:endParaRPr lang="zh-CN" altLang="en-US" sz="1400"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28" name="文本框 27"/>
            <p:cNvSpPr txBox="1"/>
            <p:nvPr/>
          </p:nvSpPr>
          <p:spPr>
            <a:xfrm>
              <a:off x="3676978" y="4105137"/>
              <a:ext cx="1959345" cy="337185"/>
            </a:xfrm>
            <a:prstGeom prst="rect">
              <a:avLst/>
            </a:prstGeom>
            <a:noFill/>
          </p:spPr>
          <p:txBody>
            <a:bodyPr wrap="square" rtlCol="0">
              <a:spAutoFit/>
            </a:bodyPr>
            <a:lstStyle/>
            <a:p>
              <a:pPr algn="ctr"/>
              <a:r>
                <a:rPr lang="zh-CN" altLang="en-US" sz="1600" dirty="0">
                  <a:solidFill>
                    <a:schemeClr val="bg1"/>
                  </a:solidFill>
                  <a:latin typeface="微软雅黑" panose="020B0503020204020204" charset="-122"/>
                  <a:ea typeface="微软雅黑" panose="020B0503020204020204" charset="-122"/>
                </a:rPr>
                <a:t>竞争对手</a:t>
              </a:r>
              <a:endParaRPr lang="zh-CN" altLang="en-US" sz="1600" dirty="0">
                <a:solidFill>
                  <a:schemeClr val="bg1"/>
                </a:solidFill>
                <a:latin typeface="微软雅黑" panose="020B0503020204020204" charset="-122"/>
                <a:ea typeface="微软雅黑" panose="020B0503020204020204" charset="-122"/>
              </a:endParaRPr>
            </a:p>
          </p:txBody>
        </p:sp>
        <p:sp>
          <p:nvSpPr>
            <p:cNvPr id="29" name="文本框 28"/>
            <p:cNvSpPr txBox="1"/>
            <p:nvPr/>
          </p:nvSpPr>
          <p:spPr>
            <a:xfrm>
              <a:off x="5938975" y="4567393"/>
              <a:ext cx="1959346" cy="2284095"/>
            </a:xfrm>
            <a:prstGeom prst="rect">
              <a:avLst/>
            </a:prstGeom>
            <a:noFill/>
          </p:spPr>
          <p:txBody>
            <a:bodyPr wrap="square" rtlCol="0">
              <a:spAutoFit/>
            </a:bodyPr>
            <a:lstStyle/>
            <a:p>
              <a:pPr algn="l">
                <a:lnSpc>
                  <a:spcPct val="125000"/>
                </a:lnSpc>
              </a:pPr>
              <a:r>
                <a:rPr lang="en-US" altLang="zh-CN" sz="1400" dirty="0">
                  <a:solidFill>
                    <a:schemeClr val="tx1">
                      <a:lumMod val="75000"/>
                      <a:lumOff val="25000"/>
                    </a:schemeClr>
                  </a:solidFill>
                  <a:latin typeface="微软雅黑" panose="020B0503020204020204" charset="-122"/>
                  <a:ea typeface="微软雅黑" panose="020B0503020204020204" charset="-122"/>
                </a:rPr>
                <a:t>1.</a:t>
              </a:r>
              <a:r>
                <a:rPr lang="zh-CN" altLang="en-US" sz="1400" dirty="0">
                  <a:solidFill>
                    <a:schemeClr val="tx1">
                      <a:lumMod val="75000"/>
                      <a:lumOff val="25000"/>
                    </a:schemeClr>
                  </a:solidFill>
                  <a:latin typeface="微软雅黑" panose="020B0503020204020204" charset="-122"/>
                  <a:ea typeface="微软雅黑" panose="020B0503020204020204" charset="-122"/>
                </a:rPr>
                <a:t>产品关键词整理分类</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pPr algn="l">
                <a:lnSpc>
                  <a:spcPct val="125000"/>
                </a:lnSpc>
              </a:pPr>
              <a:r>
                <a:rPr lang="zh-CN" altLang="en-US" sz="1000" b="1" dirty="0">
                  <a:solidFill>
                    <a:schemeClr val="tx1">
                      <a:lumMod val="75000"/>
                      <a:lumOff val="25000"/>
                    </a:schemeClr>
                  </a:solidFill>
                  <a:latin typeface="微软雅黑" panose="020B0503020204020204" charset="-122"/>
                  <a:ea typeface="微软雅黑" panose="020B0503020204020204" charset="-122"/>
                  <a:sym typeface="+mn-ea"/>
                </a:rPr>
                <a:t>长尾关键词</a:t>
              </a:r>
              <a:endParaRPr lang="zh-CN" altLang="en-US" sz="1000" b="1" dirty="0">
                <a:solidFill>
                  <a:schemeClr val="tx1">
                    <a:lumMod val="75000"/>
                    <a:lumOff val="25000"/>
                  </a:schemeClr>
                </a:solidFill>
                <a:latin typeface="微软雅黑" panose="020B0503020204020204" charset="-122"/>
                <a:ea typeface="微软雅黑" panose="020B0503020204020204" charset="-122"/>
              </a:endParaRPr>
            </a:p>
            <a:p>
              <a:pPr algn="l">
                <a:lnSpc>
                  <a:spcPct val="125000"/>
                </a:lnSpc>
              </a:pPr>
              <a:r>
                <a:rPr lang="zh-CN" altLang="en-US" sz="1000" b="1" dirty="0">
                  <a:solidFill>
                    <a:schemeClr val="tx1">
                      <a:lumMod val="75000"/>
                      <a:lumOff val="25000"/>
                    </a:schemeClr>
                  </a:solidFill>
                  <a:latin typeface="微软雅黑" panose="020B0503020204020204" charset="-122"/>
                  <a:ea typeface="微软雅黑" panose="020B0503020204020204" charset="-122"/>
                  <a:sym typeface="+mn-ea"/>
                </a:rPr>
                <a:t>词组关键词</a:t>
              </a:r>
              <a:endParaRPr lang="zh-CN" altLang="en-US" sz="1000" b="1" dirty="0">
                <a:solidFill>
                  <a:schemeClr val="tx1">
                    <a:lumMod val="75000"/>
                    <a:lumOff val="25000"/>
                  </a:schemeClr>
                </a:solidFill>
                <a:latin typeface="微软雅黑" panose="020B0503020204020204" charset="-122"/>
                <a:ea typeface="微软雅黑" panose="020B0503020204020204" charset="-122"/>
              </a:endParaRPr>
            </a:p>
            <a:p>
              <a:pPr algn="l">
                <a:lnSpc>
                  <a:spcPct val="125000"/>
                </a:lnSpc>
              </a:pPr>
              <a:r>
                <a:rPr lang="zh-CN" altLang="en-US" sz="1000" b="1" dirty="0">
                  <a:solidFill>
                    <a:schemeClr val="tx1">
                      <a:lumMod val="75000"/>
                      <a:lumOff val="25000"/>
                    </a:schemeClr>
                  </a:solidFill>
                  <a:latin typeface="微软雅黑" panose="020B0503020204020204" charset="-122"/>
                  <a:ea typeface="微软雅黑" panose="020B0503020204020204" charset="-122"/>
                  <a:sym typeface="+mn-ea"/>
                </a:rPr>
                <a:t>精准关键词</a:t>
              </a:r>
              <a:endParaRPr lang="zh-CN" altLang="en-US" sz="1000" b="1" dirty="0">
                <a:solidFill>
                  <a:schemeClr val="tx1">
                    <a:lumMod val="75000"/>
                    <a:lumOff val="25000"/>
                  </a:schemeClr>
                </a:solidFill>
                <a:latin typeface="微软雅黑" panose="020B0503020204020204" charset="-122"/>
                <a:ea typeface="微软雅黑" panose="020B0503020204020204" charset="-122"/>
              </a:endParaRPr>
            </a:p>
            <a:p>
              <a:pPr algn="l">
                <a:lnSpc>
                  <a:spcPct val="125000"/>
                </a:lnSpc>
              </a:pPr>
              <a:r>
                <a:rPr lang="en-US" altLang="zh-CN" sz="1400" dirty="0">
                  <a:solidFill>
                    <a:schemeClr val="tx1">
                      <a:lumMod val="75000"/>
                      <a:lumOff val="25000"/>
                    </a:schemeClr>
                  </a:solidFill>
                  <a:latin typeface="微软雅黑" panose="020B0503020204020204" charset="-122"/>
                  <a:ea typeface="微软雅黑" panose="020B0503020204020204" charset="-122"/>
                </a:rPr>
                <a:t>2.</a:t>
              </a:r>
              <a:r>
                <a:rPr lang="zh-CN" altLang="en-US" sz="1400" dirty="0">
                  <a:solidFill>
                    <a:schemeClr val="tx1">
                      <a:lumMod val="75000"/>
                      <a:lumOff val="25000"/>
                    </a:schemeClr>
                  </a:solidFill>
                  <a:latin typeface="微软雅黑" panose="020B0503020204020204" charset="-122"/>
                  <a:ea typeface="微软雅黑" panose="020B0503020204020204" charset="-122"/>
                </a:rPr>
                <a:t>关键词热度</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pPr algn="l">
                <a:lnSpc>
                  <a:spcPct val="125000"/>
                </a:lnSpc>
              </a:pPr>
              <a:r>
                <a:rPr lang="en-US" altLang="zh-CN" sz="1400" b="1" dirty="0">
                  <a:solidFill>
                    <a:schemeClr val="tx1">
                      <a:lumMod val="75000"/>
                      <a:lumOff val="25000"/>
                    </a:schemeClr>
                  </a:solidFill>
                  <a:latin typeface="微软雅黑" panose="020B0503020204020204" charset="-122"/>
                  <a:ea typeface="微软雅黑" panose="020B0503020204020204" charset="-122"/>
                </a:rPr>
                <a:t>3.</a:t>
              </a:r>
              <a:r>
                <a:rPr lang="zh-CN" altLang="en-US" sz="1400" b="1">
                  <a:latin typeface="微软雅黑" panose="020B0503020204020204" charset="-122"/>
                  <a:ea typeface="微软雅黑" panose="020B0503020204020204" charset="-122"/>
                  <a:sym typeface="Wingdings" panose="05000000000000000000" charset="0"/>
                </a:rPr>
                <a:t>广泛匹配组前期词量可以多，一个月为周期筛选，表现好加入精准</a:t>
              </a:r>
              <a:endParaRPr lang="zh-CN" altLang="en-US" sz="1400" b="1"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30" name="文本框 29"/>
            <p:cNvSpPr txBox="1"/>
            <p:nvPr/>
          </p:nvSpPr>
          <p:spPr>
            <a:xfrm>
              <a:off x="5938975" y="4105137"/>
              <a:ext cx="1959345" cy="337185"/>
            </a:xfrm>
            <a:prstGeom prst="rect">
              <a:avLst/>
            </a:prstGeom>
            <a:noFill/>
          </p:spPr>
          <p:txBody>
            <a:bodyPr wrap="square" rtlCol="0">
              <a:spAutoFit/>
            </a:bodyPr>
            <a:lstStyle/>
            <a:p>
              <a:pPr algn="ctr"/>
              <a:r>
                <a:rPr lang="zh-CN" altLang="en-US" sz="1600" dirty="0">
                  <a:solidFill>
                    <a:schemeClr val="bg1"/>
                  </a:solidFill>
                  <a:latin typeface="微软雅黑" panose="020B0503020204020204" charset="-122"/>
                  <a:ea typeface="微软雅黑" panose="020B0503020204020204" charset="-122"/>
                </a:rPr>
                <a:t>词库整理</a:t>
              </a:r>
              <a:endParaRPr lang="zh-CN" altLang="en-US" sz="1600" dirty="0">
                <a:solidFill>
                  <a:schemeClr val="bg1"/>
                </a:solidFill>
                <a:latin typeface="微软雅黑" panose="020B0503020204020204" charset="-122"/>
                <a:ea typeface="微软雅黑" panose="020B0503020204020204" charset="-122"/>
              </a:endParaRPr>
            </a:p>
          </p:txBody>
        </p:sp>
        <p:sp>
          <p:nvSpPr>
            <p:cNvPr id="31" name="文本框 30"/>
            <p:cNvSpPr txBox="1"/>
            <p:nvPr/>
          </p:nvSpPr>
          <p:spPr>
            <a:xfrm>
              <a:off x="8200972" y="4567393"/>
              <a:ext cx="1959346" cy="1168400"/>
            </a:xfrm>
            <a:prstGeom prst="rect">
              <a:avLst/>
            </a:prstGeom>
            <a:noFill/>
          </p:spPr>
          <p:txBody>
            <a:bodyPr wrap="square" rtlCol="0">
              <a:spAutoFit/>
            </a:bodyPr>
            <a:lstStyle/>
            <a:p>
              <a:pPr algn="l">
                <a:lnSpc>
                  <a:spcPct val="125000"/>
                </a:lnSpc>
              </a:pPr>
              <a:r>
                <a:rPr lang="en-US" altLang="zh-CN" sz="1400" dirty="0" smtClean="0">
                  <a:solidFill>
                    <a:schemeClr val="tx1">
                      <a:lumMod val="75000"/>
                      <a:lumOff val="25000"/>
                    </a:schemeClr>
                  </a:solidFill>
                  <a:latin typeface="微软雅黑" panose="020B0503020204020204" charset="-122"/>
                  <a:ea typeface="微软雅黑" panose="020B0503020204020204" charset="-122"/>
                </a:rPr>
                <a:t>1.</a:t>
              </a:r>
              <a:r>
                <a:rPr lang="zh-CN" altLang="en-US" sz="1400" dirty="0" smtClean="0">
                  <a:solidFill>
                    <a:schemeClr val="tx1">
                      <a:lumMod val="75000"/>
                      <a:lumOff val="25000"/>
                    </a:schemeClr>
                  </a:solidFill>
                  <a:latin typeface="微软雅黑" panose="020B0503020204020204" charset="-122"/>
                  <a:ea typeface="微软雅黑" panose="020B0503020204020204" charset="-122"/>
                </a:rPr>
                <a:t>前期先刷长尾词，不要带品牌搜索</a:t>
              </a:r>
              <a:endParaRPr lang="zh-CN" altLang="en-US" sz="1400" dirty="0" smtClean="0">
                <a:solidFill>
                  <a:schemeClr val="tx1">
                    <a:lumMod val="75000"/>
                    <a:lumOff val="25000"/>
                  </a:schemeClr>
                </a:solidFill>
                <a:latin typeface="微软雅黑" panose="020B0503020204020204" charset="-122"/>
                <a:ea typeface="微软雅黑" panose="020B0503020204020204" charset="-122"/>
              </a:endParaRPr>
            </a:p>
            <a:p>
              <a:pPr algn="l">
                <a:lnSpc>
                  <a:spcPct val="125000"/>
                </a:lnSpc>
              </a:pPr>
              <a:r>
                <a:rPr lang="en-US" altLang="zh-CN" sz="1400" dirty="0" smtClean="0">
                  <a:solidFill>
                    <a:schemeClr val="tx1">
                      <a:lumMod val="75000"/>
                      <a:lumOff val="25000"/>
                    </a:schemeClr>
                  </a:solidFill>
                  <a:latin typeface="微软雅黑" panose="020B0503020204020204" charset="-122"/>
                  <a:ea typeface="微软雅黑" panose="020B0503020204020204" charset="-122"/>
                </a:rPr>
                <a:t>2.</a:t>
              </a:r>
              <a:r>
                <a:rPr lang="zh-CN" altLang="en-US" sz="1400" dirty="0" smtClean="0">
                  <a:solidFill>
                    <a:schemeClr val="tx1">
                      <a:lumMod val="75000"/>
                      <a:lumOff val="25000"/>
                    </a:schemeClr>
                  </a:solidFill>
                  <a:latin typeface="微软雅黑" panose="020B0503020204020204" charset="-122"/>
                  <a:ea typeface="微软雅黑" panose="020B0503020204020204" charset="-122"/>
                </a:rPr>
                <a:t>再刷词组，后期再刷精准词</a:t>
              </a:r>
              <a:endParaRPr lang="en-US" altLang="zh-CN" sz="1400"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32" name="文本框 31"/>
            <p:cNvSpPr txBox="1"/>
            <p:nvPr/>
          </p:nvSpPr>
          <p:spPr>
            <a:xfrm>
              <a:off x="8200972" y="4105137"/>
              <a:ext cx="1959345" cy="337185"/>
            </a:xfrm>
            <a:prstGeom prst="rect">
              <a:avLst/>
            </a:prstGeom>
            <a:noFill/>
          </p:spPr>
          <p:txBody>
            <a:bodyPr wrap="square" rtlCol="0">
              <a:spAutoFit/>
            </a:bodyPr>
            <a:lstStyle/>
            <a:p>
              <a:pPr algn="ctr"/>
              <a:r>
                <a:rPr lang="zh-CN" altLang="en-US" sz="1600" dirty="0">
                  <a:solidFill>
                    <a:schemeClr val="bg1"/>
                  </a:solidFill>
                  <a:latin typeface="微软雅黑" panose="020B0503020204020204" charset="-122"/>
                  <a:ea typeface="微软雅黑" panose="020B0503020204020204" charset="-122"/>
                </a:rPr>
                <a:t>刷单预算</a:t>
              </a:r>
              <a:endParaRPr lang="zh-CN" altLang="en-US" sz="1600" dirty="0">
                <a:solidFill>
                  <a:schemeClr val="bg1"/>
                </a:solidFill>
                <a:latin typeface="微软雅黑" panose="020B0503020204020204" charset="-122"/>
                <a:ea typeface="微软雅黑" panose="020B0503020204020204" charset="-122"/>
              </a:endParaRPr>
            </a:p>
          </p:txBody>
        </p:sp>
        <p:sp>
          <p:nvSpPr>
            <p:cNvPr id="33" name="Freeform 48"/>
            <p:cNvSpPr>
              <a:spLocks noEditPoints="1"/>
            </p:cNvSpPr>
            <p:nvPr/>
          </p:nvSpPr>
          <p:spPr bwMode="auto">
            <a:xfrm>
              <a:off x="6637865" y="2892952"/>
              <a:ext cx="483226" cy="496125"/>
            </a:xfrm>
            <a:custGeom>
              <a:avLst/>
              <a:gdLst>
                <a:gd name="T0" fmla="*/ 52 w 96"/>
                <a:gd name="T1" fmla="*/ 65 h 103"/>
                <a:gd name="T2" fmla="*/ 47 w 96"/>
                <a:gd name="T3" fmla="*/ 60 h 103"/>
                <a:gd name="T4" fmla="*/ 49 w 96"/>
                <a:gd name="T5" fmla="*/ 57 h 103"/>
                <a:gd name="T6" fmla="*/ 49 w 96"/>
                <a:gd name="T7" fmla="*/ 37 h 103"/>
                <a:gd name="T8" fmla="*/ 51 w 96"/>
                <a:gd name="T9" fmla="*/ 34 h 103"/>
                <a:gd name="T10" fmla="*/ 51 w 96"/>
                <a:gd name="T11" fmla="*/ 34 h 103"/>
                <a:gd name="T12" fmla="*/ 53 w 96"/>
                <a:gd name="T13" fmla="*/ 37 h 103"/>
                <a:gd name="T14" fmla="*/ 53 w 96"/>
                <a:gd name="T15" fmla="*/ 56 h 103"/>
                <a:gd name="T16" fmla="*/ 56 w 96"/>
                <a:gd name="T17" fmla="*/ 58 h 103"/>
                <a:gd name="T18" fmla="*/ 86 w 96"/>
                <a:gd name="T19" fmla="*/ 58 h 103"/>
                <a:gd name="T20" fmla="*/ 88 w 96"/>
                <a:gd name="T21" fmla="*/ 60 h 103"/>
                <a:gd name="T22" fmla="*/ 86 w 96"/>
                <a:gd name="T23" fmla="*/ 63 h 103"/>
                <a:gd name="T24" fmla="*/ 56 w 96"/>
                <a:gd name="T25" fmla="*/ 63 h 103"/>
                <a:gd name="T26" fmla="*/ 52 w 96"/>
                <a:gd name="T27" fmla="*/ 65 h 103"/>
                <a:gd name="T28" fmla="*/ 18 w 96"/>
                <a:gd name="T29" fmla="*/ 52 h 103"/>
                <a:gd name="T30" fmla="*/ 17 w 96"/>
                <a:gd name="T31" fmla="*/ 52 h 103"/>
                <a:gd name="T32" fmla="*/ 16 w 96"/>
                <a:gd name="T33" fmla="*/ 49 h 103"/>
                <a:gd name="T34" fmla="*/ 40 w 96"/>
                <a:gd name="T35" fmla="*/ 24 h 103"/>
                <a:gd name="T36" fmla="*/ 40 w 96"/>
                <a:gd name="T37" fmla="*/ 24 h 103"/>
                <a:gd name="T38" fmla="*/ 42 w 96"/>
                <a:gd name="T39" fmla="*/ 25 h 103"/>
                <a:gd name="T40" fmla="*/ 41 w 96"/>
                <a:gd name="T41" fmla="*/ 28 h 103"/>
                <a:gd name="T42" fmla="*/ 20 w 96"/>
                <a:gd name="T43" fmla="*/ 50 h 103"/>
                <a:gd name="T44" fmla="*/ 20 w 96"/>
                <a:gd name="T45" fmla="*/ 50 h 103"/>
                <a:gd name="T46" fmla="*/ 18 w 96"/>
                <a:gd name="T47" fmla="*/ 52 h 103"/>
                <a:gd name="T48" fmla="*/ 63 w 96"/>
                <a:gd name="T49" fmla="*/ 0 h 103"/>
                <a:gd name="T50" fmla="*/ 40 w 96"/>
                <a:gd name="T51" fmla="*/ 0 h 103"/>
                <a:gd name="T52" fmla="*/ 35 w 96"/>
                <a:gd name="T53" fmla="*/ 5 h 103"/>
                <a:gd name="T54" fmla="*/ 40 w 96"/>
                <a:gd name="T55" fmla="*/ 10 h 103"/>
                <a:gd name="T56" fmla="*/ 47 w 96"/>
                <a:gd name="T57" fmla="*/ 10 h 103"/>
                <a:gd name="T58" fmla="*/ 47 w 96"/>
                <a:gd name="T59" fmla="*/ 10 h 103"/>
                <a:gd name="T60" fmla="*/ 47 w 96"/>
                <a:gd name="T61" fmla="*/ 14 h 103"/>
                <a:gd name="T62" fmla="*/ 20 w 96"/>
                <a:gd name="T63" fmla="*/ 27 h 103"/>
                <a:gd name="T64" fmla="*/ 20 w 96"/>
                <a:gd name="T65" fmla="*/ 27 h 103"/>
                <a:gd name="T66" fmla="*/ 15 w 96"/>
                <a:gd name="T67" fmla="*/ 22 h 103"/>
                <a:gd name="T68" fmla="*/ 17 w 96"/>
                <a:gd name="T69" fmla="*/ 20 h 103"/>
                <a:gd name="T70" fmla="*/ 16 w 96"/>
                <a:gd name="T71" fmla="*/ 15 h 103"/>
                <a:gd name="T72" fmla="*/ 12 w 96"/>
                <a:gd name="T73" fmla="*/ 14 h 103"/>
                <a:gd name="T74" fmla="*/ 11 w 96"/>
                <a:gd name="T75" fmla="*/ 15 h 103"/>
                <a:gd name="T76" fmla="*/ 1 w 96"/>
                <a:gd name="T77" fmla="*/ 24 h 103"/>
                <a:gd name="T78" fmla="*/ 2 w 96"/>
                <a:gd name="T79" fmla="*/ 29 h 103"/>
                <a:gd name="T80" fmla="*/ 6 w 96"/>
                <a:gd name="T81" fmla="*/ 31 h 103"/>
                <a:gd name="T82" fmla="*/ 7 w 96"/>
                <a:gd name="T83" fmla="*/ 30 h 103"/>
                <a:gd name="T84" fmla="*/ 9 w 96"/>
                <a:gd name="T85" fmla="*/ 28 h 103"/>
                <a:gd name="T86" fmla="*/ 14 w 96"/>
                <a:gd name="T87" fmla="*/ 33 h 103"/>
                <a:gd name="T88" fmla="*/ 15 w 96"/>
                <a:gd name="T89" fmla="*/ 34 h 103"/>
                <a:gd name="T90" fmla="*/ 7 w 96"/>
                <a:gd name="T91" fmla="*/ 59 h 103"/>
                <a:gd name="T92" fmla="*/ 52 w 96"/>
                <a:gd name="T93" fmla="*/ 103 h 103"/>
                <a:gd name="T94" fmla="*/ 96 w 96"/>
                <a:gd name="T95" fmla="*/ 59 h 103"/>
                <a:gd name="T96" fmla="*/ 56 w 96"/>
                <a:gd name="T97" fmla="*/ 14 h 103"/>
                <a:gd name="T98" fmla="*/ 56 w 96"/>
                <a:gd name="T99" fmla="*/ 10 h 103"/>
                <a:gd name="T100" fmla="*/ 56 w 96"/>
                <a:gd name="T101" fmla="*/ 10 h 103"/>
                <a:gd name="T102" fmla="*/ 63 w 96"/>
                <a:gd name="T103" fmla="*/ 10 h 103"/>
                <a:gd name="T104" fmla="*/ 68 w 96"/>
                <a:gd name="T105" fmla="*/ 5 h 103"/>
                <a:gd name="T106" fmla="*/ 63 w 96"/>
                <a:gd name="T107"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6" h="103">
                  <a:moveTo>
                    <a:pt x="52" y="65"/>
                  </a:moveTo>
                  <a:cubicBezTo>
                    <a:pt x="49" y="65"/>
                    <a:pt x="47" y="63"/>
                    <a:pt x="47" y="60"/>
                  </a:cubicBezTo>
                  <a:cubicBezTo>
                    <a:pt x="47" y="59"/>
                    <a:pt x="48" y="57"/>
                    <a:pt x="49" y="57"/>
                  </a:cubicBezTo>
                  <a:cubicBezTo>
                    <a:pt x="49" y="37"/>
                    <a:pt x="49" y="37"/>
                    <a:pt x="49" y="37"/>
                  </a:cubicBezTo>
                  <a:cubicBezTo>
                    <a:pt x="49" y="35"/>
                    <a:pt x="50" y="34"/>
                    <a:pt x="51" y="34"/>
                  </a:cubicBezTo>
                  <a:cubicBezTo>
                    <a:pt x="51" y="34"/>
                    <a:pt x="51" y="34"/>
                    <a:pt x="51" y="34"/>
                  </a:cubicBezTo>
                  <a:cubicBezTo>
                    <a:pt x="52" y="34"/>
                    <a:pt x="53" y="35"/>
                    <a:pt x="53" y="37"/>
                  </a:cubicBezTo>
                  <a:cubicBezTo>
                    <a:pt x="53" y="56"/>
                    <a:pt x="53" y="56"/>
                    <a:pt x="53" y="56"/>
                  </a:cubicBezTo>
                  <a:cubicBezTo>
                    <a:pt x="54" y="57"/>
                    <a:pt x="55" y="57"/>
                    <a:pt x="56" y="58"/>
                  </a:cubicBezTo>
                  <a:cubicBezTo>
                    <a:pt x="86" y="58"/>
                    <a:pt x="86" y="58"/>
                    <a:pt x="86" y="58"/>
                  </a:cubicBezTo>
                  <a:cubicBezTo>
                    <a:pt x="87" y="58"/>
                    <a:pt x="88" y="59"/>
                    <a:pt x="88" y="60"/>
                  </a:cubicBezTo>
                  <a:cubicBezTo>
                    <a:pt x="88" y="62"/>
                    <a:pt x="87" y="63"/>
                    <a:pt x="86" y="63"/>
                  </a:cubicBezTo>
                  <a:cubicBezTo>
                    <a:pt x="56" y="63"/>
                    <a:pt x="56" y="63"/>
                    <a:pt x="56" y="63"/>
                  </a:cubicBezTo>
                  <a:cubicBezTo>
                    <a:pt x="55" y="64"/>
                    <a:pt x="53" y="65"/>
                    <a:pt x="52" y="65"/>
                  </a:cubicBezTo>
                  <a:moveTo>
                    <a:pt x="18" y="52"/>
                  </a:moveTo>
                  <a:cubicBezTo>
                    <a:pt x="17" y="52"/>
                    <a:pt x="17" y="52"/>
                    <a:pt x="17" y="52"/>
                  </a:cubicBezTo>
                  <a:cubicBezTo>
                    <a:pt x="16" y="51"/>
                    <a:pt x="15" y="50"/>
                    <a:pt x="16" y="49"/>
                  </a:cubicBezTo>
                  <a:cubicBezTo>
                    <a:pt x="20" y="38"/>
                    <a:pt x="28" y="28"/>
                    <a:pt x="40" y="24"/>
                  </a:cubicBezTo>
                  <a:cubicBezTo>
                    <a:pt x="40" y="24"/>
                    <a:pt x="40" y="24"/>
                    <a:pt x="40" y="24"/>
                  </a:cubicBezTo>
                  <a:cubicBezTo>
                    <a:pt x="41" y="24"/>
                    <a:pt x="42" y="25"/>
                    <a:pt x="42" y="25"/>
                  </a:cubicBezTo>
                  <a:cubicBezTo>
                    <a:pt x="43" y="26"/>
                    <a:pt x="42" y="28"/>
                    <a:pt x="41" y="28"/>
                  </a:cubicBezTo>
                  <a:cubicBezTo>
                    <a:pt x="31" y="32"/>
                    <a:pt x="23" y="40"/>
                    <a:pt x="20" y="50"/>
                  </a:cubicBezTo>
                  <a:cubicBezTo>
                    <a:pt x="20" y="50"/>
                    <a:pt x="20" y="50"/>
                    <a:pt x="20" y="50"/>
                  </a:cubicBezTo>
                  <a:cubicBezTo>
                    <a:pt x="19" y="51"/>
                    <a:pt x="19" y="52"/>
                    <a:pt x="18" y="52"/>
                  </a:cubicBezTo>
                  <a:moveTo>
                    <a:pt x="63" y="0"/>
                  </a:moveTo>
                  <a:cubicBezTo>
                    <a:pt x="40" y="0"/>
                    <a:pt x="40" y="0"/>
                    <a:pt x="40" y="0"/>
                  </a:cubicBezTo>
                  <a:cubicBezTo>
                    <a:pt x="38" y="0"/>
                    <a:pt x="35" y="2"/>
                    <a:pt x="35" y="5"/>
                  </a:cubicBezTo>
                  <a:cubicBezTo>
                    <a:pt x="35" y="7"/>
                    <a:pt x="38" y="10"/>
                    <a:pt x="40" y="10"/>
                  </a:cubicBezTo>
                  <a:cubicBezTo>
                    <a:pt x="47" y="10"/>
                    <a:pt x="47" y="10"/>
                    <a:pt x="47" y="10"/>
                  </a:cubicBezTo>
                  <a:cubicBezTo>
                    <a:pt x="47" y="10"/>
                    <a:pt x="47" y="10"/>
                    <a:pt x="47" y="10"/>
                  </a:cubicBezTo>
                  <a:cubicBezTo>
                    <a:pt x="47" y="14"/>
                    <a:pt x="47" y="14"/>
                    <a:pt x="47" y="14"/>
                  </a:cubicBezTo>
                  <a:cubicBezTo>
                    <a:pt x="37" y="15"/>
                    <a:pt x="27" y="20"/>
                    <a:pt x="20" y="27"/>
                  </a:cubicBezTo>
                  <a:cubicBezTo>
                    <a:pt x="20" y="27"/>
                    <a:pt x="20" y="27"/>
                    <a:pt x="20" y="27"/>
                  </a:cubicBezTo>
                  <a:cubicBezTo>
                    <a:pt x="15" y="22"/>
                    <a:pt x="15" y="22"/>
                    <a:pt x="15" y="22"/>
                  </a:cubicBezTo>
                  <a:cubicBezTo>
                    <a:pt x="17" y="20"/>
                    <a:pt x="17" y="20"/>
                    <a:pt x="17" y="20"/>
                  </a:cubicBezTo>
                  <a:cubicBezTo>
                    <a:pt x="18" y="19"/>
                    <a:pt x="17" y="17"/>
                    <a:pt x="16" y="15"/>
                  </a:cubicBezTo>
                  <a:cubicBezTo>
                    <a:pt x="15" y="14"/>
                    <a:pt x="14" y="14"/>
                    <a:pt x="12" y="14"/>
                  </a:cubicBezTo>
                  <a:cubicBezTo>
                    <a:pt x="12" y="14"/>
                    <a:pt x="11" y="14"/>
                    <a:pt x="11" y="15"/>
                  </a:cubicBezTo>
                  <a:cubicBezTo>
                    <a:pt x="1" y="24"/>
                    <a:pt x="1" y="24"/>
                    <a:pt x="1" y="24"/>
                  </a:cubicBezTo>
                  <a:cubicBezTo>
                    <a:pt x="0" y="25"/>
                    <a:pt x="1" y="27"/>
                    <a:pt x="2" y="29"/>
                  </a:cubicBezTo>
                  <a:cubicBezTo>
                    <a:pt x="3" y="30"/>
                    <a:pt x="4" y="31"/>
                    <a:pt x="6" y="31"/>
                  </a:cubicBezTo>
                  <a:cubicBezTo>
                    <a:pt x="6" y="31"/>
                    <a:pt x="7" y="30"/>
                    <a:pt x="7" y="30"/>
                  </a:cubicBezTo>
                  <a:cubicBezTo>
                    <a:pt x="9" y="28"/>
                    <a:pt x="9" y="28"/>
                    <a:pt x="9" y="28"/>
                  </a:cubicBezTo>
                  <a:cubicBezTo>
                    <a:pt x="14" y="33"/>
                    <a:pt x="14" y="33"/>
                    <a:pt x="14" y="33"/>
                  </a:cubicBezTo>
                  <a:cubicBezTo>
                    <a:pt x="14" y="34"/>
                    <a:pt x="14" y="34"/>
                    <a:pt x="15" y="34"/>
                  </a:cubicBezTo>
                  <a:cubicBezTo>
                    <a:pt x="10" y="41"/>
                    <a:pt x="7" y="49"/>
                    <a:pt x="7" y="59"/>
                  </a:cubicBezTo>
                  <a:cubicBezTo>
                    <a:pt x="7" y="83"/>
                    <a:pt x="27" y="103"/>
                    <a:pt x="52" y="103"/>
                  </a:cubicBezTo>
                  <a:cubicBezTo>
                    <a:pt x="76" y="103"/>
                    <a:pt x="96" y="83"/>
                    <a:pt x="96" y="59"/>
                  </a:cubicBezTo>
                  <a:cubicBezTo>
                    <a:pt x="96" y="36"/>
                    <a:pt x="79" y="17"/>
                    <a:pt x="56" y="14"/>
                  </a:cubicBezTo>
                  <a:cubicBezTo>
                    <a:pt x="56" y="10"/>
                    <a:pt x="56" y="10"/>
                    <a:pt x="56" y="10"/>
                  </a:cubicBezTo>
                  <a:cubicBezTo>
                    <a:pt x="56" y="10"/>
                    <a:pt x="56" y="10"/>
                    <a:pt x="56" y="10"/>
                  </a:cubicBezTo>
                  <a:cubicBezTo>
                    <a:pt x="63" y="10"/>
                    <a:pt x="63" y="10"/>
                    <a:pt x="63" y="10"/>
                  </a:cubicBezTo>
                  <a:cubicBezTo>
                    <a:pt x="66" y="10"/>
                    <a:pt x="68" y="7"/>
                    <a:pt x="68" y="5"/>
                  </a:cubicBezTo>
                  <a:cubicBezTo>
                    <a:pt x="68" y="2"/>
                    <a:pt x="66" y="0"/>
                    <a:pt x="63" y="0"/>
                  </a:cubicBezTo>
                </a:path>
              </a:pathLst>
            </a:custGeom>
            <a:solidFill>
              <a:schemeClr val="bg1"/>
            </a:solidFill>
            <a:ln>
              <a:noFill/>
            </a:ln>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tx1">
                    <a:lumMod val="75000"/>
                    <a:lumOff val="25000"/>
                  </a:schemeClr>
                </a:solidFill>
              </a:endParaRPr>
            </a:p>
          </p:txBody>
        </p:sp>
        <p:sp>
          <p:nvSpPr>
            <p:cNvPr id="34" name="Freeform 85"/>
            <p:cNvSpPr>
              <a:spLocks noEditPoints="1"/>
            </p:cNvSpPr>
            <p:nvPr/>
          </p:nvSpPr>
          <p:spPr bwMode="auto">
            <a:xfrm>
              <a:off x="8854909" y="2885509"/>
              <a:ext cx="529862" cy="511009"/>
            </a:xfrm>
            <a:custGeom>
              <a:avLst/>
              <a:gdLst>
                <a:gd name="T0" fmla="*/ 68 w 106"/>
                <a:gd name="T1" fmla="*/ 104 h 106"/>
                <a:gd name="T2" fmla="*/ 78 w 106"/>
                <a:gd name="T3" fmla="*/ 84 h 106"/>
                <a:gd name="T4" fmla="*/ 14 w 106"/>
                <a:gd name="T5" fmla="*/ 89 h 106"/>
                <a:gd name="T6" fmla="*/ 27 w 106"/>
                <a:gd name="T7" fmla="*/ 84 h 106"/>
                <a:gd name="T8" fmla="*/ 55 w 106"/>
                <a:gd name="T9" fmla="*/ 106 h 106"/>
                <a:gd name="T10" fmla="*/ 73 w 106"/>
                <a:gd name="T11" fmla="*/ 83 h 106"/>
                <a:gd name="T12" fmla="*/ 50 w 106"/>
                <a:gd name="T13" fmla="*/ 80 h 106"/>
                <a:gd name="T14" fmla="*/ 44 w 106"/>
                <a:gd name="T15" fmla="*/ 105 h 106"/>
                <a:gd name="T16" fmla="*/ 50 w 106"/>
                <a:gd name="T17" fmla="*/ 80 h 106"/>
                <a:gd name="T18" fmla="*/ 0 w 106"/>
                <a:gd name="T19" fmla="*/ 55 h 106"/>
                <a:gd name="T20" fmla="*/ 25 w 106"/>
                <a:gd name="T21" fmla="*/ 79 h 106"/>
                <a:gd name="T22" fmla="*/ 50 w 106"/>
                <a:gd name="T23" fmla="*/ 55 h 106"/>
                <a:gd name="T24" fmla="*/ 30 w 106"/>
                <a:gd name="T25" fmla="*/ 78 h 106"/>
                <a:gd name="T26" fmla="*/ 50 w 106"/>
                <a:gd name="T27" fmla="*/ 55 h 106"/>
                <a:gd name="T28" fmla="*/ 55 w 106"/>
                <a:gd name="T29" fmla="*/ 55 h 106"/>
                <a:gd name="T30" fmla="*/ 75 w 106"/>
                <a:gd name="T31" fmla="*/ 78 h 106"/>
                <a:gd name="T32" fmla="*/ 106 w 106"/>
                <a:gd name="T33" fmla="*/ 55 h 106"/>
                <a:gd name="T34" fmla="*/ 79 w 106"/>
                <a:gd name="T35" fmla="*/ 80 h 106"/>
                <a:gd name="T36" fmla="*/ 106 w 106"/>
                <a:gd name="T37" fmla="*/ 55 h 106"/>
                <a:gd name="T38" fmla="*/ 26 w 106"/>
                <a:gd name="T39" fmla="*/ 51 h 106"/>
                <a:gd name="T40" fmla="*/ 50 w 106"/>
                <a:gd name="T41" fmla="*/ 31 h 106"/>
                <a:gd name="T42" fmla="*/ 74 w 106"/>
                <a:gd name="T43" fmla="*/ 28 h 106"/>
                <a:gd name="T44" fmla="*/ 55 w 106"/>
                <a:gd name="T45" fmla="*/ 51 h 106"/>
                <a:gd name="T46" fmla="*/ 74 w 106"/>
                <a:gd name="T47" fmla="*/ 28 h 106"/>
                <a:gd name="T48" fmla="*/ 0 w 106"/>
                <a:gd name="T49" fmla="*/ 51 h 106"/>
                <a:gd name="T50" fmla="*/ 26 w 106"/>
                <a:gd name="T51" fmla="*/ 27 h 106"/>
                <a:gd name="T52" fmla="*/ 94 w 106"/>
                <a:gd name="T53" fmla="*/ 20 h 106"/>
                <a:gd name="T54" fmla="*/ 83 w 106"/>
                <a:gd name="T55" fmla="*/ 51 h 106"/>
                <a:gd name="T56" fmla="*/ 94 w 106"/>
                <a:gd name="T57" fmla="*/ 20 h 106"/>
                <a:gd name="T58" fmla="*/ 14 w 106"/>
                <a:gd name="T59" fmla="*/ 17 h 106"/>
                <a:gd name="T60" fmla="*/ 40 w 106"/>
                <a:gd name="T61" fmla="*/ 2 h 106"/>
                <a:gd name="T62" fmla="*/ 77 w 106"/>
                <a:gd name="T63" fmla="*/ 23 h 106"/>
                <a:gd name="T64" fmla="*/ 65 w 106"/>
                <a:gd name="T65" fmla="*/ 2 h 106"/>
                <a:gd name="T66" fmla="*/ 46 w 106"/>
                <a:gd name="T67" fmla="*/ 1 h 106"/>
                <a:gd name="T68" fmla="*/ 32 w 106"/>
                <a:gd name="T69" fmla="*/ 24 h 106"/>
                <a:gd name="T70" fmla="*/ 50 w 106"/>
                <a:gd name="T71" fmla="*/ 0 h 106"/>
                <a:gd name="T72" fmla="*/ 55 w 106"/>
                <a:gd name="T73" fmla="*/ 27 h 106"/>
                <a:gd name="T74" fmla="*/ 58 w 106"/>
                <a:gd name="T75"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6" h="106">
                  <a:moveTo>
                    <a:pt x="78" y="84"/>
                  </a:moveTo>
                  <a:cubicBezTo>
                    <a:pt x="75" y="91"/>
                    <a:pt x="72" y="97"/>
                    <a:pt x="68" y="104"/>
                  </a:cubicBezTo>
                  <a:cubicBezTo>
                    <a:pt x="76" y="101"/>
                    <a:pt x="84" y="97"/>
                    <a:pt x="91" y="90"/>
                  </a:cubicBezTo>
                  <a:cubicBezTo>
                    <a:pt x="86" y="88"/>
                    <a:pt x="82" y="86"/>
                    <a:pt x="78" y="84"/>
                  </a:cubicBezTo>
                  <a:moveTo>
                    <a:pt x="27" y="84"/>
                  </a:moveTo>
                  <a:cubicBezTo>
                    <a:pt x="22" y="85"/>
                    <a:pt x="18" y="87"/>
                    <a:pt x="14" y="89"/>
                  </a:cubicBezTo>
                  <a:cubicBezTo>
                    <a:pt x="20" y="96"/>
                    <a:pt x="28" y="101"/>
                    <a:pt x="37" y="104"/>
                  </a:cubicBezTo>
                  <a:cubicBezTo>
                    <a:pt x="33" y="97"/>
                    <a:pt x="29" y="90"/>
                    <a:pt x="27" y="84"/>
                  </a:cubicBezTo>
                  <a:moveTo>
                    <a:pt x="55" y="80"/>
                  </a:moveTo>
                  <a:cubicBezTo>
                    <a:pt x="55" y="106"/>
                    <a:pt x="55" y="106"/>
                    <a:pt x="55" y="106"/>
                  </a:cubicBezTo>
                  <a:cubicBezTo>
                    <a:pt x="57" y="106"/>
                    <a:pt x="59" y="106"/>
                    <a:pt x="61" y="105"/>
                  </a:cubicBezTo>
                  <a:cubicBezTo>
                    <a:pt x="67" y="98"/>
                    <a:pt x="71" y="90"/>
                    <a:pt x="73" y="83"/>
                  </a:cubicBezTo>
                  <a:cubicBezTo>
                    <a:pt x="67" y="81"/>
                    <a:pt x="61" y="80"/>
                    <a:pt x="55" y="80"/>
                  </a:cubicBezTo>
                  <a:moveTo>
                    <a:pt x="50" y="80"/>
                  </a:moveTo>
                  <a:cubicBezTo>
                    <a:pt x="44" y="80"/>
                    <a:pt x="37" y="81"/>
                    <a:pt x="31" y="82"/>
                  </a:cubicBezTo>
                  <a:cubicBezTo>
                    <a:pt x="34" y="90"/>
                    <a:pt x="38" y="97"/>
                    <a:pt x="44" y="105"/>
                  </a:cubicBezTo>
                  <a:cubicBezTo>
                    <a:pt x="46" y="106"/>
                    <a:pt x="48" y="106"/>
                    <a:pt x="50" y="106"/>
                  </a:cubicBezTo>
                  <a:cubicBezTo>
                    <a:pt x="50" y="80"/>
                    <a:pt x="50" y="80"/>
                    <a:pt x="50" y="80"/>
                  </a:cubicBezTo>
                  <a:moveTo>
                    <a:pt x="21" y="55"/>
                  </a:moveTo>
                  <a:cubicBezTo>
                    <a:pt x="0" y="55"/>
                    <a:pt x="0" y="55"/>
                    <a:pt x="0" y="55"/>
                  </a:cubicBezTo>
                  <a:cubicBezTo>
                    <a:pt x="0" y="67"/>
                    <a:pt x="4" y="77"/>
                    <a:pt x="11" y="85"/>
                  </a:cubicBezTo>
                  <a:cubicBezTo>
                    <a:pt x="15" y="83"/>
                    <a:pt x="20" y="81"/>
                    <a:pt x="25" y="79"/>
                  </a:cubicBezTo>
                  <a:cubicBezTo>
                    <a:pt x="23" y="71"/>
                    <a:pt x="22" y="63"/>
                    <a:pt x="21" y="55"/>
                  </a:cubicBezTo>
                  <a:moveTo>
                    <a:pt x="50" y="55"/>
                  </a:moveTo>
                  <a:cubicBezTo>
                    <a:pt x="26" y="55"/>
                    <a:pt x="26" y="55"/>
                    <a:pt x="26" y="55"/>
                  </a:cubicBezTo>
                  <a:cubicBezTo>
                    <a:pt x="26" y="62"/>
                    <a:pt x="27" y="70"/>
                    <a:pt x="30" y="78"/>
                  </a:cubicBezTo>
                  <a:cubicBezTo>
                    <a:pt x="36" y="76"/>
                    <a:pt x="43" y="75"/>
                    <a:pt x="50" y="75"/>
                  </a:cubicBezTo>
                  <a:cubicBezTo>
                    <a:pt x="50" y="55"/>
                    <a:pt x="50" y="55"/>
                    <a:pt x="50" y="55"/>
                  </a:cubicBezTo>
                  <a:moveTo>
                    <a:pt x="79" y="55"/>
                  </a:moveTo>
                  <a:cubicBezTo>
                    <a:pt x="55" y="55"/>
                    <a:pt x="55" y="55"/>
                    <a:pt x="55" y="55"/>
                  </a:cubicBezTo>
                  <a:cubicBezTo>
                    <a:pt x="55" y="75"/>
                    <a:pt x="55" y="75"/>
                    <a:pt x="55" y="75"/>
                  </a:cubicBezTo>
                  <a:cubicBezTo>
                    <a:pt x="61" y="75"/>
                    <a:pt x="68" y="76"/>
                    <a:pt x="75" y="78"/>
                  </a:cubicBezTo>
                  <a:cubicBezTo>
                    <a:pt x="77" y="70"/>
                    <a:pt x="79" y="63"/>
                    <a:pt x="79" y="55"/>
                  </a:cubicBezTo>
                  <a:moveTo>
                    <a:pt x="106" y="55"/>
                  </a:moveTo>
                  <a:cubicBezTo>
                    <a:pt x="83" y="55"/>
                    <a:pt x="83" y="55"/>
                    <a:pt x="83" y="55"/>
                  </a:cubicBezTo>
                  <a:cubicBezTo>
                    <a:pt x="83" y="63"/>
                    <a:pt x="82" y="71"/>
                    <a:pt x="79" y="80"/>
                  </a:cubicBezTo>
                  <a:cubicBezTo>
                    <a:pt x="84" y="82"/>
                    <a:pt x="89" y="84"/>
                    <a:pt x="94" y="87"/>
                  </a:cubicBezTo>
                  <a:cubicBezTo>
                    <a:pt x="101" y="78"/>
                    <a:pt x="105" y="67"/>
                    <a:pt x="106" y="55"/>
                  </a:cubicBezTo>
                  <a:moveTo>
                    <a:pt x="31" y="28"/>
                  </a:moveTo>
                  <a:cubicBezTo>
                    <a:pt x="28" y="35"/>
                    <a:pt x="27" y="43"/>
                    <a:pt x="26" y="51"/>
                  </a:cubicBezTo>
                  <a:cubicBezTo>
                    <a:pt x="50" y="51"/>
                    <a:pt x="50" y="51"/>
                    <a:pt x="50" y="51"/>
                  </a:cubicBezTo>
                  <a:cubicBezTo>
                    <a:pt x="50" y="31"/>
                    <a:pt x="50" y="31"/>
                    <a:pt x="50" y="31"/>
                  </a:cubicBezTo>
                  <a:cubicBezTo>
                    <a:pt x="44" y="31"/>
                    <a:pt x="38" y="30"/>
                    <a:pt x="31" y="28"/>
                  </a:cubicBezTo>
                  <a:moveTo>
                    <a:pt x="74" y="28"/>
                  </a:moveTo>
                  <a:cubicBezTo>
                    <a:pt x="68" y="30"/>
                    <a:pt x="62" y="31"/>
                    <a:pt x="55" y="31"/>
                  </a:cubicBezTo>
                  <a:cubicBezTo>
                    <a:pt x="55" y="51"/>
                    <a:pt x="55" y="51"/>
                    <a:pt x="55" y="51"/>
                  </a:cubicBezTo>
                  <a:cubicBezTo>
                    <a:pt x="78" y="51"/>
                    <a:pt x="78" y="51"/>
                    <a:pt x="78" y="51"/>
                  </a:cubicBezTo>
                  <a:cubicBezTo>
                    <a:pt x="78" y="43"/>
                    <a:pt x="76" y="35"/>
                    <a:pt x="74" y="28"/>
                  </a:cubicBezTo>
                  <a:moveTo>
                    <a:pt x="11" y="20"/>
                  </a:moveTo>
                  <a:cubicBezTo>
                    <a:pt x="4" y="29"/>
                    <a:pt x="0" y="39"/>
                    <a:pt x="0" y="51"/>
                  </a:cubicBezTo>
                  <a:cubicBezTo>
                    <a:pt x="22" y="51"/>
                    <a:pt x="22" y="51"/>
                    <a:pt x="22" y="51"/>
                  </a:cubicBezTo>
                  <a:cubicBezTo>
                    <a:pt x="22" y="42"/>
                    <a:pt x="24" y="34"/>
                    <a:pt x="26" y="27"/>
                  </a:cubicBezTo>
                  <a:cubicBezTo>
                    <a:pt x="21" y="25"/>
                    <a:pt x="16" y="23"/>
                    <a:pt x="11" y="20"/>
                  </a:cubicBezTo>
                  <a:moveTo>
                    <a:pt x="94" y="20"/>
                  </a:moveTo>
                  <a:cubicBezTo>
                    <a:pt x="89" y="23"/>
                    <a:pt x="84" y="25"/>
                    <a:pt x="78" y="27"/>
                  </a:cubicBezTo>
                  <a:cubicBezTo>
                    <a:pt x="81" y="34"/>
                    <a:pt x="83" y="42"/>
                    <a:pt x="83" y="51"/>
                  </a:cubicBezTo>
                  <a:cubicBezTo>
                    <a:pt x="106" y="51"/>
                    <a:pt x="106" y="51"/>
                    <a:pt x="106" y="51"/>
                  </a:cubicBezTo>
                  <a:cubicBezTo>
                    <a:pt x="105" y="39"/>
                    <a:pt x="101" y="29"/>
                    <a:pt x="94" y="20"/>
                  </a:cubicBezTo>
                  <a:moveTo>
                    <a:pt x="40" y="2"/>
                  </a:moveTo>
                  <a:cubicBezTo>
                    <a:pt x="30" y="4"/>
                    <a:pt x="21" y="10"/>
                    <a:pt x="14" y="17"/>
                  </a:cubicBezTo>
                  <a:cubicBezTo>
                    <a:pt x="19" y="19"/>
                    <a:pt x="23" y="21"/>
                    <a:pt x="28" y="23"/>
                  </a:cubicBezTo>
                  <a:cubicBezTo>
                    <a:pt x="31" y="14"/>
                    <a:pt x="36" y="7"/>
                    <a:pt x="40" y="2"/>
                  </a:cubicBezTo>
                  <a:moveTo>
                    <a:pt x="65" y="2"/>
                  </a:moveTo>
                  <a:cubicBezTo>
                    <a:pt x="69" y="7"/>
                    <a:pt x="73" y="14"/>
                    <a:pt x="77" y="23"/>
                  </a:cubicBezTo>
                  <a:cubicBezTo>
                    <a:pt x="82" y="21"/>
                    <a:pt x="87" y="19"/>
                    <a:pt x="91" y="17"/>
                  </a:cubicBezTo>
                  <a:cubicBezTo>
                    <a:pt x="84" y="9"/>
                    <a:pt x="75" y="4"/>
                    <a:pt x="65" y="2"/>
                  </a:cubicBezTo>
                  <a:moveTo>
                    <a:pt x="50" y="0"/>
                  </a:moveTo>
                  <a:cubicBezTo>
                    <a:pt x="49" y="0"/>
                    <a:pt x="48" y="0"/>
                    <a:pt x="46" y="1"/>
                  </a:cubicBezTo>
                  <a:cubicBezTo>
                    <a:pt x="44" y="3"/>
                    <a:pt x="42" y="6"/>
                    <a:pt x="40" y="9"/>
                  </a:cubicBezTo>
                  <a:cubicBezTo>
                    <a:pt x="37" y="14"/>
                    <a:pt x="35" y="19"/>
                    <a:pt x="32" y="24"/>
                  </a:cubicBezTo>
                  <a:cubicBezTo>
                    <a:pt x="39" y="26"/>
                    <a:pt x="45" y="27"/>
                    <a:pt x="50" y="27"/>
                  </a:cubicBezTo>
                  <a:cubicBezTo>
                    <a:pt x="50" y="0"/>
                    <a:pt x="50" y="0"/>
                    <a:pt x="50" y="0"/>
                  </a:cubicBezTo>
                  <a:moveTo>
                    <a:pt x="55" y="0"/>
                  </a:moveTo>
                  <a:cubicBezTo>
                    <a:pt x="55" y="27"/>
                    <a:pt x="55" y="27"/>
                    <a:pt x="55" y="27"/>
                  </a:cubicBezTo>
                  <a:cubicBezTo>
                    <a:pt x="61" y="26"/>
                    <a:pt x="67" y="25"/>
                    <a:pt x="72" y="24"/>
                  </a:cubicBezTo>
                  <a:cubicBezTo>
                    <a:pt x="68" y="14"/>
                    <a:pt x="63" y="6"/>
                    <a:pt x="58" y="0"/>
                  </a:cubicBezTo>
                  <a:cubicBezTo>
                    <a:pt x="57" y="0"/>
                    <a:pt x="56" y="0"/>
                    <a:pt x="55" y="0"/>
                  </a:cubicBezTo>
                </a:path>
              </a:pathLst>
            </a:custGeom>
            <a:solidFill>
              <a:schemeClr val="bg1"/>
            </a:solidFill>
            <a:ln>
              <a:noFill/>
            </a:ln>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tx1">
                    <a:lumMod val="75000"/>
                    <a:lumOff val="25000"/>
                  </a:schemeClr>
                </a:solidFill>
              </a:endParaRPr>
            </a:p>
          </p:txBody>
        </p:sp>
        <p:sp>
          <p:nvSpPr>
            <p:cNvPr id="35" name="Freeform 9"/>
            <p:cNvSpPr>
              <a:spLocks noEditPoints="1"/>
            </p:cNvSpPr>
            <p:nvPr/>
          </p:nvSpPr>
          <p:spPr bwMode="auto">
            <a:xfrm>
              <a:off x="2099458" y="2925336"/>
              <a:ext cx="590389" cy="562606"/>
            </a:xfrm>
            <a:custGeom>
              <a:avLst/>
              <a:gdLst>
                <a:gd name="T0" fmla="*/ 57 w 117"/>
                <a:gd name="T1" fmla="*/ 101 h 117"/>
                <a:gd name="T2" fmla="*/ 16 w 117"/>
                <a:gd name="T3" fmla="*/ 60 h 117"/>
                <a:gd name="T4" fmla="*/ 24 w 117"/>
                <a:gd name="T5" fmla="*/ 35 h 117"/>
                <a:gd name="T6" fmla="*/ 34 w 117"/>
                <a:gd name="T7" fmla="*/ 26 h 117"/>
                <a:gd name="T8" fmla="*/ 38 w 117"/>
                <a:gd name="T9" fmla="*/ 25 h 117"/>
                <a:gd name="T10" fmla="*/ 43 w 117"/>
                <a:gd name="T11" fmla="*/ 27 h 117"/>
                <a:gd name="T12" fmla="*/ 41 w 117"/>
                <a:gd name="T13" fmla="*/ 36 h 117"/>
                <a:gd name="T14" fmla="*/ 34 w 117"/>
                <a:gd name="T15" fmla="*/ 43 h 117"/>
                <a:gd name="T16" fmla="*/ 29 w 117"/>
                <a:gd name="T17" fmla="*/ 60 h 117"/>
                <a:gd name="T18" fmla="*/ 37 w 117"/>
                <a:gd name="T19" fmla="*/ 80 h 117"/>
                <a:gd name="T20" fmla="*/ 57 w 117"/>
                <a:gd name="T21" fmla="*/ 88 h 117"/>
                <a:gd name="T22" fmla="*/ 78 w 117"/>
                <a:gd name="T23" fmla="*/ 80 h 117"/>
                <a:gd name="T24" fmla="*/ 86 w 117"/>
                <a:gd name="T25" fmla="*/ 60 h 117"/>
                <a:gd name="T26" fmla="*/ 80 w 117"/>
                <a:gd name="T27" fmla="*/ 43 h 117"/>
                <a:gd name="T28" fmla="*/ 75 w 117"/>
                <a:gd name="T29" fmla="*/ 37 h 117"/>
                <a:gd name="T30" fmla="*/ 74 w 117"/>
                <a:gd name="T31" fmla="*/ 29 h 117"/>
                <a:gd name="T32" fmla="*/ 79 w 117"/>
                <a:gd name="T33" fmla="*/ 26 h 117"/>
                <a:gd name="T34" fmla="*/ 83 w 117"/>
                <a:gd name="T35" fmla="*/ 28 h 117"/>
                <a:gd name="T36" fmla="*/ 90 w 117"/>
                <a:gd name="T37" fmla="*/ 35 h 117"/>
                <a:gd name="T38" fmla="*/ 99 w 117"/>
                <a:gd name="T39" fmla="*/ 60 h 117"/>
                <a:gd name="T40" fmla="*/ 57 w 117"/>
                <a:gd name="T41" fmla="*/ 101 h 117"/>
                <a:gd name="T42" fmla="*/ 57 w 117"/>
                <a:gd name="T43" fmla="*/ 65 h 117"/>
                <a:gd name="T44" fmla="*/ 51 w 117"/>
                <a:gd name="T45" fmla="*/ 59 h 117"/>
                <a:gd name="T46" fmla="*/ 51 w 117"/>
                <a:gd name="T47" fmla="*/ 17 h 117"/>
                <a:gd name="T48" fmla="*/ 57 w 117"/>
                <a:gd name="T49" fmla="*/ 11 h 117"/>
                <a:gd name="T50" fmla="*/ 64 w 117"/>
                <a:gd name="T51" fmla="*/ 17 h 117"/>
                <a:gd name="T52" fmla="*/ 64 w 117"/>
                <a:gd name="T53" fmla="*/ 59 h 117"/>
                <a:gd name="T54" fmla="*/ 57 w 117"/>
                <a:gd name="T55" fmla="*/ 65 h 117"/>
                <a:gd name="T56" fmla="*/ 58 w 117"/>
                <a:gd name="T57" fmla="*/ 0 h 117"/>
                <a:gd name="T58" fmla="*/ 0 w 117"/>
                <a:gd name="T59" fmla="*/ 58 h 117"/>
                <a:gd name="T60" fmla="*/ 58 w 117"/>
                <a:gd name="T61" fmla="*/ 117 h 117"/>
                <a:gd name="T62" fmla="*/ 117 w 117"/>
                <a:gd name="T63" fmla="*/ 58 h 117"/>
                <a:gd name="T64" fmla="*/ 58 w 117"/>
                <a:gd name="T65"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7" h="117">
                  <a:moveTo>
                    <a:pt x="57" y="101"/>
                  </a:moveTo>
                  <a:cubicBezTo>
                    <a:pt x="35" y="101"/>
                    <a:pt x="16" y="82"/>
                    <a:pt x="16" y="60"/>
                  </a:cubicBezTo>
                  <a:cubicBezTo>
                    <a:pt x="16" y="50"/>
                    <a:pt x="19" y="42"/>
                    <a:pt x="24" y="35"/>
                  </a:cubicBezTo>
                  <a:cubicBezTo>
                    <a:pt x="27" y="31"/>
                    <a:pt x="30" y="28"/>
                    <a:pt x="34" y="26"/>
                  </a:cubicBezTo>
                  <a:cubicBezTo>
                    <a:pt x="35" y="25"/>
                    <a:pt x="36" y="25"/>
                    <a:pt x="38" y="25"/>
                  </a:cubicBezTo>
                  <a:cubicBezTo>
                    <a:pt x="39" y="25"/>
                    <a:pt x="41" y="26"/>
                    <a:pt x="43" y="27"/>
                  </a:cubicBezTo>
                  <a:cubicBezTo>
                    <a:pt x="45" y="30"/>
                    <a:pt x="44" y="34"/>
                    <a:pt x="41" y="36"/>
                  </a:cubicBezTo>
                  <a:cubicBezTo>
                    <a:pt x="38" y="38"/>
                    <a:pt x="36" y="40"/>
                    <a:pt x="34" y="43"/>
                  </a:cubicBezTo>
                  <a:cubicBezTo>
                    <a:pt x="31" y="47"/>
                    <a:pt x="29" y="53"/>
                    <a:pt x="29" y="60"/>
                  </a:cubicBezTo>
                  <a:cubicBezTo>
                    <a:pt x="29" y="68"/>
                    <a:pt x="32" y="75"/>
                    <a:pt x="37" y="80"/>
                  </a:cubicBezTo>
                  <a:cubicBezTo>
                    <a:pt x="42" y="85"/>
                    <a:pt x="49" y="88"/>
                    <a:pt x="57" y="88"/>
                  </a:cubicBezTo>
                  <a:cubicBezTo>
                    <a:pt x="65" y="88"/>
                    <a:pt x="72" y="85"/>
                    <a:pt x="78" y="80"/>
                  </a:cubicBezTo>
                  <a:cubicBezTo>
                    <a:pt x="83" y="75"/>
                    <a:pt x="86" y="68"/>
                    <a:pt x="86" y="60"/>
                  </a:cubicBezTo>
                  <a:cubicBezTo>
                    <a:pt x="86" y="53"/>
                    <a:pt x="84" y="47"/>
                    <a:pt x="80" y="43"/>
                  </a:cubicBezTo>
                  <a:cubicBezTo>
                    <a:pt x="79" y="41"/>
                    <a:pt x="77" y="39"/>
                    <a:pt x="75" y="37"/>
                  </a:cubicBezTo>
                  <a:cubicBezTo>
                    <a:pt x="73" y="35"/>
                    <a:pt x="72" y="31"/>
                    <a:pt x="74" y="29"/>
                  </a:cubicBezTo>
                  <a:cubicBezTo>
                    <a:pt x="76" y="27"/>
                    <a:pt x="77" y="26"/>
                    <a:pt x="79" y="26"/>
                  </a:cubicBezTo>
                  <a:cubicBezTo>
                    <a:pt x="81" y="26"/>
                    <a:pt x="82" y="27"/>
                    <a:pt x="83" y="28"/>
                  </a:cubicBezTo>
                  <a:cubicBezTo>
                    <a:pt x="86" y="30"/>
                    <a:pt x="88" y="32"/>
                    <a:pt x="90" y="35"/>
                  </a:cubicBezTo>
                  <a:cubicBezTo>
                    <a:pt x="96" y="42"/>
                    <a:pt x="99" y="51"/>
                    <a:pt x="99" y="60"/>
                  </a:cubicBezTo>
                  <a:cubicBezTo>
                    <a:pt x="99" y="82"/>
                    <a:pt x="80" y="101"/>
                    <a:pt x="57" y="101"/>
                  </a:cubicBezTo>
                  <a:moveTo>
                    <a:pt x="57" y="65"/>
                  </a:moveTo>
                  <a:cubicBezTo>
                    <a:pt x="54" y="65"/>
                    <a:pt x="51" y="62"/>
                    <a:pt x="51" y="59"/>
                  </a:cubicBezTo>
                  <a:cubicBezTo>
                    <a:pt x="51" y="17"/>
                    <a:pt x="51" y="17"/>
                    <a:pt x="51" y="17"/>
                  </a:cubicBezTo>
                  <a:cubicBezTo>
                    <a:pt x="51" y="14"/>
                    <a:pt x="54" y="11"/>
                    <a:pt x="57" y="11"/>
                  </a:cubicBezTo>
                  <a:cubicBezTo>
                    <a:pt x="61" y="11"/>
                    <a:pt x="64" y="14"/>
                    <a:pt x="64" y="17"/>
                  </a:cubicBezTo>
                  <a:cubicBezTo>
                    <a:pt x="64" y="59"/>
                    <a:pt x="64" y="59"/>
                    <a:pt x="64" y="59"/>
                  </a:cubicBezTo>
                  <a:cubicBezTo>
                    <a:pt x="64" y="62"/>
                    <a:pt x="61" y="65"/>
                    <a:pt x="57" y="65"/>
                  </a:cubicBezTo>
                  <a:moveTo>
                    <a:pt x="58" y="0"/>
                  </a:moveTo>
                  <a:cubicBezTo>
                    <a:pt x="26" y="0"/>
                    <a:pt x="0" y="26"/>
                    <a:pt x="0" y="58"/>
                  </a:cubicBezTo>
                  <a:cubicBezTo>
                    <a:pt x="0" y="90"/>
                    <a:pt x="26" y="117"/>
                    <a:pt x="58" y="117"/>
                  </a:cubicBezTo>
                  <a:cubicBezTo>
                    <a:pt x="90" y="117"/>
                    <a:pt x="117" y="90"/>
                    <a:pt x="117" y="58"/>
                  </a:cubicBezTo>
                  <a:cubicBezTo>
                    <a:pt x="117" y="26"/>
                    <a:pt x="90" y="0"/>
                    <a:pt x="58" y="0"/>
                  </a:cubicBezTo>
                </a:path>
              </a:pathLst>
            </a:custGeom>
            <a:solidFill>
              <a:schemeClr val="bg1"/>
            </a:solidFill>
            <a:ln>
              <a:noFill/>
            </a:ln>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tx1">
                    <a:lumMod val="75000"/>
                    <a:lumOff val="25000"/>
                  </a:schemeClr>
                </a:solidFill>
              </a:endParaRPr>
            </a:p>
          </p:txBody>
        </p:sp>
        <p:sp>
          <p:nvSpPr>
            <p:cNvPr id="36" name="Freeform 11"/>
            <p:cNvSpPr>
              <a:spLocks noEditPoints="1"/>
            </p:cNvSpPr>
            <p:nvPr/>
          </p:nvSpPr>
          <p:spPr bwMode="auto">
            <a:xfrm>
              <a:off x="4357501" y="2944868"/>
              <a:ext cx="529862" cy="511009"/>
            </a:xfrm>
            <a:custGeom>
              <a:avLst/>
              <a:gdLst>
                <a:gd name="T0" fmla="*/ 29 w 105"/>
                <a:gd name="T1" fmla="*/ 71 h 106"/>
                <a:gd name="T2" fmla="*/ 43 w 105"/>
                <a:gd name="T3" fmla="*/ 84 h 106"/>
                <a:gd name="T4" fmla="*/ 48 w 105"/>
                <a:gd name="T5" fmla="*/ 85 h 106"/>
                <a:gd name="T6" fmla="*/ 50 w 105"/>
                <a:gd name="T7" fmla="*/ 82 h 106"/>
                <a:gd name="T8" fmla="*/ 46 w 105"/>
                <a:gd name="T9" fmla="*/ 75 h 106"/>
                <a:gd name="T10" fmla="*/ 43 w 105"/>
                <a:gd name="T11" fmla="*/ 74 h 106"/>
                <a:gd name="T12" fmla="*/ 37 w 105"/>
                <a:gd name="T13" fmla="*/ 75 h 106"/>
                <a:gd name="T14" fmla="*/ 29 w 105"/>
                <a:gd name="T15" fmla="*/ 71 h 106"/>
                <a:gd name="T16" fmla="*/ 29 w 105"/>
                <a:gd name="T17" fmla="*/ 71 h 106"/>
                <a:gd name="T18" fmla="*/ 51 w 105"/>
                <a:gd name="T19" fmla="*/ 29 h 106"/>
                <a:gd name="T20" fmla="*/ 49 w 105"/>
                <a:gd name="T21" fmla="*/ 30 h 106"/>
                <a:gd name="T22" fmla="*/ 41 w 105"/>
                <a:gd name="T23" fmla="*/ 48 h 106"/>
                <a:gd name="T24" fmla="*/ 48 w 105"/>
                <a:gd name="T25" fmla="*/ 52 h 106"/>
                <a:gd name="T26" fmla="*/ 49 w 105"/>
                <a:gd name="T27" fmla="*/ 60 h 106"/>
                <a:gd name="T28" fmla="*/ 56 w 105"/>
                <a:gd name="T29" fmla="*/ 69 h 106"/>
                <a:gd name="T30" fmla="*/ 59 w 105"/>
                <a:gd name="T31" fmla="*/ 80 h 106"/>
                <a:gd name="T32" fmla="*/ 65 w 105"/>
                <a:gd name="T33" fmla="*/ 83 h 106"/>
                <a:gd name="T34" fmla="*/ 71 w 105"/>
                <a:gd name="T35" fmla="*/ 78 h 106"/>
                <a:gd name="T36" fmla="*/ 72 w 105"/>
                <a:gd name="T37" fmla="*/ 70 h 106"/>
                <a:gd name="T38" fmla="*/ 79 w 105"/>
                <a:gd name="T39" fmla="*/ 61 h 106"/>
                <a:gd name="T40" fmla="*/ 85 w 105"/>
                <a:gd name="T41" fmla="*/ 50 h 106"/>
                <a:gd name="T42" fmla="*/ 81 w 105"/>
                <a:gd name="T43" fmla="*/ 39 h 106"/>
                <a:gd name="T44" fmla="*/ 79 w 105"/>
                <a:gd name="T45" fmla="*/ 31 h 106"/>
                <a:gd name="T46" fmla="*/ 71 w 105"/>
                <a:gd name="T47" fmla="*/ 29 h 106"/>
                <a:gd name="T48" fmla="*/ 64 w 105"/>
                <a:gd name="T49" fmla="*/ 33 h 106"/>
                <a:gd name="T50" fmla="*/ 60 w 105"/>
                <a:gd name="T51" fmla="*/ 39 h 106"/>
                <a:gd name="T52" fmla="*/ 58 w 105"/>
                <a:gd name="T53" fmla="*/ 38 h 106"/>
                <a:gd name="T54" fmla="*/ 51 w 105"/>
                <a:gd name="T55" fmla="*/ 29 h 106"/>
                <a:gd name="T56" fmla="*/ 42 w 105"/>
                <a:gd name="T57" fmla="*/ 20 h 106"/>
                <a:gd name="T58" fmla="*/ 33 w 105"/>
                <a:gd name="T59" fmla="*/ 23 h 106"/>
                <a:gd name="T60" fmla="*/ 26 w 105"/>
                <a:gd name="T61" fmla="*/ 34 h 106"/>
                <a:gd name="T62" fmla="*/ 21 w 105"/>
                <a:gd name="T63" fmla="*/ 42 h 106"/>
                <a:gd name="T64" fmla="*/ 17 w 105"/>
                <a:gd name="T65" fmla="*/ 46 h 106"/>
                <a:gd name="T66" fmla="*/ 15 w 105"/>
                <a:gd name="T67" fmla="*/ 51 h 106"/>
                <a:gd name="T68" fmla="*/ 18 w 105"/>
                <a:gd name="T69" fmla="*/ 69 h 106"/>
                <a:gd name="T70" fmla="*/ 22 w 105"/>
                <a:gd name="T71" fmla="*/ 69 h 106"/>
                <a:gd name="T72" fmla="*/ 26 w 105"/>
                <a:gd name="T73" fmla="*/ 65 h 106"/>
                <a:gd name="T74" fmla="*/ 22 w 105"/>
                <a:gd name="T75" fmla="*/ 55 h 106"/>
                <a:gd name="T76" fmla="*/ 28 w 105"/>
                <a:gd name="T77" fmla="*/ 47 h 106"/>
                <a:gd name="T78" fmla="*/ 30 w 105"/>
                <a:gd name="T79" fmla="*/ 39 h 106"/>
                <a:gd name="T80" fmla="*/ 35 w 105"/>
                <a:gd name="T81" fmla="*/ 34 h 106"/>
                <a:gd name="T82" fmla="*/ 38 w 105"/>
                <a:gd name="T83" fmla="*/ 25 h 106"/>
                <a:gd name="T84" fmla="*/ 39 w 105"/>
                <a:gd name="T85" fmla="*/ 25 h 106"/>
                <a:gd name="T86" fmla="*/ 42 w 105"/>
                <a:gd name="T87" fmla="*/ 26 h 106"/>
                <a:gd name="T88" fmla="*/ 44 w 105"/>
                <a:gd name="T89" fmla="*/ 22 h 106"/>
                <a:gd name="T90" fmla="*/ 42 w 105"/>
                <a:gd name="T91" fmla="*/ 20 h 106"/>
                <a:gd name="T92" fmla="*/ 52 w 105"/>
                <a:gd name="T93" fmla="*/ 94 h 106"/>
                <a:gd name="T94" fmla="*/ 12 w 105"/>
                <a:gd name="T95" fmla="*/ 53 h 106"/>
                <a:gd name="T96" fmla="*/ 52 w 105"/>
                <a:gd name="T97" fmla="*/ 12 h 106"/>
                <a:gd name="T98" fmla="*/ 93 w 105"/>
                <a:gd name="T99" fmla="*/ 53 h 106"/>
                <a:gd name="T100" fmla="*/ 52 w 105"/>
                <a:gd name="T101" fmla="*/ 94 h 106"/>
                <a:gd name="T102" fmla="*/ 52 w 105"/>
                <a:gd name="T103" fmla="*/ 0 h 106"/>
                <a:gd name="T104" fmla="*/ 0 w 105"/>
                <a:gd name="T105" fmla="*/ 53 h 106"/>
                <a:gd name="T106" fmla="*/ 52 w 105"/>
                <a:gd name="T107" fmla="*/ 106 h 106"/>
                <a:gd name="T108" fmla="*/ 105 w 105"/>
                <a:gd name="T109" fmla="*/ 53 h 106"/>
                <a:gd name="T110" fmla="*/ 52 w 105"/>
                <a:gd name="T11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5" h="106">
                  <a:moveTo>
                    <a:pt x="29" y="71"/>
                  </a:moveTo>
                  <a:cubicBezTo>
                    <a:pt x="26" y="71"/>
                    <a:pt x="37" y="82"/>
                    <a:pt x="43" y="84"/>
                  </a:cubicBezTo>
                  <a:cubicBezTo>
                    <a:pt x="46" y="85"/>
                    <a:pt x="47" y="85"/>
                    <a:pt x="48" y="85"/>
                  </a:cubicBezTo>
                  <a:cubicBezTo>
                    <a:pt x="49" y="85"/>
                    <a:pt x="49" y="84"/>
                    <a:pt x="50" y="82"/>
                  </a:cubicBezTo>
                  <a:cubicBezTo>
                    <a:pt x="53" y="79"/>
                    <a:pt x="49" y="77"/>
                    <a:pt x="46" y="75"/>
                  </a:cubicBezTo>
                  <a:cubicBezTo>
                    <a:pt x="45" y="74"/>
                    <a:pt x="44" y="74"/>
                    <a:pt x="43" y="74"/>
                  </a:cubicBezTo>
                  <a:cubicBezTo>
                    <a:pt x="41" y="74"/>
                    <a:pt x="39" y="75"/>
                    <a:pt x="37" y="75"/>
                  </a:cubicBezTo>
                  <a:cubicBezTo>
                    <a:pt x="37" y="75"/>
                    <a:pt x="33" y="72"/>
                    <a:pt x="29" y="71"/>
                  </a:cubicBezTo>
                  <a:cubicBezTo>
                    <a:pt x="29" y="71"/>
                    <a:pt x="29" y="71"/>
                    <a:pt x="29" y="71"/>
                  </a:cubicBezTo>
                  <a:moveTo>
                    <a:pt x="51" y="29"/>
                  </a:moveTo>
                  <a:cubicBezTo>
                    <a:pt x="50" y="29"/>
                    <a:pt x="50" y="29"/>
                    <a:pt x="49" y="30"/>
                  </a:cubicBezTo>
                  <a:cubicBezTo>
                    <a:pt x="47" y="34"/>
                    <a:pt x="38" y="44"/>
                    <a:pt x="41" y="48"/>
                  </a:cubicBezTo>
                  <a:cubicBezTo>
                    <a:pt x="43" y="49"/>
                    <a:pt x="46" y="51"/>
                    <a:pt x="48" y="52"/>
                  </a:cubicBezTo>
                  <a:cubicBezTo>
                    <a:pt x="47" y="54"/>
                    <a:pt x="46" y="58"/>
                    <a:pt x="49" y="60"/>
                  </a:cubicBezTo>
                  <a:cubicBezTo>
                    <a:pt x="52" y="64"/>
                    <a:pt x="55" y="64"/>
                    <a:pt x="56" y="69"/>
                  </a:cubicBezTo>
                  <a:cubicBezTo>
                    <a:pt x="56" y="74"/>
                    <a:pt x="57" y="78"/>
                    <a:pt x="59" y="80"/>
                  </a:cubicBezTo>
                  <a:cubicBezTo>
                    <a:pt x="61" y="83"/>
                    <a:pt x="65" y="83"/>
                    <a:pt x="65" y="83"/>
                  </a:cubicBezTo>
                  <a:cubicBezTo>
                    <a:pt x="65" y="83"/>
                    <a:pt x="69" y="80"/>
                    <a:pt x="71" y="78"/>
                  </a:cubicBezTo>
                  <a:cubicBezTo>
                    <a:pt x="72" y="75"/>
                    <a:pt x="71" y="74"/>
                    <a:pt x="72" y="70"/>
                  </a:cubicBezTo>
                  <a:cubicBezTo>
                    <a:pt x="74" y="65"/>
                    <a:pt x="75" y="67"/>
                    <a:pt x="79" y="61"/>
                  </a:cubicBezTo>
                  <a:cubicBezTo>
                    <a:pt x="82" y="55"/>
                    <a:pt x="84" y="57"/>
                    <a:pt x="85" y="50"/>
                  </a:cubicBezTo>
                  <a:cubicBezTo>
                    <a:pt x="86" y="44"/>
                    <a:pt x="84" y="41"/>
                    <a:pt x="81" y="39"/>
                  </a:cubicBezTo>
                  <a:cubicBezTo>
                    <a:pt x="79" y="37"/>
                    <a:pt x="82" y="33"/>
                    <a:pt x="79" y="31"/>
                  </a:cubicBezTo>
                  <a:cubicBezTo>
                    <a:pt x="77" y="30"/>
                    <a:pt x="74" y="29"/>
                    <a:pt x="71" y="29"/>
                  </a:cubicBezTo>
                  <a:cubicBezTo>
                    <a:pt x="68" y="29"/>
                    <a:pt x="65" y="30"/>
                    <a:pt x="64" y="33"/>
                  </a:cubicBezTo>
                  <a:cubicBezTo>
                    <a:pt x="64" y="36"/>
                    <a:pt x="63" y="39"/>
                    <a:pt x="60" y="39"/>
                  </a:cubicBezTo>
                  <a:cubicBezTo>
                    <a:pt x="60" y="39"/>
                    <a:pt x="59" y="39"/>
                    <a:pt x="58" y="38"/>
                  </a:cubicBezTo>
                  <a:cubicBezTo>
                    <a:pt x="55" y="36"/>
                    <a:pt x="53" y="29"/>
                    <a:pt x="51" y="29"/>
                  </a:cubicBezTo>
                  <a:moveTo>
                    <a:pt x="42" y="20"/>
                  </a:moveTo>
                  <a:cubicBezTo>
                    <a:pt x="40" y="20"/>
                    <a:pt x="36" y="22"/>
                    <a:pt x="33" y="23"/>
                  </a:cubicBezTo>
                  <a:cubicBezTo>
                    <a:pt x="30" y="25"/>
                    <a:pt x="26" y="29"/>
                    <a:pt x="26" y="34"/>
                  </a:cubicBezTo>
                  <a:cubicBezTo>
                    <a:pt x="27" y="38"/>
                    <a:pt x="24" y="42"/>
                    <a:pt x="21" y="42"/>
                  </a:cubicBezTo>
                  <a:cubicBezTo>
                    <a:pt x="18" y="42"/>
                    <a:pt x="17" y="46"/>
                    <a:pt x="17" y="46"/>
                  </a:cubicBezTo>
                  <a:cubicBezTo>
                    <a:pt x="15" y="51"/>
                    <a:pt x="15" y="51"/>
                    <a:pt x="15" y="51"/>
                  </a:cubicBezTo>
                  <a:cubicBezTo>
                    <a:pt x="15" y="51"/>
                    <a:pt x="15" y="67"/>
                    <a:pt x="18" y="69"/>
                  </a:cubicBezTo>
                  <a:cubicBezTo>
                    <a:pt x="18" y="69"/>
                    <a:pt x="20" y="69"/>
                    <a:pt x="22" y="69"/>
                  </a:cubicBezTo>
                  <a:cubicBezTo>
                    <a:pt x="25" y="69"/>
                    <a:pt x="28" y="69"/>
                    <a:pt x="26" y="65"/>
                  </a:cubicBezTo>
                  <a:cubicBezTo>
                    <a:pt x="24" y="60"/>
                    <a:pt x="18" y="58"/>
                    <a:pt x="22" y="55"/>
                  </a:cubicBezTo>
                  <a:cubicBezTo>
                    <a:pt x="26" y="51"/>
                    <a:pt x="28" y="50"/>
                    <a:pt x="28" y="47"/>
                  </a:cubicBezTo>
                  <a:cubicBezTo>
                    <a:pt x="28" y="43"/>
                    <a:pt x="26" y="40"/>
                    <a:pt x="30" y="39"/>
                  </a:cubicBezTo>
                  <a:cubicBezTo>
                    <a:pt x="33" y="38"/>
                    <a:pt x="35" y="38"/>
                    <a:pt x="35" y="34"/>
                  </a:cubicBezTo>
                  <a:cubicBezTo>
                    <a:pt x="35" y="29"/>
                    <a:pt x="36" y="25"/>
                    <a:pt x="38" y="25"/>
                  </a:cubicBezTo>
                  <a:cubicBezTo>
                    <a:pt x="38" y="25"/>
                    <a:pt x="39" y="25"/>
                    <a:pt x="39" y="25"/>
                  </a:cubicBezTo>
                  <a:cubicBezTo>
                    <a:pt x="40" y="25"/>
                    <a:pt x="41" y="26"/>
                    <a:pt x="42" y="26"/>
                  </a:cubicBezTo>
                  <a:cubicBezTo>
                    <a:pt x="43" y="26"/>
                    <a:pt x="44" y="25"/>
                    <a:pt x="44" y="22"/>
                  </a:cubicBezTo>
                  <a:cubicBezTo>
                    <a:pt x="44" y="20"/>
                    <a:pt x="43" y="20"/>
                    <a:pt x="42" y="20"/>
                  </a:cubicBezTo>
                  <a:moveTo>
                    <a:pt x="52" y="94"/>
                  </a:moveTo>
                  <a:cubicBezTo>
                    <a:pt x="30" y="94"/>
                    <a:pt x="12" y="76"/>
                    <a:pt x="12" y="53"/>
                  </a:cubicBezTo>
                  <a:cubicBezTo>
                    <a:pt x="12" y="30"/>
                    <a:pt x="30" y="12"/>
                    <a:pt x="52" y="12"/>
                  </a:cubicBezTo>
                  <a:cubicBezTo>
                    <a:pt x="75" y="12"/>
                    <a:pt x="93" y="30"/>
                    <a:pt x="93" y="53"/>
                  </a:cubicBezTo>
                  <a:cubicBezTo>
                    <a:pt x="93" y="76"/>
                    <a:pt x="75" y="94"/>
                    <a:pt x="52" y="94"/>
                  </a:cubicBezTo>
                  <a:moveTo>
                    <a:pt x="52" y="0"/>
                  </a:moveTo>
                  <a:cubicBezTo>
                    <a:pt x="23" y="0"/>
                    <a:pt x="0" y="24"/>
                    <a:pt x="0" y="53"/>
                  </a:cubicBezTo>
                  <a:cubicBezTo>
                    <a:pt x="0" y="82"/>
                    <a:pt x="23" y="106"/>
                    <a:pt x="52" y="106"/>
                  </a:cubicBezTo>
                  <a:cubicBezTo>
                    <a:pt x="82" y="106"/>
                    <a:pt x="105" y="82"/>
                    <a:pt x="105" y="53"/>
                  </a:cubicBezTo>
                  <a:cubicBezTo>
                    <a:pt x="105" y="24"/>
                    <a:pt x="82" y="0"/>
                    <a:pt x="52" y="0"/>
                  </a:cubicBezTo>
                </a:path>
              </a:pathLst>
            </a:custGeom>
            <a:solidFill>
              <a:schemeClr val="bg1"/>
            </a:solidFill>
            <a:ln>
              <a:noFill/>
            </a:ln>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tx1">
                    <a:lumMod val="75000"/>
                    <a:lumOff val="25000"/>
                  </a:schemeClr>
                </a:solidFill>
              </a:endParaRPr>
            </a:p>
          </p:txBody>
        </p:sp>
      </p:grpSp>
      <p:sp>
        <p:nvSpPr>
          <p:cNvPr id="2" name="矩形 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3" name="文本框 2"/>
          <p:cNvSpPr txBox="1"/>
          <p:nvPr/>
        </p:nvSpPr>
        <p:spPr>
          <a:xfrm>
            <a:off x="857885" y="283210"/>
            <a:ext cx="2623185" cy="583565"/>
          </a:xfrm>
          <a:prstGeom prst="rect">
            <a:avLst/>
          </a:prstGeom>
          <a:noFill/>
        </p:spPr>
        <p:txBody>
          <a:bodyPr wrap="none" rtlCol="0">
            <a:spAutoFit/>
          </a:bodyPr>
          <a:p>
            <a:pPr algn="l"/>
            <a:r>
              <a:rPr lang="en-US" altLang="zh-CN" sz="3200" b="1" dirty="0">
                <a:solidFill>
                  <a:schemeClr val="tx1">
                    <a:lumMod val="95000"/>
                    <a:lumOff val="5000"/>
                  </a:schemeClr>
                </a:solidFill>
                <a:latin typeface="微软雅黑" panose="020B0503020204020204" charset="-122"/>
                <a:ea typeface="微软雅黑" panose="020B0503020204020204" charset="-122"/>
                <a:sym typeface="+mn-ea"/>
              </a:rPr>
              <a:t>CPC</a:t>
            </a:r>
            <a:r>
              <a:rPr lang="zh-CN" altLang="en-US" sz="3200" b="1" dirty="0">
                <a:solidFill>
                  <a:schemeClr val="tx1">
                    <a:lumMod val="95000"/>
                    <a:lumOff val="5000"/>
                  </a:schemeClr>
                </a:solidFill>
                <a:latin typeface="微软雅黑" panose="020B0503020204020204" charset="-122"/>
                <a:ea typeface="微软雅黑" panose="020B0503020204020204" charset="-122"/>
                <a:sym typeface="+mn-ea"/>
              </a:rPr>
              <a:t>注意事项</a:t>
            </a:r>
            <a:endParaRPr lang="en-US" altLang="zh-CN" sz="3200" b="1">
              <a:solidFill>
                <a:schemeClr val="tx1">
                  <a:lumMod val="75000"/>
                  <a:lumOff val="25000"/>
                </a:schemeClr>
              </a:solidFill>
            </a:endParaRPr>
          </a:p>
        </p:txBody>
      </p:sp>
      <p:sp>
        <p:nvSpPr>
          <p:cNvPr id="12" name="矩形 11"/>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 name="矩形: 圆角 26"/>
          <p:cNvSpPr/>
          <p:nvPr/>
        </p:nvSpPr>
        <p:spPr>
          <a:xfrm>
            <a:off x="6647536" y="1530309"/>
            <a:ext cx="457200" cy="457200"/>
          </a:xfrm>
          <a:prstGeom prst="round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68" name="矩形: 圆角 27"/>
          <p:cNvSpPr/>
          <p:nvPr/>
        </p:nvSpPr>
        <p:spPr>
          <a:xfrm>
            <a:off x="6647536" y="3016958"/>
            <a:ext cx="457200" cy="457200"/>
          </a:xfrm>
          <a:prstGeom prst="round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69" name="矩形: 圆角 28"/>
          <p:cNvSpPr/>
          <p:nvPr/>
        </p:nvSpPr>
        <p:spPr>
          <a:xfrm>
            <a:off x="6667221" y="4504847"/>
            <a:ext cx="457200" cy="457200"/>
          </a:xfrm>
          <a:prstGeom prst="round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70" name="矩形 569" descr="e7d195523061f1c003d7160bb3852330e69e1b47c664ea0314E9593E18313AD830F940F1AC53C40C0B8B3D93D4DFF44B590F8D4A945ADE53F5D61968231FCAE157B0D7022AA0681C03E9FB4B1E3862D0C13C109685D0C1F9D9ACA5E10B258C1727924FC3FC0E61468152E413AFD3EDAA03A1BA0B768D2D39A9D26D6009DD7E2AED15C90B1EA11F84"/>
          <p:cNvSpPr/>
          <p:nvPr/>
        </p:nvSpPr>
        <p:spPr>
          <a:xfrm>
            <a:off x="7293610" y="1529715"/>
            <a:ext cx="3636645" cy="52197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pPr>
            <a:r>
              <a:rPr lang="zh-CN" altLang="en-US" sz="1400" b="1" dirty="0">
                <a:solidFill>
                  <a:srgbClr val="000000"/>
                </a:solidFill>
                <a:latin typeface="微软雅黑" panose="020B0503020204020204" charset="-122"/>
                <a:ea typeface="微软雅黑" panose="020B0503020204020204" charset="-122"/>
                <a:sym typeface="方正姚体" panose="02010601030101010101" pitchFamily="2" charset="-122"/>
              </a:rPr>
              <a:t>先自动后手动</a:t>
            </a:r>
            <a:endParaRPr lang="zh-CN" altLang="en-US" sz="1400" b="1"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利润</a:t>
            </a: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30%</a:t>
            </a: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，库存</a:t>
            </a: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200+</a:t>
            </a: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，预算</a:t>
            </a: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15usd</a:t>
            </a: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一天</a:t>
            </a:r>
            <a:endPar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endParaRPr>
          </a:p>
        </p:txBody>
      </p:sp>
      <p:sp>
        <p:nvSpPr>
          <p:cNvPr id="572" name="文本框 571"/>
          <p:cNvSpPr txBox="1"/>
          <p:nvPr/>
        </p:nvSpPr>
        <p:spPr>
          <a:xfrm>
            <a:off x="6667040" y="1573994"/>
            <a:ext cx="418704" cy="369332"/>
          </a:xfrm>
          <a:prstGeom prst="rect">
            <a:avLst/>
          </a:prstGeom>
          <a:noFill/>
        </p:spPr>
        <p:txBody>
          <a:bodyPr wrap="none" rtlCol="0">
            <a:spAutoFit/>
          </a:bodyPr>
          <a:lstStyle/>
          <a:p>
            <a:r>
              <a:rPr lang="en-US" altLang="zh-CN" dirty="0">
                <a:solidFill>
                  <a:prstClr val="white"/>
                </a:solidFill>
              </a:rPr>
              <a:t>01</a:t>
            </a:r>
            <a:endParaRPr lang="zh-CN" altLang="en-US" dirty="0">
              <a:solidFill>
                <a:prstClr val="white"/>
              </a:solidFill>
            </a:endParaRPr>
          </a:p>
        </p:txBody>
      </p:sp>
      <p:sp>
        <p:nvSpPr>
          <p:cNvPr id="573" name="矩形 572" descr="e7d195523061f1c003d7160bb3852330e69e1b47c664ea0314E9593E18313AD830F940F1AC53C40C0B8B3D93D4DFF44B590F8D4A945ADE53F5D61968231FCAE157B0D7022AA0681C03E9FB4B1E3862D0C13C109685D0C1F9D9ACA5E10B258C1727924FC3FC0E61468152E413AFD3EDAA03A1BA0B768D2D39A9D26D6009DD7E2AED15C90B1EA11F84"/>
          <p:cNvSpPr/>
          <p:nvPr/>
        </p:nvSpPr>
        <p:spPr>
          <a:xfrm>
            <a:off x="7293610" y="2661920"/>
            <a:ext cx="4291330" cy="11684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pPr>
            <a:r>
              <a:rPr lang="zh-CN" altLang="en-US" sz="1400" b="1" dirty="0">
                <a:solidFill>
                  <a:srgbClr val="000000"/>
                </a:solidFill>
                <a:latin typeface="微软雅黑" panose="020B0503020204020204" charset="-122"/>
                <a:ea typeface="微软雅黑" panose="020B0503020204020204" charset="-122"/>
                <a:sym typeface="方正姚体" panose="02010601030101010101" pitchFamily="2" charset="-122"/>
              </a:rPr>
              <a:t>一周之后</a:t>
            </a:r>
            <a:endParaRPr lang="zh-CN" altLang="en-US" sz="1400" b="1"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1.</a:t>
            </a: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下载报表，选取有曝光有点击的关键词加入手动广告关键词</a:t>
            </a:r>
            <a:endPar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2.</a:t>
            </a: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一周调整两次广告，调整时间为店铺流量高峰期前两个小时左右</a:t>
            </a:r>
            <a:endPar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endParaRPr>
          </a:p>
        </p:txBody>
      </p:sp>
      <p:sp>
        <p:nvSpPr>
          <p:cNvPr id="575" name="文本框 574"/>
          <p:cNvSpPr txBox="1"/>
          <p:nvPr/>
        </p:nvSpPr>
        <p:spPr>
          <a:xfrm>
            <a:off x="6686725" y="3061601"/>
            <a:ext cx="418704" cy="369332"/>
          </a:xfrm>
          <a:prstGeom prst="rect">
            <a:avLst/>
          </a:prstGeom>
          <a:noFill/>
        </p:spPr>
        <p:txBody>
          <a:bodyPr wrap="none" rtlCol="0">
            <a:spAutoFit/>
          </a:bodyPr>
          <a:lstStyle/>
          <a:p>
            <a:r>
              <a:rPr lang="en-US" altLang="zh-CN" dirty="0">
                <a:solidFill>
                  <a:prstClr val="white"/>
                </a:solidFill>
              </a:rPr>
              <a:t>02</a:t>
            </a:r>
            <a:endParaRPr lang="zh-CN" altLang="en-US" dirty="0">
              <a:solidFill>
                <a:prstClr val="white"/>
              </a:solidFill>
            </a:endParaRPr>
          </a:p>
        </p:txBody>
      </p:sp>
      <p:sp>
        <p:nvSpPr>
          <p:cNvPr id="576" name="矩形 575" descr="e7d195523061f1c003d7160bb3852330e69e1b47c664ea0314E9593E18313AD830F940F1AC53C40C0B8B3D93D4DFF44B590F8D4A945ADE53F5D61968231FCAE157B0D7022AA0681C03E9FB4B1E3862D0C13C109685D0C1F9D9ACA5E10B258C1727924FC3FC0E61468152E413AFD3EDAA03A1BA0B768D2D39A9D26D6009DD7E2AED15C90B1EA11F84"/>
          <p:cNvSpPr/>
          <p:nvPr/>
        </p:nvSpPr>
        <p:spPr>
          <a:xfrm>
            <a:off x="7293610" y="4194175"/>
            <a:ext cx="4290695" cy="203009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pPr>
            <a:r>
              <a:rPr lang="zh-CN" altLang="en-US" sz="1400" b="1" dirty="0">
                <a:solidFill>
                  <a:srgbClr val="000000"/>
                </a:solidFill>
                <a:latin typeface="微软雅黑" panose="020B0503020204020204" charset="-122"/>
                <a:ea typeface="微软雅黑" panose="020B0503020204020204" charset="-122"/>
                <a:sym typeface="方正姚体" panose="02010601030101010101" pitchFamily="2" charset="-122"/>
              </a:rPr>
              <a:t>一个月之后</a:t>
            </a:r>
            <a:endParaRPr lang="zh-CN" altLang="en-US" sz="1400" b="1"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sz="1400" dirty="0">
                <a:solidFill>
                  <a:srgbClr val="000000"/>
                </a:solidFill>
                <a:latin typeface="微软雅黑" panose="020B0503020204020204" charset="-122"/>
                <a:ea typeface="微软雅黑" panose="020B0503020204020204" charset="-122"/>
                <a:sym typeface="方正姚体" panose="02010601030101010101" pitchFamily="2" charset="-122"/>
              </a:rPr>
              <a:t>1.Lsting</a:t>
            </a: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评论最少</a:t>
            </a: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30</a:t>
            </a: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个</a:t>
            </a: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a:t>
            </a: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结合运营成本预算与回评率</a:t>
            </a: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a:t>
            </a:r>
            <a:endPar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2.</a:t>
            </a: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评分最少</a:t>
            </a: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4.5</a:t>
            </a: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分以上，视频评论两个，优质图片五个</a:t>
            </a: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a:t>
            </a: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标准自己定</a:t>
            </a: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a:t>
            </a:r>
            <a:endPar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3.</a:t>
            </a: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客户问答最少十个</a:t>
            </a:r>
            <a:endPar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4.ACOS20%</a:t>
            </a: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以下</a:t>
            </a:r>
            <a:endPar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altLang="zh-CN" sz="1400" dirty="0">
                <a:solidFill>
                  <a:srgbClr val="000000"/>
                </a:solidFill>
                <a:latin typeface="微软雅黑" panose="020B0503020204020204" charset="-122"/>
                <a:ea typeface="微软雅黑" panose="020B0503020204020204" charset="-122"/>
                <a:sym typeface="方正姚体" panose="02010601030101010101" pitchFamily="2" charset="-122"/>
              </a:rPr>
              <a:t>5.</a:t>
            </a:r>
            <a:r>
              <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rPr>
              <a:t>关键词进行分组，高转化的关键词作为精准词匹配，词组关键词放一组，广泛关键词一直超标需要先屏蔽，表现不好但是搜索为同类产品的关键词重建单独分组</a:t>
            </a:r>
            <a:endParaRPr lang="zh-CN" altLang="en-US" sz="1400" dirty="0">
              <a:solidFill>
                <a:srgbClr val="000000"/>
              </a:solidFill>
              <a:latin typeface="微软雅黑" panose="020B0503020204020204" charset="-122"/>
              <a:ea typeface="微软雅黑" panose="020B0503020204020204" charset="-122"/>
              <a:sym typeface="方正姚体" panose="02010601030101010101" pitchFamily="2" charset="-122"/>
            </a:endParaRPr>
          </a:p>
        </p:txBody>
      </p:sp>
      <p:sp>
        <p:nvSpPr>
          <p:cNvPr id="578" name="文本框 577"/>
          <p:cNvSpPr txBox="1"/>
          <p:nvPr/>
        </p:nvSpPr>
        <p:spPr>
          <a:xfrm>
            <a:off x="6647815" y="4549140"/>
            <a:ext cx="457200" cy="368300"/>
          </a:xfrm>
          <a:prstGeom prst="rect">
            <a:avLst/>
          </a:prstGeom>
          <a:noFill/>
        </p:spPr>
        <p:txBody>
          <a:bodyPr wrap="square" rtlCol="0">
            <a:spAutoFit/>
          </a:bodyPr>
          <a:lstStyle/>
          <a:p>
            <a:r>
              <a:rPr lang="en-US" altLang="zh-CN" dirty="0">
                <a:solidFill>
                  <a:prstClr val="white"/>
                </a:solidFill>
              </a:rPr>
              <a:t>03</a:t>
            </a:r>
            <a:endParaRPr lang="zh-CN" altLang="en-US" dirty="0">
              <a:solidFill>
                <a:prstClr val="white"/>
              </a:solidFill>
            </a:endParaRPr>
          </a:p>
        </p:txBody>
      </p:sp>
      <p:sp>
        <p:nvSpPr>
          <p:cNvPr id="6" name="矩形 5"/>
          <p:cNvSpPr/>
          <p:nvPr/>
        </p:nvSpPr>
        <p:spPr>
          <a:xfrm>
            <a:off x="239151" y="253218"/>
            <a:ext cx="1429992" cy="1125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矩形 3"/>
          <p:cNvSpPr/>
          <p:nvPr/>
        </p:nvSpPr>
        <p:spPr>
          <a:xfrm>
            <a:off x="2519045" y="1635125"/>
            <a:ext cx="3032760" cy="1693545"/>
          </a:xfrm>
          <a:prstGeom prst="rect">
            <a:avLst/>
          </a:prstGeom>
          <a:noFill/>
          <a:ln w="28575">
            <a:solidFill>
              <a:schemeClr val="tx1"/>
            </a:solidFill>
          </a:ln>
          <a:extLst>
            <a:ext uri="{909E8E84-426E-40DD-AFC4-6F175D3DCCD1}">
              <a14:hiddenFill xmlns:a14="http://schemas.microsoft.com/office/drawing/2010/main">
                <a:solidFill>
                  <a:schemeClr val="bg2">
                    <a:lumMod val="1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7" name="图片 6"/>
          <p:cNvPicPr>
            <a:picLocks noChangeAspect="1"/>
          </p:cNvPicPr>
          <p:nvPr/>
        </p:nvPicPr>
        <p:blipFill>
          <a:blip r:embed="rId1"/>
          <a:stretch>
            <a:fillRect/>
          </a:stretch>
        </p:blipFill>
        <p:spPr>
          <a:xfrm>
            <a:off x="239395" y="2123440"/>
            <a:ext cx="4958715" cy="3196590"/>
          </a:xfrm>
          <a:prstGeom prst="rect">
            <a:avLst/>
          </a:prstGeom>
        </p:spPr>
      </p:pic>
      <p:sp>
        <p:nvSpPr>
          <p:cNvPr id="2" name="矩形 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29" name="文本框 28"/>
          <p:cNvSpPr txBox="1"/>
          <p:nvPr/>
        </p:nvSpPr>
        <p:spPr>
          <a:xfrm>
            <a:off x="857885" y="283210"/>
            <a:ext cx="3072765" cy="583565"/>
          </a:xfrm>
          <a:prstGeom prst="rect">
            <a:avLst/>
          </a:prstGeom>
          <a:noFill/>
        </p:spPr>
        <p:txBody>
          <a:bodyPr wrap="none" rtlCol="0">
            <a:spAutoFit/>
          </a:bodyPr>
          <a:p>
            <a:pPr algn="l"/>
            <a:r>
              <a:rPr lang="en-US" altLang="zh-CN" sz="3200" b="1">
                <a:solidFill>
                  <a:srgbClr val="C00000"/>
                </a:solidFill>
                <a:sym typeface="+mn-ea"/>
              </a:rPr>
              <a:t>CPC</a:t>
            </a:r>
            <a:r>
              <a:rPr lang="zh-CN" altLang="en-US" sz="3200" b="1">
                <a:solidFill>
                  <a:srgbClr val="C00000"/>
                </a:solidFill>
                <a:sym typeface="+mn-ea"/>
              </a:rPr>
              <a:t>阶段性打法</a:t>
            </a:r>
            <a:endParaRPr lang="zh-CN" altLang="en-US" sz="3200" b="1">
              <a:solidFill>
                <a:srgbClr val="C00000"/>
              </a:solidFill>
              <a:sym typeface="+mn-ea"/>
            </a:endParaRPr>
          </a:p>
        </p:txBody>
      </p:sp>
      <p:sp>
        <p:nvSpPr>
          <p:cNvPr id="8" name="矩形 7"/>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5" name="矩形 4"/>
          <p:cNvSpPr/>
          <p:nvPr/>
        </p:nvSpPr>
        <p:spPr>
          <a:xfrm flipV="1">
            <a:off x="128" y="6762496"/>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2" name="矩形 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13" name="文本框 12"/>
          <p:cNvSpPr txBox="1"/>
          <p:nvPr/>
        </p:nvSpPr>
        <p:spPr>
          <a:xfrm>
            <a:off x="880110" y="1283970"/>
            <a:ext cx="9897110" cy="5028565"/>
          </a:xfrm>
          <a:prstGeom prst="rect">
            <a:avLst/>
          </a:prstGeom>
          <a:noFill/>
        </p:spPr>
        <p:txBody>
          <a:bodyPr wrap="square" rtlCol="0">
            <a:spAutoFit/>
          </a:bodyPr>
          <a:p>
            <a:pPr fontAlgn="auto">
              <a:lnSpc>
                <a:spcPts val="3500"/>
              </a:lnSpc>
            </a:pPr>
            <a:r>
              <a:rPr lang="en-US" altLang="zh-CN">
                <a:solidFill>
                  <a:schemeClr val="tx1">
                    <a:lumMod val="85000"/>
                    <a:lumOff val="15000"/>
                  </a:schemeClr>
                </a:solidFill>
              </a:rPr>
              <a:t>1.</a:t>
            </a:r>
            <a:r>
              <a:rPr lang="zh-CN" altLang="en-US">
                <a:solidFill>
                  <a:schemeClr val="tx1">
                    <a:lumMod val="85000"/>
                    <a:lumOff val="15000"/>
                  </a:schemeClr>
                </a:solidFill>
              </a:rPr>
              <a:t>广告报表，</a:t>
            </a:r>
            <a:r>
              <a:rPr lang="zh-CN" altLang="en-US">
                <a:solidFill>
                  <a:schemeClr val="tx1">
                    <a:lumMod val="85000"/>
                    <a:lumOff val="15000"/>
                  </a:schemeClr>
                </a:solidFill>
                <a:sym typeface="+mn-ea"/>
              </a:rPr>
              <a:t>关键字总花费金额的栏位由大到小排序，看哪些关键字花费多，而且转化率又差</a:t>
            </a:r>
            <a:endParaRPr lang="zh-CN" altLang="en-US">
              <a:solidFill>
                <a:schemeClr val="tx1">
                  <a:lumMod val="85000"/>
                  <a:lumOff val="15000"/>
                </a:schemeClr>
              </a:solidFill>
              <a:sym typeface="+mn-ea"/>
            </a:endParaRPr>
          </a:p>
          <a:p>
            <a:pPr fontAlgn="auto">
              <a:lnSpc>
                <a:spcPts val="3500"/>
              </a:lnSpc>
            </a:pPr>
            <a:r>
              <a:rPr lang="zh-CN" altLang="en-US">
                <a:solidFill>
                  <a:schemeClr val="bg1">
                    <a:lumMod val="50000"/>
                  </a:schemeClr>
                </a:solidFill>
                <a:sym typeface="+mn-ea"/>
              </a:rPr>
              <a:t>比如：只转化两次的关键字，但是费用高昂，总销售额才</a:t>
            </a:r>
            <a:r>
              <a:rPr lang="en-US" altLang="zh-CN">
                <a:solidFill>
                  <a:schemeClr val="bg1">
                    <a:lumMod val="50000"/>
                  </a:schemeClr>
                </a:solidFill>
                <a:sym typeface="+mn-ea"/>
              </a:rPr>
              <a:t>20$,</a:t>
            </a:r>
            <a:r>
              <a:rPr lang="zh-CN" altLang="en-US">
                <a:solidFill>
                  <a:schemeClr val="bg1">
                    <a:lumMod val="50000"/>
                  </a:schemeClr>
                </a:solidFill>
                <a:sym typeface="+mn-ea"/>
              </a:rPr>
              <a:t>每转化一次就要 $</a:t>
            </a:r>
            <a:r>
              <a:rPr lang="en-US" altLang="zh-CN">
                <a:solidFill>
                  <a:schemeClr val="bg1">
                    <a:lumMod val="50000"/>
                  </a:schemeClr>
                </a:solidFill>
                <a:sym typeface="+mn-ea"/>
              </a:rPr>
              <a:t>15</a:t>
            </a:r>
            <a:r>
              <a:rPr lang="zh-CN" altLang="en-US">
                <a:solidFill>
                  <a:schemeClr val="bg1">
                    <a:lumMod val="50000"/>
                  </a:schemeClr>
                </a:solidFill>
                <a:sym typeface="+mn-ea"/>
              </a:rPr>
              <a:t> 美金，这并不是我们要的关键字</a:t>
            </a:r>
            <a:endParaRPr lang="zh-CN" altLang="en-US">
              <a:solidFill>
                <a:schemeClr val="bg1">
                  <a:lumMod val="50000"/>
                </a:schemeClr>
              </a:solidFill>
              <a:sym typeface="+mn-ea"/>
            </a:endParaRPr>
          </a:p>
          <a:p>
            <a:pPr fontAlgn="auto">
              <a:lnSpc>
                <a:spcPts val="3500"/>
              </a:lnSpc>
            </a:pPr>
            <a:r>
              <a:rPr lang="en-US" altLang="zh-CN">
                <a:solidFill>
                  <a:schemeClr val="tx1">
                    <a:lumMod val="85000"/>
                    <a:lumOff val="15000"/>
                  </a:schemeClr>
                </a:solidFill>
                <a:sym typeface="+mn-ea"/>
              </a:rPr>
              <a:t>2.</a:t>
            </a:r>
            <a:r>
              <a:rPr lang="zh-CN" altLang="en-US">
                <a:solidFill>
                  <a:schemeClr val="tx1">
                    <a:lumMod val="85000"/>
                    <a:lumOff val="15000"/>
                  </a:schemeClr>
                </a:solidFill>
                <a:sym typeface="+mn-ea"/>
              </a:rPr>
              <a:t>高曝光，高点击，无转化的关键词，先</a:t>
            </a:r>
            <a:r>
              <a:rPr lang="zh-CN" altLang="en-US">
                <a:sym typeface="+mn-ea"/>
              </a:rPr>
              <a:t>暂停关键字</a:t>
            </a:r>
            <a:endParaRPr lang="zh-CN" altLang="en-US">
              <a:sym typeface="+mn-ea"/>
            </a:endParaRPr>
          </a:p>
          <a:p>
            <a:pPr fontAlgn="auto">
              <a:lnSpc>
                <a:spcPts val="3500"/>
              </a:lnSpc>
            </a:pPr>
            <a:r>
              <a:rPr lang="en-US" altLang="zh-CN">
                <a:solidFill>
                  <a:schemeClr val="tx1">
                    <a:lumMod val="85000"/>
                    <a:lumOff val="15000"/>
                  </a:schemeClr>
                </a:solidFill>
                <a:sym typeface="+mn-ea"/>
              </a:rPr>
              <a:t>3.</a:t>
            </a:r>
            <a:r>
              <a:rPr lang="zh-CN" altLang="en-US">
                <a:solidFill>
                  <a:schemeClr val="tx1">
                    <a:lumMod val="85000"/>
                    <a:lumOff val="15000"/>
                  </a:schemeClr>
                </a:solidFill>
                <a:sym typeface="+mn-ea"/>
              </a:rPr>
              <a:t>高转化的关键字是赚钱的关键字，所以我们要想办法提升赚钱关键字广告的展现率，最有效的方法则是观察关键词的排名，及时调整关键字竞价金额</a:t>
            </a:r>
            <a:endParaRPr lang="zh-CN" altLang="en-US">
              <a:solidFill>
                <a:schemeClr val="tx1">
                  <a:lumMod val="85000"/>
                  <a:lumOff val="15000"/>
                </a:schemeClr>
              </a:solidFill>
              <a:sym typeface="+mn-ea"/>
            </a:endParaRPr>
          </a:p>
          <a:p>
            <a:pPr fontAlgn="auto">
              <a:lnSpc>
                <a:spcPts val="3500"/>
              </a:lnSpc>
            </a:pPr>
            <a:r>
              <a:rPr lang="en-US" altLang="zh-CN">
                <a:solidFill>
                  <a:schemeClr val="tx1">
                    <a:lumMod val="85000"/>
                    <a:lumOff val="15000"/>
                  </a:schemeClr>
                </a:solidFill>
                <a:sym typeface="+mn-ea"/>
              </a:rPr>
              <a:t>4.</a:t>
            </a:r>
            <a:r>
              <a:rPr lang="zh-CN" altLang="en-US">
                <a:solidFill>
                  <a:schemeClr val="tx1">
                    <a:lumMod val="85000"/>
                    <a:lumOff val="15000"/>
                  </a:schemeClr>
                </a:solidFill>
                <a:sym typeface="+mn-ea"/>
              </a:rPr>
              <a:t>多属性的</a:t>
            </a:r>
            <a:r>
              <a:rPr lang="en-US" altLang="zh-CN">
                <a:solidFill>
                  <a:schemeClr val="tx1">
                    <a:lumMod val="85000"/>
                    <a:lumOff val="15000"/>
                  </a:schemeClr>
                </a:solidFill>
                <a:sym typeface="+mn-ea"/>
              </a:rPr>
              <a:t>Listing</a:t>
            </a:r>
            <a:r>
              <a:rPr lang="zh-CN" altLang="en-US">
                <a:solidFill>
                  <a:schemeClr val="tx1">
                    <a:lumMod val="85000"/>
                    <a:lumOff val="15000"/>
                  </a:schemeClr>
                </a:solidFill>
                <a:sym typeface="+mn-ea"/>
              </a:rPr>
              <a:t>，把表现好的继续留下来，表现不好的重新建一个广告组，不相关的词语屏蔽掉，超大曝光的词语</a:t>
            </a:r>
            <a:r>
              <a:rPr lang="zh-CN" altLang="en-US" b="1">
                <a:solidFill>
                  <a:schemeClr val="tx1">
                    <a:lumMod val="95000"/>
                    <a:lumOff val="5000"/>
                  </a:schemeClr>
                </a:solidFill>
                <a:sym typeface="+mn-ea"/>
              </a:rPr>
              <a:t>暂时</a:t>
            </a:r>
            <a:r>
              <a:rPr lang="zh-CN" altLang="en-US">
                <a:solidFill>
                  <a:schemeClr val="tx1">
                    <a:lumMod val="85000"/>
                    <a:lumOff val="15000"/>
                  </a:schemeClr>
                </a:solidFill>
                <a:sym typeface="+mn-ea"/>
              </a:rPr>
              <a:t>屏蔽</a:t>
            </a:r>
            <a:endParaRPr lang="zh-CN" altLang="en-US">
              <a:solidFill>
                <a:schemeClr val="tx1">
                  <a:lumMod val="85000"/>
                  <a:lumOff val="15000"/>
                </a:schemeClr>
              </a:solidFill>
              <a:sym typeface="+mn-ea"/>
            </a:endParaRPr>
          </a:p>
          <a:p>
            <a:pPr fontAlgn="auto">
              <a:lnSpc>
                <a:spcPts val="3500"/>
              </a:lnSpc>
            </a:pPr>
            <a:r>
              <a:rPr lang="en-US" altLang="zh-CN">
                <a:solidFill>
                  <a:schemeClr val="tx1">
                    <a:lumMod val="85000"/>
                    <a:lumOff val="15000"/>
                  </a:schemeClr>
                </a:solidFill>
                <a:sym typeface="+mn-ea"/>
              </a:rPr>
              <a:t>5.</a:t>
            </a:r>
            <a:r>
              <a:rPr lang="zh-CN" altLang="en-US">
                <a:solidFill>
                  <a:schemeClr val="tx1">
                    <a:lumMod val="85000"/>
                    <a:lumOff val="15000"/>
                  </a:schemeClr>
                </a:solidFill>
                <a:sym typeface="+mn-ea"/>
              </a:rPr>
              <a:t>结合市场变化与客户反馈，不断的优化</a:t>
            </a:r>
            <a:r>
              <a:rPr lang="en-US" altLang="zh-CN">
                <a:solidFill>
                  <a:schemeClr val="tx1">
                    <a:lumMod val="85000"/>
                    <a:lumOff val="15000"/>
                  </a:schemeClr>
                </a:solidFill>
                <a:sym typeface="+mn-ea"/>
              </a:rPr>
              <a:t>Listing</a:t>
            </a:r>
            <a:r>
              <a:rPr lang="zh-CN" altLang="en-US">
                <a:solidFill>
                  <a:schemeClr val="tx1">
                    <a:lumMod val="85000"/>
                    <a:lumOff val="15000"/>
                  </a:schemeClr>
                </a:solidFill>
                <a:sym typeface="+mn-ea"/>
              </a:rPr>
              <a:t>，要清楚自己的每一步操作，为什么要这么做，每一步操作的依据是什么，不要盲目调高价格，在</a:t>
            </a:r>
            <a:r>
              <a:rPr lang="en-US" altLang="zh-CN">
                <a:solidFill>
                  <a:schemeClr val="tx1">
                    <a:lumMod val="85000"/>
                    <a:lumOff val="15000"/>
                  </a:schemeClr>
                </a:solidFill>
                <a:sym typeface="+mn-ea"/>
              </a:rPr>
              <a:t>Listing</a:t>
            </a:r>
            <a:r>
              <a:rPr lang="zh-CN" altLang="en-US">
                <a:solidFill>
                  <a:schemeClr val="tx1">
                    <a:lumMod val="85000"/>
                    <a:lumOff val="15000"/>
                  </a:schemeClr>
                </a:solidFill>
                <a:sym typeface="+mn-ea"/>
              </a:rPr>
              <a:t>尚未成型之前，给予再高的曝光，盲目烧钱，只会降低综合绩效表现</a:t>
            </a:r>
            <a:endParaRPr lang="zh-CN" altLang="en-US">
              <a:solidFill>
                <a:schemeClr val="tx1">
                  <a:lumMod val="85000"/>
                  <a:lumOff val="15000"/>
                </a:schemeClr>
              </a:solidFill>
              <a:sym typeface="+mn-ea"/>
            </a:endParaRPr>
          </a:p>
        </p:txBody>
      </p:sp>
      <p:sp>
        <p:nvSpPr>
          <p:cNvPr id="29" name="文本框 28"/>
          <p:cNvSpPr txBox="1"/>
          <p:nvPr/>
        </p:nvSpPr>
        <p:spPr>
          <a:xfrm>
            <a:off x="857885" y="283210"/>
            <a:ext cx="2621280" cy="583565"/>
          </a:xfrm>
          <a:prstGeom prst="rect">
            <a:avLst/>
          </a:prstGeom>
          <a:noFill/>
        </p:spPr>
        <p:txBody>
          <a:bodyPr wrap="none" rtlCol="0">
            <a:spAutoFit/>
          </a:bodyPr>
          <a:p>
            <a:pPr algn="l">
              <a:buFont typeface="Arial" panose="020B0604020202020204" pitchFamily="34" charset="0"/>
              <a:buNone/>
            </a:pPr>
            <a:r>
              <a:rPr lang="zh-CN" altLang="en-US" sz="3200" b="1" dirty="0">
                <a:solidFill>
                  <a:schemeClr val="tx1">
                    <a:lumMod val="95000"/>
                    <a:lumOff val="5000"/>
                  </a:schemeClr>
                </a:solidFill>
                <a:latin typeface="微软雅黑" panose="020B0503020204020204" charset="-122"/>
                <a:ea typeface="微软雅黑" panose="020B0503020204020204" charset="-122"/>
                <a:sym typeface="+mn-ea"/>
              </a:rPr>
              <a:t>调整注意事项</a:t>
            </a:r>
            <a:endParaRPr lang="en-US" altLang="zh-CN" sz="3200" b="1">
              <a:solidFill>
                <a:schemeClr val="tx1">
                  <a:lumMod val="75000"/>
                  <a:lumOff val="25000"/>
                </a:schemeClr>
              </a:solidFill>
            </a:endParaRPr>
          </a:p>
        </p:txBody>
      </p:sp>
      <p:sp>
        <p:nvSpPr>
          <p:cNvPr id="18" name="矩形 17"/>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749744" y="2132781"/>
            <a:ext cx="10878532" cy="3144531"/>
            <a:chOff x="1206630" y="1738554"/>
            <a:chExt cx="10878532" cy="3144531"/>
          </a:xfrm>
        </p:grpSpPr>
        <p:sp>
          <p:nvSpPr>
            <p:cNvPr id="2" name="自由: 形状 1"/>
            <p:cNvSpPr/>
            <p:nvPr/>
          </p:nvSpPr>
          <p:spPr>
            <a:xfrm>
              <a:off x="1206630" y="2213926"/>
              <a:ext cx="10878532" cy="2669159"/>
            </a:xfrm>
            <a:custGeom>
              <a:avLst/>
              <a:gdLst>
                <a:gd name="connsiteX0" fmla="*/ 0 w 10859678"/>
                <a:gd name="connsiteY0" fmla="*/ 3213922 h 3213922"/>
                <a:gd name="connsiteX1" fmla="*/ 2036190 w 10859678"/>
                <a:gd name="connsiteY1" fmla="*/ 1705633 h 3213922"/>
                <a:gd name="connsiteX2" fmla="*/ 5279010 w 10859678"/>
                <a:gd name="connsiteY2" fmla="*/ 2403216 h 3213922"/>
                <a:gd name="connsiteX3" fmla="*/ 7777113 w 10859678"/>
                <a:gd name="connsiteY3" fmla="*/ 1187159 h 3213922"/>
                <a:gd name="connsiteX4" fmla="*/ 9577633 w 10859678"/>
                <a:gd name="connsiteY4" fmla="*/ 46515 h 3213922"/>
                <a:gd name="connsiteX5" fmla="*/ 10859678 w 10859678"/>
                <a:gd name="connsiteY5" fmla="*/ 329319 h 3213922"/>
                <a:gd name="connsiteX0-1" fmla="*/ 0 w 10859678"/>
                <a:gd name="connsiteY0-2" fmla="*/ 3213922 h 3213922"/>
                <a:gd name="connsiteX1-3" fmla="*/ 2036190 w 10859678"/>
                <a:gd name="connsiteY1-4" fmla="*/ 1705633 h 3213922"/>
                <a:gd name="connsiteX2-5" fmla="*/ 5279010 w 10859678"/>
                <a:gd name="connsiteY2-6" fmla="*/ 2403216 h 3213922"/>
                <a:gd name="connsiteX3-7" fmla="*/ 7777113 w 10859678"/>
                <a:gd name="connsiteY3-8" fmla="*/ 1187159 h 3213922"/>
                <a:gd name="connsiteX4-9" fmla="*/ 9577633 w 10859678"/>
                <a:gd name="connsiteY4-10" fmla="*/ 46515 h 3213922"/>
                <a:gd name="connsiteX5-11" fmla="*/ 10859678 w 10859678"/>
                <a:gd name="connsiteY5-12" fmla="*/ 329319 h 3213922"/>
                <a:gd name="connsiteX0-13" fmla="*/ 0 w 10859678"/>
                <a:gd name="connsiteY0-14" fmla="*/ 3430678 h 3430678"/>
                <a:gd name="connsiteX1-15" fmla="*/ 2036190 w 10859678"/>
                <a:gd name="connsiteY1-16" fmla="*/ 1922389 h 3430678"/>
                <a:gd name="connsiteX2-17" fmla="*/ 5279010 w 10859678"/>
                <a:gd name="connsiteY2-18" fmla="*/ 2619972 h 3430678"/>
                <a:gd name="connsiteX3-19" fmla="*/ 7777113 w 10859678"/>
                <a:gd name="connsiteY3-20" fmla="*/ 1403915 h 3430678"/>
                <a:gd name="connsiteX4-21" fmla="*/ 8983744 w 10859678"/>
                <a:gd name="connsiteY4-22" fmla="*/ 27601 h 3430678"/>
                <a:gd name="connsiteX5-23" fmla="*/ 10859678 w 10859678"/>
                <a:gd name="connsiteY5-24" fmla="*/ 546075 h 3430678"/>
                <a:gd name="connsiteX0-25" fmla="*/ 0 w 10859678"/>
                <a:gd name="connsiteY0-26" fmla="*/ 3452030 h 3452030"/>
                <a:gd name="connsiteX1-27" fmla="*/ 2036190 w 10859678"/>
                <a:gd name="connsiteY1-28" fmla="*/ 1943741 h 3452030"/>
                <a:gd name="connsiteX2-29" fmla="*/ 5279010 w 10859678"/>
                <a:gd name="connsiteY2-30" fmla="*/ 2641324 h 3452030"/>
                <a:gd name="connsiteX3-31" fmla="*/ 7777113 w 10859678"/>
                <a:gd name="connsiteY3-32" fmla="*/ 1425267 h 3452030"/>
                <a:gd name="connsiteX4-33" fmla="*/ 8983744 w 10859678"/>
                <a:gd name="connsiteY4-34" fmla="*/ 48953 h 3452030"/>
                <a:gd name="connsiteX5-35" fmla="*/ 10859678 w 10859678"/>
                <a:gd name="connsiteY5-36" fmla="*/ 567427 h 3452030"/>
                <a:gd name="connsiteX0-37" fmla="*/ 0 w 10859678"/>
                <a:gd name="connsiteY0-38" fmla="*/ 3452030 h 3452030"/>
                <a:gd name="connsiteX1-39" fmla="*/ 2036190 w 10859678"/>
                <a:gd name="connsiteY1-40" fmla="*/ 1943741 h 3452030"/>
                <a:gd name="connsiteX2-41" fmla="*/ 5279010 w 10859678"/>
                <a:gd name="connsiteY2-42" fmla="*/ 2641324 h 3452030"/>
                <a:gd name="connsiteX3-43" fmla="*/ 7777113 w 10859678"/>
                <a:gd name="connsiteY3-44" fmla="*/ 1425267 h 3452030"/>
                <a:gd name="connsiteX4-45" fmla="*/ 8983744 w 10859678"/>
                <a:gd name="connsiteY4-46" fmla="*/ 48953 h 3452030"/>
                <a:gd name="connsiteX5-47" fmla="*/ 10859678 w 10859678"/>
                <a:gd name="connsiteY5-48" fmla="*/ 567427 h 3452030"/>
                <a:gd name="connsiteX0-49" fmla="*/ 0 w 10859678"/>
                <a:gd name="connsiteY0-50" fmla="*/ 3452030 h 3452030"/>
                <a:gd name="connsiteX1-51" fmla="*/ 2036190 w 10859678"/>
                <a:gd name="connsiteY1-52" fmla="*/ 1943741 h 3452030"/>
                <a:gd name="connsiteX2-53" fmla="*/ 5279010 w 10859678"/>
                <a:gd name="connsiteY2-54" fmla="*/ 2641324 h 3452030"/>
                <a:gd name="connsiteX3-55" fmla="*/ 7777113 w 10859678"/>
                <a:gd name="connsiteY3-56" fmla="*/ 1425267 h 3452030"/>
                <a:gd name="connsiteX4-57" fmla="*/ 8983744 w 10859678"/>
                <a:gd name="connsiteY4-58" fmla="*/ 48953 h 3452030"/>
                <a:gd name="connsiteX5-59" fmla="*/ 10859678 w 10859678"/>
                <a:gd name="connsiteY5-60" fmla="*/ 567427 h 3452030"/>
                <a:gd name="connsiteX0-61" fmla="*/ 0 w 10859678"/>
                <a:gd name="connsiteY0-62" fmla="*/ 3452030 h 3452030"/>
                <a:gd name="connsiteX1-63" fmla="*/ 2036190 w 10859678"/>
                <a:gd name="connsiteY1-64" fmla="*/ 1943741 h 3452030"/>
                <a:gd name="connsiteX2-65" fmla="*/ 5279010 w 10859678"/>
                <a:gd name="connsiteY2-66" fmla="*/ 2641324 h 3452030"/>
                <a:gd name="connsiteX3-67" fmla="*/ 7777113 w 10859678"/>
                <a:gd name="connsiteY3-68" fmla="*/ 1425267 h 3452030"/>
                <a:gd name="connsiteX4-69" fmla="*/ 8983744 w 10859678"/>
                <a:gd name="connsiteY4-70" fmla="*/ 48953 h 3452030"/>
                <a:gd name="connsiteX5-71" fmla="*/ 10859678 w 10859678"/>
                <a:gd name="connsiteY5-72" fmla="*/ 567427 h 3452030"/>
                <a:gd name="connsiteX0-73" fmla="*/ 0 w 10859678"/>
                <a:gd name="connsiteY0-74" fmla="*/ 3531472 h 3531472"/>
                <a:gd name="connsiteX1-75" fmla="*/ 2036190 w 10859678"/>
                <a:gd name="connsiteY1-76" fmla="*/ 2023183 h 3531472"/>
                <a:gd name="connsiteX2-77" fmla="*/ 5279010 w 10859678"/>
                <a:gd name="connsiteY2-78" fmla="*/ 2720766 h 3531472"/>
                <a:gd name="connsiteX3-79" fmla="*/ 7777113 w 10859678"/>
                <a:gd name="connsiteY3-80" fmla="*/ 1504709 h 3531472"/>
                <a:gd name="connsiteX4-81" fmla="*/ 9144000 w 10859678"/>
                <a:gd name="connsiteY4-82" fmla="*/ 43554 h 3531472"/>
                <a:gd name="connsiteX5-83" fmla="*/ 10859678 w 10859678"/>
                <a:gd name="connsiteY5-84" fmla="*/ 646869 h 3531472"/>
                <a:gd name="connsiteX0-85" fmla="*/ 0 w 10859678"/>
                <a:gd name="connsiteY0-86" fmla="*/ 3502408 h 3502408"/>
                <a:gd name="connsiteX1-87" fmla="*/ 2036190 w 10859678"/>
                <a:gd name="connsiteY1-88" fmla="*/ 1994119 h 3502408"/>
                <a:gd name="connsiteX2-89" fmla="*/ 5279010 w 10859678"/>
                <a:gd name="connsiteY2-90" fmla="*/ 2691702 h 3502408"/>
                <a:gd name="connsiteX3-91" fmla="*/ 7777113 w 10859678"/>
                <a:gd name="connsiteY3-92" fmla="*/ 1475645 h 3502408"/>
                <a:gd name="connsiteX4-93" fmla="*/ 9144000 w 10859678"/>
                <a:gd name="connsiteY4-94" fmla="*/ 14490 h 3502408"/>
                <a:gd name="connsiteX5-95" fmla="*/ 10859678 w 10859678"/>
                <a:gd name="connsiteY5-96" fmla="*/ 617805 h 3502408"/>
                <a:gd name="connsiteX0-97" fmla="*/ 0 w 10784263"/>
                <a:gd name="connsiteY0-98" fmla="*/ 3490946 h 3490946"/>
                <a:gd name="connsiteX1-99" fmla="*/ 2036190 w 10784263"/>
                <a:gd name="connsiteY1-100" fmla="*/ 1982657 h 3490946"/>
                <a:gd name="connsiteX2-101" fmla="*/ 5279010 w 10784263"/>
                <a:gd name="connsiteY2-102" fmla="*/ 2680240 h 3490946"/>
                <a:gd name="connsiteX3-103" fmla="*/ 7777113 w 10784263"/>
                <a:gd name="connsiteY3-104" fmla="*/ 1464183 h 3490946"/>
                <a:gd name="connsiteX4-105" fmla="*/ 9144000 w 10784263"/>
                <a:gd name="connsiteY4-106" fmla="*/ 3028 h 3490946"/>
                <a:gd name="connsiteX5-107" fmla="*/ 10784263 w 10784263"/>
                <a:gd name="connsiteY5-108" fmla="*/ 1087110 h 3490946"/>
                <a:gd name="connsiteX0-109" fmla="*/ 0 w 10784263"/>
                <a:gd name="connsiteY0-110" fmla="*/ 3491408 h 3491408"/>
                <a:gd name="connsiteX1-111" fmla="*/ 2036190 w 10784263"/>
                <a:gd name="connsiteY1-112" fmla="*/ 1983119 h 3491408"/>
                <a:gd name="connsiteX2-113" fmla="*/ 5279010 w 10784263"/>
                <a:gd name="connsiteY2-114" fmla="*/ 2680702 h 3491408"/>
                <a:gd name="connsiteX3-115" fmla="*/ 7777113 w 10784263"/>
                <a:gd name="connsiteY3-116" fmla="*/ 1464645 h 3491408"/>
                <a:gd name="connsiteX4-117" fmla="*/ 9144000 w 10784263"/>
                <a:gd name="connsiteY4-118" fmla="*/ 3490 h 3491408"/>
                <a:gd name="connsiteX5-119" fmla="*/ 10784263 w 10784263"/>
                <a:gd name="connsiteY5-120" fmla="*/ 1087572 h 3491408"/>
                <a:gd name="connsiteX0-121" fmla="*/ 0 w 11076494"/>
                <a:gd name="connsiteY0-122" fmla="*/ 3491828 h 3491828"/>
                <a:gd name="connsiteX1-123" fmla="*/ 2036190 w 11076494"/>
                <a:gd name="connsiteY1-124" fmla="*/ 1983539 h 3491828"/>
                <a:gd name="connsiteX2-125" fmla="*/ 5279010 w 11076494"/>
                <a:gd name="connsiteY2-126" fmla="*/ 2681122 h 3491828"/>
                <a:gd name="connsiteX3-127" fmla="*/ 7777113 w 11076494"/>
                <a:gd name="connsiteY3-128" fmla="*/ 1465065 h 3491828"/>
                <a:gd name="connsiteX4-129" fmla="*/ 9144000 w 11076494"/>
                <a:gd name="connsiteY4-130" fmla="*/ 3910 h 3491828"/>
                <a:gd name="connsiteX5-131" fmla="*/ 11076494 w 11076494"/>
                <a:gd name="connsiteY5-132" fmla="*/ 1069138 h 3491828"/>
                <a:gd name="connsiteX0-133" fmla="*/ 0 w 11076494"/>
                <a:gd name="connsiteY0-134" fmla="*/ 3491786 h 3491786"/>
                <a:gd name="connsiteX1-135" fmla="*/ 2036190 w 11076494"/>
                <a:gd name="connsiteY1-136" fmla="*/ 1983497 h 3491786"/>
                <a:gd name="connsiteX2-137" fmla="*/ 5279010 w 11076494"/>
                <a:gd name="connsiteY2-138" fmla="*/ 2681080 h 3491786"/>
                <a:gd name="connsiteX3-139" fmla="*/ 7777113 w 11076494"/>
                <a:gd name="connsiteY3-140" fmla="*/ 1465023 h 3491786"/>
                <a:gd name="connsiteX4-141" fmla="*/ 9144000 w 11076494"/>
                <a:gd name="connsiteY4-142" fmla="*/ 3868 h 3491786"/>
                <a:gd name="connsiteX5-143" fmla="*/ 11076494 w 11076494"/>
                <a:gd name="connsiteY5-144" fmla="*/ 1069096 h 3491786"/>
                <a:gd name="connsiteX0-145" fmla="*/ 0 w 11076494"/>
                <a:gd name="connsiteY0-146" fmla="*/ 3491786 h 3491786"/>
                <a:gd name="connsiteX1-147" fmla="*/ 2036190 w 11076494"/>
                <a:gd name="connsiteY1-148" fmla="*/ 1983497 h 3491786"/>
                <a:gd name="connsiteX2-149" fmla="*/ 5279010 w 11076494"/>
                <a:gd name="connsiteY2-150" fmla="*/ 2681080 h 3491786"/>
                <a:gd name="connsiteX3-151" fmla="*/ 7777113 w 11076494"/>
                <a:gd name="connsiteY3-152" fmla="*/ 1465023 h 3491786"/>
                <a:gd name="connsiteX4-153" fmla="*/ 9144000 w 11076494"/>
                <a:gd name="connsiteY4-154" fmla="*/ 3868 h 3491786"/>
                <a:gd name="connsiteX5-155" fmla="*/ 11076494 w 11076494"/>
                <a:gd name="connsiteY5-156" fmla="*/ 1069096 h 3491786"/>
                <a:gd name="connsiteX0-157" fmla="*/ 0 w 11076494"/>
                <a:gd name="connsiteY0-158" fmla="*/ 3491786 h 3491786"/>
                <a:gd name="connsiteX1-159" fmla="*/ 2036190 w 11076494"/>
                <a:gd name="connsiteY1-160" fmla="*/ 1983497 h 3491786"/>
                <a:gd name="connsiteX2-161" fmla="*/ 5344998 w 11076494"/>
                <a:gd name="connsiteY2-162" fmla="*/ 2747068 h 3491786"/>
                <a:gd name="connsiteX3-163" fmla="*/ 7777113 w 11076494"/>
                <a:gd name="connsiteY3-164" fmla="*/ 1465023 h 3491786"/>
                <a:gd name="connsiteX4-165" fmla="*/ 9144000 w 11076494"/>
                <a:gd name="connsiteY4-166" fmla="*/ 3868 h 3491786"/>
                <a:gd name="connsiteX5-167" fmla="*/ 11076494 w 11076494"/>
                <a:gd name="connsiteY5-168" fmla="*/ 1069096 h 3491786"/>
                <a:gd name="connsiteX0-169" fmla="*/ 0 w 11076494"/>
                <a:gd name="connsiteY0-170" fmla="*/ 3491786 h 3491786"/>
                <a:gd name="connsiteX1-171" fmla="*/ 2036190 w 11076494"/>
                <a:gd name="connsiteY1-172" fmla="*/ 1983497 h 3491786"/>
                <a:gd name="connsiteX2-173" fmla="*/ 5344998 w 11076494"/>
                <a:gd name="connsiteY2-174" fmla="*/ 2747068 h 3491786"/>
                <a:gd name="connsiteX3-175" fmla="*/ 7777113 w 11076494"/>
                <a:gd name="connsiteY3-176" fmla="*/ 1465023 h 3491786"/>
                <a:gd name="connsiteX4-177" fmla="*/ 9144000 w 11076494"/>
                <a:gd name="connsiteY4-178" fmla="*/ 3868 h 3491786"/>
                <a:gd name="connsiteX5-179" fmla="*/ 11076494 w 11076494"/>
                <a:gd name="connsiteY5-180" fmla="*/ 1069096 h 3491786"/>
                <a:gd name="connsiteX0-181" fmla="*/ 0 w 11076494"/>
                <a:gd name="connsiteY0-182" fmla="*/ 3491786 h 3491786"/>
                <a:gd name="connsiteX1-183" fmla="*/ 2036190 w 11076494"/>
                <a:gd name="connsiteY1-184" fmla="*/ 1983497 h 3491786"/>
                <a:gd name="connsiteX2-185" fmla="*/ 5344998 w 11076494"/>
                <a:gd name="connsiteY2-186" fmla="*/ 2747068 h 3491786"/>
                <a:gd name="connsiteX3-187" fmla="*/ 7777113 w 11076494"/>
                <a:gd name="connsiteY3-188" fmla="*/ 1465023 h 3491786"/>
                <a:gd name="connsiteX4-189" fmla="*/ 9144000 w 11076494"/>
                <a:gd name="connsiteY4-190" fmla="*/ 3868 h 3491786"/>
                <a:gd name="connsiteX5-191" fmla="*/ 11076494 w 11076494"/>
                <a:gd name="connsiteY5-192" fmla="*/ 1069096 h 3491786"/>
                <a:gd name="connsiteX0-193" fmla="*/ 0 w 11076494"/>
                <a:gd name="connsiteY0-194" fmla="*/ 3491786 h 3491786"/>
                <a:gd name="connsiteX1-195" fmla="*/ 2036190 w 11076494"/>
                <a:gd name="connsiteY1-196" fmla="*/ 1983497 h 3491786"/>
                <a:gd name="connsiteX2-197" fmla="*/ 5344998 w 11076494"/>
                <a:gd name="connsiteY2-198" fmla="*/ 2747068 h 3491786"/>
                <a:gd name="connsiteX3-199" fmla="*/ 7777113 w 11076494"/>
                <a:gd name="connsiteY3-200" fmla="*/ 1465023 h 3491786"/>
                <a:gd name="connsiteX4-201" fmla="*/ 9144000 w 11076494"/>
                <a:gd name="connsiteY4-202" fmla="*/ 3868 h 3491786"/>
                <a:gd name="connsiteX5-203" fmla="*/ 11076494 w 11076494"/>
                <a:gd name="connsiteY5-204" fmla="*/ 1069096 h 3491786"/>
                <a:gd name="connsiteX0-205" fmla="*/ 0 w 11076494"/>
                <a:gd name="connsiteY0-206" fmla="*/ 3491786 h 3491786"/>
                <a:gd name="connsiteX1-207" fmla="*/ 2036190 w 11076494"/>
                <a:gd name="connsiteY1-208" fmla="*/ 1983497 h 3491786"/>
                <a:gd name="connsiteX2-209" fmla="*/ 5344998 w 11076494"/>
                <a:gd name="connsiteY2-210" fmla="*/ 2747068 h 3491786"/>
                <a:gd name="connsiteX3-211" fmla="*/ 7777113 w 11076494"/>
                <a:gd name="connsiteY3-212" fmla="*/ 1465023 h 3491786"/>
                <a:gd name="connsiteX4-213" fmla="*/ 9144000 w 11076494"/>
                <a:gd name="connsiteY4-214" fmla="*/ 3868 h 3491786"/>
                <a:gd name="connsiteX5-215" fmla="*/ 11076494 w 11076494"/>
                <a:gd name="connsiteY5-216" fmla="*/ 1069096 h 3491786"/>
                <a:gd name="connsiteX0-217" fmla="*/ 0 w 11095348"/>
                <a:gd name="connsiteY0-218" fmla="*/ 3510071 h 3510071"/>
                <a:gd name="connsiteX1-219" fmla="*/ 2036190 w 11095348"/>
                <a:gd name="connsiteY1-220" fmla="*/ 2001782 h 3510071"/>
                <a:gd name="connsiteX2-221" fmla="*/ 5344998 w 11095348"/>
                <a:gd name="connsiteY2-222" fmla="*/ 2765353 h 3510071"/>
                <a:gd name="connsiteX3-223" fmla="*/ 7777113 w 11095348"/>
                <a:gd name="connsiteY3-224" fmla="*/ 1483308 h 3510071"/>
                <a:gd name="connsiteX4-225" fmla="*/ 9144000 w 11095348"/>
                <a:gd name="connsiteY4-226" fmla="*/ 22153 h 3510071"/>
                <a:gd name="connsiteX5-227" fmla="*/ 11095348 w 11095348"/>
                <a:gd name="connsiteY5-228" fmla="*/ 700882 h 3510071"/>
                <a:gd name="connsiteX0-229" fmla="*/ 0 w 11095348"/>
                <a:gd name="connsiteY0-230" fmla="*/ 3510071 h 3510071"/>
                <a:gd name="connsiteX1-231" fmla="*/ 2036190 w 11095348"/>
                <a:gd name="connsiteY1-232" fmla="*/ 2001782 h 3510071"/>
                <a:gd name="connsiteX2-233" fmla="*/ 5344998 w 11095348"/>
                <a:gd name="connsiteY2-234" fmla="*/ 2765353 h 3510071"/>
                <a:gd name="connsiteX3-235" fmla="*/ 7777113 w 11095348"/>
                <a:gd name="connsiteY3-236" fmla="*/ 1483308 h 3510071"/>
                <a:gd name="connsiteX4-237" fmla="*/ 9144000 w 11095348"/>
                <a:gd name="connsiteY4-238" fmla="*/ 22153 h 3510071"/>
                <a:gd name="connsiteX5-239" fmla="*/ 11095348 w 11095348"/>
                <a:gd name="connsiteY5-240" fmla="*/ 700882 h 3510071"/>
                <a:gd name="connsiteX0-241" fmla="*/ 0 w 11095348"/>
                <a:gd name="connsiteY0-242" fmla="*/ 3501940 h 3501940"/>
                <a:gd name="connsiteX1-243" fmla="*/ 2036190 w 11095348"/>
                <a:gd name="connsiteY1-244" fmla="*/ 1993651 h 3501940"/>
                <a:gd name="connsiteX2-245" fmla="*/ 5344998 w 11095348"/>
                <a:gd name="connsiteY2-246" fmla="*/ 2757222 h 3501940"/>
                <a:gd name="connsiteX3-247" fmla="*/ 7777113 w 11095348"/>
                <a:gd name="connsiteY3-248" fmla="*/ 1475177 h 3501940"/>
                <a:gd name="connsiteX4-249" fmla="*/ 9144000 w 11095348"/>
                <a:gd name="connsiteY4-250" fmla="*/ 14022 h 3501940"/>
                <a:gd name="connsiteX5-251" fmla="*/ 11095348 w 11095348"/>
                <a:gd name="connsiteY5-252" fmla="*/ 692751 h 3501940"/>
                <a:gd name="connsiteX0-253" fmla="*/ 0 w 11076495"/>
                <a:gd name="connsiteY0-254" fmla="*/ 3494111 h 3494111"/>
                <a:gd name="connsiteX1-255" fmla="*/ 2036190 w 11076495"/>
                <a:gd name="connsiteY1-256" fmla="*/ 1985822 h 3494111"/>
                <a:gd name="connsiteX2-257" fmla="*/ 5344998 w 11076495"/>
                <a:gd name="connsiteY2-258" fmla="*/ 2749393 h 3494111"/>
                <a:gd name="connsiteX3-259" fmla="*/ 7777113 w 11076495"/>
                <a:gd name="connsiteY3-260" fmla="*/ 1467348 h 3494111"/>
                <a:gd name="connsiteX4-261" fmla="*/ 9144000 w 11076495"/>
                <a:gd name="connsiteY4-262" fmla="*/ 6193 h 3494111"/>
                <a:gd name="connsiteX5-263" fmla="*/ 11076495 w 11076495"/>
                <a:gd name="connsiteY5-264" fmla="*/ 1834992 h 3494111"/>
                <a:gd name="connsiteX0-265" fmla="*/ 0 w 11076495"/>
                <a:gd name="connsiteY0-266" fmla="*/ 2678076 h 2678076"/>
                <a:gd name="connsiteX1-267" fmla="*/ 2036190 w 11076495"/>
                <a:gd name="connsiteY1-268" fmla="*/ 1169787 h 2678076"/>
                <a:gd name="connsiteX2-269" fmla="*/ 5344998 w 11076495"/>
                <a:gd name="connsiteY2-270" fmla="*/ 1933358 h 2678076"/>
                <a:gd name="connsiteX3-271" fmla="*/ 7777113 w 11076495"/>
                <a:gd name="connsiteY3-272" fmla="*/ 651313 h 2678076"/>
                <a:gd name="connsiteX4-273" fmla="*/ 9172280 w 11076495"/>
                <a:gd name="connsiteY4-274" fmla="*/ 10290 h 2678076"/>
                <a:gd name="connsiteX5-275" fmla="*/ 11076495 w 11076495"/>
                <a:gd name="connsiteY5-276" fmla="*/ 1018957 h 2678076"/>
                <a:gd name="connsiteX0-277" fmla="*/ 0 w 11076495"/>
                <a:gd name="connsiteY0-278" fmla="*/ 2678076 h 2678076"/>
                <a:gd name="connsiteX1-279" fmla="*/ 2036190 w 11076495"/>
                <a:gd name="connsiteY1-280" fmla="*/ 1169787 h 2678076"/>
                <a:gd name="connsiteX2-281" fmla="*/ 5344998 w 11076495"/>
                <a:gd name="connsiteY2-282" fmla="*/ 1933358 h 2678076"/>
                <a:gd name="connsiteX3-283" fmla="*/ 7777113 w 11076495"/>
                <a:gd name="connsiteY3-284" fmla="*/ 651313 h 2678076"/>
                <a:gd name="connsiteX4-285" fmla="*/ 9172280 w 11076495"/>
                <a:gd name="connsiteY4-286" fmla="*/ 10290 h 2678076"/>
                <a:gd name="connsiteX5-287" fmla="*/ 11076495 w 11076495"/>
                <a:gd name="connsiteY5-288" fmla="*/ 1018957 h 2678076"/>
                <a:gd name="connsiteX0-289" fmla="*/ 0 w 11076495"/>
                <a:gd name="connsiteY0-290" fmla="*/ 2678076 h 2678076"/>
                <a:gd name="connsiteX1-291" fmla="*/ 2036190 w 11076495"/>
                <a:gd name="connsiteY1-292" fmla="*/ 1169787 h 2678076"/>
                <a:gd name="connsiteX2-293" fmla="*/ 5344998 w 11076495"/>
                <a:gd name="connsiteY2-294" fmla="*/ 1933358 h 2678076"/>
                <a:gd name="connsiteX3-295" fmla="*/ 7635711 w 11076495"/>
                <a:gd name="connsiteY3-296" fmla="*/ 1009531 h 2678076"/>
                <a:gd name="connsiteX4-297" fmla="*/ 9172280 w 11076495"/>
                <a:gd name="connsiteY4-298" fmla="*/ 10290 h 2678076"/>
                <a:gd name="connsiteX5-299" fmla="*/ 11076495 w 11076495"/>
                <a:gd name="connsiteY5-300" fmla="*/ 1018957 h 2678076"/>
                <a:gd name="connsiteX0-301" fmla="*/ 0 w 11076495"/>
                <a:gd name="connsiteY0-302" fmla="*/ 2678076 h 2678076"/>
                <a:gd name="connsiteX1-303" fmla="*/ 2036190 w 11076495"/>
                <a:gd name="connsiteY1-304" fmla="*/ 1169787 h 2678076"/>
                <a:gd name="connsiteX2-305" fmla="*/ 5344998 w 11076495"/>
                <a:gd name="connsiteY2-306" fmla="*/ 1933358 h 2678076"/>
                <a:gd name="connsiteX3-307" fmla="*/ 7635711 w 11076495"/>
                <a:gd name="connsiteY3-308" fmla="*/ 1009531 h 2678076"/>
                <a:gd name="connsiteX4-309" fmla="*/ 9172280 w 11076495"/>
                <a:gd name="connsiteY4-310" fmla="*/ 10290 h 2678076"/>
                <a:gd name="connsiteX5-311" fmla="*/ 11076495 w 11076495"/>
                <a:gd name="connsiteY5-312" fmla="*/ 1018957 h 2678076"/>
                <a:gd name="connsiteX0-313" fmla="*/ 0 w 11076495"/>
                <a:gd name="connsiteY0-314" fmla="*/ 2678076 h 2678076"/>
                <a:gd name="connsiteX1-315" fmla="*/ 2036190 w 11076495"/>
                <a:gd name="connsiteY1-316" fmla="*/ 1169787 h 2678076"/>
                <a:gd name="connsiteX2-317" fmla="*/ 5344998 w 11076495"/>
                <a:gd name="connsiteY2-318" fmla="*/ 1933358 h 2678076"/>
                <a:gd name="connsiteX3-319" fmla="*/ 7635711 w 11076495"/>
                <a:gd name="connsiteY3-320" fmla="*/ 1009531 h 2678076"/>
                <a:gd name="connsiteX4-321" fmla="*/ 9172280 w 11076495"/>
                <a:gd name="connsiteY4-322" fmla="*/ 10290 h 2678076"/>
                <a:gd name="connsiteX5-323" fmla="*/ 11076495 w 11076495"/>
                <a:gd name="connsiteY5-324" fmla="*/ 1018957 h 2678076"/>
                <a:gd name="connsiteX0-325" fmla="*/ 0 w 11076495"/>
                <a:gd name="connsiteY0-326" fmla="*/ 2673264 h 2673264"/>
                <a:gd name="connsiteX1-327" fmla="*/ 2036190 w 11076495"/>
                <a:gd name="connsiteY1-328" fmla="*/ 1164975 h 2673264"/>
                <a:gd name="connsiteX2-329" fmla="*/ 5344998 w 11076495"/>
                <a:gd name="connsiteY2-330" fmla="*/ 1928546 h 2673264"/>
                <a:gd name="connsiteX3-331" fmla="*/ 7635711 w 11076495"/>
                <a:gd name="connsiteY3-332" fmla="*/ 1004719 h 2673264"/>
                <a:gd name="connsiteX4-333" fmla="*/ 9172280 w 11076495"/>
                <a:gd name="connsiteY4-334" fmla="*/ 5478 h 2673264"/>
                <a:gd name="connsiteX5-335" fmla="*/ 11076495 w 11076495"/>
                <a:gd name="connsiteY5-336" fmla="*/ 1014145 h 2673264"/>
                <a:gd name="connsiteX0-337" fmla="*/ 0 w 11076495"/>
                <a:gd name="connsiteY0-338" fmla="*/ 2673264 h 2673264"/>
                <a:gd name="connsiteX1-339" fmla="*/ 2036190 w 11076495"/>
                <a:gd name="connsiteY1-340" fmla="*/ 1164975 h 2673264"/>
                <a:gd name="connsiteX2-341" fmla="*/ 5344998 w 11076495"/>
                <a:gd name="connsiteY2-342" fmla="*/ 1928546 h 2673264"/>
                <a:gd name="connsiteX3-343" fmla="*/ 7635711 w 11076495"/>
                <a:gd name="connsiteY3-344" fmla="*/ 1004719 h 2673264"/>
                <a:gd name="connsiteX4-345" fmla="*/ 9172280 w 11076495"/>
                <a:gd name="connsiteY4-346" fmla="*/ 5478 h 2673264"/>
                <a:gd name="connsiteX5-347" fmla="*/ 11076495 w 11076495"/>
                <a:gd name="connsiteY5-348" fmla="*/ 1014145 h 2673264"/>
                <a:gd name="connsiteX0-349" fmla="*/ 0 w 11076495"/>
                <a:gd name="connsiteY0-350" fmla="*/ 2673264 h 2673264"/>
                <a:gd name="connsiteX1-351" fmla="*/ 2036190 w 11076495"/>
                <a:gd name="connsiteY1-352" fmla="*/ 1164975 h 2673264"/>
                <a:gd name="connsiteX2-353" fmla="*/ 5344998 w 11076495"/>
                <a:gd name="connsiteY2-354" fmla="*/ 1928546 h 2673264"/>
                <a:gd name="connsiteX3-355" fmla="*/ 7635711 w 11076495"/>
                <a:gd name="connsiteY3-356" fmla="*/ 1004719 h 2673264"/>
                <a:gd name="connsiteX4-357" fmla="*/ 9172280 w 11076495"/>
                <a:gd name="connsiteY4-358" fmla="*/ 5478 h 2673264"/>
                <a:gd name="connsiteX5-359" fmla="*/ 11076495 w 11076495"/>
                <a:gd name="connsiteY5-360" fmla="*/ 1014145 h 2673264"/>
                <a:gd name="connsiteX0-361" fmla="*/ 0 w 11076495"/>
                <a:gd name="connsiteY0-362" fmla="*/ 2673264 h 2673264"/>
                <a:gd name="connsiteX1-363" fmla="*/ 2036190 w 11076495"/>
                <a:gd name="connsiteY1-364" fmla="*/ 1164975 h 2673264"/>
                <a:gd name="connsiteX2-365" fmla="*/ 5344998 w 11076495"/>
                <a:gd name="connsiteY2-366" fmla="*/ 1928546 h 2673264"/>
                <a:gd name="connsiteX3-367" fmla="*/ 7635711 w 11076495"/>
                <a:gd name="connsiteY3-368" fmla="*/ 1004719 h 2673264"/>
                <a:gd name="connsiteX4-369" fmla="*/ 9172280 w 11076495"/>
                <a:gd name="connsiteY4-370" fmla="*/ 5478 h 2673264"/>
                <a:gd name="connsiteX5-371" fmla="*/ 11076495 w 11076495"/>
                <a:gd name="connsiteY5-372" fmla="*/ 1014145 h 2673264"/>
                <a:gd name="connsiteX0-373" fmla="*/ 0 w 11076495"/>
                <a:gd name="connsiteY0-374" fmla="*/ 2673264 h 2673264"/>
                <a:gd name="connsiteX1-375" fmla="*/ 2036190 w 11076495"/>
                <a:gd name="connsiteY1-376" fmla="*/ 1164975 h 2673264"/>
                <a:gd name="connsiteX2-377" fmla="*/ 5344998 w 11076495"/>
                <a:gd name="connsiteY2-378" fmla="*/ 1928546 h 2673264"/>
                <a:gd name="connsiteX3-379" fmla="*/ 7635711 w 11076495"/>
                <a:gd name="connsiteY3-380" fmla="*/ 1004719 h 2673264"/>
                <a:gd name="connsiteX4-381" fmla="*/ 9172280 w 11076495"/>
                <a:gd name="connsiteY4-382" fmla="*/ 5478 h 2673264"/>
                <a:gd name="connsiteX5-383" fmla="*/ 11076495 w 11076495"/>
                <a:gd name="connsiteY5-384" fmla="*/ 1014145 h 2673264"/>
                <a:gd name="connsiteX0-385" fmla="*/ 0 w 11076495"/>
                <a:gd name="connsiteY0-386" fmla="*/ 2673264 h 2673264"/>
                <a:gd name="connsiteX1-387" fmla="*/ 2036190 w 11076495"/>
                <a:gd name="connsiteY1-388" fmla="*/ 1164975 h 2673264"/>
                <a:gd name="connsiteX2-389" fmla="*/ 5344998 w 11076495"/>
                <a:gd name="connsiteY2-390" fmla="*/ 1928546 h 2673264"/>
                <a:gd name="connsiteX3-391" fmla="*/ 7635711 w 11076495"/>
                <a:gd name="connsiteY3-392" fmla="*/ 1004719 h 2673264"/>
                <a:gd name="connsiteX4-393" fmla="*/ 9172280 w 11076495"/>
                <a:gd name="connsiteY4-394" fmla="*/ 5478 h 2673264"/>
                <a:gd name="connsiteX5-395" fmla="*/ 11076495 w 11076495"/>
                <a:gd name="connsiteY5-396" fmla="*/ 1014145 h 2673264"/>
                <a:gd name="connsiteX0-397" fmla="*/ 0 w 11076495"/>
                <a:gd name="connsiteY0-398" fmla="*/ 2668288 h 2668288"/>
                <a:gd name="connsiteX1-399" fmla="*/ 2036190 w 11076495"/>
                <a:gd name="connsiteY1-400" fmla="*/ 1159999 h 2668288"/>
                <a:gd name="connsiteX2-401" fmla="*/ 5344998 w 11076495"/>
                <a:gd name="connsiteY2-402" fmla="*/ 1923570 h 2668288"/>
                <a:gd name="connsiteX3-403" fmla="*/ 7635711 w 11076495"/>
                <a:gd name="connsiteY3-404" fmla="*/ 999743 h 2668288"/>
                <a:gd name="connsiteX4-405" fmla="*/ 9172280 w 11076495"/>
                <a:gd name="connsiteY4-406" fmla="*/ 502 h 2668288"/>
                <a:gd name="connsiteX5-407" fmla="*/ 11076495 w 11076495"/>
                <a:gd name="connsiteY5-408" fmla="*/ 1009169 h 2668288"/>
                <a:gd name="connsiteX0-409" fmla="*/ 0 w 10878532"/>
                <a:gd name="connsiteY0-410" fmla="*/ 2669159 h 2669159"/>
                <a:gd name="connsiteX1-411" fmla="*/ 2036190 w 10878532"/>
                <a:gd name="connsiteY1-412" fmla="*/ 1160870 h 2669159"/>
                <a:gd name="connsiteX2-413" fmla="*/ 5344998 w 10878532"/>
                <a:gd name="connsiteY2-414" fmla="*/ 1924441 h 2669159"/>
                <a:gd name="connsiteX3-415" fmla="*/ 7635711 w 10878532"/>
                <a:gd name="connsiteY3-416" fmla="*/ 1000614 h 2669159"/>
                <a:gd name="connsiteX4-417" fmla="*/ 9172280 w 10878532"/>
                <a:gd name="connsiteY4-418" fmla="*/ 1373 h 2669159"/>
                <a:gd name="connsiteX5-419" fmla="*/ 10878532 w 10878532"/>
                <a:gd name="connsiteY5-420" fmla="*/ 764943 h 26691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878532" h="2669159">
                  <a:moveTo>
                    <a:pt x="0" y="2669159"/>
                  </a:moveTo>
                  <a:cubicBezTo>
                    <a:pt x="634738" y="2057988"/>
                    <a:pt x="1145357" y="1284990"/>
                    <a:pt x="2036190" y="1160870"/>
                  </a:cubicBezTo>
                  <a:cubicBezTo>
                    <a:pt x="2927023" y="1036750"/>
                    <a:pt x="4411745" y="1856882"/>
                    <a:pt x="5344998" y="1924441"/>
                  </a:cubicBezTo>
                  <a:cubicBezTo>
                    <a:pt x="6278251" y="1992000"/>
                    <a:pt x="6978977" y="1707625"/>
                    <a:pt x="7635711" y="1000614"/>
                  </a:cubicBezTo>
                  <a:cubicBezTo>
                    <a:pt x="8292445" y="293603"/>
                    <a:pt x="8631810" y="40652"/>
                    <a:pt x="9172280" y="1373"/>
                  </a:cubicBezTo>
                  <a:cubicBezTo>
                    <a:pt x="9712750" y="-37906"/>
                    <a:pt x="10579231" y="778296"/>
                    <a:pt x="10878532" y="764943"/>
                  </a:cubicBezTo>
                </a:path>
              </a:pathLst>
            </a:cu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椭圆 2"/>
            <p:cNvSpPr/>
            <p:nvPr/>
          </p:nvSpPr>
          <p:spPr>
            <a:xfrm>
              <a:off x="2927648" y="3276124"/>
              <a:ext cx="288032" cy="28803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椭圆 3"/>
            <p:cNvSpPr/>
            <p:nvPr/>
          </p:nvSpPr>
          <p:spPr>
            <a:xfrm>
              <a:off x="4853863" y="3564156"/>
              <a:ext cx="288032" cy="28803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椭圆 4"/>
            <p:cNvSpPr/>
            <p:nvPr/>
          </p:nvSpPr>
          <p:spPr>
            <a:xfrm>
              <a:off x="7181406" y="3952147"/>
              <a:ext cx="288032" cy="28803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p:nvPr/>
          </p:nvSpPr>
          <p:spPr>
            <a:xfrm>
              <a:off x="10080630" y="2070782"/>
              <a:ext cx="288032" cy="28803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cxnSp>
          <p:nvCxnSpPr>
            <p:cNvPr id="8" name="直接连接符 7"/>
            <p:cNvCxnSpPr>
              <a:endCxn id="3" idx="0"/>
            </p:cNvCxnSpPr>
            <p:nvPr/>
          </p:nvCxnSpPr>
          <p:spPr>
            <a:xfrm>
              <a:off x="3071664" y="2509534"/>
              <a:ext cx="0" cy="766590"/>
            </a:xfrm>
            <a:prstGeom prst="lin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10" name="直接连接符 9"/>
            <p:cNvCxnSpPr/>
            <p:nvPr/>
          </p:nvCxnSpPr>
          <p:spPr>
            <a:xfrm>
              <a:off x="7322577" y="2509534"/>
              <a:ext cx="0" cy="1606961"/>
            </a:xfrm>
            <a:prstGeom prst="lin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14" name="矩形 13"/>
            <p:cNvSpPr/>
            <p:nvPr/>
          </p:nvSpPr>
          <p:spPr>
            <a:xfrm>
              <a:off x="6289381" y="1738554"/>
              <a:ext cx="2072081" cy="314573"/>
            </a:xfrm>
            <a:prstGeom prst="rect">
              <a:avLst/>
            </a:prstGeom>
          </p:spPr>
          <p:txBody>
            <a:bodyPr wrap="square">
              <a:spAutoFit/>
            </a:bodyPr>
            <a:lstStyle/>
            <a:p>
              <a:pPr algn="ctr">
                <a:lnSpc>
                  <a:spcPct val="80000"/>
                </a:lnSpc>
              </a:pPr>
              <a:endParaRPr lang="zh-CN" altLang="en-US" dirty="0">
                <a:solidFill>
                  <a:prstClr val="black">
                    <a:lumMod val="75000"/>
                    <a:lumOff val="25000"/>
                  </a:prstClr>
                </a:solidFill>
                <a:latin typeface="Browallia New" panose="020B0604020202020204" pitchFamily="34" charset="-34"/>
                <a:cs typeface="Browallia New" panose="020B0604020202020204" pitchFamily="34" charset="-34"/>
              </a:endParaRPr>
            </a:p>
          </p:txBody>
        </p:sp>
      </p:grpSp>
      <p:sp>
        <p:nvSpPr>
          <p:cNvPr id="22" name="矩形 21"/>
          <p:cNvSpPr/>
          <p:nvPr/>
        </p:nvSpPr>
        <p:spPr>
          <a:xfrm>
            <a:off x="11064552" y="6093296"/>
            <a:ext cx="1127448" cy="2154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prstClr val="white"/>
              </a:solidFill>
            </a:endParaRPr>
          </a:p>
        </p:txBody>
      </p:sp>
      <p:sp>
        <p:nvSpPr>
          <p:cNvPr id="26" name="文本框 25"/>
          <p:cNvSpPr txBox="1"/>
          <p:nvPr/>
        </p:nvSpPr>
        <p:spPr>
          <a:xfrm>
            <a:off x="444500" y="1690370"/>
            <a:ext cx="4240530" cy="1198880"/>
          </a:xfrm>
          <a:prstGeom prst="rect">
            <a:avLst/>
          </a:prstGeom>
          <a:noFill/>
        </p:spPr>
        <p:txBody>
          <a:bodyPr wrap="square" rtlCol="0">
            <a:spAutoFit/>
          </a:bodyPr>
          <a:lstStyle/>
          <a:p>
            <a:r>
              <a:rPr lang="en-US" altLang="zh-CN">
                <a:solidFill>
                  <a:schemeClr val="tx1">
                    <a:lumMod val="85000"/>
                    <a:lumOff val="15000"/>
                  </a:schemeClr>
                </a:solidFill>
                <a:latin typeface="华文琥珀" panose="02010800040101010101" charset="-122"/>
                <a:ea typeface="华文琥珀" panose="02010800040101010101" charset="-122"/>
                <a:sym typeface="+mn-ea"/>
              </a:rPr>
              <a:t>1. </a:t>
            </a:r>
            <a:r>
              <a:rPr lang="zh-CN" altLang="en-US">
                <a:solidFill>
                  <a:schemeClr val="tx1">
                    <a:lumMod val="85000"/>
                    <a:lumOff val="15000"/>
                  </a:schemeClr>
                </a:solidFill>
                <a:latin typeface="华文琥珀" panose="02010800040101010101" charset="-122"/>
                <a:ea typeface="华文琥珀" panose="02010800040101010101" charset="-122"/>
                <a:sym typeface="+mn-ea"/>
              </a:rPr>
              <a:t>主要带来订单的是精确匹配词语，广泛匹配更多的是提高曝光，花费较多。</a:t>
            </a:r>
            <a:endParaRPr lang="zh-CN" altLang="en-US">
              <a:solidFill>
                <a:schemeClr val="tx1">
                  <a:lumMod val="85000"/>
                  <a:lumOff val="15000"/>
                </a:schemeClr>
              </a:solidFill>
              <a:latin typeface="华文琥珀" panose="02010800040101010101" charset="-122"/>
              <a:ea typeface="华文琥珀" panose="02010800040101010101" charset="-122"/>
              <a:sym typeface="+mn-ea"/>
            </a:endParaRPr>
          </a:p>
          <a:p>
            <a:r>
              <a:rPr lang="zh-CN" altLang="en-US">
                <a:solidFill>
                  <a:schemeClr val="tx1">
                    <a:lumMod val="85000"/>
                    <a:lumOff val="15000"/>
                  </a:schemeClr>
                </a:solidFill>
                <a:latin typeface="华文琥珀" panose="02010800040101010101" charset="-122"/>
                <a:ea typeface="华文琥珀" panose="02010800040101010101" charset="-122"/>
                <a:sym typeface="+mn-ea"/>
              </a:rPr>
              <a:t>    不用太纠结这个花费，原则是总体站点的广告费用占比是合理的就可以。</a:t>
            </a:r>
            <a:endParaRPr lang="zh-CN" altLang="en-US" dirty="0">
              <a:solidFill>
                <a:schemeClr val="tx1">
                  <a:lumMod val="85000"/>
                  <a:lumOff val="15000"/>
                </a:schemeClr>
              </a:solidFill>
              <a:latin typeface="华文琥珀" panose="02010800040101010101" charset="-122"/>
              <a:ea typeface="华文琥珀" panose="02010800040101010101" charset="-122"/>
              <a:sym typeface="+mn-ea"/>
            </a:endParaRPr>
          </a:p>
        </p:txBody>
      </p:sp>
      <p:sp>
        <p:nvSpPr>
          <p:cNvPr id="27" name="文本框 26"/>
          <p:cNvSpPr txBox="1"/>
          <p:nvPr/>
        </p:nvSpPr>
        <p:spPr>
          <a:xfrm>
            <a:off x="5674995" y="1932940"/>
            <a:ext cx="2380615" cy="922020"/>
          </a:xfrm>
          <a:prstGeom prst="rect">
            <a:avLst/>
          </a:prstGeom>
          <a:noFill/>
        </p:spPr>
        <p:txBody>
          <a:bodyPr wrap="square" rtlCol="0">
            <a:spAutoFit/>
          </a:bodyPr>
          <a:lstStyle/>
          <a:p>
            <a:r>
              <a:rPr lang="en-US" altLang="zh-CN">
                <a:latin typeface="华文琥珀" panose="02010800040101010101" charset="-122"/>
                <a:ea typeface="华文琥珀" panose="02010800040101010101" charset="-122"/>
                <a:sym typeface="+mn-ea"/>
              </a:rPr>
              <a:t>2. </a:t>
            </a:r>
            <a:r>
              <a:rPr lang="zh-CN" altLang="en-US">
                <a:latin typeface="华文琥珀" panose="02010800040101010101" charset="-122"/>
                <a:ea typeface="华文琥珀" panose="02010800040101010101" charset="-122"/>
                <a:sym typeface="+mn-ea"/>
              </a:rPr>
              <a:t>确定主要带来销量的关键词，加大精确匹配词的投入</a:t>
            </a:r>
            <a:endParaRPr lang="zh-CN" altLang="en-US" sz="1400" dirty="0">
              <a:solidFill>
                <a:srgbClr val="000000"/>
              </a:solidFill>
              <a:latin typeface="华文琥珀" panose="02010800040101010101" charset="-122"/>
              <a:ea typeface="华文琥珀" panose="02010800040101010101" charset="-122"/>
            </a:endParaRPr>
          </a:p>
        </p:txBody>
      </p:sp>
      <p:sp>
        <p:nvSpPr>
          <p:cNvPr id="24" name="矩形 23"/>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5" name="Rectangle 39"/>
          <p:cNvSpPr>
            <a:spLocks noChangeArrowheads="1"/>
          </p:cNvSpPr>
          <p:nvPr/>
        </p:nvSpPr>
        <p:spPr bwMode="auto">
          <a:xfrm>
            <a:off x="1064769" y="369457"/>
            <a:ext cx="3704079"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2400" b="1" dirty="0">
                <a:solidFill>
                  <a:prstClr val="black"/>
                </a:solidFill>
                <a:latin typeface="微软雅黑" panose="020B0503020204020204" charset="-122"/>
                <a:ea typeface="微软雅黑" panose="020B0503020204020204" charset="-122"/>
              </a:rPr>
              <a:t>阶段条理性</a:t>
            </a:r>
            <a:endParaRPr lang="zh-CN" altLang="en-US" sz="2400" b="1" dirty="0">
              <a:solidFill>
                <a:prstClr val="black"/>
              </a:solidFill>
              <a:latin typeface="微软雅黑" panose="020B0503020204020204" charset="-122"/>
              <a:ea typeface="微软雅黑" panose="020B0503020204020204" charset="-122"/>
            </a:endParaRPr>
          </a:p>
        </p:txBody>
      </p:sp>
      <p:sp>
        <p:nvSpPr>
          <p:cNvPr id="7" name="矩形 6"/>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pic>
        <p:nvPicPr>
          <p:cNvPr id="18" name="图片 17" descr="广告13"/>
          <p:cNvPicPr>
            <a:picLocks noChangeAspect="1"/>
          </p:cNvPicPr>
          <p:nvPr/>
        </p:nvPicPr>
        <p:blipFill>
          <a:blip r:embed="rId1" cstate="print"/>
          <a:stretch>
            <a:fillRect/>
          </a:stretch>
        </p:blipFill>
        <p:spPr>
          <a:xfrm>
            <a:off x="574675" y="3958590"/>
            <a:ext cx="11229340" cy="2403475"/>
          </a:xfrm>
          <a:prstGeom prst="rect">
            <a:avLst/>
          </a:prstGeom>
        </p:spPr>
      </p:pic>
      <p:sp>
        <p:nvSpPr>
          <p:cNvPr id="17" name="文本框 16"/>
          <p:cNvSpPr txBox="1"/>
          <p:nvPr/>
        </p:nvSpPr>
        <p:spPr>
          <a:xfrm>
            <a:off x="8524875" y="1266190"/>
            <a:ext cx="2312670" cy="1198880"/>
          </a:xfrm>
          <a:prstGeom prst="rect">
            <a:avLst/>
          </a:prstGeom>
          <a:noFill/>
        </p:spPr>
        <p:txBody>
          <a:bodyPr wrap="square" rtlCol="0" anchor="t">
            <a:spAutoFit/>
          </a:bodyPr>
          <a:p>
            <a:r>
              <a:rPr lang="en-US" altLang="zh-CN">
                <a:latin typeface="华文琥珀" panose="02010800040101010101" charset="-122"/>
                <a:ea typeface="华文琥珀" panose="02010800040101010101" charset="-122"/>
                <a:sym typeface="+mn-ea"/>
              </a:rPr>
              <a:t>3. </a:t>
            </a:r>
            <a:r>
              <a:rPr lang="zh-CN" altLang="en-US">
                <a:latin typeface="华文琥珀" panose="02010800040101010101" charset="-122"/>
                <a:ea typeface="华文琥珀" panose="02010800040101010101" charset="-122"/>
                <a:sym typeface="+mn-ea"/>
              </a:rPr>
              <a:t>把</a:t>
            </a:r>
            <a:r>
              <a:rPr lang="en-US" altLang="zh-CN">
                <a:latin typeface="华文琥珀" panose="02010800040101010101" charset="-122"/>
                <a:ea typeface="华文琥珀" panose="02010800040101010101" charset="-122"/>
                <a:sym typeface="+mn-ea"/>
              </a:rPr>
              <a:t>Customer Search Term </a:t>
            </a:r>
            <a:r>
              <a:rPr lang="zh-CN" altLang="en-US">
                <a:latin typeface="华文琥珀" panose="02010800040101010101" charset="-122"/>
                <a:ea typeface="华文琥珀" panose="02010800040101010101" charset="-122"/>
                <a:sym typeface="+mn-ea"/>
              </a:rPr>
              <a:t>里的词语（筛选后的）设置为精确匹配词语</a:t>
            </a:r>
            <a:endParaRPr lang="zh-CN" altLang="en-US">
              <a:latin typeface="华文琥珀" panose="02010800040101010101" charset="-122"/>
              <a:ea typeface="华文琥珀" panose="0201080004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1250">
        <p:fade/>
      </p:transition>
    </mc:Choice>
    <mc:Fallback>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9"/>
          <p:cNvSpPr>
            <a:spLocks noEditPoints="1"/>
          </p:cNvSpPr>
          <p:nvPr/>
        </p:nvSpPr>
        <p:spPr bwMode="auto">
          <a:xfrm>
            <a:off x="5599906" y="3163850"/>
            <a:ext cx="992187" cy="839788"/>
          </a:xfrm>
          <a:custGeom>
            <a:avLst/>
            <a:gdLst>
              <a:gd name="T0" fmla="*/ 190 w 206"/>
              <a:gd name="T1" fmla="*/ 0 h 174"/>
              <a:gd name="T2" fmla="*/ 15 w 206"/>
              <a:gd name="T3" fmla="*/ 0 h 174"/>
              <a:gd name="T4" fmla="*/ 0 w 206"/>
              <a:gd name="T5" fmla="*/ 15 h 174"/>
              <a:gd name="T6" fmla="*/ 0 w 206"/>
              <a:gd name="T7" fmla="*/ 113 h 174"/>
              <a:gd name="T8" fmla="*/ 0 w 206"/>
              <a:gd name="T9" fmla="*/ 121 h 174"/>
              <a:gd name="T10" fmla="*/ 0 w 206"/>
              <a:gd name="T11" fmla="*/ 131 h 174"/>
              <a:gd name="T12" fmla="*/ 15 w 206"/>
              <a:gd name="T13" fmla="*/ 147 h 174"/>
              <a:gd name="T14" fmla="*/ 84 w 206"/>
              <a:gd name="T15" fmla="*/ 147 h 174"/>
              <a:gd name="T16" fmla="*/ 82 w 206"/>
              <a:gd name="T17" fmla="*/ 164 h 174"/>
              <a:gd name="T18" fmla="*/ 70 w 206"/>
              <a:gd name="T19" fmla="*/ 164 h 174"/>
              <a:gd name="T20" fmla="*/ 64 w 206"/>
              <a:gd name="T21" fmla="*/ 169 h 174"/>
              <a:gd name="T22" fmla="*/ 70 w 206"/>
              <a:gd name="T23" fmla="*/ 174 h 174"/>
              <a:gd name="T24" fmla="*/ 136 w 206"/>
              <a:gd name="T25" fmla="*/ 174 h 174"/>
              <a:gd name="T26" fmla="*/ 141 w 206"/>
              <a:gd name="T27" fmla="*/ 169 h 174"/>
              <a:gd name="T28" fmla="*/ 136 w 206"/>
              <a:gd name="T29" fmla="*/ 164 h 174"/>
              <a:gd name="T30" fmla="*/ 124 w 206"/>
              <a:gd name="T31" fmla="*/ 164 h 174"/>
              <a:gd name="T32" fmla="*/ 121 w 206"/>
              <a:gd name="T33" fmla="*/ 147 h 174"/>
              <a:gd name="T34" fmla="*/ 190 w 206"/>
              <a:gd name="T35" fmla="*/ 147 h 174"/>
              <a:gd name="T36" fmla="*/ 206 w 206"/>
              <a:gd name="T37" fmla="*/ 131 h 174"/>
              <a:gd name="T38" fmla="*/ 206 w 206"/>
              <a:gd name="T39" fmla="*/ 121 h 174"/>
              <a:gd name="T40" fmla="*/ 206 w 206"/>
              <a:gd name="T41" fmla="*/ 113 h 174"/>
              <a:gd name="T42" fmla="*/ 206 w 206"/>
              <a:gd name="T43" fmla="*/ 15 h 174"/>
              <a:gd name="T44" fmla="*/ 190 w 206"/>
              <a:gd name="T45" fmla="*/ 0 h 174"/>
              <a:gd name="T46" fmla="*/ 198 w 206"/>
              <a:gd name="T47" fmla="*/ 131 h 174"/>
              <a:gd name="T48" fmla="*/ 190 w 206"/>
              <a:gd name="T49" fmla="*/ 139 h 174"/>
              <a:gd name="T50" fmla="*/ 15 w 206"/>
              <a:gd name="T51" fmla="*/ 139 h 174"/>
              <a:gd name="T52" fmla="*/ 8 w 206"/>
              <a:gd name="T53" fmla="*/ 131 h 174"/>
              <a:gd name="T54" fmla="*/ 8 w 206"/>
              <a:gd name="T55" fmla="*/ 121 h 174"/>
              <a:gd name="T56" fmla="*/ 198 w 206"/>
              <a:gd name="T57" fmla="*/ 121 h 174"/>
              <a:gd name="T58" fmla="*/ 198 w 206"/>
              <a:gd name="T59" fmla="*/ 131 h 174"/>
              <a:gd name="T60" fmla="*/ 8 w 206"/>
              <a:gd name="T61" fmla="*/ 113 h 174"/>
              <a:gd name="T62" fmla="*/ 8 w 206"/>
              <a:gd name="T63" fmla="*/ 15 h 174"/>
              <a:gd name="T64" fmla="*/ 15 w 206"/>
              <a:gd name="T65" fmla="*/ 8 h 174"/>
              <a:gd name="T66" fmla="*/ 190 w 206"/>
              <a:gd name="T67" fmla="*/ 8 h 174"/>
              <a:gd name="T68" fmla="*/ 198 w 206"/>
              <a:gd name="T69" fmla="*/ 15 h 174"/>
              <a:gd name="T70" fmla="*/ 198 w 206"/>
              <a:gd name="T71" fmla="*/ 113 h 174"/>
              <a:gd name="T72" fmla="*/ 8 w 206"/>
              <a:gd name="T73" fmla="*/ 113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6" h="174">
                <a:moveTo>
                  <a:pt x="190" y="0"/>
                </a:moveTo>
                <a:cubicBezTo>
                  <a:pt x="15" y="0"/>
                  <a:pt x="15" y="0"/>
                  <a:pt x="15" y="0"/>
                </a:cubicBezTo>
                <a:cubicBezTo>
                  <a:pt x="7" y="0"/>
                  <a:pt x="0" y="7"/>
                  <a:pt x="0" y="15"/>
                </a:cubicBezTo>
                <a:cubicBezTo>
                  <a:pt x="0" y="113"/>
                  <a:pt x="0" y="113"/>
                  <a:pt x="0" y="113"/>
                </a:cubicBezTo>
                <a:cubicBezTo>
                  <a:pt x="0" y="121"/>
                  <a:pt x="0" y="121"/>
                  <a:pt x="0" y="121"/>
                </a:cubicBezTo>
                <a:cubicBezTo>
                  <a:pt x="0" y="131"/>
                  <a:pt x="0" y="131"/>
                  <a:pt x="0" y="131"/>
                </a:cubicBezTo>
                <a:cubicBezTo>
                  <a:pt x="0" y="140"/>
                  <a:pt x="7" y="147"/>
                  <a:pt x="15" y="147"/>
                </a:cubicBezTo>
                <a:cubicBezTo>
                  <a:pt x="84" y="147"/>
                  <a:pt x="84" y="147"/>
                  <a:pt x="84" y="147"/>
                </a:cubicBezTo>
                <a:cubicBezTo>
                  <a:pt x="84" y="152"/>
                  <a:pt x="84" y="159"/>
                  <a:pt x="82" y="164"/>
                </a:cubicBezTo>
                <a:cubicBezTo>
                  <a:pt x="70" y="164"/>
                  <a:pt x="70" y="164"/>
                  <a:pt x="70" y="164"/>
                </a:cubicBezTo>
                <a:cubicBezTo>
                  <a:pt x="67" y="164"/>
                  <a:pt x="64" y="166"/>
                  <a:pt x="64" y="169"/>
                </a:cubicBezTo>
                <a:cubicBezTo>
                  <a:pt x="64" y="172"/>
                  <a:pt x="67" y="174"/>
                  <a:pt x="70" y="174"/>
                </a:cubicBezTo>
                <a:cubicBezTo>
                  <a:pt x="136" y="174"/>
                  <a:pt x="136" y="174"/>
                  <a:pt x="136" y="174"/>
                </a:cubicBezTo>
                <a:cubicBezTo>
                  <a:pt x="139" y="174"/>
                  <a:pt x="141" y="172"/>
                  <a:pt x="141" y="169"/>
                </a:cubicBezTo>
                <a:cubicBezTo>
                  <a:pt x="141" y="166"/>
                  <a:pt x="139" y="164"/>
                  <a:pt x="136" y="164"/>
                </a:cubicBezTo>
                <a:cubicBezTo>
                  <a:pt x="124" y="164"/>
                  <a:pt x="124" y="164"/>
                  <a:pt x="124" y="164"/>
                </a:cubicBezTo>
                <a:cubicBezTo>
                  <a:pt x="122" y="159"/>
                  <a:pt x="121" y="152"/>
                  <a:pt x="121" y="147"/>
                </a:cubicBezTo>
                <a:cubicBezTo>
                  <a:pt x="190" y="147"/>
                  <a:pt x="190" y="147"/>
                  <a:pt x="190" y="147"/>
                </a:cubicBezTo>
                <a:cubicBezTo>
                  <a:pt x="199" y="147"/>
                  <a:pt x="206" y="140"/>
                  <a:pt x="206" y="131"/>
                </a:cubicBezTo>
                <a:cubicBezTo>
                  <a:pt x="206" y="121"/>
                  <a:pt x="206" y="121"/>
                  <a:pt x="206" y="121"/>
                </a:cubicBezTo>
                <a:cubicBezTo>
                  <a:pt x="206" y="113"/>
                  <a:pt x="206" y="113"/>
                  <a:pt x="206" y="113"/>
                </a:cubicBezTo>
                <a:cubicBezTo>
                  <a:pt x="206" y="15"/>
                  <a:pt x="206" y="15"/>
                  <a:pt x="206" y="15"/>
                </a:cubicBezTo>
                <a:cubicBezTo>
                  <a:pt x="206" y="7"/>
                  <a:pt x="199" y="0"/>
                  <a:pt x="190" y="0"/>
                </a:cubicBezTo>
                <a:close/>
                <a:moveTo>
                  <a:pt x="198" y="131"/>
                </a:moveTo>
                <a:cubicBezTo>
                  <a:pt x="198" y="135"/>
                  <a:pt x="195" y="139"/>
                  <a:pt x="190" y="139"/>
                </a:cubicBezTo>
                <a:cubicBezTo>
                  <a:pt x="15" y="139"/>
                  <a:pt x="15" y="139"/>
                  <a:pt x="15" y="139"/>
                </a:cubicBezTo>
                <a:cubicBezTo>
                  <a:pt x="11" y="139"/>
                  <a:pt x="8" y="135"/>
                  <a:pt x="8" y="131"/>
                </a:cubicBezTo>
                <a:cubicBezTo>
                  <a:pt x="8" y="121"/>
                  <a:pt x="8" y="121"/>
                  <a:pt x="8" y="121"/>
                </a:cubicBezTo>
                <a:cubicBezTo>
                  <a:pt x="198" y="121"/>
                  <a:pt x="198" y="121"/>
                  <a:pt x="198" y="121"/>
                </a:cubicBezTo>
                <a:lnTo>
                  <a:pt x="198" y="131"/>
                </a:lnTo>
                <a:close/>
                <a:moveTo>
                  <a:pt x="8" y="113"/>
                </a:moveTo>
                <a:cubicBezTo>
                  <a:pt x="8" y="15"/>
                  <a:pt x="8" y="15"/>
                  <a:pt x="8" y="15"/>
                </a:cubicBezTo>
                <a:cubicBezTo>
                  <a:pt x="8" y="11"/>
                  <a:pt x="11" y="8"/>
                  <a:pt x="15" y="8"/>
                </a:cubicBezTo>
                <a:cubicBezTo>
                  <a:pt x="190" y="8"/>
                  <a:pt x="190" y="8"/>
                  <a:pt x="190" y="8"/>
                </a:cubicBezTo>
                <a:cubicBezTo>
                  <a:pt x="195" y="8"/>
                  <a:pt x="198" y="11"/>
                  <a:pt x="198" y="15"/>
                </a:cubicBezTo>
                <a:cubicBezTo>
                  <a:pt x="198" y="113"/>
                  <a:pt x="198" y="113"/>
                  <a:pt x="198" y="113"/>
                </a:cubicBezTo>
                <a:lnTo>
                  <a:pt x="8" y="1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prstClr val="black"/>
              </a:solidFill>
              <a:ea typeface="微软雅黑" panose="020B0503020204020204" charset="-122"/>
            </a:endParaRPr>
          </a:p>
        </p:txBody>
      </p:sp>
      <p:sp>
        <p:nvSpPr>
          <p:cNvPr id="4" name="Freeform 9"/>
          <p:cNvSpPr>
            <a:spLocks noEditPoints="1"/>
          </p:cNvSpPr>
          <p:nvPr/>
        </p:nvSpPr>
        <p:spPr bwMode="auto">
          <a:xfrm>
            <a:off x="1871003" y="4819602"/>
            <a:ext cx="1144383" cy="923330"/>
          </a:xfrm>
          <a:custGeom>
            <a:avLst/>
            <a:gdLst>
              <a:gd name="T0" fmla="*/ 190 w 206"/>
              <a:gd name="T1" fmla="*/ 0 h 174"/>
              <a:gd name="T2" fmla="*/ 15 w 206"/>
              <a:gd name="T3" fmla="*/ 0 h 174"/>
              <a:gd name="T4" fmla="*/ 0 w 206"/>
              <a:gd name="T5" fmla="*/ 15 h 174"/>
              <a:gd name="T6" fmla="*/ 0 w 206"/>
              <a:gd name="T7" fmla="*/ 113 h 174"/>
              <a:gd name="T8" fmla="*/ 0 w 206"/>
              <a:gd name="T9" fmla="*/ 121 h 174"/>
              <a:gd name="T10" fmla="*/ 0 w 206"/>
              <a:gd name="T11" fmla="*/ 131 h 174"/>
              <a:gd name="T12" fmla="*/ 15 w 206"/>
              <a:gd name="T13" fmla="*/ 147 h 174"/>
              <a:gd name="T14" fmla="*/ 84 w 206"/>
              <a:gd name="T15" fmla="*/ 147 h 174"/>
              <a:gd name="T16" fmla="*/ 82 w 206"/>
              <a:gd name="T17" fmla="*/ 164 h 174"/>
              <a:gd name="T18" fmla="*/ 70 w 206"/>
              <a:gd name="T19" fmla="*/ 164 h 174"/>
              <a:gd name="T20" fmla="*/ 64 w 206"/>
              <a:gd name="T21" fmla="*/ 169 h 174"/>
              <a:gd name="T22" fmla="*/ 70 w 206"/>
              <a:gd name="T23" fmla="*/ 174 h 174"/>
              <a:gd name="T24" fmla="*/ 136 w 206"/>
              <a:gd name="T25" fmla="*/ 174 h 174"/>
              <a:gd name="T26" fmla="*/ 141 w 206"/>
              <a:gd name="T27" fmla="*/ 169 h 174"/>
              <a:gd name="T28" fmla="*/ 136 w 206"/>
              <a:gd name="T29" fmla="*/ 164 h 174"/>
              <a:gd name="T30" fmla="*/ 124 w 206"/>
              <a:gd name="T31" fmla="*/ 164 h 174"/>
              <a:gd name="T32" fmla="*/ 121 w 206"/>
              <a:gd name="T33" fmla="*/ 147 h 174"/>
              <a:gd name="T34" fmla="*/ 190 w 206"/>
              <a:gd name="T35" fmla="*/ 147 h 174"/>
              <a:gd name="T36" fmla="*/ 206 w 206"/>
              <a:gd name="T37" fmla="*/ 131 h 174"/>
              <a:gd name="T38" fmla="*/ 206 w 206"/>
              <a:gd name="T39" fmla="*/ 121 h 174"/>
              <a:gd name="T40" fmla="*/ 206 w 206"/>
              <a:gd name="T41" fmla="*/ 113 h 174"/>
              <a:gd name="T42" fmla="*/ 206 w 206"/>
              <a:gd name="T43" fmla="*/ 15 h 174"/>
              <a:gd name="T44" fmla="*/ 190 w 206"/>
              <a:gd name="T45" fmla="*/ 0 h 174"/>
              <a:gd name="T46" fmla="*/ 198 w 206"/>
              <a:gd name="T47" fmla="*/ 131 h 174"/>
              <a:gd name="T48" fmla="*/ 190 w 206"/>
              <a:gd name="T49" fmla="*/ 139 h 174"/>
              <a:gd name="T50" fmla="*/ 15 w 206"/>
              <a:gd name="T51" fmla="*/ 139 h 174"/>
              <a:gd name="T52" fmla="*/ 8 w 206"/>
              <a:gd name="T53" fmla="*/ 131 h 174"/>
              <a:gd name="T54" fmla="*/ 8 w 206"/>
              <a:gd name="T55" fmla="*/ 121 h 174"/>
              <a:gd name="T56" fmla="*/ 198 w 206"/>
              <a:gd name="T57" fmla="*/ 121 h 174"/>
              <a:gd name="T58" fmla="*/ 198 w 206"/>
              <a:gd name="T59" fmla="*/ 131 h 174"/>
              <a:gd name="T60" fmla="*/ 8 w 206"/>
              <a:gd name="T61" fmla="*/ 113 h 174"/>
              <a:gd name="T62" fmla="*/ 8 w 206"/>
              <a:gd name="T63" fmla="*/ 15 h 174"/>
              <a:gd name="T64" fmla="*/ 15 w 206"/>
              <a:gd name="T65" fmla="*/ 8 h 174"/>
              <a:gd name="T66" fmla="*/ 190 w 206"/>
              <a:gd name="T67" fmla="*/ 8 h 174"/>
              <a:gd name="T68" fmla="*/ 198 w 206"/>
              <a:gd name="T69" fmla="*/ 15 h 174"/>
              <a:gd name="T70" fmla="*/ 198 w 206"/>
              <a:gd name="T71" fmla="*/ 113 h 174"/>
              <a:gd name="T72" fmla="*/ 8 w 206"/>
              <a:gd name="T73" fmla="*/ 113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6" h="174">
                <a:moveTo>
                  <a:pt x="190" y="0"/>
                </a:moveTo>
                <a:cubicBezTo>
                  <a:pt x="15" y="0"/>
                  <a:pt x="15" y="0"/>
                  <a:pt x="15" y="0"/>
                </a:cubicBezTo>
                <a:cubicBezTo>
                  <a:pt x="7" y="0"/>
                  <a:pt x="0" y="7"/>
                  <a:pt x="0" y="15"/>
                </a:cubicBezTo>
                <a:cubicBezTo>
                  <a:pt x="0" y="113"/>
                  <a:pt x="0" y="113"/>
                  <a:pt x="0" y="113"/>
                </a:cubicBezTo>
                <a:cubicBezTo>
                  <a:pt x="0" y="121"/>
                  <a:pt x="0" y="121"/>
                  <a:pt x="0" y="121"/>
                </a:cubicBezTo>
                <a:cubicBezTo>
                  <a:pt x="0" y="131"/>
                  <a:pt x="0" y="131"/>
                  <a:pt x="0" y="131"/>
                </a:cubicBezTo>
                <a:cubicBezTo>
                  <a:pt x="0" y="140"/>
                  <a:pt x="7" y="147"/>
                  <a:pt x="15" y="147"/>
                </a:cubicBezTo>
                <a:cubicBezTo>
                  <a:pt x="84" y="147"/>
                  <a:pt x="84" y="147"/>
                  <a:pt x="84" y="147"/>
                </a:cubicBezTo>
                <a:cubicBezTo>
                  <a:pt x="84" y="152"/>
                  <a:pt x="84" y="159"/>
                  <a:pt x="82" y="164"/>
                </a:cubicBezTo>
                <a:cubicBezTo>
                  <a:pt x="70" y="164"/>
                  <a:pt x="70" y="164"/>
                  <a:pt x="70" y="164"/>
                </a:cubicBezTo>
                <a:cubicBezTo>
                  <a:pt x="67" y="164"/>
                  <a:pt x="64" y="166"/>
                  <a:pt x="64" y="169"/>
                </a:cubicBezTo>
                <a:cubicBezTo>
                  <a:pt x="64" y="172"/>
                  <a:pt x="67" y="174"/>
                  <a:pt x="70" y="174"/>
                </a:cubicBezTo>
                <a:cubicBezTo>
                  <a:pt x="136" y="174"/>
                  <a:pt x="136" y="174"/>
                  <a:pt x="136" y="174"/>
                </a:cubicBezTo>
                <a:cubicBezTo>
                  <a:pt x="139" y="174"/>
                  <a:pt x="141" y="172"/>
                  <a:pt x="141" y="169"/>
                </a:cubicBezTo>
                <a:cubicBezTo>
                  <a:pt x="141" y="166"/>
                  <a:pt x="139" y="164"/>
                  <a:pt x="136" y="164"/>
                </a:cubicBezTo>
                <a:cubicBezTo>
                  <a:pt x="124" y="164"/>
                  <a:pt x="124" y="164"/>
                  <a:pt x="124" y="164"/>
                </a:cubicBezTo>
                <a:cubicBezTo>
                  <a:pt x="122" y="159"/>
                  <a:pt x="121" y="152"/>
                  <a:pt x="121" y="147"/>
                </a:cubicBezTo>
                <a:cubicBezTo>
                  <a:pt x="190" y="147"/>
                  <a:pt x="190" y="147"/>
                  <a:pt x="190" y="147"/>
                </a:cubicBezTo>
                <a:cubicBezTo>
                  <a:pt x="199" y="147"/>
                  <a:pt x="206" y="140"/>
                  <a:pt x="206" y="131"/>
                </a:cubicBezTo>
                <a:cubicBezTo>
                  <a:pt x="206" y="121"/>
                  <a:pt x="206" y="121"/>
                  <a:pt x="206" y="121"/>
                </a:cubicBezTo>
                <a:cubicBezTo>
                  <a:pt x="206" y="113"/>
                  <a:pt x="206" y="113"/>
                  <a:pt x="206" y="113"/>
                </a:cubicBezTo>
                <a:cubicBezTo>
                  <a:pt x="206" y="15"/>
                  <a:pt x="206" y="15"/>
                  <a:pt x="206" y="15"/>
                </a:cubicBezTo>
                <a:cubicBezTo>
                  <a:pt x="206" y="7"/>
                  <a:pt x="199" y="0"/>
                  <a:pt x="190" y="0"/>
                </a:cubicBezTo>
                <a:close/>
                <a:moveTo>
                  <a:pt x="198" y="131"/>
                </a:moveTo>
                <a:cubicBezTo>
                  <a:pt x="198" y="135"/>
                  <a:pt x="195" y="139"/>
                  <a:pt x="190" y="139"/>
                </a:cubicBezTo>
                <a:cubicBezTo>
                  <a:pt x="15" y="139"/>
                  <a:pt x="15" y="139"/>
                  <a:pt x="15" y="139"/>
                </a:cubicBezTo>
                <a:cubicBezTo>
                  <a:pt x="11" y="139"/>
                  <a:pt x="8" y="135"/>
                  <a:pt x="8" y="131"/>
                </a:cubicBezTo>
                <a:cubicBezTo>
                  <a:pt x="8" y="121"/>
                  <a:pt x="8" y="121"/>
                  <a:pt x="8" y="121"/>
                </a:cubicBezTo>
                <a:cubicBezTo>
                  <a:pt x="198" y="121"/>
                  <a:pt x="198" y="121"/>
                  <a:pt x="198" y="121"/>
                </a:cubicBezTo>
                <a:lnTo>
                  <a:pt x="198" y="131"/>
                </a:lnTo>
                <a:close/>
                <a:moveTo>
                  <a:pt x="8" y="113"/>
                </a:moveTo>
                <a:cubicBezTo>
                  <a:pt x="8" y="15"/>
                  <a:pt x="8" y="15"/>
                  <a:pt x="8" y="15"/>
                </a:cubicBezTo>
                <a:cubicBezTo>
                  <a:pt x="8" y="11"/>
                  <a:pt x="11" y="8"/>
                  <a:pt x="15" y="8"/>
                </a:cubicBezTo>
                <a:cubicBezTo>
                  <a:pt x="190" y="8"/>
                  <a:pt x="190" y="8"/>
                  <a:pt x="190" y="8"/>
                </a:cubicBezTo>
                <a:cubicBezTo>
                  <a:pt x="195" y="8"/>
                  <a:pt x="198" y="11"/>
                  <a:pt x="198" y="15"/>
                </a:cubicBezTo>
                <a:cubicBezTo>
                  <a:pt x="198" y="113"/>
                  <a:pt x="198" y="113"/>
                  <a:pt x="198" y="113"/>
                </a:cubicBezTo>
                <a:lnTo>
                  <a:pt x="8" y="113"/>
                </a:lnTo>
                <a:close/>
              </a:path>
            </a:pathLst>
          </a:custGeom>
          <a:solidFill>
            <a:schemeClr val="tx1">
              <a:lumMod val="95000"/>
              <a:lumOff val="5000"/>
            </a:schemeClr>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prstClr val="black"/>
              </a:solidFill>
              <a:ea typeface="微软雅黑" panose="020B0503020204020204" charset="-122"/>
            </a:endParaRPr>
          </a:p>
        </p:txBody>
      </p:sp>
      <p:sp>
        <p:nvSpPr>
          <p:cNvPr id="6" name="Freeform 5"/>
          <p:cNvSpPr>
            <a:spLocks noEditPoints="1"/>
          </p:cNvSpPr>
          <p:nvPr/>
        </p:nvSpPr>
        <p:spPr bwMode="auto">
          <a:xfrm>
            <a:off x="1871003" y="1437438"/>
            <a:ext cx="1221849" cy="823615"/>
          </a:xfrm>
          <a:custGeom>
            <a:avLst/>
            <a:gdLst>
              <a:gd name="T0" fmla="*/ 191 w 206"/>
              <a:gd name="T1" fmla="*/ 114 h 147"/>
              <a:gd name="T2" fmla="*/ 191 w 206"/>
              <a:gd name="T3" fmla="*/ 16 h 147"/>
              <a:gd name="T4" fmla="*/ 175 w 206"/>
              <a:gd name="T5" fmla="*/ 0 h 147"/>
              <a:gd name="T6" fmla="*/ 32 w 206"/>
              <a:gd name="T7" fmla="*/ 0 h 147"/>
              <a:gd name="T8" fmla="*/ 16 w 206"/>
              <a:gd name="T9" fmla="*/ 16 h 147"/>
              <a:gd name="T10" fmla="*/ 16 w 206"/>
              <a:gd name="T11" fmla="*/ 114 h 147"/>
              <a:gd name="T12" fmla="*/ 0 w 206"/>
              <a:gd name="T13" fmla="*/ 114 h 147"/>
              <a:gd name="T14" fmla="*/ 0 w 206"/>
              <a:gd name="T15" fmla="*/ 132 h 147"/>
              <a:gd name="T16" fmla="*/ 16 w 206"/>
              <a:gd name="T17" fmla="*/ 147 h 147"/>
              <a:gd name="T18" fmla="*/ 191 w 206"/>
              <a:gd name="T19" fmla="*/ 147 h 147"/>
              <a:gd name="T20" fmla="*/ 206 w 206"/>
              <a:gd name="T21" fmla="*/ 132 h 147"/>
              <a:gd name="T22" fmla="*/ 206 w 206"/>
              <a:gd name="T23" fmla="*/ 114 h 147"/>
              <a:gd name="T24" fmla="*/ 191 w 206"/>
              <a:gd name="T25" fmla="*/ 114 h 147"/>
              <a:gd name="T26" fmla="*/ 24 w 206"/>
              <a:gd name="T27" fmla="*/ 16 h 147"/>
              <a:gd name="T28" fmla="*/ 32 w 206"/>
              <a:gd name="T29" fmla="*/ 8 h 147"/>
              <a:gd name="T30" fmla="*/ 175 w 206"/>
              <a:gd name="T31" fmla="*/ 8 h 147"/>
              <a:gd name="T32" fmla="*/ 183 w 206"/>
              <a:gd name="T33" fmla="*/ 16 h 147"/>
              <a:gd name="T34" fmla="*/ 183 w 206"/>
              <a:gd name="T35" fmla="*/ 114 h 147"/>
              <a:gd name="T36" fmla="*/ 24 w 206"/>
              <a:gd name="T37" fmla="*/ 114 h 147"/>
              <a:gd name="T38" fmla="*/ 24 w 206"/>
              <a:gd name="T39" fmla="*/ 16 h 147"/>
              <a:gd name="T40" fmla="*/ 198 w 206"/>
              <a:gd name="T41" fmla="*/ 132 h 147"/>
              <a:gd name="T42" fmla="*/ 191 w 206"/>
              <a:gd name="T43" fmla="*/ 139 h 147"/>
              <a:gd name="T44" fmla="*/ 16 w 206"/>
              <a:gd name="T45" fmla="*/ 139 h 147"/>
              <a:gd name="T46" fmla="*/ 8 w 206"/>
              <a:gd name="T47" fmla="*/ 132 h 147"/>
              <a:gd name="T48" fmla="*/ 8 w 206"/>
              <a:gd name="T49" fmla="*/ 122 h 147"/>
              <a:gd name="T50" fmla="*/ 16 w 206"/>
              <a:gd name="T51" fmla="*/ 122 h 147"/>
              <a:gd name="T52" fmla="*/ 66 w 206"/>
              <a:gd name="T53" fmla="*/ 122 h 147"/>
              <a:gd name="T54" fmla="*/ 75 w 206"/>
              <a:gd name="T55" fmla="*/ 128 h 147"/>
              <a:gd name="T56" fmla="*/ 132 w 206"/>
              <a:gd name="T57" fmla="*/ 128 h 147"/>
              <a:gd name="T58" fmla="*/ 141 w 206"/>
              <a:gd name="T59" fmla="*/ 122 h 147"/>
              <a:gd name="T60" fmla="*/ 191 w 206"/>
              <a:gd name="T61" fmla="*/ 122 h 147"/>
              <a:gd name="T62" fmla="*/ 198 w 206"/>
              <a:gd name="T63" fmla="*/ 122 h 147"/>
              <a:gd name="T64" fmla="*/ 198 w 206"/>
              <a:gd name="T65" fmla="*/ 132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6" h="147">
                <a:moveTo>
                  <a:pt x="191" y="114"/>
                </a:moveTo>
                <a:cubicBezTo>
                  <a:pt x="191" y="16"/>
                  <a:pt x="191" y="16"/>
                  <a:pt x="191" y="16"/>
                </a:cubicBezTo>
                <a:cubicBezTo>
                  <a:pt x="191" y="8"/>
                  <a:pt x="184" y="0"/>
                  <a:pt x="175" y="0"/>
                </a:cubicBezTo>
                <a:cubicBezTo>
                  <a:pt x="32" y="0"/>
                  <a:pt x="32" y="0"/>
                  <a:pt x="32" y="0"/>
                </a:cubicBezTo>
                <a:cubicBezTo>
                  <a:pt x="23" y="0"/>
                  <a:pt x="16" y="8"/>
                  <a:pt x="16" y="16"/>
                </a:cubicBezTo>
                <a:cubicBezTo>
                  <a:pt x="16" y="114"/>
                  <a:pt x="16" y="114"/>
                  <a:pt x="16" y="114"/>
                </a:cubicBezTo>
                <a:cubicBezTo>
                  <a:pt x="0" y="114"/>
                  <a:pt x="0" y="114"/>
                  <a:pt x="0" y="114"/>
                </a:cubicBezTo>
                <a:cubicBezTo>
                  <a:pt x="0" y="132"/>
                  <a:pt x="0" y="132"/>
                  <a:pt x="0" y="132"/>
                </a:cubicBezTo>
                <a:cubicBezTo>
                  <a:pt x="0" y="140"/>
                  <a:pt x="7" y="147"/>
                  <a:pt x="16" y="147"/>
                </a:cubicBezTo>
                <a:cubicBezTo>
                  <a:pt x="191" y="147"/>
                  <a:pt x="191" y="147"/>
                  <a:pt x="191" y="147"/>
                </a:cubicBezTo>
                <a:cubicBezTo>
                  <a:pt x="199" y="147"/>
                  <a:pt x="206" y="140"/>
                  <a:pt x="206" y="132"/>
                </a:cubicBezTo>
                <a:cubicBezTo>
                  <a:pt x="206" y="114"/>
                  <a:pt x="206" y="114"/>
                  <a:pt x="206" y="114"/>
                </a:cubicBezTo>
                <a:lnTo>
                  <a:pt x="191" y="114"/>
                </a:lnTo>
                <a:close/>
                <a:moveTo>
                  <a:pt x="24" y="16"/>
                </a:moveTo>
                <a:cubicBezTo>
                  <a:pt x="24" y="12"/>
                  <a:pt x="27" y="8"/>
                  <a:pt x="32" y="8"/>
                </a:cubicBezTo>
                <a:cubicBezTo>
                  <a:pt x="175" y="8"/>
                  <a:pt x="175" y="8"/>
                  <a:pt x="175" y="8"/>
                </a:cubicBezTo>
                <a:cubicBezTo>
                  <a:pt x="179" y="8"/>
                  <a:pt x="183" y="12"/>
                  <a:pt x="183" y="16"/>
                </a:cubicBezTo>
                <a:cubicBezTo>
                  <a:pt x="183" y="114"/>
                  <a:pt x="183" y="114"/>
                  <a:pt x="183" y="114"/>
                </a:cubicBezTo>
                <a:cubicBezTo>
                  <a:pt x="24" y="114"/>
                  <a:pt x="24" y="114"/>
                  <a:pt x="24" y="114"/>
                </a:cubicBezTo>
                <a:lnTo>
                  <a:pt x="24" y="16"/>
                </a:lnTo>
                <a:close/>
                <a:moveTo>
                  <a:pt x="198" y="132"/>
                </a:moveTo>
                <a:cubicBezTo>
                  <a:pt x="198" y="136"/>
                  <a:pt x="195" y="139"/>
                  <a:pt x="191" y="139"/>
                </a:cubicBezTo>
                <a:cubicBezTo>
                  <a:pt x="16" y="139"/>
                  <a:pt x="16" y="139"/>
                  <a:pt x="16" y="139"/>
                </a:cubicBezTo>
                <a:cubicBezTo>
                  <a:pt x="11" y="139"/>
                  <a:pt x="8" y="136"/>
                  <a:pt x="8" y="132"/>
                </a:cubicBezTo>
                <a:cubicBezTo>
                  <a:pt x="8" y="122"/>
                  <a:pt x="8" y="122"/>
                  <a:pt x="8" y="122"/>
                </a:cubicBezTo>
                <a:cubicBezTo>
                  <a:pt x="16" y="122"/>
                  <a:pt x="16" y="122"/>
                  <a:pt x="16" y="122"/>
                </a:cubicBezTo>
                <a:cubicBezTo>
                  <a:pt x="66" y="122"/>
                  <a:pt x="66" y="122"/>
                  <a:pt x="66" y="122"/>
                </a:cubicBezTo>
                <a:cubicBezTo>
                  <a:pt x="67" y="126"/>
                  <a:pt x="71" y="128"/>
                  <a:pt x="75" y="128"/>
                </a:cubicBezTo>
                <a:cubicBezTo>
                  <a:pt x="132" y="128"/>
                  <a:pt x="132" y="128"/>
                  <a:pt x="132" y="128"/>
                </a:cubicBezTo>
                <a:cubicBezTo>
                  <a:pt x="136" y="128"/>
                  <a:pt x="140" y="126"/>
                  <a:pt x="141" y="122"/>
                </a:cubicBezTo>
                <a:cubicBezTo>
                  <a:pt x="191" y="122"/>
                  <a:pt x="191" y="122"/>
                  <a:pt x="191" y="122"/>
                </a:cubicBezTo>
                <a:cubicBezTo>
                  <a:pt x="198" y="122"/>
                  <a:pt x="198" y="122"/>
                  <a:pt x="198" y="122"/>
                </a:cubicBezTo>
                <a:lnTo>
                  <a:pt x="198" y="132"/>
                </a:lnTo>
                <a:close/>
              </a:path>
            </a:pathLst>
          </a:custGeom>
          <a:solidFill>
            <a:schemeClr val="bg2">
              <a:lumMod val="10000"/>
            </a:schemeClr>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prstClr val="black"/>
              </a:solidFill>
              <a:ea typeface="微软雅黑" panose="020B0503020204020204" charset="-122"/>
            </a:endParaRPr>
          </a:p>
        </p:txBody>
      </p:sp>
      <p:sp>
        <p:nvSpPr>
          <p:cNvPr id="7" name="Freeform 54"/>
          <p:cNvSpPr>
            <a:spLocks noEditPoints="1"/>
          </p:cNvSpPr>
          <p:nvPr/>
        </p:nvSpPr>
        <p:spPr bwMode="auto">
          <a:xfrm>
            <a:off x="1871003" y="3011727"/>
            <a:ext cx="1195335" cy="1057201"/>
          </a:xfrm>
          <a:custGeom>
            <a:avLst/>
            <a:gdLst>
              <a:gd name="T0" fmla="*/ 200 w 200"/>
              <a:gd name="T1" fmla="*/ 24 h 199"/>
              <a:gd name="T2" fmla="*/ 176 w 200"/>
              <a:gd name="T3" fmla="*/ 0 h 199"/>
              <a:gd name="T4" fmla="*/ 24 w 200"/>
              <a:gd name="T5" fmla="*/ 0 h 199"/>
              <a:gd name="T6" fmla="*/ 0 w 200"/>
              <a:gd name="T7" fmla="*/ 24 h 199"/>
              <a:gd name="T8" fmla="*/ 0 w 200"/>
              <a:gd name="T9" fmla="*/ 127 h 199"/>
              <a:gd name="T10" fmla="*/ 1 w 200"/>
              <a:gd name="T11" fmla="*/ 132 h 199"/>
              <a:gd name="T12" fmla="*/ 1 w 200"/>
              <a:gd name="T13" fmla="*/ 132 h 199"/>
              <a:gd name="T14" fmla="*/ 1 w 200"/>
              <a:gd name="T15" fmla="*/ 132 h 199"/>
              <a:gd name="T16" fmla="*/ 1 w 200"/>
              <a:gd name="T17" fmla="*/ 133 h 199"/>
              <a:gd name="T18" fmla="*/ 1 w 200"/>
              <a:gd name="T19" fmla="*/ 133 h 199"/>
              <a:gd name="T20" fmla="*/ 24 w 200"/>
              <a:gd name="T21" fmla="*/ 151 h 199"/>
              <a:gd name="T22" fmla="*/ 73 w 200"/>
              <a:gd name="T23" fmla="*/ 151 h 199"/>
              <a:gd name="T24" fmla="*/ 35 w 200"/>
              <a:gd name="T25" fmla="*/ 188 h 199"/>
              <a:gd name="T26" fmla="*/ 35 w 200"/>
              <a:gd name="T27" fmla="*/ 196 h 199"/>
              <a:gd name="T28" fmla="*/ 44 w 200"/>
              <a:gd name="T29" fmla="*/ 196 h 199"/>
              <a:gd name="T30" fmla="*/ 88 w 200"/>
              <a:gd name="T31" fmla="*/ 152 h 199"/>
              <a:gd name="T32" fmla="*/ 89 w 200"/>
              <a:gd name="T33" fmla="*/ 151 h 199"/>
              <a:gd name="T34" fmla="*/ 94 w 200"/>
              <a:gd name="T35" fmla="*/ 151 h 199"/>
              <a:gd name="T36" fmla="*/ 94 w 200"/>
              <a:gd name="T37" fmla="*/ 192 h 199"/>
              <a:gd name="T38" fmla="*/ 100 w 200"/>
              <a:gd name="T39" fmla="*/ 198 h 199"/>
              <a:gd name="T40" fmla="*/ 106 w 200"/>
              <a:gd name="T41" fmla="*/ 192 h 199"/>
              <a:gd name="T42" fmla="*/ 106 w 200"/>
              <a:gd name="T43" fmla="*/ 151 h 199"/>
              <a:gd name="T44" fmla="*/ 111 w 200"/>
              <a:gd name="T45" fmla="*/ 151 h 199"/>
              <a:gd name="T46" fmla="*/ 112 w 200"/>
              <a:gd name="T47" fmla="*/ 152 h 199"/>
              <a:gd name="T48" fmla="*/ 157 w 200"/>
              <a:gd name="T49" fmla="*/ 196 h 199"/>
              <a:gd name="T50" fmla="*/ 165 w 200"/>
              <a:gd name="T51" fmla="*/ 196 h 199"/>
              <a:gd name="T52" fmla="*/ 165 w 200"/>
              <a:gd name="T53" fmla="*/ 188 h 199"/>
              <a:gd name="T54" fmla="*/ 128 w 200"/>
              <a:gd name="T55" fmla="*/ 151 h 199"/>
              <a:gd name="T56" fmla="*/ 176 w 200"/>
              <a:gd name="T57" fmla="*/ 151 h 199"/>
              <a:gd name="T58" fmla="*/ 199 w 200"/>
              <a:gd name="T59" fmla="*/ 133 h 199"/>
              <a:gd name="T60" fmla="*/ 199 w 200"/>
              <a:gd name="T61" fmla="*/ 133 h 199"/>
              <a:gd name="T62" fmla="*/ 199 w 200"/>
              <a:gd name="T63" fmla="*/ 132 h 199"/>
              <a:gd name="T64" fmla="*/ 199 w 200"/>
              <a:gd name="T65" fmla="*/ 132 h 199"/>
              <a:gd name="T66" fmla="*/ 199 w 200"/>
              <a:gd name="T67" fmla="*/ 132 h 199"/>
              <a:gd name="T68" fmla="*/ 200 w 200"/>
              <a:gd name="T69" fmla="*/ 127 h 199"/>
              <a:gd name="T70" fmla="*/ 200 w 200"/>
              <a:gd name="T71" fmla="*/ 24 h 199"/>
              <a:gd name="T72" fmla="*/ 8 w 200"/>
              <a:gd name="T73" fmla="*/ 24 h 199"/>
              <a:gd name="T74" fmla="*/ 24 w 200"/>
              <a:gd name="T75" fmla="*/ 8 h 199"/>
              <a:gd name="T76" fmla="*/ 176 w 200"/>
              <a:gd name="T77" fmla="*/ 8 h 199"/>
              <a:gd name="T78" fmla="*/ 192 w 200"/>
              <a:gd name="T79" fmla="*/ 24 h 199"/>
              <a:gd name="T80" fmla="*/ 192 w 200"/>
              <a:gd name="T81" fmla="*/ 125 h 199"/>
              <a:gd name="T82" fmla="*/ 8 w 200"/>
              <a:gd name="T83" fmla="*/ 125 h 199"/>
              <a:gd name="T84" fmla="*/ 8 w 200"/>
              <a:gd name="T85" fmla="*/ 24 h 199"/>
              <a:gd name="T86" fmla="*/ 169 w 200"/>
              <a:gd name="T87" fmla="*/ 34 h 199"/>
              <a:gd name="T88" fmla="*/ 176 w 200"/>
              <a:gd name="T89" fmla="*/ 43 h 199"/>
              <a:gd name="T90" fmla="*/ 99 w 200"/>
              <a:gd name="T91" fmla="*/ 104 h 199"/>
              <a:gd name="T92" fmla="*/ 70 w 200"/>
              <a:gd name="T93" fmla="*/ 75 h 199"/>
              <a:gd name="T94" fmla="*/ 31 w 200"/>
              <a:gd name="T95" fmla="*/ 104 h 199"/>
              <a:gd name="T96" fmla="*/ 24 w 200"/>
              <a:gd name="T97" fmla="*/ 94 h 199"/>
              <a:gd name="T98" fmla="*/ 71 w 200"/>
              <a:gd name="T99" fmla="*/ 59 h 199"/>
              <a:gd name="T100" fmla="*/ 100 w 200"/>
              <a:gd name="T101" fmla="*/ 88 h 199"/>
              <a:gd name="T102" fmla="*/ 169 w 200"/>
              <a:gd name="T103" fmla="*/ 34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0" h="199">
                <a:moveTo>
                  <a:pt x="200" y="24"/>
                </a:moveTo>
                <a:cubicBezTo>
                  <a:pt x="200" y="11"/>
                  <a:pt x="189" y="0"/>
                  <a:pt x="176" y="0"/>
                </a:cubicBezTo>
                <a:cubicBezTo>
                  <a:pt x="24" y="0"/>
                  <a:pt x="24" y="0"/>
                  <a:pt x="24" y="0"/>
                </a:cubicBezTo>
                <a:cubicBezTo>
                  <a:pt x="11" y="0"/>
                  <a:pt x="0" y="11"/>
                  <a:pt x="0" y="24"/>
                </a:cubicBezTo>
                <a:cubicBezTo>
                  <a:pt x="0" y="127"/>
                  <a:pt x="0" y="127"/>
                  <a:pt x="0" y="127"/>
                </a:cubicBezTo>
                <a:cubicBezTo>
                  <a:pt x="0" y="128"/>
                  <a:pt x="1" y="130"/>
                  <a:pt x="1" y="132"/>
                </a:cubicBezTo>
                <a:cubicBezTo>
                  <a:pt x="1" y="132"/>
                  <a:pt x="1" y="132"/>
                  <a:pt x="1" y="132"/>
                </a:cubicBezTo>
                <a:cubicBezTo>
                  <a:pt x="1" y="132"/>
                  <a:pt x="1" y="132"/>
                  <a:pt x="1" y="132"/>
                </a:cubicBezTo>
                <a:cubicBezTo>
                  <a:pt x="1" y="132"/>
                  <a:pt x="1" y="133"/>
                  <a:pt x="1" y="133"/>
                </a:cubicBezTo>
                <a:cubicBezTo>
                  <a:pt x="1" y="133"/>
                  <a:pt x="1" y="133"/>
                  <a:pt x="1" y="133"/>
                </a:cubicBezTo>
                <a:cubicBezTo>
                  <a:pt x="4" y="143"/>
                  <a:pt x="13" y="151"/>
                  <a:pt x="24" y="151"/>
                </a:cubicBezTo>
                <a:cubicBezTo>
                  <a:pt x="73" y="151"/>
                  <a:pt x="73" y="151"/>
                  <a:pt x="73" y="151"/>
                </a:cubicBezTo>
                <a:cubicBezTo>
                  <a:pt x="35" y="188"/>
                  <a:pt x="35" y="188"/>
                  <a:pt x="35" y="188"/>
                </a:cubicBezTo>
                <a:cubicBezTo>
                  <a:pt x="33" y="190"/>
                  <a:pt x="33" y="194"/>
                  <a:pt x="35" y="196"/>
                </a:cubicBezTo>
                <a:cubicBezTo>
                  <a:pt x="38" y="199"/>
                  <a:pt x="41" y="199"/>
                  <a:pt x="44" y="196"/>
                </a:cubicBezTo>
                <a:cubicBezTo>
                  <a:pt x="88" y="152"/>
                  <a:pt x="88" y="152"/>
                  <a:pt x="88" y="152"/>
                </a:cubicBezTo>
                <a:cubicBezTo>
                  <a:pt x="88" y="152"/>
                  <a:pt x="89" y="151"/>
                  <a:pt x="89" y="151"/>
                </a:cubicBezTo>
                <a:cubicBezTo>
                  <a:pt x="94" y="151"/>
                  <a:pt x="94" y="151"/>
                  <a:pt x="94" y="151"/>
                </a:cubicBezTo>
                <a:cubicBezTo>
                  <a:pt x="94" y="192"/>
                  <a:pt x="94" y="192"/>
                  <a:pt x="94" y="192"/>
                </a:cubicBezTo>
                <a:cubicBezTo>
                  <a:pt x="94" y="196"/>
                  <a:pt x="97" y="198"/>
                  <a:pt x="100" y="198"/>
                </a:cubicBezTo>
                <a:cubicBezTo>
                  <a:pt x="103" y="198"/>
                  <a:pt x="106" y="196"/>
                  <a:pt x="106" y="192"/>
                </a:cubicBezTo>
                <a:cubicBezTo>
                  <a:pt x="106" y="151"/>
                  <a:pt x="106" y="151"/>
                  <a:pt x="106" y="151"/>
                </a:cubicBezTo>
                <a:cubicBezTo>
                  <a:pt x="111" y="151"/>
                  <a:pt x="111" y="151"/>
                  <a:pt x="111" y="151"/>
                </a:cubicBezTo>
                <a:cubicBezTo>
                  <a:pt x="112" y="151"/>
                  <a:pt x="112" y="152"/>
                  <a:pt x="112" y="152"/>
                </a:cubicBezTo>
                <a:cubicBezTo>
                  <a:pt x="157" y="196"/>
                  <a:pt x="157" y="196"/>
                  <a:pt x="157" y="196"/>
                </a:cubicBezTo>
                <a:cubicBezTo>
                  <a:pt x="159" y="199"/>
                  <a:pt x="163" y="199"/>
                  <a:pt x="165" y="196"/>
                </a:cubicBezTo>
                <a:cubicBezTo>
                  <a:pt x="167" y="194"/>
                  <a:pt x="167" y="190"/>
                  <a:pt x="165" y="188"/>
                </a:cubicBezTo>
                <a:cubicBezTo>
                  <a:pt x="128" y="151"/>
                  <a:pt x="128" y="151"/>
                  <a:pt x="128" y="151"/>
                </a:cubicBezTo>
                <a:cubicBezTo>
                  <a:pt x="176" y="151"/>
                  <a:pt x="176" y="151"/>
                  <a:pt x="176" y="151"/>
                </a:cubicBezTo>
                <a:cubicBezTo>
                  <a:pt x="187" y="151"/>
                  <a:pt x="196" y="143"/>
                  <a:pt x="199" y="133"/>
                </a:cubicBezTo>
                <a:cubicBezTo>
                  <a:pt x="199" y="133"/>
                  <a:pt x="199" y="133"/>
                  <a:pt x="199" y="133"/>
                </a:cubicBezTo>
                <a:cubicBezTo>
                  <a:pt x="199" y="133"/>
                  <a:pt x="199" y="132"/>
                  <a:pt x="199" y="132"/>
                </a:cubicBezTo>
                <a:cubicBezTo>
                  <a:pt x="199" y="132"/>
                  <a:pt x="199" y="132"/>
                  <a:pt x="199" y="132"/>
                </a:cubicBezTo>
                <a:cubicBezTo>
                  <a:pt x="199" y="132"/>
                  <a:pt x="199" y="132"/>
                  <a:pt x="199" y="132"/>
                </a:cubicBezTo>
                <a:cubicBezTo>
                  <a:pt x="200" y="130"/>
                  <a:pt x="200" y="128"/>
                  <a:pt x="200" y="127"/>
                </a:cubicBezTo>
                <a:lnTo>
                  <a:pt x="200" y="24"/>
                </a:lnTo>
                <a:close/>
                <a:moveTo>
                  <a:pt x="8" y="24"/>
                </a:moveTo>
                <a:cubicBezTo>
                  <a:pt x="8" y="16"/>
                  <a:pt x="15" y="8"/>
                  <a:pt x="24" y="8"/>
                </a:cubicBezTo>
                <a:cubicBezTo>
                  <a:pt x="176" y="8"/>
                  <a:pt x="176" y="8"/>
                  <a:pt x="176" y="8"/>
                </a:cubicBezTo>
                <a:cubicBezTo>
                  <a:pt x="185" y="8"/>
                  <a:pt x="192" y="16"/>
                  <a:pt x="192" y="24"/>
                </a:cubicBezTo>
                <a:cubicBezTo>
                  <a:pt x="192" y="125"/>
                  <a:pt x="192" y="125"/>
                  <a:pt x="192" y="125"/>
                </a:cubicBezTo>
                <a:cubicBezTo>
                  <a:pt x="8" y="125"/>
                  <a:pt x="8" y="125"/>
                  <a:pt x="8" y="125"/>
                </a:cubicBezTo>
                <a:lnTo>
                  <a:pt x="8" y="24"/>
                </a:lnTo>
                <a:close/>
                <a:moveTo>
                  <a:pt x="169" y="34"/>
                </a:moveTo>
                <a:cubicBezTo>
                  <a:pt x="176" y="43"/>
                  <a:pt x="176" y="43"/>
                  <a:pt x="176" y="43"/>
                </a:cubicBezTo>
                <a:cubicBezTo>
                  <a:pt x="99" y="104"/>
                  <a:pt x="99" y="104"/>
                  <a:pt x="99" y="104"/>
                </a:cubicBezTo>
                <a:cubicBezTo>
                  <a:pt x="70" y="75"/>
                  <a:pt x="70" y="75"/>
                  <a:pt x="70" y="75"/>
                </a:cubicBezTo>
                <a:cubicBezTo>
                  <a:pt x="31" y="104"/>
                  <a:pt x="31" y="104"/>
                  <a:pt x="31" y="104"/>
                </a:cubicBezTo>
                <a:cubicBezTo>
                  <a:pt x="24" y="94"/>
                  <a:pt x="24" y="94"/>
                  <a:pt x="24" y="94"/>
                </a:cubicBezTo>
                <a:cubicBezTo>
                  <a:pt x="71" y="59"/>
                  <a:pt x="71" y="59"/>
                  <a:pt x="71" y="59"/>
                </a:cubicBezTo>
                <a:cubicBezTo>
                  <a:pt x="100" y="88"/>
                  <a:pt x="100" y="88"/>
                  <a:pt x="100" y="88"/>
                </a:cubicBezTo>
                <a:lnTo>
                  <a:pt x="169" y="34"/>
                </a:lnTo>
                <a:close/>
              </a:path>
            </a:pathLst>
          </a:custGeom>
          <a:solidFill>
            <a:schemeClr val="tx1">
              <a:lumMod val="95000"/>
              <a:lumOff val="5000"/>
            </a:schemeClr>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prstClr val="black"/>
              </a:solidFill>
              <a:ea typeface="微软雅黑" panose="020B0503020204020204" charset="-122"/>
            </a:endParaRPr>
          </a:p>
        </p:txBody>
      </p:sp>
      <p:sp>
        <p:nvSpPr>
          <p:cNvPr id="11" name="矩形 10"/>
          <p:cNvSpPr/>
          <p:nvPr/>
        </p:nvSpPr>
        <p:spPr>
          <a:xfrm>
            <a:off x="3413125" y="2479040"/>
            <a:ext cx="8013065" cy="1938020"/>
          </a:xfrm>
          <a:prstGeom prst="rect">
            <a:avLst/>
          </a:prstGeom>
        </p:spPr>
        <p:txBody>
          <a:bodyPr wrap="square">
            <a:spAutoFit/>
          </a:bodyPr>
          <a:lstStyle/>
          <a:p>
            <a:pPr>
              <a:spcBef>
                <a:spcPct val="0"/>
              </a:spcBef>
            </a:pPr>
            <a:r>
              <a:rPr lang="en-US" altLang="zh-CN" sz="1200" b="1" dirty="0">
                <a:solidFill>
                  <a:srgbClr val="000000"/>
                </a:solidFill>
                <a:latin typeface="微软雅黑" panose="020B0503020204020204" charset="-122"/>
                <a:ea typeface="微软雅黑" panose="020B0503020204020204" charset="-122"/>
                <a:sym typeface="方正姚体" panose="02010601030101010101" pitchFamily="2" charset="-122"/>
              </a:rPr>
              <a:t>2.搞清楚三类关键词的用处</a:t>
            </a:r>
            <a:r>
              <a:rPr lang="zh-CN" altLang="en-US" sz="1200" b="1" dirty="0">
                <a:solidFill>
                  <a:srgbClr val="000000"/>
                </a:solidFill>
                <a:latin typeface="微软雅黑" panose="020B0503020204020204" charset="-122"/>
                <a:ea typeface="微软雅黑" panose="020B0503020204020204" charset="-122"/>
                <a:sym typeface="方正姚体" panose="02010601030101010101" pitchFamily="2" charset="-122"/>
              </a:rPr>
              <a:t>：</a:t>
            </a:r>
            <a:endParaRPr lang="zh-CN" altLang="en-US" sz="1200" b="1"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rPr>
              <a:t>选择关键词的时候首先要先分清楚3个概念就是broad、phrase、exact。 broad是广泛性的，只要有相关的搜索都会被显示。</a:t>
            </a:r>
            <a:endPar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endPar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rPr>
              <a:t>Exact是精确型的，有买家搜到的词与之完全匹配才会显示出来。而phrase的相关性则是处在exact与broad之间。当买家搜索的词包括了你的关键词则会被显示出来，Bella以前就是大量使用了broad广泛词来做广告，因为对产品的也不熟， 不知道用什么关键词好。</a:t>
            </a:r>
            <a:endPar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endPar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rPr>
              <a:t>其实这样也是可以的，但是一般过一两天后就要开始分析你的关键词报告， 从中挑出“热搜词”与“转化率”高的词，做精确词的广告</a:t>
            </a:r>
            <a:endPar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endParaRPr>
          </a:p>
        </p:txBody>
      </p:sp>
      <p:sp>
        <p:nvSpPr>
          <p:cNvPr id="12" name="矩形 11"/>
          <p:cNvSpPr/>
          <p:nvPr/>
        </p:nvSpPr>
        <p:spPr>
          <a:xfrm>
            <a:off x="3413125" y="4819650"/>
            <a:ext cx="8013065" cy="1753235"/>
          </a:xfrm>
          <a:prstGeom prst="rect">
            <a:avLst/>
          </a:prstGeom>
        </p:spPr>
        <p:txBody>
          <a:bodyPr wrap="square">
            <a:spAutoFit/>
          </a:bodyPr>
          <a:lstStyle/>
          <a:p>
            <a:pPr>
              <a:spcBef>
                <a:spcPct val="0"/>
              </a:spcBef>
            </a:pPr>
            <a:r>
              <a:rPr lang="en-US" altLang="zh-CN" sz="1200" b="1" dirty="0">
                <a:solidFill>
                  <a:srgbClr val="000000"/>
                </a:solidFill>
                <a:latin typeface="微软雅黑" panose="020B0503020204020204" charset="-122"/>
                <a:ea typeface="微软雅黑" panose="020B0503020204020204" charset="-122"/>
                <a:sym typeface="方正姚体" panose="02010601030101010101" pitchFamily="2" charset="-122"/>
              </a:rPr>
              <a:t>3、ACOS有两个需思考的要素：</a:t>
            </a:r>
            <a:endParaRPr lang="en-US" altLang="zh-CN" sz="1200" b="1"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rPr>
              <a:t>第一，产品的页内优化， 如果没几个 top reviewer， 没几张优质图片或者视频，review 连10都没有，总体四星往下，那么on page 的体验可能较差， 那你就要慎重了，要么立刻改进，要么不要轻易做广告。</a:t>
            </a:r>
            <a:endPar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endPar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rPr>
              <a:t>第二：去 business report 看看你的ASIN 转化， 如果转化偏低的， 比如 低于 1%这种，这更加说明这个listing市场竞争力不大，需要优化了，</a:t>
            </a:r>
            <a:endPar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endPar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rPr>
              <a:t>至于怎么优化listing,就是从图片，标题，卖点，Review等方面, 全面优化详情页面的信息。</a:t>
            </a:r>
            <a:endPar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rPr>
              <a:t>无意中发现关键词可以搜索到自己的自然排名，添加进去广告关键词观察</a:t>
            </a:r>
            <a:endPar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endParaRPr>
          </a:p>
        </p:txBody>
      </p:sp>
      <p:sp>
        <p:nvSpPr>
          <p:cNvPr id="9" name="矩形 8"/>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Rectangle 39"/>
          <p:cNvSpPr>
            <a:spLocks noChangeArrowheads="1"/>
          </p:cNvSpPr>
          <p:nvPr/>
        </p:nvSpPr>
        <p:spPr bwMode="auto">
          <a:xfrm>
            <a:off x="1064895" y="369570"/>
            <a:ext cx="21717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en-US" altLang="zh-CN" sz="2400" b="1">
                <a:sym typeface="+mn-ea"/>
              </a:rPr>
              <a:t>CPC</a:t>
            </a:r>
            <a:r>
              <a:rPr lang="zh-CN" altLang="en-US" sz="2400" b="1">
                <a:sym typeface="+mn-ea"/>
              </a:rPr>
              <a:t>阶段性分析</a:t>
            </a:r>
            <a:endParaRPr lang="en-US" altLang="zh-CN" sz="2400" b="1" dirty="0">
              <a:solidFill>
                <a:prstClr val="black"/>
              </a:solidFill>
              <a:latin typeface="微软雅黑" panose="020B0503020204020204" charset="-122"/>
              <a:ea typeface="微软雅黑" panose="020B0503020204020204" charset="-122"/>
            </a:endParaRPr>
          </a:p>
        </p:txBody>
      </p:sp>
      <p:sp>
        <p:nvSpPr>
          <p:cNvPr id="2" name="矩形 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10" name="矩形 9"/>
          <p:cNvSpPr/>
          <p:nvPr/>
        </p:nvSpPr>
        <p:spPr>
          <a:xfrm>
            <a:off x="3413760" y="1340485"/>
            <a:ext cx="8012430" cy="829945"/>
          </a:xfrm>
          <a:prstGeom prst="rect">
            <a:avLst/>
          </a:prstGeom>
        </p:spPr>
        <p:txBody>
          <a:bodyPr wrap="square">
            <a:spAutoFit/>
          </a:bodyPr>
          <a:lstStyle/>
          <a:p>
            <a:pPr>
              <a:spcBef>
                <a:spcPct val="0"/>
              </a:spcBef>
            </a:pPr>
            <a:r>
              <a:rPr lang="en-US" altLang="zh-CN" sz="1200" b="1" dirty="0">
                <a:solidFill>
                  <a:srgbClr val="000000"/>
                </a:solidFill>
                <a:latin typeface="微软雅黑" panose="020B0503020204020204" charset="-122"/>
                <a:ea typeface="微软雅黑" panose="020B0503020204020204" charset="-122"/>
                <a:sym typeface="方正姚体" panose="02010601030101010101" pitchFamily="2" charset="-122"/>
              </a:rPr>
              <a:t>1、</a:t>
            </a:r>
            <a:r>
              <a:rPr lang="zh-CN" altLang="en-US" sz="1200" b="1" dirty="0">
                <a:solidFill>
                  <a:srgbClr val="000000"/>
                </a:solidFill>
                <a:latin typeface="微软雅黑" panose="020B0503020204020204" charset="-122"/>
                <a:ea typeface="微软雅黑" panose="020B0503020204020204" charset="-122"/>
                <a:sym typeface="方正姚体" panose="02010601030101010101" pitchFamily="2" charset="-122"/>
              </a:rPr>
              <a:t>买家愿意买家的点在哪里凸显：</a:t>
            </a:r>
            <a:endParaRPr lang="zh-CN" altLang="en-US" sz="1200" b="1" dirty="0">
              <a:solidFill>
                <a:srgbClr val="000000"/>
              </a:solidFill>
              <a:latin typeface="微软雅黑" panose="020B0503020204020204" charset="-122"/>
              <a:ea typeface="微软雅黑" panose="020B0503020204020204" charset="-122"/>
              <a:sym typeface="方正姚体" panose="02010601030101010101" pitchFamily="2" charset="-122"/>
            </a:endParaRPr>
          </a:p>
          <a:p>
            <a:pPr>
              <a:spcBef>
                <a:spcPct val="0"/>
              </a:spcBef>
            </a:pPr>
            <a:r>
              <a:rPr lang="en-US" altLang="zh-CN" sz="1200" dirty="0">
                <a:solidFill>
                  <a:srgbClr val="000000"/>
                </a:solidFill>
                <a:latin typeface="微软雅黑" panose="020B0503020204020204" charset="-122"/>
                <a:ea typeface="微软雅黑" panose="020B0503020204020204" charset="-122"/>
                <a:sym typeface="方正姚体" panose="02010601030101010101" pitchFamily="2" charset="-122"/>
              </a:rPr>
              <a:t>假设一个新品，亚马逊上没有同款，做了广告一段时间， 点击率有， 但是转化率太低了。你就要考虑这个产品是否有大市场，及时暂停这个广告自己再分析一下，重新打这条广告，亚马逊的广告就是前期一个月没有调整上来，它会越沉越低，如果不是新品，那就要考虑你的listing是否有什么问题，图片、标题、内容一再而再地优化修改。</a:t>
            </a:r>
            <a:endParaRPr lang="en-US" altLang="zh-CN" sz="1000" dirty="0">
              <a:solidFill>
                <a:srgbClr val="000000"/>
              </a:solidFill>
              <a:latin typeface="微软雅黑" panose="020B0503020204020204" charset="-122"/>
              <a:ea typeface="微软雅黑" panose="020B0503020204020204" charset="-122"/>
              <a:sym typeface="方正姚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5" name="矩形 4"/>
          <p:cNvSpPr/>
          <p:nvPr/>
        </p:nvSpPr>
        <p:spPr>
          <a:xfrm flipV="1">
            <a:off x="128" y="6762496"/>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16" name="Freeform 11"/>
          <p:cNvSpPr/>
          <p:nvPr/>
        </p:nvSpPr>
        <p:spPr bwMode="auto">
          <a:xfrm>
            <a:off x="923568" y="1345096"/>
            <a:ext cx="494414" cy="494414"/>
          </a:xfrm>
          <a:custGeom>
            <a:avLst/>
            <a:gdLst>
              <a:gd name="T0" fmla="*/ 103 w 204"/>
              <a:gd name="T1" fmla="*/ 0 h 204"/>
              <a:gd name="T2" fmla="*/ 130 w 204"/>
              <a:gd name="T3" fmla="*/ 3 h 204"/>
              <a:gd name="T4" fmla="*/ 153 w 204"/>
              <a:gd name="T5" fmla="*/ 13 h 204"/>
              <a:gd name="T6" fmla="*/ 174 w 204"/>
              <a:gd name="T7" fmla="*/ 30 h 204"/>
              <a:gd name="T8" fmla="*/ 191 w 204"/>
              <a:gd name="T9" fmla="*/ 51 h 204"/>
              <a:gd name="T10" fmla="*/ 201 w 204"/>
              <a:gd name="T11" fmla="*/ 74 h 204"/>
              <a:gd name="T12" fmla="*/ 204 w 204"/>
              <a:gd name="T13" fmla="*/ 101 h 204"/>
              <a:gd name="T14" fmla="*/ 201 w 204"/>
              <a:gd name="T15" fmla="*/ 128 h 204"/>
              <a:gd name="T16" fmla="*/ 191 w 204"/>
              <a:gd name="T17" fmla="*/ 153 h 204"/>
              <a:gd name="T18" fmla="*/ 174 w 204"/>
              <a:gd name="T19" fmla="*/ 174 h 204"/>
              <a:gd name="T20" fmla="*/ 153 w 204"/>
              <a:gd name="T21" fmla="*/ 189 h 204"/>
              <a:gd name="T22" fmla="*/ 130 w 204"/>
              <a:gd name="T23" fmla="*/ 199 h 204"/>
              <a:gd name="T24" fmla="*/ 103 w 204"/>
              <a:gd name="T25" fmla="*/ 204 h 204"/>
              <a:gd name="T26" fmla="*/ 76 w 204"/>
              <a:gd name="T27" fmla="*/ 199 h 204"/>
              <a:gd name="T28" fmla="*/ 51 w 204"/>
              <a:gd name="T29" fmla="*/ 189 h 204"/>
              <a:gd name="T30" fmla="*/ 30 w 204"/>
              <a:gd name="T31" fmla="*/ 174 h 204"/>
              <a:gd name="T32" fmla="*/ 15 w 204"/>
              <a:gd name="T33" fmla="*/ 153 h 204"/>
              <a:gd name="T34" fmla="*/ 5 w 204"/>
              <a:gd name="T35" fmla="*/ 128 h 204"/>
              <a:gd name="T36" fmla="*/ 0 w 204"/>
              <a:gd name="T37" fmla="*/ 101 h 204"/>
              <a:gd name="T38" fmla="*/ 5 w 204"/>
              <a:gd name="T39" fmla="*/ 74 h 204"/>
              <a:gd name="T40" fmla="*/ 15 w 204"/>
              <a:gd name="T41" fmla="*/ 51 h 204"/>
              <a:gd name="T42" fmla="*/ 30 w 204"/>
              <a:gd name="T43" fmla="*/ 30 h 204"/>
              <a:gd name="T44" fmla="*/ 51 w 204"/>
              <a:gd name="T45" fmla="*/ 13 h 204"/>
              <a:gd name="T46" fmla="*/ 76 w 204"/>
              <a:gd name="T47" fmla="*/ 3 h 204"/>
              <a:gd name="T48" fmla="*/ 103 w 204"/>
              <a:gd name="T49"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4" h="204">
                <a:moveTo>
                  <a:pt x="103" y="0"/>
                </a:moveTo>
                <a:lnTo>
                  <a:pt x="130" y="3"/>
                </a:lnTo>
                <a:lnTo>
                  <a:pt x="153" y="13"/>
                </a:lnTo>
                <a:lnTo>
                  <a:pt x="174" y="30"/>
                </a:lnTo>
                <a:lnTo>
                  <a:pt x="191" y="51"/>
                </a:lnTo>
                <a:lnTo>
                  <a:pt x="201" y="74"/>
                </a:lnTo>
                <a:lnTo>
                  <a:pt x="204" y="101"/>
                </a:lnTo>
                <a:lnTo>
                  <a:pt x="201" y="128"/>
                </a:lnTo>
                <a:lnTo>
                  <a:pt x="191" y="153"/>
                </a:lnTo>
                <a:lnTo>
                  <a:pt x="174" y="174"/>
                </a:lnTo>
                <a:lnTo>
                  <a:pt x="153" y="189"/>
                </a:lnTo>
                <a:lnTo>
                  <a:pt x="130" y="199"/>
                </a:lnTo>
                <a:lnTo>
                  <a:pt x="103" y="204"/>
                </a:lnTo>
                <a:lnTo>
                  <a:pt x="76" y="199"/>
                </a:lnTo>
                <a:lnTo>
                  <a:pt x="51" y="189"/>
                </a:lnTo>
                <a:lnTo>
                  <a:pt x="30" y="174"/>
                </a:lnTo>
                <a:lnTo>
                  <a:pt x="15" y="153"/>
                </a:lnTo>
                <a:lnTo>
                  <a:pt x="5" y="128"/>
                </a:lnTo>
                <a:lnTo>
                  <a:pt x="0" y="101"/>
                </a:lnTo>
                <a:lnTo>
                  <a:pt x="5" y="74"/>
                </a:lnTo>
                <a:lnTo>
                  <a:pt x="15" y="51"/>
                </a:lnTo>
                <a:lnTo>
                  <a:pt x="30" y="30"/>
                </a:lnTo>
                <a:lnTo>
                  <a:pt x="51" y="13"/>
                </a:lnTo>
                <a:lnTo>
                  <a:pt x="76" y="3"/>
                </a:lnTo>
                <a:lnTo>
                  <a:pt x="103" y="0"/>
                </a:lnTo>
                <a:close/>
              </a:path>
            </a:pathLst>
          </a:custGeom>
          <a:solidFill>
            <a:schemeClr val="tx1">
              <a:lumMod val="65000"/>
              <a:lumOff val="35000"/>
            </a:schemeClr>
          </a:solidFill>
          <a:ln w="0">
            <a:solidFill>
              <a:schemeClr val="tx1">
                <a:lumMod val="65000"/>
                <a:lumOff val="35000"/>
              </a:schemeClr>
            </a:solidFill>
            <a:prstDash val="solid"/>
            <a:round/>
          </a:ln>
        </p:spPr>
        <p:txBody>
          <a:bodyPr vert="horz" wrap="square" lIns="121920" tIns="60960" rIns="121920" bIns="60960" numCol="1" anchor="t" anchorCtr="0" compatLnSpc="1"/>
          <a:lstStyle/>
          <a:p>
            <a:endParaRPr lang="en-US" sz="2400"/>
          </a:p>
        </p:txBody>
      </p:sp>
      <p:sp>
        <p:nvSpPr>
          <p:cNvPr id="17" name="Freeform 6"/>
          <p:cNvSpPr>
            <a:spLocks noEditPoints="1"/>
          </p:cNvSpPr>
          <p:nvPr/>
        </p:nvSpPr>
        <p:spPr bwMode="auto">
          <a:xfrm>
            <a:off x="981097" y="1464743"/>
            <a:ext cx="337001" cy="224272"/>
          </a:xfrm>
          <a:custGeom>
            <a:avLst/>
            <a:gdLst>
              <a:gd name="T0" fmla="*/ 176 w 176"/>
              <a:gd name="T1" fmla="*/ 99 h 117"/>
              <a:gd name="T2" fmla="*/ 176 w 176"/>
              <a:gd name="T3" fmla="*/ 108 h 117"/>
              <a:gd name="T4" fmla="*/ 161 w 176"/>
              <a:gd name="T5" fmla="*/ 117 h 117"/>
              <a:gd name="T6" fmla="*/ 15 w 176"/>
              <a:gd name="T7" fmla="*/ 117 h 117"/>
              <a:gd name="T8" fmla="*/ 0 w 176"/>
              <a:gd name="T9" fmla="*/ 108 h 117"/>
              <a:gd name="T10" fmla="*/ 0 w 176"/>
              <a:gd name="T11" fmla="*/ 99 h 117"/>
              <a:gd name="T12" fmla="*/ 15 w 176"/>
              <a:gd name="T13" fmla="*/ 99 h 117"/>
              <a:gd name="T14" fmla="*/ 161 w 176"/>
              <a:gd name="T15" fmla="*/ 99 h 117"/>
              <a:gd name="T16" fmla="*/ 176 w 176"/>
              <a:gd name="T17" fmla="*/ 99 h 117"/>
              <a:gd name="T18" fmla="*/ 24 w 176"/>
              <a:gd name="T19" fmla="*/ 79 h 117"/>
              <a:gd name="T20" fmla="*/ 24 w 176"/>
              <a:gd name="T21" fmla="*/ 14 h 117"/>
              <a:gd name="T22" fmla="*/ 38 w 176"/>
              <a:gd name="T23" fmla="*/ 0 h 117"/>
              <a:gd name="T24" fmla="*/ 138 w 176"/>
              <a:gd name="T25" fmla="*/ 0 h 117"/>
              <a:gd name="T26" fmla="*/ 152 w 176"/>
              <a:gd name="T27" fmla="*/ 14 h 117"/>
              <a:gd name="T28" fmla="*/ 152 w 176"/>
              <a:gd name="T29" fmla="*/ 79 h 117"/>
              <a:gd name="T30" fmla="*/ 138 w 176"/>
              <a:gd name="T31" fmla="*/ 93 h 117"/>
              <a:gd name="T32" fmla="*/ 38 w 176"/>
              <a:gd name="T33" fmla="*/ 93 h 117"/>
              <a:gd name="T34" fmla="*/ 24 w 176"/>
              <a:gd name="T35" fmla="*/ 79 h 117"/>
              <a:gd name="T36" fmla="*/ 35 w 176"/>
              <a:gd name="T37" fmla="*/ 79 h 117"/>
              <a:gd name="T38" fmla="*/ 38 w 176"/>
              <a:gd name="T39" fmla="*/ 82 h 117"/>
              <a:gd name="T40" fmla="*/ 138 w 176"/>
              <a:gd name="T41" fmla="*/ 82 h 117"/>
              <a:gd name="T42" fmla="*/ 141 w 176"/>
              <a:gd name="T43" fmla="*/ 79 h 117"/>
              <a:gd name="T44" fmla="*/ 141 w 176"/>
              <a:gd name="T45" fmla="*/ 14 h 117"/>
              <a:gd name="T46" fmla="*/ 138 w 176"/>
              <a:gd name="T47" fmla="*/ 11 h 117"/>
              <a:gd name="T48" fmla="*/ 38 w 176"/>
              <a:gd name="T49" fmla="*/ 11 h 117"/>
              <a:gd name="T50" fmla="*/ 35 w 176"/>
              <a:gd name="T51" fmla="*/ 14 h 117"/>
              <a:gd name="T52" fmla="*/ 35 w 176"/>
              <a:gd name="T53" fmla="*/ 79 h 117"/>
              <a:gd name="T54" fmla="*/ 97 w 176"/>
              <a:gd name="T55" fmla="*/ 107 h 117"/>
              <a:gd name="T56" fmla="*/ 95 w 176"/>
              <a:gd name="T57" fmla="*/ 105 h 117"/>
              <a:gd name="T58" fmla="*/ 81 w 176"/>
              <a:gd name="T59" fmla="*/ 105 h 117"/>
              <a:gd name="T60" fmla="*/ 79 w 176"/>
              <a:gd name="T61" fmla="*/ 107 h 117"/>
              <a:gd name="T62" fmla="*/ 81 w 176"/>
              <a:gd name="T63" fmla="*/ 108 h 117"/>
              <a:gd name="T64" fmla="*/ 95 w 176"/>
              <a:gd name="T65" fmla="*/ 108 h 117"/>
              <a:gd name="T66" fmla="*/ 97 w 176"/>
              <a:gd name="T67" fmla="*/ 10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6" h="117">
                <a:moveTo>
                  <a:pt x="176" y="99"/>
                </a:moveTo>
                <a:cubicBezTo>
                  <a:pt x="176" y="108"/>
                  <a:pt x="176" y="108"/>
                  <a:pt x="176" y="108"/>
                </a:cubicBezTo>
                <a:cubicBezTo>
                  <a:pt x="176" y="113"/>
                  <a:pt x="169" y="117"/>
                  <a:pt x="161" y="117"/>
                </a:cubicBezTo>
                <a:cubicBezTo>
                  <a:pt x="15" y="117"/>
                  <a:pt x="15" y="117"/>
                  <a:pt x="15" y="117"/>
                </a:cubicBezTo>
                <a:cubicBezTo>
                  <a:pt x="7" y="117"/>
                  <a:pt x="0" y="113"/>
                  <a:pt x="0" y="108"/>
                </a:cubicBezTo>
                <a:cubicBezTo>
                  <a:pt x="0" y="99"/>
                  <a:pt x="0" y="99"/>
                  <a:pt x="0" y="99"/>
                </a:cubicBezTo>
                <a:cubicBezTo>
                  <a:pt x="15" y="99"/>
                  <a:pt x="15" y="99"/>
                  <a:pt x="15" y="99"/>
                </a:cubicBezTo>
                <a:cubicBezTo>
                  <a:pt x="161" y="99"/>
                  <a:pt x="161" y="99"/>
                  <a:pt x="161" y="99"/>
                </a:cubicBezTo>
                <a:lnTo>
                  <a:pt x="176" y="99"/>
                </a:lnTo>
                <a:close/>
                <a:moveTo>
                  <a:pt x="24" y="79"/>
                </a:moveTo>
                <a:cubicBezTo>
                  <a:pt x="24" y="14"/>
                  <a:pt x="24" y="14"/>
                  <a:pt x="24" y="14"/>
                </a:cubicBezTo>
                <a:cubicBezTo>
                  <a:pt x="24" y="6"/>
                  <a:pt x="30" y="0"/>
                  <a:pt x="38" y="0"/>
                </a:cubicBezTo>
                <a:cubicBezTo>
                  <a:pt x="138" y="0"/>
                  <a:pt x="138" y="0"/>
                  <a:pt x="138" y="0"/>
                </a:cubicBezTo>
                <a:cubicBezTo>
                  <a:pt x="146" y="0"/>
                  <a:pt x="152" y="6"/>
                  <a:pt x="152" y="14"/>
                </a:cubicBezTo>
                <a:cubicBezTo>
                  <a:pt x="152" y="79"/>
                  <a:pt x="152" y="79"/>
                  <a:pt x="152" y="79"/>
                </a:cubicBezTo>
                <a:cubicBezTo>
                  <a:pt x="152" y="87"/>
                  <a:pt x="146" y="93"/>
                  <a:pt x="138" y="93"/>
                </a:cubicBezTo>
                <a:cubicBezTo>
                  <a:pt x="38" y="93"/>
                  <a:pt x="38" y="93"/>
                  <a:pt x="38" y="93"/>
                </a:cubicBezTo>
                <a:cubicBezTo>
                  <a:pt x="30" y="93"/>
                  <a:pt x="24" y="87"/>
                  <a:pt x="24" y="79"/>
                </a:cubicBezTo>
                <a:close/>
                <a:moveTo>
                  <a:pt x="35" y="79"/>
                </a:moveTo>
                <a:cubicBezTo>
                  <a:pt x="35" y="80"/>
                  <a:pt x="37" y="82"/>
                  <a:pt x="38" y="82"/>
                </a:cubicBezTo>
                <a:cubicBezTo>
                  <a:pt x="138" y="82"/>
                  <a:pt x="138" y="82"/>
                  <a:pt x="138" y="82"/>
                </a:cubicBezTo>
                <a:cubicBezTo>
                  <a:pt x="139" y="82"/>
                  <a:pt x="141" y="80"/>
                  <a:pt x="141" y="79"/>
                </a:cubicBezTo>
                <a:cubicBezTo>
                  <a:pt x="141" y="14"/>
                  <a:pt x="141" y="14"/>
                  <a:pt x="141" y="14"/>
                </a:cubicBezTo>
                <a:cubicBezTo>
                  <a:pt x="141" y="13"/>
                  <a:pt x="139" y="11"/>
                  <a:pt x="138" y="11"/>
                </a:cubicBezTo>
                <a:cubicBezTo>
                  <a:pt x="38" y="11"/>
                  <a:pt x="38" y="11"/>
                  <a:pt x="38" y="11"/>
                </a:cubicBezTo>
                <a:cubicBezTo>
                  <a:pt x="37" y="11"/>
                  <a:pt x="35" y="13"/>
                  <a:pt x="35" y="14"/>
                </a:cubicBezTo>
                <a:lnTo>
                  <a:pt x="35" y="79"/>
                </a:lnTo>
                <a:close/>
                <a:moveTo>
                  <a:pt x="97" y="107"/>
                </a:moveTo>
                <a:cubicBezTo>
                  <a:pt x="97" y="106"/>
                  <a:pt x="96" y="105"/>
                  <a:pt x="95" y="105"/>
                </a:cubicBezTo>
                <a:cubicBezTo>
                  <a:pt x="81" y="105"/>
                  <a:pt x="81" y="105"/>
                  <a:pt x="81" y="105"/>
                </a:cubicBezTo>
                <a:cubicBezTo>
                  <a:pt x="80" y="105"/>
                  <a:pt x="79" y="106"/>
                  <a:pt x="79" y="107"/>
                </a:cubicBezTo>
                <a:cubicBezTo>
                  <a:pt x="79" y="107"/>
                  <a:pt x="80" y="108"/>
                  <a:pt x="81" y="108"/>
                </a:cubicBezTo>
                <a:cubicBezTo>
                  <a:pt x="95" y="108"/>
                  <a:pt x="95" y="108"/>
                  <a:pt x="95" y="108"/>
                </a:cubicBezTo>
                <a:cubicBezTo>
                  <a:pt x="96" y="108"/>
                  <a:pt x="97" y="107"/>
                  <a:pt x="97" y="107"/>
                </a:cubicBezTo>
                <a:close/>
              </a:path>
            </a:pathLst>
          </a:custGeom>
          <a:solidFill>
            <a:schemeClr val="bg1"/>
          </a:solidFill>
          <a:ln>
            <a:noFill/>
          </a:ln>
        </p:spPr>
        <p:txBody>
          <a:bodyPr vert="horz" wrap="square" lIns="121920" tIns="60960" rIns="121920" bIns="60960" numCol="1" anchor="t" anchorCtr="0" compatLnSpc="1"/>
          <a:lstStyle/>
          <a:p>
            <a:endParaRPr lang="en-US" sz="2400"/>
          </a:p>
        </p:txBody>
      </p:sp>
      <p:sp>
        <p:nvSpPr>
          <p:cNvPr id="20" name="Freeform 8"/>
          <p:cNvSpPr/>
          <p:nvPr/>
        </p:nvSpPr>
        <p:spPr bwMode="auto">
          <a:xfrm>
            <a:off x="904123" y="3183529"/>
            <a:ext cx="491990" cy="491990"/>
          </a:xfrm>
          <a:custGeom>
            <a:avLst/>
            <a:gdLst>
              <a:gd name="T0" fmla="*/ 101 w 203"/>
              <a:gd name="T1" fmla="*/ 0 h 203"/>
              <a:gd name="T2" fmla="*/ 129 w 203"/>
              <a:gd name="T3" fmla="*/ 2 h 203"/>
              <a:gd name="T4" fmla="*/ 153 w 203"/>
              <a:gd name="T5" fmla="*/ 13 h 203"/>
              <a:gd name="T6" fmla="*/ 173 w 203"/>
              <a:gd name="T7" fmla="*/ 29 h 203"/>
              <a:gd name="T8" fmla="*/ 190 w 203"/>
              <a:gd name="T9" fmla="*/ 50 h 203"/>
              <a:gd name="T10" fmla="*/ 200 w 203"/>
              <a:gd name="T11" fmla="*/ 74 h 203"/>
              <a:gd name="T12" fmla="*/ 203 w 203"/>
              <a:gd name="T13" fmla="*/ 101 h 203"/>
              <a:gd name="T14" fmla="*/ 200 w 203"/>
              <a:gd name="T15" fmla="*/ 129 h 203"/>
              <a:gd name="T16" fmla="*/ 190 w 203"/>
              <a:gd name="T17" fmla="*/ 153 h 203"/>
              <a:gd name="T18" fmla="*/ 173 w 203"/>
              <a:gd name="T19" fmla="*/ 174 h 203"/>
              <a:gd name="T20" fmla="*/ 153 w 203"/>
              <a:gd name="T21" fmla="*/ 190 h 203"/>
              <a:gd name="T22" fmla="*/ 129 w 203"/>
              <a:gd name="T23" fmla="*/ 200 h 203"/>
              <a:gd name="T24" fmla="*/ 101 w 203"/>
              <a:gd name="T25" fmla="*/ 203 h 203"/>
              <a:gd name="T26" fmla="*/ 74 w 203"/>
              <a:gd name="T27" fmla="*/ 200 h 203"/>
              <a:gd name="T28" fmla="*/ 50 w 203"/>
              <a:gd name="T29" fmla="*/ 190 h 203"/>
              <a:gd name="T30" fmla="*/ 29 w 203"/>
              <a:gd name="T31" fmla="*/ 174 h 203"/>
              <a:gd name="T32" fmla="*/ 13 w 203"/>
              <a:gd name="T33" fmla="*/ 153 h 203"/>
              <a:gd name="T34" fmla="*/ 3 w 203"/>
              <a:gd name="T35" fmla="*/ 129 h 203"/>
              <a:gd name="T36" fmla="*/ 0 w 203"/>
              <a:gd name="T37" fmla="*/ 101 h 203"/>
              <a:gd name="T38" fmla="*/ 3 w 203"/>
              <a:gd name="T39" fmla="*/ 74 h 203"/>
              <a:gd name="T40" fmla="*/ 13 w 203"/>
              <a:gd name="T41" fmla="*/ 50 h 203"/>
              <a:gd name="T42" fmla="*/ 29 w 203"/>
              <a:gd name="T43" fmla="*/ 29 h 203"/>
              <a:gd name="T44" fmla="*/ 50 w 203"/>
              <a:gd name="T45" fmla="*/ 13 h 203"/>
              <a:gd name="T46" fmla="*/ 74 w 203"/>
              <a:gd name="T47" fmla="*/ 2 h 203"/>
              <a:gd name="T48" fmla="*/ 101 w 203"/>
              <a:gd name="T49"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3" h="203">
                <a:moveTo>
                  <a:pt x="101" y="0"/>
                </a:moveTo>
                <a:lnTo>
                  <a:pt x="129" y="2"/>
                </a:lnTo>
                <a:lnTo>
                  <a:pt x="153" y="13"/>
                </a:lnTo>
                <a:lnTo>
                  <a:pt x="173" y="29"/>
                </a:lnTo>
                <a:lnTo>
                  <a:pt x="190" y="50"/>
                </a:lnTo>
                <a:lnTo>
                  <a:pt x="200" y="74"/>
                </a:lnTo>
                <a:lnTo>
                  <a:pt x="203" y="101"/>
                </a:lnTo>
                <a:lnTo>
                  <a:pt x="200" y="129"/>
                </a:lnTo>
                <a:lnTo>
                  <a:pt x="190" y="153"/>
                </a:lnTo>
                <a:lnTo>
                  <a:pt x="173" y="174"/>
                </a:lnTo>
                <a:lnTo>
                  <a:pt x="153" y="190"/>
                </a:lnTo>
                <a:lnTo>
                  <a:pt x="129" y="200"/>
                </a:lnTo>
                <a:lnTo>
                  <a:pt x="101" y="203"/>
                </a:lnTo>
                <a:lnTo>
                  <a:pt x="74" y="200"/>
                </a:lnTo>
                <a:lnTo>
                  <a:pt x="50" y="190"/>
                </a:lnTo>
                <a:lnTo>
                  <a:pt x="29" y="174"/>
                </a:lnTo>
                <a:lnTo>
                  <a:pt x="13" y="153"/>
                </a:lnTo>
                <a:lnTo>
                  <a:pt x="3" y="129"/>
                </a:lnTo>
                <a:lnTo>
                  <a:pt x="0" y="101"/>
                </a:lnTo>
                <a:lnTo>
                  <a:pt x="3" y="74"/>
                </a:lnTo>
                <a:lnTo>
                  <a:pt x="13" y="50"/>
                </a:lnTo>
                <a:lnTo>
                  <a:pt x="29" y="29"/>
                </a:lnTo>
                <a:lnTo>
                  <a:pt x="50" y="13"/>
                </a:lnTo>
                <a:lnTo>
                  <a:pt x="74" y="2"/>
                </a:lnTo>
                <a:lnTo>
                  <a:pt x="101" y="0"/>
                </a:lnTo>
                <a:close/>
              </a:path>
            </a:pathLst>
          </a:custGeom>
          <a:solidFill>
            <a:schemeClr val="tx1">
              <a:lumMod val="65000"/>
              <a:lumOff val="35000"/>
            </a:schemeClr>
          </a:solidFill>
          <a:ln w="0">
            <a:solidFill>
              <a:schemeClr val="tx1">
                <a:lumMod val="65000"/>
                <a:lumOff val="35000"/>
              </a:schemeClr>
            </a:solidFill>
            <a:prstDash val="solid"/>
            <a:round/>
          </a:ln>
        </p:spPr>
        <p:txBody>
          <a:bodyPr vert="horz" wrap="square" lIns="121920" tIns="60960" rIns="121920" bIns="60960" numCol="1" anchor="t" anchorCtr="0" compatLnSpc="1"/>
          <a:lstStyle/>
          <a:p>
            <a:endParaRPr lang="en-US" sz="2400"/>
          </a:p>
        </p:txBody>
      </p:sp>
      <p:sp>
        <p:nvSpPr>
          <p:cNvPr id="21" name="Freeform 8"/>
          <p:cNvSpPr>
            <a:spLocks noEditPoints="1"/>
          </p:cNvSpPr>
          <p:nvPr/>
        </p:nvSpPr>
        <p:spPr bwMode="auto">
          <a:xfrm>
            <a:off x="1043429" y="3270173"/>
            <a:ext cx="213631" cy="318325"/>
          </a:xfrm>
          <a:custGeom>
            <a:avLst/>
            <a:gdLst>
              <a:gd name="T0" fmla="*/ 85 w 94"/>
              <a:gd name="T1" fmla="*/ 44 h 140"/>
              <a:gd name="T2" fmla="*/ 45 w 94"/>
              <a:gd name="T3" fmla="*/ 90 h 140"/>
              <a:gd name="T4" fmla="*/ 26 w 94"/>
              <a:gd name="T5" fmla="*/ 105 h 140"/>
              <a:gd name="T6" fmla="*/ 26 w 94"/>
              <a:gd name="T7" fmla="*/ 108 h 140"/>
              <a:gd name="T8" fmla="*/ 35 w 94"/>
              <a:gd name="T9" fmla="*/ 123 h 140"/>
              <a:gd name="T10" fmla="*/ 17 w 94"/>
              <a:gd name="T11" fmla="*/ 140 h 140"/>
              <a:gd name="T12" fmla="*/ 0 w 94"/>
              <a:gd name="T13" fmla="*/ 123 h 140"/>
              <a:gd name="T14" fmla="*/ 9 w 94"/>
              <a:gd name="T15" fmla="*/ 108 h 140"/>
              <a:gd name="T16" fmla="*/ 9 w 94"/>
              <a:gd name="T17" fmla="*/ 33 h 140"/>
              <a:gd name="T18" fmla="*/ 0 w 94"/>
              <a:gd name="T19" fmla="*/ 17 h 140"/>
              <a:gd name="T20" fmla="*/ 17 w 94"/>
              <a:gd name="T21" fmla="*/ 0 h 140"/>
              <a:gd name="T22" fmla="*/ 35 w 94"/>
              <a:gd name="T23" fmla="*/ 17 h 140"/>
              <a:gd name="T24" fmla="*/ 26 w 94"/>
              <a:gd name="T25" fmla="*/ 33 h 140"/>
              <a:gd name="T26" fmla="*/ 26 w 94"/>
              <a:gd name="T27" fmla="*/ 78 h 140"/>
              <a:gd name="T28" fmla="*/ 40 w 94"/>
              <a:gd name="T29" fmla="*/ 73 h 140"/>
              <a:gd name="T30" fmla="*/ 67 w 94"/>
              <a:gd name="T31" fmla="*/ 44 h 140"/>
              <a:gd name="T32" fmla="*/ 58 w 94"/>
              <a:gd name="T33" fmla="*/ 29 h 140"/>
              <a:gd name="T34" fmla="*/ 76 w 94"/>
              <a:gd name="T35" fmla="*/ 11 h 140"/>
              <a:gd name="T36" fmla="*/ 94 w 94"/>
              <a:gd name="T37" fmla="*/ 29 h 140"/>
              <a:gd name="T38" fmla="*/ 85 w 94"/>
              <a:gd name="T39" fmla="*/ 44 h 140"/>
              <a:gd name="T40" fmla="*/ 17 w 94"/>
              <a:gd name="T41" fmla="*/ 9 h 140"/>
              <a:gd name="T42" fmla="*/ 9 w 94"/>
              <a:gd name="T43" fmla="*/ 17 h 140"/>
              <a:gd name="T44" fmla="*/ 17 w 94"/>
              <a:gd name="T45" fmla="*/ 26 h 140"/>
              <a:gd name="T46" fmla="*/ 26 w 94"/>
              <a:gd name="T47" fmla="*/ 17 h 140"/>
              <a:gd name="T48" fmla="*/ 17 w 94"/>
              <a:gd name="T49" fmla="*/ 9 h 140"/>
              <a:gd name="T50" fmla="*/ 17 w 94"/>
              <a:gd name="T51" fmla="*/ 114 h 140"/>
              <a:gd name="T52" fmla="*/ 9 w 94"/>
              <a:gd name="T53" fmla="*/ 123 h 140"/>
              <a:gd name="T54" fmla="*/ 17 w 94"/>
              <a:gd name="T55" fmla="*/ 132 h 140"/>
              <a:gd name="T56" fmla="*/ 26 w 94"/>
              <a:gd name="T57" fmla="*/ 123 h 140"/>
              <a:gd name="T58" fmla="*/ 17 w 94"/>
              <a:gd name="T59" fmla="*/ 114 h 140"/>
              <a:gd name="T60" fmla="*/ 76 w 94"/>
              <a:gd name="T61" fmla="*/ 20 h 140"/>
              <a:gd name="T62" fmla="*/ 67 w 94"/>
              <a:gd name="T63" fmla="*/ 29 h 140"/>
              <a:gd name="T64" fmla="*/ 76 w 94"/>
              <a:gd name="T65" fmla="*/ 38 h 140"/>
              <a:gd name="T66" fmla="*/ 85 w 94"/>
              <a:gd name="T67" fmla="*/ 29 h 140"/>
              <a:gd name="T68" fmla="*/ 76 w 94"/>
              <a:gd name="T69" fmla="*/ 2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4" h="140">
                <a:moveTo>
                  <a:pt x="85" y="44"/>
                </a:moveTo>
                <a:cubicBezTo>
                  <a:pt x="84" y="77"/>
                  <a:pt x="61" y="85"/>
                  <a:pt x="45" y="90"/>
                </a:cubicBezTo>
                <a:cubicBezTo>
                  <a:pt x="31" y="94"/>
                  <a:pt x="26" y="96"/>
                  <a:pt x="26" y="105"/>
                </a:cubicBezTo>
                <a:cubicBezTo>
                  <a:pt x="26" y="108"/>
                  <a:pt x="26" y="108"/>
                  <a:pt x="26" y="108"/>
                </a:cubicBezTo>
                <a:cubicBezTo>
                  <a:pt x="31" y="111"/>
                  <a:pt x="35" y="116"/>
                  <a:pt x="35" y="123"/>
                </a:cubicBezTo>
                <a:cubicBezTo>
                  <a:pt x="35" y="132"/>
                  <a:pt x="27" y="140"/>
                  <a:pt x="17" y="140"/>
                </a:cubicBezTo>
                <a:cubicBezTo>
                  <a:pt x="8" y="140"/>
                  <a:pt x="0" y="132"/>
                  <a:pt x="0" y="123"/>
                </a:cubicBezTo>
                <a:cubicBezTo>
                  <a:pt x="0" y="116"/>
                  <a:pt x="3" y="111"/>
                  <a:pt x="9" y="108"/>
                </a:cubicBezTo>
                <a:cubicBezTo>
                  <a:pt x="9" y="33"/>
                  <a:pt x="9" y="33"/>
                  <a:pt x="9" y="33"/>
                </a:cubicBezTo>
                <a:cubicBezTo>
                  <a:pt x="3" y="29"/>
                  <a:pt x="0" y="24"/>
                  <a:pt x="0" y="17"/>
                </a:cubicBezTo>
                <a:cubicBezTo>
                  <a:pt x="0" y="8"/>
                  <a:pt x="8" y="0"/>
                  <a:pt x="17" y="0"/>
                </a:cubicBezTo>
                <a:cubicBezTo>
                  <a:pt x="27" y="0"/>
                  <a:pt x="35" y="8"/>
                  <a:pt x="35" y="17"/>
                </a:cubicBezTo>
                <a:cubicBezTo>
                  <a:pt x="35" y="24"/>
                  <a:pt x="31" y="29"/>
                  <a:pt x="26" y="33"/>
                </a:cubicBezTo>
                <a:cubicBezTo>
                  <a:pt x="26" y="78"/>
                  <a:pt x="26" y="78"/>
                  <a:pt x="26" y="78"/>
                </a:cubicBezTo>
                <a:cubicBezTo>
                  <a:pt x="31" y="76"/>
                  <a:pt x="36" y="74"/>
                  <a:pt x="40" y="73"/>
                </a:cubicBezTo>
                <a:cubicBezTo>
                  <a:pt x="57" y="67"/>
                  <a:pt x="67" y="63"/>
                  <a:pt x="67" y="44"/>
                </a:cubicBezTo>
                <a:cubicBezTo>
                  <a:pt x="62" y="41"/>
                  <a:pt x="58" y="36"/>
                  <a:pt x="58" y="29"/>
                </a:cubicBezTo>
                <a:cubicBezTo>
                  <a:pt x="58" y="19"/>
                  <a:pt x="66" y="11"/>
                  <a:pt x="76" y="11"/>
                </a:cubicBezTo>
                <a:cubicBezTo>
                  <a:pt x="86" y="11"/>
                  <a:pt x="94" y="19"/>
                  <a:pt x="94" y="29"/>
                </a:cubicBezTo>
                <a:cubicBezTo>
                  <a:pt x="94" y="36"/>
                  <a:pt x="90" y="41"/>
                  <a:pt x="85" y="44"/>
                </a:cubicBezTo>
                <a:close/>
                <a:moveTo>
                  <a:pt x="17" y="9"/>
                </a:moveTo>
                <a:cubicBezTo>
                  <a:pt x="13" y="9"/>
                  <a:pt x="9" y="12"/>
                  <a:pt x="9" y="17"/>
                </a:cubicBezTo>
                <a:cubicBezTo>
                  <a:pt x="9" y="22"/>
                  <a:pt x="13" y="26"/>
                  <a:pt x="17" y="26"/>
                </a:cubicBezTo>
                <a:cubicBezTo>
                  <a:pt x="22" y="26"/>
                  <a:pt x="26" y="22"/>
                  <a:pt x="26" y="17"/>
                </a:cubicBezTo>
                <a:cubicBezTo>
                  <a:pt x="26" y="12"/>
                  <a:pt x="22" y="9"/>
                  <a:pt x="17" y="9"/>
                </a:cubicBezTo>
                <a:close/>
                <a:moveTo>
                  <a:pt x="17" y="114"/>
                </a:moveTo>
                <a:cubicBezTo>
                  <a:pt x="13" y="114"/>
                  <a:pt x="9" y="118"/>
                  <a:pt x="9" y="123"/>
                </a:cubicBezTo>
                <a:cubicBezTo>
                  <a:pt x="9" y="128"/>
                  <a:pt x="13" y="132"/>
                  <a:pt x="17" y="132"/>
                </a:cubicBezTo>
                <a:cubicBezTo>
                  <a:pt x="22" y="132"/>
                  <a:pt x="26" y="128"/>
                  <a:pt x="26" y="123"/>
                </a:cubicBezTo>
                <a:cubicBezTo>
                  <a:pt x="26" y="118"/>
                  <a:pt x="22" y="114"/>
                  <a:pt x="17" y="114"/>
                </a:cubicBezTo>
                <a:close/>
                <a:moveTo>
                  <a:pt x="76" y="20"/>
                </a:moveTo>
                <a:cubicBezTo>
                  <a:pt x="71" y="20"/>
                  <a:pt x="67" y="24"/>
                  <a:pt x="67" y="29"/>
                </a:cubicBezTo>
                <a:cubicBezTo>
                  <a:pt x="67" y="34"/>
                  <a:pt x="71" y="38"/>
                  <a:pt x="76" y="38"/>
                </a:cubicBezTo>
                <a:cubicBezTo>
                  <a:pt x="81" y="38"/>
                  <a:pt x="85" y="34"/>
                  <a:pt x="85" y="29"/>
                </a:cubicBezTo>
                <a:cubicBezTo>
                  <a:pt x="85" y="24"/>
                  <a:pt x="81" y="20"/>
                  <a:pt x="76" y="20"/>
                </a:cubicBezTo>
                <a:close/>
              </a:path>
            </a:pathLst>
          </a:custGeom>
          <a:solidFill>
            <a:schemeClr val="bg1"/>
          </a:solidFill>
          <a:ln>
            <a:noFill/>
          </a:ln>
        </p:spPr>
        <p:txBody>
          <a:bodyPr vert="horz" wrap="square" lIns="121920" tIns="60960" rIns="121920" bIns="60960" numCol="1" anchor="t" anchorCtr="0" compatLnSpc="1"/>
          <a:lstStyle/>
          <a:p>
            <a:endParaRPr lang="en-US" sz="2400"/>
          </a:p>
        </p:txBody>
      </p:sp>
      <p:sp>
        <p:nvSpPr>
          <p:cNvPr id="46" name="文本框 45"/>
          <p:cNvSpPr txBox="1"/>
          <p:nvPr/>
        </p:nvSpPr>
        <p:spPr>
          <a:xfrm>
            <a:off x="1684655" y="5088255"/>
            <a:ext cx="10420985" cy="645160"/>
          </a:xfrm>
          <a:prstGeom prst="rect">
            <a:avLst/>
          </a:prstGeom>
          <a:noFill/>
        </p:spPr>
        <p:txBody>
          <a:bodyPr wrap="square" rtlCol="0">
            <a:spAutoFit/>
          </a:bodyPr>
          <a:lstStyle/>
          <a:p>
            <a:r>
              <a:rPr lang="zh-CN" altLang="en-US" sz="1200" dirty="0">
                <a:solidFill>
                  <a:schemeClr val="tx1">
                    <a:lumMod val="75000"/>
                    <a:lumOff val="25000"/>
                  </a:schemeClr>
                </a:solidFill>
                <a:latin typeface="微软雅黑" panose="020B0503020204020204" charset="-122"/>
                <a:ea typeface="微软雅黑" panose="020B0503020204020204" charset="-122"/>
              </a:rPr>
              <a:t>CTR 过低解决的方案：换主图。主图一定要能eye-catching(吸引眼球)。 每张图片一定要有文案，让客户从图片当中就能具体的了解产品，如果图片表达不下，就添加到特性里面。</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r>
              <a:rPr lang="zh-CN" altLang="en-US" sz="1200" dirty="0">
                <a:solidFill>
                  <a:schemeClr val="tx1">
                    <a:lumMod val="75000"/>
                    <a:lumOff val="25000"/>
                  </a:schemeClr>
                </a:solidFill>
                <a:latin typeface="微软雅黑" panose="020B0503020204020204" charset="-122"/>
                <a:ea typeface="微软雅黑" panose="020B0503020204020204" charset="-122"/>
              </a:rPr>
              <a:t>标题一定要精简。</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p:txBody>
      </p:sp>
      <p:sp>
        <p:nvSpPr>
          <p:cNvPr id="48" name="文本框 47"/>
          <p:cNvSpPr txBox="1"/>
          <p:nvPr/>
        </p:nvSpPr>
        <p:spPr>
          <a:xfrm>
            <a:off x="1684655" y="2908300"/>
            <a:ext cx="10421620" cy="1753235"/>
          </a:xfrm>
          <a:prstGeom prst="rect">
            <a:avLst/>
          </a:prstGeom>
          <a:noFill/>
        </p:spPr>
        <p:txBody>
          <a:bodyPr wrap="square" rtlCol="0">
            <a:spAutoFit/>
          </a:bodyPr>
          <a:lstStyle/>
          <a:p>
            <a:r>
              <a:rPr lang="zh-CN" altLang="en-US" sz="1200" dirty="0">
                <a:solidFill>
                  <a:schemeClr val="tx1">
                    <a:lumMod val="75000"/>
                    <a:lumOff val="25000"/>
                  </a:schemeClr>
                </a:solidFill>
                <a:latin typeface="微软雅黑" panose="020B0503020204020204" charset="-122"/>
                <a:ea typeface="微软雅黑" panose="020B0503020204020204" charset="-122"/>
              </a:rPr>
              <a:t>广告费用完了，但是订单很少：遇到这个问题你相对考虑的因素要复杂一点，造成这个问题的原因一般包括：</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r>
              <a:rPr lang="zh-CN" altLang="en-US" sz="1200" dirty="0">
                <a:solidFill>
                  <a:schemeClr val="tx1">
                    <a:lumMod val="75000"/>
                    <a:lumOff val="25000"/>
                  </a:schemeClr>
                </a:solidFill>
                <a:latin typeface="微软雅黑" panose="020B0503020204020204" charset="-122"/>
                <a:ea typeface="微软雅黑" panose="020B0503020204020204" charset="-122"/>
              </a:rPr>
              <a:t>(1)广告投入太低，所以引流有限;</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r>
              <a:rPr lang="zh-CN" altLang="en-US" sz="1200" dirty="0">
                <a:solidFill>
                  <a:schemeClr val="tx1">
                    <a:lumMod val="75000"/>
                    <a:lumOff val="25000"/>
                  </a:schemeClr>
                </a:solidFill>
                <a:latin typeface="微软雅黑" panose="020B0503020204020204" charset="-122"/>
                <a:ea typeface="微软雅黑" panose="020B0503020204020204" charset="-122"/>
              </a:rPr>
              <a:t>(2)产品页面过于简单，图片数量少、不精致，产品没有A+图文描述，产品描述模糊;</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r>
              <a:rPr lang="zh-CN" altLang="en-US" sz="1200" dirty="0">
                <a:solidFill>
                  <a:schemeClr val="tx1">
                    <a:lumMod val="75000"/>
                    <a:lumOff val="25000"/>
                  </a:schemeClr>
                </a:solidFill>
                <a:latin typeface="微软雅黑" panose="020B0503020204020204" charset="-122"/>
                <a:ea typeface="微软雅黑" panose="020B0503020204020204" charset="-122"/>
              </a:rPr>
              <a:t>(3)页面中有差评：这个问题最要命，客户已经到了你的产品页面</a:t>
            </a:r>
            <a:r>
              <a:rPr lang="zh-CN" altLang="en-US" sz="1200" dirty="0">
                <a:solidFill>
                  <a:schemeClr val="tx1">
                    <a:lumMod val="75000"/>
                    <a:lumOff val="25000"/>
                  </a:schemeClr>
                </a:solidFill>
                <a:latin typeface="微软雅黑" panose="020B0503020204020204" charset="-122"/>
                <a:ea typeface="微软雅黑" panose="020B0503020204020204" charset="-122"/>
                <a:sym typeface="+mn-ea"/>
              </a:rPr>
              <a:t>CTR</a:t>
            </a:r>
            <a:r>
              <a:rPr lang="zh-CN" altLang="en-US" sz="1200" dirty="0">
                <a:solidFill>
                  <a:schemeClr val="tx1">
                    <a:lumMod val="75000"/>
                    <a:lumOff val="25000"/>
                  </a:schemeClr>
                </a:solidFill>
                <a:latin typeface="微软雅黑" panose="020B0503020204020204" charset="-122"/>
                <a:ea typeface="微软雅黑" panose="020B0503020204020204" charset="-122"/>
              </a:rPr>
              <a:t>是有了，可是看到差评之后马上决定不够卖了，多遗憾!</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r>
              <a:rPr lang="zh-CN" altLang="en-US" sz="1200" dirty="0">
                <a:solidFill>
                  <a:schemeClr val="tx1">
                    <a:lumMod val="75000"/>
                    <a:lumOff val="25000"/>
                  </a:schemeClr>
                </a:solidFill>
                <a:latin typeface="微软雅黑" panose="020B0503020204020204" charset="-122"/>
                <a:ea typeface="微软雅黑" panose="020B0503020204020204" charset="-122"/>
              </a:rPr>
              <a:t>(4)投放关键词错误，也许客户搜索词(Customer Search Term)和你的产品根本没关系!  </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p:txBody>
      </p:sp>
      <p:sp>
        <p:nvSpPr>
          <p:cNvPr id="2" name="矩形 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28" name="Freeform 12"/>
          <p:cNvSpPr/>
          <p:nvPr/>
        </p:nvSpPr>
        <p:spPr bwMode="auto">
          <a:xfrm>
            <a:off x="923030" y="5162974"/>
            <a:ext cx="494414" cy="494414"/>
          </a:xfrm>
          <a:custGeom>
            <a:avLst/>
            <a:gdLst>
              <a:gd name="T0" fmla="*/ 101 w 204"/>
              <a:gd name="T1" fmla="*/ 0 h 204"/>
              <a:gd name="T2" fmla="*/ 129 w 204"/>
              <a:gd name="T3" fmla="*/ 3 h 204"/>
              <a:gd name="T4" fmla="*/ 153 w 204"/>
              <a:gd name="T5" fmla="*/ 13 h 204"/>
              <a:gd name="T6" fmla="*/ 174 w 204"/>
              <a:gd name="T7" fmla="*/ 30 h 204"/>
              <a:gd name="T8" fmla="*/ 190 w 204"/>
              <a:gd name="T9" fmla="*/ 51 h 204"/>
              <a:gd name="T10" fmla="*/ 201 w 204"/>
              <a:gd name="T11" fmla="*/ 74 h 204"/>
              <a:gd name="T12" fmla="*/ 204 w 204"/>
              <a:gd name="T13" fmla="*/ 101 h 204"/>
              <a:gd name="T14" fmla="*/ 201 w 204"/>
              <a:gd name="T15" fmla="*/ 128 h 204"/>
              <a:gd name="T16" fmla="*/ 190 w 204"/>
              <a:gd name="T17" fmla="*/ 153 h 204"/>
              <a:gd name="T18" fmla="*/ 174 w 204"/>
              <a:gd name="T19" fmla="*/ 174 h 204"/>
              <a:gd name="T20" fmla="*/ 153 w 204"/>
              <a:gd name="T21" fmla="*/ 189 h 204"/>
              <a:gd name="T22" fmla="*/ 129 w 204"/>
              <a:gd name="T23" fmla="*/ 199 h 204"/>
              <a:gd name="T24" fmla="*/ 101 w 204"/>
              <a:gd name="T25" fmla="*/ 204 h 204"/>
              <a:gd name="T26" fmla="*/ 74 w 204"/>
              <a:gd name="T27" fmla="*/ 199 h 204"/>
              <a:gd name="T28" fmla="*/ 51 w 204"/>
              <a:gd name="T29" fmla="*/ 189 h 204"/>
              <a:gd name="T30" fmla="*/ 30 w 204"/>
              <a:gd name="T31" fmla="*/ 174 h 204"/>
              <a:gd name="T32" fmla="*/ 13 w 204"/>
              <a:gd name="T33" fmla="*/ 153 h 204"/>
              <a:gd name="T34" fmla="*/ 3 w 204"/>
              <a:gd name="T35" fmla="*/ 128 h 204"/>
              <a:gd name="T36" fmla="*/ 0 w 204"/>
              <a:gd name="T37" fmla="*/ 101 h 204"/>
              <a:gd name="T38" fmla="*/ 3 w 204"/>
              <a:gd name="T39" fmla="*/ 74 h 204"/>
              <a:gd name="T40" fmla="*/ 13 w 204"/>
              <a:gd name="T41" fmla="*/ 51 h 204"/>
              <a:gd name="T42" fmla="*/ 30 w 204"/>
              <a:gd name="T43" fmla="*/ 30 h 204"/>
              <a:gd name="T44" fmla="*/ 51 w 204"/>
              <a:gd name="T45" fmla="*/ 13 h 204"/>
              <a:gd name="T46" fmla="*/ 74 w 204"/>
              <a:gd name="T47" fmla="*/ 3 h 204"/>
              <a:gd name="T48" fmla="*/ 101 w 204"/>
              <a:gd name="T49"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4" h="204">
                <a:moveTo>
                  <a:pt x="101" y="0"/>
                </a:moveTo>
                <a:lnTo>
                  <a:pt x="129" y="3"/>
                </a:lnTo>
                <a:lnTo>
                  <a:pt x="153" y="13"/>
                </a:lnTo>
                <a:lnTo>
                  <a:pt x="174" y="30"/>
                </a:lnTo>
                <a:lnTo>
                  <a:pt x="190" y="51"/>
                </a:lnTo>
                <a:lnTo>
                  <a:pt x="201" y="74"/>
                </a:lnTo>
                <a:lnTo>
                  <a:pt x="204" y="101"/>
                </a:lnTo>
                <a:lnTo>
                  <a:pt x="201" y="128"/>
                </a:lnTo>
                <a:lnTo>
                  <a:pt x="190" y="153"/>
                </a:lnTo>
                <a:lnTo>
                  <a:pt x="174" y="174"/>
                </a:lnTo>
                <a:lnTo>
                  <a:pt x="153" y="189"/>
                </a:lnTo>
                <a:lnTo>
                  <a:pt x="129" y="199"/>
                </a:lnTo>
                <a:lnTo>
                  <a:pt x="101" y="204"/>
                </a:lnTo>
                <a:lnTo>
                  <a:pt x="74" y="199"/>
                </a:lnTo>
                <a:lnTo>
                  <a:pt x="51" y="189"/>
                </a:lnTo>
                <a:lnTo>
                  <a:pt x="30" y="174"/>
                </a:lnTo>
                <a:lnTo>
                  <a:pt x="13" y="153"/>
                </a:lnTo>
                <a:lnTo>
                  <a:pt x="3" y="128"/>
                </a:lnTo>
                <a:lnTo>
                  <a:pt x="0" y="101"/>
                </a:lnTo>
                <a:lnTo>
                  <a:pt x="3" y="74"/>
                </a:lnTo>
                <a:lnTo>
                  <a:pt x="13" y="51"/>
                </a:lnTo>
                <a:lnTo>
                  <a:pt x="30" y="30"/>
                </a:lnTo>
                <a:lnTo>
                  <a:pt x="51" y="13"/>
                </a:lnTo>
                <a:lnTo>
                  <a:pt x="74" y="3"/>
                </a:lnTo>
                <a:lnTo>
                  <a:pt x="101" y="0"/>
                </a:lnTo>
                <a:close/>
              </a:path>
            </a:pathLst>
          </a:custGeom>
          <a:solidFill>
            <a:schemeClr val="tx1">
              <a:lumMod val="65000"/>
              <a:lumOff val="35000"/>
            </a:schemeClr>
          </a:solidFill>
          <a:ln w="0">
            <a:solidFill>
              <a:schemeClr val="tx1">
                <a:lumMod val="65000"/>
                <a:lumOff val="35000"/>
              </a:schemeClr>
            </a:solidFill>
            <a:prstDash val="solid"/>
            <a:round/>
          </a:ln>
        </p:spPr>
        <p:txBody>
          <a:bodyPr vert="horz" wrap="square" lIns="121920" tIns="60960" rIns="121920" bIns="60960" numCol="1" anchor="t" anchorCtr="0" compatLnSpc="1"/>
          <a:p>
            <a:endParaRPr lang="en-US" sz="2400"/>
          </a:p>
        </p:txBody>
      </p:sp>
      <p:sp>
        <p:nvSpPr>
          <p:cNvPr id="29" name="Freeform 11"/>
          <p:cNvSpPr>
            <a:spLocks noEditPoints="1"/>
          </p:cNvSpPr>
          <p:nvPr/>
        </p:nvSpPr>
        <p:spPr bwMode="auto">
          <a:xfrm>
            <a:off x="1048837" y="5276483"/>
            <a:ext cx="269512" cy="268417"/>
          </a:xfrm>
          <a:custGeom>
            <a:avLst/>
            <a:gdLst>
              <a:gd name="T0" fmla="*/ 141 w 152"/>
              <a:gd name="T1" fmla="*/ 152 h 152"/>
              <a:gd name="T2" fmla="*/ 132 w 152"/>
              <a:gd name="T3" fmla="*/ 148 h 152"/>
              <a:gd name="T4" fmla="*/ 101 w 152"/>
              <a:gd name="T5" fmla="*/ 117 h 152"/>
              <a:gd name="T6" fmla="*/ 65 w 152"/>
              <a:gd name="T7" fmla="*/ 128 h 152"/>
              <a:gd name="T8" fmla="*/ 0 w 152"/>
              <a:gd name="T9" fmla="*/ 64 h 152"/>
              <a:gd name="T10" fmla="*/ 65 w 152"/>
              <a:gd name="T11" fmla="*/ 0 h 152"/>
              <a:gd name="T12" fmla="*/ 129 w 152"/>
              <a:gd name="T13" fmla="*/ 64 h 152"/>
              <a:gd name="T14" fmla="*/ 118 w 152"/>
              <a:gd name="T15" fmla="*/ 100 h 152"/>
              <a:gd name="T16" fmla="*/ 149 w 152"/>
              <a:gd name="T17" fmla="*/ 132 h 152"/>
              <a:gd name="T18" fmla="*/ 152 w 152"/>
              <a:gd name="T19" fmla="*/ 140 h 152"/>
              <a:gd name="T20" fmla="*/ 141 w 152"/>
              <a:gd name="T21" fmla="*/ 152 h 152"/>
              <a:gd name="T22" fmla="*/ 65 w 152"/>
              <a:gd name="T23" fmla="*/ 23 h 152"/>
              <a:gd name="T24" fmla="*/ 24 w 152"/>
              <a:gd name="T25" fmla="*/ 64 h 152"/>
              <a:gd name="T26" fmla="*/ 65 w 152"/>
              <a:gd name="T27" fmla="*/ 105 h 152"/>
              <a:gd name="T28" fmla="*/ 106 w 152"/>
              <a:gd name="T29" fmla="*/ 64 h 152"/>
              <a:gd name="T30" fmla="*/ 65 w 152"/>
              <a:gd name="T31" fmla="*/ 2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2" h="152">
                <a:moveTo>
                  <a:pt x="141" y="152"/>
                </a:moveTo>
                <a:cubicBezTo>
                  <a:pt x="138" y="152"/>
                  <a:pt x="135" y="151"/>
                  <a:pt x="132" y="148"/>
                </a:cubicBezTo>
                <a:cubicBezTo>
                  <a:pt x="101" y="117"/>
                  <a:pt x="101" y="117"/>
                  <a:pt x="101" y="117"/>
                </a:cubicBezTo>
                <a:cubicBezTo>
                  <a:pt x="90" y="124"/>
                  <a:pt x="78" y="128"/>
                  <a:pt x="65" y="128"/>
                </a:cubicBezTo>
                <a:cubicBezTo>
                  <a:pt x="29" y="128"/>
                  <a:pt x="0" y="100"/>
                  <a:pt x="0" y="64"/>
                </a:cubicBezTo>
                <a:cubicBezTo>
                  <a:pt x="0" y="28"/>
                  <a:pt x="29" y="0"/>
                  <a:pt x="65" y="0"/>
                </a:cubicBezTo>
                <a:cubicBezTo>
                  <a:pt x="100" y="0"/>
                  <a:pt x="129" y="28"/>
                  <a:pt x="129" y="64"/>
                </a:cubicBezTo>
                <a:cubicBezTo>
                  <a:pt x="129" y="77"/>
                  <a:pt x="125" y="90"/>
                  <a:pt x="118" y="100"/>
                </a:cubicBezTo>
                <a:cubicBezTo>
                  <a:pt x="149" y="132"/>
                  <a:pt x="149" y="132"/>
                  <a:pt x="149" y="132"/>
                </a:cubicBezTo>
                <a:cubicBezTo>
                  <a:pt x="151" y="134"/>
                  <a:pt x="152" y="137"/>
                  <a:pt x="152" y="140"/>
                </a:cubicBezTo>
                <a:cubicBezTo>
                  <a:pt x="152" y="147"/>
                  <a:pt x="147" y="152"/>
                  <a:pt x="141" y="152"/>
                </a:cubicBezTo>
                <a:close/>
                <a:moveTo>
                  <a:pt x="65" y="23"/>
                </a:moveTo>
                <a:cubicBezTo>
                  <a:pt x="42" y="23"/>
                  <a:pt x="24" y="41"/>
                  <a:pt x="24" y="64"/>
                </a:cubicBezTo>
                <a:cubicBezTo>
                  <a:pt x="24" y="87"/>
                  <a:pt x="42" y="105"/>
                  <a:pt x="65" y="105"/>
                </a:cubicBezTo>
                <a:cubicBezTo>
                  <a:pt x="87" y="105"/>
                  <a:pt x="106" y="87"/>
                  <a:pt x="106" y="64"/>
                </a:cubicBezTo>
                <a:cubicBezTo>
                  <a:pt x="106" y="41"/>
                  <a:pt x="87" y="23"/>
                  <a:pt x="65" y="23"/>
                </a:cubicBezTo>
                <a:close/>
              </a:path>
            </a:pathLst>
          </a:custGeom>
          <a:solidFill>
            <a:schemeClr val="bg1"/>
          </a:solidFill>
          <a:ln>
            <a:noFill/>
          </a:ln>
        </p:spPr>
        <p:txBody>
          <a:bodyPr vert="horz" wrap="square" lIns="121920" tIns="60960" rIns="121920" bIns="60960" numCol="1" anchor="t" anchorCtr="0" compatLnSpc="1"/>
          <a:p>
            <a:endParaRPr lang="en-US" sz="2400"/>
          </a:p>
        </p:txBody>
      </p:sp>
      <p:sp>
        <p:nvSpPr>
          <p:cNvPr id="44" name="文本框 43"/>
          <p:cNvSpPr txBox="1"/>
          <p:nvPr/>
        </p:nvSpPr>
        <p:spPr>
          <a:xfrm>
            <a:off x="1684020" y="1305560"/>
            <a:ext cx="10420985" cy="1198880"/>
          </a:xfrm>
          <a:prstGeom prst="rect">
            <a:avLst/>
          </a:prstGeom>
          <a:noFill/>
        </p:spPr>
        <p:txBody>
          <a:bodyPr wrap="square" rtlCol="0">
            <a:spAutoFit/>
          </a:bodyPr>
          <a:lstStyle/>
          <a:p>
            <a:r>
              <a:rPr lang="zh-CN" altLang="en-US" sz="1200" dirty="0">
                <a:solidFill>
                  <a:schemeClr val="tx1">
                    <a:lumMod val="75000"/>
                    <a:lumOff val="25000"/>
                  </a:schemeClr>
                </a:solidFill>
                <a:latin typeface="微软雅黑" panose="020B0503020204020204" charset="-122"/>
                <a:ea typeface="微软雅黑" panose="020B0503020204020204" charset="-122"/>
              </a:rPr>
              <a:t>关键词的整理分类，一条广告做三个分类单独放，根据关键词的市场竞价和关键词数量合理的加大预算，</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r>
              <a:rPr lang="zh-CN" altLang="en-US" sz="1200" dirty="0">
                <a:solidFill>
                  <a:schemeClr val="tx1">
                    <a:lumMod val="75000"/>
                    <a:lumOff val="25000"/>
                  </a:schemeClr>
                </a:solidFill>
                <a:latin typeface="微软雅黑" panose="020B0503020204020204" charset="-122"/>
                <a:ea typeface="微软雅黑" panose="020B0503020204020204" charset="-122"/>
              </a:rPr>
              <a:t>把关键词优化到标题，特性，描述，越长、越具体的标题对你越有利，一定要与产品保持相关</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r>
              <a:rPr lang="zh-CN" altLang="en-US" sz="1200" dirty="0">
                <a:solidFill>
                  <a:schemeClr val="tx1">
                    <a:lumMod val="75000"/>
                    <a:lumOff val="25000"/>
                  </a:schemeClr>
                </a:solidFill>
                <a:latin typeface="微软雅黑" panose="020B0503020204020204" charset="-122"/>
                <a:ea typeface="微软雅黑" panose="020B0503020204020204" charset="-122"/>
              </a:rPr>
              <a:t>CTR(Click-Through-Rate)：这是一个重要的概念，决定了广告展位的一大权重。有多少的展示量，有多少人感兴趣点击进去，CTR是一个很好的反</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r>
              <a:rPr lang="zh-CN" altLang="en-US" sz="1200" dirty="0">
                <a:solidFill>
                  <a:schemeClr val="tx1">
                    <a:lumMod val="75000"/>
                    <a:lumOff val="25000"/>
                  </a:schemeClr>
                </a:solidFill>
                <a:latin typeface="微软雅黑" panose="020B0503020204020204" charset="-122"/>
                <a:ea typeface="微软雅黑" panose="020B0503020204020204" charset="-122"/>
              </a:rPr>
              <a:t>映指标。查看报表，如果CTR 过低，反映出广告位竞争力过低，广告的效果和展位又会大打折扣。好比说Amazon觉得给予了你机会，但你不争气，</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r>
              <a:rPr lang="zh-CN" altLang="en-US" sz="1200" dirty="0">
                <a:solidFill>
                  <a:schemeClr val="tx1">
                    <a:lumMod val="75000"/>
                    <a:lumOff val="25000"/>
                  </a:schemeClr>
                </a:solidFill>
                <a:latin typeface="微软雅黑" panose="020B0503020204020204" charset="-122"/>
                <a:ea typeface="微软雅黑" panose="020B0503020204020204" charset="-122"/>
              </a:rPr>
              <a:t>没有把握好机会，那么他们不会再给予第二次机会。</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p:txBody>
      </p:sp>
      <p:sp>
        <p:nvSpPr>
          <p:cNvPr id="3" name="文本框 2"/>
          <p:cNvSpPr txBox="1"/>
          <p:nvPr/>
        </p:nvSpPr>
        <p:spPr>
          <a:xfrm>
            <a:off x="857885" y="283210"/>
            <a:ext cx="2214880" cy="583565"/>
          </a:xfrm>
          <a:prstGeom prst="rect">
            <a:avLst/>
          </a:prstGeom>
          <a:noFill/>
        </p:spPr>
        <p:txBody>
          <a:bodyPr wrap="none" rtlCol="0">
            <a:spAutoFit/>
          </a:bodyPr>
          <a:p>
            <a:pPr algn="l"/>
            <a:r>
              <a:rPr lang="zh-CN" altLang="en-US" sz="3200" b="1">
                <a:sym typeface="+mn-ea"/>
              </a:rPr>
              <a:t>阶段性分析</a:t>
            </a:r>
            <a:endParaRPr lang="en-US" altLang="zh-CN" sz="3200" b="1">
              <a:solidFill>
                <a:schemeClr val="tx1">
                  <a:lumMod val="75000"/>
                  <a:lumOff val="25000"/>
                </a:schemeClr>
              </a:solidFill>
            </a:endParaRPr>
          </a:p>
        </p:txBody>
      </p:sp>
      <p:sp>
        <p:nvSpPr>
          <p:cNvPr id="18" name="矩形 17"/>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p:transition spd="med">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1119628" y="2153513"/>
            <a:ext cx="1083213" cy="104101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4" name="文本框 13"/>
          <p:cNvSpPr txBox="1"/>
          <p:nvPr/>
        </p:nvSpPr>
        <p:spPr>
          <a:xfrm>
            <a:off x="2468878" y="4167963"/>
            <a:ext cx="942535" cy="400110"/>
          </a:xfrm>
          <a:prstGeom prst="rect">
            <a:avLst/>
          </a:prstGeom>
          <a:noFill/>
        </p:spPr>
        <p:txBody>
          <a:bodyPr wrap="square" rtlCol="0">
            <a:spAutoFit/>
          </a:bodyPr>
          <a:lstStyle/>
          <a:p>
            <a:r>
              <a:rPr lang="en-US" altLang="zh-CN" sz="2000" b="1" dirty="0">
                <a:solidFill>
                  <a:prstClr val="white"/>
                </a:solidFill>
                <a:latin typeface="微软雅黑" panose="020B0503020204020204" charset="-122"/>
                <a:ea typeface="微软雅黑" panose="020B0503020204020204" charset="-122"/>
              </a:rPr>
              <a:t>TITLE</a:t>
            </a:r>
            <a:endParaRPr lang="zh-CN" altLang="en-US" sz="2000" b="1" dirty="0">
              <a:solidFill>
                <a:prstClr val="white"/>
              </a:solidFill>
              <a:latin typeface="微软雅黑" panose="020B0503020204020204" charset="-122"/>
              <a:ea typeface="微软雅黑" panose="020B0503020204020204" charset="-122"/>
            </a:endParaRPr>
          </a:p>
        </p:txBody>
      </p:sp>
      <p:sp>
        <p:nvSpPr>
          <p:cNvPr id="19" name="文本框 18"/>
          <p:cNvSpPr txBox="1"/>
          <p:nvPr/>
        </p:nvSpPr>
        <p:spPr>
          <a:xfrm>
            <a:off x="4360985" y="2595306"/>
            <a:ext cx="1744394" cy="1231106"/>
          </a:xfrm>
          <a:prstGeom prst="rect">
            <a:avLst/>
          </a:prstGeom>
          <a:noFill/>
        </p:spPr>
        <p:txBody>
          <a:bodyPr wrap="square" rtlCol="0">
            <a:spAutoFit/>
          </a:bodyPr>
          <a:lstStyle/>
          <a:p>
            <a:pPr algn="ctr">
              <a:defRPr/>
            </a:pPr>
            <a:r>
              <a:rPr lang="en-US" altLang="zh-CN" sz="1400" dirty="0">
                <a:solidFill>
                  <a:prstClr val="white"/>
                </a:solidFill>
                <a:latin typeface="微软雅黑" panose="020B0503020204020204" charset="-122"/>
                <a:ea typeface="微软雅黑" panose="020B0503020204020204" charset="-122"/>
                <a:sym typeface="Arial" panose="020B0604020202020204" pitchFamily="34" charset="0"/>
              </a:rPr>
              <a:t>Add your words here</a:t>
            </a:r>
            <a:r>
              <a:rPr lang="zh-CN" altLang="en-US" sz="1400" dirty="0">
                <a:solidFill>
                  <a:prstClr val="white"/>
                </a:solidFill>
                <a:latin typeface="微软雅黑" panose="020B0503020204020204" charset="-122"/>
                <a:ea typeface="微软雅黑" panose="020B0503020204020204" charset="-122"/>
                <a:sym typeface="Arial" panose="020B0604020202020204" pitchFamily="34" charset="0"/>
              </a:rPr>
              <a:t>，</a:t>
            </a:r>
            <a:r>
              <a:rPr lang="en-US" altLang="zh-CN" sz="1400" dirty="0">
                <a:solidFill>
                  <a:prstClr val="white"/>
                </a:solidFill>
                <a:latin typeface="微软雅黑" panose="020B0503020204020204" charset="-122"/>
                <a:ea typeface="微软雅黑" panose="020B0503020204020204" charset="-122"/>
                <a:sym typeface="Arial" panose="020B0604020202020204" pitchFamily="34" charset="0"/>
              </a:rPr>
              <a:t>according to your need to draw the text </a:t>
            </a:r>
            <a:r>
              <a:rPr lang="en-US" altLang="zh-CN" sz="1600" dirty="0">
                <a:solidFill>
                  <a:prstClr val="white"/>
                </a:solidFill>
                <a:latin typeface="微软雅黑" panose="020B0503020204020204" charset="-122"/>
                <a:ea typeface="微软雅黑" panose="020B0503020204020204" charset="-122"/>
                <a:sym typeface="Arial" panose="020B0604020202020204" pitchFamily="34" charset="0"/>
              </a:rPr>
              <a:t>box size</a:t>
            </a:r>
            <a:endParaRPr lang="zh-CN" altLang="en-US" sz="1600" dirty="0">
              <a:solidFill>
                <a:prstClr val="white"/>
              </a:solidFill>
            </a:endParaRPr>
          </a:p>
        </p:txBody>
      </p:sp>
      <p:sp>
        <p:nvSpPr>
          <p:cNvPr id="24" name="文本框 23"/>
          <p:cNvSpPr txBox="1"/>
          <p:nvPr/>
        </p:nvSpPr>
        <p:spPr>
          <a:xfrm>
            <a:off x="9565829" y="2642852"/>
            <a:ext cx="1421063" cy="369332"/>
          </a:xfrm>
          <a:prstGeom prst="rect">
            <a:avLst/>
          </a:prstGeom>
          <a:noFill/>
        </p:spPr>
        <p:txBody>
          <a:bodyPr wrap="square" rtlCol="0">
            <a:spAutoFit/>
          </a:bodyPr>
          <a:lstStyle/>
          <a:p>
            <a:r>
              <a:rPr lang="en-US" altLang="zh-CN" b="1" dirty="0">
                <a:solidFill>
                  <a:prstClr val="white"/>
                </a:solidFill>
                <a:latin typeface="微软雅黑" panose="020B0503020204020204" charset="-122"/>
                <a:ea typeface="微软雅黑" panose="020B0503020204020204" charset="-122"/>
              </a:rPr>
              <a:t>ADD TITLE</a:t>
            </a:r>
            <a:endParaRPr lang="zh-CN" altLang="en-US" b="1" dirty="0">
              <a:solidFill>
                <a:prstClr val="white"/>
              </a:solidFill>
              <a:latin typeface="微软雅黑" panose="020B0503020204020204" charset="-122"/>
              <a:ea typeface="微软雅黑" panose="020B0503020204020204" charset="-122"/>
            </a:endParaRPr>
          </a:p>
        </p:txBody>
      </p:sp>
      <p:sp>
        <p:nvSpPr>
          <p:cNvPr id="27" name="矩形 26"/>
          <p:cNvSpPr/>
          <p:nvPr/>
        </p:nvSpPr>
        <p:spPr>
          <a:xfrm>
            <a:off x="0" y="369457"/>
            <a:ext cx="858129" cy="41049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矩形 2"/>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8" name="文本框 7"/>
          <p:cNvSpPr txBox="1"/>
          <p:nvPr/>
        </p:nvSpPr>
        <p:spPr>
          <a:xfrm>
            <a:off x="408940" y="985520"/>
            <a:ext cx="11374120" cy="5600700"/>
          </a:xfrm>
          <a:prstGeom prst="rect">
            <a:avLst/>
          </a:prstGeom>
          <a:noFill/>
        </p:spPr>
        <p:txBody>
          <a:bodyPr wrap="square" rtlCol="0" anchor="t">
            <a:spAutoFit/>
          </a:bodyPr>
          <a:p>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订单转化率(Conversions Rates)：转化率永远是自然搜索排名与广告搜索排名的核心因素。在产生了点击后，有多少人会买你的产品，决定因素就是产品的详情页面了。(所以需要一直优化listing) </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✦ACoS：Adversting Cost of Sale</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$4广告费，收获了$20的销售额，那么ACoS = 4/20 = 20%。</a:t>
            </a:r>
            <a:endParaRPr lang="zh-CN" altLang="en-US" sz="1400" dirty="0">
              <a:solidFill>
                <a:schemeClr val="tx1">
                  <a:lumMod val="75000"/>
                  <a:lumOff val="25000"/>
                </a:schemeClr>
              </a:solidFill>
              <a:latin typeface="微软雅黑" panose="020B0503020204020204" charset="-122"/>
              <a:ea typeface="微软雅黑" panose="020B0503020204020204" charset="-122"/>
              <a:sym typeface="+mn-ea"/>
            </a:endParaRPr>
          </a:p>
          <a:p>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又有3个术语，大家同样也记一下。</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✦Impr (Impression)：广告曝光次数，就是该Ad Group中的产品有多少次显示给买家看了。</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✦Clicks：买家点击次数。</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✦CTR：Click Through Rate=Clicks/Impression，点击率，如果点击率太低，是不是要看看你的图片，标题，价格是不是不够吸引人? 订单转化率(Conversions Rates)：转化率永远是自然搜索排名与广告搜索排名的核心因素。在产生了点击后，有多少人会买你的产品，决定因素就是产品的详情页面了。(所以需要一直优化listing) </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✦ACoS：Adversting Cost of Sale</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$4广告费，收获了$20的销售额，那么ACoS = 4/20 = 20%。</a:t>
            </a:r>
            <a:endParaRPr lang="zh-CN" altLang="en-US" sz="1400" dirty="0">
              <a:solidFill>
                <a:schemeClr val="tx1">
                  <a:lumMod val="75000"/>
                  <a:lumOff val="25000"/>
                </a:schemeClr>
              </a:solidFill>
              <a:latin typeface="微软雅黑" panose="020B0503020204020204" charset="-122"/>
              <a:ea typeface="微软雅黑" panose="020B0503020204020204" charset="-122"/>
              <a:sym typeface="+mn-ea"/>
            </a:endParaRPr>
          </a:p>
          <a:p>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又有3个术语，大家同样也记一下。</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a:t>
            </a:r>
            <a:r>
              <a:rPr lang="zh-CN" altLang="en-US" sz="1400" b="1" dirty="0">
                <a:solidFill>
                  <a:schemeClr val="tx1">
                    <a:lumMod val="75000"/>
                    <a:lumOff val="25000"/>
                  </a:schemeClr>
                </a:solidFill>
                <a:latin typeface="微软雅黑" panose="020B0503020204020204" charset="-122"/>
                <a:ea typeface="微软雅黑" panose="020B0503020204020204" charset="-122"/>
                <a:sym typeface="+mn-ea"/>
              </a:rPr>
              <a:t>Impr</a:t>
            </a:r>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 (Impression)：广告曝光次数，就是该Ad Group中的产品有多少次显示给买家看了。</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a:t>
            </a:r>
            <a:r>
              <a:rPr lang="zh-CN" altLang="en-US" sz="1400" b="1" dirty="0">
                <a:solidFill>
                  <a:schemeClr val="tx1">
                    <a:lumMod val="75000"/>
                    <a:lumOff val="25000"/>
                  </a:schemeClr>
                </a:solidFill>
                <a:latin typeface="微软雅黑" panose="020B0503020204020204" charset="-122"/>
                <a:ea typeface="微软雅黑" panose="020B0503020204020204" charset="-122"/>
                <a:sym typeface="+mn-ea"/>
              </a:rPr>
              <a:t>Clicks</a:t>
            </a:r>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：买家点击次数。</a:t>
            </a:r>
            <a:endParaRPr lang="zh-CN" altLang="en-US" sz="1400" dirty="0">
              <a:solidFill>
                <a:schemeClr val="tx1">
                  <a:lumMod val="75000"/>
                  <a:lumOff val="25000"/>
                </a:schemeClr>
              </a:solidFill>
              <a:latin typeface="微软雅黑" panose="020B0503020204020204" charset="-122"/>
              <a:ea typeface="微软雅黑" panose="020B0503020204020204" charset="-122"/>
            </a:endParaRPr>
          </a:p>
          <a:p>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a:t>
            </a:r>
            <a:r>
              <a:rPr lang="zh-CN" altLang="en-US" sz="1400" b="1" dirty="0">
                <a:solidFill>
                  <a:schemeClr val="tx1">
                    <a:lumMod val="75000"/>
                    <a:lumOff val="25000"/>
                  </a:schemeClr>
                </a:solidFill>
                <a:latin typeface="微软雅黑" panose="020B0503020204020204" charset="-122"/>
                <a:ea typeface="微软雅黑" panose="020B0503020204020204" charset="-122"/>
                <a:sym typeface="+mn-ea"/>
              </a:rPr>
              <a:t>CTR</a:t>
            </a:r>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：Click Through Rate=Clicks/Impression，点击率，如果点击率太低，是不是要看看你的图片，标题，价格是不是不够吸引人? </a:t>
            </a:r>
            <a:endParaRPr lang="zh-CN" altLang="en-US" sz="1400" dirty="0">
              <a:solidFill>
                <a:schemeClr val="tx1">
                  <a:lumMod val="75000"/>
                  <a:lumOff val="25000"/>
                </a:schemeClr>
              </a:solidFill>
              <a:latin typeface="微软雅黑" panose="020B0503020204020204" charset="-122"/>
              <a:ea typeface="微软雅黑" panose="020B0503020204020204" charset="-122"/>
              <a:sym typeface="+mn-ea"/>
            </a:endParaRPr>
          </a:p>
          <a:p>
            <a:endParaRPr lang="zh-CN" altLang="en-US" sz="1400" dirty="0">
              <a:solidFill>
                <a:schemeClr val="tx1">
                  <a:lumMod val="75000"/>
                  <a:lumOff val="25000"/>
                </a:schemeClr>
              </a:solidFill>
              <a:latin typeface="微软雅黑" panose="020B0503020204020204" charset="-122"/>
              <a:ea typeface="微软雅黑" panose="020B0503020204020204" charset="-122"/>
              <a:sym typeface="+mn-ea"/>
            </a:endParaRPr>
          </a:p>
          <a:p>
            <a:r>
              <a:rPr lang="zh-CN" altLang="en-US" sz="1400" dirty="0">
                <a:solidFill>
                  <a:schemeClr val="tx1">
                    <a:lumMod val="75000"/>
                    <a:lumOff val="25000"/>
                  </a:schemeClr>
                </a:solidFill>
                <a:latin typeface="微软雅黑" panose="020B0503020204020204" charset="-122"/>
                <a:ea typeface="微软雅黑" panose="020B0503020204020204" charset="-122"/>
                <a:sym typeface="+mn-ea"/>
              </a:rPr>
              <a:t>广告转化率不能单纯的从短期的转化就做出评判，一天的数据不能说明什么，广告需要有一个相对长的周期内去衡量，一般建议以1-2周作为一个</a:t>
            </a:r>
            <a:endParaRPr lang="zh-CN" altLang="en-US" sz="1400" dirty="0">
              <a:solidFill>
                <a:schemeClr val="tx1">
                  <a:lumMod val="75000"/>
                  <a:lumOff val="25000"/>
                </a:schemeClr>
              </a:solidFill>
              <a:latin typeface="微软雅黑" panose="020B0503020204020204" charset="-122"/>
              <a:ea typeface="微软雅黑" panose="020B0503020204020204" charset="-122"/>
              <a:sym typeface="+mn-ea"/>
            </a:endParaRPr>
          </a:p>
          <a:p>
            <a:endParaRPr lang="zh-CN" altLang="en-US" sz="1400" dirty="0">
              <a:solidFill>
                <a:schemeClr val="tx1">
                  <a:lumMod val="75000"/>
                  <a:lumOff val="25000"/>
                </a:schemeClr>
              </a:solidFill>
              <a:latin typeface="微软雅黑" panose="020B0503020204020204" charset="-122"/>
              <a:ea typeface="微软雅黑" panose="020B0503020204020204" charset="-122"/>
              <a:sym typeface="+mn-ea"/>
            </a:endParaRPr>
          </a:p>
          <a:p>
            <a:endParaRPr lang="zh-CN" altLang="en-US" sz="1400" dirty="0">
              <a:solidFill>
                <a:schemeClr val="tx1">
                  <a:lumMod val="75000"/>
                  <a:lumOff val="25000"/>
                </a:schemeClr>
              </a:solidFill>
              <a:latin typeface="微软雅黑" panose="020B0503020204020204" charset="-122"/>
              <a:ea typeface="微软雅黑" panose="020B0503020204020204" charset="-122"/>
              <a:sym typeface="+mn-ea"/>
            </a:endParaRPr>
          </a:p>
          <a:p>
            <a:r>
              <a:rPr lang="zh-CN" altLang="en-US" dirty="0">
                <a:solidFill>
                  <a:schemeClr val="tx1">
                    <a:lumMod val="75000"/>
                    <a:lumOff val="25000"/>
                  </a:schemeClr>
                </a:solidFill>
                <a:latin typeface="微软雅黑" panose="020B0503020204020204" charset="-122"/>
                <a:ea typeface="微软雅黑" panose="020B0503020204020204" charset="-122"/>
                <a:sym typeface="+mn-ea"/>
              </a:rPr>
              <a:t>亚马逊称：广告活动中活跃的时间越长越有利于展示你的广告，换句话说，开设广告的时间越长，更有利于数据的沉淀，这也说明历史点击率对亚马逊的竞价算法有着重要的作用</a:t>
            </a:r>
            <a:endParaRPr lang="zh-CN" altLang="en-US"/>
          </a:p>
        </p:txBody>
      </p:sp>
      <p:sp>
        <p:nvSpPr>
          <p:cNvPr id="2" name="文本框 1"/>
          <p:cNvSpPr txBox="1"/>
          <p:nvPr/>
        </p:nvSpPr>
        <p:spPr>
          <a:xfrm>
            <a:off x="857885" y="283210"/>
            <a:ext cx="2214880" cy="583565"/>
          </a:xfrm>
          <a:prstGeom prst="rect">
            <a:avLst/>
          </a:prstGeom>
          <a:noFill/>
        </p:spPr>
        <p:txBody>
          <a:bodyPr wrap="none" rtlCol="0">
            <a:spAutoFit/>
          </a:bodyPr>
          <a:p>
            <a:pPr algn="l"/>
            <a:r>
              <a:rPr lang="zh-CN" altLang="en-US" sz="3200" b="1">
                <a:sym typeface="+mn-ea"/>
              </a:rPr>
              <a:t>阶段性分析</a:t>
            </a:r>
            <a:endParaRPr lang="en-US" altLang="zh-CN" sz="3200" b="1">
              <a:solidFill>
                <a:schemeClr val="tx1">
                  <a:lumMod val="75000"/>
                  <a:lumOff val="25000"/>
                </a:schemeClr>
              </a:solidFill>
            </a:endParaRPr>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a:off x="3474843" y="1448928"/>
            <a:ext cx="2120348" cy="900113"/>
            <a:chOff x="3095626" y="1164433"/>
            <a:chExt cx="1590675" cy="675085"/>
          </a:xfrm>
        </p:grpSpPr>
        <p:cxnSp>
          <p:nvCxnSpPr>
            <p:cNvPr id="72" name="Straight Connector 62"/>
            <p:cNvCxnSpPr/>
            <p:nvPr/>
          </p:nvCxnSpPr>
          <p:spPr>
            <a:xfrm>
              <a:off x="3095626" y="1458516"/>
              <a:ext cx="1348980" cy="0"/>
            </a:xfrm>
            <a:prstGeom prst="line">
              <a:avLst/>
            </a:prstGeom>
            <a:ln w="12700">
              <a:solidFill>
                <a:schemeClr val="tx2"/>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3" name="Group 26"/>
            <p:cNvGrpSpPr>
              <a:grpSpLocks noChangeAspect="1"/>
            </p:cNvGrpSpPr>
            <p:nvPr/>
          </p:nvGrpSpPr>
          <p:grpSpPr bwMode="auto">
            <a:xfrm>
              <a:off x="4011217" y="1164433"/>
              <a:ext cx="675084" cy="675085"/>
              <a:chOff x="5385173" y="1917525"/>
              <a:chExt cx="1440000" cy="1440000"/>
            </a:xfrm>
          </p:grpSpPr>
          <p:sp>
            <p:nvSpPr>
              <p:cNvPr id="78" name="Oval 27"/>
              <p:cNvSpPr>
                <a:spLocks noChangeAspect="1"/>
              </p:cNvSpPr>
              <p:nvPr/>
            </p:nvSpPr>
            <p:spPr>
              <a:xfrm>
                <a:off x="5385173" y="1917525"/>
                <a:ext cx="1440000" cy="1440000"/>
              </a:xfrm>
              <a:prstGeom prst="ellipse">
                <a:avLst/>
              </a:prstGeom>
              <a:solidFill>
                <a:schemeClr val="bg1">
                  <a:lumMod val="65000"/>
                  <a:alpha val="6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a:p>
            </p:txBody>
          </p:sp>
          <p:sp>
            <p:nvSpPr>
              <p:cNvPr id="79" name="Oval 28"/>
              <p:cNvSpPr/>
              <p:nvPr/>
            </p:nvSpPr>
            <p:spPr>
              <a:xfrm>
                <a:off x="5474061" y="2006415"/>
                <a:ext cx="1262224" cy="1262221"/>
              </a:xfrm>
              <a:prstGeom prst="ellips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a:p>
            </p:txBody>
          </p:sp>
        </p:grpSp>
        <p:grpSp>
          <p:nvGrpSpPr>
            <p:cNvPr id="74" name="Group 38"/>
            <p:cNvGrpSpPr>
              <a:grpSpLocks noChangeAspect="1"/>
            </p:cNvGrpSpPr>
            <p:nvPr/>
          </p:nvGrpSpPr>
          <p:grpSpPr>
            <a:xfrm>
              <a:off x="4162193" y="1311775"/>
              <a:ext cx="365627" cy="365627"/>
              <a:chOff x="-2771775" y="66675"/>
              <a:chExt cx="827087" cy="827088"/>
            </a:xfrm>
            <a:solidFill>
              <a:schemeClr val="bg1"/>
            </a:solidFill>
          </p:grpSpPr>
          <p:sp>
            <p:nvSpPr>
              <p:cNvPr id="75" name="Freeform 19"/>
              <p:cNvSpPr>
                <a:spLocks noEditPoints="1"/>
              </p:cNvSpPr>
              <p:nvPr/>
            </p:nvSpPr>
            <p:spPr bwMode="auto">
              <a:xfrm>
                <a:off x="-2771775" y="66675"/>
                <a:ext cx="827087" cy="827088"/>
              </a:xfrm>
              <a:custGeom>
                <a:avLst/>
                <a:gdLst>
                  <a:gd name="T0" fmla="*/ 188 w 220"/>
                  <a:gd name="T1" fmla="*/ 83 h 220"/>
                  <a:gd name="T2" fmla="*/ 196 w 220"/>
                  <a:gd name="T3" fmla="*/ 56 h 220"/>
                  <a:gd name="T4" fmla="*/ 181 w 220"/>
                  <a:gd name="T5" fmla="*/ 26 h 220"/>
                  <a:gd name="T6" fmla="*/ 164 w 220"/>
                  <a:gd name="T7" fmla="*/ 24 h 220"/>
                  <a:gd name="T8" fmla="*/ 137 w 220"/>
                  <a:gd name="T9" fmla="*/ 32 h 220"/>
                  <a:gd name="T10" fmla="*/ 119 w 220"/>
                  <a:gd name="T11" fmla="*/ 0 h 220"/>
                  <a:gd name="T12" fmla="*/ 87 w 220"/>
                  <a:gd name="T13" fmla="*/ 11 h 220"/>
                  <a:gd name="T14" fmla="*/ 74 w 220"/>
                  <a:gd name="T15" fmla="*/ 36 h 220"/>
                  <a:gd name="T16" fmla="*/ 49 w 220"/>
                  <a:gd name="T17" fmla="*/ 22 h 220"/>
                  <a:gd name="T18" fmla="*/ 26 w 220"/>
                  <a:gd name="T19" fmla="*/ 39 h 220"/>
                  <a:gd name="T20" fmla="*/ 36 w 220"/>
                  <a:gd name="T21" fmla="*/ 74 h 220"/>
                  <a:gd name="T22" fmla="*/ 11 w 220"/>
                  <a:gd name="T23" fmla="*/ 87 h 220"/>
                  <a:gd name="T24" fmla="*/ 0 w 220"/>
                  <a:gd name="T25" fmla="*/ 119 h 220"/>
                  <a:gd name="T26" fmla="*/ 32 w 220"/>
                  <a:gd name="T27" fmla="*/ 137 h 220"/>
                  <a:gd name="T28" fmla="*/ 24 w 220"/>
                  <a:gd name="T29" fmla="*/ 164 h 220"/>
                  <a:gd name="T30" fmla="*/ 39 w 220"/>
                  <a:gd name="T31" fmla="*/ 194 h 220"/>
                  <a:gd name="T32" fmla="*/ 56 w 220"/>
                  <a:gd name="T33" fmla="*/ 196 h 220"/>
                  <a:gd name="T34" fmla="*/ 83 w 220"/>
                  <a:gd name="T35" fmla="*/ 188 h 220"/>
                  <a:gd name="T36" fmla="*/ 101 w 220"/>
                  <a:gd name="T37" fmla="*/ 220 h 220"/>
                  <a:gd name="T38" fmla="*/ 133 w 220"/>
                  <a:gd name="T39" fmla="*/ 209 h 220"/>
                  <a:gd name="T40" fmla="*/ 146 w 220"/>
                  <a:gd name="T41" fmla="*/ 184 h 220"/>
                  <a:gd name="T42" fmla="*/ 171 w 220"/>
                  <a:gd name="T43" fmla="*/ 198 h 220"/>
                  <a:gd name="T44" fmla="*/ 194 w 220"/>
                  <a:gd name="T45" fmla="*/ 181 h 220"/>
                  <a:gd name="T46" fmla="*/ 184 w 220"/>
                  <a:gd name="T47" fmla="*/ 146 h 220"/>
                  <a:gd name="T48" fmla="*/ 209 w 220"/>
                  <a:gd name="T49" fmla="*/ 133 h 220"/>
                  <a:gd name="T50" fmla="*/ 220 w 220"/>
                  <a:gd name="T51" fmla="*/ 101 h 220"/>
                  <a:gd name="T52" fmla="*/ 185 w 220"/>
                  <a:gd name="T53" fmla="*/ 124 h 220"/>
                  <a:gd name="T54" fmla="*/ 172 w 220"/>
                  <a:gd name="T55" fmla="*/ 140 h 220"/>
                  <a:gd name="T56" fmla="*/ 185 w 220"/>
                  <a:gd name="T57" fmla="*/ 171 h 220"/>
                  <a:gd name="T58" fmla="*/ 154 w 220"/>
                  <a:gd name="T59" fmla="*/ 173 h 220"/>
                  <a:gd name="T60" fmla="*/ 140 w 220"/>
                  <a:gd name="T61" fmla="*/ 172 h 220"/>
                  <a:gd name="T62" fmla="*/ 124 w 220"/>
                  <a:gd name="T63" fmla="*/ 185 h 220"/>
                  <a:gd name="T64" fmla="*/ 101 w 220"/>
                  <a:gd name="T65" fmla="*/ 206 h 220"/>
                  <a:gd name="T66" fmla="*/ 87 w 220"/>
                  <a:gd name="T67" fmla="*/ 175 h 220"/>
                  <a:gd name="T68" fmla="*/ 74 w 220"/>
                  <a:gd name="T69" fmla="*/ 170 h 220"/>
                  <a:gd name="T70" fmla="*/ 49 w 220"/>
                  <a:gd name="T71" fmla="*/ 185 h 220"/>
                  <a:gd name="T72" fmla="*/ 47 w 220"/>
                  <a:gd name="T73" fmla="*/ 154 h 220"/>
                  <a:gd name="T74" fmla="*/ 45 w 220"/>
                  <a:gd name="T75" fmla="*/ 133 h 220"/>
                  <a:gd name="T76" fmla="*/ 14 w 220"/>
                  <a:gd name="T77" fmla="*/ 119 h 220"/>
                  <a:gd name="T78" fmla="*/ 35 w 220"/>
                  <a:gd name="T79" fmla="*/ 96 h 220"/>
                  <a:gd name="T80" fmla="*/ 48 w 220"/>
                  <a:gd name="T81" fmla="*/ 80 h 220"/>
                  <a:gd name="T82" fmla="*/ 35 w 220"/>
                  <a:gd name="T83" fmla="*/ 49 h 220"/>
                  <a:gd name="T84" fmla="*/ 66 w 220"/>
                  <a:gd name="T85" fmla="*/ 47 h 220"/>
                  <a:gd name="T86" fmla="*/ 80 w 220"/>
                  <a:gd name="T87" fmla="*/ 48 h 220"/>
                  <a:gd name="T88" fmla="*/ 96 w 220"/>
                  <a:gd name="T89" fmla="*/ 35 h 220"/>
                  <a:gd name="T90" fmla="*/ 119 w 220"/>
                  <a:gd name="T91" fmla="*/ 14 h 220"/>
                  <a:gd name="T92" fmla="*/ 133 w 220"/>
                  <a:gd name="T93" fmla="*/ 45 h 220"/>
                  <a:gd name="T94" fmla="*/ 146 w 220"/>
                  <a:gd name="T95" fmla="*/ 50 h 220"/>
                  <a:gd name="T96" fmla="*/ 171 w 220"/>
                  <a:gd name="T97" fmla="*/ 35 h 220"/>
                  <a:gd name="T98" fmla="*/ 173 w 220"/>
                  <a:gd name="T99" fmla="*/ 66 h 220"/>
                  <a:gd name="T100" fmla="*/ 175 w 220"/>
                  <a:gd name="T101" fmla="*/ 87 h 220"/>
                  <a:gd name="T102" fmla="*/ 206 w 220"/>
                  <a:gd name="T103" fmla="*/ 101 h 220"/>
                  <a:gd name="T104" fmla="*/ 185 w 220"/>
                  <a:gd name="T105" fmla="*/ 124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0" h="220">
                    <a:moveTo>
                      <a:pt x="209" y="87"/>
                    </a:moveTo>
                    <a:cubicBezTo>
                      <a:pt x="188" y="83"/>
                      <a:pt x="188" y="83"/>
                      <a:pt x="188" y="83"/>
                    </a:cubicBezTo>
                    <a:cubicBezTo>
                      <a:pt x="187" y="80"/>
                      <a:pt x="186" y="77"/>
                      <a:pt x="184" y="74"/>
                    </a:cubicBezTo>
                    <a:cubicBezTo>
                      <a:pt x="196" y="56"/>
                      <a:pt x="196" y="56"/>
                      <a:pt x="196" y="56"/>
                    </a:cubicBezTo>
                    <a:cubicBezTo>
                      <a:pt x="200" y="51"/>
                      <a:pt x="199" y="43"/>
                      <a:pt x="194" y="39"/>
                    </a:cubicBezTo>
                    <a:cubicBezTo>
                      <a:pt x="181" y="26"/>
                      <a:pt x="181" y="26"/>
                      <a:pt x="181" y="26"/>
                    </a:cubicBezTo>
                    <a:cubicBezTo>
                      <a:pt x="179" y="23"/>
                      <a:pt x="175" y="22"/>
                      <a:pt x="171" y="22"/>
                    </a:cubicBezTo>
                    <a:cubicBezTo>
                      <a:pt x="169" y="22"/>
                      <a:pt x="166" y="22"/>
                      <a:pt x="164" y="24"/>
                    </a:cubicBezTo>
                    <a:cubicBezTo>
                      <a:pt x="146" y="36"/>
                      <a:pt x="146" y="36"/>
                      <a:pt x="146" y="36"/>
                    </a:cubicBezTo>
                    <a:cubicBezTo>
                      <a:pt x="143" y="34"/>
                      <a:pt x="140" y="33"/>
                      <a:pt x="137" y="32"/>
                    </a:cubicBezTo>
                    <a:cubicBezTo>
                      <a:pt x="133" y="11"/>
                      <a:pt x="133" y="11"/>
                      <a:pt x="133" y="11"/>
                    </a:cubicBezTo>
                    <a:cubicBezTo>
                      <a:pt x="132" y="5"/>
                      <a:pt x="126" y="0"/>
                      <a:pt x="119" y="0"/>
                    </a:cubicBezTo>
                    <a:cubicBezTo>
                      <a:pt x="101" y="0"/>
                      <a:pt x="101" y="0"/>
                      <a:pt x="101" y="0"/>
                    </a:cubicBezTo>
                    <a:cubicBezTo>
                      <a:pt x="94" y="0"/>
                      <a:pt x="88" y="5"/>
                      <a:pt x="87" y="11"/>
                    </a:cubicBezTo>
                    <a:cubicBezTo>
                      <a:pt x="83" y="32"/>
                      <a:pt x="83" y="32"/>
                      <a:pt x="83" y="32"/>
                    </a:cubicBezTo>
                    <a:cubicBezTo>
                      <a:pt x="80" y="33"/>
                      <a:pt x="77" y="34"/>
                      <a:pt x="74" y="36"/>
                    </a:cubicBezTo>
                    <a:cubicBezTo>
                      <a:pt x="56" y="24"/>
                      <a:pt x="56" y="24"/>
                      <a:pt x="56" y="24"/>
                    </a:cubicBezTo>
                    <a:cubicBezTo>
                      <a:pt x="54" y="22"/>
                      <a:pt x="51" y="22"/>
                      <a:pt x="49" y="22"/>
                    </a:cubicBezTo>
                    <a:cubicBezTo>
                      <a:pt x="45" y="22"/>
                      <a:pt x="41" y="23"/>
                      <a:pt x="39" y="26"/>
                    </a:cubicBezTo>
                    <a:cubicBezTo>
                      <a:pt x="26" y="39"/>
                      <a:pt x="26" y="39"/>
                      <a:pt x="26" y="39"/>
                    </a:cubicBezTo>
                    <a:cubicBezTo>
                      <a:pt x="21" y="43"/>
                      <a:pt x="20" y="51"/>
                      <a:pt x="24" y="56"/>
                    </a:cubicBezTo>
                    <a:cubicBezTo>
                      <a:pt x="36" y="74"/>
                      <a:pt x="36" y="74"/>
                      <a:pt x="36" y="74"/>
                    </a:cubicBezTo>
                    <a:cubicBezTo>
                      <a:pt x="34" y="77"/>
                      <a:pt x="33" y="80"/>
                      <a:pt x="32" y="83"/>
                    </a:cubicBezTo>
                    <a:cubicBezTo>
                      <a:pt x="11" y="87"/>
                      <a:pt x="11" y="87"/>
                      <a:pt x="11" y="87"/>
                    </a:cubicBezTo>
                    <a:cubicBezTo>
                      <a:pt x="5" y="88"/>
                      <a:pt x="0" y="94"/>
                      <a:pt x="0" y="101"/>
                    </a:cubicBezTo>
                    <a:cubicBezTo>
                      <a:pt x="0" y="119"/>
                      <a:pt x="0" y="119"/>
                      <a:pt x="0" y="119"/>
                    </a:cubicBezTo>
                    <a:cubicBezTo>
                      <a:pt x="0" y="126"/>
                      <a:pt x="5" y="132"/>
                      <a:pt x="11" y="133"/>
                    </a:cubicBezTo>
                    <a:cubicBezTo>
                      <a:pt x="32" y="137"/>
                      <a:pt x="32" y="137"/>
                      <a:pt x="32" y="137"/>
                    </a:cubicBezTo>
                    <a:cubicBezTo>
                      <a:pt x="33" y="140"/>
                      <a:pt x="34" y="143"/>
                      <a:pt x="36" y="146"/>
                    </a:cubicBezTo>
                    <a:cubicBezTo>
                      <a:pt x="24" y="164"/>
                      <a:pt x="24" y="164"/>
                      <a:pt x="24" y="164"/>
                    </a:cubicBezTo>
                    <a:cubicBezTo>
                      <a:pt x="20" y="169"/>
                      <a:pt x="21" y="177"/>
                      <a:pt x="26" y="181"/>
                    </a:cubicBezTo>
                    <a:cubicBezTo>
                      <a:pt x="39" y="194"/>
                      <a:pt x="39" y="194"/>
                      <a:pt x="39" y="194"/>
                    </a:cubicBezTo>
                    <a:cubicBezTo>
                      <a:pt x="41" y="197"/>
                      <a:pt x="45" y="198"/>
                      <a:pt x="49" y="198"/>
                    </a:cubicBezTo>
                    <a:cubicBezTo>
                      <a:pt x="51" y="198"/>
                      <a:pt x="54" y="198"/>
                      <a:pt x="56" y="196"/>
                    </a:cubicBezTo>
                    <a:cubicBezTo>
                      <a:pt x="74" y="184"/>
                      <a:pt x="74" y="184"/>
                      <a:pt x="74" y="184"/>
                    </a:cubicBezTo>
                    <a:cubicBezTo>
                      <a:pt x="77" y="186"/>
                      <a:pt x="80" y="187"/>
                      <a:pt x="83" y="188"/>
                    </a:cubicBezTo>
                    <a:cubicBezTo>
                      <a:pt x="87" y="209"/>
                      <a:pt x="87" y="209"/>
                      <a:pt x="87" y="209"/>
                    </a:cubicBezTo>
                    <a:cubicBezTo>
                      <a:pt x="88" y="215"/>
                      <a:pt x="94" y="220"/>
                      <a:pt x="101" y="220"/>
                    </a:cubicBezTo>
                    <a:cubicBezTo>
                      <a:pt x="119" y="220"/>
                      <a:pt x="119" y="220"/>
                      <a:pt x="119" y="220"/>
                    </a:cubicBezTo>
                    <a:cubicBezTo>
                      <a:pt x="126" y="220"/>
                      <a:pt x="132" y="215"/>
                      <a:pt x="133" y="209"/>
                    </a:cubicBezTo>
                    <a:cubicBezTo>
                      <a:pt x="137" y="188"/>
                      <a:pt x="137" y="188"/>
                      <a:pt x="137" y="188"/>
                    </a:cubicBezTo>
                    <a:cubicBezTo>
                      <a:pt x="140" y="187"/>
                      <a:pt x="143" y="186"/>
                      <a:pt x="146" y="184"/>
                    </a:cubicBezTo>
                    <a:cubicBezTo>
                      <a:pt x="164" y="196"/>
                      <a:pt x="164" y="196"/>
                      <a:pt x="164" y="196"/>
                    </a:cubicBezTo>
                    <a:cubicBezTo>
                      <a:pt x="166" y="198"/>
                      <a:pt x="169" y="198"/>
                      <a:pt x="171" y="198"/>
                    </a:cubicBezTo>
                    <a:cubicBezTo>
                      <a:pt x="175" y="198"/>
                      <a:pt x="179" y="197"/>
                      <a:pt x="181" y="194"/>
                    </a:cubicBezTo>
                    <a:cubicBezTo>
                      <a:pt x="194" y="181"/>
                      <a:pt x="194" y="181"/>
                      <a:pt x="194" y="181"/>
                    </a:cubicBezTo>
                    <a:cubicBezTo>
                      <a:pt x="199" y="177"/>
                      <a:pt x="200" y="169"/>
                      <a:pt x="196" y="164"/>
                    </a:cubicBezTo>
                    <a:cubicBezTo>
                      <a:pt x="184" y="146"/>
                      <a:pt x="184" y="146"/>
                      <a:pt x="184" y="146"/>
                    </a:cubicBezTo>
                    <a:cubicBezTo>
                      <a:pt x="186" y="143"/>
                      <a:pt x="187" y="140"/>
                      <a:pt x="188" y="137"/>
                    </a:cubicBezTo>
                    <a:cubicBezTo>
                      <a:pt x="209" y="133"/>
                      <a:pt x="209" y="133"/>
                      <a:pt x="209" y="133"/>
                    </a:cubicBezTo>
                    <a:cubicBezTo>
                      <a:pt x="215" y="132"/>
                      <a:pt x="220" y="126"/>
                      <a:pt x="220" y="119"/>
                    </a:cubicBezTo>
                    <a:cubicBezTo>
                      <a:pt x="220" y="101"/>
                      <a:pt x="220" y="101"/>
                      <a:pt x="220" y="101"/>
                    </a:cubicBezTo>
                    <a:cubicBezTo>
                      <a:pt x="220" y="94"/>
                      <a:pt x="215" y="88"/>
                      <a:pt x="209" y="87"/>
                    </a:cubicBezTo>
                    <a:close/>
                    <a:moveTo>
                      <a:pt x="185" y="124"/>
                    </a:moveTo>
                    <a:cubicBezTo>
                      <a:pt x="180" y="125"/>
                      <a:pt x="176" y="128"/>
                      <a:pt x="175" y="133"/>
                    </a:cubicBezTo>
                    <a:cubicBezTo>
                      <a:pt x="174" y="135"/>
                      <a:pt x="173" y="138"/>
                      <a:pt x="172" y="140"/>
                    </a:cubicBezTo>
                    <a:cubicBezTo>
                      <a:pt x="170" y="144"/>
                      <a:pt x="170" y="149"/>
                      <a:pt x="173" y="154"/>
                    </a:cubicBezTo>
                    <a:cubicBezTo>
                      <a:pt x="185" y="171"/>
                      <a:pt x="185" y="171"/>
                      <a:pt x="185" y="171"/>
                    </a:cubicBezTo>
                    <a:cubicBezTo>
                      <a:pt x="171" y="185"/>
                      <a:pt x="171" y="185"/>
                      <a:pt x="171" y="185"/>
                    </a:cubicBezTo>
                    <a:cubicBezTo>
                      <a:pt x="154" y="173"/>
                      <a:pt x="154" y="173"/>
                      <a:pt x="154" y="173"/>
                    </a:cubicBezTo>
                    <a:cubicBezTo>
                      <a:pt x="151" y="171"/>
                      <a:pt x="149" y="170"/>
                      <a:pt x="146" y="170"/>
                    </a:cubicBezTo>
                    <a:cubicBezTo>
                      <a:pt x="144" y="170"/>
                      <a:pt x="142" y="171"/>
                      <a:pt x="140" y="172"/>
                    </a:cubicBezTo>
                    <a:cubicBezTo>
                      <a:pt x="138" y="173"/>
                      <a:pt x="135" y="174"/>
                      <a:pt x="133" y="175"/>
                    </a:cubicBezTo>
                    <a:cubicBezTo>
                      <a:pt x="128" y="176"/>
                      <a:pt x="125" y="180"/>
                      <a:pt x="124" y="185"/>
                    </a:cubicBezTo>
                    <a:cubicBezTo>
                      <a:pt x="119" y="206"/>
                      <a:pt x="119" y="206"/>
                      <a:pt x="119" y="206"/>
                    </a:cubicBezTo>
                    <a:cubicBezTo>
                      <a:pt x="101" y="206"/>
                      <a:pt x="101" y="206"/>
                      <a:pt x="101" y="206"/>
                    </a:cubicBezTo>
                    <a:cubicBezTo>
                      <a:pt x="96" y="185"/>
                      <a:pt x="96" y="185"/>
                      <a:pt x="96" y="185"/>
                    </a:cubicBezTo>
                    <a:cubicBezTo>
                      <a:pt x="95" y="180"/>
                      <a:pt x="92" y="176"/>
                      <a:pt x="87" y="175"/>
                    </a:cubicBezTo>
                    <a:cubicBezTo>
                      <a:pt x="85" y="174"/>
                      <a:pt x="82" y="173"/>
                      <a:pt x="80" y="172"/>
                    </a:cubicBezTo>
                    <a:cubicBezTo>
                      <a:pt x="78" y="171"/>
                      <a:pt x="76" y="170"/>
                      <a:pt x="74" y="170"/>
                    </a:cubicBezTo>
                    <a:cubicBezTo>
                      <a:pt x="71" y="170"/>
                      <a:pt x="69" y="171"/>
                      <a:pt x="66" y="173"/>
                    </a:cubicBezTo>
                    <a:cubicBezTo>
                      <a:pt x="49" y="185"/>
                      <a:pt x="49" y="185"/>
                      <a:pt x="49" y="185"/>
                    </a:cubicBezTo>
                    <a:cubicBezTo>
                      <a:pt x="35" y="171"/>
                      <a:pt x="35" y="171"/>
                      <a:pt x="35" y="171"/>
                    </a:cubicBezTo>
                    <a:cubicBezTo>
                      <a:pt x="47" y="154"/>
                      <a:pt x="47" y="154"/>
                      <a:pt x="47" y="154"/>
                    </a:cubicBezTo>
                    <a:cubicBezTo>
                      <a:pt x="50" y="149"/>
                      <a:pt x="50" y="144"/>
                      <a:pt x="48" y="140"/>
                    </a:cubicBezTo>
                    <a:cubicBezTo>
                      <a:pt x="47" y="138"/>
                      <a:pt x="46" y="135"/>
                      <a:pt x="45" y="133"/>
                    </a:cubicBezTo>
                    <a:cubicBezTo>
                      <a:pt x="44" y="128"/>
                      <a:pt x="40" y="125"/>
                      <a:pt x="35" y="124"/>
                    </a:cubicBezTo>
                    <a:cubicBezTo>
                      <a:pt x="14" y="119"/>
                      <a:pt x="14" y="119"/>
                      <a:pt x="14" y="119"/>
                    </a:cubicBezTo>
                    <a:cubicBezTo>
                      <a:pt x="14" y="101"/>
                      <a:pt x="14" y="101"/>
                      <a:pt x="14" y="101"/>
                    </a:cubicBezTo>
                    <a:cubicBezTo>
                      <a:pt x="35" y="96"/>
                      <a:pt x="35" y="96"/>
                      <a:pt x="35" y="96"/>
                    </a:cubicBezTo>
                    <a:cubicBezTo>
                      <a:pt x="40" y="95"/>
                      <a:pt x="44" y="92"/>
                      <a:pt x="45" y="87"/>
                    </a:cubicBezTo>
                    <a:cubicBezTo>
                      <a:pt x="46" y="85"/>
                      <a:pt x="47" y="82"/>
                      <a:pt x="48" y="80"/>
                    </a:cubicBezTo>
                    <a:cubicBezTo>
                      <a:pt x="50" y="76"/>
                      <a:pt x="50" y="71"/>
                      <a:pt x="47" y="66"/>
                    </a:cubicBezTo>
                    <a:cubicBezTo>
                      <a:pt x="35" y="49"/>
                      <a:pt x="35" y="49"/>
                      <a:pt x="35" y="49"/>
                    </a:cubicBezTo>
                    <a:cubicBezTo>
                      <a:pt x="49" y="35"/>
                      <a:pt x="49" y="35"/>
                      <a:pt x="49" y="35"/>
                    </a:cubicBezTo>
                    <a:cubicBezTo>
                      <a:pt x="66" y="47"/>
                      <a:pt x="66" y="47"/>
                      <a:pt x="66" y="47"/>
                    </a:cubicBezTo>
                    <a:cubicBezTo>
                      <a:pt x="69" y="49"/>
                      <a:pt x="71" y="50"/>
                      <a:pt x="74" y="50"/>
                    </a:cubicBezTo>
                    <a:cubicBezTo>
                      <a:pt x="76" y="50"/>
                      <a:pt x="78" y="49"/>
                      <a:pt x="80" y="48"/>
                    </a:cubicBezTo>
                    <a:cubicBezTo>
                      <a:pt x="82" y="47"/>
                      <a:pt x="85" y="46"/>
                      <a:pt x="87" y="45"/>
                    </a:cubicBezTo>
                    <a:cubicBezTo>
                      <a:pt x="92" y="44"/>
                      <a:pt x="95" y="40"/>
                      <a:pt x="96" y="35"/>
                    </a:cubicBezTo>
                    <a:cubicBezTo>
                      <a:pt x="101" y="14"/>
                      <a:pt x="101" y="14"/>
                      <a:pt x="101" y="14"/>
                    </a:cubicBezTo>
                    <a:cubicBezTo>
                      <a:pt x="119" y="14"/>
                      <a:pt x="119" y="14"/>
                      <a:pt x="119" y="14"/>
                    </a:cubicBezTo>
                    <a:cubicBezTo>
                      <a:pt x="124" y="35"/>
                      <a:pt x="124" y="35"/>
                      <a:pt x="124" y="35"/>
                    </a:cubicBezTo>
                    <a:cubicBezTo>
                      <a:pt x="125" y="40"/>
                      <a:pt x="128" y="44"/>
                      <a:pt x="133" y="45"/>
                    </a:cubicBezTo>
                    <a:cubicBezTo>
                      <a:pt x="135" y="46"/>
                      <a:pt x="138" y="47"/>
                      <a:pt x="140" y="48"/>
                    </a:cubicBezTo>
                    <a:cubicBezTo>
                      <a:pt x="142" y="49"/>
                      <a:pt x="144" y="50"/>
                      <a:pt x="146" y="50"/>
                    </a:cubicBezTo>
                    <a:cubicBezTo>
                      <a:pt x="149" y="50"/>
                      <a:pt x="151" y="49"/>
                      <a:pt x="154" y="47"/>
                    </a:cubicBezTo>
                    <a:cubicBezTo>
                      <a:pt x="171" y="35"/>
                      <a:pt x="171" y="35"/>
                      <a:pt x="171" y="35"/>
                    </a:cubicBezTo>
                    <a:cubicBezTo>
                      <a:pt x="185" y="49"/>
                      <a:pt x="185" y="49"/>
                      <a:pt x="185" y="49"/>
                    </a:cubicBezTo>
                    <a:cubicBezTo>
                      <a:pt x="173" y="66"/>
                      <a:pt x="173" y="66"/>
                      <a:pt x="173" y="66"/>
                    </a:cubicBezTo>
                    <a:cubicBezTo>
                      <a:pt x="170" y="71"/>
                      <a:pt x="170" y="76"/>
                      <a:pt x="172" y="80"/>
                    </a:cubicBezTo>
                    <a:cubicBezTo>
                      <a:pt x="173" y="82"/>
                      <a:pt x="174" y="85"/>
                      <a:pt x="175" y="87"/>
                    </a:cubicBezTo>
                    <a:cubicBezTo>
                      <a:pt x="176" y="92"/>
                      <a:pt x="180" y="95"/>
                      <a:pt x="185" y="96"/>
                    </a:cubicBezTo>
                    <a:cubicBezTo>
                      <a:pt x="206" y="101"/>
                      <a:pt x="206" y="101"/>
                      <a:pt x="206" y="101"/>
                    </a:cubicBezTo>
                    <a:cubicBezTo>
                      <a:pt x="206" y="119"/>
                      <a:pt x="206" y="119"/>
                      <a:pt x="206" y="119"/>
                    </a:cubicBezTo>
                    <a:lnTo>
                      <a:pt x="185" y="124"/>
                    </a:lnTo>
                    <a:close/>
                  </a:path>
                </a:pathLst>
              </a:custGeom>
              <a:grpFill/>
              <a:ln>
                <a:noFill/>
              </a:ln>
            </p:spPr>
            <p:txBody>
              <a:bodyPr/>
              <a:lstStyle/>
              <a:p>
                <a:pPr>
                  <a:defRPr/>
                </a:pPr>
                <a:endParaRPr lang="id-ID" sz="1600"/>
              </a:p>
            </p:txBody>
          </p:sp>
          <p:sp>
            <p:nvSpPr>
              <p:cNvPr id="76" name="Freeform 20"/>
              <p:cNvSpPr>
                <a:spLocks noEditPoints="1"/>
              </p:cNvSpPr>
              <p:nvPr/>
            </p:nvSpPr>
            <p:spPr bwMode="auto">
              <a:xfrm>
                <a:off x="-2538413" y="300038"/>
                <a:ext cx="360362" cy="36036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48 w 96"/>
                  <a:gd name="T11" fmla="*/ 90 h 96"/>
                  <a:gd name="T12" fmla="*/ 6 w 96"/>
                  <a:gd name="T13" fmla="*/ 48 h 96"/>
                  <a:gd name="T14" fmla="*/ 48 w 96"/>
                  <a:gd name="T15" fmla="*/ 6 h 96"/>
                  <a:gd name="T16" fmla="*/ 90 w 96"/>
                  <a:gd name="T17" fmla="*/ 48 h 96"/>
                  <a:gd name="T18" fmla="*/ 48 w 96"/>
                  <a:gd name="T19" fmla="*/ 9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0"/>
                    </a:moveTo>
                    <a:cubicBezTo>
                      <a:pt x="21" y="0"/>
                      <a:pt x="0" y="21"/>
                      <a:pt x="0" y="48"/>
                    </a:cubicBezTo>
                    <a:cubicBezTo>
                      <a:pt x="0" y="75"/>
                      <a:pt x="21" y="96"/>
                      <a:pt x="48" y="96"/>
                    </a:cubicBezTo>
                    <a:cubicBezTo>
                      <a:pt x="75" y="96"/>
                      <a:pt x="96" y="75"/>
                      <a:pt x="96" y="48"/>
                    </a:cubicBezTo>
                    <a:cubicBezTo>
                      <a:pt x="96" y="21"/>
                      <a:pt x="75" y="0"/>
                      <a:pt x="48" y="0"/>
                    </a:cubicBezTo>
                    <a:close/>
                    <a:moveTo>
                      <a:pt x="48" y="90"/>
                    </a:moveTo>
                    <a:cubicBezTo>
                      <a:pt x="25" y="90"/>
                      <a:pt x="6" y="71"/>
                      <a:pt x="6" y="48"/>
                    </a:cubicBezTo>
                    <a:cubicBezTo>
                      <a:pt x="6" y="25"/>
                      <a:pt x="25" y="6"/>
                      <a:pt x="48" y="6"/>
                    </a:cubicBezTo>
                    <a:cubicBezTo>
                      <a:pt x="71" y="6"/>
                      <a:pt x="90" y="25"/>
                      <a:pt x="90" y="48"/>
                    </a:cubicBezTo>
                    <a:cubicBezTo>
                      <a:pt x="90" y="71"/>
                      <a:pt x="71" y="90"/>
                      <a:pt x="48" y="90"/>
                    </a:cubicBezTo>
                    <a:close/>
                  </a:path>
                </a:pathLst>
              </a:custGeom>
              <a:grpFill/>
              <a:ln>
                <a:noFill/>
              </a:ln>
            </p:spPr>
            <p:txBody>
              <a:bodyPr/>
              <a:lstStyle/>
              <a:p>
                <a:pPr>
                  <a:defRPr/>
                </a:pPr>
                <a:endParaRPr lang="id-ID" sz="1600"/>
              </a:p>
            </p:txBody>
          </p:sp>
          <p:sp>
            <p:nvSpPr>
              <p:cNvPr id="77" name="Freeform 21"/>
              <p:cNvSpPr>
                <a:spLocks noEditPoints="1"/>
              </p:cNvSpPr>
              <p:nvPr/>
            </p:nvSpPr>
            <p:spPr bwMode="auto">
              <a:xfrm>
                <a:off x="-2460625" y="374650"/>
                <a:ext cx="207962" cy="206375"/>
              </a:xfrm>
              <a:custGeom>
                <a:avLst/>
                <a:gdLst>
                  <a:gd name="T0" fmla="*/ 27 w 55"/>
                  <a:gd name="T1" fmla="*/ 0 h 55"/>
                  <a:gd name="T2" fmla="*/ 0 w 55"/>
                  <a:gd name="T3" fmla="*/ 28 h 55"/>
                  <a:gd name="T4" fmla="*/ 27 w 55"/>
                  <a:gd name="T5" fmla="*/ 55 h 55"/>
                  <a:gd name="T6" fmla="*/ 55 w 55"/>
                  <a:gd name="T7" fmla="*/ 28 h 55"/>
                  <a:gd name="T8" fmla="*/ 27 w 55"/>
                  <a:gd name="T9" fmla="*/ 0 h 55"/>
                  <a:gd name="T10" fmla="*/ 27 w 55"/>
                  <a:gd name="T11" fmla="*/ 49 h 55"/>
                  <a:gd name="T12" fmla="*/ 6 w 55"/>
                  <a:gd name="T13" fmla="*/ 28 h 55"/>
                  <a:gd name="T14" fmla="*/ 27 w 55"/>
                  <a:gd name="T15" fmla="*/ 7 h 55"/>
                  <a:gd name="T16" fmla="*/ 48 w 55"/>
                  <a:gd name="T17" fmla="*/ 28 h 55"/>
                  <a:gd name="T18" fmla="*/ 27 w 55"/>
                  <a:gd name="T19"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 h="55">
                    <a:moveTo>
                      <a:pt x="27" y="0"/>
                    </a:moveTo>
                    <a:cubicBezTo>
                      <a:pt x="12" y="0"/>
                      <a:pt x="0" y="13"/>
                      <a:pt x="0" y="28"/>
                    </a:cubicBezTo>
                    <a:cubicBezTo>
                      <a:pt x="0" y="43"/>
                      <a:pt x="12" y="55"/>
                      <a:pt x="27" y="55"/>
                    </a:cubicBezTo>
                    <a:cubicBezTo>
                      <a:pt x="42" y="55"/>
                      <a:pt x="55" y="43"/>
                      <a:pt x="55" y="28"/>
                    </a:cubicBezTo>
                    <a:cubicBezTo>
                      <a:pt x="55" y="13"/>
                      <a:pt x="42" y="0"/>
                      <a:pt x="27" y="0"/>
                    </a:cubicBezTo>
                    <a:close/>
                    <a:moveTo>
                      <a:pt x="27" y="49"/>
                    </a:moveTo>
                    <a:cubicBezTo>
                      <a:pt x="16" y="49"/>
                      <a:pt x="6" y="39"/>
                      <a:pt x="6" y="28"/>
                    </a:cubicBezTo>
                    <a:cubicBezTo>
                      <a:pt x="6" y="17"/>
                      <a:pt x="16" y="7"/>
                      <a:pt x="27" y="7"/>
                    </a:cubicBezTo>
                    <a:cubicBezTo>
                      <a:pt x="38" y="7"/>
                      <a:pt x="48" y="17"/>
                      <a:pt x="48" y="28"/>
                    </a:cubicBezTo>
                    <a:cubicBezTo>
                      <a:pt x="48" y="39"/>
                      <a:pt x="38" y="49"/>
                      <a:pt x="27" y="49"/>
                    </a:cubicBezTo>
                    <a:close/>
                  </a:path>
                </a:pathLst>
              </a:custGeom>
              <a:grpFill/>
              <a:ln>
                <a:noFill/>
              </a:ln>
            </p:spPr>
            <p:txBody>
              <a:bodyPr/>
              <a:lstStyle/>
              <a:p>
                <a:pPr>
                  <a:defRPr/>
                </a:pPr>
                <a:endParaRPr lang="id-ID" sz="1600"/>
              </a:p>
            </p:txBody>
          </p:sp>
        </p:grpSp>
      </p:grpSp>
      <p:grpSp>
        <p:nvGrpSpPr>
          <p:cNvPr id="80" name="组合 79"/>
          <p:cNvGrpSpPr/>
          <p:nvPr/>
        </p:nvGrpSpPr>
        <p:grpSpPr>
          <a:xfrm>
            <a:off x="3858786" y="4779502"/>
            <a:ext cx="2575840" cy="900113"/>
            <a:chOff x="3487342" y="3662364"/>
            <a:chExt cx="1932383" cy="675085"/>
          </a:xfrm>
        </p:grpSpPr>
        <p:cxnSp>
          <p:nvCxnSpPr>
            <p:cNvPr id="81" name="Straight Connector 65"/>
            <p:cNvCxnSpPr/>
            <p:nvPr/>
          </p:nvCxnSpPr>
          <p:spPr>
            <a:xfrm>
              <a:off x="3487342" y="4013597"/>
              <a:ext cx="1350169" cy="0"/>
            </a:xfrm>
            <a:prstGeom prst="line">
              <a:avLst/>
            </a:prstGeom>
            <a:ln w="12700">
              <a:solidFill>
                <a:schemeClr val="tx2"/>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2" name="Group 29"/>
            <p:cNvGrpSpPr>
              <a:grpSpLocks noChangeAspect="1"/>
            </p:cNvGrpSpPr>
            <p:nvPr/>
          </p:nvGrpSpPr>
          <p:grpSpPr bwMode="auto">
            <a:xfrm>
              <a:off x="4744641" y="3662364"/>
              <a:ext cx="675084" cy="675085"/>
              <a:chOff x="5385173" y="1917525"/>
              <a:chExt cx="1440000" cy="1440000"/>
            </a:xfrm>
          </p:grpSpPr>
          <p:sp>
            <p:nvSpPr>
              <p:cNvPr id="91" name="Oval 30"/>
              <p:cNvSpPr>
                <a:spLocks noChangeAspect="1"/>
              </p:cNvSpPr>
              <p:nvPr/>
            </p:nvSpPr>
            <p:spPr>
              <a:xfrm>
                <a:off x="5385173" y="1917525"/>
                <a:ext cx="1440000" cy="1440000"/>
              </a:xfrm>
              <a:prstGeom prst="ellipse">
                <a:avLst/>
              </a:prstGeom>
              <a:solidFill>
                <a:schemeClr val="bg1">
                  <a:lumMod val="65000"/>
                  <a:alpha val="6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a:p>
            </p:txBody>
          </p:sp>
          <p:sp>
            <p:nvSpPr>
              <p:cNvPr id="92" name="Oval 31"/>
              <p:cNvSpPr/>
              <p:nvPr/>
            </p:nvSpPr>
            <p:spPr>
              <a:xfrm>
                <a:off x="5474061" y="2006415"/>
                <a:ext cx="1262224" cy="1262221"/>
              </a:xfrm>
              <a:prstGeom prst="ellipse">
                <a:avLst/>
              </a:prstGeom>
              <a:solidFill>
                <a:schemeClr val="accent4"/>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a:p>
            </p:txBody>
          </p:sp>
        </p:grpSp>
        <p:grpSp>
          <p:nvGrpSpPr>
            <p:cNvPr id="83" name="Group 42"/>
            <p:cNvGrpSpPr/>
            <p:nvPr/>
          </p:nvGrpSpPr>
          <p:grpSpPr>
            <a:xfrm>
              <a:off x="4917922" y="3874428"/>
              <a:ext cx="324274" cy="247844"/>
              <a:chOff x="5516563" y="84138"/>
              <a:chExt cx="1414463" cy="1081087"/>
            </a:xfrm>
            <a:solidFill>
              <a:schemeClr val="bg1"/>
            </a:solidFill>
          </p:grpSpPr>
          <p:sp>
            <p:nvSpPr>
              <p:cNvPr id="84" name="Freeform 13"/>
              <p:cNvSpPr>
                <a:spLocks noEditPoints="1"/>
              </p:cNvSpPr>
              <p:nvPr/>
            </p:nvSpPr>
            <p:spPr bwMode="auto">
              <a:xfrm>
                <a:off x="5688013" y="249238"/>
                <a:ext cx="896938" cy="698500"/>
              </a:xfrm>
              <a:custGeom>
                <a:avLst/>
                <a:gdLst>
                  <a:gd name="T0" fmla="*/ 214 w 239"/>
                  <a:gd name="T1" fmla="*/ 9 h 186"/>
                  <a:gd name="T2" fmla="*/ 120 w 239"/>
                  <a:gd name="T3" fmla="*/ 0 h 186"/>
                  <a:gd name="T4" fmla="*/ 26 w 239"/>
                  <a:gd name="T5" fmla="*/ 9 h 186"/>
                  <a:gd name="T6" fmla="*/ 17 w 239"/>
                  <a:gd name="T7" fmla="*/ 17 h 186"/>
                  <a:gd name="T8" fmla="*/ 17 w 239"/>
                  <a:gd name="T9" fmla="*/ 169 h 186"/>
                  <a:gd name="T10" fmla="*/ 26 w 239"/>
                  <a:gd name="T11" fmla="*/ 177 h 186"/>
                  <a:gd name="T12" fmla="*/ 120 w 239"/>
                  <a:gd name="T13" fmla="*/ 186 h 186"/>
                  <a:gd name="T14" fmla="*/ 214 w 239"/>
                  <a:gd name="T15" fmla="*/ 177 h 186"/>
                  <a:gd name="T16" fmla="*/ 222 w 239"/>
                  <a:gd name="T17" fmla="*/ 169 h 186"/>
                  <a:gd name="T18" fmla="*/ 222 w 239"/>
                  <a:gd name="T19" fmla="*/ 17 h 186"/>
                  <a:gd name="T20" fmla="*/ 214 w 239"/>
                  <a:gd name="T21" fmla="*/ 9 h 186"/>
                  <a:gd name="T22" fmla="*/ 211 w 239"/>
                  <a:gd name="T23" fmla="*/ 165 h 186"/>
                  <a:gd name="T24" fmla="*/ 28 w 239"/>
                  <a:gd name="T25" fmla="*/ 165 h 186"/>
                  <a:gd name="T26" fmla="*/ 28 w 239"/>
                  <a:gd name="T27" fmla="*/ 21 h 186"/>
                  <a:gd name="T28" fmla="*/ 211 w 239"/>
                  <a:gd name="T29" fmla="*/ 21 h 186"/>
                  <a:gd name="T30" fmla="*/ 211 w 239"/>
                  <a:gd name="T31" fmla="*/ 16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9" h="186">
                    <a:moveTo>
                      <a:pt x="214" y="9"/>
                    </a:moveTo>
                    <a:cubicBezTo>
                      <a:pt x="182" y="3"/>
                      <a:pt x="151" y="0"/>
                      <a:pt x="120" y="0"/>
                    </a:cubicBezTo>
                    <a:cubicBezTo>
                      <a:pt x="88" y="0"/>
                      <a:pt x="57" y="3"/>
                      <a:pt x="26" y="9"/>
                    </a:cubicBezTo>
                    <a:cubicBezTo>
                      <a:pt x="22" y="10"/>
                      <a:pt x="18" y="13"/>
                      <a:pt x="17" y="17"/>
                    </a:cubicBezTo>
                    <a:cubicBezTo>
                      <a:pt x="0" y="67"/>
                      <a:pt x="0" y="118"/>
                      <a:pt x="17" y="169"/>
                    </a:cubicBezTo>
                    <a:cubicBezTo>
                      <a:pt x="18" y="173"/>
                      <a:pt x="22" y="176"/>
                      <a:pt x="26" y="177"/>
                    </a:cubicBezTo>
                    <a:cubicBezTo>
                      <a:pt x="57" y="183"/>
                      <a:pt x="88" y="186"/>
                      <a:pt x="120" y="186"/>
                    </a:cubicBezTo>
                    <a:cubicBezTo>
                      <a:pt x="151" y="186"/>
                      <a:pt x="182" y="183"/>
                      <a:pt x="214" y="177"/>
                    </a:cubicBezTo>
                    <a:cubicBezTo>
                      <a:pt x="218" y="176"/>
                      <a:pt x="221" y="173"/>
                      <a:pt x="222" y="169"/>
                    </a:cubicBezTo>
                    <a:cubicBezTo>
                      <a:pt x="239" y="118"/>
                      <a:pt x="239" y="67"/>
                      <a:pt x="222" y="17"/>
                    </a:cubicBezTo>
                    <a:cubicBezTo>
                      <a:pt x="221" y="13"/>
                      <a:pt x="218" y="10"/>
                      <a:pt x="214" y="9"/>
                    </a:cubicBezTo>
                    <a:close/>
                    <a:moveTo>
                      <a:pt x="211" y="165"/>
                    </a:moveTo>
                    <a:cubicBezTo>
                      <a:pt x="150" y="178"/>
                      <a:pt x="89" y="178"/>
                      <a:pt x="28" y="165"/>
                    </a:cubicBezTo>
                    <a:cubicBezTo>
                      <a:pt x="12" y="117"/>
                      <a:pt x="12" y="69"/>
                      <a:pt x="28" y="21"/>
                    </a:cubicBezTo>
                    <a:cubicBezTo>
                      <a:pt x="89" y="8"/>
                      <a:pt x="150" y="8"/>
                      <a:pt x="211" y="21"/>
                    </a:cubicBezTo>
                    <a:cubicBezTo>
                      <a:pt x="227" y="69"/>
                      <a:pt x="227" y="117"/>
                      <a:pt x="211" y="165"/>
                    </a:cubicBezTo>
                    <a:close/>
                  </a:path>
                </a:pathLst>
              </a:custGeom>
              <a:grpFill/>
              <a:ln>
                <a:noFill/>
              </a:ln>
            </p:spPr>
            <p:txBody>
              <a:bodyPr/>
              <a:lstStyle/>
              <a:p>
                <a:pPr>
                  <a:defRPr/>
                </a:pPr>
                <a:endParaRPr lang="id-ID" sz="1600"/>
              </a:p>
            </p:txBody>
          </p:sp>
          <p:sp>
            <p:nvSpPr>
              <p:cNvPr id="85" name="Freeform 14"/>
              <p:cNvSpPr>
                <a:spLocks noEditPoints="1"/>
              </p:cNvSpPr>
              <p:nvPr/>
            </p:nvSpPr>
            <p:spPr bwMode="auto">
              <a:xfrm>
                <a:off x="5516563" y="84138"/>
                <a:ext cx="1414463" cy="1081087"/>
              </a:xfrm>
              <a:custGeom>
                <a:avLst/>
                <a:gdLst>
                  <a:gd name="T0" fmla="*/ 359 w 377"/>
                  <a:gd name="T1" fmla="*/ 27 h 288"/>
                  <a:gd name="T2" fmla="*/ 340 w 377"/>
                  <a:gd name="T3" fmla="*/ 9 h 288"/>
                  <a:gd name="T4" fmla="*/ 189 w 377"/>
                  <a:gd name="T5" fmla="*/ 0 h 288"/>
                  <a:gd name="T6" fmla="*/ 37 w 377"/>
                  <a:gd name="T7" fmla="*/ 9 h 288"/>
                  <a:gd name="T8" fmla="*/ 18 w 377"/>
                  <a:gd name="T9" fmla="*/ 27 h 288"/>
                  <a:gd name="T10" fmla="*/ 18 w 377"/>
                  <a:gd name="T11" fmla="*/ 250 h 288"/>
                  <a:gd name="T12" fmla="*/ 37 w 377"/>
                  <a:gd name="T13" fmla="*/ 267 h 288"/>
                  <a:gd name="T14" fmla="*/ 110 w 377"/>
                  <a:gd name="T15" fmla="*/ 274 h 288"/>
                  <a:gd name="T16" fmla="*/ 108 w 377"/>
                  <a:gd name="T17" fmla="*/ 276 h 288"/>
                  <a:gd name="T18" fmla="*/ 189 w 377"/>
                  <a:gd name="T19" fmla="*/ 288 h 288"/>
                  <a:gd name="T20" fmla="*/ 269 w 377"/>
                  <a:gd name="T21" fmla="*/ 276 h 288"/>
                  <a:gd name="T22" fmla="*/ 267 w 377"/>
                  <a:gd name="T23" fmla="*/ 274 h 288"/>
                  <a:gd name="T24" fmla="*/ 340 w 377"/>
                  <a:gd name="T25" fmla="*/ 267 h 288"/>
                  <a:gd name="T26" fmla="*/ 359 w 377"/>
                  <a:gd name="T27" fmla="*/ 250 h 288"/>
                  <a:gd name="T28" fmla="*/ 359 w 377"/>
                  <a:gd name="T29" fmla="*/ 27 h 288"/>
                  <a:gd name="T30" fmla="*/ 337 w 377"/>
                  <a:gd name="T31" fmla="*/ 244 h 288"/>
                  <a:gd name="T32" fmla="*/ 40 w 377"/>
                  <a:gd name="T33" fmla="*/ 244 h 288"/>
                  <a:gd name="T34" fmla="*/ 40 w 377"/>
                  <a:gd name="T35" fmla="*/ 32 h 288"/>
                  <a:gd name="T36" fmla="*/ 337 w 377"/>
                  <a:gd name="T37" fmla="*/ 32 h 288"/>
                  <a:gd name="T38" fmla="*/ 337 w 377"/>
                  <a:gd name="T39" fmla="*/ 24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77" h="288">
                    <a:moveTo>
                      <a:pt x="359" y="27"/>
                    </a:moveTo>
                    <a:cubicBezTo>
                      <a:pt x="357" y="17"/>
                      <a:pt x="349" y="10"/>
                      <a:pt x="340" y="9"/>
                    </a:cubicBezTo>
                    <a:cubicBezTo>
                      <a:pt x="290" y="3"/>
                      <a:pt x="239" y="0"/>
                      <a:pt x="189" y="0"/>
                    </a:cubicBezTo>
                    <a:cubicBezTo>
                      <a:pt x="138" y="0"/>
                      <a:pt x="87" y="3"/>
                      <a:pt x="37" y="9"/>
                    </a:cubicBezTo>
                    <a:cubicBezTo>
                      <a:pt x="28" y="10"/>
                      <a:pt x="20" y="17"/>
                      <a:pt x="18" y="27"/>
                    </a:cubicBezTo>
                    <a:cubicBezTo>
                      <a:pt x="0" y="101"/>
                      <a:pt x="0" y="176"/>
                      <a:pt x="18" y="250"/>
                    </a:cubicBezTo>
                    <a:cubicBezTo>
                      <a:pt x="20" y="259"/>
                      <a:pt x="28" y="266"/>
                      <a:pt x="37" y="267"/>
                    </a:cubicBezTo>
                    <a:cubicBezTo>
                      <a:pt x="61" y="270"/>
                      <a:pt x="86" y="272"/>
                      <a:pt x="110" y="274"/>
                    </a:cubicBezTo>
                    <a:cubicBezTo>
                      <a:pt x="109" y="275"/>
                      <a:pt x="108" y="275"/>
                      <a:pt x="108" y="276"/>
                    </a:cubicBezTo>
                    <a:cubicBezTo>
                      <a:pt x="108" y="283"/>
                      <a:pt x="144" y="288"/>
                      <a:pt x="189" y="288"/>
                    </a:cubicBezTo>
                    <a:cubicBezTo>
                      <a:pt x="233" y="288"/>
                      <a:pt x="269" y="283"/>
                      <a:pt x="269" y="276"/>
                    </a:cubicBezTo>
                    <a:cubicBezTo>
                      <a:pt x="269" y="275"/>
                      <a:pt x="268" y="275"/>
                      <a:pt x="267" y="274"/>
                    </a:cubicBezTo>
                    <a:cubicBezTo>
                      <a:pt x="291" y="272"/>
                      <a:pt x="316" y="270"/>
                      <a:pt x="340" y="267"/>
                    </a:cubicBezTo>
                    <a:cubicBezTo>
                      <a:pt x="349" y="266"/>
                      <a:pt x="357" y="259"/>
                      <a:pt x="359" y="250"/>
                    </a:cubicBezTo>
                    <a:cubicBezTo>
                      <a:pt x="377" y="176"/>
                      <a:pt x="377" y="101"/>
                      <a:pt x="359" y="27"/>
                    </a:cubicBezTo>
                    <a:close/>
                    <a:moveTo>
                      <a:pt x="337" y="244"/>
                    </a:moveTo>
                    <a:cubicBezTo>
                      <a:pt x="238" y="256"/>
                      <a:pt x="139" y="256"/>
                      <a:pt x="40" y="244"/>
                    </a:cubicBezTo>
                    <a:cubicBezTo>
                      <a:pt x="23" y="174"/>
                      <a:pt x="23" y="103"/>
                      <a:pt x="40" y="32"/>
                    </a:cubicBezTo>
                    <a:cubicBezTo>
                      <a:pt x="139" y="20"/>
                      <a:pt x="238" y="20"/>
                      <a:pt x="337" y="32"/>
                    </a:cubicBezTo>
                    <a:cubicBezTo>
                      <a:pt x="354" y="103"/>
                      <a:pt x="354" y="174"/>
                      <a:pt x="337" y="244"/>
                    </a:cubicBezTo>
                    <a:close/>
                  </a:path>
                </a:pathLst>
              </a:custGeom>
              <a:grpFill/>
              <a:ln>
                <a:noFill/>
              </a:ln>
            </p:spPr>
            <p:txBody>
              <a:bodyPr/>
              <a:lstStyle/>
              <a:p>
                <a:pPr>
                  <a:defRPr/>
                </a:pPr>
                <a:endParaRPr lang="id-ID" sz="1600"/>
              </a:p>
            </p:txBody>
          </p:sp>
          <p:sp>
            <p:nvSpPr>
              <p:cNvPr id="86" name="Freeform 15"/>
              <p:cNvSpPr>
                <a:spLocks noEditPoints="1"/>
              </p:cNvSpPr>
              <p:nvPr/>
            </p:nvSpPr>
            <p:spPr bwMode="auto">
              <a:xfrm>
                <a:off x="6611938" y="301625"/>
                <a:ext cx="131763" cy="128587"/>
              </a:xfrm>
              <a:custGeom>
                <a:avLst/>
                <a:gdLst>
                  <a:gd name="T0" fmla="*/ 17 w 35"/>
                  <a:gd name="T1" fmla="*/ 34 h 34"/>
                  <a:gd name="T2" fmla="*/ 35 w 35"/>
                  <a:gd name="T3" fmla="*/ 17 h 34"/>
                  <a:gd name="T4" fmla="*/ 17 w 35"/>
                  <a:gd name="T5" fmla="*/ 0 h 34"/>
                  <a:gd name="T6" fmla="*/ 0 w 35"/>
                  <a:gd name="T7" fmla="*/ 17 h 34"/>
                  <a:gd name="T8" fmla="*/ 17 w 35"/>
                  <a:gd name="T9" fmla="*/ 34 h 34"/>
                  <a:gd name="T10" fmla="*/ 17 w 35"/>
                  <a:gd name="T11" fmla="*/ 11 h 34"/>
                  <a:gd name="T12" fmla="*/ 23 w 35"/>
                  <a:gd name="T13" fmla="*/ 17 h 34"/>
                  <a:gd name="T14" fmla="*/ 17 w 35"/>
                  <a:gd name="T15" fmla="*/ 23 h 34"/>
                  <a:gd name="T16" fmla="*/ 12 w 35"/>
                  <a:gd name="T17" fmla="*/ 17 h 34"/>
                  <a:gd name="T18" fmla="*/ 17 w 35"/>
                  <a:gd name="T19" fmla="*/ 1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34">
                    <a:moveTo>
                      <a:pt x="17" y="34"/>
                    </a:moveTo>
                    <a:cubicBezTo>
                      <a:pt x="27" y="34"/>
                      <a:pt x="35" y="26"/>
                      <a:pt x="35" y="17"/>
                    </a:cubicBezTo>
                    <a:cubicBezTo>
                      <a:pt x="35" y="7"/>
                      <a:pt x="27" y="0"/>
                      <a:pt x="17" y="0"/>
                    </a:cubicBezTo>
                    <a:cubicBezTo>
                      <a:pt x="8" y="0"/>
                      <a:pt x="0" y="7"/>
                      <a:pt x="0" y="17"/>
                    </a:cubicBezTo>
                    <a:cubicBezTo>
                      <a:pt x="0" y="26"/>
                      <a:pt x="8" y="34"/>
                      <a:pt x="17" y="34"/>
                    </a:cubicBezTo>
                    <a:close/>
                    <a:moveTo>
                      <a:pt x="17" y="11"/>
                    </a:moveTo>
                    <a:cubicBezTo>
                      <a:pt x="21" y="11"/>
                      <a:pt x="23" y="14"/>
                      <a:pt x="23" y="17"/>
                    </a:cubicBezTo>
                    <a:cubicBezTo>
                      <a:pt x="23" y="20"/>
                      <a:pt x="21" y="23"/>
                      <a:pt x="17" y="23"/>
                    </a:cubicBezTo>
                    <a:cubicBezTo>
                      <a:pt x="14" y="23"/>
                      <a:pt x="12" y="20"/>
                      <a:pt x="12" y="17"/>
                    </a:cubicBezTo>
                    <a:cubicBezTo>
                      <a:pt x="12" y="14"/>
                      <a:pt x="14" y="11"/>
                      <a:pt x="17" y="11"/>
                    </a:cubicBezTo>
                    <a:close/>
                  </a:path>
                </a:pathLst>
              </a:custGeom>
              <a:grpFill/>
              <a:ln>
                <a:noFill/>
              </a:ln>
            </p:spPr>
            <p:txBody>
              <a:bodyPr/>
              <a:lstStyle/>
              <a:p>
                <a:pPr>
                  <a:defRPr/>
                </a:pPr>
                <a:endParaRPr lang="id-ID" sz="1600"/>
              </a:p>
            </p:txBody>
          </p:sp>
          <p:sp>
            <p:nvSpPr>
              <p:cNvPr id="87" name="Freeform 16"/>
              <p:cNvSpPr/>
              <p:nvPr/>
            </p:nvSpPr>
            <p:spPr bwMode="auto">
              <a:xfrm>
                <a:off x="6570663" y="860425"/>
                <a:ext cx="173038" cy="46037"/>
              </a:xfrm>
              <a:custGeom>
                <a:avLst/>
                <a:gdLst>
                  <a:gd name="T0" fmla="*/ 40 w 46"/>
                  <a:gd name="T1" fmla="*/ 0 h 12"/>
                  <a:gd name="T2" fmla="*/ 5 w 46"/>
                  <a:gd name="T3" fmla="*/ 0 h 12"/>
                  <a:gd name="T4" fmla="*/ 0 w 46"/>
                  <a:gd name="T5" fmla="*/ 6 h 12"/>
                  <a:gd name="T6" fmla="*/ 5 w 46"/>
                  <a:gd name="T7" fmla="*/ 12 h 12"/>
                  <a:gd name="T8" fmla="*/ 40 w 46"/>
                  <a:gd name="T9" fmla="*/ 12 h 12"/>
                  <a:gd name="T10" fmla="*/ 46 w 46"/>
                  <a:gd name="T11" fmla="*/ 6 h 12"/>
                  <a:gd name="T12" fmla="*/ 40 w 4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6" h="12">
                    <a:moveTo>
                      <a:pt x="40" y="0"/>
                    </a:moveTo>
                    <a:cubicBezTo>
                      <a:pt x="5" y="0"/>
                      <a:pt x="5" y="0"/>
                      <a:pt x="5" y="0"/>
                    </a:cubicBezTo>
                    <a:cubicBezTo>
                      <a:pt x="2" y="0"/>
                      <a:pt x="0" y="3"/>
                      <a:pt x="0" y="6"/>
                    </a:cubicBezTo>
                    <a:cubicBezTo>
                      <a:pt x="0" y="9"/>
                      <a:pt x="2" y="12"/>
                      <a:pt x="5" y="12"/>
                    </a:cubicBezTo>
                    <a:cubicBezTo>
                      <a:pt x="40" y="12"/>
                      <a:pt x="40" y="12"/>
                      <a:pt x="40" y="12"/>
                    </a:cubicBezTo>
                    <a:cubicBezTo>
                      <a:pt x="43" y="12"/>
                      <a:pt x="46" y="9"/>
                      <a:pt x="46" y="6"/>
                    </a:cubicBezTo>
                    <a:cubicBezTo>
                      <a:pt x="46" y="3"/>
                      <a:pt x="43" y="0"/>
                      <a:pt x="40" y="0"/>
                    </a:cubicBezTo>
                    <a:close/>
                  </a:path>
                </a:pathLst>
              </a:custGeom>
              <a:grpFill/>
              <a:ln>
                <a:noFill/>
              </a:ln>
            </p:spPr>
            <p:txBody>
              <a:bodyPr/>
              <a:lstStyle/>
              <a:p>
                <a:pPr>
                  <a:defRPr/>
                </a:pPr>
                <a:endParaRPr lang="id-ID" sz="1600"/>
              </a:p>
            </p:txBody>
          </p:sp>
          <p:sp>
            <p:nvSpPr>
              <p:cNvPr id="88" name="Freeform 17"/>
              <p:cNvSpPr/>
              <p:nvPr/>
            </p:nvSpPr>
            <p:spPr bwMode="auto">
              <a:xfrm>
                <a:off x="6611938" y="733425"/>
                <a:ext cx="173038" cy="41275"/>
              </a:xfrm>
              <a:custGeom>
                <a:avLst/>
                <a:gdLst>
                  <a:gd name="T0" fmla="*/ 40 w 46"/>
                  <a:gd name="T1" fmla="*/ 0 h 11"/>
                  <a:gd name="T2" fmla="*/ 6 w 46"/>
                  <a:gd name="T3" fmla="*/ 0 h 11"/>
                  <a:gd name="T4" fmla="*/ 0 w 46"/>
                  <a:gd name="T5" fmla="*/ 5 h 11"/>
                  <a:gd name="T6" fmla="*/ 6 w 46"/>
                  <a:gd name="T7" fmla="*/ 11 h 11"/>
                  <a:gd name="T8" fmla="*/ 40 w 46"/>
                  <a:gd name="T9" fmla="*/ 11 h 11"/>
                  <a:gd name="T10" fmla="*/ 46 w 46"/>
                  <a:gd name="T11" fmla="*/ 5 h 11"/>
                  <a:gd name="T12" fmla="*/ 40 w 46"/>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6" h="11">
                    <a:moveTo>
                      <a:pt x="40" y="0"/>
                    </a:moveTo>
                    <a:cubicBezTo>
                      <a:pt x="6" y="0"/>
                      <a:pt x="6" y="0"/>
                      <a:pt x="6" y="0"/>
                    </a:cubicBezTo>
                    <a:cubicBezTo>
                      <a:pt x="3" y="0"/>
                      <a:pt x="0" y="2"/>
                      <a:pt x="0" y="5"/>
                    </a:cubicBezTo>
                    <a:cubicBezTo>
                      <a:pt x="0" y="9"/>
                      <a:pt x="3" y="11"/>
                      <a:pt x="6" y="11"/>
                    </a:cubicBezTo>
                    <a:cubicBezTo>
                      <a:pt x="40" y="11"/>
                      <a:pt x="40" y="11"/>
                      <a:pt x="40" y="11"/>
                    </a:cubicBezTo>
                    <a:cubicBezTo>
                      <a:pt x="44" y="11"/>
                      <a:pt x="46" y="9"/>
                      <a:pt x="46" y="5"/>
                    </a:cubicBezTo>
                    <a:cubicBezTo>
                      <a:pt x="46" y="2"/>
                      <a:pt x="44" y="0"/>
                      <a:pt x="40" y="0"/>
                    </a:cubicBezTo>
                    <a:close/>
                  </a:path>
                </a:pathLst>
              </a:custGeom>
              <a:grpFill/>
              <a:ln>
                <a:noFill/>
              </a:ln>
            </p:spPr>
            <p:txBody>
              <a:bodyPr/>
              <a:lstStyle/>
              <a:p>
                <a:pPr>
                  <a:defRPr/>
                </a:pPr>
                <a:endParaRPr lang="id-ID" sz="1600"/>
              </a:p>
            </p:txBody>
          </p:sp>
          <p:sp>
            <p:nvSpPr>
              <p:cNvPr id="89" name="Freeform 18"/>
              <p:cNvSpPr/>
              <p:nvPr/>
            </p:nvSpPr>
            <p:spPr bwMode="auto">
              <a:xfrm>
                <a:off x="6611938" y="601663"/>
                <a:ext cx="173038" cy="46037"/>
              </a:xfrm>
              <a:custGeom>
                <a:avLst/>
                <a:gdLst>
                  <a:gd name="T0" fmla="*/ 40 w 46"/>
                  <a:gd name="T1" fmla="*/ 0 h 12"/>
                  <a:gd name="T2" fmla="*/ 6 w 46"/>
                  <a:gd name="T3" fmla="*/ 0 h 12"/>
                  <a:gd name="T4" fmla="*/ 0 w 46"/>
                  <a:gd name="T5" fmla="*/ 6 h 12"/>
                  <a:gd name="T6" fmla="*/ 6 w 46"/>
                  <a:gd name="T7" fmla="*/ 12 h 12"/>
                  <a:gd name="T8" fmla="*/ 40 w 46"/>
                  <a:gd name="T9" fmla="*/ 12 h 12"/>
                  <a:gd name="T10" fmla="*/ 46 w 46"/>
                  <a:gd name="T11" fmla="*/ 6 h 12"/>
                  <a:gd name="T12" fmla="*/ 40 w 4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6" h="12">
                    <a:moveTo>
                      <a:pt x="40" y="0"/>
                    </a:moveTo>
                    <a:cubicBezTo>
                      <a:pt x="6" y="0"/>
                      <a:pt x="6" y="0"/>
                      <a:pt x="6" y="0"/>
                    </a:cubicBezTo>
                    <a:cubicBezTo>
                      <a:pt x="3" y="0"/>
                      <a:pt x="0" y="3"/>
                      <a:pt x="0" y="6"/>
                    </a:cubicBezTo>
                    <a:cubicBezTo>
                      <a:pt x="0" y="9"/>
                      <a:pt x="3" y="12"/>
                      <a:pt x="6" y="12"/>
                    </a:cubicBezTo>
                    <a:cubicBezTo>
                      <a:pt x="40" y="12"/>
                      <a:pt x="40" y="12"/>
                      <a:pt x="40" y="12"/>
                    </a:cubicBezTo>
                    <a:cubicBezTo>
                      <a:pt x="44" y="12"/>
                      <a:pt x="46" y="9"/>
                      <a:pt x="46" y="6"/>
                    </a:cubicBezTo>
                    <a:cubicBezTo>
                      <a:pt x="46" y="3"/>
                      <a:pt x="44" y="0"/>
                      <a:pt x="40" y="0"/>
                    </a:cubicBezTo>
                    <a:close/>
                  </a:path>
                </a:pathLst>
              </a:custGeom>
              <a:grpFill/>
              <a:ln>
                <a:noFill/>
              </a:ln>
            </p:spPr>
            <p:txBody>
              <a:bodyPr/>
              <a:lstStyle/>
              <a:p>
                <a:pPr>
                  <a:defRPr/>
                </a:pPr>
                <a:endParaRPr lang="id-ID" sz="1600"/>
              </a:p>
            </p:txBody>
          </p:sp>
          <p:sp>
            <p:nvSpPr>
              <p:cNvPr id="90" name="Freeform 19"/>
              <p:cNvSpPr/>
              <p:nvPr/>
            </p:nvSpPr>
            <p:spPr bwMode="auto">
              <a:xfrm>
                <a:off x="5880100" y="422275"/>
                <a:ext cx="258763" cy="179387"/>
              </a:xfrm>
              <a:custGeom>
                <a:avLst/>
                <a:gdLst>
                  <a:gd name="T0" fmla="*/ 63 w 69"/>
                  <a:gd name="T1" fmla="*/ 0 h 48"/>
                  <a:gd name="T2" fmla="*/ 10 w 69"/>
                  <a:gd name="T3" fmla="*/ 4 h 48"/>
                  <a:gd name="T4" fmla="*/ 3 w 69"/>
                  <a:gd name="T5" fmla="*/ 10 h 48"/>
                  <a:gd name="T6" fmla="*/ 0 w 69"/>
                  <a:gd name="T7" fmla="*/ 42 h 48"/>
                  <a:gd name="T8" fmla="*/ 5 w 69"/>
                  <a:gd name="T9" fmla="*/ 48 h 48"/>
                  <a:gd name="T10" fmla="*/ 11 w 69"/>
                  <a:gd name="T11" fmla="*/ 42 h 48"/>
                  <a:gd name="T12" fmla="*/ 13 w 69"/>
                  <a:gd name="T13" fmla="*/ 21 h 48"/>
                  <a:gd name="T14" fmla="*/ 20 w 69"/>
                  <a:gd name="T15" fmla="*/ 14 h 48"/>
                  <a:gd name="T16" fmla="*/ 63 w 69"/>
                  <a:gd name="T17" fmla="*/ 11 h 48"/>
                  <a:gd name="T18" fmla="*/ 69 w 69"/>
                  <a:gd name="T19" fmla="*/ 5 h 48"/>
                  <a:gd name="T20" fmla="*/ 63 w 69"/>
                  <a:gd name="T2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48">
                    <a:moveTo>
                      <a:pt x="63" y="0"/>
                    </a:moveTo>
                    <a:cubicBezTo>
                      <a:pt x="10" y="4"/>
                      <a:pt x="10" y="4"/>
                      <a:pt x="10" y="4"/>
                    </a:cubicBezTo>
                    <a:cubicBezTo>
                      <a:pt x="7" y="4"/>
                      <a:pt x="4" y="7"/>
                      <a:pt x="3" y="10"/>
                    </a:cubicBezTo>
                    <a:cubicBezTo>
                      <a:pt x="0" y="42"/>
                      <a:pt x="0" y="42"/>
                      <a:pt x="0" y="42"/>
                    </a:cubicBezTo>
                    <a:cubicBezTo>
                      <a:pt x="0" y="46"/>
                      <a:pt x="2" y="48"/>
                      <a:pt x="5" y="48"/>
                    </a:cubicBezTo>
                    <a:cubicBezTo>
                      <a:pt x="8" y="48"/>
                      <a:pt x="11" y="46"/>
                      <a:pt x="11" y="42"/>
                    </a:cubicBezTo>
                    <a:cubicBezTo>
                      <a:pt x="13" y="21"/>
                      <a:pt x="13" y="21"/>
                      <a:pt x="13" y="21"/>
                    </a:cubicBezTo>
                    <a:cubicBezTo>
                      <a:pt x="14" y="17"/>
                      <a:pt x="16" y="15"/>
                      <a:pt x="20" y="14"/>
                    </a:cubicBezTo>
                    <a:cubicBezTo>
                      <a:pt x="63" y="11"/>
                      <a:pt x="63" y="11"/>
                      <a:pt x="63" y="11"/>
                    </a:cubicBezTo>
                    <a:cubicBezTo>
                      <a:pt x="66" y="11"/>
                      <a:pt x="69" y="9"/>
                      <a:pt x="69" y="5"/>
                    </a:cubicBezTo>
                    <a:cubicBezTo>
                      <a:pt x="69" y="2"/>
                      <a:pt x="66" y="0"/>
                      <a:pt x="63" y="0"/>
                    </a:cubicBezTo>
                    <a:close/>
                  </a:path>
                </a:pathLst>
              </a:custGeom>
              <a:grpFill/>
              <a:ln>
                <a:noFill/>
              </a:ln>
            </p:spPr>
            <p:txBody>
              <a:bodyPr/>
              <a:lstStyle/>
              <a:p>
                <a:pPr>
                  <a:defRPr/>
                </a:pPr>
                <a:endParaRPr lang="id-ID" sz="1600"/>
              </a:p>
            </p:txBody>
          </p:sp>
        </p:grpSp>
      </p:grpSp>
      <p:grpSp>
        <p:nvGrpSpPr>
          <p:cNvPr id="93" name="组合 92"/>
          <p:cNvGrpSpPr/>
          <p:nvPr/>
        </p:nvGrpSpPr>
        <p:grpSpPr>
          <a:xfrm>
            <a:off x="4290837" y="3680951"/>
            <a:ext cx="2845649" cy="900113"/>
            <a:chOff x="3960019" y="2838451"/>
            <a:chExt cx="2134792" cy="675085"/>
          </a:xfrm>
        </p:grpSpPr>
        <p:cxnSp>
          <p:nvCxnSpPr>
            <p:cNvPr id="94" name="Straight Connector 64"/>
            <p:cNvCxnSpPr/>
            <p:nvPr/>
          </p:nvCxnSpPr>
          <p:spPr>
            <a:xfrm>
              <a:off x="3960019" y="3177778"/>
              <a:ext cx="1619250" cy="0"/>
            </a:xfrm>
            <a:prstGeom prst="line">
              <a:avLst/>
            </a:prstGeom>
            <a:ln w="12700">
              <a:solidFill>
                <a:schemeClr val="tx2"/>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5" name="Group 32"/>
            <p:cNvGrpSpPr>
              <a:grpSpLocks noChangeAspect="1"/>
            </p:cNvGrpSpPr>
            <p:nvPr/>
          </p:nvGrpSpPr>
          <p:grpSpPr bwMode="auto">
            <a:xfrm>
              <a:off x="5419727" y="2838451"/>
              <a:ext cx="675084" cy="675085"/>
              <a:chOff x="5385173" y="1917525"/>
              <a:chExt cx="1440000" cy="1440000"/>
            </a:xfrm>
          </p:grpSpPr>
          <p:sp>
            <p:nvSpPr>
              <p:cNvPr id="99" name="Oval 33"/>
              <p:cNvSpPr>
                <a:spLocks noChangeAspect="1"/>
              </p:cNvSpPr>
              <p:nvPr/>
            </p:nvSpPr>
            <p:spPr>
              <a:xfrm>
                <a:off x="5385173" y="1917525"/>
                <a:ext cx="1440000" cy="1440000"/>
              </a:xfrm>
              <a:prstGeom prst="ellipse">
                <a:avLst/>
              </a:prstGeom>
              <a:solidFill>
                <a:schemeClr val="bg1">
                  <a:lumMod val="65000"/>
                  <a:alpha val="6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a:p>
            </p:txBody>
          </p:sp>
          <p:sp>
            <p:nvSpPr>
              <p:cNvPr id="100" name="Oval 34"/>
              <p:cNvSpPr/>
              <p:nvPr/>
            </p:nvSpPr>
            <p:spPr>
              <a:xfrm>
                <a:off x="5474063" y="2006415"/>
                <a:ext cx="1262221" cy="1262221"/>
              </a:xfrm>
              <a:prstGeom prst="ellipse">
                <a:avLst/>
              </a:prstGeom>
              <a:solidFill>
                <a:schemeClr val="accent3"/>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a:p>
            </p:txBody>
          </p:sp>
        </p:grpSp>
        <p:grpSp>
          <p:nvGrpSpPr>
            <p:cNvPr id="96" name="Group 50"/>
            <p:cNvGrpSpPr/>
            <p:nvPr/>
          </p:nvGrpSpPr>
          <p:grpSpPr>
            <a:xfrm>
              <a:off x="5582489" y="3029057"/>
              <a:ext cx="335556" cy="288970"/>
              <a:chOff x="2727325" y="-39687"/>
              <a:chExt cx="1463675" cy="1260475"/>
            </a:xfrm>
            <a:solidFill>
              <a:schemeClr val="bg1"/>
            </a:solidFill>
          </p:grpSpPr>
          <p:sp>
            <p:nvSpPr>
              <p:cNvPr id="97" name="Freeform 20"/>
              <p:cNvSpPr>
                <a:spLocks noEditPoints="1"/>
              </p:cNvSpPr>
              <p:nvPr/>
            </p:nvSpPr>
            <p:spPr bwMode="auto">
              <a:xfrm>
                <a:off x="2727325" y="-39687"/>
                <a:ext cx="1463675" cy="1260475"/>
              </a:xfrm>
              <a:custGeom>
                <a:avLst/>
                <a:gdLst>
                  <a:gd name="T0" fmla="*/ 347 w 390"/>
                  <a:gd name="T1" fmla="*/ 42 h 336"/>
                  <a:gd name="T2" fmla="*/ 195 w 390"/>
                  <a:gd name="T3" fmla="*/ 38 h 336"/>
                  <a:gd name="T4" fmla="*/ 43 w 390"/>
                  <a:gd name="T5" fmla="*/ 42 h 336"/>
                  <a:gd name="T6" fmla="*/ 43 w 390"/>
                  <a:gd name="T7" fmla="*/ 196 h 336"/>
                  <a:gd name="T8" fmla="*/ 170 w 390"/>
                  <a:gd name="T9" fmla="*/ 322 h 336"/>
                  <a:gd name="T10" fmla="*/ 220 w 390"/>
                  <a:gd name="T11" fmla="*/ 322 h 336"/>
                  <a:gd name="T12" fmla="*/ 347 w 390"/>
                  <a:gd name="T13" fmla="*/ 196 h 336"/>
                  <a:gd name="T14" fmla="*/ 347 w 390"/>
                  <a:gd name="T15" fmla="*/ 42 h 336"/>
                  <a:gd name="T16" fmla="*/ 330 w 390"/>
                  <a:gd name="T17" fmla="*/ 180 h 336"/>
                  <a:gd name="T18" fmla="*/ 203 w 390"/>
                  <a:gd name="T19" fmla="*/ 306 h 336"/>
                  <a:gd name="T20" fmla="*/ 187 w 390"/>
                  <a:gd name="T21" fmla="*/ 306 h 336"/>
                  <a:gd name="T22" fmla="*/ 59 w 390"/>
                  <a:gd name="T23" fmla="*/ 180 h 336"/>
                  <a:gd name="T24" fmla="*/ 59 w 390"/>
                  <a:gd name="T25" fmla="*/ 58 h 336"/>
                  <a:gd name="T26" fmla="*/ 179 w 390"/>
                  <a:gd name="T27" fmla="*/ 55 h 336"/>
                  <a:gd name="T28" fmla="*/ 195 w 390"/>
                  <a:gd name="T29" fmla="*/ 70 h 336"/>
                  <a:gd name="T30" fmla="*/ 210 w 390"/>
                  <a:gd name="T31" fmla="*/ 55 h 336"/>
                  <a:gd name="T32" fmla="*/ 330 w 390"/>
                  <a:gd name="T33" fmla="*/ 58 h 336"/>
                  <a:gd name="T34" fmla="*/ 330 w 390"/>
                  <a:gd name="T35" fmla="*/ 18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0" h="336">
                    <a:moveTo>
                      <a:pt x="347" y="42"/>
                    </a:moveTo>
                    <a:cubicBezTo>
                      <a:pt x="305" y="0"/>
                      <a:pt x="238" y="0"/>
                      <a:pt x="195" y="38"/>
                    </a:cubicBezTo>
                    <a:cubicBezTo>
                      <a:pt x="152" y="0"/>
                      <a:pt x="85" y="0"/>
                      <a:pt x="43" y="42"/>
                    </a:cubicBezTo>
                    <a:cubicBezTo>
                      <a:pt x="0" y="84"/>
                      <a:pt x="0" y="154"/>
                      <a:pt x="43" y="196"/>
                    </a:cubicBezTo>
                    <a:cubicBezTo>
                      <a:pt x="55" y="208"/>
                      <a:pt x="170" y="322"/>
                      <a:pt x="170" y="322"/>
                    </a:cubicBezTo>
                    <a:cubicBezTo>
                      <a:pt x="184" y="336"/>
                      <a:pt x="206" y="336"/>
                      <a:pt x="220" y="322"/>
                    </a:cubicBezTo>
                    <a:cubicBezTo>
                      <a:pt x="220" y="322"/>
                      <a:pt x="345" y="198"/>
                      <a:pt x="347" y="196"/>
                    </a:cubicBezTo>
                    <a:cubicBezTo>
                      <a:pt x="390" y="154"/>
                      <a:pt x="390" y="84"/>
                      <a:pt x="347" y="42"/>
                    </a:cubicBezTo>
                    <a:close/>
                    <a:moveTo>
                      <a:pt x="330" y="180"/>
                    </a:moveTo>
                    <a:cubicBezTo>
                      <a:pt x="203" y="306"/>
                      <a:pt x="203" y="306"/>
                      <a:pt x="203" y="306"/>
                    </a:cubicBezTo>
                    <a:cubicBezTo>
                      <a:pt x="199" y="310"/>
                      <a:pt x="191" y="310"/>
                      <a:pt x="187" y="306"/>
                    </a:cubicBezTo>
                    <a:cubicBezTo>
                      <a:pt x="59" y="180"/>
                      <a:pt x="59" y="180"/>
                      <a:pt x="59" y="180"/>
                    </a:cubicBezTo>
                    <a:cubicBezTo>
                      <a:pt x="25" y="146"/>
                      <a:pt x="25" y="92"/>
                      <a:pt x="59" y="58"/>
                    </a:cubicBezTo>
                    <a:cubicBezTo>
                      <a:pt x="92" y="26"/>
                      <a:pt x="145" y="25"/>
                      <a:pt x="179" y="55"/>
                    </a:cubicBezTo>
                    <a:cubicBezTo>
                      <a:pt x="195" y="70"/>
                      <a:pt x="195" y="70"/>
                      <a:pt x="195" y="70"/>
                    </a:cubicBezTo>
                    <a:cubicBezTo>
                      <a:pt x="210" y="55"/>
                      <a:pt x="210" y="55"/>
                      <a:pt x="210" y="55"/>
                    </a:cubicBezTo>
                    <a:cubicBezTo>
                      <a:pt x="245" y="25"/>
                      <a:pt x="298" y="26"/>
                      <a:pt x="330" y="58"/>
                    </a:cubicBezTo>
                    <a:cubicBezTo>
                      <a:pt x="364" y="92"/>
                      <a:pt x="364" y="146"/>
                      <a:pt x="330" y="180"/>
                    </a:cubicBezTo>
                    <a:close/>
                  </a:path>
                </a:pathLst>
              </a:custGeom>
              <a:grpFill/>
              <a:ln>
                <a:noFill/>
              </a:ln>
            </p:spPr>
            <p:txBody>
              <a:bodyPr/>
              <a:lstStyle/>
              <a:p>
                <a:pPr>
                  <a:defRPr/>
                </a:pPr>
                <a:endParaRPr lang="id-ID" sz="1600"/>
              </a:p>
            </p:txBody>
          </p:sp>
          <p:sp>
            <p:nvSpPr>
              <p:cNvPr id="98" name="Freeform 21"/>
              <p:cNvSpPr/>
              <p:nvPr/>
            </p:nvSpPr>
            <p:spPr bwMode="auto">
              <a:xfrm>
                <a:off x="2982913" y="215900"/>
                <a:ext cx="206375" cy="201612"/>
              </a:xfrm>
              <a:custGeom>
                <a:avLst/>
                <a:gdLst>
                  <a:gd name="T0" fmla="*/ 49 w 55"/>
                  <a:gd name="T1" fmla="*/ 0 h 54"/>
                  <a:gd name="T2" fmla="*/ 49 w 55"/>
                  <a:gd name="T3" fmla="*/ 0 h 54"/>
                  <a:gd name="T4" fmla="*/ 0 w 55"/>
                  <a:gd name="T5" fmla="*/ 48 h 54"/>
                  <a:gd name="T6" fmla="*/ 0 w 55"/>
                  <a:gd name="T7" fmla="*/ 48 h 54"/>
                  <a:gd name="T8" fmla="*/ 6 w 55"/>
                  <a:gd name="T9" fmla="*/ 54 h 54"/>
                  <a:gd name="T10" fmla="*/ 12 w 55"/>
                  <a:gd name="T11" fmla="*/ 48 h 54"/>
                  <a:gd name="T12" fmla="*/ 12 w 55"/>
                  <a:gd name="T13" fmla="*/ 48 h 54"/>
                  <a:gd name="T14" fmla="*/ 49 w 55"/>
                  <a:gd name="T15" fmla="*/ 11 h 54"/>
                  <a:gd name="T16" fmla="*/ 49 w 55"/>
                  <a:gd name="T17" fmla="*/ 11 h 54"/>
                  <a:gd name="T18" fmla="*/ 55 w 55"/>
                  <a:gd name="T19" fmla="*/ 5 h 54"/>
                  <a:gd name="T20" fmla="*/ 49 w 55"/>
                  <a:gd name="T21"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 h="54">
                    <a:moveTo>
                      <a:pt x="49" y="0"/>
                    </a:moveTo>
                    <a:cubicBezTo>
                      <a:pt x="49" y="0"/>
                      <a:pt x="49" y="0"/>
                      <a:pt x="49" y="0"/>
                    </a:cubicBezTo>
                    <a:cubicBezTo>
                      <a:pt x="22" y="0"/>
                      <a:pt x="0" y="21"/>
                      <a:pt x="0" y="48"/>
                    </a:cubicBezTo>
                    <a:cubicBezTo>
                      <a:pt x="0" y="48"/>
                      <a:pt x="0" y="48"/>
                      <a:pt x="0" y="48"/>
                    </a:cubicBezTo>
                    <a:cubicBezTo>
                      <a:pt x="0" y="52"/>
                      <a:pt x="3" y="54"/>
                      <a:pt x="6" y="54"/>
                    </a:cubicBezTo>
                    <a:cubicBezTo>
                      <a:pt x="9" y="54"/>
                      <a:pt x="12" y="52"/>
                      <a:pt x="12" y="48"/>
                    </a:cubicBezTo>
                    <a:cubicBezTo>
                      <a:pt x="12" y="48"/>
                      <a:pt x="12" y="48"/>
                      <a:pt x="12" y="48"/>
                    </a:cubicBezTo>
                    <a:cubicBezTo>
                      <a:pt x="12" y="28"/>
                      <a:pt x="29" y="11"/>
                      <a:pt x="49" y="11"/>
                    </a:cubicBezTo>
                    <a:cubicBezTo>
                      <a:pt x="49" y="11"/>
                      <a:pt x="49" y="11"/>
                      <a:pt x="49" y="11"/>
                    </a:cubicBezTo>
                    <a:cubicBezTo>
                      <a:pt x="52" y="11"/>
                      <a:pt x="55" y="8"/>
                      <a:pt x="55" y="5"/>
                    </a:cubicBezTo>
                    <a:cubicBezTo>
                      <a:pt x="55" y="2"/>
                      <a:pt x="52" y="0"/>
                      <a:pt x="49" y="0"/>
                    </a:cubicBezTo>
                    <a:close/>
                  </a:path>
                </a:pathLst>
              </a:custGeom>
              <a:grpFill/>
              <a:ln>
                <a:noFill/>
              </a:ln>
            </p:spPr>
            <p:txBody>
              <a:bodyPr/>
              <a:lstStyle/>
              <a:p>
                <a:pPr>
                  <a:defRPr/>
                </a:pPr>
                <a:endParaRPr lang="id-ID" sz="1600"/>
              </a:p>
            </p:txBody>
          </p:sp>
        </p:grpSp>
      </p:grpSp>
      <p:grpSp>
        <p:nvGrpSpPr>
          <p:cNvPr id="101" name="组合 100"/>
          <p:cNvGrpSpPr/>
          <p:nvPr/>
        </p:nvGrpSpPr>
        <p:grpSpPr>
          <a:xfrm>
            <a:off x="4009928" y="2517311"/>
            <a:ext cx="2293338" cy="900112"/>
            <a:chOff x="2858371" y="1965722"/>
            <a:chExt cx="1720452" cy="675084"/>
          </a:xfrm>
        </p:grpSpPr>
        <p:cxnSp>
          <p:nvCxnSpPr>
            <p:cNvPr id="102" name="Straight Connector 63"/>
            <p:cNvCxnSpPr/>
            <p:nvPr/>
          </p:nvCxnSpPr>
          <p:spPr>
            <a:xfrm>
              <a:off x="2858371" y="2355056"/>
              <a:ext cx="1350169" cy="0"/>
            </a:xfrm>
            <a:prstGeom prst="line">
              <a:avLst/>
            </a:prstGeom>
            <a:ln w="12700">
              <a:solidFill>
                <a:schemeClr val="tx2"/>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3" name="组合 102"/>
            <p:cNvGrpSpPr/>
            <p:nvPr/>
          </p:nvGrpSpPr>
          <p:grpSpPr>
            <a:xfrm>
              <a:off x="3903739" y="1965722"/>
              <a:ext cx="675084" cy="675084"/>
              <a:chOff x="4606529" y="1965722"/>
              <a:chExt cx="675084" cy="675084"/>
            </a:xfrm>
          </p:grpSpPr>
          <p:grpSp>
            <p:nvGrpSpPr>
              <p:cNvPr id="104" name="Group 35"/>
              <p:cNvGrpSpPr>
                <a:grpSpLocks noChangeAspect="1"/>
              </p:cNvGrpSpPr>
              <p:nvPr/>
            </p:nvGrpSpPr>
            <p:grpSpPr bwMode="auto">
              <a:xfrm>
                <a:off x="4606529" y="1965722"/>
                <a:ext cx="675084" cy="675084"/>
                <a:chOff x="5385173" y="1917525"/>
                <a:chExt cx="1440000" cy="1440000"/>
              </a:xfrm>
            </p:grpSpPr>
            <p:sp>
              <p:nvSpPr>
                <p:cNvPr id="106" name="Oval 36"/>
                <p:cNvSpPr>
                  <a:spLocks noChangeAspect="1"/>
                </p:cNvSpPr>
                <p:nvPr/>
              </p:nvSpPr>
              <p:spPr>
                <a:xfrm>
                  <a:off x="5385173" y="1917525"/>
                  <a:ext cx="1440000" cy="1440000"/>
                </a:xfrm>
                <a:prstGeom prst="ellipse">
                  <a:avLst/>
                </a:prstGeom>
                <a:solidFill>
                  <a:schemeClr val="bg1">
                    <a:lumMod val="65000"/>
                    <a:alpha val="6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a:p>
              </p:txBody>
            </p:sp>
            <p:sp>
              <p:nvSpPr>
                <p:cNvPr id="107" name="Oval 37"/>
                <p:cNvSpPr/>
                <p:nvPr/>
              </p:nvSpPr>
              <p:spPr>
                <a:xfrm>
                  <a:off x="5474061" y="2006413"/>
                  <a:ext cx="1262224" cy="1262224"/>
                </a:xfrm>
                <a:prstGeom prst="ellipse">
                  <a:avLst/>
                </a:prstGeom>
                <a:solidFill>
                  <a:schemeClr val="accent2"/>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a:p>
              </p:txBody>
            </p:sp>
          </p:grpSp>
          <p:sp>
            <p:nvSpPr>
              <p:cNvPr id="105" name="Freeform 13"/>
              <p:cNvSpPr>
                <a:spLocks noChangeAspect="1" noEditPoints="1"/>
              </p:cNvSpPr>
              <p:nvPr/>
            </p:nvSpPr>
            <p:spPr bwMode="auto">
              <a:xfrm>
                <a:off x="4797030" y="2134792"/>
                <a:ext cx="316706" cy="309563"/>
              </a:xfrm>
              <a:custGeom>
                <a:avLst/>
                <a:gdLst>
                  <a:gd name="T0" fmla="*/ 301610 w 226"/>
                  <a:gd name="T1" fmla="*/ 0 h 220"/>
                  <a:gd name="T2" fmla="*/ 179842 w 226"/>
                  <a:gd name="T3" fmla="*/ 88082 h 220"/>
                  <a:gd name="T4" fmla="*/ 177969 w 226"/>
                  <a:gd name="T5" fmla="*/ 88082 h 220"/>
                  <a:gd name="T6" fmla="*/ 44960 w 226"/>
                  <a:gd name="T7" fmla="*/ 223016 h 220"/>
                  <a:gd name="T8" fmla="*/ 1873 w 226"/>
                  <a:gd name="T9" fmla="*/ 354202 h 220"/>
                  <a:gd name="T10" fmla="*/ 44960 w 226"/>
                  <a:gd name="T11" fmla="*/ 412299 h 220"/>
                  <a:gd name="T12" fmla="*/ 168602 w 226"/>
                  <a:gd name="T13" fmla="*/ 380440 h 220"/>
                  <a:gd name="T14" fmla="*/ 387784 w 226"/>
                  <a:gd name="T15" fmla="*/ 170542 h 220"/>
                  <a:gd name="T16" fmla="*/ 206069 w 226"/>
                  <a:gd name="T17" fmla="*/ 307350 h 220"/>
                  <a:gd name="T18" fmla="*/ 318470 w 226"/>
                  <a:gd name="T19" fmla="*/ 151801 h 220"/>
                  <a:gd name="T20" fmla="*/ 305357 w 226"/>
                  <a:gd name="T21" fmla="*/ 215520 h 220"/>
                  <a:gd name="T22" fmla="*/ 206069 w 226"/>
                  <a:gd name="T23" fmla="*/ 316721 h 220"/>
                  <a:gd name="T24" fmla="*/ 191082 w 226"/>
                  <a:gd name="T25" fmla="*/ 260498 h 220"/>
                  <a:gd name="T26" fmla="*/ 147995 w 226"/>
                  <a:gd name="T27" fmla="*/ 219268 h 220"/>
                  <a:gd name="T28" fmla="*/ 297863 w 226"/>
                  <a:gd name="T29" fmla="*/ 114319 h 220"/>
                  <a:gd name="T30" fmla="*/ 191082 w 226"/>
                  <a:gd name="T31" fmla="*/ 260498 h 220"/>
                  <a:gd name="T32" fmla="*/ 97414 w 226"/>
                  <a:gd name="T33" fmla="*/ 206150 h 220"/>
                  <a:gd name="T34" fmla="*/ 256650 w 226"/>
                  <a:gd name="T35" fmla="*/ 91830 h 220"/>
                  <a:gd name="T36" fmla="*/ 54327 w 226"/>
                  <a:gd name="T37" fmla="*/ 384188 h 220"/>
                  <a:gd name="T38" fmla="*/ 26227 w 226"/>
                  <a:gd name="T39" fmla="*/ 367321 h 220"/>
                  <a:gd name="T40" fmla="*/ 41214 w 226"/>
                  <a:gd name="T41" fmla="*/ 311098 h 220"/>
                  <a:gd name="T42" fmla="*/ 101161 w 226"/>
                  <a:gd name="T43" fmla="*/ 372943 h 220"/>
                  <a:gd name="T44" fmla="*/ 114275 w 226"/>
                  <a:gd name="T45" fmla="*/ 369195 h 220"/>
                  <a:gd name="T46" fmla="*/ 44960 w 226"/>
                  <a:gd name="T47" fmla="*/ 297980 h 220"/>
                  <a:gd name="T48" fmla="*/ 61821 w 226"/>
                  <a:gd name="T49" fmla="*/ 241757 h 220"/>
                  <a:gd name="T50" fmla="*/ 166729 w 226"/>
                  <a:gd name="T51" fmla="*/ 354202 h 220"/>
                  <a:gd name="T52" fmla="*/ 114275 w 226"/>
                  <a:gd name="T53" fmla="*/ 369195 h 220"/>
                  <a:gd name="T54" fmla="*/ 348444 w 226"/>
                  <a:gd name="T55" fmla="*/ 174290 h 220"/>
                  <a:gd name="T56" fmla="*/ 314723 w 226"/>
                  <a:gd name="T57" fmla="*/ 97452 h 220"/>
                  <a:gd name="T58" fmla="*/ 260396 w 226"/>
                  <a:gd name="T59" fmla="*/ 43104 h 220"/>
                  <a:gd name="T60" fmla="*/ 359684 w 226"/>
                  <a:gd name="T61" fmla="*/ 50600 h 220"/>
                  <a:gd name="T62" fmla="*/ 369051 w 226"/>
                  <a:gd name="T63" fmla="*/ 151801 h 22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26"/>
                  <a:gd name="T97" fmla="*/ 0 h 220"/>
                  <a:gd name="T98" fmla="*/ 226 w 226"/>
                  <a:gd name="T99" fmla="*/ 220 h 22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26" h="220">
                    <a:moveTo>
                      <a:pt x="202" y="18"/>
                    </a:moveTo>
                    <a:cubicBezTo>
                      <a:pt x="191" y="6"/>
                      <a:pt x="176" y="0"/>
                      <a:pt x="161" y="0"/>
                    </a:cubicBezTo>
                    <a:cubicBezTo>
                      <a:pt x="149" y="0"/>
                      <a:pt x="137" y="5"/>
                      <a:pt x="129" y="13"/>
                    </a:cubicBezTo>
                    <a:cubicBezTo>
                      <a:pt x="96" y="47"/>
                      <a:pt x="96" y="47"/>
                      <a:pt x="96" y="47"/>
                    </a:cubicBezTo>
                    <a:cubicBezTo>
                      <a:pt x="96" y="47"/>
                      <a:pt x="95" y="47"/>
                      <a:pt x="95" y="47"/>
                    </a:cubicBezTo>
                    <a:cubicBezTo>
                      <a:pt x="95" y="47"/>
                      <a:pt x="95" y="47"/>
                      <a:pt x="95" y="47"/>
                    </a:cubicBezTo>
                    <a:cubicBezTo>
                      <a:pt x="95" y="47"/>
                      <a:pt x="95" y="47"/>
                      <a:pt x="95" y="47"/>
                    </a:cubicBezTo>
                    <a:cubicBezTo>
                      <a:pt x="24" y="119"/>
                      <a:pt x="24" y="119"/>
                      <a:pt x="24" y="119"/>
                    </a:cubicBezTo>
                    <a:cubicBezTo>
                      <a:pt x="21" y="122"/>
                      <a:pt x="19" y="126"/>
                      <a:pt x="17" y="130"/>
                    </a:cubicBezTo>
                    <a:cubicBezTo>
                      <a:pt x="1" y="189"/>
                      <a:pt x="1" y="189"/>
                      <a:pt x="1" y="189"/>
                    </a:cubicBezTo>
                    <a:cubicBezTo>
                      <a:pt x="1" y="189"/>
                      <a:pt x="0" y="194"/>
                      <a:pt x="0" y="196"/>
                    </a:cubicBezTo>
                    <a:cubicBezTo>
                      <a:pt x="0" y="209"/>
                      <a:pt x="11" y="220"/>
                      <a:pt x="24" y="220"/>
                    </a:cubicBezTo>
                    <a:cubicBezTo>
                      <a:pt x="27" y="220"/>
                      <a:pt x="32" y="219"/>
                      <a:pt x="32" y="219"/>
                    </a:cubicBezTo>
                    <a:cubicBezTo>
                      <a:pt x="90" y="203"/>
                      <a:pt x="90" y="203"/>
                      <a:pt x="90" y="203"/>
                    </a:cubicBezTo>
                    <a:cubicBezTo>
                      <a:pt x="95" y="202"/>
                      <a:pt x="99" y="200"/>
                      <a:pt x="102" y="196"/>
                    </a:cubicBezTo>
                    <a:cubicBezTo>
                      <a:pt x="207" y="91"/>
                      <a:pt x="207" y="91"/>
                      <a:pt x="207" y="91"/>
                    </a:cubicBezTo>
                    <a:cubicBezTo>
                      <a:pt x="226" y="72"/>
                      <a:pt x="224" y="40"/>
                      <a:pt x="202" y="18"/>
                    </a:cubicBezTo>
                    <a:close/>
                    <a:moveTo>
                      <a:pt x="110" y="164"/>
                    </a:moveTo>
                    <a:cubicBezTo>
                      <a:pt x="110" y="157"/>
                      <a:pt x="108" y="151"/>
                      <a:pt x="105" y="146"/>
                    </a:cubicBezTo>
                    <a:cubicBezTo>
                      <a:pt x="170" y="81"/>
                      <a:pt x="170" y="81"/>
                      <a:pt x="170" y="81"/>
                    </a:cubicBezTo>
                    <a:cubicBezTo>
                      <a:pt x="174" y="93"/>
                      <a:pt x="172" y="106"/>
                      <a:pt x="163" y="115"/>
                    </a:cubicBezTo>
                    <a:cubicBezTo>
                      <a:pt x="163" y="115"/>
                      <a:pt x="163" y="115"/>
                      <a:pt x="163" y="115"/>
                    </a:cubicBezTo>
                    <a:cubicBezTo>
                      <a:pt x="163" y="115"/>
                      <a:pt x="163" y="115"/>
                      <a:pt x="163" y="115"/>
                    </a:cubicBezTo>
                    <a:cubicBezTo>
                      <a:pt x="110" y="169"/>
                      <a:pt x="110" y="169"/>
                      <a:pt x="110" y="169"/>
                    </a:cubicBezTo>
                    <a:cubicBezTo>
                      <a:pt x="110" y="167"/>
                      <a:pt x="110" y="165"/>
                      <a:pt x="110" y="164"/>
                    </a:cubicBezTo>
                    <a:close/>
                    <a:moveTo>
                      <a:pt x="102" y="139"/>
                    </a:moveTo>
                    <a:cubicBezTo>
                      <a:pt x="99" y="135"/>
                      <a:pt x="96" y="131"/>
                      <a:pt x="93" y="127"/>
                    </a:cubicBezTo>
                    <a:cubicBezTo>
                      <a:pt x="88" y="123"/>
                      <a:pt x="84" y="120"/>
                      <a:pt x="79" y="117"/>
                    </a:cubicBezTo>
                    <a:cubicBezTo>
                      <a:pt x="144" y="52"/>
                      <a:pt x="144" y="52"/>
                      <a:pt x="144" y="52"/>
                    </a:cubicBezTo>
                    <a:cubicBezTo>
                      <a:pt x="149" y="54"/>
                      <a:pt x="154" y="57"/>
                      <a:pt x="159" y="61"/>
                    </a:cubicBezTo>
                    <a:cubicBezTo>
                      <a:pt x="162" y="65"/>
                      <a:pt x="165" y="69"/>
                      <a:pt x="167" y="74"/>
                    </a:cubicBezTo>
                    <a:lnTo>
                      <a:pt x="102" y="139"/>
                    </a:lnTo>
                    <a:close/>
                    <a:moveTo>
                      <a:pt x="72" y="114"/>
                    </a:moveTo>
                    <a:cubicBezTo>
                      <a:pt x="66" y="111"/>
                      <a:pt x="59" y="110"/>
                      <a:pt x="52" y="110"/>
                    </a:cubicBezTo>
                    <a:cubicBezTo>
                      <a:pt x="105" y="56"/>
                      <a:pt x="105" y="56"/>
                      <a:pt x="105" y="56"/>
                    </a:cubicBezTo>
                    <a:cubicBezTo>
                      <a:pt x="113" y="48"/>
                      <a:pt x="125" y="46"/>
                      <a:pt x="137" y="49"/>
                    </a:cubicBezTo>
                    <a:lnTo>
                      <a:pt x="72" y="114"/>
                    </a:lnTo>
                    <a:close/>
                    <a:moveTo>
                      <a:pt x="29" y="205"/>
                    </a:moveTo>
                    <a:cubicBezTo>
                      <a:pt x="28" y="206"/>
                      <a:pt x="26" y="206"/>
                      <a:pt x="24" y="206"/>
                    </a:cubicBezTo>
                    <a:cubicBezTo>
                      <a:pt x="18" y="206"/>
                      <a:pt x="14" y="202"/>
                      <a:pt x="14" y="196"/>
                    </a:cubicBezTo>
                    <a:cubicBezTo>
                      <a:pt x="14" y="195"/>
                      <a:pt x="14" y="193"/>
                      <a:pt x="14" y="192"/>
                    </a:cubicBezTo>
                    <a:cubicBezTo>
                      <a:pt x="22" y="166"/>
                      <a:pt x="22" y="166"/>
                      <a:pt x="22" y="166"/>
                    </a:cubicBezTo>
                    <a:cubicBezTo>
                      <a:pt x="30" y="166"/>
                      <a:pt x="38" y="169"/>
                      <a:pt x="45" y="175"/>
                    </a:cubicBezTo>
                    <a:cubicBezTo>
                      <a:pt x="51" y="182"/>
                      <a:pt x="55" y="191"/>
                      <a:pt x="54" y="199"/>
                    </a:cubicBezTo>
                    <a:lnTo>
                      <a:pt x="29" y="205"/>
                    </a:lnTo>
                    <a:close/>
                    <a:moveTo>
                      <a:pt x="61" y="197"/>
                    </a:moveTo>
                    <a:cubicBezTo>
                      <a:pt x="61" y="188"/>
                      <a:pt x="57" y="178"/>
                      <a:pt x="50" y="170"/>
                    </a:cubicBezTo>
                    <a:cubicBezTo>
                      <a:pt x="42" y="163"/>
                      <a:pt x="33" y="159"/>
                      <a:pt x="24" y="159"/>
                    </a:cubicBezTo>
                    <a:cubicBezTo>
                      <a:pt x="30" y="134"/>
                      <a:pt x="30" y="134"/>
                      <a:pt x="30" y="134"/>
                    </a:cubicBezTo>
                    <a:cubicBezTo>
                      <a:pt x="31" y="132"/>
                      <a:pt x="32" y="131"/>
                      <a:pt x="33" y="129"/>
                    </a:cubicBezTo>
                    <a:cubicBezTo>
                      <a:pt x="47" y="119"/>
                      <a:pt x="68" y="122"/>
                      <a:pt x="83" y="137"/>
                    </a:cubicBezTo>
                    <a:cubicBezTo>
                      <a:pt x="98" y="153"/>
                      <a:pt x="101" y="175"/>
                      <a:pt x="89" y="189"/>
                    </a:cubicBezTo>
                    <a:cubicBezTo>
                      <a:pt x="88" y="190"/>
                      <a:pt x="87" y="190"/>
                      <a:pt x="86" y="190"/>
                    </a:cubicBezTo>
                    <a:lnTo>
                      <a:pt x="61" y="197"/>
                    </a:lnTo>
                    <a:close/>
                    <a:moveTo>
                      <a:pt x="197" y="81"/>
                    </a:moveTo>
                    <a:cubicBezTo>
                      <a:pt x="186" y="93"/>
                      <a:pt x="186" y="93"/>
                      <a:pt x="186" y="93"/>
                    </a:cubicBezTo>
                    <a:cubicBezTo>
                      <a:pt x="186" y="91"/>
                      <a:pt x="186" y="90"/>
                      <a:pt x="186" y="88"/>
                    </a:cubicBezTo>
                    <a:cubicBezTo>
                      <a:pt x="185" y="75"/>
                      <a:pt x="178" y="62"/>
                      <a:pt x="168" y="52"/>
                    </a:cubicBezTo>
                    <a:cubicBezTo>
                      <a:pt x="157" y="41"/>
                      <a:pt x="142" y="34"/>
                      <a:pt x="127" y="34"/>
                    </a:cubicBezTo>
                    <a:cubicBezTo>
                      <a:pt x="139" y="23"/>
                      <a:pt x="139" y="23"/>
                      <a:pt x="139" y="23"/>
                    </a:cubicBezTo>
                    <a:cubicBezTo>
                      <a:pt x="145" y="17"/>
                      <a:pt x="153" y="14"/>
                      <a:pt x="161" y="14"/>
                    </a:cubicBezTo>
                    <a:cubicBezTo>
                      <a:pt x="172" y="14"/>
                      <a:pt x="184" y="19"/>
                      <a:pt x="192" y="27"/>
                    </a:cubicBezTo>
                    <a:cubicBezTo>
                      <a:pt x="201" y="36"/>
                      <a:pt x="205" y="46"/>
                      <a:pt x="206" y="56"/>
                    </a:cubicBezTo>
                    <a:cubicBezTo>
                      <a:pt x="207" y="66"/>
                      <a:pt x="204" y="75"/>
                      <a:pt x="197" y="8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endParaRPr lang="zh-CN" altLang="en-US"/>
              </a:p>
            </p:txBody>
          </p:sp>
        </p:grpSp>
      </p:grpSp>
      <p:grpSp>
        <p:nvGrpSpPr>
          <p:cNvPr id="108" name="Group 4"/>
          <p:cNvGrpSpPr/>
          <p:nvPr/>
        </p:nvGrpSpPr>
        <p:grpSpPr bwMode="auto">
          <a:xfrm>
            <a:off x="3556647" y="4779496"/>
            <a:ext cx="1193488" cy="1136651"/>
            <a:chOff x="6139503" y="4859013"/>
            <a:chExt cx="1192668" cy="1135509"/>
          </a:xfrm>
        </p:grpSpPr>
        <p:sp>
          <p:nvSpPr>
            <p:cNvPr id="109" name="Rounded Rectangle 5"/>
            <p:cNvSpPr>
              <a:spLocks noChangeArrowheads="1"/>
            </p:cNvSpPr>
            <p:nvPr/>
          </p:nvSpPr>
          <p:spPr bwMode="auto">
            <a:xfrm>
              <a:off x="6139503" y="4871700"/>
              <a:ext cx="1192668" cy="1122822"/>
            </a:xfrm>
            <a:prstGeom prst="roundRect">
              <a:avLst>
                <a:gd name="adj" fmla="val 9375"/>
              </a:avLst>
            </a:prstGeom>
            <a:solidFill>
              <a:schemeClr val="accent4"/>
            </a:solidFill>
            <a:ln w="9525">
              <a:noFill/>
              <a:round/>
            </a:ln>
            <a:effectLst>
              <a:outerShdw blurRad="40000" dist="23000" dir="5400000" rotWithShape="0">
                <a:srgbClr val="808080">
                  <a:alpha val="34999"/>
                </a:srgbClr>
              </a:outerShdw>
            </a:effectLst>
          </p:spPr>
          <p:txBody>
            <a:bodyPr anchor="ctr"/>
            <a:lstStyle/>
            <a:p>
              <a:pPr algn="ctr"/>
              <a:endParaRPr lang="id-ID" altLang="id-ID">
                <a:solidFill>
                  <a:schemeClr val="bg1"/>
                </a:solidFill>
                <a:latin typeface="Calibri" panose="020F0502020204030204" pitchFamily="34" charset="0"/>
                <a:ea typeface="MS PGothic" panose="020B0600070205080204" pitchFamily="34" charset="-128"/>
              </a:endParaRPr>
            </a:p>
          </p:txBody>
        </p:sp>
        <p:sp>
          <p:nvSpPr>
            <p:cNvPr id="110" name="TextBox 21"/>
            <p:cNvSpPr txBox="1">
              <a:spLocks noChangeArrowheads="1"/>
            </p:cNvSpPr>
            <p:nvPr/>
          </p:nvSpPr>
          <p:spPr bwMode="auto">
            <a:xfrm>
              <a:off x="6420130" y="4859013"/>
              <a:ext cx="771728" cy="112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nb-NO" altLang="id-ID" sz="6700" dirty="0">
                  <a:solidFill>
                    <a:schemeClr val="bg1"/>
                  </a:solidFill>
                  <a:ea typeface="MS PGothic" panose="020B0600070205080204" pitchFamily="34" charset="-128"/>
                </a:rPr>
                <a:t>1</a:t>
              </a:r>
              <a:endParaRPr lang="nb-NO" altLang="id-ID" sz="6700" dirty="0">
                <a:solidFill>
                  <a:schemeClr val="bg1"/>
                </a:solidFill>
                <a:ea typeface="MS PGothic" panose="020B0600070205080204" pitchFamily="34" charset="-128"/>
              </a:endParaRPr>
            </a:p>
          </p:txBody>
        </p:sp>
      </p:grpSp>
      <p:grpSp>
        <p:nvGrpSpPr>
          <p:cNvPr id="111" name="Group 7"/>
          <p:cNvGrpSpPr/>
          <p:nvPr/>
        </p:nvGrpSpPr>
        <p:grpSpPr bwMode="auto">
          <a:xfrm>
            <a:off x="3837563" y="3636499"/>
            <a:ext cx="1191900" cy="1157288"/>
            <a:chOff x="6420131" y="3715897"/>
            <a:chExt cx="1192668" cy="1156073"/>
          </a:xfrm>
        </p:grpSpPr>
        <p:sp>
          <p:nvSpPr>
            <p:cNvPr id="112" name="Rounded Rectangle 8"/>
            <p:cNvSpPr>
              <a:spLocks noChangeArrowheads="1"/>
            </p:cNvSpPr>
            <p:nvPr/>
          </p:nvSpPr>
          <p:spPr bwMode="auto">
            <a:xfrm>
              <a:off x="6420131" y="3749200"/>
              <a:ext cx="1192668" cy="1122770"/>
            </a:xfrm>
            <a:prstGeom prst="roundRect">
              <a:avLst>
                <a:gd name="adj" fmla="val 9375"/>
              </a:avLst>
            </a:prstGeom>
            <a:solidFill>
              <a:schemeClr val="accent3"/>
            </a:solidFill>
            <a:ln w="9525">
              <a:noFill/>
              <a:round/>
            </a:ln>
            <a:effectLst>
              <a:outerShdw blurRad="40000" dist="23000" dir="5400000" rotWithShape="0">
                <a:srgbClr val="808080">
                  <a:alpha val="34999"/>
                </a:srgbClr>
              </a:outerShdw>
            </a:effectLst>
          </p:spPr>
          <p:txBody>
            <a:bodyPr anchor="ctr"/>
            <a:lstStyle/>
            <a:p>
              <a:pPr algn="ctr"/>
              <a:endParaRPr lang="id-ID" altLang="id-ID">
                <a:solidFill>
                  <a:schemeClr val="bg1"/>
                </a:solidFill>
                <a:latin typeface="Calibri" panose="020F0502020204030204" pitchFamily="34" charset="0"/>
                <a:ea typeface="MS PGothic" panose="020B0600070205080204" pitchFamily="34" charset="-128"/>
              </a:endParaRPr>
            </a:p>
          </p:txBody>
        </p:sp>
        <p:sp>
          <p:nvSpPr>
            <p:cNvPr id="113" name="TextBox 22"/>
            <p:cNvSpPr txBox="1">
              <a:spLocks noChangeArrowheads="1"/>
            </p:cNvSpPr>
            <p:nvPr/>
          </p:nvSpPr>
          <p:spPr bwMode="auto">
            <a:xfrm>
              <a:off x="6700153" y="3715897"/>
              <a:ext cx="771728" cy="1120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nb-NO" altLang="id-ID" sz="6700">
                  <a:solidFill>
                    <a:schemeClr val="bg1"/>
                  </a:solidFill>
                  <a:ea typeface="MS PGothic" panose="020B0600070205080204" pitchFamily="34" charset="-128"/>
                </a:rPr>
                <a:t>2</a:t>
              </a:r>
              <a:endParaRPr lang="nb-NO" altLang="id-ID" sz="6700">
                <a:solidFill>
                  <a:schemeClr val="bg1"/>
                </a:solidFill>
                <a:ea typeface="MS PGothic" panose="020B0600070205080204" pitchFamily="34" charset="-128"/>
              </a:endParaRPr>
            </a:p>
          </p:txBody>
        </p:sp>
      </p:grpSp>
      <p:grpSp>
        <p:nvGrpSpPr>
          <p:cNvPr id="114" name="Group 10"/>
          <p:cNvGrpSpPr/>
          <p:nvPr/>
        </p:nvGrpSpPr>
        <p:grpSpPr bwMode="auto">
          <a:xfrm>
            <a:off x="3416980" y="2547473"/>
            <a:ext cx="1191903" cy="1136487"/>
            <a:chOff x="5999190" y="2626865"/>
            <a:chExt cx="1192668" cy="1136680"/>
          </a:xfrm>
        </p:grpSpPr>
        <p:sp>
          <p:nvSpPr>
            <p:cNvPr id="115" name="Rounded Rectangle 11"/>
            <p:cNvSpPr>
              <a:spLocks noChangeArrowheads="1"/>
            </p:cNvSpPr>
            <p:nvPr/>
          </p:nvSpPr>
          <p:spPr bwMode="auto">
            <a:xfrm>
              <a:off x="5999190" y="2626865"/>
              <a:ext cx="1192668" cy="1122553"/>
            </a:xfrm>
            <a:prstGeom prst="roundRect">
              <a:avLst>
                <a:gd name="adj" fmla="val 9375"/>
              </a:avLst>
            </a:prstGeom>
            <a:solidFill>
              <a:schemeClr val="accent2"/>
            </a:solidFill>
            <a:ln w="9525">
              <a:noFill/>
              <a:round/>
            </a:ln>
            <a:effectLst>
              <a:outerShdw blurRad="40000" dist="23000" dir="5400000" rotWithShape="0">
                <a:srgbClr val="808080">
                  <a:alpha val="34999"/>
                </a:srgbClr>
              </a:outerShdw>
            </a:effectLst>
          </p:spPr>
          <p:txBody>
            <a:bodyPr anchor="ctr"/>
            <a:lstStyle/>
            <a:p>
              <a:pPr algn="ctr"/>
              <a:endParaRPr lang="id-ID" altLang="id-ID">
                <a:solidFill>
                  <a:schemeClr val="bg1"/>
                </a:solidFill>
                <a:latin typeface="Calibri" panose="020F0502020204030204" pitchFamily="34" charset="0"/>
                <a:ea typeface="MS PGothic" panose="020B0600070205080204" pitchFamily="34" charset="-128"/>
              </a:endParaRPr>
            </a:p>
          </p:txBody>
        </p:sp>
        <p:sp>
          <p:nvSpPr>
            <p:cNvPr id="116" name="TextBox 23"/>
            <p:cNvSpPr txBox="1">
              <a:spLocks noChangeArrowheads="1"/>
            </p:cNvSpPr>
            <p:nvPr/>
          </p:nvSpPr>
          <p:spPr bwMode="auto">
            <a:xfrm>
              <a:off x="6319132" y="2641309"/>
              <a:ext cx="771729" cy="1122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nb-NO" altLang="id-ID" sz="6700" dirty="0">
                  <a:solidFill>
                    <a:schemeClr val="bg1"/>
                  </a:solidFill>
                  <a:ea typeface="MS PGothic" panose="020B0600070205080204" pitchFamily="34" charset="-128"/>
                </a:rPr>
                <a:t>3</a:t>
              </a:r>
              <a:endParaRPr lang="nb-NO" altLang="id-ID" sz="6700" dirty="0">
                <a:solidFill>
                  <a:schemeClr val="bg1"/>
                </a:solidFill>
                <a:ea typeface="MS PGothic" panose="020B0600070205080204" pitchFamily="34" charset="-128"/>
              </a:endParaRPr>
            </a:p>
          </p:txBody>
        </p:sp>
      </p:grpSp>
      <p:grpSp>
        <p:nvGrpSpPr>
          <p:cNvPr id="117" name="Group 13"/>
          <p:cNvGrpSpPr/>
          <p:nvPr/>
        </p:nvGrpSpPr>
        <p:grpSpPr bwMode="auto">
          <a:xfrm>
            <a:off x="2820237" y="1412776"/>
            <a:ext cx="1193488" cy="1198197"/>
            <a:chOff x="5402860" y="1491637"/>
            <a:chExt cx="1192668" cy="1197785"/>
          </a:xfrm>
        </p:grpSpPr>
        <p:sp>
          <p:nvSpPr>
            <p:cNvPr id="118" name="Rounded Rectangle 14"/>
            <p:cNvSpPr>
              <a:spLocks noChangeArrowheads="1"/>
            </p:cNvSpPr>
            <p:nvPr/>
          </p:nvSpPr>
          <p:spPr bwMode="auto">
            <a:xfrm rot="20684149">
              <a:off x="5402860" y="1567446"/>
              <a:ext cx="1192668" cy="1121976"/>
            </a:xfrm>
            <a:prstGeom prst="roundRect">
              <a:avLst>
                <a:gd name="adj" fmla="val 9375"/>
              </a:avLst>
            </a:prstGeom>
            <a:solidFill>
              <a:schemeClr val="accent1"/>
            </a:solidFill>
            <a:ln w="9525">
              <a:noFill/>
              <a:round/>
            </a:ln>
            <a:effectLst>
              <a:outerShdw blurRad="40000" dist="23000" dir="5400000" rotWithShape="0">
                <a:srgbClr val="808080">
                  <a:alpha val="34999"/>
                </a:srgbClr>
              </a:outerShdw>
            </a:effectLst>
          </p:spPr>
          <p:txBody>
            <a:bodyPr anchor="ctr"/>
            <a:lstStyle/>
            <a:p>
              <a:pPr algn="ctr"/>
              <a:endParaRPr lang="id-ID" altLang="id-ID">
                <a:solidFill>
                  <a:schemeClr val="bg1"/>
                </a:solidFill>
                <a:latin typeface="Calibri" panose="020F0502020204030204" pitchFamily="34" charset="0"/>
                <a:ea typeface="MS PGothic" panose="020B0600070205080204" pitchFamily="34" charset="-128"/>
              </a:endParaRPr>
            </a:p>
          </p:txBody>
        </p:sp>
        <p:sp>
          <p:nvSpPr>
            <p:cNvPr id="119" name="TextBox 24"/>
            <p:cNvSpPr txBox="1">
              <a:spLocks noChangeArrowheads="1"/>
            </p:cNvSpPr>
            <p:nvPr/>
          </p:nvSpPr>
          <p:spPr bwMode="auto">
            <a:xfrm rot="20681241">
              <a:off x="5692174" y="1491637"/>
              <a:ext cx="771728" cy="1121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nb-NO" altLang="id-ID" sz="6700" dirty="0">
                  <a:solidFill>
                    <a:schemeClr val="bg1"/>
                  </a:solidFill>
                  <a:ea typeface="MS PGothic" panose="020B0600070205080204" pitchFamily="34" charset="-128"/>
                </a:rPr>
                <a:t>4</a:t>
              </a:r>
              <a:endParaRPr lang="nb-NO" altLang="id-ID" sz="6700" dirty="0">
                <a:solidFill>
                  <a:schemeClr val="bg1"/>
                </a:solidFill>
                <a:ea typeface="MS PGothic" panose="020B0600070205080204" pitchFamily="34" charset="-128"/>
              </a:endParaRPr>
            </a:p>
          </p:txBody>
        </p:sp>
      </p:grpSp>
      <p:grpSp>
        <p:nvGrpSpPr>
          <p:cNvPr id="120" name="Group 16"/>
          <p:cNvGrpSpPr/>
          <p:nvPr/>
        </p:nvGrpSpPr>
        <p:grpSpPr bwMode="auto">
          <a:xfrm>
            <a:off x="979215" y="2152190"/>
            <a:ext cx="2529816" cy="4198937"/>
            <a:chOff x="3560664" y="2230705"/>
            <a:chExt cx="2529883" cy="4198799"/>
          </a:xfrm>
        </p:grpSpPr>
        <p:sp>
          <p:nvSpPr>
            <p:cNvPr id="121" name="Ellipse 98"/>
            <p:cNvSpPr/>
            <p:nvPr/>
          </p:nvSpPr>
          <p:spPr bwMode="auto">
            <a:xfrm>
              <a:off x="3560664" y="6107180"/>
              <a:ext cx="1713938" cy="322324"/>
            </a:xfrm>
            <a:prstGeom prst="ellipse">
              <a:avLst/>
            </a:prstGeom>
            <a:gradFill flip="none" rotWithShape="1">
              <a:gsLst>
                <a:gs pos="100000">
                  <a:srgbClr val="FFFFFF">
                    <a:alpha val="0"/>
                  </a:srgbClr>
                </a:gs>
                <a:gs pos="0">
                  <a:srgbClr val="E6E6E6">
                    <a:lumMod val="10000"/>
                    <a:alpha val="76000"/>
                  </a:srgbClr>
                </a:gs>
              </a:gsLst>
              <a:path path="shape">
                <a:fillToRect l="50000" t="50000" r="50000" b="50000"/>
              </a:path>
              <a:tileRect/>
            </a:gradFill>
            <a:ln w="9525" cap="flat" cmpd="sng" algn="ctr">
              <a:noFill/>
              <a:prstDash val="solid"/>
            </a:ln>
            <a:effec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endParaRPr lang="en-US" altLang="id-ID">
                <a:solidFill>
                  <a:srgbClr val="FFFFFF"/>
                </a:solidFill>
                <a:ea typeface="MS PGothic" panose="020B0600070205080204" pitchFamily="34" charset="-128"/>
              </a:endParaRPr>
            </a:p>
          </p:txBody>
        </p:sp>
        <p:grpSp>
          <p:nvGrpSpPr>
            <p:cNvPr id="122" name="Group 18"/>
            <p:cNvGrpSpPr/>
            <p:nvPr/>
          </p:nvGrpSpPr>
          <p:grpSpPr>
            <a:xfrm>
              <a:off x="4158559" y="2230705"/>
              <a:ext cx="1931988" cy="3981365"/>
              <a:chOff x="1879600" y="2427657"/>
              <a:chExt cx="1931988" cy="3981365"/>
            </a:xfrm>
            <a:solidFill>
              <a:schemeClr val="accent1">
                <a:lumMod val="75000"/>
              </a:schemeClr>
            </a:solidFill>
          </p:grpSpPr>
          <p:sp>
            <p:nvSpPr>
              <p:cNvPr id="123" name="Rounded Rectangle 19"/>
              <p:cNvSpPr/>
              <p:nvPr/>
            </p:nvSpPr>
            <p:spPr bwMode="auto">
              <a:xfrm rot="3296091" flipH="1">
                <a:off x="2526506" y="2275966"/>
                <a:ext cx="333375" cy="1627188"/>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defRPr/>
                </a:pPr>
                <a:endParaRPr lang="id-ID" altLang="id-ID">
                  <a:solidFill>
                    <a:srgbClr val="FFFFFF"/>
                  </a:solidFill>
                </a:endParaRPr>
              </a:p>
            </p:txBody>
          </p:sp>
          <p:sp>
            <p:nvSpPr>
              <p:cNvPr id="124" name="Oval 20"/>
              <p:cNvSpPr>
                <a:spLocks noChangeArrowheads="1"/>
              </p:cNvSpPr>
              <p:nvPr/>
            </p:nvSpPr>
            <p:spPr bwMode="auto">
              <a:xfrm>
                <a:off x="1879938" y="2427657"/>
                <a:ext cx="823038" cy="823069"/>
              </a:xfrm>
              <a:prstGeom prst="ellipse">
                <a:avLst/>
              </a:prstGeom>
              <a:solidFill>
                <a:schemeClr val="accent1"/>
              </a:solidFill>
              <a:ln>
                <a:noFill/>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defRPr/>
                </a:pPr>
                <a:endParaRPr lang="id-ID" altLang="id-ID">
                  <a:solidFill>
                    <a:srgbClr val="FFFFFF"/>
                  </a:solidFill>
                </a:endParaRPr>
              </a:p>
            </p:txBody>
          </p:sp>
          <p:sp>
            <p:nvSpPr>
              <p:cNvPr id="125" name="Rounded Rectangle 21"/>
              <p:cNvSpPr/>
              <p:nvPr/>
            </p:nvSpPr>
            <p:spPr bwMode="auto">
              <a:xfrm>
                <a:off x="1954213" y="3305460"/>
                <a:ext cx="674687" cy="1408112"/>
              </a:xfrm>
              <a:prstGeom prst="roundRect">
                <a:avLst>
                  <a:gd name="adj" fmla="val 2987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defRPr/>
                </a:pPr>
                <a:endParaRPr lang="id-ID" altLang="id-ID">
                  <a:solidFill>
                    <a:srgbClr val="FFFFFF"/>
                  </a:solidFill>
                </a:endParaRPr>
              </a:p>
            </p:txBody>
          </p:sp>
          <p:sp>
            <p:nvSpPr>
              <p:cNvPr id="126" name="Rounded Rectangle 22"/>
              <p:cNvSpPr/>
              <p:nvPr/>
            </p:nvSpPr>
            <p:spPr bwMode="auto">
              <a:xfrm>
                <a:off x="1954213" y="4408772"/>
                <a:ext cx="373062" cy="200025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defRPr/>
                </a:pPr>
                <a:endParaRPr lang="id-ID" altLang="id-ID">
                  <a:solidFill>
                    <a:srgbClr val="FFFFFF"/>
                  </a:solidFill>
                </a:endParaRPr>
              </a:p>
            </p:txBody>
          </p:sp>
          <p:sp>
            <p:nvSpPr>
              <p:cNvPr id="127" name="Rounded Rectangle 23"/>
              <p:cNvSpPr/>
              <p:nvPr/>
            </p:nvSpPr>
            <p:spPr bwMode="auto">
              <a:xfrm rot="20452300">
                <a:off x="2325688" y="4429410"/>
                <a:ext cx="371475" cy="774700"/>
              </a:xfrm>
              <a:prstGeom prst="roundRect">
                <a:avLst>
                  <a:gd name="adj" fmla="val 40463"/>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defRPr/>
                </a:pPr>
                <a:endParaRPr lang="id-ID" altLang="id-ID">
                  <a:solidFill>
                    <a:srgbClr val="FFFFFF"/>
                  </a:solidFill>
                </a:endParaRPr>
              </a:p>
            </p:txBody>
          </p:sp>
          <p:sp>
            <p:nvSpPr>
              <p:cNvPr id="128" name="Rounded Rectangle 24"/>
              <p:cNvSpPr/>
              <p:nvPr/>
            </p:nvSpPr>
            <p:spPr bwMode="auto">
              <a:xfrm rot="14513746">
                <a:off x="2885282" y="2583941"/>
                <a:ext cx="350837" cy="1501775"/>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defRPr/>
                </a:pPr>
                <a:endParaRPr lang="id-ID" altLang="id-ID">
                  <a:solidFill>
                    <a:srgbClr val="FFFFFF"/>
                  </a:solidFill>
                </a:endParaRPr>
              </a:p>
            </p:txBody>
          </p:sp>
          <p:sp>
            <p:nvSpPr>
              <p:cNvPr id="129" name="Rounded Rectangle 25"/>
              <p:cNvSpPr/>
              <p:nvPr/>
            </p:nvSpPr>
            <p:spPr bwMode="auto">
              <a:xfrm>
                <a:off x="2413000" y="4916772"/>
                <a:ext cx="373063" cy="1423988"/>
              </a:xfrm>
              <a:prstGeom prst="roundRect">
                <a:avLst>
                  <a:gd name="adj" fmla="val 4245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defRPr/>
                </a:pPr>
                <a:endParaRPr lang="id-ID" altLang="id-ID">
                  <a:solidFill>
                    <a:srgbClr val="FFFFFF"/>
                  </a:solidFill>
                </a:endParaRPr>
              </a:p>
            </p:txBody>
          </p:sp>
        </p:grpSp>
      </p:grpSp>
      <p:sp>
        <p:nvSpPr>
          <p:cNvPr id="130" name="TextBox 129"/>
          <p:cNvSpPr txBox="1"/>
          <p:nvPr/>
        </p:nvSpPr>
        <p:spPr>
          <a:xfrm>
            <a:off x="5728504" y="1414778"/>
            <a:ext cx="4346961" cy="929640"/>
          </a:xfrm>
          <a:prstGeom prst="rect">
            <a:avLst/>
          </a:prstGeom>
          <a:noFill/>
        </p:spPr>
        <p:txBody>
          <a:bodyPr wrap="square" lIns="91431" tIns="45715" rIns="91431" bIns="45715" rtlCol="0">
            <a:spAutoFit/>
          </a:bodyPr>
          <a:lstStyle/>
          <a:p>
            <a:pPr>
              <a:lnSpc>
                <a:spcPct val="130000"/>
              </a:lnSpc>
            </a:pPr>
            <a:r>
              <a:rPr lang="zh-CN" altLang="en-US" sz="1200" b="1" dirty="0">
                <a:solidFill>
                  <a:schemeClr val="tx1">
                    <a:lumMod val="75000"/>
                    <a:lumOff val="25000"/>
                  </a:schemeClr>
                </a:solidFill>
                <a:latin typeface="微软雅黑" panose="020B0503020204020204" charset="-122"/>
                <a:ea typeface="微软雅黑" panose="020B0503020204020204" charset="-122"/>
              </a:rPr>
              <a:t>回报</a:t>
            </a:r>
            <a:endParaRPr lang="zh-CN" altLang="en-US" sz="1200" b="1" dirty="0">
              <a:solidFill>
                <a:schemeClr val="tx1">
                  <a:lumMod val="75000"/>
                  <a:lumOff val="25000"/>
                </a:schemeClr>
              </a:solidFill>
              <a:latin typeface="微软雅黑" panose="020B0503020204020204" charset="-122"/>
              <a:ea typeface="微软雅黑" panose="020B0503020204020204" charset="-122"/>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1.</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高曝光，高流量，高转化</a:t>
            </a:r>
            <a:endPar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2.Best Seller、Amazon's Choice、Limited Time Deal</a:t>
            </a:r>
            <a:endPar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3.</a:t>
            </a:r>
            <a:endPar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endParaRPr>
          </a:p>
        </p:txBody>
      </p:sp>
      <p:sp>
        <p:nvSpPr>
          <p:cNvPr id="131" name="TextBox 130"/>
          <p:cNvSpPr txBox="1"/>
          <p:nvPr/>
        </p:nvSpPr>
        <p:spPr>
          <a:xfrm>
            <a:off x="6434858" y="2443584"/>
            <a:ext cx="4346961" cy="929640"/>
          </a:xfrm>
          <a:prstGeom prst="rect">
            <a:avLst/>
          </a:prstGeom>
          <a:noFill/>
        </p:spPr>
        <p:txBody>
          <a:bodyPr wrap="square" lIns="91431" tIns="45715" rIns="91431" bIns="45715" rtlCol="0">
            <a:spAutoFit/>
          </a:bodyPr>
          <a:lstStyle/>
          <a:p>
            <a:pPr>
              <a:lnSpc>
                <a:spcPct val="130000"/>
              </a:lnSpc>
            </a:pPr>
            <a:r>
              <a:rPr lang="zh-CN" altLang="en-US" sz="1200" b="1" dirty="0">
                <a:solidFill>
                  <a:schemeClr val="tx1">
                    <a:lumMod val="75000"/>
                    <a:lumOff val="25000"/>
                  </a:schemeClr>
                </a:solidFill>
                <a:latin typeface="微软雅黑" panose="020B0503020204020204" charset="-122"/>
                <a:ea typeface="微软雅黑" panose="020B0503020204020204" charset="-122"/>
              </a:rPr>
              <a:t>前提条件</a:t>
            </a:r>
            <a:endParaRPr lang="zh-CN" altLang="en-US" sz="1200" b="1" dirty="0">
              <a:solidFill>
                <a:schemeClr val="tx1">
                  <a:lumMod val="75000"/>
                  <a:lumOff val="25000"/>
                </a:schemeClr>
              </a:solidFill>
              <a:latin typeface="微软雅黑" panose="020B0503020204020204" charset="-122"/>
              <a:ea typeface="微软雅黑" panose="020B0503020204020204" charset="-122"/>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1.广告+</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促销</a:t>
            </a: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秒杀</a:t>
            </a: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流量</a:t>
            </a:r>
            <a:endPar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2.Review</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质量</a:t>
            </a: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评分</a:t>
            </a: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页面优化</a:t>
            </a: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转化</a:t>
            </a:r>
            <a:endPar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3.</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转化率</a:t>
            </a: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库存</a:t>
            </a: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=BSR </a:t>
            </a:r>
            <a:endPar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endParaRPr>
          </a:p>
        </p:txBody>
      </p:sp>
      <p:sp>
        <p:nvSpPr>
          <p:cNvPr id="132" name="TextBox 131"/>
          <p:cNvSpPr txBox="1"/>
          <p:nvPr/>
        </p:nvSpPr>
        <p:spPr>
          <a:xfrm>
            <a:off x="7207187" y="3669896"/>
            <a:ext cx="4346961" cy="1329690"/>
          </a:xfrm>
          <a:prstGeom prst="rect">
            <a:avLst/>
          </a:prstGeom>
          <a:noFill/>
        </p:spPr>
        <p:txBody>
          <a:bodyPr wrap="square" lIns="91431" tIns="45715" rIns="91431" bIns="45715" rtlCol="0">
            <a:spAutoFit/>
          </a:bodyPr>
          <a:lstStyle/>
          <a:p>
            <a:pPr>
              <a:lnSpc>
                <a:spcPct val="130000"/>
              </a:lnSpc>
            </a:pPr>
            <a:r>
              <a:rPr lang="en-US" altLang="zh-CN" sz="1200" b="1" dirty="0">
                <a:solidFill>
                  <a:schemeClr val="tx1">
                    <a:lumMod val="75000"/>
                    <a:lumOff val="25000"/>
                  </a:schemeClr>
                </a:solidFill>
                <a:latin typeface="微软雅黑" panose="020B0503020204020204" charset="-122"/>
                <a:ea typeface="微软雅黑" panose="020B0503020204020204" charset="-122"/>
              </a:rPr>
              <a:t>B</a:t>
            </a:r>
            <a:r>
              <a:rPr lang="zh-CN" altLang="en-US" sz="1200" b="1" dirty="0">
                <a:solidFill>
                  <a:schemeClr val="tx1">
                    <a:lumMod val="75000"/>
                    <a:lumOff val="25000"/>
                  </a:schemeClr>
                </a:solidFill>
                <a:latin typeface="微软雅黑" panose="020B0503020204020204" charset="-122"/>
                <a:ea typeface="微软雅黑" panose="020B0503020204020204" charset="-122"/>
              </a:rPr>
              <a:t>est deal</a:t>
            </a:r>
            <a:r>
              <a:rPr lang="en-US" altLang="zh-CN" sz="1200" b="1" dirty="0">
                <a:solidFill>
                  <a:schemeClr val="tx1">
                    <a:lumMod val="75000"/>
                    <a:lumOff val="25000"/>
                  </a:schemeClr>
                </a:solidFill>
                <a:latin typeface="微软雅黑" panose="020B0503020204020204" charset="-122"/>
                <a:ea typeface="微软雅黑" panose="020B0503020204020204" charset="-122"/>
              </a:rPr>
              <a:t>(BD)招商经理 </a:t>
            </a:r>
            <a:endParaRPr lang="en-US" altLang="zh-CN" sz="1200" b="1" dirty="0">
              <a:solidFill>
                <a:schemeClr val="tx1">
                  <a:lumMod val="75000"/>
                  <a:lumOff val="25000"/>
                </a:schemeClr>
              </a:solidFill>
              <a:latin typeface="微软雅黑" panose="020B0503020204020204" charset="-122"/>
              <a:ea typeface="微软雅黑" panose="020B0503020204020204" charset="-122"/>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1.每次一周</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，免费，只限美国</a:t>
            </a:r>
            <a:endPar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2.Review星级3.5星以上</a:t>
            </a:r>
            <a:endPar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3.</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打折力度</a:t>
            </a: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85%</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以上</a:t>
            </a:r>
            <a:endPar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4.现价85折同时满足为近30天最低价</a:t>
            </a:r>
            <a:endPar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5.使用FBA派送</a:t>
            </a:r>
            <a:endPar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endParaRPr>
          </a:p>
        </p:txBody>
      </p:sp>
      <p:sp>
        <p:nvSpPr>
          <p:cNvPr id="133" name="TextBox 132"/>
          <p:cNvSpPr txBox="1"/>
          <p:nvPr/>
        </p:nvSpPr>
        <p:spPr>
          <a:xfrm>
            <a:off x="6594979" y="5062009"/>
            <a:ext cx="4346961" cy="1530350"/>
          </a:xfrm>
          <a:prstGeom prst="rect">
            <a:avLst/>
          </a:prstGeom>
          <a:noFill/>
        </p:spPr>
        <p:txBody>
          <a:bodyPr wrap="square" lIns="91431" tIns="45715" rIns="91431" bIns="45715" rtlCol="0">
            <a:spAutoFit/>
          </a:bodyPr>
          <a:lstStyle/>
          <a:p>
            <a:pPr>
              <a:lnSpc>
                <a:spcPct val="130000"/>
              </a:lnSpc>
            </a:pPr>
            <a:r>
              <a:rPr lang="zh-CN" altLang="en-US" sz="1200" b="1" dirty="0">
                <a:solidFill>
                  <a:schemeClr val="tx1">
                    <a:lumMod val="75000"/>
                    <a:lumOff val="25000"/>
                  </a:schemeClr>
                </a:solidFill>
                <a:latin typeface="微软雅黑" panose="020B0503020204020204" charset="-122"/>
                <a:ea typeface="微软雅黑" panose="020B0503020204020204" charset="-122"/>
              </a:rPr>
              <a:t>Lightning Deals</a:t>
            </a:r>
            <a:r>
              <a:rPr lang="en-US" altLang="zh-CN" sz="1200" b="1" dirty="0">
                <a:solidFill>
                  <a:schemeClr val="tx1">
                    <a:lumMod val="75000"/>
                    <a:lumOff val="25000"/>
                  </a:schemeClr>
                </a:solidFill>
                <a:latin typeface="微软雅黑" panose="020B0503020204020204" charset="-122"/>
                <a:ea typeface="微软雅黑" panose="020B0503020204020204" charset="-122"/>
              </a:rPr>
              <a:t>(LD)后台申请</a:t>
            </a:r>
            <a:endParaRPr lang="en-US" altLang="zh-CN" sz="1200" b="1" dirty="0">
              <a:solidFill>
                <a:schemeClr val="tx1">
                  <a:lumMod val="75000"/>
                  <a:lumOff val="25000"/>
                </a:schemeClr>
              </a:solidFill>
              <a:latin typeface="微软雅黑" panose="020B0503020204020204" charset="-122"/>
              <a:ea typeface="微软雅黑" panose="020B0503020204020204" charset="-122"/>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1.4-8小时(Seller和Vendor有所不同)限时秒杀,每周一次</a:t>
            </a:r>
            <a:endPar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2.</a:t>
            </a: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sym typeface="+mn-ea"/>
              </a:rPr>
              <a:t>Review星级3.0星以上</a:t>
            </a:r>
            <a:endPar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sym typeface="+mn-ea"/>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sym typeface="+mn-ea"/>
              </a:rPr>
              <a:t>3.</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sym typeface="+mn-ea"/>
              </a:rPr>
              <a:t>优惠</a:t>
            </a: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sym typeface="+mn-ea"/>
              </a:rPr>
              <a:t>80%</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sym typeface="+mn-ea"/>
              </a:rPr>
              <a:t>以上</a:t>
            </a:r>
            <a:endPar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sym typeface="+mn-ea"/>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sym typeface="+mn-ea"/>
              </a:rPr>
              <a:t>4.</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sym typeface="+mn-ea"/>
              </a:rPr>
              <a:t>主图符合亚马逊规则</a:t>
            </a:r>
            <a:endPar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sym typeface="+mn-ea"/>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5.</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费用：</a:t>
            </a: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US150刀</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a:t>
            </a: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EU35,00 €</a:t>
            </a:r>
            <a:r>
              <a:rPr lang="zh-CN" altLang="en-US" sz="1000" dirty="0">
                <a:solidFill>
                  <a:schemeClr val="tx1">
                    <a:lumMod val="75000"/>
                    <a:lumOff val="25000"/>
                  </a:schemeClr>
                </a:solidFill>
                <a:latin typeface="锐字工房云字库锐倩GBK" panose="02010604000000000000" charset="-122"/>
                <a:ea typeface="锐字工房云字库锐倩GBK" panose="02010604000000000000" charset="-122"/>
              </a:rPr>
              <a:t>，</a:t>
            </a: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JP4000￥</a:t>
            </a:r>
            <a:endPar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endParaRPr>
          </a:p>
          <a:p>
            <a:pPr>
              <a:lnSpc>
                <a:spcPct val="130000"/>
              </a:lnSpc>
            </a:pP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rPr>
              <a:t>6.</a:t>
            </a:r>
            <a:r>
              <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sym typeface="+mn-ea"/>
              </a:rPr>
              <a:t>使用FBA派送</a:t>
            </a:r>
            <a:endParaRPr lang="en-US" altLang="zh-CN" sz="1000" dirty="0">
              <a:solidFill>
                <a:schemeClr val="tx1">
                  <a:lumMod val="75000"/>
                  <a:lumOff val="25000"/>
                </a:schemeClr>
              </a:solidFill>
              <a:latin typeface="锐字工房云字库锐倩GBK" panose="02010604000000000000" charset="-122"/>
              <a:ea typeface="锐字工房云字库锐倩GBK" panose="02010604000000000000" charset="-122"/>
            </a:endParaRPr>
          </a:p>
        </p:txBody>
      </p:sp>
      <p:sp>
        <p:nvSpPr>
          <p:cNvPr id="2" name="矩形 1"/>
          <p:cNvSpPr/>
          <p:nvPr/>
        </p:nvSpPr>
        <p:spPr>
          <a:xfrm rot="1620000">
            <a:off x="7947978"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29" name="文本框 28"/>
          <p:cNvSpPr txBox="1"/>
          <p:nvPr/>
        </p:nvSpPr>
        <p:spPr>
          <a:xfrm>
            <a:off x="857885" y="283210"/>
            <a:ext cx="1808480" cy="583565"/>
          </a:xfrm>
          <a:prstGeom prst="rect">
            <a:avLst/>
          </a:prstGeom>
          <a:noFill/>
        </p:spPr>
        <p:txBody>
          <a:bodyPr wrap="none" rtlCol="0">
            <a:spAutoFit/>
          </a:bodyPr>
          <a:p>
            <a:pPr algn="l"/>
            <a:r>
              <a:rPr lang="zh-CN" altLang="en-US" sz="3200" dirty="0">
                <a:sym typeface="+mn-lt"/>
              </a:rPr>
              <a:t>活动申报</a:t>
            </a:r>
            <a:endParaRPr lang="en-US" altLang="zh-CN" sz="3200" b="1">
              <a:solidFill>
                <a:schemeClr val="tx1">
                  <a:lumMod val="75000"/>
                  <a:lumOff val="25000"/>
                </a:schemeClr>
              </a:solidFill>
            </a:endParaRPr>
          </a:p>
        </p:txBody>
      </p:sp>
      <p:sp>
        <p:nvSpPr>
          <p:cNvPr id="18" name="矩形 17"/>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14:presetBounceEnd="60000">
                                      <p:stCondLst>
                                        <p:cond delay="0"/>
                                      </p:stCondLst>
                                      <p:childTnLst>
                                        <p:set>
                                          <p:cBhvr>
                                            <p:cTn id="6" dur="1" fill="hold">
                                              <p:stCondLst>
                                                <p:cond delay="0"/>
                                              </p:stCondLst>
                                            </p:cTn>
                                            <p:tgtEl>
                                              <p:spTgt spid="108"/>
                                            </p:tgtEl>
                                            <p:attrNameLst>
                                              <p:attrName>style.visibility</p:attrName>
                                            </p:attrNameLst>
                                          </p:cBhvr>
                                          <p:to>
                                            <p:strVal val="visible"/>
                                          </p:to>
                                        </p:set>
                                        <p:anim calcmode="lin" valueType="num" p14:bounceEnd="60000">
                                          <p:cBhvr additive="base">
                                            <p:cTn id="7" dur="500" fill="hold"/>
                                            <p:tgtEl>
                                              <p:spTgt spid="108"/>
                                            </p:tgtEl>
                                            <p:attrNameLst>
                                              <p:attrName>ppt_x</p:attrName>
                                            </p:attrNameLst>
                                          </p:cBhvr>
                                          <p:tavLst>
                                            <p:tav tm="0">
                                              <p:val>
                                                <p:strVal val="#ppt_x"/>
                                              </p:val>
                                            </p:tav>
                                            <p:tav tm="100000">
                                              <p:val>
                                                <p:strVal val="#ppt_x"/>
                                              </p:val>
                                            </p:tav>
                                          </p:tavLst>
                                        </p:anim>
                                        <p:anim calcmode="lin" valueType="num" p14:bounceEnd="60000">
                                          <p:cBhvr additive="base">
                                            <p:cTn id="8" dur="500" fill="hold"/>
                                            <p:tgtEl>
                                              <p:spTgt spid="108"/>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nodeType="afterEffect" p14:presetBounceEnd="60000">
                                      <p:stCondLst>
                                        <p:cond delay="0"/>
                                      </p:stCondLst>
                                      <p:childTnLst>
                                        <p:set>
                                          <p:cBhvr>
                                            <p:cTn id="11" dur="1" fill="hold">
                                              <p:stCondLst>
                                                <p:cond delay="0"/>
                                              </p:stCondLst>
                                            </p:cTn>
                                            <p:tgtEl>
                                              <p:spTgt spid="111"/>
                                            </p:tgtEl>
                                            <p:attrNameLst>
                                              <p:attrName>style.visibility</p:attrName>
                                            </p:attrNameLst>
                                          </p:cBhvr>
                                          <p:to>
                                            <p:strVal val="visible"/>
                                          </p:to>
                                        </p:set>
                                        <p:anim calcmode="lin" valueType="num" p14:bounceEnd="60000">
                                          <p:cBhvr additive="base">
                                            <p:cTn id="12" dur="500" fill="hold"/>
                                            <p:tgtEl>
                                              <p:spTgt spid="111"/>
                                            </p:tgtEl>
                                            <p:attrNameLst>
                                              <p:attrName>ppt_x</p:attrName>
                                            </p:attrNameLst>
                                          </p:cBhvr>
                                          <p:tavLst>
                                            <p:tav tm="0">
                                              <p:val>
                                                <p:strVal val="#ppt_x"/>
                                              </p:val>
                                            </p:tav>
                                            <p:tav tm="100000">
                                              <p:val>
                                                <p:strVal val="#ppt_x"/>
                                              </p:val>
                                            </p:tav>
                                          </p:tavLst>
                                        </p:anim>
                                        <p:anim calcmode="lin" valueType="num" p14:bounceEnd="60000">
                                          <p:cBhvr additive="base">
                                            <p:cTn id="13" dur="500" fill="hold"/>
                                            <p:tgtEl>
                                              <p:spTgt spid="111"/>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1" fill="hold" nodeType="afterEffect" p14:presetBounceEnd="60000">
                                      <p:stCondLst>
                                        <p:cond delay="0"/>
                                      </p:stCondLst>
                                      <p:childTnLst>
                                        <p:set>
                                          <p:cBhvr>
                                            <p:cTn id="16" dur="1" fill="hold">
                                              <p:stCondLst>
                                                <p:cond delay="0"/>
                                              </p:stCondLst>
                                            </p:cTn>
                                            <p:tgtEl>
                                              <p:spTgt spid="114"/>
                                            </p:tgtEl>
                                            <p:attrNameLst>
                                              <p:attrName>style.visibility</p:attrName>
                                            </p:attrNameLst>
                                          </p:cBhvr>
                                          <p:to>
                                            <p:strVal val="visible"/>
                                          </p:to>
                                        </p:set>
                                        <p:anim calcmode="lin" valueType="num" p14:bounceEnd="60000">
                                          <p:cBhvr additive="base">
                                            <p:cTn id="17" dur="500" fill="hold"/>
                                            <p:tgtEl>
                                              <p:spTgt spid="114"/>
                                            </p:tgtEl>
                                            <p:attrNameLst>
                                              <p:attrName>ppt_x</p:attrName>
                                            </p:attrNameLst>
                                          </p:cBhvr>
                                          <p:tavLst>
                                            <p:tav tm="0">
                                              <p:val>
                                                <p:strVal val="#ppt_x"/>
                                              </p:val>
                                            </p:tav>
                                            <p:tav tm="100000">
                                              <p:val>
                                                <p:strVal val="#ppt_x"/>
                                              </p:val>
                                            </p:tav>
                                          </p:tavLst>
                                        </p:anim>
                                        <p:anim calcmode="lin" valueType="num" p14:bounceEnd="60000">
                                          <p:cBhvr additive="base">
                                            <p:cTn id="18" dur="500" fill="hold"/>
                                            <p:tgtEl>
                                              <p:spTgt spid="114"/>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2" presetClass="entr" presetSubtype="1" fill="hold" nodeType="afterEffect" p14:presetBounceEnd="60000">
                                      <p:stCondLst>
                                        <p:cond delay="0"/>
                                      </p:stCondLst>
                                      <p:childTnLst>
                                        <p:set>
                                          <p:cBhvr>
                                            <p:cTn id="21" dur="1" fill="hold">
                                              <p:stCondLst>
                                                <p:cond delay="0"/>
                                              </p:stCondLst>
                                            </p:cTn>
                                            <p:tgtEl>
                                              <p:spTgt spid="117"/>
                                            </p:tgtEl>
                                            <p:attrNameLst>
                                              <p:attrName>style.visibility</p:attrName>
                                            </p:attrNameLst>
                                          </p:cBhvr>
                                          <p:to>
                                            <p:strVal val="visible"/>
                                          </p:to>
                                        </p:set>
                                        <p:anim calcmode="lin" valueType="num" p14:bounceEnd="60000">
                                          <p:cBhvr additive="base">
                                            <p:cTn id="22" dur="500" fill="hold"/>
                                            <p:tgtEl>
                                              <p:spTgt spid="117"/>
                                            </p:tgtEl>
                                            <p:attrNameLst>
                                              <p:attrName>ppt_x</p:attrName>
                                            </p:attrNameLst>
                                          </p:cBhvr>
                                          <p:tavLst>
                                            <p:tav tm="0">
                                              <p:val>
                                                <p:strVal val="#ppt_x"/>
                                              </p:val>
                                            </p:tav>
                                            <p:tav tm="100000">
                                              <p:val>
                                                <p:strVal val="#ppt_x"/>
                                              </p:val>
                                            </p:tav>
                                          </p:tavLst>
                                        </p:anim>
                                        <p:anim calcmode="lin" valueType="num" p14:bounceEnd="60000">
                                          <p:cBhvr additive="base">
                                            <p:cTn id="23" dur="500" fill="hold"/>
                                            <p:tgtEl>
                                              <p:spTgt spid="117"/>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 presetClass="entr" presetSubtype="12" fill="hold" nodeType="afterEffect" p14:presetBounceEnd="60000">
                                      <p:stCondLst>
                                        <p:cond delay="0"/>
                                      </p:stCondLst>
                                      <p:childTnLst>
                                        <p:set>
                                          <p:cBhvr>
                                            <p:cTn id="26" dur="1" fill="hold">
                                              <p:stCondLst>
                                                <p:cond delay="0"/>
                                              </p:stCondLst>
                                            </p:cTn>
                                            <p:tgtEl>
                                              <p:spTgt spid="120"/>
                                            </p:tgtEl>
                                            <p:attrNameLst>
                                              <p:attrName>style.visibility</p:attrName>
                                            </p:attrNameLst>
                                          </p:cBhvr>
                                          <p:to>
                                            <p:strVal val="visible"/>
                                          </p:to>
                                        </p:set>
                                        <p:anim calcmode="lin" valueType="num" p14:bounceEnd="60000">
                                          <p:cBhvr additive="base">
                                            <p:cTn id="27" dur="500" fill="hold"/>
                                            <p:tgtEl>
                                              <p:spTgt spid="120"/>
                                            </p:tgtEl>
                                            <p:attrNameLst>
                                              <p:attrName>ppt_x</p:attrName>
                                            </p:attrNameLst>
                                          </p:cBhvr>
                                          <p:tavLst>
                                            <p:tav tm="0">
                                              <p:val>
                                                <p:strVal val="0-#ppt_w/2"/>
                                              </p:val>
                                            </p:tav>
                                            <p:tav tm="100000">
                                              <p:val>
                                                <p:strVal val="#ppt_x"/>
                                              </p:val>
                                            </p:tav>
                                          </p:tavLst>
                                        </p:anim>
                                        <p:anim calcmode="lin" valueType="num" p14:bounceEnd="60000">
                                          <p:cBhvr additive="base">
                                            <p:cTn id="28" dur="500" fill="hold"/>
                                            <p:tgtEl>
                                              <p:spTgt spid="120"/>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12" presetClass="entr" presetSubtype="8" fill="hold" nodeType="afterEffect">
                                      <p:stCondLst>
                                        <p:cond delay="0"/>
                                      </p:stCondLst>
                                      <p:childTnLst>
                                        <p:set>
                                          <p:cBhvr>
                                            <p:cTn id="31" dur="1" fill="hold">
                                              <p:stCondLst>
                                                <p:cond delay="0"/>
                                              </p:stCondLst>
                                            </p:cTn>
                                            <p:tgtEl>
                                              <p:spTgt spid="71"/>
                                            </p:tgtEl>
                                            <p:attrNameLst>
                                              <p:attrName>style.visibility</p:attrName>
                                            </p:attrNameLst>
                                          </p:cBhvr>
                                          <p:to>
                                            <p:strVal val="visible"/>
                                          </p:to>
                                        </p:set>
                                        <p:anim calcmode="lin" valueType="num">
                                          <p:cBhvr additive="base">
                                            <p:cTn id="32" dur="500"/>
                                            <p:tgtEl>
                                              <p:spTgt spid="71"/>
                                            </p:tgtEl>
                                            <p:attrNameLst>
                                              <p:attrName>ppt_x</p:attrName>
                                            </p:attrNameLst>
                                          </p:cBhvr>
                                          <p:tavLst>
                                            <p:tav tm="0">
                                              <p:val>
                                                <p:strVal val="#ppt_x-#ppt_w*1.125000"/>
                                              </p:val>
                                            </p:tav>
                                            <p:tav tm="100000">
                                              <p:val>
                                                <p:strVal val="#ppt_x"/>
                                              </p:val>
                                            </p:tav>
                                          </p:tavLst>
                                        </p:anim>
                                        <p:animEffect transition="in" filter="wipe(right)">
                                          <p:cBhvr>
                                            <p:cTn id="33" dur="500"/>
                                            <p:tgtEl>
                                              <p:spTgt spid="71"/>
                                            </p:tgtEl>
                                          </p:cBhvr>
                                        </p:animEffect>
                                      </p:childTnLst>
                                    </p:cTn>
                                  </p:par>
                                  <p:par>
                                    <p:cTn id="34" presetID="27" presetClass="entr" presetSubtype="0" fill="hold" grpId="0" nodeType="withEffect">
                                      <p:stCondLst>
                                        <p:cond delay="0"/>
                                      </p:stCondLst>
                                      <p:iterate type="lt">
                                        <p:tmPct val="30000"/>
                                      </p:iterate>
                                      <p:childTnLst>
                                        <p:set>
                                          <p:cBhvr>
                                            <p:cTn id="35" dur="1" fill="hold">
                                              <p:stCondLst>
                                                <p:cond delay="0"/>
                                              </p:stCondLst>
                                            </p:cTn>
                                            <p:tgtEl>
                                              <p:spTgt spid="130"/>
                                            </p:tgtEl>
                                            <p:attrNameLst>
                                              <p:attrName>style.visibility</p:attrName>
                                            </p:attrNameLst>
                                          </p:cBhvr>
                                          <p:to>
                                            <p:strVal val="visible"/>
                                          </p:to>
                                        </p:set>
                                        <p:anim calcmode="discrete" valueType="clr">
                                          <p:cBhvr override="childStyle">
                                            <p:cTn id="36" dur="100"/>
                                            <p:tgtEl>
                                              <p:spTgt spid="130"/>
                                            </p:tgtEl>
                                            <p:attrNameLst>
                                              <p:attrName>style.color</p:attrName>
                                            </p:attrNameLst>
                                          </p:cBhvr>
                                          <p:tavLst>
                                            <p:tav tm="0">
                                              <p:val>
                                                <p:clrVal>
                                                  <a:schemeClr val="bg1"/>
                                                </p:clrVal>
                                              </p:val>
                                            </p:tav>
                                            <p:tav tm="50000">
                                              <p:val>
                                                <p:clrVal>
                                                  <a:schemeClr val="bg1"/>
                                                </p:clrVal>
                                              </p:val>
                                            </p:tav>
                                          </p:tavLst>
                                        </p:anim>
                                        <p:anim calcmode="discrete" valueType="clr">
                                          <p:cBhvr>
                                            <p:cTn id="37" dur="100"/>
                                            <p:tgtEl>
                                              <p:spTgt spid="130"/>
                                            </p:tgtEl>
                                            <p:attrNameLst>
                                              <p:attrName>fillcolor</p:attrName>
                                            </p:attrNameLst>
                                          </p:cBhvr>
                                          <p:tavLst>
                                            <p:tav tm="0">
                                              <p:val>
                                                <p:clrVal>
                                                  <a:schemeClr val="accent2"/>
                                                </p:clrVal>
                                              </p:val>
                                            </p:tav>
                                            <p:tav tm="50000">
                                              <p:val>
                                                <p:clrVal>
                                                  <a:schemeClr val="hlink"/>
                                                </p:clrVal>
                                              </p:val>
                                            </p:tav>
                                          </p:tavLst>
                                        </p:anim>
                                        <p:set>
                                          <p:cBhvr>
                                            <p:cTn id="38" dur="100"/>
                                            <p:tgtEl>
                                              <p:spTgt spid="130"/>
                                            </p:tgtEl>
                                            <p:attrNameLst>
                                              <p:attrName>fill.type</p:attrName>
                                            </p:attrNameLst>
                                          </p:cBhvr>
                                          <p:to>
                                            <p:strVal val="solid"/>
                                          </p:to>
                                        </p:set>
                                      </p:childTnLst>
                                    </p:cTn>
                                  </p:par>
                                </p:childTnLst>
                              </p:cTn>
                            </p:par>
                            <p:par>
                              <p:cTn id="39" fill="hold">
                                <p:stCondLst>
                                  <p:cond delay="4489"/>
                                </p:stCondLst>
                                <p:childTnLst>
                                  <p:par>
                                    <p:cTn id="40" presetID="12" presetClass="entr" presetSubtype="8" fill="hold" nodeType="afterEffect">
                                      <p:stCondLst>
                                        <p:cond delay="0"/>
                                      </p:stCondLst>
                                      <p:childTnLst>
                                        <p:set>
                                          <p:cBhvr>
                                            <p:cTn id="41" dur="1" fill="hold">
                                              <p:stCondLst>
                                                <p:cond delay="0"/>
                                              </p:stCondLst>
                                            </p:cTn>
                                            <p:tgtEl>
                                              <p:spTgt spid="101"/>
                                            </p:tgtEl>
                                            <p:attrNameLst>
                                              <p:attrName>style.visibility</p:attrName>
                                            </p:attrNameLst>
                                          </p:cBhvr>
                                          <p:to>
                                            <p:strVal val="visible"/>
                                          </p:to>
                                        </p:set>
                                        <p:anim calcmode="lin" valueType="num">
                                          <p:cBhvr additive="base">
                                            <p:cTn id="42" dur="500"/>
                                            <p:tgtEl>
                                              <p:spTgt spid="101"/>
                                            </p:tgtEl>
                                            <p:attrNameLst>
                                              <p:attrName>ppt_x</p:attrName>
                                            </p:attrNameLst>
                                          </p:cBhvr>
                                          <p:tavLst>
                                            <p:tav tm="0">
                                              <p:val>
                                                <p:strVal val="#ppt_x-#ppt_w*1.125000"/>
                                              </p:val>
                                            </p:tav>
                                            <p:tav tm="100000">
                                              <p:val>
                                                <p:strVal val="#ppt_x"/>
                                              </p:val>
                                            </p:tav>
                                          </p:tavLst>
                                        </p:anim>
                                        <p:animEffect transition="in" filter="wipe(right)">
                                          <p:cBhvr>
                                            <p:cTn id="43" dur="500"/>
                                            <p:tgtEl>
                                              <p:spTgt spid="101"/>
                                            </p:tgtEl>
                                          </p:cBhvr>
                                        </p:animEffect>
                                      </p:childTnLst>
                                    </p:cTn>
                                  </p:par>
                                  <p:par>
                                    <p:cTn id="44" presetID="27" presetClass="entr" presetSubtype="0" fill="hold" grpId="0" nodeType="withEffect">
                                      <p:stCondLst>
                                        <p:cond delay="0"/>
                                      </p:stCondLst>
                                      <p:iterate type="lt">
                                        <p:tmPct val="30000"/>
                                      </p:iterate>
                                      <p:childTnLst>
                                        <p:set>
                                          <p:cBhvr>
                                            <p:cTn id="45" dur="1" fill="hold">
                                              <p:stCondLst>
                                                <p:cond delay="0"/>
                                              </p:stCondLst>
                                            </p:cTn>
                                            <p:tgtEl>
                                              <p:spTgt spid="131"/>
                                            </p:tgtEl>
                                            <p:attrNameLst>
                                              <p:attrName>style.visibility</p:attrName>
                                            </p:attrNameLst>
                                          </p:cBhvr>
                                          <p:to>
                                            <p:strVal val="visible"/>
                                          </p:to>
                                        </p:set>
                                        <p:anim calcmode="discrete" valueType="clr">
                                          <p:cBhvr override="childStyle">
                                            <p:cTn id="46" dur="100"/>
                                            <p:tgtEl>
                                              <p:spTgt spid="131"/>
                                            </p:tgtEl>
                                            <p:attrNameLst>
                                              <p:attrName>style.color</p:attrName>
                                            </p:attrNameLst>
                                          </p:cBhvr>
                                          <p:tavLst>
                                            <p:tav tm="0">
                                              <p:val>
                                                <p:clrVal>
                                                  <a:schemeClr val="bg1"/>
                                                </p:clrVal>
                                              </p:val>
                                            </p:tav>
                                            <p:tav tm="50000">
                                              <p:val>
                                                <p:clrVal>
                                                  <a:schemeClr val="bg1"/>
                                                </p:clrVal>
                                              </p:val>
                                            </p:tav>
                                          </p:tavLst>
                                        </p:anim>
                                        <p:anim calcmode="discrete" valueType="clr">
                                          <p:cBhvr>
                                            <p:cTn id="47" dur="100"/>
                                            <p:tgtEl>
                                              <p:spTgt spid="131"/>
                                            </p:tgtEl>
                                            <p:attrNameLst>
                                              <p:attrName>fillcolor</p:attrName>
                                            </p:attrNameLst>
                                          </p:cBhvr>
                                          <p:tavLst>
                                            <p:tav tm="0">
                                              <p:val>
                                                <p:clrVal>
                                                  <a:schemeClr val="accent2"/>
                                                </p:clrVal>
                                              </p:val>
                                            </p:tav>
                                            <p:tav tm="50000">
                                              <p:val>
                                                <p:clrVal>
                                                  <a:schemeClr val="hlink"/>
                                                </p:clrVal>
                                              </p:val>
                                            </p:tav>
                                          </p:tavLst>
                                        </p:anim>
                                        <p:set>
                                          <p:cBhvr>
                                            <p:cTn id="48" dur="100"/>
                                            <p:tgtEl>
                                              <p:spTgt spid="131"/>
                                            </p:tgtEl>
                                            <p:attrNameLst>
                                              <p:attrName>fill.type</p:attrName>
                                            </p:attrNameLst>
                                          </p:cBhvr>
                                          <p:to>
                                            <p:strVal val="solid"/>
                                          </p:to>
                                        </p:set>
                                      </p:childTnLst>
                                    </p:cTn>
                                  </p:par>
                                </p:childTnLst>
                              </p:cTn>
                            </p:par>
                            <p:par>
                              <p:cTn id="49" fill="hold">
                                <p:stCondLst>
                                  <p:cond delay="6090"/>
                                </p:stCondLst>
                                <p:childTnLst>
                                  <p:par>
                                    <p:cTn id="50" presetID="12" presetClass="entr" presetSubtype="8" fill="hold" nodeType="afterEffect">
                                      <p:stCondLst>
                                        <p:cond delay="0"/>
                                      </p:stCondLst>
                                      <p:childTnLst>
                                        <p:set>
                                          <p:cBhvr>
                                            <p:cTn id="51" dur="1" fill="hold">
                                              <p:stCondLst>
                                                <p:cond delay="0"/>
                                              </p:stCondLst>
                                            </p:cTn>
                                            <p:tgtEl>
                                              <p:spTgt spid="93"/>
                                            </p:tgtEl>
                                            <p:attrNameLst>
                                              <p:attrName>style.visibility</p:attrName>
                                            </p:attrNameLst>
                                          </p:cBhvr>
                                          <p:to>
                                            <p:strVal val="visible"/>
                                          </p:to>
                                        </p:set>
                                        <p:anim calcmode="lin" valueType="num">
                                          <p:cBhvr additive="base">
                                            <p:cTn id="52" dur="500"/>
                                            <p:tgtEl>
                                              <p:spTgt spid="93"/>
                                            </p:tgtEl>
                                            <p:attrNameLst>
                                              <p:attrName>ppt_x</p:attrName>
                                            </p:attrNameLst>
                                          </p:cBhvr>
                                          <p:tavLst>
                                            <p:tav tm="0">
                                              <p:val>
                                                <p:strVal val="#ppt_x-#ppt_w*1.125000"/>
                                              </p:val>
                                            </p:tav>
                                            <p:tav tm="100000">
                                              <p:val>
                                                <p:strVal val="#ppt_x"/>
                                              </p:val>
                                            </p:tav>
                                          </p:tavLst>
                                        </p:anim>
                                        <p:animEffect transition="in" filter="wipe(right)">
                                          <p:cBhvr>
                                            <p:cTn id="53" dur="500"/>
                                            <p:tgtEl>
                                              <p:spTgt spid="93"/>
                                            </p:tgtEl>
                                          </p:cBhvr>
                                        </p:animEffect>
                                      </p:childTnLst>
                                    </p:cTn>
                                  </p:par>
                                  <p:par>
                                    <p:cTn id="54" presetID="27" presetClass="entr" presetSubtype="0" fill="hold" grpId="0" nodeType="withEffect">
                                      <p:stCondLst>
                                        <p:cond delay="0"/>
                                      </p:stCondLst>
                                      <p:iterate type="lt">
                                        <p:tmPct val="30000"/>
                                      </p:iterate>
                                      <p:childTnLst>
                                        <p:set>
                                          <p:cBhvr>
                                            <p:cTn id="55" dur="1" fill="hold">
                                              <p:stCondLst>
                                                <p:cond delay="0"/>
                                              </p:stCondLst>
                                            </p:cTn>
                                            <p:tgtEl>
                                              <p:spTgt spid="132"/>
                                            </p:tgtEl>
                                            <p:attrNameLst>
                                              <p:attrName>style.visibility</p:attrName>
                                            </p:attrNameLst>
                                          </p:cBhvr>
                                          <p:to>
                                            <p:strVal val="visible"/>
                                          </p:to>
                                        </p:set>
                                        <p:anim calcmode="discrete" valueType="clr">
                                          <p:cBhvr override="childStyle">
                                            <p:cTn id="56" dur="100"/>
                                            <p:tgtEl>
                                              <p:spTgt spid="132"/>
                                            </p:tgtEl>
                                            <p:attrNameLst>
                                              <p:attrName>style.color</p:attrName>
                                            </p:attrNameLst>
                                          </p:cBhvr>
                                          <p:tavLst>
                                            <p:tav tm="0">
                                              <p:val>
                                                <p:clrVal>
                                                  <a:schemeClr val="bg1"/>
                                                </p:clrVal>
                                              </p:val>
                                            </p:tav>
                                            <p:tav tm="50000">
                                              <p:val>
                                                <p:clrVal>
                                                  <a:schemeClr val="bg1"/>
                                                </p:clrVal>
                                              </p:val>
                                            </p:tav>
                                          </p:tavLst>
                                        </p:anim>
                                        <p:anim calcmode="discrete" valueType="clr">
                                          <p:cBhvr>
                                            <p:cTn id="57" dur="100"/>
                                            <p:tgtEl>
                                              <p:spTgt spid="132"/>
                                            </p:tgtEl>
                                            <p:attrNameLst>
                                              <p:attrName>fillcolor</p:attrName>
                                            </p:attrNameLst>
                                          </p:cBhvr>
                                          <p:tavLst>
                                            <p:tav tm="0">
                                              <p:val>
                                                <p:clrVal>
                                                  <a:schemeClr val="accent2"/>
                                                </p:clrVal>
                                              </p:val>
                                            </p:tav>
                                            <p:tav tm="50000">
                                              <p:val>
                                                <p:clrVal>
                                                  <a:schemeClr val="hlink"/>
                                                </p:clrVal>
                                              </p:val>
                                            </p:tav>
                                          </p:tavLst>
                                        </p:anim>
                                        <p:set>
                                          <p:cBhvr>
                                            <p:cTn id="58" dur="100"/>
                                            <p:tgtEl>
                                              <p:spTgt spid="132"/>
                                            </p:tgtEl>
                                            <p:attrNameLst>
                                              <p:attrName>fill.type</p:attrName>
                                            </p:attrNameLst>
                                          </p:cBhvr>
                                          <p:to>
                                            <p:strVal val="solid"/>
                                          </p:to>
                                        </p:set>
                                      </p:childTnLst>
                                    </p:cTn>
                                  </p:par>
                                </p:childTnLst>
                              </p:cTn>
                            </p:par>
                            <p:par>
                              <p:cTn id="59" fill="hold">
                                <p:stCondLst>
                                  <p:cond delay="8770"/>
                                </p:stCondLst>
                                <p:childTnLst>
                                  <p:par>
                                    <p:cTn id="60" presetID="12" presetClass="entr" presetSubtype="8" fill="hold" nodeType="afterEffect">
                                      <p:stCondLst>
                                        <p:cond delay="0"/>
                                      </p:stCondLst>
                                      <p:childTnLst>
                                        <p:set>
                                          <p:cBhvr>
                                            <p:cTn id="61" dur="1" fill="hold">
                                              <p:stCondLst>
                                                <p:cond delay="0"/>
                                              </p:stCondLst>
                                            </p:cTn>
                                            <p:tgtEl>
                                              <p:spTgt spid="80"/>
                                            </p:tgtEl>
                                            <p:attrNameLst>
                                              <p:attrName>style.visibility</p:attrName>
                                            </p:attrNameLst>
                                          </p:cBhvr>
                                          <p:to>
                                            <p:strVal val="visible"/>
                                          </p:to>
                                        </p:set>
                                        <p:anim calcmode="lin" valueType="num">
                                          <p:cBhvr additive="base">
                                            <p:cTn id="62" dur="500"/>
                                            <p:tgtEl>
                                              <p:spTgt spid="80"/>
                                            </p:tgtEl>
                                            <p:attrNameLst>
                                              <p:attrName>ppt_x</p:attrName>
                                            </p:attrNameLst>
                                          </p:cBhvr>
                                          <p:tavLst>
                                            <p:tav tm="0">
                                              <p:val>
                                                <p:strVal val="#ppt_x-#ppt_w*1.125000"/>
                                              </p:val>
                                            </p:tav>
                                            <p:tav tm="100000">
                                              <p:val>
                                                <p:strVal val="#ppt_x"/>
                                              </p:val>
                                            </p:tav>
                                          </p:tavLst>
                                        </p:anim>
                                        <p:animEffect transition="in" filter="wipe(right)">
                                          <p:cBhvr>
                                            <p:cTn id="63" dur="500"/>
                                            <p:tgtEl>
                                              <p:spTgt spid="80"/>
                                            </p:tgtEl>
                                          </p:cBhvr>
                                        </p:animEffect>
                                      </p:childTnLst>
                                    </p:cTn>
                                  </p:par>
                                  <p:par>
                                    <p:cTn id="64" presetID="27" presetClass="entr" presetSubtype="0" fill="hold" grpId="0" nodeType="withEffect">
                                      <p:stCondLst>
                                        <p:cond delay="0"/>
                                      </p:stCondLst>
                                      <p:iterate type="lt">
                                        <p:tmPct val="30000"/>
                                      </p:iterate>
                                      <p:childTnLst>
                                        <p:set>
                                          <p:cBhvr>
                                            <p:cTn id="65" dur="1" fill="hold">
                                              <p:stCondLst>
                                                <p:cond delay="0"/>
                                              </p:stCondLst>
                                            </p:cTn>
                                            <p:tgtEl>
                                              <p:spTgt spid="133"/>
                                            </p:tgtEl>
                                            <p:attrNameLst>
                                              <p:attrName>style.visibility</p:attrName>
                                            </p:attrNameLst>
                                          </p:cBhvr>
                                          <p:to>
                                            <p:strVal val="visible"/>
                                          </p:to>
                                        </p:set>
                                        <p:anim calcmode="discrete" valueType="clr">
                                          <p:cBhvr override="childStyle">
                                            <p:cTn id="66" dur="100"/>
                                            <p:tgtEl>
                                              <p:spTgt spid="133"/>
                                            </p:tgtEl>
                                            <p:attrNameLst>
                                              <p:attrName>style.color</p:attrName>
                                            </p:attrNameLst>
                                          </p:cBhvr>
                                          <p:tavLst>
                                            <p:tav tm="0">
                                              <p:val>
                                                <p:clrVal>
                                                  <a:schemeClr val="bg1"/>
                                                </p:clrVal>
                                              </p:val>
                                            </p:tav>
                                            <p:tav tm="50000">
                                              <p:val>
                                                <p:clrVal>
                                                  <a:schemeClr val="bg1"/>
                                                </p:clrVal>
                                              </p:val>
                                            </p:tav>
                                          </p:tavLst>
                                        </p:anim>
                                        <p:anim calcmode="discrete" valueType="clr">
                                          <p:cBhvr>
                                            <p:cTn id="67" dur="100"/>
                                            <p:tgtEl>
                                              <p:spTgt spid="133"/>
                                            </p:tgtEl>
                                            <p:attrNameLst>
                                              <p:attrName>fillcolor</p:attrName>
                                            </p:attrNameLst>
                                          </p:cBhvr>
                                          <p:tavLst>
                                            <p:tav tm="0">
                                              <p:val>
                                                <p:clrVal>
                                                  <a:schemeClr val="accent2"/>
                                                </p:clrVal>
                                              </p:val>
                                            </p:tav>
                                            <p:tav tm="50000">
                                              <p:val>
                                                <p:clrVal>
                                                  <a:schemeClr val="hlink"/>
                                                </p:clrVal>
                                              </p:val>
                                            </p:tav>
                                          </p:tavLst>
                                        </p:anim>
                                        <p:set>
                                          <p:cBhvr>
                                            <p:cTn id="68" dur="100"/>
                                            <p:tgtEl>
                                              <p:spTgt spid="13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1" grpId="0"/>
          <p:bldP spid="132" grpId="0"/>
          <p:bldP spid="133"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08"/>
                                            </p:tgtEl>
                                            <p:attrNameLst>
                                              <p:attrName>style.visibility</p:attrName>
                                            </p:attrNameLst>
                                          </p:cBhvr>
                                          <p:to>
                                            <p:strVal val="visible"/>
                                          </p:to>
                                        </p:set>
                                        <p:anim calcmode="lin" valueType="num">
                                          <p:cBhvr additive="base">
                                            <p:cTn id="7" dur="500" fill="hold"/>
                                            <p:tgtEl>
                                              <p:spTgt spid="108"/>
                                            </p:tgtEl>
                                            <p:attrNameLst>
                                              <p:attrName>ppt_x</p:attrName>
                                            </p:attrNameLst>
                                          </p:cBhvr>
                                          <p:tavLst>
                                            <p:tav tm="0">
                                              <p:val>
                                                <p:strVal val="#ppt_x"/>
                                              </p:val>
                                            </p:tav>
                                            <p:tav tm="100000">
                                              <p:val>
                                                <p:strVal val="#ppt_x"/>
                                              </p:val>
                                            </p:tav>
                                          </p:tavLst>
                                        </p:anim>
                                        <p:anim calcmode="lin" valueType="num">
                                          <p:cBhvr additive="base">
                                            <p:cTn id="8" dur="500" fill="hold"/>
                                            <p:tgtEl>
                                              <p:spTgt spid="108"/>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nodeType="afterEffect">
                                      <p:stCondLst>
                                        <p:cond delay="0"/>
                                      </p:stCondLst>
                                      <p:childTnLst>
                                        <p:set>
                                          <p:cBhvr>
                                            <p:cTn id="11" dur="1" fill="hold">
                                              <p:stCondLst>
                                                <p:cond delay="0"/>
                                              </p:stCondLst>
                                            </p:cTn>
                                            <p:tgtEl>
                                              <p:spTgt spid="111"/>
                                            </p:tgtEl>
                                            <p:attrNameLst>
                                              <p:attrName>style.visibility</p:attrName>
                                            </p:attrNameLst>
                                          </p:cBhvr>
                                          <p:to>
                                            <p:strVal val="visible"/>
                                          </p:to>
                                        </p:set>
                                        <p:anim calcmode="lin" valueType="num">
                                          <p:cBhvr additive="base">
                                            <p:cTn id="12" dur="500" fill="hold"/>
                                            <p:tgtEl>
                                              <p:spTgt spid="111"/>
                                            </p:tgtEl>
                                            <p:attrNameLst>
                                              <p:attrName>ppt_x</p:attrName>
                                            </p:attrNameLst>
                                          </p:cBhvr>
                                          <p:tavLst>
                                            <p:tav tm="0">
                                              <p:val>
                                                <p:strVal val="#ppt_x"/>
                                              </p:val>
                                            </p:tav>
                                            <p:tav tm="100000">
                                              <p:val>
                                                <p:strVal val="#ppt_x"/>
                                              </p:val>
                                            </p:tav>
                                          </p:tavLst>
                                        </p:anim>
                                        <p:anim calcmode="lin" valueType="num">
                                          <p:cBhvr additive="base">
                                            <p:cTn id="13" dur="500" fill="hold"/>
                                            <p:tgtEl>
                                              <p:spTgt spid="111"/>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1" fill="hold" nodeType="afterEffect">
                                      <p:stCondLst>
                                        <p:cond delay="0"/>
                                      </p:stCondLst>
                                      <p:childTnLst>
                                        <p:set>
                                          <p:cBhvr>
                                            <p:cTn id="16" dur="1" fill="hold">
                                              <p:stCondLst>
                                                <p:cond delay="0"/>
                                              </p:stCondLst>
                                            </p:cTn>
                                            <p:tgtEl>
                                              <p:spTgt spid="114"/>
                                            </p:tgtEl>
                                            <p:attrNameLst>
                                              <p:attrName>style.visibility</p:attrName>
                                            </p:attrNameLst>
                                          </p:cBhvr>
                                          <p:to>
                                            <p:strVal val="visible"/>
                                          </p:to>
                                        </p:set>
                                        <p:anim calcmode="lin" valueType="num">
                                          <p:cBhvr additive="base">
                                            <p:cTn id="17" dur="500" fill="hold"/>
                                            <p:tgtEl>
                                              <p:spTgt spid="114"/>
                                            </p:tgtEl>
                                            <p:attrNameLst>
                                              <p:attrName>ppt_x</p:attrName>
                                            </p:attrNameLst>
                                          </p:cBhvr>
                                          <p:tavLst>
                                            <p:tav tm="0">
                                              <p:val>
                                                <p:strVal val="#ppt_x"/>
                                              </p:val>
                                            </p:tav>
                                            <p:tav tm="100000">
                                              <p:val>
                                                <p:strVal val="#ppt_x"/>
                                              </p:val>
                                            </p:tav>
                                          </p:tavLst>
                                        </p:anim>
                                        <p:anim calcmode="lin" valueType="num">
                                          <p:cBhvr additive="base">
                                            <p:cTn id="18" dur="500" fill="hold"/>
                                            <p:tgtEl>
                                              <p:spTgt spid="114"/>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2" presetClass="entr" presetSubtype="1" fill="hold" nodeType="afterEffect">
                                      <p:stCondLst>
                                        <p:cond delay="0"/>
                                      </p:stCondLst>
                                      <p:childTnLst>
                                        <p:set>
                                          <p:cBhvr>
                                            <p:cTn id="21" dur="1" fill="hold">
                                              <p:stCondLst>
                                                <p:cond delay="0"/>
                                              </p:stCondLst>
                                            </p:cTn>
                                            <p:tgtEl>
                                              <p:spTgt spid="117"/>
                                            </p:tgtEl>
                                            <p:attrNameLst>
                                              <p:attrName>style.visibility</p:attrName>
                                            </p:attrNameLst>
                                          </p:cBhvr>
                                          <p:to>
                                            <p:strVal val="visible"/>
                                          </p:to>
                                        </p:set>
                                        <p:anim calcmode="lin" valueType="num">
                                          <p:cBhvr additive="base">
                                            <p:cTn id="22" dur="500" fill="hold"/>
                                            <p:tgtEl>
                                              <p:spTgt spid="117"/>
                                            </p:tgtEl>
                                            <p:attrNameLst>
                                              <p:attrName>ppt_x</p:attrName>
                                            </p:attrNameLst>
                                          </p:cBhvr>
                                          <p:tavLst>
                                            <p:tav tm="0">
                                              <p:val>
                                                <p:strVal val="#ppt_x"/>
                                              </p:val>
                                            </p:tav>
                                            <p:tav tm="100000">
                                              <p:val>
                                                <p:strVal val="#ppt_x"/>
                                              </p:val>
                                            </p:tav>
                                          </p:tavLst>
                                        </p:anim>
                                        <p:anim calcmode="lin" valueType="num">
                                          <p:cBhvr additive="base">
                                            <p:cTn id="23" dur="500" fill="hold"/>
                                            <p:tgtEl>
                                              <p:spTgt spid="117"/>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 presetClass="entr" presetSubtype="12" fill="hold" nodeType="afterEffect">
                                      <p:stCondLst>
                                        <p:cond delay="0"/>
                                      </p:stCondLst>
                                      <p:childTnLst>
                                        <p:set>
                                          <p:cBhvr>
                                            <p:cTn id="26" dur="1" fill="hold">
                                              <p:stCondLst>
                                                <p:cond delay="0"/>
                                              </p:stCondLst>
                                            </p:cTn>
                                            <p:tgtEl>
                                              <p:spTgt spid="120"/>
                                            </p:tgtEl>
                                            <p:attrNameLst>
                                              <p:attrName>style.visibility</p:attrName>
                                            </p:attrNameLst>
                                          </p:cBhvr>
                                          <p:to>
                                            <p:strVal val="visible"/>
                                          </p:to>
                                        </p:set>
                                        <p:anim calcmode="lin" valueType="num">
                                          <p:cBhvr additive="base">
                                            <p:cTn id="27" dur="500" fill="hold"/>
                                            <p:tgtEl>
                                              <p:spTgt spid="120"/>
                                            </p:tgtEl>
                                            <p:attrNameLst>
                                              <p:attrName>ppt_x</p:attrName>
                                            </p:attrNameLst>
                                          </p:cBhvr>
                                          <p:tavLst>
                                            <p:tav tm="0">
                                              <p:val>
                                                <p:strVal val="0-#ppt_w/2"/>
                                              </p:val>
                                            </p:tav>
                                            <p:tav tm="100000">
                                              <p:val>
                                                <p:strVal val="#ppt_x"/>
                                              </p:val>
                                            </p:tav>
                                          </p:tavLst>
                                        </p:anim>
                                        <p:anim calcmode="lin" valueType="num">
                                          <p:cBhvr additive="base">
                                            <p:cTn id="28" dur="500" fill="hold"/>
                                            <p:tgtEl>
                                              <p:spTgt spid="120"/>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12" presetClass="entr" presetSubtype="8" fill="hold" nodeType="afterEffect">
                                      <p:stCondLst>
                                        <p:cond delay="0"/>
                                      </p:stCondLst>
                                      <p:childTnLst>
                                        <p:set>
                                          <p:cBhvr>
                                            <p:cTn id="31" dur="1" fill="hold">
                                              <p:stCondLst>
                                                <p:cond delay="0"/>
                                              </p:stCondLst>
                                            </p:cTn>
                                            <p:tgtEl>
                                              <p:spTgt spid="71"/>
                                            </p:tgtEl>
                                            <p:attrNameLst>
                                              <p:attrName>style.visibility</p:attrName>
                                            </p:attrNameLst>
                                          </p:cBhvr>
                                          <p:to>
                                            <p:strVal val="visible"/>
                                          </p:to>
                                        </p:set>
                                        <p:anim calcmode="lin" valueType="num">
                                          <p:cBhvr additive="base">
                                            <p:cTn id="32" dur="500"/>
                                            <p:tgtEl>
                                              <p:spTgt spid="71"/>
                                            </p:tgtEl>
                                            <p:attrNameLst>
                                              <p:attrName>ppt_x</p:attrName>
                                            </p:attrNameLst>
                                          </p:cBhvr>
                                          <p:tavLst>
                                            <p:tav tm="0">
                                              <p:val>
                                                <p:strVal val="#ppt_x-#ppt_w*1.125000"/>
                                              </p:val>
                                            </p:tav>
                                            <p:tav tm="100000">
                                              <p:val>
                                                <p:strVal val="#ppt_x"/>
                                              </p:val>
                                            </p:tav>
                                          </p:tavLst>
                                        </p:anim>
                                        <p:animEffect transition="in" filter="wipe(right)">
                                          <p:cBhvr>
                                            <p:cTn id="33" dur="500"/>
                                            <p:tgtEl>
                                              <p:spTgt spid="71"/>
                                            </p:tgtEl>
                                          </p:cBhvr>
                                        </p:animEffect>
                                      </p:childTnLst>
                                    </p:cTn>
                                  </p:par>
                                  <p:par>
                                    <p:cTn id="34" presetID="27" presetClass="entr" presetSubtype="0" fill="hold" grpId="0" nodeType="withEffect">
                                      <p:stCondLst>
                                        <p:cond delay="0"/>
                                      </p:stCondLst>
                                      <p:iterate type="lt">
                                        <p:tmPct val="30000"/>
                                      </p:iterate>
                                      <p:childTnLst>
                                        <p:set>
                                          <p:cBhvr>
                                            <p:cTn id="35" dur="1" fill="hold">
                                              <p:stCondLst>
                                                <p:cond delay="0"/>
                                              </p:stCondLst>
                                            </p:cTn>
                                            <p:tgtEl>
                                              <p:spTgt spid="130"/>
                                            </p:tgtEl>
                                            <p:attrNameLst>
                                              <p:attrName>style.visibility</p:attrName>
                                            </p:attrNameLst>
                                          </p:cBhvr>
                                          <p:to>
                                            <p:strVal val="visible"/>
                                          </p:to>
                                        </p:set>
                                        <p:anim calcmode="discrete" valueType="clr">
                                          <p:cBhvr override="childStyle">
                                            <p:cTn id="36" dur="100"/>
                                            <p:tgtEl>
                                              <p:spTgt spid="130"/>
                                            </p:tgtEl>
                                            <p:attrNameLst>
                                              <p:attrName>style.color</p:attrName>
                                            </p:attrNameLst>
                                          </p:cBhvr>
                                          <p:tavLst>
                                            <p:tav tm="0">
                                              <p:val>
                                                <p:clrVal>
                                                  <a:schemeClr val="bg1"/>
                                                </p:clrVal>
                                              </p:val>
                                            </p:tav>
                                            <p:tav tm="50000">
                                              <p:val>
                                                <p:clrVal>
                                                  <a:schemeClr val="bg1"/>
                                                </p:clrVal>
                                              </p:val>
                                            </p:tav>
                                          </p:tavLst>
                                        </p:anim>
                                        <p:anim calcmode="discrete" valueType="clr">
                                          <p:cBhvr>
                                            <p:cTn id="37" dur="100"/>
                                            <p:tgtEl>
                                              <p:spTgt spid="130"/>
                                            </p:tgtEl>
                                            <p:attrNameLst>
                                              <p:attrName>fillcolor</p:attrName>
                                            </p:attrNameLst>
                                          </p:cBhvr>
                                          <p:tavLst>
                                            <p:tav tm="0">
                                              <p:val>
                                                <p:clrVal>
                                                  <a:schemeClr val="accent2"/>
                                                </p:clrVal>
                                              </p:val>
                                            </p:tav>
                                            <p:tav tm="50000">
                                              <p:val>
                                                <p:clrVal>
                                                  <a:schemeClr val="hlink"/>
                                                </p:clrVal>
                                              </p:val>
                                            </p:tav>
                                          </p:tavLst>
                                        </p:anim>
                                        <p:set>
                                          <p:cBhvr>
                                            <p:cTn id="38" dur="100"/>
                                            <p:tgtEl>
                                              <p:spTgt spid="130"/>
                                            </p:tgtEl>
                                            <p:attrNameLst>
                                              <p:attrName>fill.type</p:attrName>
                                            </p:attrNameLst>
                                          </p:cBhvr>
                                          <p:to>
                                            <p:strVal val="solid"/>
                                          </p:to>
                                        </p:set>
                                      </p:childTnLst>
                                    </p:cTn>
                                  </p:par>
                                </p:childTnLst>
                              </p:cTn>
                            </p:par>
                            <p:par>
                              <p:cTn id="39" fill="hold">
                                <p:stCondLst>
                                  <p:cond delay="4489"/>
                                </p:stCondLst>
                                <p:childTnLst>
                                  <p:par>
                                    <p:cTn id="40" presetID="12" presetClass="entr" presetSubtype="8" fill="hold" nodeType="afterEffect">
                                      <p:stCondLst>
                                        <p:cond delay="0"/>
                                      </p:stCondLst>
                                      <p:childTnLst>
                                        <p:set>
                                          <p:cBhvr>
                                            <p:cTn id="41" dur="1" fill="hold">
                                              <p:stCondLst>
                                                <p:cond delay="0"/>
                                              </p:stCondLst>
                                            </p:cTn>
                                            <p:tgtEl>
                                              <p:spTgt spid="101"/>
                                            </p:tgtEl>
                                            <p:attrNameLst>
                                              <p:attrName>style.visibility</p:attrName>
                                            </p:attrNameLst>
                                          </p:cBhvr>
                                          <p:to>
                                            <p:strVal val="visible"/>
                                          </p:to>
                                        </p:set>
                                        <p:anim calcmode="lin" valueType="num">
                                          <p:cBhvr additive="base">
                                            <p:cTn id="42" dur="500"/>
                                            <p:tgtEl>
                                              <p:spTgt spid="101"/>
                                            </p:tgtEl>
                                            <p:attrNameLst>
                                              <p:attrName>ppt_x</p:attrName>
                                            </p:attrNameLst>
                                          </p:cBhvr>
                                          <p:tavLst>
                                            <p:tav tm="0">
                                              <p:val>
                                                <p:strVal val="#ppt_x-#ppt_w*1.125000"/>
                                              </p:val>
                                            </p:tav>
                                            <p:tav tm="100000">
                                              <p:val>
                                                <p:strVal val="#ppt_x"/>
                                              </p:val>
                                            </p:tav>
                                          </p:tavLst>
                                        </p:anim>
                                        <p:animEffect transition="in" filter="wipe(right)">
                                          <p:cBhvr>
                                            <p:cTn id="43" dur="500"/>
                                            <p:tgtEl>
                                              <p:spTgt spid="101"/>
                                            </p:tgtEl>
                                          </p:cBhvr>
                                        </p:animEffect>
                                      </p:childTnLst>
                                    </p:cTn>
                                  </p:par>
                                  <p:par>
                                    <p:cTn id="44" presetID="27" presetClass="entr" presetSubtype="0" fill="hold" grpId="0" nodeType="withEffect">
                                      <p:stCondLst>
                                        <p:cond delay="0"/>
                                      </p:stCondLst>
                                      <p:iterate type="lt">
                                        <p:tmPct val="30000"/>
                                      </p:iterate>
                                      <p:childTnLst>
                                        <p:set>
                                          <p:cBhvr>
                                            <p:cTn id="45" dur="1" fill="hold">
                                              <p:stCondLst>
                                                <p:cond delay="0"/>
                                              </p:stCondLst>
                                            </p:cTn>
                                            <p:tgtEl>
                                              <p:spTgt spid="131"/>
                                            </p:tgtEl>
                                            <p:attrNameLst>
                                              <p:attrName>style.visibility</p:attrName>
                                            </p:attrNameLst>
                                          </p:cBhvr>
                                          <p:to>
                                            <p:strVal val="visible"/>
                                          </p:to>
                                        </p:set>
                                        <p:anim calcmode="discrete" valueType="clr">
                                          <p:cBhvr override="childStyle">
                                            <p:cTn id="46" dur="100"/>
                                            <p:tgtEl>
                                              <p:spTgt spid="131"/>
                                            </p:tgtEl>
                                            <p:attrNameLst>
                                              <p:attrName>style.color</p:attrName>
                                            </p:attrNameLst>
                                          </p:cBhvr>
                                          <p:tavLst>
                                            <p:tav tm="0">
                                              <p:val>
                                                <p:clrVal>
                                                  <a:schemeClr val="bg1"/>
                                                </p:clrVal>
                                              </p:val>
                                            </p:tav>
                                            <p:tav tm="50000">
                                              <p:val>
                                                <p:clrVal>
                                                  <a:schemeClr val="bg1"/>
                                                </p:clrVal>
                                              </p:val>
                                            </p:tav>
                                          </p:tavLst>
                                        </p:anim>
                                        <p:anim calcmode="discrete" valueType="clr">
                                          <p:cBhvr>
                                            <p:cTn id="47" dur="100"/>
                                            <p:tgtEl>
                                              <p:spTgt spid="131"/>
                                            </p:tgtEl>
                                            <p:attrNameLst>
                                              <p:attrName>fillcolor</p:attrName>
                                            </p:attrNameLst>
                                          </p:cBhvr>
                                          <p:tavLst>
                                            <p:tav tm="0">
                                              <p:val>
                                                <p:clrVal>
                                                  <a:schemeClr val="accent2"/>
                                                </p:clrVal>
                                              </p:val>
                                            </p:tav>
                                            <p:tav tm="50000">
                                              <p:val>
                                                <p:clrVal>
                                                  <a:schemeClr val="hlink"/>
                                                </p:clrVal>
                                              </p:val>
                                            </p:tav>
                                          </p:tavLst>
                                        </p:anim>
                                        <p:set>
                                          <p:cBhvr>
                                            <p:cTn id="48" dur="100"/>
                                            <p:tgtEl>
                                              <p:spTgt spid="131"/>
                                            </p:tgtEl>
                                            <p:attrNameLst>
                                              <p:attrName>fill.type</p:attrName>
                                            </p:attrNameLst>
                                          </p:cBhvr>
                                          <p:to>
                                            <p:strVal val="solid"/>
                                          </p:to>
                                        </p:set>
                                      </p:childTnLst>
                                    </p:cTn>
                                  </p:par>
                                </p:childTnLst>
                              </p:cTn>
                            </p:par>
                            <p:par>
                              <p:cTn id="49" fill="hold">
                                <p:stCondLst>
                                  <p:cond delay="6090"/>
                                </p:stCondLst>
                                <p:childTnLst>
                                  <p:par>
                                    <p:cTn id="50" presetID="12" presetClass="entr" presetSubtype="8" fill="hold" nodeType="afterEffect">
                                      <p:stCondLst>
                                        <p:cond delay="0"/>
                                      </p:stCondLst>
                                      <p:childTnLst>
                                        <p:set>
                                          <p:cBhvr>
                                            <p:cTn id="51" dur="1" fill="hold">
                                              <p:stCondLst>
                                                <p:cond delay="0"/>
                                              </p:stCondLst>
                                            </p:cTn>
                                            <p:tgtEl>
                                              <p:spTgt spid="93"/>
                                            </p:tgtEl>
                                            <p:attrNameLst>
                                              <p:attrName>style.visibility</p:attrName>
                                            </p:attrNameLst>
                                          </p:cBhvr>
                                          <p:to>
                                            <p:strVal val="visible"/>
                                          </p:to>
                                        </p:set>
                                        <p:anim calcmode="lin" valueType="num">
                                          <p:cBhvr additive="base">
                                            <p:cTn id="52" dur="500"/>
                                            <p:tgtEl>
                                              <p:spTgt spid="93"/>
                                            </p:tgtEl>
                                            <p:attrNameLst>
                                              <p:attrName>ppt_x</p:attrName>
                                            </p:attrNameLst>
                                          </p:cBhvr>
                                          <p:tavLst>
                                            <p:tav tm="0">
                                              <p:val>
                                                <p:strVal val="#ppt_x-#ppt_w*1.125000"/>
                                              </p:val>
                                            </p:tav>
                                            <p:tav tm="100000">
                                              <p:val>
                                                <p:strVal val="#ppt_x"/>
                                              </p:val>
                                            </p:tav>
                                          </p:tavLst>
                                        </p:anim>
                                        <p:animEffect transition="in" filter="wipe(right)">
                                          <p:cBhvr>
                                            <p:cTn id="53" dur="500"/>
                                            <p:tgtEl>
                                              <p:spTgt spid="93"/>
                                            </p:tgtEl>
                                          </p:cBhvr>
                                        </p:animEffect>
                                      </p:childTnLst>
                                    </p:cTn>
                                  </p:par>
                                  <p:par>
                                    <p:cTn id="54" presetID="27" presetClass="entr" presetSubtype="0" fill="hold" grpId="0" nodeType="withEffect">
                                      <p:stCondLst>
                                        <p:cond delay="0"/>
                                      </p:stCondLst>
                                      <p:iterate type="lt">
                                        <p:tmPct val="30000"/>
                                      </p:iterate>
                                      <p:childTnLst>
                                        <p:set>
                                          <p:cBhvr>
                                            <p:cTn id="55" dur="1" fill="hold">
                                              <p:stCondLst>
                                                <p:cond delay="0"/>
                                              </p:stCondLst>
                                            </p:cTn>
                                            <p:tgtEl>
                                              <p:spTgt spid="132"/>
                                            </p:tgtEl>
                                            <p:attrNameLst>
                                              <p:attrName>style.visibility</p:attrName>
                                            </p:attrNameLst>
                                          </p:cBhvr>
                                          <p:to>
                                            <p:strVal val="visible"/>
                                          </p:to>
                                        </p:set>
                                        <p:anim calcmode="discrete" valueType="clr">
                                          <p:cBhvr override="childStyle">
                                            <p:cTn id="56" dur="100"/>
                                            <p:tgtEl>
                                              <p:spTgt spid="132"/>
                                            </p:tgtEl>
                                            <p:attrNameLst>
                                              <p:attrName>style.color</p:attrName>
                                            </p:attrNameLst>
                                          </p:cBhvr>
                                          <p:tavLst>
                                            <p:tav tm="0">
                                              <p:val>
                                                <p:clrVal>
                                                  <a:schemeClr val="bg1"/>
                                                </p:clrVal>
                                              </p:val>
                                            </p:tav>
                                            <p:tav tm="50000">
                                              <p:val>
                                                <p:clrVal>
                                                  <a:schemeClr val="bg1"/>
                                                </p:clrVal>
                                              </p:val>
                                            </p:tav>
                                          </p:tavLst>
                                        </p:anim>
                                        <p:anim calcmode="discrete" valueType="clr">
                                          <p:cBhvr>
                                            <p:cTn id="57" dur="100"/>
                                            <p:tgtEl>
                                              <p:spTgt spid="132"/>
                                            </p:tgtEl>
                                            <p:attrNameLst>
                                              <p:attrName>fillcolor</p:attrName>
                                            </p:attrNameLst>
                                          </p:cBhvr>
                                          <p:tavLst>
                                            <p:tav tm="0">
                                              <p:val>
                                                <p:clrVal>
                                                  <a:schemeClr val="accent2"/>
                                                </p:clrVal>
                                              </p:val>
                                            </p:tav>
                                            <p:tav tm="50000">
                                              <p:val>
                                                <p:clrVal>
                                                  <a:schemeClr val="hlink"/>
                                                </p:clrVal>
                                              </p:val>
                                            </p:tav>
                                          </p:tavLst>
                                        </p:anim>
                                        <p:set>
                                          <p:cBhvr>
                                            <p:cTn id="58" dur="100"/>
                                            <p:tgtEl>
                                              <p:spTgt spid="132"/>
                                            </p:tgtEl>
                                            <p:attrNameLst>
                                              <p:attrName>fill.type</p:attrName>
                                            </p:attrNameLst>
                                          </p:cBhvr>
                                          <p:to>
                                            <p:strVal val="solid"/>
                                          </p:to>
                                        </p:set>
                                      </p:childTnLst>
                                    </p:cTn>
                                  </p:par>
                                </p:childTnLst>
                              </p:cTn>
                            </p:par>
                            <p:par>
                              <p:cTn id="59" fill="hold">
                                <p:stCondLst>
                                  <p:cond delay="8770"/>
                                </p:stCondLst>
                                <p:childTnLst>
                                  <p:par>
                                    <p:cTn id="60" presetID="12" presetClass="entr" presetSubtype="8" fill="hold" nodeType="afterEffect">
                                      <p:stCondLst>
                                        <p:cond delay="0"/>
                                      </p:stCondLst>
                                      <p:childTnLst>
                                        <p:set>
                                          <p:cBhvr>
                                            <p:cTn id="61" dur="1" fill="hold">
                                              <p:stCondLst>
                                                <p:cond delay="0"/>
                                              </p:stCondLst>
                                            </p:cTn>
                                            <p:tgtEl>
                                              <p:spTgt spid="80"/>
                                            </p:tgtEl>
                                            <p:attrNameLst>
                                              <p:attrName>style.visibility</p:attrName>
                                            </p:attrNameLst>
                                          </p:cBhvr>
                                          <p:to>
                                            <p:strVal val="visible"/>
                                          </p:to>
                                        </p:set>
                                        <p:anim calcmode="lin" valueType="num">
                                          <p:cBhvr additive="base">
                                            <p:cTn id="62" dur="500"/>
                                            <p:tgtEl>
                                              <p:spTgt spid="80"/>
                                            </p:tgtEl>
                                            <p:attrNameLst>
                                              <p:attrName>ppt_x</p:attrName>
                                            </p:attrNameLst>
                                          </p:cBhvr>
                                          <p:tavLst>
                                            <p:tav tm="0">
                                              <p:val>
                                                <p:strVal val="#ppt_x-#ppt_w*1.125000"/>
                                              </p:val>
                                            </p:tav>
                                            <p:tav tm="100000">
                                              <p:val>
                                                <p:strVal val="#ppt_x"/>
                                              </p:val>
                                            </p:tav>
                                          </p:tavLst>
                                        </p:anim>
                                        <p:animEffect transition="in" filter="wipe(right)">
                                          <p:cBhvr>
                                            <p:cTn id="63" dur="500"/>
                                            <p:tgtEl>
                                              <p:spTgt spid="80"/>
                                            </p:tgtEl>
                                          </p:cBhvr>
                                        </p:animEffect>
                                      </p:childTnLst>
                                    </p:cTn>
                                  </p:par>
                                  <p:par>
                                    <p:cTn id="64" presetID="27" presetClass="entr" presetSubtype="0" fill="hold" grpId="0" nodeType="withEffect">
                                      <p:stCondLst>
                                        <p:cond delay="0"/>
                                      </p:stCondLst>
                                      <p:iterate type="lt">
                                        <p:tmPct val="30000"/>
                                      </p:iterate>
                                      <p:childTnLst>
                                        <p:set>
                                          <p:cBhvr>
                                            <p:cTn id="65" dur="1" fill="hold">
                                              <p:stCondLst>
                                                <p:cond delay="0"/>
                                              </p:stCondLst>
                                            </p:cTn>
                                            <p:tgtEl>
                                              <p:spTgt spid="133"/>
                                            </p:tgtEl>
                                            <p:attrNameLst>
                                              <p:attrName>style.visibility</p:attrName>
                                            </p:attrNameLst>
                                          </p:cBhvr>
                                          <p:to>
                                            <p:strVal val="visible"/>
                                          </p:to>
                                        </p:set>
                                        <p:anim calcmode="discrete" valueType="clr">
                                          <p:cBhvr override="childStyle">
                                            <p:cTn id="66" dur="100"/>
                                            <p:tgtEl>
                                              <p:spTgt spid="133"/>
                                            </p:tgtEl>
                                            <p:attrNameLst>
                                              <p:attrName>style.color</p:attrName>
                                            </p:attrNameLst>
                                          </p:cBhvr>
                                          <p:tavLst>
                                            <p:tav tm="0">
                                              <p:val>
                                                <p:clrVal>
                                                  <a:schemeClr val="bg1"/>
                                                </p:clrVal>
                                              </p:val>
                                            </p:tav>
                                            <p:tav tm="50000">
                                              <p:val>
                                                <p:clrVal>
                                                  <a:schemeClr val="bg1"/>
                                                </p:clrVal>
                                              </p:val>
                                            </p:tav>
                                          </p:tavLst>
                                        </p:anim>
                                        <p:anim calcmode="discrete" valueType="clr">
                                          <p:cBhvr>
                                            <p:cTn id="67" dur="100"/>
                                            <p:tgtEl>
                                              <p:spTgt spid="133"/>
                                            </p:tgtEl>
                                            <p:attrNameLst>
                                              <p:attrName>fillcolor</p:attrName>
                                            </p:attrNameLst>
                                          </p:cBhvr>
                                          <p:tavLst>
                                            <p:tav tm="0">
                                              <p:val>
                                                <p:clrVal>
                                                  <a:schemeClr val="accent2"/>
                                                </p:clrVal>
                                              </p:val>
                                            </p:tav>
                                            <p:tav tm="50000">
                                              <p:val>
                                                <p:clrVal>
                                                  <a:schemeClr val="hlink"/>
                                                </p:clrVal>
                                              </p:val>
                                            </p:tav>
                                          </p:tavLst>
                                        </p:anim>
                                        <p:set>
                                          <p:cBhvr>
                                            <p:cTn id="68" dur="100"/>
                                            <p:tgtEl>
                                              <p:spTgt spid="13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1" grpId="0"/>
          <p:bldP spid="132" grpId="0"/>
          <p:bldP spid="133" grpId="0"/>
        </p:bldLst>
      </p:timing>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1620000">
            <a:off x="7990522" y="867410"/>
            <a:ext cx="422846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6" name="任意多边形 5"/>
          <p:cNvSpPr/>
          <p:nvPr/>
        </p:nvSpPr>
        <p:spPr>
          <a:xfrm>
            <a:off x="2442753" y="1593670"/>
            <a:ext cx="8605062" cy="1541417"/>
          </a:xfrm>
          <a:custGeom>
            <a:avLst/>
            <a:gdLst>
              <a:gd name="connsiteX0" fmla="*/ 0 w 8608423"/>
              <a:gd name="connsiteY0" fmla="*/ 1541417 h 1541417"/>
              <a:gd name="connsiteX1" fmla="*/ 1267097 w 8608423"/>
              <a:gd name="connsiteY1" fmla="*/ 744582 h 1541417"/>
              <a:gd name="connsiteX2" fmla="*/ 2690949 w 8608423"/>
              <a:gd name="connsiteY2" fmla="*/ 1267097 h 1541417"/>
              <a:gd name="connsiteX3" fmla="*/ 4153989 w 8608423"/>
              <a:gd name="connsiteY3" fmla="*/ 156754 h 1541417"/>
              <a:gd name="connsiteX4" fmla="*/ 5460275 w 8608423"/>
              <a:gd name="connsiteY4" fmla="*/ 326571 h 1541417"/>
              <a:gd name="connsiteX5" fmla="*/ 6648995 w 8608423"/>
              <a:gd name="connsiteY5" fmla="*/ 1136468 h 1541417"/>
              <a:gd name="connsiteX6" fmla="*/ 8608423 w 8608423"/>
              <a:gd name="connsiteY6" fmla="*/ 0 h 1541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8423" h="1541417">
                <a:moveTo>
                  <a:pt x="0" y="1541417"/>
                </a:moveTo>
                <a:cubicBezTo>
                  <a:pt x="409303" y="1165859"/>
                  <a:pt x="818606" y="790302"/>
                  <a:pt x="1267097" y="744582"/>
                </a:cubicBezTo>
                <a:cubicBezTo>
                  <a:pt x="1715589" y="698862"/>
                  <a:pt x="2209800" y="1365068"/>
                  <a:pt x="2690949" y="1267097"/>
                </a:cubicBezTo>
                <a:cubicBezTo>
                  <a:pt x="3172098" y="1169126"/>
                  <a:pt x="3692435" y="313508"/>
                  <a:pt x="4153989" y="156754"/>
                </a:cubicBezTo>
                <a:cubicBezTo>
                  <a:pt x="4615543" y="0"/>
                  <a:pt x="5044441" y="163285"/>
                  <a:pt x="5460275" y="326571"/>
                </a:cubicBezTo>
                <a:cubicBezTo>
                  <a:pt x="5876109" y="489857"/>
                  <a:pt x="6124304" y="1190896"/>
                  <a:pt x="6648995" y="1136468"/>
                </a:cubicBezTo>
                <a:cubicBezTo>
                  <a:pt x="7173686" y="1082040"/>
                  <a:pt x="8336280" y="189411"/>
                  <a:pt x="8608423" y="0"/>
                </a:cubicBezTo>
              </a:path>
            </a:pathLst>
          </a:custGeom>
          <a:noFill/>
          <a:ln w="317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Oval 12"/>
          <p:cNvSpPr/>
          <p:nvPr/>
        </p:nvSpPr>
        <p:spPr>
          <a:xfrm>
            <a:off x="2244107" y="3042569"/>
            <a:ext cx="218989" cy="219075"/>
          </a:xfrm>
          <a:prstGeom prst="ellipse">
            <a:avLst/>
          </a:prstGeom>
          <a:solidFill>
            <a:schemeClr val="bg1"/>
          </a:solidFill>
          <a:ln w="38100">
            <a:solidFill>
              <a:srgbClr val="55735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zh-CN" altLang="zh-CN">
              <a:solidFill>
                <a:srgbClr val="FFFFFF"/>
              </a:solidFill>
            </a:endParaRPr>
          </a:p>
        </p:txBody>
      </p:sp>
      <p:sp>
        <p:nvSpPr>
          <p:cNvPr id="15" name="Oval 13"/>
          <p:cNvSpPr/>
          <p:nvPr/>
        </p:nvSpPr>
        <p:spPr>
          <a:xfrm>
            <a:off x="3650083" y="2193256"/>
            <a:ext cx="217403" cy="21907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zh-CN" altLang="zh-CN">
              <a:solidFill>
                <a:srgbClr val="FFFFFF"/>
              </a:solidFill>
            </a:endParaRPr>
          </a:p>
        </p:txBody>
      </p:sp>
      <p:sp>
        <p:nvSpPr>
          <p:cNvPr id="16" name="Oval 14"/>
          <p:cNvSpPr/>
          <p:nvPr/>
        </p:nvSpPr>
        <p:spPr>
          <a:xfrm>
            <a:off x="4968781" y="2717130"/>
            <a:ext cx="217402" cy="217488"/>
          </a:xfrm>
          <a:prstGeom prst="ellipse">
            <a:avLst/>
          </a:prstGeom>
          <a:solidFill>
            <a:schemeClr val="bg1"/>
          </a:solidFill>
          <a:ln w="38100">
            <a:solidFill>
              <a:srgbClr val="55735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zh-CN" altLang="zh-CN">
              <a:solidFill>
                <a:srgbClr val="FFFFFF"/>
              </a:solidFill>
            </a:endParaRPr>
          </a:p>
        </p:txBody>
      </p:sp>
      <p:sp>
        <p:nvSpPr>
          <p:cNvPr id="17" name="Oval 15"/>
          <p:cNvSpPr/>
          <p:nvPr/>
        </p:nvSpPr>
        <p:spPr>
          <a:xfrm>
            <a:off x="6427123" y="1688430"/>
            <a:ext cx="217403" cy="217488"/>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zh-CN" altLang="zh-CN">
              <a:solidFill>
                <a:srgbClr val="FFFFFF"/>
              </a:solidFill>
            </a:endParaRPr>
          </a:p>
        </p:txBody>
      </p:sp>
      <p:sp>
        <p:nvSpPr>
          <p:cNvPr id="18" name="Oval 16"/>
          <p:cNvSpPr/>
          <p:nvPr/>
        </p:nvSpPr>
        <p:spPr>
          <a:xfrm>
            <a:off x="7731538" y="1748755"/>
            <a:ext cx="217403" cy="217488"/>
          </a:xfrm>
          <a:prstGeom prst="ellipse">
            <a:avLst/>
          </a:prstGeom>
          <a:solidFill>
            <a:schemeClr val="bg1"/>
          </a:solidFill>
          <a:ln w="38100">
            <a:solidFill>
              <a:srgbClr val="55735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zh-CN" altLang="zh-CN">
              <a:solidFill>
                <a:srgbClr val="FFFFFF"/>
              </a:solidFill>
            </a:endParaRPr>
          </a:p>
        </p:txBody>
      </p:sp>
      <p:sp>
        <p:nvSpPr>
          <p:cNvPr id="19" name="Oval 17"/>
          <p:cNvSpPr/>
          <p:nvPr/>
        </p:nvSpPr>
        <p:spPr>
          <a:xfrm>
            <a:off x="8983588" y="2607594"/>
            <a:ext cx="217402" cy="217487"/>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zh-CN" altLang="zh-CN">
              <a:solidFill>
                <a:srgbClr val="FFFFFF"/>
              </a:solidFill>
            </a:endParaRPr>
          </a:p>
        </p:txBody>
      </p:sp>
      <p:sp>
        <p:nvSpPr>
          <p:cNvPr id="20" name="Oval 18"/>
          <p:cNvSpPr/>
          <p:nvPr/>
        </p:nvSpPr>
        <p:spPr>
          <a:xfrm>
            <a:off x="10894191" y="1469356"/>
            <a:ext cx="217402" cy="219075"/>
          </a:xfrm>
          <a:prstGeom prst="ellipse">
            <a:avLst/>
          </a:prstGeom>
          <a:solidFill>
            <a:schemeClr val="bg1"/>
          </a:solidFill>
          <a:ln w="38100">
            <a:solidFill>
              <a:srgbClr val="55735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zh-CN" altLang="zh-CN">
              <a:solidFill>
                <a:srgbClr val="FFFFFF"/>
              </a:solidFill>
            </a:endParaRPr>
          </a:p>
        </p:txBody>
      </p:sp>
      <p:sp>
        <p:nvSpPr>
          <p:cNvPr id="34" name="TextBox 33"/>
          <p:cNvSpPr txBox="1"/>
          <p:nvPr/>
        </p:nvSpPr>
        <p:spPr>
          <a:xfrm>
            <a:off x="3491395" y="2594894"/>
            <a:ext cx="716280" cy="306705"/>
          </a:xfrm>
          <a:prstGeom prst="rect">
            <a:avLst/>
          </a:prstGeom>
          <a:noFill/>
        </p:spPr>
        <p:txBody>
          <a:bodyPr wrap="none">
            <a:spAutoFit/>
          </a:bodyPr>
          <a:lstStyle/>
          <a:p>
            <a:pPr eaLnBrk="1" fontAlgn="auto" hangingPunct="1">
              <a:spcBef>
                <a:spcPts val="0"/>
              </a:spcBef>
              <a:spcAft>
                <a:spcPts val="0"/>
              </a:spcAft>
              <a:defRPr/>
            </a:pPr>
            <a:r>
              <a:rPr lang="zh-CN" altLang="en-US" sz="1400" b="1" dirty="0">
                <a:solidFill>
                  <a:schemeClr val="accent2"/>
                </a:solidFill>
                <a:latin typeface="微软雅黑" panose="020B0503020204020204" charset="-122"/>
                <a:ea typeface="微软雅黑" panose="020B0503020204020204" charset="-122"/>
                <a:cs typeface="Open Sans" charset="0"/>
              </a:rPr>
              <a:t>红利期</a:t>
            </a:r>
            <a:endParaRPr lang="zh-CN" altLang="en-US" sz="1400" b="1" dirty="0">
              <a:solidFill>
                <a:schemeClr val="accent2"/>
              </a:solidFill>
              <a:latin typeface="微软雅黑" panose="020B0503020204020204" charset="-122"/>
              <a:ea typeface="微软雅黑" panose="020B0503020204020204" charset="-122"/>
              <a:cs typeface="Open Sans" charset="0"/>
            </a:endParaRPr>
          </a:p>
        </p:txBody>
      </p:sp>
      <p:sp>
        <p:nvSpPr>
          <p:cNvPr id="35" name="TextBox 34"/>
          <p:cNvSpPr txBox="1"/>
          <p:nvPr/>
        </p:nvSpPr>
        <p:spPr>
          <a:xfrm>
            <a:off x="4358323" y="2300605"/>
            <a:ext cx="1438275" cy="306705"/>
          </a:xfrm>
          <a:prstGeom prst="rect">
            <a:avLst/>
          </a:prstGeom>
          <a:noFill/>
        </p:spPr>
        <p:txBody>
          <a:bodyPr wrap="square">
            <a:spAutoFit/>
          </a:bodyPr>
          <a:lstStyle/>
          <a:p>
            <a:pPr eaLnBrk="1" fontAlgn="auto" hangingPunct="1">
              <a:spcBef>
                <a:spcPts val="0"/>
              </a:spcBef>
              <a:spcAft>
                <a:spcPts val="0"/>
              </a:spcAft>
              <a:defRPr/>
            </a:pPr>
            <a:r>
              <a:rPr lang="zh-CN" altLang="en-US" sz="1400" b="1" dirty="0">
                <a:solidFill>
                  <a:schemeClr val="accent2"/>
                </a:solidFill>
                <a:latin typeface="微软雅黑" panose="020B0503020204020204" charset="-122"/>
                <a:ea typeface="微软雅黑" panose="020B0503020204020204" charset="-122"/>
                <a:cs typeface="Open Sans" charset="0"/>
              </a:rPr>
              <a:t>自然出单不理想</a:t>
            </a:r>
            <a:endParaRPr lang="zh-CN" altLang="en-US" sz="1400" b="1" dirty="0">
              <a:solidFill>
                <a:schemeClr val="accent2"/>
              </a:solidFill>
              <a:latin typeface="微软雅黑" panose="020B0503020204020204" charset="-122"/>
              <a:ea typeface="微软雅黑" panose="020B0503020204020204" charset="-122"/>
              <a:cs typeface="Open Sans" charset="0"/>
            </a:endParaRPr>
          </a:p>
        </p:txBody>
      </p:sp>
      <p:sp>
        <p:nvSpPr>
          <p:cNvPr id="36" name="TextBox 35"/>
          <p:cNvSpPr txBox="1"/>
          <p:nvPr/>
        </p:nvSpPr>
        <p:spPr>
          <a:xfrm>
            <a:off x="6168140" y="2071019"/>
            <a:ext cx="895350" cy="306705"/>
          </a:xfrm>
          <a:prstGeom prst="rect">
            <a:avLst/>
          </a:prstGeom>
          <a:noFill/>
        </p:spPr>
        <p:txBody>
          <a:bodyPr wrap="none">
            <a:spAutoFit/>
          </a:bodyPr>
          <a:lstStyle/>
          <a:p>
            <a:pPr eaLnBrk="1" fontAlgn="auto" hangingPunct="1">
              <a:spcBef>
                <a:spcPts val="0"/>
              </a:spcBef>
              <a:spcAft>
                <a:spcPts val="0"/>
              </a:spcAft>
              <a:defRPr/>
            </a:pPr>
            <a:r>
              <a:rPr lang="en-US" altLang="zh-CN" sz="1400" b="1" dirty="0">
                <a:solidFill>
                  <a:schemeClr val="accent2"/>
                </a:solidFill>
                <a:latin typeface="微软雅黑" panose="020B0503020204020204" charset="-122"/>
                <a:ea typeface="微软雅黑" panose="020B0503020204020204" charset="-122"/>
                <a:cs typeface="Open Sans" charset="0"/>
              </a:rPr>
              <a:t>CPC</a:t>
            </a:r>
            <a:r>
              <a:rPr lang="zh-CN" altLang="en-US" sz="1400" b="1" dirty="0">
                <a:solidFill>
                  <a:schemeClr val="accent2"/>
                </a:solidFill>
                <a:latin typeface="微软雅黑" panose="020B0503020204020204" charset="-122"/>
                <a:ea typeface="微软雅黑" panose="020B0503020204020204" charset="-122"/>
                <a:cs typeface="Open Sans" charset="0"/>
              </a:rPr>
              <a:t>优化</a:t>
            </a:r>
            <a:endParaRPr lang="zh-CN" altLang="en-US" sz="1400" b="1" dirty="0">
              <a:solidFill>
                <a:schemeClr val="accent2"/>
              </a:solidFill>
              <a:latin typeface="微软雅黑" panose="020B0503020204020204" charset="-122"/>
              <a:ea typeface="微软雅黑" panose="020B0503020204020204" charset="-122"/>
              <a:cs typeface="Open Sans" charset="0"/>
            </a:endParaRPr>
          </a:p>
        </p:txBody>
      </p:sp>
      <p:sp>
        <p:nvSpPr>
          <p:cNvPr id="37" name="TextBox 36"/>
          <p:cNvSpPr txBox="1"/>
          <p:nvPr/>
        </p:nvSpPr>
        <p:spPr>
          <a:xfrm>
            <a:off x="7391798" y="2121819"/>
            <a:ext cx="1071880" cy="306705"/>
          </a:xfrm>
          <a:prstGeom prst="rect">
            <a:avLst/>
          </a:prstGeom>
          <a:noFill/>
        </p:spPr>
        <p:txBody>
          <a:bodyPr wrap="none">
            <a:spAutoFit/>
          </a:bodyPr>
          <a:lstStyle/>
          <a:p>
            <a:pPr eaLnBrk="1" fontAlgn="auto" hangingPunct="1">
              <a:spcBef>
                <a:spcPts val="0"/>
              </a:spcBef>
              <a:spcAft>
                <a:spcPts val="0"/>
              </a:spcAft>
              <a:defRPr/>
            </a:pPr>
            <a:r>
              <a:rPr lang="zh-CN" altLang="en-US" sz="1400" b="1" dirty="0" smtClean="0">
                <a:solidFill>
                  <a:schemeClr val="accent2"/>
                </a:solidFill>
                <a:latin typeface="微软雅黑" panose="020B0503020204020204" charset="-122"/>
                <a:ea typeface="微软雅黑" panose="020B0503020204020204" charset="-122"/>
                <a:cs typeface="Open Sans" charset="0"/>
              </a:rPr>
              <a:t>转化率下降</a:t>
            </a:r>
            <a:endParaRPr lang="zh-CN" altLang="en-US" sz="1400" b="1" dirty="0" smtClean="0">
              <a:solidFill>
                <a:schemeClr val="accent2"/>
              </a:solidFill>
              <a:latin typeface="微软雅黑" panose="020B0503020204020204" charset="-122"/>
              <a:ea typeface="微软雅黑" panose="020B0503020204020204" charset="-122"/>
              <a:cs typeface="Open Sans" charset="0"/>
            </a:endParaRPr>
          </a:p>
        </p:txBody>
      </p:sp>
      <p:sp>
        <p:nvSpPr>
          <p:cNvPr id="38" name="TextBox 37"/>
          <p:cNvSpPr txBox="1"/>
          <p:nvPr/>
        </p:nvSpPr>
        <p:spPr>
          <a:xfrm>
            <a:off x="8759415" y="2136106"/>
            <a:ext cx="894080" cy="306705"/>
          </a:xfrm>
          <a:prstGeom prst="rect">
            <a:avLst/>
          </a:prstGeom>
          <a:noFill/>
        </p:spPr>
        <p:txBody>
          <a:bodyPr wrap="none">
            <a:spAutoFit/>
          </a:bodyPr>
          <a:lstStyle/>
          <a:p>
            <a:pPr eaLnBrk="1" fontAlgn="auto" hangingPunct="1">
              <a:spcBef>
                <a:spcPts val="0"/>
              </a:spcBef>
              <a:spcAft>
                <a:spcPts val="0"/>
              </a:spcAft>
              <a:defRPr/>
            </a:pPr>
            <a:r>
              <a:rPr lang="zh-CN" altLang="en-US" sz="1400" b="1" dirty="0">
                <a:solidFill>
                  <a:schemeClr val="accent2"/>
                </a:solidFill>
                <a:latin typeface="微软雅黑" panose="020B0503020204020204" charset="-122"/>
                <a:ea typeface="微软雅黑" panose="020B0503020204020204" charset="-122"/>
                <a:cs typeface="Open Sans" charset="0"/>
              </a:rPr>
              <a:t>采取措施</a:t>
            </a:r>
            <a:endParaRPr lang="zh-CN" altLang="en-US" sz="1400" b="1" dirty="0">
              <a:solidFill>
                <a:schemeClr val="accent2"/>
              </a:solidFill>
              <a:latin typeface="微软雅黑" panose="020B0503020204020204" charset="-122"/>
              <a:ea typeface="微软雅黑" panose="020B0503020204020204" charset="-122"/>
              <a:cs typeface="Open Sans" charset="0"/>
            </a:endParaRPr>
          </a:p>
        </p:txBody>
      </p:sp>
      <p:sp>
        <p:nvSpPr>
          <p:cNvPr id="39" name="TextBox 38"/>
          <p:cNvSpPr txBox="1"/>
          <p:nvPr/>
        </p:nvSpPr>
        <p:spPr>
          <a:xfrm>
            <a:off x="10735502" y="1872581"/>
            <a:ext cx="894080" cy="306705"/>
          </a:xfrm>
          <a:prstGeom prst="rect">
            <a:avLst/>
          </a:prstGeom>
          <a:noFill/>
        </p:spPr>
        <p:txBody>
          <a:bodyPr wrap="none">
            <a:spAutoFit/>
          </a:bodyPr>
          <a:lstStyle/>
          <a:p>
            <a:pPr eaLnBrk="1" fontAlgn="auto" hangingPunct="1">
              <a:spcBef>
                <a:spcPts val="0"/>
              </a:spcBef>
              <a:spcAft>
                <a:spcPts val="0"/>
              </a:spcAft>
              <a:defRPr/>
            </a:pPr>
            <a:r>
              <a:rPr lang="zh-CN" altLang="en-US" sz="1400" b="1" dirty="0">
                <a:solidFill>
                  <a:schemeClr val="accent2"/>
                </a:solidFill>
                <a:latin typeface="微软雅黑" panose="020B0503020204020204" charset="-122"/>
                <a:ea typeface="微软雅黑" panose="020B0503020204020204" charset="-122"/>
                <a:cs typeface="Open Sans" charset="0"/>
              </a:rPr>
              <a:t>活动申报</a:t>
            </a:r>
            <a:endParaRPr lang="zh-CN" altLang="en-US" sz="1400" b="1" dirty="0">
              <a:solidFill>
                <a:schemeClr val="accent2"/>
              </a:solidFill>
              <a:latin typeface="微软雅黑" panose="020B0503020204020204" charset="-122"/>
              <a:ea typeface="微软雅黑" panose="020B0503020204020204" charset="-122"/>
              <a:cs typeface="Open Sans" charset="0"/>
            </a:endParaRPr>
          </a:p>
        </p:txBody>
      </p:sp>
      <p:sp>
        <p:nvSpPr>
          <p:cNvPr id="40" name="TextBox 39"/>
          <p:cNvSpPr txBox="1"/>
          <p:nvPr/>
        </p:nvSpPr>
        <p:spPr>
          <a:xfrm>
            <a:off x="2085419" y="2563144"/>
            <a:ext cx="894080" cy="306705"/>
          </a:xfrm>
          <a:prstGeom prst="rect">
            <a:avLst/>
          </a:prstGeom>
          <a:noFill/>
        </p:spPr>
        <p:txBody>
          <a:bodyPr wrap="none">
            <a:spAutoFit/>
          </a:bodyPr>
          <a:lstStyle/>
          <a:p>
            <a:pPr eaLnBrk="1" fontAlgn="auto" hangingPunct="1">
              <a:spcBef>
                <a:spcPts val="0"/>
              </a:spcBef>
              <a:spcAft>
                <a:spcPts val="0"/>
              </a:spcAft>
              <a:defRPr/>
            </a:pPr>
            <a:r>
              <a:rPr lang="zh-CN" altLang="en-US" sz="1400" b="1" dirty="0">
                <a:solidFill>
                  <a:schemeClr val="accent2"/>
                </a:solidFill>
                <a:latin typeface="微软雅黑" panose="020B0503020204020204" charset="-122"/>
                <a:ea typeface="微软雅黑" panose="020B0503020204020204" charset="-122"/>
                <a:cs typeface="Open Sans" charset="0"/>
              </a:rPr>
              <a:t>产品到货</a:t>
            </a:r>
            <a:endParaRPr lang="zh-CN" altLang="en-US" sz="1400" b="1" dirty="0">
              <a:solidFill>
                <a:schemeClr val="accent2"/>
              </a:solidFill>
              <a:latin typeface="微软雅黑" panose="020B0503020204020204" charset="-122"/>
              <a:ea typeface="微软雅黑" panose="020B0503020204020204" charset="-122"/>
              <a:cs typeface="Open Sans" charset="0"/>
            </a:endParaRPr>
          </a:p>
        </p:txBody>
      </p:sp>
      <p:sp>
        <p:nvSpPr>
          <p:cNvPr id="42" name="Oval 47"/>
          <p:cNvSpPr/>
          <p:nvPr/>
        </p:nvSpPr>
        <p:spPr>
          <a:xfrm>
            <a:off x="449958" y="3393723"/>
            <a:ext cx="1407562" cy="1408112"/>
          </a:xfrm>
          <a:prstGeom prst="ellipse">
            <a:avLst/>
          </a:prstGeom>
          <a:noFill/>
          <a:ln w="1016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accent1"/>
              </a:solidFill>
              <a:latin typeface="Open Sans" charset="0"/>
              <a:ea typeface="Open Sans" charset="0"/>
              <a:cs typeface="Open Sans" charset="0"/>
            </a:endParaRPr>
          </a:p>
          <a:p>
            <a:pPr algn="ctr"/>
            <a:endParaRPr lang="id-ID" altLang="zh-CN" sz="1200" b="1" dirty="0">
              <a:solidFill>
                <a:schemeClr val="accent1"/>
              </a:solidFill>
              <a:latin typeface="微软雅黑" panose="020B0503020204020204" charset="-122"/>
              <a:ea typeface="微软雅黑" panose="020B0503020204020204" charset="-122"/>
            </a:endParaRPr>
          </a:p>
        </p:txBody>
      </p:sp>
      <p:sp>
        <p:nvSpPr>
          <p:cNvPr id="43" name="Arc 48"/>
          <p:cNvSpPr/>
          <p:nvPr/>
        </p:nvSpPr>
        <p:spPr>
          <a:xfrm>
            <a:off x="449958" y="3403248"/>
            <a:ext cx="1407562" cy="1408112"/>
          </a:xfrm>
          <a:prstGeom prst="arc">
            <a:avLst>
              <a:gd name="adj1" fmla="val 16200000"/>
              <a:gd name="adj2" fmla="val 11287514"/>
            </a:avLst>
          </a:prstGeom>
          <a:ln w="101600" cap="rnd">
            <a:solidFill>
              <a:schemeClr val="accent1"/>
            </a:solidFill>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solidFill>
                <a:srgbClr val="FD3F03"/>
              </a:solidFill>
            </a:endParaRPr>
          </a:p>
        </p:txBody>
      </p:sp>
      <p:pic>
        <p:nvPicPr>
          <p:cNvPr id="4" name="图片 3"/>
          <p:cNvPicPr>
            <a:picLocks noChangeAspect="1"/>
          </p:cNvPicPr>
          <p:nvPr/>
        </p:nvPicPr>
        <p:blipFill>
          <a:blip r:embed="rId1"/>
          <a:stretch>
            <a:fillRect/>
          </a:stretch>
        </p:blipFill>
        <p:spPr>
          <a:xfrm>
            <a:off x="2085658" y="4056380"/>
            <a:ext cx="9658350" cy="2597150"/>
          </a:xfrm>
          <a:prstGeom prst="rect">
            <a:avLst/>
          </a:prstGeom>
        </p:spPr>
      </p:pic>
      <p:sp>
        <p:nvSpPr>
          <p:cNvPr id="5" name="文本框 4"/>
          <p:cNvSpPr txBox="1"/>
          <p:nvPr/>
        </p:nvSpPr>
        <p:spPr>
          <a:xfrm>
            <a:off x="631508" y="3805555"/>
            <a:ext cx="1045210" cy="583565"/>
          </a:xfrm>
          <a:prstGeom prst="rect">
            <a:avLst/>
          </a:prstGeom>
          <a:noFill/>
        </p:spPr>
        <p:txBody>
          <a:bodyPr wrap="square" rtlCol="0">
            <a:spAutoFit/>
          </a:bodyPr>
          <a:p>
            <a:r>
              <a:rPr lang="en-US" altLang="zh-CN" sz="3200">
                <a:solidFill>
                  <a:srgbClr val="002060"/>
                </a:solidFill>
                <a:latin typeface="Comic Sans MS" panose="030F0702030302020204" charset="0"/>
              </a:rPr>
              <a:t>80%</a:t>
            </a:r>
            <a:endParaRPr lang="en-US" altLang="zh-CN" sz="3200">
              <a:solidFill>
                <a:srgbClr val="002060"/>
              </a:solidFill>
              <a:latin typeface="Comic Sans MS" panose="030F0702030302020204" charset="0"/>
            </a:endParaRPr>
          </a:p>
        </p:txBody>
      </p:sp>
      <p:sp>
        <p:nvSpPr>
          <p:cNvPr id="29" name="文本框 28"/>
          <p:cNvSpPr txBox="1"/>
          <p:nvPr/>
        </p:nvSpPr>
        <p:spPr>
          <a:xfrm>
            <a:off x="857885" y="283210"/>
            <a:ext cx="3434080" cy="583565"/>
          </a:xfrm>
          <a:prstGeom prst="rect">
            <a:avLst/>
          </a:prstGeom>
          <a:noFill/>
        </p:spPr>
        <p:txBody>
          <a:bodyPr wrap="none" rtlCol="0">
            <a:spAutoFit/>
          </a:bodyPr>
          <a:p>
            <a:pPr algn="l"/>
            <a:r>
              <a:rPr lang="zh-CN" altLang="en-US" sz="3200" dirty="0">
                <a:sym typeface="+mn-ea"/>
              </a:rPr>
              <a:t>有库存才有得操作</a:t>
            </a:r>
            <a:endParaRPr lang="en-US" altLang="zh-CN" sz="3200" b="1">
              <a:solidFill>
                <a:schemeClr val="tx1">
                  <a:lumMod val="75000"/>
                  <a:lumOff val="25000"/>
                </a:schemeClr>
              </a:solidFill>
            </a:endParaRPr>
          </a:p>
        </p:txBody>
      </p:sp>
      <p:sp>
        <p:nvSpPr>
          <p:cNvPr id="7" name="矩形 6"/>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50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53" presetClass="entr" presetSubtype="16" fill="hold" grpId="0" nodeType="withEffect">
                                  <p:stCondLst>
                                    <p:cond delay="500"/>
                                  </p:stCondLst>
                                  <p:childTnLst>
                                    <p:set>
                                      <p:cBhvr>
                                        <p:cTn id="11" dur="1" fill="hold">
                                          <p:stCondLst>
                                            <p:cond delay="0"/>
                                          </p:stCondLst>
                                        </p:cTn>
                                        <p:tgtEl>
                                          <p:spTgt spid="15"/>
                                        </p:tgtEl>
                                        <p:attrNameLst>
                                          <p:attrName>style.visibility</p:attrName>
                                        </p:attrNameLst>
                                      </p:cBhvr>
                                      <p:to>
                                        <p:strVal val="visible"/>
                                      </p:to>
                                    </p:set>
                                    <p:anim calcmode="lin" valueType="num">
                                      <p:cBhvr>
                                        <p:cTn id="12" dur="500" fill="hold"/>
                                        <p:tgtEl>
                                          <p:spTgt spid="15"/>
                                        </p:tgtEl>
                                        <p:attrNameLst>
                                          <p:attrName>ppt_w</p:attrName>
                                        </p:attrNameLst>
                                      </p:cBhvr>
                                      <p:tavLst>
                                        <p:tav tm="0">
                                          <p:val>
                                            <p:fltVal val="0"/>
                                          </p:val>
                                        </p:tav>
                                        <p:tav tm="100000">
                                          <p:val>
                                            <p:strVal val="#ppt_w"/>
                                          </p:val>
                                        </p:tav>
                                      </p:tavLst>
                                    </p:anim>
                                    <p:anim calcmode="lin" valueType="num">
                                      <p:cBhvr>
                                        <p:cTn id="13" dur="500" fill="hold"/>
                                        <p:tgtEl>
                                          <p:spTgt spid="15"/>
                                        </p:tgtEl>
                                        <p:attrNameLst>
                                          <p:attrName>ppt_h</p:attrName>
                                        </p:attrNameLst>
                                      </p:cBhvr>
                                      <p:tavLst>
                                        <p:tav tm="0">
                                          <p:val>
                                            <p:fltVal val="0"/>
                                          </p:val>
                                        </p:tav>
                                        <p:tav tm="100000">
                                          <p:val>
                                            <p:strVal val="#ppt_h"/>
                                          </p:val>
                                        </p:tav>
                                      </p:tavLst>
                                    </p:anim>
                                    <p:animEffect transition="in" filter="fade">
                                      <p:cBhvr>
                                        <p:cTn id="14" dur="500"/>
                                        <p:tgtEl>
                                          <p:spTgt spid="15"/>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6"/>
                                        </p:tgtEl>
                                        <p:attrNameLst>
                                          <p:attrName>style.visibility</p:attrName>
                                        </p:attrNameLst>
                                      </p:cBhvr>
                                      <p:to>
                                        <p:strVal val="visible"/>
                                      </p:to>
                                    </p:set>
                                    <p:anim calcmode="lin" valueType="num">
                                      <p:cBhvr>
                                        <p:cTn id="17" dur="500" fill="hold"/>
                                        <p:tgtEl>
                                          <p:spTgt spid="16"/>
                                        </p:tgtEl>
                                        <p:attrNameLst>
                                          <p:attrName>ppt_w</p:attrName>
                                        </p:attrNameLst>
                                      </p:cBhvr>
                                      <p:tavLst>
                                        <p:tav tm="0">
                                          <p:val>
                                            <p:fltVal val="0"/>
                                          </p:val>
                                        </p:tav>
                                        <p:tav tm="100000">
                                          <p:val>
                                            <p:strVal val="#ppt_w"/>
                                          </p:val>
                                        </p:tav>
                                      </p:tavLst>
                                    </p:anim>
                                    <p:anim calcmode="lin" valueType="num">
                                      <p:cBhvr>
                                        <p:cTn id="18" dur="500" fill="hold"/>
                                        <p:tgtEl>
                                          <p:spTgt spid="16"/>
                                        </p:tgtEl>
                                        <p:attrNameLst>
                                          <p:attrName>ppt_h</p:attrName>
                                        </p:attrNameLst>
                                      </p:cBhvr>
                                      <p:tavLst>
                                        <p:tav tm="0">
                                          <p:val>
                                            <p:fltVal val="0"/>
                                          </p:val>
                                        </p:tav>
                                        <p:tav tm="100000">
                                          <p:val>
                                            <p:strVal val="#ppt_h"/>
                                          </p:val>
                                        </p:tav>
                                      </p:tavLst>
                                    </p:anim>
                                    <p:animEffect transition="in" filter="fade">
                                      <p:cBhvr>
                                        <p:cTn id="19" dur="500"/>
                                        <p:tgtEl>
                                          <p:spTgt spid="16"/>
                                        </p:tgtEl>
                                      </p:cBhvr>
                                    </p:animEffect>
                                  </p:childTnLst>
                                </p:cTn>
                              </p:par>
                              <p:par>
                                <p:cTn id="20" presetID="53" presetClass="entr" presetSubtype="16" fill="hold" grpId="0" nodeType="withEffect">
                                  <p:stCondLst>
                                    <p:cond delay="50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par>
                                <p:cTn id="25" presetID="53" presetClass="entr" presetSubtype="16" fill="hold" grpId="0" nodeType="withEffect">
                                  <p:stCondLst>
                                    <p:cond delay="500"/>
                                  </p:stCondLst>
                                  <p:childTnLst>
                                    <p:set>
                                      <p:cBhvr>
                                        <p:cTn id="26" dur="1" fill="hold">
                                          <p:stCondLst>
                                            <p:cond delay="0"/>
                                          </p:stCondLst>
                                        </p:cTn>
                                        <p:tgtEl>
                                          <p:spTgt spid="18"/>
                                        </p:tgtEl>
                                        <p:attrNameLst>
                                          <p:attrName>style.visibility</p:attrName>
                                        </p:attrNameLst>
                                      </p:cBhvr>
                                      <p:to>
                                        <p:strVal val="visible"/>
                                      </p:to>
                                    </p:set>
                                    <p:anim calcmode="lin" valueType="num">
                                      <p:cBhvr>
                                        <p:cTn id="27" dur="500" fill="hold"/>
                                        <p:tgtEl>
                                          <p:spTgt spid="18"/>
                                        </p:tgtEl>
                                        <p:attrNameLst>
                                          <p:attrName>ppt_w</p:attrName>
                                        </p:attrNameLst>
                                      </p:cBhvr>
                                      <p:tavLst>
                                        <p:tav tm="0">
                                          <p:val>
                                            <p:fltVal val="0"/>
                                          </p:val>
                                        </p:tav>
                                        <p:tav tm="100000">
                                          <p:val>
                                            <p:strVal val="#ppt_w"/>
                                          </p:val>
                                        </p:tav>
                                      </p:tavLst>
                                    </p:anim>
                                    <p:anim calcmode="lin" valueType="num">
                                      <p:cBhvr>
                                        <p:cTn id="28" dur="500" fill="hold"/>
                                        <p:tgtEl>
                                          <p:spTgt spid="18"/>
                                        </p:tgtEl>
                                        <p:attrNameLst>
                                          <p:attrName>ppt_h</p:attrName>
                                        </p:attrNameLst>
                                      </p:cBhvr>
                                      <p:tavLst>
                                        <p:tav tm="0">
                                          <p:val>
                                            <p:fltVal val="0"/>
                                          </p:val>
                                        </p:tav>
                                        <p:tav tm="100000">
                                          <p:val>
                                            <p:strVal val="#ppt_h"/>
                                          </p:val>
                                        </p:tav>
                                      </p:tavLst>
                                    </p:anim>
                                    <p:animEffect transition="in" filter="fade">
                                      <p:cBhvr>
                                        <p:cTn id="29" dur="500"/>
                                        <p:tgtEl>
                                          <p:spTgt spid="18"/>
                                        </p:tgtEl>
                                      </p:cBhvr>
                                    </p:animEffect>
                                  </p:childTnLst>
                                </p:cTn>
                              </p:par>
                              <p:par>
                                <p:cTn id="30" presetID="53" presetClass="entr" presetSubtype="16" fill="hold" grpId="0" nodeType="withEffect">
                                  <p:stCondLst>
                                    <p:cond delay="500"/>
                                  </p:stCondLst>
                                  <p:childTnLst>
                                    <p:set>
                                      <p:cBhvr>
                                        <p:cTn id="31" dur="1" fill="hold">
                                          <p:stCondLst>
                                            <p:cond delay="0"/>
                                          </p:stCondLst>
                                        </p:cTn>
                                        <p:tgtEl>
                                          <p:spTgt spid="19"/>
                                        </p:tgtEl>
                                        <p:attrNameLst>
                                          <p:attrName>style.visibility</p:attrName>
                                        </p:attrNameLst>
                                      </p:cBhvr>
                                      <p:to>
                                        <p:strVal val="visible"/>
                                      </p:to>
                                    </p:set>
                                    <p:anim calcmode="lin" valueType="num">
                                      <p:cBhvr>
                                        <p:cTn id="32" dur="500" fill="hold"/>
                                        <p:tgtEl>
                                          <p:spTgt spid="19"/>
                                        </p:tgtEl>
                                        <p:attrNameLst>
                                          <p:attrName>ppt_w</p:attrName>
                                        </p:attrNameLst>
                                      </p:cBhvr>
                                      <p:tavLst>
                                        <p:tav tm="0">
                                          <p:val>
                                            <p:fltVal val="0"/>
                                          </p:val>
                                        </p:tav>
                                        <p:tav tm="100000">
                                          <p:val>
                                            <p:strVal val="#ppt_w"/>
                                          </p:val>
                                        </p:tav>
                                      </p:tavLst>
                                    </p:anim>
                                    <p:anim calcmode="lin" valueType="num">
                                      <p:cBhvr>
                                        <p:cTn id="33" dur="500" fill="hold"/>
                                        <p:tgtEl>
                                          <p:spTgt spid="19"/>
                                        </p:tgtEl>
                                        <p:attrNameLst>
                                          <p:attrName>ppt_h</p:attrName>
                                        </p:attrNameLst>
                                      </p:cBhvr>
                                      <p:tavLst>
                                        <p:tav tm="0">
                                          <p:val>
                                            <p:fltVal val="0"/>
                                          </p:val>
                                        </p:tav>
                                        <p:tav tm="100000">
                                          <p:val>
                                            <p:strVal val="#ppt_h"/>
                                          </p:val>
                                        </p:tav>
                                      </p:tavLst>
                                    </p:anim>
                                    <p:animEffect transition="in" filter="fade">
                                      <p:cBhvr>
                                        <p:cTn id="34" dur="500"/>
                                        <p:tgtEl>
                                          <p:spTgt spid="19"/>
                                        </p:tgtEl>
                                      </p:cBhvr>
                                    </p:animEffect>
                                  </p:childTnLst>
                                </p:cTn>
                              </p:par>
                              <p:par>
                                <p:cTn id="35" presetID="53" presetClass="entr" presetSubtype="16" fill="hold" grpId="0" nodeType="withEffect">
                                  <p:stCondLst>
                                    <p:cond delay="500"/>
                                  </p:stCondLst>
                                  <p:childTnLst>
                                    <p:set>
                                      <p:cBhvr>
                                        <p:cTn id="36" dur="1" fill="hold">
                                          <p:stCondLst>
                                            <p:cond delay="0"/>
                                          </p:stCondLst>
                                        </p:cTn>
                                        <p:tgtEl>
                                          <p:spTgt spid="20"/>
                                        </p:tgtEl>
                                        <p:attrNameLst>
                                          <p:attrName>style.visibility</p:attrName>
                                        </p:attrNameLst>
                                      </p:cBhvr>
                                      <p:to>
                                        <p:strVal val="visible"/>
                                      </p:to>
                                    </p:set>
                                    <p:anim calcmode="lin" valueType="num">
                                      <p:cBhvr>
                                        <p:cTn id="37" dur="500" fill="hold"/>
                                        <p:tgtEl>
                                          <p:spTgt spid="20"/>
                                        </p:tgtEl>
                                        <p:attrNameLst>
                                          <p:attrName>ppt_w</p:attrName>
                                        </p:attrNameLst>
                                      </p:cBhvr>
                                      <p:tavLst>
                                        <p:tav tm="0">
                                          <p:val>
                                            <p:fltVal val="0"/>
                                          </p:val>
                                        </p:tav>
                                        <p:tav tm="100000">
                                          <p:val>
                                            <p:strVal val="#ppt_w"/>
                                          </p:val>
                                        </p:tav>
                                      </p:tavLst>
                                    </p:anim>
                                    <p:anim calcmode="lin" valueType="num">
                                      <p:cBhvr>
                                        <p:cTn id="38" dur="500" fill="hold"/>
                                        <p:tgtEl>
                                          <p:spTgt spid="20"/>
                                        </p:tgtEl>
                                        <p:attrNameLst>
                                          <p:attrName>ppt_h</p:attrName>
                                        </p:attrNameLst>
                                      </p:cBhvr>
                                      <p:tavLst>
                                        <p:tav tm="0">
                                          <p:val>
                                            <p:fltVal val="0"/>
                                          </p:val>
                                        </p:tav>
                                        <p:tav tm="100000">
                                          <p:val>
                                            <p:strVal val="#ppt_h"/>
                                          </p:val>
                                        </p:tav>
                                      </p:tavLst>
                                    </p:anim>
                                    <p:animEffect transition="in" filter="fade">
                                      <p:cBhvr>
                                        <p:cTn id="39" dur="500"/>
                                        <p:tgtEl>
                                          <p:spTgt spid="20"/>
                                        </p:tgtEl>
                                      </p:cBhvr>
                                    </p:animEffect>
                                  </p:child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left)">
                                      <p:cBhvr>
                                        <p:cTn id="43" dur="500"/>
                                        <p:tgtEl>
                                          <p:spTgt spid="6"/>
                                        </p:tgtEl>
                                      </p:cBhvr>
                                    </p:animEffect>
                                  </p:childTnLst>
                                </p:cTn>
                              </p:par>
                              <p:par>
                                <p:cTn id="44" presetID="53" presetClass="entr" presetSubtype="16" fill="hold" grpId="0" nodeType="withEffect">
                                  <p:stCondLst>
                                    <p:cond delay="500"/>
                                  </p:stCondLst>
                                  <p:childTnLst>
                                    <p:set>
                                      <p:cBhvr>
                                        <p:cTn id="45" dur="1" fill="hold">
                                          <p:stCondLst>
                                            <p:cond delay="0"/>
                                          </p:stCondLst>
                                        </p:cTn>
                                        <p:tgtEl>
                                          <p:spTgt spid="40"/>
                                        </p:tgtEl>
                                        <p:attrNameLst>
                                          <p:attrName>style.visibility</p:attrName>
                                        </p:attrNameLst>
                                      </p:cBhvr>
                                      <p:to>
                                        <p:strVal val="visible"/>
                                      </p:to>
                                    </p:set>
                                    <p:anim calcmode="lin" valueType="num">
                                      <p:cBhvr>
                                        <p:cTn id="46" dur="500" fill="hold"/>
                                        <p:tgtEl>
                                          <p:spTgt spid="40"/>
                                        </p:tgtEl>
                                        <p:attrNameLst>
                                          <p:attrName>ppt_w</p:attrName>
                                        </p:attrNameLst>
                                      </p:cBhvr>
                                      <p:tavLst>
                                        <p:tav tm="0">
                                          <p:val>
                                            <p:fltVal val="0"/>
                                          </p:val>
                                        </p:tav>
                                        <p:tav tm="100000">
                                          <p:val>
                                            <p:strVal val="#ppt_w"/>
                                          </p:val>
                                        </p:tav>
                                      </p:tavLst>
                                    </p:anim>
                                    <p:anim calcmode="lin" valueType="num">
                                      <p:cBhvr>
                                        <p:cTn id="47" dur="500" fill="hold"/>
                                        <p:tgtEl>
                                          <p:spTgt spid="40"/>
                                        </p:tgtEl>
                                        <p:attrNameLst>
                                          <p:attrName>ppt_h</p:attrName>
                                        </p:attrNameLst>
                                      </p:cBhvr>
                                      <p:tavLst>
                                        <p:tav tm="0">
                                          <p:val>
                                            <p:fltVal val="0"/>
                                          </p:val>
                                        </p:tav>
                                        <p:tav tm="100000">
                                          <p:val>
                                            <p:strVal val="#ppt_h"/>
                                          </p:val>
                                        </p:tav>
                                      </p:tavLst>
                                    </p:anim>
                                    <p:animEffect transition="in" filter="fade">
                                      <p:cBhvr>
                                        <p:cTn id="48" dur="500"/>
                                        <p:tgtEl>
                                          <p:spTgt spid="40"/>
                                        </p:tgtEl>
                                      </p:cBhvr>
                                    </p:animEffect>
                                  </p:childTnLst>
                                </p:cTn>
                              </p:par>
                              <p:par>
                                <p:cTn id="49" presetID="53" presetClass="entr" presetSubtype="16" fill="hold" grpId="0" nodeType="withEffect">
                                  <p:stCondLst>
                                    <p:cond delay="500"/>
                                  </p:stCondLst>
                                  <p:childTnLst>
                                    <p:set>
                                      <p:cBhvr>
                                        <p:cTn id="50" dur="1" fill="hold">
                                          <p:stCondLst>
                                            <p:cond delay="0"/>
                                          </p:stCondLst>
                                        </p:cTn>
                                        <p:tgtEl>
                                          <p:spTgt spid="34"/>
                                        </p:tgtEl>
                                        <p:attrNameLst>
                                          <p:attrName>style.visibility</p:attrName>
                                        </p:attrNameLst>
                                      </p:cBhvr>
                                      <p:to>
                                        <p:strVal val="visible"/>
                                      </p:to>
                                    </p:set>
                                    <p:anim calcmode="lin" valueType="num">
                                      <p:cBhvr>
                                        <p:cTn id="51" dur="500" fill="hold"/>
                                        <p:tgtEl>
                                          <p:spTgt spid="34"/>
                                        </p:tgtEl>
                                        <p:attrNameLst>
                                          <p:attrName>ppt_w</p:attrName>
                                        </p:attrNameLst>
                                      </p:cBhvr>
                                      <p:tavLst>
                                        <p:tav tm="0">
                                          <p:val>
                                            <p:fltVal val="0"/>
                                          </p:val>
                                        </p:tav>
                                        <p:tav tm="100000">
                                          <p:val>
                                            <p:strVal val="#ppt_w"/>
                                          </p:val>
                                        </p:tav>
                                      </p:tavLst>
                                    </p:anim>
                                    <p:anim calcmode="lin" valueType="num">
                                      <p:cBhvr>
                                        <p:cTn id="52" dur="500" fill="hold"/>
                                        <p:tgtEl>
                                          <p:spTgt spid="34"/>
                                        </p:tgtEl>
                                        <p:attrNameLst>
                                          <p:attrName>ppt_h</p:attrName>
                                        </p:attrNameLst>
                                      </p:cBhvr>
                                      <p:tavLst>
                                        <p:tav tm="0">
                                          <p:val>
                                            <p:fltVal val="0"/>
                                          </p:val>
                                        </p:tav>
                                        <p:tav tm="100000">
                                          <p:val>
                                            <p:strVal val="#ppt_h"/>
                                          </p:val>
                                        </p:tav>
                                      </p:tavLst>
                                    </p:anim>
                                    <p:animEffect transition="in" filter="fade">
                                      <p:cBhvr>
                                        <p:cTn id="53" dur="500"/>
                                        <p:tgtEl>
                                          <p:spTgt spid="34"/>
                                        </p:tgtEl>
                                      </p:cBhvr>
                                    </p:animEffect>
                                  </p:childTnLst>
                                </p:cTn>
                              </p:par>
                              <p:par>
                                <p:cTn id="54" presetID="53" presetClass="entr" presetSubtype="16" fill="hold" grpId="0" nodeType="withEffect">
                                  <p:stCondLst>
                                    <p:cond delay="500"/>
                                  </p:stCondLst>
                                  <p:childTnLst>
                                    <p:set>
                                      <p:cBhvr>
                                        <p:cTn id="55" dur="1" fill="hold">
                                          <p:stCondLst>
                                            <p:cond delay="0"/>
                                          </p:stCondLst>
                                        </p:cTn>
                                        <p:tgtEl>
                                          <p:spTgt spid="35"/>
                                        </p:tgtEl>
                                        <p:attrNameLst>
                                          <p:attrName>style.visibility</p:attrName>
                                        </p:attrNameLst>
                                      </p:cBhvr>
                                      <p:to>
                                        <p:strVal val="visible"/>
                                      </p:to>
                                    </p:set>
                                    <p:anim calcmode="lin" valueType="num">
                                      <p:cBhvr>
                                        <p:cTn id="56" dur="500" fill="hold"/>
                                        <p:tgtEl>
                                          <p:spTgt spid="35"/>
                                        </p:tgtEl>
                                        <p:attrNameLst>
                                          <p:attrName>ppt_w</p:attrName>
                                        </p:attrNameLst>
                                      </p:cBhvr>
                                      <p:tavLst>
                                        <p:tav tm="0">
                                          <p:val>
                                            <p:fltVal val="0"/>
                                          </p:val>
                                        </p:tav>
                                        <p:tav tm="100000">
                                          <p:val>
                                            <p:strVal val="#ppt_w"/>
                                          </p:val>
                                        </p:tav>
                                      </p:tavLst>
                                    </p:anim>
                                    <p:anim calcmode="lin" valueType="num">
                                      <p:cBhvr>
                                        <p:cTn id="57" dur="500" fill="hold"/>
                                        <p:tgtEl>
                                          <p:spTgt spid="35"/>
                                        </p:tgtEl>
                                        <p:attrNameLst>
                                          <p:attrName>ppt_h</p:attrName>
                                        </p:attrNameLst>
                                      </p:cBhvr>
                                      <p:tavLst>
                                        <p:tav tm="0">
                                          <p:val>
                                            <p:fltVal val="0"/>
                                          </p:val>
                                        </p:tav>
                                        <p:tav tm="100000">
                                          <p:val>
                                            <p:strVal val="#ppt_h"/>
                                          </p:val>
                                        </p:tav>
                                      </p:tavLst>
                                    </p:anim>
                                    <p:animEffect transition="in" filter="fade">
                                      <p:cBhvr>
                                        <p:cTn id="58" dur="500"/>
                                        <p:tgtEl>
                                          <p:spTgt spid="35"/>
                                        </p:tgtEl>
                                      </p:cBhvr>
                                    </p:animEffect>
                                  </p:childTnLst>
                                </p:cTn>
                              </p:par>
                              <p:par>
                                <p:cTn id="59" presetID="53" presetClass="entr" presetSubtype="16" fill="hold" grpId="0" nodeType="withEffect">
                                  <p:stCondLst>
                                    <p:cond delay="500"/>
                                  </p:stCondLst>
                                  <p:childTnLst>
                                    <p:set>
                                      <p:cBhvr>
                                        <p:cTn id="60" dur="1" fill="hold">
                                          <p:stCondLst>
                                            <p:cond delay="0"/>
                                          </p:stCondLst>
                                        </p:cTn>
                                        <p:tgtEl>
                                          <p:spTgt spid="36"/>
                                        </p:tgtEl>
                                        <p:attrNameLst>
                                          <p:attrName>style.visibility</p:attrName>
                                        </p:attrNameLst>
                                      </p:cBhvr>
                                      <p:to>
                                        <p:strVal val="visible"/>
                                      </p:to>
                                    </p:set>
                                    <p:anim calcmode="lin" valueType="num">
                                      <p:cBhvr>
                                        <p:cTn id="61" dur="500" fill="hold"/>
                                        <p:tgtEl>
                                          <p:spTgt spid="36"/>
                                        </p:tgtEl>
                                        <p:attrNameLst>
                                          <p:attrName>ppt_w</p:attrName>
                                        </p:attrNameLst>
                                      </p:cBhvr>
                                      <p:tavLst>
                                        <p:tav tm="0">
                                          <p:val>
                                            <p:fltVal val="0"/>
                                          </p:val>
                                        </p:tav>
                                        <p:tav tm="100000">
                                          <p:val>
                                            <p:strVal val="#ppt_w"/>
                                          </p:val>
                                        </p:tav>
                                      </p:tavLst>
                                    </p:anim>
                                    <p:anim calcmode="lin" valueType="num">
                                      <p:cBhvr>
                                        <p:cTn id="62" dur="500" fill="hold"/>
                                        <p:tgtEl>
                                          <p:spTgt spid="36"/>
                                        </p:tgtEl>
                                        <p:attrNameLst>
                                          <p:attrName>ppt_h</p:attrName>
                                        </p:attrNameLst>
                                      </p:cBhvr>
                                      <p:tavLst>
                                        <p:tav tm="0">
                                          <p:val>
                                            <p:fltVal val="0"/>
                                          </p:val>
                                        </p:tav>
                                        <p:tav tm="100000">
                                          <p:val>
                                            <p:strVal val="#ppt_h"/>
                                          </p:val>
                                        </p:tav>
                                      </p:tavLst>
                                    </p:anim>
                                    <p:animEffect transition="in" filter="fade">
                                      <p:cBhvr>
                                        <p:cTn id="63" dur="500"/>
                                        <p:tgtEl>
                                          <p:spTgt spid="36"/>
                                        </p:tgtEl>
                                      </p:cBhvr>
                                    </p:animEffect>
                                  </p:childTnLst>
                                </p:cTn>
                              </p:par>
                              <p:par>
                                <p:cTn id="64" presetID="53" presetClass="entr" presetSubtype="16" fill="hold" grpId="0" nodeType="withEffect">
                                  <p:stCondLst>
                                    <p:cond delay="500"/>
                                  </p:stCondLst>
                                  <p:childTnLst>
                                    <p:set>
                                      <p:cBhvr>
                                        <p:cTn id="65" dur="1" fill="hold">
                                          <p:stCondLst>
                                            <p:cond delay="0"/>
                                          </p:stCondLst>
                                        </p:cTn>
                                        <p:tgtEl>
                                          <p:spTgt spid="37"/>
                                        </p:tgtEl>
                                        <p:attrNameLst>
                                          <p:attrName>style.visibility</p:attrName>
                                        </p:attrNameLst>
                                      </p:cBhvr>
                                      <p:to>
                                        <p:strVal val="visible"/>
                                      </p:to>
                                    </p:set>
                                    <p:anim calcmode="lin" valueType="num">
                                      <p:cBhvr>
                                        <p:cTn id="66" dur="500" fill="hold"/>
                                        <p:tgtEl>
                                          <p:spTgt spid="37"/>
                                        </p:tgtEl>
                                        <p:attrNameLst>
                                          <p:attrName>ppt_w</p:attrName>
                                        </p:attrNameLst>
                                      </p:cBhvr>
                                      <p:tavLst>
                                        <p:tav tm="0">
                                          <p:val>
                                            <p:fltVal val="0"/>
                                          </p:val>
                                        </p:tav>
                                        <p:tav tm="100000">
                                          <p:val>
                                            <p:strVal val="#ppt_w"/>
                                          </p:val>
                                        </p:tav>
                                      </p:tavLst>
                                    </p:anim>
                                    <p:anim calcmode="lin" valueType="num">
                                      <p:cBhvr>
                                        <p:cTn id="67" dur="500" fill="hold"/>
                                        <p:tgtEl>
                                          <p:spTgt spid="37"/>
                                        </p:tgtEl>
                                        <p:attrNameLst>
                                          <p:attrName>ppt_h</p:attrName>
                                        </p:attrNameLst>
                                      </p:cBhvr>
                                      <p:tavLst>
                                        <p:tav tm="0">
                                          <p:val>
                                            <p:fltVal val="0"/>
                                          </p:val>
                                        </p:tav>
                                        <p:tav tm="100000">
                                          <p:val>
                                            <p:strVal val="#ppt_h"/>
                                          </p:val>
                                        </p:tav>
                                      </p:tavLst>
                                    </p:anim>
                                    <p:animEffect transition="in" filter="fade">
                                      <p:cBhvr>
                                        <p:cTn id="68" dur="500"/>
                                        <p:tgtEl>
                                          <p:spTgt spid="37"/>
                                        </p:tgtEl>
                                      </p:cBhvr>
                                    </p:animEffect>
                                  </p:childTnLst>
                                </p:cTn>
                              </p:par>
                              <p:par>
                                <p:cTn id="69" presetID="53" presetClass="entr" presetSubtype="16" fill="hold" grpId="0" nodeType="withEffect">
                                  <p:stCondLst>
                                    <p:cond delay="500"/>
                                  </p:stCondLst>
                                  <p:childTnLst>
                                    <p:set>
                                      <p:cBhvr>
                                        <p:cTn id="70" dur="1" fill="hold">
                                          <p:stCondLst>
                                            <p:cond delay="0"/>
                                          </p:stCondLst>
                                        </p:cTn>
                                        <p:tgtEl>
                                          <p:spTgt spid="38"/>
                                        </p:tgtEl>
                                        <p:attrNameLst>
                                          <p:attrName>style.visibility</p:attrName>
                                        </p:attrNameLst>
                                      </p:cBhvr>
                                      <p:to>
                                        <p:strVal val="visible"/>
                                      </p:to>
                                    </p:set>
                                    <p:anim calcmode="lin" valueType="num">
                                      <p:cBhvr>
                                        <p:cTn id="71" dur="500" fill="hold"/>
                                        <p:tgtEl>
                                          <p:spTgt spid="38"/>
                                        </p:tgtEl>
                                        <p:attrNameLst>
                                          <p:attrName>ppt_w</p:attrName>
                                        </p:attrNameLst>
                                      </p:cBhvr>
                                      <p:tavLst>
                                        <p:tav tm="0">
                                          <p:val>
                                            <p:fltVal val="0"/>
                                          </p:val>
                                        </p:tav>
                                        <p:tav tm="100000">
                                          <p:val>
                                            <p:strVal val="#ppt_w"/>
                                          </p:val>
                                        </p:tav>
                                      </p:tavLst>
                                    </p:anim>
                                    <p:anim calcmode="lin" valueType="num">
                                      <p:cBhvr>
                                        <p:cTn id="72" dur="500" fill="hold"/>
                                        <p:tgtEl>
                                          <p:spTgt spid="38"/>
                                        </p:tgtEl>
                                        <p:attrNameLst>
                                          <p:attrName>ppt_h</p:attrName>
                                        </p:attrNameLst>
                                      </p:cBhvr>
                                      <p:tavLst>
                                        <p:tav tm="0">
                                          <p:val>
                                            <p:fltVal val="0"/>
                                          </p:val>
                                        </p:tav>
                                        <p:tav tm="100000">
                                          <p:val>
                                            <p:strVal val="#ppt_h"/>
                                          </p:val>
                                        </p:tav>
                                      </p:tavLst>
                                    </p:anim>
                                    <p:animEffect transition="in" filter="fade">
                                      <p:cBhvr>
                                        <p:cTn id="73" dur="500"/>
                                        <p:tgtEl>
                                          <p:spTgt spid="38"/>
                                        </p:tgtEl>
                                      </p:cBhvr>
                                    </p:animEffect>
                                  </p:childTnLst>
                                </p:cTn>
                              </p:par>
                              <p:par>
                                <p:cTn id="74" presetID="53" presetClass="entr" presetSubtype="16" fill="hold" grpId="0" nodeType="withEffect">
                                  <p:stCondLst>
                                    <p:cond delay="500"/>
                                  </p:stCondLst>
                                  <p:childTnLst>
                                    <p:set>
                                      <p:cBhvr>
                                        <p:cTn id="75" dur="1" fill="hold">
                                          <p:stCondLst>
                                            <p:cond delay="0"/>
                                          </p:stCondLst>
                                        </p:cTn>
                                        <p:tgtEl>
                                          <p:spTgt spid="39"/>
                                        </p:tgtEl>
                                        <p:attrNameLst>
                                          <p:attrName>style.visibility</p:attrName>
                                        </p:attrNameLst>
                                      </p:cBhvr>
                                      <p:to>
                                        <p:strVal val="visible"/>
                                      </p:to>
                                    </p:set>
                                    <p:anim calcmode="lin" valueType="num">
                                      <p:cBhvr>
                                        <p:cTn id="76" dur="500" fill="hold"/>
                                        <p:tgtEl>
                                          <p:spTgt spid="39"/>
                                        </p:tgtEl>
                                        <p:attrNameLst>
                                          <p:attrName>ppt_w</p:attrName>
                                        </p:attrNameLst>
                                      </p:cBhvr>
                                      <p:tavLst>
                                        <p:tav tm="0">
                                          <p:val>
                                            <p:fltVal val="0"/>
                                          </p:val>
                                        </p:tav>
                                        <p:tav tm="100000">
                                          <p:val>
                                            <p:strVal val="#ppt_w"/>
                                          </p:val>
                                        </p:tav>
                                      </p:tavLst>
                                    </p:anim>
                                    <p:anim calcmode="lin" valueType="num">
                                      <p:cBhvr>
                                        <p:cTn id="77" dur="500" fill="hold"/>
                                        <p:tgtEl>
                                          <p:spTgt spid="39"/>
                                        </p:tgtEl>
                                        <p:attrNameLst>
                                          <p:attrName>ppt_h</p:attrName>
                                        </p:attrNameLst>
                                      </p:cBhvr>
                                      <p:tavLst>
                                        <p:tav tm="0">
                                          <p:val>
                                            <p:fltVal val="0"/>
                                          </p:val>
                                        </p:tav>
                                        <p:tav tm="100000">
                                          <p:val>
                                            <p:strVal val="#ppt_h"/>
                                          </p:val>
                                        </p:tav>
                                      </p:tavLst>
                                    </p:anim>
                                    <p:animEffect transition="in" filter="fade">
                                      <p:cBhvr>
                                        <p:cTn id="78" dur="500"/>
                                        <p:tgtEl>
                                          <p:spTgt spid="39"/>
                                        </p:tgtEl>
                                      </p:cBhvr>
                                    </p:animEffect>
                                  </p:childTnLst>
                                </p:cTn>
                              </p:par>
                            </p:childTnLst>
                          </p:cTn>
                        </p:par>
                        <p:par>
                          <p:cTn id="79" fill="hold">
                            <p:stCondLst>
                              <p:cond delay="1500"/>
                            </p:stCondLst>
                            <p:childTnLst>
                              <p:par>
                                <p:cTn id="80" presetID="53" presetClass="entr" presetSubtype="16" fill="hold" grpId="0" nodeType="afterEffect">
                                  <p:stCondLst>
                                    <p:cond delay="0"/>
                                  </p:stCondLst>
                                  <p:childTnLst>
                                    <p:set>
                                      <p:cBhvr>
                                        <p:cTn id="81" dur="1" fill="hold">
                                          <p:stCondLst>
                                            <p:cond delay="0"/>
                                          </p:stCondLst>
                                        </p:cTn>
                                        <p:tgtEl>
                                          <p:spTgt spid="42"/>
                                        </p:tgtEl>
                                        <p:attrNameLst>
                                          <p:attrName>style.visibility</p:attrName>
                                        </p:attrNameLst>
                                      </p:cBhvr>
                                      <p:to>
                                        <p:strVal val="visible"/>
                                      </p:to>
                                    </p:set>
                                    <p:anim calcmode="lin" valueType="num">
                                      <p:cBhvr>
                                        <p:cTn id="82" dur="500" fill="hold"/>
                                        <p:tgtEl>
                                          <p:spTgt spid="42"/>
                                        </p:tgtEl>
                                        <p:attrNameLst>
                                          <p:attrName>ppt_w</p:attrName>
                                        </p:attrNameLst>
                                      </p:cBhvr>
                                      <p:tavLst>
                                        <p:tav tm="0">
                                          <p:val>
                                            <p:fltVal val="0"/>
                                          </p:val>
                                        </p:tav>
                                        <p:tav tm="100000">
                                          <p:val>
                                            <p:strVal val="#ppt_w"/>
                                          </p:val>
                                        </p:tav>
                                      </p:tavLst>
                                    </p:anim>
                                    <p:anim calcmode="lin" valueType="num">
                                      <p:cBhvr>
                                        <p:cTn id="83" dur="500" fill="hold"/>
                                        <p:tgtEl>
                                          <p:spTgt spid="42"/>
                                        </p:tgtEl>
                                        <p:attrNameLst>
                                          <p:attrName>ppt_h</p:attrName>
                                        </p:attrNameLst>
                                      </p:cBhvr>
                                      <p:tavLst>
                                        <p:tav tm="0">
                                          <p:val>
                                            <p:fltVal val="0"/>
                                          </p:val>
                                        </p:tav>
                                        <p:tav tm="100000">
                                          <p:val>
                                            <p:strVal val="#ppt_h"/>
                                          </p:val>
                                        </p:tav>
                                      </p:tavLst>
                                    </p:anim>
                                    <p:animEffect transition="in" filter="fade">
                                      <p:cBhvr>
                                        <p:cTn id="84" dur="500"/>
                                        <p:tgtEl>
                                          <p:spTgt spid="42"/>
                                        </p:tgtEl>
                                      </p:cBhvr>
                                    </p:animEffect>
                                  </p:childTnLst>
                                </p:cTn>
                              </p:par>
                            </p:childTnLst>
                          </p:cTn>
                        </p:par>
                        <p:par>
                          <p:cTn id="85" fill="hold">
                            <p:stCondLst>
                              <p:cond delay="2000"/>
                            </p:stCondLst>
                            <p:childTnLst>
                              <p:par>
                                <p:cTn id="86" presetID="53" presetClass="entr" presetSubtype="16" fill="hold" grpId="0" nodeType="afterEffect">
                                  <p:stCondLst>
                                    <p:cond delay="0"/>
                                  </p:stCondLst>
                                  <p:childTnLst>
                                    <p:set>
                                      <p:cBhvr>
                                        <p:cTn id="87" dur="1" fill="hold">
                                          <p:stCondLst>
                                            <p:cond delay="0"/>
                                          </p:stCondLst>
                                        </p:cTn>
                                        <p:tgtEl>
                                          <p:spTgt spid="43"/>
                                        </p:tgtEl>
                                        <p:attrNameLst>
                                          <p:attrName>style.visibility</p:attrName>
                                        </p:attrNameLst>
                                      </p:cBhvr>
                                      <p:to>
                                        <p:strVal val="visible"/>
                                      </p:to>
                                    </p:set>
                                    <p:anim calcmode="lin" valueType="num">
                                      <p:cBhvr>
                                        <p:cTn id="88" dur="500" fill="hold"/>
                                        <p:tgtEl>
                                          <p:spTgt spid="43"/>
                                        </p:tgtEl>
                                        <p:attrNameLst>
                                          <p:attrName>ppt_w</p:attrName>
                                        </p:attrNameLst>
                                      </p:cBhvr>
                                      <p:tavLst>
                                        <p:tav tm="0">
                                          <p:val>
                                            <p:fltVal val="0"/>
                                          </p:val>
                                        </p:tav>
                                        <p:tav tm="100000">
                                          <p:val>
                                            <p:strVal val="#ppt_w"/>
                                          </p:val>
                                        </p:tav>
                                      </p:tavLst>
                                    </p:anim>
                                    <p:anim calcmode="lin" valueType="num">
                                      <p:cBhvr>
                                        <p:cTn id="89" dur="500" fill="hold"/>
                                        <p:tgtEl>
                                          <p:spTgt spid="43"/>
                                        </p:tgtEl>
                                        <p:attrNameLst>
                                          <p:attrName>ppt_h</p:attrName>
                                        </p:attrNameLst>
                                      </p:cBhvr>
                                      <p:tavLst>
                                        <p:tav tm="0">
                                          <p:val>
                                            <p:fltVal val="0"/>
                                          </p:val>
                                        </p:tav>
                                        <p:tav tm="100000">
                                          <p:val>
                                            <p:strVal val="#ppt_h"/>
                                          </p:val>
                                        </p:tav>
                                      </p:tavLst>
                                    </p:anim>
                                    <p:animEffect transition="in" filter="fade">
                                      <p:cBhvr>
                                        <p:cTn id="9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P spid="34" grpId="0"/>
      <p:bldP spid="35" grpId="0"/>
      <p:bldP spid="36" grpId="0"/>
      <p:bldP spid="37" grpId="0"/>
      <p:bldP spid="38" grpId="0"/>
      <p:bldP spid="39" grpId="0"/>
      <p:bldP spid="40" grpId="0"/>
      <p:bldP spid="42" grpId="0" bldLvl="0" animBg="1"/>
      <p:bldP spid="43"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reeform 6"/>
          <p:cNvSpPr/>
          <p:nvPr/>
        </p:nvSpPr>
        <p:spPr bwMode="auto">
          <a:xfrm flipH="1">
            <a:off x="8204395" y="5547071"/>
            <a:ext cx="893518" cy="192303"/>
          </a:xfrm>
          <a:custGeom>
            <a:avLst/>
            <a:gdLst>
              <a:gd name="T0" fmla="*/ 20 w 23"/>
              <a:gd name="T1" fmla="*/ 0 h 5"/>
              <a:gd name="T2" fmla="*/ 3 w 23"/>
              <a:gd name="T3" fmla="*/ 0 h 5"/>
              <a:gd name="T4" fmla="*/ 0 w 23"/>
              <a:gd name="T5" fmla="*/ 2 h 5"/>
              <a:gd name="T6" fmla="*/ 3 w 23"/>
              <a:gd name="T7" fmla="*/ 5 h 5"/>
              <a:gd name="T8" fmla="*/ 20 w 23"/>
              <a:gd name="T9" fmla="*/ 5 h 5"/>
              <a:gd name="T10" fmla="*/ 23 w 23"/>
              <a:gd name="T11" fmla="*/ 2 h 5"/>
              <a:gd name="T12" fmla="*/ 20 w 2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3" h="5">
                <a:moveTo>
                  <a:pt x="20" y="0"/>
                </a:moveTo>
                <a:cubicBezTo>
                  <a:pt x="3" y="0"/>
                  <a:pt x="3" y="0"/>
                  <a:pt x="3" y="0"/>
                </a:cubicBezTo>
                <a:cubicBezTo>
                  <a:pt x="1" y="0"/>
                  <a:pt x="0" y="1"/>
                  <a:pt x="0" y="2"/>
                </a:cubicBezTo>
                <a:cubicBezTo>
                  <a:pt x="0" y="4"/>
                  <a:pt x="1" y="5"/>
                  <a:pt x="3" y="5"/>
                </a:cubicBezTo>
                <a:cubicBezTo>
                  <a:pt x="20" y="5"/>
                  <a:pt x="20" y="5"/>
                  <a:pt x="20" y="5"/>
                </a:cubicBezTo>
                <a:cubicBezTo>
                  <a:pt x="22" y="5"/>
                  <a:pt x="23" y="4"/>
                  <a:pt x="23" y="2"/>
                </a:cubicBezTo>
                <a:cubicBezTo>
                  <a:pt x="23" y="1"/>
                  <a:pt x="22" y="0"/>
                  <a:pt x="20" y="0"/>
                </a:cubicBezTo>
                <a:close/>
              </a:path>
            </a:pathLst>
          </a:custGeom>
          <a:solidFill>
            <a:schemeClr val="accent2"/>
          </a:solidFill>
          <a:ln>
            <a:noFill/>
          </a:ln>
        </p:spPr>
        <p:txBody>
          <a:bodyPr vert="horz" wrap="square" lIns="91440" tIns="45720" rIns="91440" bIns="45720" numCol="1" anchor="t" anchorCtr="0" compatLnSpc="1"/>
          <a:lstStyle/>
          <a:p>
            <a:endParaRPr lang="id-ID" sz="1350"/>
          </a:p>
        </p:txBody>
      </p:sp>
      <p:sp>
        <p:nvSpPr>
          <p:cNvPr id="25" name="Freeform 24"/>
          <p:cNvSpPr/>
          <p:nvPr/>
        </p:nvSpPr>
        <p:spPr>
          <a:xfrm flipH="1">
            <a:off x="7970199" y="5149894"/>
            <a:ext cx="1361907" cy="397176"/>
          </a:xfrm>
          <a:custGeom>
            <a:avLst/>
            <a:gdLst>
              <a:gd name="connsiteX0" fmla="*/ 0 w 2645228"/>
              <a:gd name="connsiteY0" fmla="*/ 0 h 496975"/>
              <a:gd name="connsiteX1" fmla="*/ 2645228 w 2645228"/>
              <a:gd name="connsiteY1" fmla="*/ 0 h 496975"/>
              <a:gd name="connsiteX2" fmla="*/ 2645228 w 2645228"/>
              <a:gd name="connsiteY2" fmla="*/ 56095 h 496975"/>
              <a:gd name="connsiteX3" fmla="*/ 2204348 w 2645228"/>
              <a:gd name="connsiteY3" fmla="*/ 496975 h 496975"/>
              <a:gd name="connsiteX4" fmla="*/ 440880 w 2645228"/>
              <a:gd name="connsiteY4" fmla="*/ 496975 h 496975"/>
              <a:gd name="connsiteX5" fmla="*/ 0 w 2645228"/>
              <a:gd name="connsiteY5" fmla="*/ 56095 h 496975"/>
              <a:gd name="connsiteX6" fmla="*/ 0 w 2645228"/>
              <a:gd name="connsiteY6" fmla="*/ 0 h 49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5228" h="496975">
                <a:moveTo>
                  <a:pt x="0" y="0"/>
                </a:moveTo>
                <a:lnTo>
                  <a:pt x="2645228" y="0"/>
                </a:lnTo>
                <a:lnTo>
                  <a:pt x="2645228" y="56095"/>
                </a:lnTo>
                <a:cubicBezTo>
                  <a:pt x="2645228" y="299586"/>
                  <a:pt x="2447839" y="496975"/>
                  <a:pt x="2204348" y="496975"/>
                </a:cubicBezTo>
                <a:lnTo>
                  <a:pt x="440880" y="496975"/>
                </a:lnTo>
                <a:cubicBezTo>
                  <a:pt x="197389" y="496975"/>
                  <a:pt x="0" y="299586"/>
                  <a:pt x="0" y="56095"/>
                </a:cubicBez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6" name="Freeform 25"/>
          <p:cNvSpPr/>
          <p:nvPr/>
        </p:nvSpPr>
        <p:spPr>
          <a:xfrm flipH="1">
            <a:off x="8347389" y="5819538"/>
            <a:ext cx="607529" cy="129742"/>
          </a:xfrm>
          <a:custGeom>
            <a:avLst/>
            <a:gdLst>
              <a:gd name="connsiteX0" fmla="*/ 0 w 694404"/>
              <a:gd name="connsiteY0" fmla="*/ 0 h 288475"/>
              <a:gd name="connsiteX1" fmla="*/ 694404 w 694404"/>
              <a:gd name="connsiteY1" fmla="*/ 0 h 288475"/>
              <a:gd name="connsiteX2" fmla="*/ 693800 w 694404"/>
              <a:gd name="connsiteY2" fmla="*/ 5989 h 288475"/>
              <a:gd name="connsiteX3" fmla="*/ 347202 w 694404"/>
              <a:gd name="connsiteY3" fmla="*/ 288475 h 288475"/>
              <a:gd name="connsiteX4" fmla="*/ 604 w 694404"/>
              <a:gd name="connsiteY4" fmla="*/ 5989 h 288475"/>
              <a:gd name="connsiteX5" fmla="*/ 0 w 694404"/>
              <a:gd name="connsiteY5" fmla="*/ 0 h 28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404" h="288475">
                <a:moveTo>
                  <a:pt x="0" y="0"/>
                </a:moveTo>
                <a:lnTo>
                  <a:pt x="694404" y="0"/>
                </a:lnTo>
                <a:lnTo>
                  <a:pt x="693800" y="5989"/>
                </a:lnTo>
                <a:cubicBezTo>
                  <a:pt x="660811" y="167204"/>
                  <a:pt x="518169" y="288475"/>
                  <a:pt x="347202" y="288475"/>
                </a:cubicBezTo>
                <a:cubicBezTo>
                  <a:pt x="176235" y="288475"/>
                  <a:pt x="33593" y="167204"/>
                  <a:pt x="604" y="5989"/>
                </a:cubicBez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Freeform 5"/>
          <p:cNvSpPr/>
          <p:nvPr/>
        </p:nvSpPr>
        <p:spPr bwMode="auto">
          <a:xfrm>
            <a:off x="8541862" y="4382479"/>
            <a:ext cx="177731" cy="525463"/>
          </a:xfrm>
          <a:custGeom>
            <a:avLst/>
            <a:gdLst>
              <a:gd name="T0" fmla="*/ 77 w 112"/>
              <a:gd name="T1" fmla="*/ 270 h 331"/>
              <a:gd name="T2" fmla="*/ 44 w 112"/>
              <a:gd name="T3" fmla="*/ 331 h 331"/>
              <a:gd name="T4" fmla="*/ 15 w 112"/>
              <a:gd name="T5" fmla="*/ 328 h 331"/>
              <a:gd name="T6" fmla="*/ 0 w 112"/>
              <a:gd name="T7" fmla="*/ 261 h 331"/>
              <a:gd name="T8" fmla="*/ 35 w 112"/>
              <a:gd name="T9" fmla="*/ 0 h 331"/>
              <a:gd name="T10" fmla="*/ 112 w 112"/>
              <a:gd name="T11" fmla="*/ 11 h 331"/>
              <a:gd name="T12" fmla="*/ 77 w 112"/>
              <a:gd name="T13" fmla="*/ 270 h 331"/>
            </a:gdLst>
            <a:ahLst/>
            <a:cxnLst>
              <a:cxn ang="0">
                <a:pos x="T0" y="T1"/>
              </a:cxn>
              <a:cxn ang="0">
                <a:pos x="T2" y="T3"/>
              </a:cxn>
              <a:cxn ang="0">
                <a:pos x="T4" y="T5"/>
              </a:cxn>
              <a:cxn ang="0">
                <a:pos x="T6" y="T7"/>
              </a:cxn>
              <a:cxn ang="0">
                <a:pos x="T8" y="T9"/>
              </a:cxn>
              <a:cxn ang="0">
                <a:pos x="T10" y="T11"/>
              </a:cxn>
              <a:cxn ang="0">
                <a:pos x="T12" y="T13"/>
              </a:cxn>
            </a:cxnLst>
            <a:rect l="0" t="0" r="r" b="b"/>
            <a:pathLst>
              <a:path w="112" h="331">
                <a:moveTo>
                  <a:pt x="77" y="270"/>
                </a:moveTo>
                <a:lnTo>
                  <a:pt x="44" y="331"/>
                </a:lnTo>
                <a:lnTo>
                  <a:pt x="15" y="328"/>
                </a:lnTo>
                <a:lnTo>
                  <a:pt x="0" y="261"/>
                </a:lnTo>
                <a:lnTo>
                  <a:pt x="35" y="0"/>
                </a:lnTo>
                <a:lnTo>
                  <a:pt x="112" y="11"/>
                </a:lnTo>
                <a:lnTo>
                  <a:pt x="77" y="27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8" name="Freeform 6"/>
          <p:cNvSpPr/>
          <p:nvPr/>
        </p:nvSpPr>
        <p:spPr bwMode="auto">
          <a:xfrm>
            <a:off x="8592643" y="4288816"/>
            <a:ext cx="139645" cy="161925"/>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2 w 64"/>
              <a:gd name="T15" fmla="*/ 22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3"/>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2" y="22"/>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9" name="Freeform 7"/>
          <p:cNvSpPr/>
          <p:nvPr/>
        </p:nvSpPr>
        <p:spPr bwMode="auto">
          <a:xfrm>
            <a:off x="8576774" y="4347553"/>
            <a:ext cx="152340" cy="147638"/>
          </a:xfrm>
          <a:custGeom>
            <a:avLst/>
            <a:gdLst>
              <a:gd name="T0" fmla="*/ 85 w 96"/>
              <a:gd name="T1" fmla="*/ 93 h 93"/>
              <a:gd name="T2" fmla="*/ 0 w 96"/>
              <a:gd name="T3" fmla="*/ 81 h 93"/>
              <a:gd name="T4" fmla="*/ 11 w 96"/>
              <a:gd name="T5" fmla="*/ 0 h 93"/>
              <a:gd name="T6" fmla="*/ 96 w 96"/>
              <a:gd name="T7" fmla="*/ 12 h 93"/>
              <a:gd name="T8" fmla="*/ 85 w 96"/>
              <a:gd name="T9" fmla="*/ 93 h 93"/>
            </a:gdLst>
            <a:ahLst/>
            <a:cxnLst>
              <a:cxn ang="0">
                <a:pos x="T0" y="T1"/>
              </a:cxn>
              <a:cxn ang="0">
                <a:pos x="T2" y="T3"/>
              </a:cxn>
              <a:cxn ang="0">
                <a:pos x="T4" y="T5"/>
              </a:cxn>
              <a:cxn ang="0">
                <a:pos x="T6" y="T7"/>
              </a:cxn>
              <a:cxn ang="0">
                <a:pos x="T8" y="T9"/>
              </a:cxn>
            </a:cxnLst>
            <a:rect l="0" t="0" r="r" b="b"/>
            <a:pathLst>
              <a:path w="96" h="93">
                <a:moveTo>
                  <a:pt x="85" y="93"/>
                </a:moveTo>
                <a:lnTo>
                  <a:pt x="0" y="81"/>
                </a:lnTo>
                <a:lnTo>
                  <a:pt x="11" y="0"/>
                </a:lnTo>
                <a:lnTo>
                  <a:pt x="96" y="12"/>
                </a:lnTo>
                <a:lnTo>
                  <a:pt x="85" y="9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30" name="Freeform 8"/>
          <p:cNvSpPr/>
          <p:nvPr/>
        </p:nvSpPr>
        <p:spPr bwMode="auto">
          <a:xfrm>
            <a:off x="8565666" y="4888890"/>
            <a:ext cx="46020" cy="76200"/>
          </a:xfrm>
          <a:custGeom>
            <a:avLst/>
            <a:gdLst>
              <a:gd name="T0" fmla="*/ 0 w 21"/>
              <a:gd name="T1" fmla="*/ 5 h 35"/>
              <a:gd name="T2" fmla="*/ 5 w 21"/>
              <a:gd name="T3" fmla="*/ 26 h 35"/>
              <a:gd name="T4" fmla="*/ 21 w 21"/>
              <a:gd name="T5" fmla="*/ 9 h 35"/>
              <a:gd name="T6" fmla="*/ 0 w 21"/>
              <a:gd name="T7" fmla="*/ 5 h 35"/>
            </a:gdLst>
            <a:ahLst/>
            <a:cxnLst>
              <a:cxn ang="0">
                <a:pos x="T0" y="T1"/>
              </a:cxn>
              <a:cxn ang="0">
                <a:pos x="T2" y="T3"/>
              </a:cxn>
              <a:cxn ang="0">
                <a:pos x="T4" y="T5"/>
              </a:cxn>
              <a:cxn ang="0">
                <a:pos x="T6" y="T7"/>
              </a:cxn>
            </a:cxnLst>
            <a:rect l="0" t="0" r="r" b="b"/>
            <a:pathLst>
              <a:path w="21" h="35">
                <a:moveTo>
                  <a:pt x="0" y="5"/>
                </a:moveTo>
                <a:cubicBezTo>
                  <a:pt x="0" y="5"/>
                  <a:pt x="3" y="22"/>
                  <a:pt x="5" y="26"/>
                </a:cubicBezTo>
                <a:cubicBezTo>
                  <a:pt x="6" y="31"/>
                  <a:pt x="9" y="35"/>
                  <a:pt x="21" y="9"/>
                </a:cubicBezTo>
                <a:cubicBezTo>
                  <a:pt x="21" y="9"/>
                  <a:pt x="13" y="0"/>
                  <a:pt x="0" y="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43" name="Freeform 9"/>
          <p:cNvSpPr/>
          <p:nvPr/>
        </p:nvSpPr>
        <p:spPr bwMode="auto">
          <a:xfrm>
            <a:off x="8725941" y="4380891"/>
            <a:ext cx="176144" cy="525463"/>
          </a:xfrm>
          <a:custGeom>
            <a:avLst/>
            <a:gdLst>
              <a:gd name="T0" fmla="*/ 75 w 111"/>
              <a:gd name="T1" fmla="*/ 269 h 331"/>
              <a:gd name="T2" fmla="*/ 44 w 111"/>
              <a:gd name="T3" fmla="*/ 331 h 331"/>
              <a:gd name="T4" fmla="*/ 15 w 111"/>
              <a:gd name="T5" fmla="*/ 326 h 331"/>
              <a:gd name="T6" fmla="*/ 0 w 111"/>
              <a:gd name="T7" fmla="*/ 259 h 331"/>
              <a:gd name="T8" fmla="*/ 34 w 111"/>
              <a:gd name="T9" fmla="*/ 0 h 331"/>
              <a:gd name="T10" fmla="*/ 111 w 111"/>
              <a:gd name="T11" fmla="*/ 9 h 331"/>
              <a:gd name="T12" fmla="*/ 75 w 111"/>
              <a:gd name="T13" fmla="*/ 269 h 331"/>
            </a:gdLst>
            <a:ahLst/>
            <a:cxnLst>
              <a:cxn ang="0">
                <a:pos x="T0" y="T1"/>
              </a:cxn>
              <a:cxn ang="0">
                <a:pos x="T2" y="T3"/>
              </a:cxn>
              <a:cxn ang="0">
                <a:pos x="T4" y="T5"/>
              </a:cxn>
              <a:cxn ang="0">
                <a:pos x="T6" y="T7"/>
              </a:cxn>
              <a:cxn ang="0">
                <a:pos x="T8" y="T9"/>
              </a:cxn>
              <a:cxn ang="0">
                <a:pos x="T10" y="T11"/>
              </a:cxn>
              <a:cxn ang="0">
                <a:pos x="T12" y="T13"/>
              </a:cxn>
            </a:cxnLst>
            <a:rect l="0" t="0" r="r" b="b"/>
            <a:pathLst>
              <a:path w="111" h="331">
                <a:moveTo>
                  <a:pt x="75" y="269"/>
                </a:moveTo>
                <a:lnTo>
                  <a:pt x="44" y="331"/>
                </a:lnTo>
                <a:lnTo>
                  <a:pt x="15" y="326"/>
                </a:lnTo>
                <a:lnTo>
                  <a:pt x="0" y="259"/>
                </a:lnTo>
                <a:lnTo>
                  <a:pt x="34" y="0"/>
                </a:lnTo>
                <a:lnTo>
                  <a:pt x="111" y="9"/>
                </a:lnTo>
                <a:lnTo>
                  <a:pt x="75" y="26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44" name="Freeform 10"/>
          <p:cNvSpPr/>
          <p:nvPr/>
        </p:nvSpPr>
        <p:spPr bwMode="auto">
          <a:xfrm>
            <a:off x="8775135" y="4284054"/>
            <a:ext cx="139645" cy="161925"/>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1 w 64"/>
              <a:gd name="T15" fmla="*/ 23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4"/>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1" y="23"/>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45" name="Freeform 11"/>
          <p:cNvSpPr/>
          <p:nvPr/>
        </p:nvSpPr>
        <p:spPr bwMode="auto">
          <a:xfrm>
            <a:off x="8760852" y="4345965"/>
            <a:ext cx="152340" cy="146050"/>
          </a:xfrm>
          <a:custGeom>
            <a:avLst/>
            <a:gdLst>
              <a:gd name="T0" fmla="*/ 85 w 96"/>
              <a:gd name="T1" fmla="*/ 92 h 92"/>
              <a:gd name="T2" fmla="*/ 0 w 96"/>
              <a:gd name="T3" fmla="*/ 81 h 92"/>
              <a:gd name="T4" fmla="*/ 11 w 96"/>
              <a:gd name="T5" fmla="*/ 0 h 92"/>
              <a:gd name="T6" fmla="*/ 96 w 96"/>
              <a:gd name="T7" fmla="*/ 11 h 92"/>
              <a:gd name="T8" fmla="*/ 85 w 96"/>
              <a:gd name="T9" fmla="*/ 92 h 92"/>
            </a:gdLst>
            <a:ahLst/>
            <a:cxnLst>
              <a:cxn ang="0">
                <a:pos x="T0" y="T1"/>
              </a:cxn>
              <a:cxn ang="0">
                <a:pos x="T2" y="T3"/>
              </a:cxn>
              <a:cxn ang="0">
                <a:pos x="T4" y="T5"/>
              </a:cxn>
              <a:cxn ang="0">
                <a:pos x="T6" y="T7"/>
              </a:cxn>
              <a:cxn ang="0">
                <a:pos x="T8" y="T9"/>
              </a:cxn>
            </a:cxnLst>
            <a:rect l="0" t="0" r="r" b="b"/>
            <a:pathLst>
              <a:path w="96" h="92">
                <a:moveTo>
                  <a:pt x="85" y="92"/>
                </a:moveTo>
                <a:lnTo>
                  <a:pt x="0" y="81"/>
                </a:lnTo>
                <a:lnTo>
                  <a:pt x="11" y="0"/>
                </a:lnTo>
                <a:lnTo>
                  <a:pt x="96" y="11"/>
                </a:lnTo>
                <a:lnTo>
                  <a:pt x="85" y="9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46" name="Freeform 12"/>
          <p:cNvSpPr/>
          <p:nvPr/>
        </p:nvSpPr>
        <p:spPr bwMode="auto">
          <a:xfrm>
            <a:off x="8749744" y="4884128"/>
            <a:ext cx="46020" cy="76200"/>
          </a:xfrm>
          <a:custGeom>
            <a:avLst/>
            <a:gdLst>
              <a:gd name="T0" fmla="*/ 0 w 21"/>
              <a:gd name="T1" fmla="*/ 6 h 35"/>
              <a:gd name="T2" fmla="*/ 5 w 21"/>
              <a:gd name="T3" fmla="*/ 27 h 35"/>
              <a:gd name="T4" fmla="*/ 21 w 21"/>
              <a:gd name="T5" fmla="*/ 10 h 35"/>
              <a:gd name="T6" fmla="*/ 0 w 21"/>
              <a:gd name="T7" fmla="*/ 6 h 35"/>
            </a:gdLst>
            <a:ahLst/>
            <a:cxnLst>
              <a:cxn ang="0">
                <a:pos x="T0" y="T1"/>
              </a:cxn>
              <a:cxn ang="0">
                <a:pos x="T2" y="T3"/>
              </a:cxn>
              <a:cxn ang="0">
                <a:pos x="T4" y="T5"/>
              </a:cxn>
              <a:cxn ang="0">
                <a:pos x="T6" y="T7"/>
              </a:cxn>
            </a:cxnLst>
            <a:rect l="0" t="0" r="r" b="b"/>
            <a:pathLst>
              <a:path w="21" h="35">
                <a:moveTo>
                  <a:pt x="0" y="6"/>
                </a:moveTo>
                <a:cubicBezTo>
                  <a:pt x="0" y="6"/>
                  <a:pt x="3" y="22"/>
                  <a:pt x="5" y="27"/>
                </a:cubicBezTo>
                <a:cubicBezTo>
                  <a:pt x="6" y="31"/>
                  <a:pt x="9" y="35"/>
                  <a:pt x="21" y="10"/>
                </a:cubicBezTo>
                <a:cubicBezTo>
                  <a:pt x="21" y="10"/>
                  <a:pt x="13" y="0"/>
                  <a:pt x="0" y="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47" name="Freeform 13"/>
          <p:cNvSpPr/>
          <p:nvPr/>
        </p:nvSpPr>
        <p:spPr bwMode="auto">
          <a:xfrm>
            <a:off x="8886217" y="4384065"/>
            <a:ext cx="41259" cy="266700"/>
          </a:xfrm>
          <a:custGeom>
            <a:avLst/>
            <a:gdLst>
              <a:gd name="T0" fmla="*/ 4 w 19"/>
              <a:gd name="T1" fmla="*/ 0 h 122"/>
              <a:gd name="T2" fmla="*/ 19 w 19"/>
              <a:gd name="T3" fmla="*/ 16 h 122"/>
              <a:gd name="T4" fmla="*/ 7 w 19"/>
              <a:gd name="T5" fmla="*/ 115 h 122"/>
              <a:gd name="T6" fmla="*/ 0 w 19"/>
              <a:gd name="T7" fmla="*/ 121 h 122"/>
              <a:gd name="T8" fmla="*/ 10 w 19"/>
              <a:gd name="T9" fmla="*/ 43 h 122"/>
              <a:gd name="T10" fmla="*/ 5 w 19"/>
              <a:gd name="T11" fmla="*/ 34 h 122"/>
              <a:gd name="T12" fmla="*/ 4 w 19"/>
              <a:gd name="T13" fmla="*/ 0 h 122"/>
            </a:gdLst>
            <a:ahLst/>
            <a:cxnLst>
              <a:cxn ang="0">
                <a:pos x="T0" y="T1"/>
              </a:cxn>
              <a:cxn ang="0">
                <a:pos x="T2" y="T3"/>
              </a:cxn>
              <a:cxn ang="0">
                <a:pos x="T4" y="T5"/>
              </a:cxn>
              <a:cxn ang="0">
                <a:pos x="T6" y="T7"/>
              </a:cxn>
              <a:cxn ang="0">
                <a:pos x="T8" y="T9"/>
              </a:cxn>
              <a:cxn ang="0">
                <a:pos x="T10" y="T11"/>
              </a:cxn>
              <a:cxn ang="0">
                <a:pos x="T12" y="T13"/>
              </a:cxn>
            </a:cxnLst>
            <a:rect l="0" t="0" r="r" b="b"/>
            <a:pathLst>
              <a:path w="19" h="122">
                <a:moveTo>
                  <a:pt x="4" y="0"/>
                </a:moveTo>
                <a:cubicBezTo>
                  <a:pt x="4" y="0"/>
                  <a:pt x="18" y="10"/>
                  <a:pt x="19" y="16"/>
                </a:cubicBezTo>
                <a:cubicBezTo>
                  <a:pt x="19" y="21"/>
                  <a:pt x="7" y="115"/>
                  <a:pt x="7" y="115"/>
                </a:cubicBezTo>
                <a:cubicBezTo>
                  <a:pt x="7" y="115"/>
                  <a:pt x="8" y="122"/>
                  <a:pt x="0" y="121"/>
                </a:cubicBezTo>
                <a:cubicBezTo>
                  <a:pt x="10" y="43"/>
                  <a:pt x="10" y="43"/>
                  <a:pt x="10" y="43"/>
                </a:cubicBezTo>
                <a:cubicBezTo>
                  <a:pt x="5" y="34"/>
                  <a:pt x="5" y="34"/>
                  <a:pt x="5" y="34"/>
                </a:cubicBezTo>
                <a:cubicBezTo>
                  <a:pt x="4" y="0"/>
                  <a:pt x="4" y="0"/>
                  <a:pt x="4"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nvGrpSpPr>
          <p:cNvPr id="48" name="Group 123"/>
          <p:cNvGrpSpPr/>
          <p:nvPr/>
        </p:nvGrpSpPr>
        <p:grpSpPr>
          <a:xfrm>
            <a:off x="7651624" y="4261434"/>
            <a:ext cx="817244" cy="620713"/>
            <a:chOff x="7170738" y="4168775"/>
            <a:chExt cx="817563" cy="620713"/>
          </a:xfrm>
          <a:solidFill>
            <a:schemeClr val="accent4"/>
          </a:solidFill>
        </p:grpSpPr>
        <p:sp>
          <p:nvSpPr>
            <p:cNvPr id="49" name="Freeform 14"/>
            <p:cNvSpPr/>
            <p:nvPr/>
          </p:nvSpPr>
          <p:spPr bwMode="auto">
            <a:xfrm>
              <a:off x="7170738" y="4168775"/>
              <a:ext cx="785813" cy="354013"/>
            </a:xfrm>
            <a:custGeom>
              <a:avLst/>
              <a:gdLst>
                <a:gd name="T0" fmla="*/ 246 w 495"/>
                <a:gd name="T1" fmla="*/ 223 h 223"/>
                <a:gd name="T2" fmla="*/ 0 w 495"/>
                <a:gd name="T3" fmla="*/ 111 h 223"/>
                <a:gd name="T4" fmla="*/ 252 w 495"/>
                <a:gd name="T5" fmla="*/ 0 h 223"/>
                <a:gd name="T6" fmla="*/ 495 w 495"/>
                <a:gd name="T7" fmla="*/ 109 h 223"/>
                <a:gd name="T8" fmla="*/ 246 w 495"/>
                <a:gd name="T9" fmla="*/ 223 h 223"/>
              </a:gdLst>
              <a:ahLst/>
              <a:cxnLst>
                <a:cxn ang="0">
                  <a:pos x="T0" y="T1"/>
                </a:cxn>
                <a:cxn ang="0">
                  <a:pos x="T2" y="T3"/>
                </a:cxn>
                <a:cxn ang="0">
                  <a:pos x="T4" y="T5"/>
                </a:cxn>
                <a:cxn ang="0">
                  <a:pos x="T6" y="T7"/>
                </a:cxn>
                <a:cxn ang="0">
                  <a:pos x="T8" y="T9"/>
                </a:cxn>
              </a:cxnLst>
              <a:rect l="0" t="0" r="r" b="b"/>
              <a:pathLst>
                <a:path w="495" h="223">
                  <a:moveTo>
                    <a:pt x="246" y="223"/>
                  </a:moveTo>
                  <a:lnTo>
                    <a:pt x="0" y="111"/>
                  </a:lnTo>
                  <a:lnTo>
                    <a:pt x="252" y="0"/>
                  </a:lnTo>
                  <a:lnTo>
                    <a:pt x="495" y="109"/>
                  </a:lnTo>
                  <a:lnTo>
                    <a:pt x="246" y="2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0" name="Rectangle 15"/>
            <p:cNvSpPr>
              <a:spLocks noChangeArrowheads="1"/>
            </p:cNvSpPr>
            <p:nvPr/>
          </p:nvSpPr>
          <p:spPr bwMode="auto">
            <a:xfrm>
              <a:off x="7924800" y="4335463"/>
              <a:ext cx="23813" cy="257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51" name="Oval 16"/>
            <p:cNvSpPr>
              <a:spLocks noChangeArrowheads="1"/>
            </p:cNvSpPr>
            <p:nvPr/>
          </p:nvSpPr>
          <p:spPr bwMode="auto">
            <a:xfrm>
              <a:off x="7897813" y="4564063"/>
              <a:ext cx="76200" cy="777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2" name="Freeform 17"/>
            <p:cNvSpPr/>
            <p:nvPr/>
          </p:nvSpPr>
          <p:spPr bwMode="auto">
            <a:xfrm>
              <a:off x="7888288" y="4605338"/>
              <a:ext cx="55563" cy="171450"/>
            </a:xfrm>
            <a:custGeom>
              <a:avLst/>
              <a:gdLst>
                <a:gd name="T0" fmla="*/ 14 w 26"/>
                <a:gd name="T1" fmla="*/ 4 h 79"/>
                <a:gd name="T2" fmla="*/ 6 w 26"/>
                <a:gd name="T3" fmla="*/ 79 h 79"/>
                <a:gd name="T4" fmla="*/ 26 w 26"/>
                <a:gd name="T5" fmla="*/ 79 h 79"/>
                <a:gd name="T6" fmla="*/ 26 w 26"/>
                <a:gd name="T7" fmla="*/ 0 h 79"/>
                <a:gd name="T8" fmla="*/ 14 w 26"/>
                <a:gd name="T9" fmla="*/ 4 h 79"/>
              </a:gdLst>
              <a:ahLst/>
              <a:cxnLst>
                <a:cxn ang="0">
                  <a:pos x="T0" y="T1"/>
                </a:cxn>
                <a:cxn ang="0">
                  <a:pos x="T2" y="T3"/>
                </a:cxn>
                <a:cxn ang="0">
                  <a:pos x="T4" y="T5"/>
                </a:cxn>
                <a:cxn ang="0">
                  <a:pos x="T6" y="T7"/>
                </a:cxn>
                <a:cxn ang="0">
                  <a:pos x="T8" y="T9"/>
                </a:cxn>
              </a:cxnLst>
              <a:rect l="0" t="0" r="r" b="b"/>
              <a:pathLst>
                <a:path w="26" h="79">
                  <a:moveTo>
                    <a:pt x="14" y="4"/>
                  </a:moveTo>
                  <a:cubicBezTo>
                    <a:pt x="14" y="4"/>
                    <a:pt x="0" y="34"/>
                    <a:pt x="6" y="79"/>
                  </a:cubicBezTo>
                  <a:cubicBezTo>
                    <a:pt x="26" y="79"/>
                    <a:pt x="26" y="79"/>
                    <a:pt x="26" y="79"/>
                  </a:cubicBezTo>
                  <a:cubicBezTo>
                    <a:pt x="26" y="0"/>
                    <a:pt x="26" y="0"/>
                    <a:pt x="26" y="0"/>
                  </a:cubicBezTo>
                  <a:cubicBezTo>
                    <a:pt x="26" y="0"/>
                    <a:pt x="14" y="7"/>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3" name="Freeform 18"/>
            <p:cNvSpPr/>
            <p:nvPr/>
          </p:nvSpPr>
          <p:spPr bwMode="auto">
            <a:xfrm>
              <a:off x="7932738" y="4605338"/>
              <a:ext cx="55563" cy="171450"/>
            </a:xfrm>
            <a:custGeom>
              <a:avLst/>
              <a:gdLst>
                <a:gd name="T0" fmla="*/ 11 w 25"/>
                <a:gd name="T1" fmla="*/ 4 h 79"/>
                <a:gd name="T2" fmla="*/ 20 w 25"/>
                <a:gd name="T3" fmla="*/ 79 h 79"/>
                <a:gd name="T4" fmla="*/ 0 w 25"/>
                <a:gd name="T5" fmla="*/ 79 h 79"/>
                <a:gd name="T6" fmla="*/ 0 w 25"/>
                <a:gd name="T7" fmla="*/ 0 h 79"/>
                <a:gd name="T8" fmla="*/ 11 w 25"/>
                <a:gd name="T9" fmla="*/ 4 h 79"/>
              </a:gdLst>
              <a:ahLst/>
              <a:cxnLst>
                <a:cxn ang="0">
                  <a:pos x="T0" y="T1"/>
                </a:cxn>
                <a:cxn ang="0">
                  <a:pos x="T2" y="T3"/>
                </a:cxn>
                <a:cxn ang="0">
                  <a:pos x="T4" y="T5"/>
                </a:cxn>
                <a:cxn ang="0">
                  <a:pos x="T6" y="T7"/>
                </a:cxn>
                <a:cxn ang="0">
                  <a:pos x="T8" y="T9"/>
                </a:cxn>
              </a:cxnLst>
              <a:rect l="0" t="0" r="r" b="b"/>
              <a:pathLst>
                <a:path w="25" h="79">
                  <a:moveTo>
                    <a:pt x="11" y="4"/>
                  </a:moveTo>
                  <a:cubicBezTo>
                    <a:pt x="11" y="4"/>
                    <a:pt x="25" y="34"/>
                    <a:pt x="20" y="79"/>
                  </a:cubicBezTo>
                  <a:cubicBezTo>
                    <a:pt x="0" y="79"/>
                    <a:pt x="0" y="79"/>
                    <a:pt x="0" y="79"/>
                  </a:cubicBezTo>
                  <a:cubicBezTo>
                    <a:pt x="0" y="0"/>
                    <a:pt x="0" y="0"/>
                    <a:pt x="0" y="0"/>
                  </a:cubicBezTo>
                  <a:cubicBezTo>
                    <a:pt x="0" y="0"/>
                    <a:pt x="11" y="7"/>
                    <a:pt x="1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4" name="Freeform 19"/>
            <p:cNvSpPr/>
            <p:nvPr/>
          </p:nvSpPr>
          <p:spPr bwMode="auto">
            <a:xfrm>
              <a:off x="7327900" y="4449763"/>
              <a:ext cx="455613" cy="339725"/>
            </a:xfrm>
            <a:custGeom>
              <a:avLst/>
              <a:gdLst>
                <a:gd name="T0" fmla="*/ 209 w 209"/>
                <a:gd name="T1" fmla="*/ 0 h 156"/>
                <a:gd name="T2" fmla="*/ 104 w 209"/>
                <a:gd name="T3" fmla="*/ 49 h 156"/>
                <a:gd name="T4" fmla="*/ 0 w 209"/>
                <a:gd name="T5" fmla="*/ 0 h 156"/>
                <a:gd name="T6" fmla="*/ 0 w 209"/>
                <a:gd name="T7" fmla="*/ 120 h 156"/>
                <a:gd name="T8" fmla="*/ 102 w 209"/>
                <a:gd name="T9" fmla="*/ 156 h 156"/>
                <a:gd name="T10" fmla="*/ 102 w 209"/>
                <a:gd name="T11" fmla="*/ 156 h 156"/>
                <a:gd name="T12" fmla="*/ 104 w 209"/>
                <a:gd name="T13" fmla="*/ 156 h 156"/>
                <a:gd name="T14" fmla="*/ 107 w 209"/>
                <a:gd name="T15" fmla="*/ 156 h 156"/>
                <a:gd name="T16" fmla="*/ 107 w 209"/>
                <a:gd name="T17" fmla="*/ 156 h 156"/>
                <a:gd name="T18" fmla="*/ 209 w 209"/>
                <a:gd name="T19" fmla="*/ 120 h 156"/>
                <a:gd name="T20" fmla="*/ 209 w 209"/>
                <a:gd name="T2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9" h="156">
                  <a:moveTo>
                    <a:pt x="209" y="0"/>
                  </a:moveTo>
                  <a:cubicBezTo>
                    <a:pt x="209" y="1"/>
                    <a:pt x="121" y="41"/>
                    <a:pt x="104" y="49"/>
                  </a:cubicBezTo>
                  <a:cubicBezTo>
                    <a:pt x="87" y="41"/>
                    <a:pt x="0" y="1"/>
                    <a:pt x="0" y="0"/>
                  </a:cubicBezTo>
                  <a:cubicBezTo>
                    <a:pt x="0" y="120"/>
                    <a:pt x="0" y="120"/>
                    <a:pt x="0" y="120"/>
                  </a:cubicBezTo>
                  <a:cubicBezTo>
                    <a:pt x="28" y="150"/>
                    <a:pt x="84" y="155"/>
                    <a:pt x="102" y="156"/>
                  </a:cubicBezTo>
                  <a:cubicBezTo>
                    <a:pt x="102" y="156"/>
                    <a:pt x="102" y="156"/>
                    <a:pt x="102" y="156"/>
                  </a:cubicBezTo>
                  <a:cubicBezTo>
                    <a:pt x="102" y="156"/>
                    <a:pt x="103" y="156"/>
                    <a:pt x="104" y="156"/>
                  </a:cubicBezTo>
                  <a:cubicBezTo>
                    <a:pt x="106" y="156"/>
                    <a:pt x="107" y="156"/>
                    <a:pt x="107" y="156"/>
                  </a:cubicBezTo>
                  <a:cubicBezTo>
                    <a:pt x="107" y="156"/>
                    <a:pt x="107" y="156"/>
                    <a:pt x="107" y="156"/>
                  </a:cubicBezTo>
                  <a:cubicBezTo>
                    <a:pt x="125" y="155"/>
                    <a:pt x="181" y="150"/>
                    <a:pt x="209" y="120"/>
                  </a:cubicBezTo>
                  <a:lnTo>
                    <a:pt x="2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sp>
        <p:nvSpPr>
          <p:cNvPr id="55" name="Freeform 20"/>
          <p:cNvSpPr>
            <a:spLocks noEditPoints="1"/>
          </p:cNvSpPr>
          <p:nvPr/>
        </p:nvSpPr>
        <p:spPr bwMode="auto">
          <a:xfrm>
            <a:off x="6986720" y="2142515"/>
            <a:ext cx="477651" cy="503238"/>
          </a:xfrm>
          <a:custGeom>
            <a:avLst/>
            <a:gdLst>
              <a:gd name="T0" fmla="*/ 168 w 219"/>
              <a:gd name="T1" fmla="*/ 224 h 231"/>
              <a:gd name="T2" fmla="*/ 197 w 219"/>
              <a:gd name="T3" fmla="*/ 212 h 231"/>
              <a:gd name="T4" fmla="*/ 168 w 219"/>
              <a:gd name="T5" fmla="*/ 132 h 231"/>
              <a:gd name="T6" fmla="*/ 168 w 219"/>
              <a:gd name="T7" fmla="*/ 150 h 231"/>
              <a:gd name="T8" fmla="*/ 192 w 219"/>
              <a:gd name="T9" fmla="*/ 190 h 231"/>
              <a:gd name="T10" fmla="*/ 168 w 219"/>
              <a:gd name="T11" fmla="*/ 209 h 231"/>
              <a:gd name="T12" fmla="*/ 168 w 219"/>
              <a:gd name="T13" fmla="*/ 224 h 231"/>
              <a:gd name="T14" fmla="*/ 168 w 219"/>
              <a:gd name="T15" fmla="*/ 203 h 231"/>
              <a:gd name="T16" fmla="*/ 168 w 219"/>
              <a:gd name="T17" fmla="*/ 157 h 231"/>
              <a:gd name="T18" fmla="*/ 181 w 219"/>
              <a:gd name="T19" fmla="*/ 187 h 231"/>
              <a:gd name="T20" fmla="*/ 168 w 219"/>
              <a:gd name="T21" fmla="*/ 203 h 231"/>
              <a:gd name="T22" fmla="*/ 146 w 219"/>
              <a:gd name="T23" fmla="*/ 112 h 231"/>
              <a:gd name="T24" fmla="*/ 141 w 219"/>
              <a:gd name="T25" fmla="*/ 98 h 231"/>
              <a:gd name="T26" fmla="*/ 141 w 219"/>
              <a:gd name="T27" fmla="*/ 44 h 231"/>
              <a:gd name="T28" fmla="*/ 146 w 219"/>
              <a:gd name="T29" fmla="*/ 37 h 231"/>
              <a:gd name="T30" fmla="*/ 148 w 219"/>
              <a:gd name="T31" fmla="*/ 37 h 231"/>
              <a:gd name="T32" fmla="*/ 148 w 219"/>
              <a:gd name="T33" fmla="*/ 14 h 231"/>
              <a:gd name="T34" fmla="*/ 146 w 219"/>
              <a:gd name="T35" fmla="*/ 14 h 231"/>
              <a:gd name="T36" fmla="*/ 146 w 219"/>
              <a:gd name="T37" fmla="*/ 13 h 231"/>
              <a:gd name="T38" fmla="*/ 114 w 219"/>
              <a:gd name="T39" fmla="*/ 0 h 231"/>
              <a:gd name="T40" fmla="*/ 81 w 219"/>
              <a:gd name="T41" fmla="*/ 13 h 231"/>
              <a:gd name="T42" fmla="*/ 81 w 219"/>
              <a:gd name="T43" fmla="*/ 14 h 231"/>
              <a:gd name="T44" fmla="*/ 80 w 219"/>
              <a:gd name="T45" fmla="*/ 14 h 231"/>
              <a:gd name="T46" fmla="*/ 80 w 219"/>
              <a:gd name="T47" fmla="*/ 37 h 231"/>
              <a:gd name="T48" fmla="*/ 81 w 219"/>
              <a:gd name="T49" fmla="*/ 37 h 231"/>
              <a:gd name="T50" fmla="*/ 90 w 219"/>
              <a:gd name="T51" fmla="*/ 45 h 231"/>
              <a:gd name="T52" fmla="*/ 90 w 219"/>
              <a:gd name="T53" fmla="*/ 98 h 231"/>
              <a:gd name="T54" fmla="*/ 83 w 219"/>
              <a:gd name="T55" fmla="*/ 112 h 231"/>
              <a:gd name="T56" fmla="*/ 31 w 219"/>
              <a:gd name="T57" fmla="*/ 212 h 231"/>
              <a:gd name="T58" fmla="*/ 114 w 219"/>
              <a:gd name="T59" fmla="*/ 230 h 231"/>
              <a:gd name="T60" fmla="*/ 168 w 219"/>
              <a:gd name="T61" fmla="*/ 224 h 231"/>
              <a:gd name="T62" fmla="*/ 168 w 219"/>
              <a:gd name="T63" fmla="*/ 209 h 231"/>
              <a:gd name="T64" fmla="*/ 144 w 219"/>
              <a:gd name="T65" fmla="*/ 212 h 231"/>
              <a:gd name="T66" fmla="*/ 144 w 219"/>
              <a:gd name="T67" fmla="*/ 212 h 231"/>
              <a:gd name="T68" fmla="*/ 168 w 219"/>
              <a:gd name="T69" fmla="*/ 203 h 231"/>
              <a:gd name="T70" fmla="*/ 168 w 219"/>
              <a:gd name="T71" fmla="*/ 157 h 231"/>
              <a:gd name="T72" fmla="*/ 149 w 219"/>
              <a:gd name="T73" fmla="*/ 134 h 231"/>
              <a:gd name="T74" fmla="*/ 168 w 219"/>
              <a:gd name="T75" fmla="*/ 150 h 231"/>
              <a:gd name="T76" fmla="*/ 168 w 219"/>
              <a:gd name="T77" fmla="*/ 132 h 231"/>
              <a:gd name="T78" fmla="*/ 146 w 219"/>
              <a:gd name="T79" fmla="*/ 1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9" h="231">
                <a:moveTo>
                  <a:pt x="168" y="224"/>
                </a:moveTo>
                <a:cubicBezTo>
                  <a:pt x="179" y="221"/>
                  <a:pt x="189" y="217"/>
                  <a:pt x="197" y="212"/>
                </a:cubicBezTo>
                <a:cubicBezTo>
                  <a:pt x="219" y="196"/>
                  <a:pt x="191" y="157"/>
                  <a:pt x="168" y="132"/>
                </a:cubicBezTo>
                <a:cubicBezTo>
                  <a:pt x="168" y="150"/>
                  <a:pt x="168" y="150"/>
                  <a:pt x="168" y="150"/>
                </a:cubicBezTo>
                <a:cubicBezTo>
                  <a:pt x="180" y="162"/>
                  <a:pt x="193" y="177"/>
                  <a:pt x="192" y="190"/>
                </a:cubicBezTo>
                <a:cubicBezTo>
                  <a:pt x="192" y="201"/>
                  <a:pt x="180" y="207"/>
                  <a:pt x="168" y="209"/>
                </a:cubicBezTo>
                <a:cubicBezTo>
                  <a:pt x="168" y="224"/>
                  <a:pt x="168" y="224"/>
                  <a:pt x="168" y="224"/>
                </a:cubicBezTo>
                <a:close/>
                <a:moveTo>
                  <a:pt x="168" y="203"/>
                </a:moveTo>
                <a:cubicBezTo>
                  <a:pt x="168" y="157"/>
                  <a:pt x="168" y="157"/>
                  <a:pt x="168" y="157"/>
                </a:cubicBezTo>
                <a:cubicBezTo>
                  <a:pt x="175" y="167"/>
                  <a:pt x="182" y="179"/>
                  <a:pt x="181" y="187"/>
                </a:cubicBezTo>
                <a:cubicBezTo>
                  <a:pt x="180" y="194"/>
                  <a:pt x="175" y="199"/>
                  <a:pt x="168" y="203"/>
                </a:cubicBezTo>
                <a:close/>
                <a:moveTo>
                  <a:pt x="146" y="112"/>
                </a:moveTo>
                <a:cubicBezTo>
                  <a:pt x="146" y="112"/>
                  <a:pt x="141" y="109"/>
                  <a:pt x="141" y="98"/>
                </a:cubicBezTo>
                <a:cubicBezTo>
                  <a:pt x="141" y="90"/>
                  <a:pt x="141" y="56"/>
                  <a:pt x="141" y="44"/>
                </a:cubicBezTo>
                <a:cubicBezTo>
                  <a:pt x="144" y="43"/>
                  <a:pt x="146" y="40"/>
                  <a:pt x="146" y="37"/>
                </a:cubicBezTo>
                <a:cubicBezTo>
                  <a:pt x="148" y="37"/>
                  <a:pt x="148" y="37"/>
                  <a:pt x="148" y="37"/>
                </a:cubicBezTo>
                <a:cubicBezTo>
                  <a:pt x="148" y="14"/>
                  <a:pt x="148" y="14"/>
                  <a:pt x="148" y="14"/>
                </a:cubicBezTo>
                <a:cubicBezTo>
                  <a:pt x="146" y="14"/>
                  <a:pt x="146" y="14"/>
                  <a:pt x="146" y="14"/>
                </a:cubicBezTo>
                <a:cubicBezTo>
                  <a:pt x="146" y="14"/>
                  <a:pt x="146" y="13"/>
                  <a:pt x="146" y="13"/>
                </a:cubicBezTo>
                <a:cubicBezTo>
                  <a:pt x="146" y="6"/>
                  <a:pt x="132" y="0"/>
                  <a:pt x="114" y="0"/>
                </a:cubicBezTo>
                <a:cubicBezTo>
                  <a:pt x="95" y="0"/>
                  <a:pt x="81" y="6"/>
                  <a:pt x="81" y="13"/>
                </a:cubicBezTo>
                <a:cubicBezTo>
                  <a:pt x="81" y="13"/>
                  <a:pt x="81" y="14"/>
                  <a:pt x="81" y="14"/>
                </a:cubicBezTo>
                <a:cubicBezTo>
                  <a:pt x="80" y="14"/>
                  <a:pt x="80" y="14"/>
                  <a:pt x="80" y="14"/>
                </a:cubicBezTo>
                <a:cubicBezTo>
                  <a:pt x="80" y="37"/>
                  <a:pt x="80" y="37"/>
                  <a:pt x="80" y="37"/>
                </a:cubicBezTo>
                <a:cubicBezTo>
                  <a:pt x="81" y="37"/>
                  <a:pt x="81" y="37"/>
                  <a:pt x="81" y="37"/>
                </a:cubicBezTo>
                <a:cubicBezTo>
                  <a:pt x="81" y="40"/>
                  <a:pt x="84" y="43"/>
                  <a:pt x="90" y="45"/>
                </a:cubicBezTo>
                <a:cubicBezTo>
                  <a:pt x="90" y="56"/>
                  <a:pt x="90" y="90"/>
                  <a:pt x="90" y="98"/>
                </a:cubicBezTo>
                <a:cubicBezTo>
                  <a:pt x="90" y="109"/>
                  <a:pt x="83" y="112"/>
                  <a:pt x="83" y="112"/>
                </a:cubicBezTo>
                <a:cubicBezTo>
                  <a:pt x="71" y="119"/>
                  <a:pt x="0" y="190"/>
                  <a:pt x="31" y="212"/>
                </a:cubicBezTo>
                <a:cubicBezTo>
                  <a:pt x="58" y="231"/>
                  <a:pt x="105" y="230"/>
                  <a:pt x="114" y="230"/>
                </a:cubicBezTo>
                <a:cubicBezTo>
                  <a:pt x="121" y="230"/>
                  <a:pt x="145" y="230"/>
                  <a:pt x="168" y="224"/>
                </a:cubicBezTo>
                <a:cubicBezTo>
                  <a:pt x="168" y="209"/>
                  <a:pt x="168" y="209"/>
                  <a:pt x="168" y="209"/>
                </a:cubicBezTo>
                <a:cubicBezTo>
                  <a:pt x="156" y="212"/>
                  <a:pt x="144" y="212"/>
                  <a:pt x="144" y="212"/>
                </a:cubicBezTo>
                <a:cubicBezTo>
                  <a:pt x="144" y="212"/>
                  <a:pt x="144" y="212"/>
                  <a:pt x="144" y="212"/>
                </a:cubicBezTo>
                <a:cubicBezTo>
                  <a:pt x="144" y="212"/>
                  <a:pt x="158" y="210"/>
                  <a:pt x="168" y="203"/>
                </a:cubicBezTo>
                <a:cubicBezTo>
                  <a:pt x="168" y="157"/>
                  <a:pt x="168" y="157"/>
                  <a:pt x="168" y="157"/>
                </a:cubicBezTo>
                <a:cubicBezTo>
                  <a:pt x="159" y="144"/>
                  <a:pt x="149" y="134"/>
                  <a:pt x="149" y="134"/>
                </a:cubicBezTo>
                <a:cubicBezTo>
                  <a:pt x="149" y="134"/>
                  <a:pt x="158" y="141"/>
                  <a:pt x="168" y="150"/>
                </a:cubicBezTo>
                <a:cubicBezTo>
                  <a:pt x="168" y="132"/>
                  <a:pt x="168" y="132"/>
                  <a:pt x="168" y="132"/>
                </a:cubicBezTo>
                <a:cubicBezTo>
                  <a:pt x="159" y="122"/>
                  <a:pt x="150" y="114"/>
                  <a:pt x="146" y="11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6" name="Oval 21"/>
          <p:cNvSpPr>
            <a:spLocks noChangeArrowheads="1"/>
          </p:cNvSpPr>
          <p:nvPr/>
        </p:nvSpPr>
        <p:spPr bwMode="auto">
          <a:xfrm>
            <a:off x="10035117" y="2025040"/>
            <a:ext cx="141233" cy="141288"/>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7" name="Freeform 22"/>
          <p:cNvSpPr/>
          <p:nvPr/>
        </p:nvSpPr>
        <p:spPr bwMode="auto">
          <a:xfrm>
            <a:off x="10085898" y="2129815"/>
            <a:ext cx="222163" cy="463550"/>
          </a:xfrm>
          <a:custGeom>
            <a:avLst/>
            <a:gdLst>
              <a:gd name="T0" fmla="*/ 0 w 102"/>
              <a:gd name="T1" fmla="*/ 6 h 213"/>
              <a:gd name="T2" fmla="*/ 68 w 102"/>
              <a:gd name="T3" fmla="*/ 184 h 213"/>
              <a:gd name="T4" fmla="*/ 99 w 102"/>
              <a:gd name="T5" fmla="*/ 213 h 213"/>
              <a:gd name="T6" fmla="*/ 23 w 102"/>
              <a:gd name="T7" fmla="*/ 0 h 213"/>
              <a:gd name="T8" fmla="*/ 0 w 102"/>
              <a:gd name="T9" fmla="*/ 6 h 213"/>
            </a:gdLst>
            <a:ahLst/>
            <a:cxnLst>
              <a:cxn ang="0">
                <a:pos x="T0" y="T1"/>
              </a:cxn>
              <a:cxn ang="0">
                <a:pos x="T2" y="T3"/>
              </a:cxn>
              <a:cxn ang="0">
                <a:pos x="T4" y="T5"/>
              </a:cxn>
              <a:cxn ang="0">
                <a:pos x="T6" y="T7"/>
              </a:cxn>
              <a:cxn ang="0">
                <a:pos x="T8" y="T9"/>
              </a:cxn>
            </a:cxnLst>
            <a:rect l="0" t="0" r="r" b="b"/>
            <a:pathLst>
              <a:path w="102" h="213">
                <a:moveTo>
                  <a:pt x="0" y="6"/>
                </a:moveTo>
                <a:cubicBezTo>
                  <a:pt x="0" y="7"/>
                  <a:pt x="68" y="184"/>
                  <a:pt x="68" y="184"/>
                </a:cubicBezTo>
                <a:cubicBezTo>
                  <a:pt x="68" y="184"/>
                  <a:pt x="96" y="213"/>
                  <a:pt x="99" y="213"/>
                </a:cubicBezTo>
                <a:cubicBezTo>
                  <a:pt x="102" y="213"/>
                  <a:pt x="23" y="0"/>
                  <a:pt x="23" y="0"/>
                </a:cubicBezTo>
                <a:lnTo>
                  <a:pt x="0" y="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8" name="Freeform 23"/>
          <p:cNvSpPr/>
          <p:nvPr/>
        </p:nvSpPr>
        <p:spPr bwMode="auto">
          <a:xfrm>
            <a:off x="9890711" y="2129815"/>
            <a:ext cx="238032" cy="457200"/>
          </a:xfrm>
          <a:custGeom>
            <a:avLst/>
            <a:gdLst>
              <a:gd name="T0" fmla="*/ 149 w 150"/>
              <a:gd name="T1" fmla="*/ 14 h 288"/>
              <a:gd name="T2" fmla="*/ 40 w 150"/>
              <a:gd name="T3" fmla="*/ 248 h 288"/>
              <a:gd name="T4" fmla="*/ 0 w 150"/>
              <a:gd name="T5" fmla="*/ 288 h 288"/>
              <a:gd name="T6" fmla="*/ 11 w 150"/>
              <a:gd name="T7" fmla="*/ 233 h 288"/>
              <a:gd name="T8" fmla="*/ 117 w 150"/>
              <a:gd name="T9" fmla="*/ 0 h 288"/>
              <a:gd name="T10" fmla="*/ 150 w 150"/>
              <a:gd name="T11" fmla="*/ 11 h 288"/>
              <a:gd name="T12" fmla="*/ 149 w 150"/>
              <a:gd name="T13" fmla="*/ 14 h 288"/>
            </a:gdLst>
            <a:ahLst/>
            <a:cxnLst>
              <a:cxn ang="0">
                <a:pos x="T0" y="T1"/>
              </a:cxn>
              <a:cxn ang="0">
                <a:pos x="T2" y="T3"/>
              </a:cxn>
              <a:cxn ang="0">
                <a:pos x="T4" y="T5"/>
              </a:cxn>
              <a:cxn ang="0">
                <a:pos x="T6" y="T7"/>
              </a:cxn>
              <a:cxn ang="0">
                <a:pos x="T8" y="T9"/>
              </a:cxn>
              <a:cxn ang="0">
                <a:pos x="T10" y="T11"/>
              </a:cxn>
              <a:cxn ang="0">
                <a:pos x="T12" y="T13"/>
              </a:cxn>
            </a:cxnLst>
            <a:rect l="0" t="0" r="r" b="b"/>
            <a:pathLst>
              <a:path w="150" h="288">
                <a:moveTo>
                  <a:pt x="149" y="14"/>
                </a:moveTo>
                <a:lnTo>
                  <a:pt x="40" y="248"/>
                </a:lnTo>
                <a:lnTo>
                  <a:pt x="0" y="288"/>
                </a:lnTo>
                <a:lnTo>
                  <a:pt x="11" y="233"/>
                </a:lnTo>
                <a:lnTo>
                  <a:pt x="117" y="0"/>
                </a:lnTo>
                <a:lnTo>
                  <a:pt x="150" y="11"/>
                </a:lnTo>
                <a:lnTo>
                  <a:pt x="149" y="14"/>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59" name="Freeform 24"/>
          <p:cNvSpPr/>
          <p:nvPr/>
        </p:nvSpPr>
        <p:spPr bwMode="auto">
          <a:xfrm>
            <a:off x="10098593" y="1974241"/>
            <a:ext cx="25390" cy="79375"/>
          </a:xfrm>
          <a:custGeom>
            <a:avLst/>
            <a:gdLst>
              <a:gd name="T0" fmla="*/ 12 w 12"/>
              <a:gd name="T1" fmla="*/ 30 h 36"/>
              <a:gd name="T2" fmla="*/ 6 w 12"/>
              <a:gd name="T3" fmla="*/ 36 h 36"/>
              <a:gd name="T4" fmla="*/ 0 w 12"/>
              <a:gd name="T5" fmla="*/ 30 h 36"/>
              <a:gd name="T6" fmla="*/ 0 w 12"/>
              <a:gd name="T7" fmla="*/ 6 h 36"/>
              <a:gd name="T8" fmla="*/ 6 w 12"/>
              <a:gd name="T9" fmla="*/ 0 h 36"/>
              <a:gd name="T10" fmla="*/ 12 w 12"/>
              <a:gd name="T11" fmla="*/ 6 h 36"/>
              <a:gd name="T12" fmla="*/ 12 w 12"/>
              <a:gd name="T13" fmla="*/ 30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12" y="30"/>
                </a:moveTo>
                <a:cubicBezTo>
                  <a:pt x="12" y="33"/>
                  <a:pt x="10" y="36"/>
                  <a:pt x="6" y="36"/>
                </a:cubicBezTo>
                <a:cubicBezTo>
                  <a:pt x="3" y="36"/>
                  <a:pt x="0" y="33"/>
                  <a:pt x="0" y="30"/>
                </a:cubicBezTo>
                <a:cubicBezTo>
                  <a:pt x="0" y="6"/>
                  <a:pt x="0" y="6"/>
                  <a:pt x="0" y="6"/>
                </a:cubicBezTo>
                <a:cubicBezTo>
                  <a:pt x="0" y="3"/>
                  <a:pt x="3" y="0"/>
                  <a:pt x="6" y="0"/>
                </a:cubicBezTo>
                <a:cubicBezTo>
                  <a:pt x="10" y="0"/>
                  <a:pt x="12" y="3"/>
                  <a:pt x="12" y="6"/>
                </a:cubicBezTo>
                <a:lnTo>
                  <a:pt x="12" y="3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60" name="Freeform 25"/>
          <p:cNvSpPr>
            <a:spLocks noEditPoints="1"/>
          </p:cNvSpPr>
          <p:nvPr/>
        </p:nvSpPr>
        <p:spPr bwMode="auto">
          <a:xfrm>
            <a:off x="8962387" y="1632928"/>
            <a:ext cx="225337" cy="609600"/>
          </a:xfrm>
          <a:custGeom>
            <a:avLst/>
            <a:gdLst>
              <a:gd name="T0" fmla="*/ 51 w 103"/>
              <a:gd name="T1" fmla="*/ 280 h 280"/>
              <a:gd name="T2" fmla="*/ 103 w 103"/>
              <a:gd name="T3" fmla="*/ 140 h 280"/>
              <a:gd name="T4" fmla="*/ 51 w 103"/>
              <a:gd name="T5" fmla="*/ 0 h 280"/>
              <a:gd name="T6" fmla="*/ 51 w 103"/>
              <a:gd name="T7" fmla="*/ 22 h 280"/>
              <a:gd name="T8" fmla="*/ 94 w 103"/>
              <a:gd name="T9" fmla="*/ 140 h 280"/>
              <a:gd name="T10" fmla="*/ 51 w 103"/>
              <a:gd name="T11" fmla="*/ 257 h 280"/>
              <a:gd name="T12" fmla="*/ 51 w 103"/>
              <a:gd name="T13" fmla="*/ 280 h 280"/>
              <a:gd name="T14" fmla="*/ 51 w 103"/>
              <a:gd name="T15" fmla="*/ 0 h 280"/>
              <a:gd name="T16" fmla="*/ 0 w 103"/>
              <a:gd name="T17" fmla="*/ 140 h 280"/>
              <a:gd name="T18" fmla="*/ 51 w 103"/>
              <a:gd name="T19" fmla="*/ 280 h 280"/>
              <a:gd name="T20" fmla="*/ 51 w 103"/>
              <a:gd name="T21" fmla="*/ 280 h 280"/>
              <a:gd name="T22" fmla="*/ 51 w 103"/>
              <a:gd name="T23" fmla="*/ 257 h 280"/>
              <a:gd name="T24" fmla="*/ 51 w 103"/>
              <a:gd name="T25" fmla="*/ 257 h 280"/>
              <a:gd name="T26" fmla="*/ 51 w 103"/>
              <a:gd name="T27" fmla="*/ 257 h 280"/>
              <a:gd name="T28" fmla="*/ 8 w 103"/>
              <a:gd name="T29" fmla="*/ 140 h 280"/>
              <a:gd name="T30" fmla="*/ 51 w 103"/>
              <a:gd name="T31" fmla="*/ 22 h 280"/>
              <a:gd name="T32" fmla="*/ 51 w 103"/>
              <a:gd name="T33" fmla="*/ 22 h 280"/>
              <a:gd name="T34" fmla="*/ 51 w 103"/>
              <a:gd name="T3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 h="280">
                <a:moveTo>
                  <a:pt x="51" y="280"/>
                </a:moveTo>
                <a:cubicBezTo>
                  <a:pt x="80" y="280"/>
                  <a:pt x="103" y="217"/>
                  <a:pt x="103" y="140"/>
                </a:cubicBezTo>
                <a:cubicBezTo>
                  <a:pt x="103" y="62"/>
                  <a:pt x="80" y="0"/>
                  <a:pt x="51" y="0"/>
                </a:cubicBezTo>
                <a:cubicBezTo>
                  <a:pt x="51" y="22"/>
                  <a:pt x="51" y="22"/>
                  <a:pt x="51" y="22"/>
                </a:cubicBezTo>
                <a:cubicBezTo>
                  <a:pt x="75" y="22"/>
                  <a:pt x="94" y="75"/>
                  <a:pt x="94" y="140"/>
                </a:cubicBezTo>
                <a:cubicBezTo>
                  <a:pt x="94" y="204"/>
                  <a:pt x="75" y="257"/>
                  <a:pt x="51" y="257"/>
                </a:cubicBezTo>
                <a:lnTo>
                  <a:pt x="51" y="280"/>
                </a:lnTo>
                <a:close/>
                <a:moveTo>
                  <a:pt x="51" y="0"/>
                </a:moveTo>
                <a:cubicBezTo>
                  <a:pt x="23" y="0"/>
                  <a:pt x="0" y="62"/>
                  <a:pt x="0" y="140"/>
                </a:cubicBezTo>
                <a:cubicBezTo>
                  <a:pt x="0" y="217"/>
                  <a:pt x="23" y="280"/>
                  <a:pt x="51" y="280"/>
                </a:cubicBezTo>
                <a:cubicBezTo>
                  <a:pt x="51" y="280"/>
                  <a:pt x="51" y="280"/>
                  <a:pt x="51" y="280"/>
                </a:cubicBezTo>
                <a:cubicBezTo>
                  <a:pt x="51" y="257"/>
                  <a:pt x="51" y="257"/>
                  <a:pt x="51" y="257"/>
                </a:cubicBezTo>
                <a:cubicBezTo>
                  <a:pt x="51" y="257"/>
                  <a:pt x="51" y="257"/>
                  <a:pt x="51" y="257"/>
                </a:cubicBezTo>
                <a:cubicBezTo>
                  <a:pt x="51" y="257"/>
                  <a:pt x="51" y="257"/>
                  <a:pt x="51" y="257"/>
                </a:cubicBezTo>
                <a:cubicBezTo>
                  <a:pt x="27" y="257"/>
                  <a:pt x="8" y="204"/>
                  <a:pt x="8" y="140"/>
                </a:cubicBezTo>
                <a:cubicBezTo>
                  <a:pt x="8" y="75"/>
                  <a:pt x="27" y="22"/>
                  <a:pt x="51" y="22"/>
                </a:cubicBezTo>
                <a:cubicBezTo>
                  <a:pt x="51" y="22"/>
                  <a:pt x="51" y="22"/>
                  <a:pt x="51" y="22"/>
                </a:cubicBezTo>
                <a:cubicBezTo>
                  <a:pt x="51" y="0"/>
                  <a:pt x="51" y="0"/>
                  <a:pt x="51"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61" name="Freeform 26"/>
          <p:cNvSpPr>
            <a:spLocks noEditPoints="1"/>
          </p:cNvSpPr>
          <p:nvPr/>
        </p:nvSpPr>
        <p:spPr bwMode="auto">
          <a:xfrm>
            <a:off x="8768787" y="1825015"/>
            <a:ext cx="610949" cy="223838"/>
          </a:xfrm>
          <a:custGeom>
            <a:avLst/>
            <a:gdLst>
              <a:gd name="T0" fmla="*/ 280 w 280"/>
              <a:gd name="T1" fmla="*/ 52 h 103"/>
              <a:gd name="T2" fmla="*/ 140 w 280"/>
              <a:gd name="T3" fmla="*/ 0 h 103"/>
              <a:gd name="T4" fmla="*/ 140 w 280"/>
              <a:gd name="T5" fmla="*/ 8 h 103"/>
              <a:gd name="T6" fmla="*/ 257 w 280"/>
              <a:gd name="T7" fmla="*/ 52 h 103"/>
              <a:gd name="T8" fmla="*/ 140 w 280"/>
              <a:gd name="T9" fmla="*/ 95 h 103"/>
              <a:gd name="T10" fmla="*/ 140 w 280"/>
              <a:gd name="T11" fmla="*/ 103 h 103"/>
              <a:gd name="T12" fmla="*/ 280 w 280"/>
              <a:gd name="T13" fmla="*/ 52 h 103"/>
              <a:gd name="T14" fmla="*/ 140 w 280"/>
              <a:gd name="T15" fmla="*/ 0 h 103"/>
              <a:gd name="T16" fmla="*/ 140 w 280"/>
              <a:gd name="T17" fmla="*/ 0 h 103"/>
              <a:gd name="T18" fmla="*/ 0 w 280"/>
              <a:gd name="T19" fmla="*/ 52 h 103"/>
              <a:gd name="T20" fmla="*/ 140 w 280"/>
              <a:gd name="T21" fmla="*/ 103 h 103"/>
              <a:gd name="T22" fmla="*/ 140 w 280"/>
              <a:gd name="T23" fmla="*/ 103 h 103"/>
              <a:gd name="T24" fmla="*/ 140 w 280"/>
              <a:gd name="T25" fmla="*/ 95 h 103"/>
              <a:gd name="T26" fmla="*/ 140 w 280"/>
              <a:gd name="T27" fmla="*/ 95 h 103"/>
              <a:gd name="T28" fmla="*/ 23 w 280"/>
              <a:gd name="T29" fmla="*/ 52 h 103"/>
              <a:gd name="T30" fmla="*/ 23 w 280"/>
              <a:gd name="T31" fmla="*/ 52 h 103"/>
              <a:gd name="T32" fmla="*/ 140 w 280"/>
              <a:gd name="T33" fmla="*/ 8 h 103"/>
              <a:gd name="T34" fmla="*/ 140 w 280"/>
              <a:gd name="T35" fmla="*/ 8 h 103"/>
              <a:gd name="T36" fmla="*/ 140 w 280"/>
              <a:gd name="T37"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0" h="103">
                <a:moveTo>
                  <a:pt x="280" y="52"/>
                </a:moveTo>
                <a:cubicBezTo>
                  <a:pt x="280" y="23"/>
                  <a:pt x="217" y="0"/>
                  <a:pt x="140" y="0"/>
                </a:cubicBezTo>
                <a:cubicBezTo>
                  <a:pt x="140" y="8"/>
                  <a:pt x="140" y="8"/>
                  <a:pt x="140" y="8"/>
                </a:cubicBezTo>
                <a:cubicBezTo>
                  <a:pt x="205" y="8"/>
                  <a:pt x="257" y="28"/>
                  <a:pt x="257" y="52"/>
                </a:cubicBezTo>
                <a:cubicBezTo>
                  <a:pt x="257" y="75"/>
                  <a:pt x="205" y="95"/>
                  <a:pt x="140" y="95"/>
                </a:cubicBezTo>
                <a:cubicBezTo>
                  <a:pt x="140" y="103"/>
                  <a:pt x="140" y="103"/>
                  <a:pt x="140" y="103"/>
                </a:cubicBezTo>
                <a:cubicBezTo>
                  <a:pt x="217" y="103"/>
                  <a:pt x="280" y="80"/>
                  <a:pt x="280" y="52"/>
                </a:cubicBezTo>
                <a:close/>
                <a:moveTo>
                  <a:pt x="140" y="0"/>
                </a:moveTo>
                <a:cubicBezTo>
                  <a:pt x="140" y="0"/>
                  <a:pt x="140" y="0"/>
                  <a:pt x="140" y="0"/>
                </a:cubicBezTo>
                <a:cubicBezTo>
                  <a:pt x="63" y="0"/>
                  <a:pt x="0" y="23"/>
                  <a:pt x="0" y="52"/>
                </a:cubicBezTo>
                <a:cubicBezTo>
                  <a:pt x="0" y="80"/>
                  <a:pt x="63" y="103"/>
                  <a:pt x="140" y="103"/>
                </a:cubicBezTo>
                <a:cubicBezTo>
                  <a:pt x="140" y="103"/>
                  <a:pt x="140" y="103"/>
                  <a:pt x="140" y="103"/>
                </a:cubicBezTo>
                <a:cubicBezTo>
                  <a:pt x="140" y="95"/>
                  <a:pt x="140" y="95"/>
                  <a:pt x="140" y="95"/>
                </a:cubicBezTo>
                <a:cubicBezTo>
                  <a:pt x="140" y="95"/>
                  <a:pt x="140" y="95"/>
                  <a:pt x="140" y="95"/>
                </a:cubicBezTo>
                <a:cubicBezTo>
                  <a:pt x="75" y="95"/>
                  <a:pt x="23" y="75"/>
                  <a:pt x="23" y="52"/>
                </a:cubicBezTo>
                <a:cubicBezTo>
                  <a:pt x="23" y="52"/>
                  <a:pt x="23" y="52"/>
                  <a:pt x="23" y="52"/>
                </a:cubicBezTo>
                <a:cubicBezTo>
                  <a:pt x="23" y="28"/>
                  <a:pt x="75" y="8"/>
                  <a:pt x="140" y="8"/>
                </a:cubicBezTo>
                <a:cubicBezTo>
                  <a:pt x="140" y="8"/>
                  <a:pt x="140" y="8"/>
                  <a:pt x="140" y="8"/>
                </a:cubicBezTo>
                <a:lnTo>
                  <a:pt x="14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69" name="Freeform 27"/>
          <p:cNvSpPr>
            <a:spLocks noEditPoints="1"/>
          </p:cNvSpPr>
          <p:nvPr/>
        </p:nvSpPr>
        <p:spPr bwMode="auto">
          <a:xfrm>
            <a:off x="8814807" y="1686904"/>
            <a:ext cx="518910" cy="498475"/>
          </a:xfrm>
          <a:custGeom>
            <a:avLst/>
            <a:gdLst>
              <a:gd name="T0" fmla="*/ 218 w 238"/>
              <a:gd name="T1" fmla="*/ 16 h 229"/>
              <a:gd name="T2" fmla="*/ 119 w 238"/>
              <a:gd name="T3" fmla="*/ 46 h 229"/>
              <a:gd name="T4" fmla="*/ 119 w 238"/>
              <a:gd name="T5" fmla="*/ 57 h 229"/>
              <a:gd name="T6" fmla="*/ 202 w 238"/>
              <a:gd name="T7" fmla="*/ 32 h 229"/>
              <a:gd name="T8" fmla="*/ 150 w 238"/>
              <a:gd name="T9" fmla="*/ 145 h 229"/>
              <a:gd name="T10" fmla="*/ 119 w 238"/>
              <a:gd name="T11" fmla="*/ 172 h 229"/>
              <a:gd name="T12" fmla="*/ 119 w 238"/>
              <a:gd name="T13" fmla="*/ 183 h 229"/>
              <a:gd name="T14" fmla="*/ 156 w 238"/>
              <a:gd name="T15" fmla="*/ 151 h 229"/>
              <a:gd name="T16" fmla="*/ 218 w 238"/>
              <a:gd name="T17" fmla="*/ 16 h 229"/>
              <a:gd name="T18" fmla="*/ 119 w 238"/>
              <a:gd name="T19" fmla="*/ 46 h 229"/>
              <a:gd name="T20" fmla="*/ 83 w 238"/>
              <a:gd name="T21" fmla="*/ 78 h 229"/>
              <a:gd name="T22" fmla="*/ 20 w 238"/>
              <a:gd name="T23" fmla="*/ 214 h 229"/>
              <a:gd name="T24" fmla="*/ 119 w 238"/>
              <a:gd name="T25" fmla="*/ 183 h 229"/>
              <a:gd name="T26" fmla="*/ 119 w 238"/>
              <a:gd name="T27" fmla="*/ 172 h 229"/>
              <a:gd name="T28" fmla="*/ 36 w 238"/>
              <a:gd name="T29" fmla="*/ 197 h 229"/>
              <a:gd name="T30" fmla="*/ 36 w 238"/>
              <a:gd name="T31" fmla="*/ 197 h 229"/>
              <a:gd name="T32" fmla="*/ 89 w 238"/>
              <a:gd name="T33" fmla="*/ 84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16"/>
                </a:moveTo>
                <a:cubicBezTo>
                  <a:pt x="202" y="0"/>
                  <a:pt x="162" y="13"/>
                  <a:pt x="119" y="46"/>
                </a:cubicBezTo>
                <a:cubicBezTo>
                  <a:pt x="119" y="57"/>
                  <a:pt x="119" y="57"/>
                  <a:pt x="119" y="57"/>
                </a:cubicBezTo>
                <a:cubicBezTo>
                  <a:pt x="155" y="30"/>
                  <a:pt x="189" y="19"/>
                  <a:pt x="202" y="32"/>
                </a:cubicBezTo>
                <a:cubicBezTo>
                  <a:pt x="219" y="49"/>
                  <a:pt x="195" y="99"/>
                  <a:pt x="150" y="145"/>
                </a:cubicBezTo>
                <a:cubicBezTo>
                  <a:pt x="140" y="155"/>
                  <a:pt x="129" y="164"/>
                  <a:pt x="119" y="172"/>
                </a:cubicBezTo>
                <a:cubicBezTo>
                  <a:pt x="119" y="183"/>
                  <a:pt x="119" y="183"/>
                  <a:pt x="119" y="183"/>
                </a:cubicBezTo>
                <a:cubicBezTo>
                  <a:pt x="131" y="174"/>
                  <a:pt x="144" y="163"/>
                  <a:pt x="156" y="151"/>
                </a:cubicBezTo>
                <a:cubicBezTo>
                  <a:pt x="210" y="96"/>
                  <a:pt x="238" y="36"/>
                  <a:pt x="218" y="16"/>
                </a:cubicBezTo>
                <a:close/>
                <a:moveTo>
                  <a:pt x="119" y="46"/>
                </a:moveTo>
                <a:cubicBezTo>
                  <a:pt x="107" y="55"/>
                  <a:pt x="95" y="66"/>
                  <a:pt x="83" y="78"/>
                </a:cubicBezTo>
                <a:cubicBezTo>
                  <a:pt x="28" y="133"/>
                  <a:pt x="0" y="193"/>
                  <a:pt x="20" y="214"/>
                </a:cubicBezTo>
                <a:cubicBezTo>
                  <a:pt x="36" y="229"/>
                  <a:pt x="76" y="216"/>
                  <a:pt x="119" y="183"/>
                </a:cubicBezTo>
                <a:cubicBezTo>
                  <a:pt x="119" y="172"/>
                  <a:pt x="119" y="172"/>
                  <a:pt x="119" y="172"/>
                </a:cubicBezTo>
                <a:cubicBezTo>
                  <a:pt x="83" y="199"/>
                  <a:pt x="49" y="211"/>
                  <a:pt x="36" y="197"/>
                </a:cubicBezTo>
                <a:cubicBezTo>
                  <a:pt x="36" y="197"/>
                  <a:pt x="36" y="197"/>
                  <a:pt x="36" y="197"/>
                </a:cubicBezTo>
                <a:cubicBezTo>
                  <a:pt x="19" y="181"/>
                  <a:pt x="43" y="130"/>
                  <a:pt x="89" y="84"/>
                </a:cubicBezTo>
                <a:cubicBezTo>
                  <a:pt x="99" y="74"/>
                  <a:pt x="109" y="65"/>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70" name="Freeform 28"/>
          <p:cNvSpPr>
            <a:spLocks noEditPoints="1"/>
          </p:cNvSpPr>
          <p:nvPr/>
        </p:nvSpPr>
        <p:spPr bwMode="auto">
          <a:xfrm>
            <a:off x="8814807" y="1686904"/>
            <a:ext cx="518910" cy="498475"/>
          </a:xfrm>
          <a:custGeom>
            <a:avLst/>
            <a:gdLst>
              <a:gd name="T0" fmla="*/ 218 w 238"/>
              <a:gd name="T1" fmla="*/ 214 h 229"/>
              <a:gd name="T2" fmla="*/ 156 w 238"/>
              <a:gd name="T3" fmla="*/ 78 h 229"/>
              <a:gd name="T4" fmla="*/ 119 w 238"/>
              <a:gd name="T5" fmla="*/ 46 h 229"/>
              <a:gd name="T6" fmla="*/ 119 w 238"/>
              <a:gd name="T7" fmla="*/ 57 h 229"/>
              <a:gd name="T8" fmla="*/ 150 w 238"/>
              <a:gd name="T9" fmla="*/ 84 h 229"/>
              <a:gd name="T10" fmla="*/ 202 w 238"/>
              <a:gd name="T11" fmla="*/ 197 h 229"/>
              <a:gd name="T12" fmla="*/ 119 w 238"/>
              <a:gd name="T13" fmla="*/ 172 h 229"/>
              <a:gd name="T14" fmla="*/ 119 w 238"/>
              <a:gd name="T15" fmla="*/ 183 h 229"/>
              <a:gd name="T16" fmla="*/ 218 w 238"/>
              <a:gd name="T17" fmla="*/ 214 h 229"/>
              <a:gd name="T18" fmla="*/ 119 w 238"/>
              <a:gd name="T19" fmla="*/ 46 h 229"/>
              <a:gd name="T20" fmla="*/ 20 w 238"/>
              <a:gd name="T21" fmla="*/ 16 h 229"/>
              <a:gd name="T22" fmla="*/ 83 w 238"/>
              <a:gd name="T23" fmla="*/ 151 h 229"/>
              <a:gd name="T24" fmla="*/ 119 w 238"/>
              <a:gd name="T25" fmla="*/ 183 h 229"/>
              <a:gd name="T26" fmla="*/ 119 w 238"/>
              <a:gd name="T27" fmla="*/ 172 h 229"/>
              <a:gd name="T28" fmla="*/ 89 w 238"/>
              <a:gd name="T29" fmla="*/ 145 h 229"/>
              <a:gd name="T30" fmla="*/ 36 w 238"/>
              <a:gd name="T31" fmla="*/ 32 h 229"/>
              <a:gd name="T32" fmla="*/ 36 w 238"/>
              <a:gd name="T33" fmla="*/ 32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214"/>
                </a:moveTo>
                <a:cubicBezTo>
                  <a:pt x="238" y="193"/>
                  <a:pt x="210" y="133"/>
                  <a:pt x="156" y="78"/>
                </a:cubicBezTo>
                <a:cubicBezTo>
                  <a:pt x="144" y="66"/>
                  <a:pt x="131" y="55"/>
                  <a:pt x="119" y="46"/>
                </a:cubicBezTo>
                <a:cubicBezTo>
                  <a:pt x="119" y="57"/>
                  <a:pt x="119" y="57"/>
                  <a:pt x="119" y="57"/>
                </a:cubicBezTo>
                <a:cubicBezTo>
                  <a:pt x="129" y="65"/>
                  <a:pt x="140" y="74"/>
                  <a:pt x="150" y="84"/>
                </a:cubicBezTo>
                <a:cubicBezTo>
                  <a:pt x="195" y="130"/>
                  <a:pt x="219" y="181"/>
                  <a:pt x="202" y="197"/>
                </a:cubicBezTo>
                <a:cubicBezTo>
                  <a:pt x="189" y="211"/>
                  <a:pt x="155" y="199"/>
                  <a:pt x="119" y="172"/>
                </a:cubicBezTo>
                <a:cubicBezTo>
                  <a:pt x="119" y="183"/>
                  <a:pt x="119" y="183"/>
                  <a:pt x="119" y="183"/>
                </a:cubicBezTo>
                <a:cubicBezTo>
                  <a:pt x="162" y="216"/>
                  <a:pt x="202" y="229"/>
                  <a:pt x="218" y="214"/>
                </a:cubicBezTo>
                <a:close/>
                <a:moveTo>
                  <a:pt x="119" y="46"/>
                </a:moveTo>
                <a:cubicBezTo>
                  <a:pt x="76" y="13"/>
                  <a:pt x="36" y="0"/>
                  <a:pt x="20" y="16"/>
                </a:cubicBezTo>
                <a:cubicBezTo>
                  <a:pt x="0" y="36"/>
                  <a:pt x="28" y="96"/>
                  <a:pt x="83" y="151"/>
                </a:cubicBezTo>
                <a:cubicBezTo>
                  <a:pt x="95" y="163"/>
                  <a:pt x="107" y="174"/>
                  <a:pt x="119" y="183"/>
                </a:cubicBezTo>
                <a:cubicBezTo>
                  <a:pt x="119" y="172"/>
                  <a:pt x="119" y="172"/>
                  <a:pt x="119" y="172"/>
                </a:cubicBezTo>
                <a:cubicBezTo>
                  <a:pt x="109" y="164"/>
                  <a:pt x="99" y="155"/>
                  <a:pt x="89" y="145"/>
                </a:cubicBezTo>
                <a:cubicBezTo>
                  <a:pt x="43" y="99"/>
                  <a:pt x="19" y="49"/>
                  <a:pt x="36" y="32"/>
                </a:cubicBezTo>
                <a:cubicBezTo>
                  <a:pt x="36" y="32"/>
                  <a:pt x="36" y="32"/>
                  <a:pt x="36" y="32"/>
                </a:cubicBezTo>
                <a:cubicBezTo>
                  <a:pt x="49" y="19"/>
                  <a:pt x="83" y="30"/>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71" name="Oval 29"/>
          <p:cNvSpPr>
            <a:spLocks noChangeArrowheads="1"/>
          </p:cNvSpPr>
          <p:nvPr/>
        </p:nvSpPr>
        <p:spPr bwMode="auto">
          <a:xfrm>
            <a:off x="9029036" y="1890104"/>
            <a:ext cx="93626" cy="93663"/>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72" name="Freeform 30"/>
          <p:cNvSpPr>
            <a:spLocks noEditPoints="1"/>
          </p:cNvSpPr>
          <p:nvPr/>
        </p:nvSpPr>
        <p:spPr bwMode="auto">
          <a:xfrm>
            <a:off x="9747892" y="1459891"/>
            <a:ext cx="257075" cy="487363"/>
          </a:xfrm>
          <a:custGeom>
            <a:avLst/>
            <a:gdLst>
              <a:gd name="T0" fmla="*/ 67 w 162"/>
              <a:gd name="T1" fmla="*/ 307 h 307"/>
              <a:gd name="T2" fmla="*/ 162 w 162"/>
              <a:gd name="T3" fmla="*/ 307 h 307"/>
              <a:gd name="T4" fmla="*/ 67 w 162"/>
              <a:gd name="T5" fmla="*/ 127 h 307"/>
              <a:gd name="T6" fmla="*/ 67 w 162"/>
              <a:gd name="T7" fmla="*/ 193 h 307"/>
              <a:gd name="T8" fmla="*/ 110 w 162"/>
              <a:gd name="T9" fmla="*/ 267 h 307"/>
              <a:gd name="T10" fmla="*/ 67 w 162"/>
              <a:gd name="T11" fmla="*/ 267 h 307"/>
              <a:gd name="T12" fmla="*/ 67 w 162"/>
              <a:gd name="T13" fmla="*/ 307 h 307"/>
              <a:gd name="T14" fmla="*/ 0 w 162"/>
              <a:gd name="T15" fmla="*/ 0 h 307"/>
              <a:gd name="T16" fmla="*/ 0 w 162"/>
              <a:gd name="T17" fmla="*/ 307 h 307"/>
              <a:gd name="T18" fmla="*/ 67 w 162"/>
              <a:gd name="T19" fmla="*/ 307 h 307"/>
              <a:gd name="T20" fmla="*/ 67 w 162"/>
              <a:gd name="T21" fmla="*/ 267 h 307"/>
              <a:gd name="T22" fmla="*/ 24 w 162"/>
              <a:gd name="T23" fmla="*/ 267 h 307"/>
              <a:gd name="T24" fmla="*/ 24 w 162"/>
              <a:gd name="T25" fmla="*/ 120 h 307"/>
              <a:gd name="T26" fmla="*/ 24 w 162"/>
              <a:gd name="T27" fmla="*/ 120 h 307"/>
              <a:gd name="T28" fmla="*/ 67 w 162"/>
              <a:gd name="T29" fmla="*/ 193 h 307"/>
              <a:gd name="T30" fmla="*/ 67 w 162"/>
              <a:gd name="T31" fmla="*/ 127 h 307"/>
              <a:gd name="T32" fmla="*/ 0 w 162"/>
              <a:gd name="T33"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2" h="307">
                <a:moveTo>
                  <a:pt x="67" y="307"/>
                </a:moveTo>
                <a:lnTo>
                  <a:pt x="162" y="307"/>
                </a:lnTo>
                <a:lnTo>
                  <a:pt x="67" y="127"/>
                </a:lnTo>
                <a:lnTo>
                  <a:pt x="67" y="193"/>
                </a:lnTo>
                <a:lnTo>
                  <a:pt x="110" y="267"/>
                </a:lnTo>
                <a:lnTo>
                  <a:pt x="67" y="267"/>
                </a:lnTo>
                <a:lnTo>
                  <a:pt x="67" y="307"/>
                </a:lnTo>
                <a:close/>
                <a:moveTo>
                  <a:pt x="0" y="0"/>
                </a:moveTo>
                <a:lnTo>
                  <a:pt x="0" y="307"/>
                </a:lnTo>
                <a:lnTo>
                  <a:pt x="67" y="307"/>
                </a:lnTo>
                <a:lnTo>
                  <a:pt x="67" y="267"/>
                </a:lnTo>
                <a:lnTo>
                  <a:pt x="24" y="267"/>
                </a:lnTo>
                <a:lnTo>
                  <a:pt x="24" y="120"/>
                </a:lnTo>
                <a:lnTo>
                  <a:pt x="24" y="120"/>
                </a:lnTo>
                <a:lnTo>
                  <a:pt x="67" y="193"/>
                </a:lnTo>
                <a:lnTo>
                  <a:pt x="67" y="127"/>
                </a:ln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73" name="Rectangle 31"/>
          <p:cNvSpPr>
            <a:spLocks noChangeArrowheads="1"/>
          </p:cNvSpPr>
          <p:nvPr/>
        </p:nvSpPr>
        <p:spPr bwMode="auto">
          <a:xfrm>
            <a:off x="9619355" y="1458304"/>
            <a:ext cx="65063" cy="474663"/>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74" name="Freeform 32"/>
          <p:cNvSpPr>
            <a:spLocks noEditPoints="1"/>
          </p:cNvSpPr>
          <p:nvPr/>
        </p:nvSpPr>
        <p:spPr bwMode="auto">
          <a:xfrm>
            <a:off x="7511978" y="3849079"/>
            <a:ext cx="561756" cy="411163"/>
          </a:xfrm>
          <a:custGeom>
            <a:avLst/>
            <a:gdLst>
              <a:gd name="T0" fmla="*/ 213 w 258"/>
              <a:gd name="T1" fmla="*/ 31 h 189"/>
              <a:gd name="T2" fmla="*/ 204 w 258"/>
              <a:gd name="T3" fmla="*/ 69 h 189"/>
              <a:gd name="T4" fmla="*/ 228 w 258"/>
              <a:gd name="T5" fmla="*/ 109 h 189"/>
              <a:gd name="T6" fmla="*/ 204 w 258"/>
              <a:gd name="T7" fmla="*/ 146 h 189"/>
              <a:gd name="T8" fmla="*/ 204 w 258"/>
              <a:gd name="T9" fmla="*/ 27 h 189"/>
              <a:gd name="T10" fmla="*/ 91 w 258"/>
              <a:gd name="T11" fmla="*/ 14 h 189"/>
              <a:gd name="T12" fmla="*/ 97 w 258"/>
              <a:gd name="T13" fmla="*/ 15 h 189"/>
              <a:gd name="T14" fmla="*/ 91 w 258"/>
              <a:gd name="T15" fmla="*/ 42 h 189"/>
              <a:gd name="T16" fmla="*/ 91 w 258"/>
              <a:gd name="T17" fmla="*/ 162 h 189"/>
              <a:gd name="T18" fmla="*/ 166 w 258"/>
              <a:gd name="T19" fmla="*/ 145 h 189"/>
              <a:gd name="T20" fmla="*/ 204 w 258"/>
              <a:gd name="T21" fmla="*/ 125 h 189"/>
              <a:gd name="T22" fmla="*/ 191 w 258"/>
              <a:gd name="T23" fmla="*/ 122 h 189"/>
              <a:gd name="T24" fmla="*/ 204 w 258"/>
              <a:gd name="T25" fmla="*/ 69 h 189"/>
              <a:gd name="T26" fmla="*/ 91 w 258"/>
              <a:gd name="T27" fmla="*/ 6 h 189"/>
              <a:gd name="T28" fmla="*/ 78 w 258"/>
              <a:gd name="T29" fmla="*/ 24 h 189"/>
              <a:gd name="T30" fmla="*/ 91 w 258"/>
              <a:gd name="T31" fmla="*/ 14 h 189"/>
              <a:gd name="T32" fmla="*/ 78 w 258"/>
              <a:gd name="T33" fmla="*/ 188 h 189"/>
              <a:gd name="T34" fmla="*/ 91 w 258"/>
              <a:gd name="T35" fmla="*/ 162 h 189"/>
              <a:gd name="T36" fmla="*/ 78 w 258"/>
              <a:gd name="T37" fmla="*/ 176 h 189"/>
              <a:gd name="T38" fmla="*/ 91 w 258"/>
              <a:gd name="T39" fmla="*/ 42 h 189"/>
              <a:gd name="T40" fmla="*/ 80 w 258"/>
              <a:gd name="T41" fmla="*/ 134 h 189"/>
              <a:gd name="T42" fmla="*/ 78 w 258"/>
              <a:gd name="T43" fmla="*/ 64 h 189"/>
              <a:gd name="T44" fmla="*/ 78 w 258"/>
              <a:gd name="T45" fmla="*/ 33 h 189"/>
              <a:gd name="T46" fmla="*/ 91 w 258"/>
              <a:gd name="T47" fmla="*/ 42 h 189"/>
              <a:gd name="T48" fmla="*/ 60 w 258"/>
              <a:gd name="T49" fmla="*/ 18 h 189"/>
              <a:gd name="T50" fmla="*/ 68 w 258"/>
              <a:gd name="T51" fmla="*/ 42 h 189"/>
              <a:gd name="T52" fmla="*/ 78 w 258"/>
              <a:gd name="T53" fmla="*/ 33 h 189"/>
              <a:gd name="T54" fmla="*/ 78 w 258"/>
              <a:gd name="T55" fmla="*/ 9 h 189"/>
              <a:gd name="T56" fmla="*/ 78 w 258"/>
              <a:gd name="T57" fmla="*/ 188 h 189"/>
              <a:gd name="T58" fmla="*/ 60 w 258"/>
              <a:gd name="T59" fmla="*/ 176 h 189"/>
              <a:gd name="T60" fmla="*/ 78 w 258"/>
              <a:gd name="T61" fmla="*/ 64 h 189"/>
              <a:gd name="T62" fmla="*/ 60 w 258"/>
              <a:gd name="T63" fmla="*/ 134 h 189"/>
              <a:gd name="T64" fmla="*/ 70 w 258"/>
              <a:gd name="T65" fmla="*/ 116 h 189"/>
              <a:gd name="T66" fmla="*/ 60 w 258"/>
              <a:gd name="T67" fmla="*/ 87 h 189"/>
              <a:gd name="T68" fmla="*/ 76 w 258"/>
              <a:gd name="T69" fmla="*/ 68 h 189"/>
              <a:gd name="T70" fmla="*/ 60 w 258"/>
              <a:gd name="T71" fmla="*/ 18 h 189"/>
              <a:gd name="T72" fmla="*/ 60 w 258"/>
              <a:gd name="T73" fmla="*/ 187 h 189"/>
              <a:gd name="T74" fmla="*/ 59 w 258"/>
              <a:gd name="T75" fmla="*/ 175 h 189"/>
              <a:gd name="T76" fmla="*/ 49 w 258"/>
              <a:gd name="T77" fmla="*/ 144 h 189"/>
              <a:gd name="T78" fmla="*/ 60 w 258"/>
              <a:gd name="T79" fmla="*/ 125 h 189"/>
              <a:gd name="T80" fmla="*/ 41 w 258"/>
              <a:gd name="T81" fmla="*/ 125 h 189"/>
              <a:gd name="T82" fmla="*/ 60 w 258"/>
              <a:gd name="T83" fmla="*/ 87 h 189"/>
              <a:gd name="T84" fmla="*/ 51 w 258"/>
              <a:gd name="T85" fmla="*/ 76 h 189"/>
              <a:gd name="T86" fmla="*/ 43 w 258"/>
              <a:gd name="T87" fmla="*/ 51 h 189"/>
              <a:gd name="T88" fmla="*/ 60 w 258"/>
              <a:gd name="T89" fmla="*/ 1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8" h="189">
                <a:moveTo>
                  <a:pt x="253" y="104"/>
                </a:moveTo>
                <a:cubicBezTo>
                  <a:pt x="258" y="60"/>
                  <a:pt x="213" y="31"/>
                  <a:pt x="213" y="31"/>
                </a:cubicBezTo>
                <a:cubicBezTo>
                  <a:pt x="210" y="30"/>
                  <a:pt x="207" y="28"/>
                  <a:pt x="204" y="27"/>
                </a:cubicBezTo>
                <a:cubicBezTo>
                  <a:pt x="204" y="69"/>
                  <a:pt x="204" y="69"/>
                  <a:pt x="204" y="69"/>
                </a:cubicBezTo>
                <a:cubicBezTo>
                  <a:pt x="208" y="69"/>
                  <a:pt x="212" y="70"/>
                  <a:pt x="216" y="72"/>
                </a:cubicBezTo>
                <a:cubicBezTo>
                  <a:pt x="230" y="79"/>
                  <a:pt x="235" y="95"/>
                  <a:pt x="228" y="109"/>
                </a:cubicBezTo>
                <a:cubicBezTo>
                  <a:pt x="224" y="119"/>
                  <a:pt x="214" y="125"/>
                  <a:pt x="204" y="125"/>
                </a:cubicBezTo>
                <a:cubicBezTo>
                  <a:pt x="204" y="146"/>
                  <a:pt x="204" y="146"/>
                  <a:pt x="204" y="146"/>
                </a:cubicBezTo>
                <a:cubicBezTo>
                  <a:pt x="230" y="144"/>
                  <a:pt x="249" y="134"/>
                  <a:pt x="253" y="104"/>
                </a:cubicBezTo>
                <a:close/>
                <a:moveTo>
                  <a:pt x="204" y="27"/>
                </a:moveTo>
                <a:cubicBezTo>
                  <a:pt x="156" y="5"/>
                  <a:pt x="119" y="0"/>
                  <a:pt x="91" y="6"/>
                </a:cubicBezTo>
                <a:cubicBezTo>
                  <a:pt x="91" y="14"/>
                  <a:pt x="91" y="14"/>
                  <a:pt x="91" y="14"/>
                </a:cubicBezTo>
                <a:cubicBezTo>
                  <a:pt x="93" y="14"/>
                  <a:pt x="95" y="14"/>
                  <a:pt x="97" y="15"/>
                </a:cubicBezTo>
                <a:cubicBezTo>
                  <a:pt x="97" y="15"/>
                  <a:pt x="97" y="15"/>
                  <a:pt x="97" y="15"/>
                </a:cubicBezTo>
                <a:cubicBezTo>
                  <a:pt x="104" y="19"/>
                  <a:pt x="107" y="27"/>
                  <a:pt x="103" y="34"/>
                </a:cubicBezTo>
                <a:cubicBezTo>
                  <a:pt x="101" y="39"/>
                  <a:pt x="96" y="42"/>
                  <a:pt x="91" y="42"/>
                </a:cubicBezTo>
                <a:cubicBezTo>
                  <a:pt x="91" y="146"/>
                  <a:pt x="91" y="146"/>
                  <a:pt x="91" y="146"/>
                </a:cubicBezTo>
                <a:cubicBezTo>
                  <a:pt x="93" y="151"/>
                  <a:pt x="93" y="157"/>
                  <a:pt x="91" y="162"/>
                </a:cubicBezTo>
                <a:cubicBezTo>
                  <a:pt x="91" y="185"/>
                  <a:pt x="91" y="185"/>
                  <a:pt x="91" y="185"/>
                </a:cubicBezTo>
                <a:cubicBezTo>
                  <a:pt x="117" y="174"/>
                  <a:pt x="138" y="143"/>
                  <a:pt x="166" y="145"/>
                </a:cubicBezTo>
                <a:cubicBezTo>
                  <a:pt x="179" y="147"/>
                  <a:pt x="192" y="147"/>
                  <a:pt x="204" y="146"/>
                </a:cubicBezTo>
                <a:cubicBezTo>
                  <a:pt x="204" y="125"/>
                  <a:pt x="204" y="125"/>
                  <a:pt x="204" y="125"/>
                </a:cubicBezTo>
                <a:cubicBezTo>
                  <a:pt x="199" y="125"/>
                  <a:pt x="195" y="124"/>
                  <a:pt x="191" y="122"/>
                </a:cubicBezTo>
                <a:cubicBezTo>
                  <a:pt x="191" y="122"/>
                  <a:pt x="191" y="122"/>
                  <a:pt x="191" y="122"/>
                </a:cubicBezTo>
                <a:cubicBezTo>
                  <a:pt x="177" y="115"/>
                  <a:pt x="172" y="98"/>
                  <a:pt x="179" y="84"/>
                </a:cubicBezTo>
                <a:cubicBezTo>
                  <a:pt x="184" y="74"/>
                  <a:pt x="193" y="69"/>
                  <a:pt x="204" y="69"/>
                </a:cubicBezTo>
                <a:lnTo>
                  <a:pt x="204" y="27"/>
                </a:lnTo>
                <a:close/>
                <a:moveTo>
                  <a:pt x="91" y="6"/>
                </a:moveTo>
                <a:cubicBezTo>
                  <a:pt x="86" y="6"/>
                  <a:pt x="82" y="8"/>
                  <a:pt x="78" y="9"/>
                </a:cubicBezTo>
                <a:cubicBezTo>
                  <a:pt x="78" y="24"/>
                  <a:pt x="78" y="24"/>
                  <a:pt x="78" y="24"/>
                </a:cubicBezTo>
                <a:cubicBezTo>
                  <a:pt x="78" y="23"/>
                  <a:pt x="78" y="22"/>
                  <a:pt x="78" y="22"/>
                </a:cubicBezTo>
                <a:cubicBezTo>
                  <a:pt x="81" y="17"/>
                  <a:pt x="86" y="14"/>
                  <a:pt x="91" y="14"/>
                </a:cubicBezTo>
                <a:cubicBezTo>
                  <a:pt x="91" y="6"/>
                  <a:pt x="91" y="6"/>
                  <a:pt x="91" y="6"/>
                </a:cubicBezTo>
                <a:close/>
                <a:moveTo>
                  <a:pt x="78" y="188"/>
                </a:moveTo>
                <a:cubicBezTo>
                  <a:pt x="82" y="188"/>
                  <a:pt x="87" y="187"/>
                  <a:pt x="91" y="185"/>
                </a:cubicBezTo>
                <a:cubicBezTo>
                  <a:pt x="91" y="162"/>
                  <a:pt x="91" y="162"/>
                  <a:pt x="91" y="162"/>
                </a:cubicBezTo>
                <a:cubicBezTo>
                  <a:pt x="90" y="163"/>
                  <a:pt x="90" y="164"/>
                  <a:pt x="90" y="165"/>
                </a:cubicBezTo>
                <a:cubicBezTo>
                  <a:pt x="87" y="170"/>
                  <a:pt x="83" y="174"/>
                  <a:pt x="78" y="176"/>
                </a:cubicBezTo>
                <a:cubicBezTo>
                  <a:pt x="78" y="188"/>
                  <a:pt x="78" y="188"/>
                  <a:pt x="78" y="188"/>
                </a:cubicBezTo>
                <a:close/>
                <a:moveTo>
                  <a:pt x="91" y="42"/>
                </a:moveTo>
                <a:cubicBezTo>
                  <a:pt x="91" y="146"/>
                  <a:pt x="91" y="146"/>
                  <a:pt x="91" y="146"/>
                </a:cubicBezTo>
                <a:cubicBezTo>
                  <a:pt x="89" y="141"/>
                  <a:pt x="85" y="136"/>
                  <a:pt x="80" y="134"/>
                </a:cubicBezTo>
                <a:cubicBezTo>
                  <a:pt x="79" y="133"/>
                  <a:pt x="78" y="133"/>
                  <a:pt x="78" y="133"/>
                </a:cubicBezTo>
                <a:cubicBezTo>
                  <a:pt x="78" y="64"/>
                  <a:pt x="78" y="64"/>
                  <a:pt x="78" y="64"/>
                </a:cubicBezTo>
                <a:cubicBezTo>
                  <a:pt x="79" y="61"/>
                  <a:pt x="79" y="57"/>
                  <a:pt x="78" y="54"/>
                </a:cubicBezTo>
                <a:cubicBezTo>
                  <a:pt x="78" y="33"/>
                  <a:pt x="78" y="33"/>
                  <a:pt x="78" y="33"/>
                </a:cubicBezTo>
                <a:cubicBezTo>
                  <a:pt x="79" y="36"/>
                  <a:pt x="81" y="39"/>
                  <a:pt x="84" y="41"/>
                </a:cubicBezTo>
                <a:cubicBezTo>
                  <a:pt x="86" y="42"/>
                  <a:pt x="89" y="42"/>
                  <a:pt x="91" y="42"/>
                </a:cubicBezTo>
                <a:close/>
                <a:moveTo>
                  <a:pt x="78" y="9"/>
                </a:moveTo>
                <a:cubicBezTo>
                  <a:pt x="71" y="11"/>
                  <a:pt x="65" y="14"/>
                  <a:pt x="60" y="18"/>
                </a:cubicBezTo>
                <a:cubicBezTo>
                  <a:pt x="60" y="40"/>
                  <a:pt x="60" y="40"/>
                  <a:pt x="60" y="40"/>
                </a:cubicBezTo>
                <a:cubicBezTo>
                  <a:pt x="62" y="40"/>
                  <a:pt x="65" y="41"/>
                  <a:pt x="68" y="42"/>
                </a:cubicBezTo>
                <a:cubicBezTo>
                  <a:pt x="73" y="45"/>
                  <a:pt x="76" y="49"/>
                  <a:pt x="78" y="54"/>
                </a:cubicBezTo>
                <a:cubicBezTo>
                  <a:pt x="78" y="33"/>
                  <a:pt x="78" y="33"/>
                  <a:pt x="78" y="33"/>
                </a:cubicBezTo>
                <a:cubicBezTo>
                  <a:pt x="77" y="30"/>
                  <a:pt x="77" y="27"/>
                  <a:pt x="78" y="24"/>
                </a:cubicBezTo>
                <a:cubicBezTo>
                  <a:pt x="78" y="9"/>
                  <a:pt x="78" y="9"/>
                  <a:pt x="78" y="9"/>
                </a:cubicBezTo>
                <a:close/>
                <a:moveTo>
                  <a:pt x="60" y="187"/>
                </a:moveTo>
                <a:cubicBezTo>
                  <a:pt x="66" y="188"/>
                  <a:pt x="72" y="189"/>
                  <a:pt x="78" y="188"/>
                </a:cubicBezTo>
                <a:cubicBezTo>
                  <a:pt x="78" y="176"/>
                  <a:pt x="78" y="176"/>
                  <a:pt x="78" y="176"/>
                </a:cubicBezTo>
                <a:cubicBezTo>
                  <a:pt x="72" y="178"/>
                  <a:pt x="65" y="178"/>
                  <a:pt x="60" y="176"/>
                </a:cubicBezTo>
                <a:cubicBezTo>
                  <a:pt x="60" y="187"/>
                  <a:pt x="60" y="187"/>
                  <a:pt x="60" y="187"/>
                </a:cubicBezTo>
                <a:close/>
                <a:moveTo>
                  <a:pt x="78" y="64"/>
                </a:moveTo>
                <a:cubicBezTo>
                  <a:pt x="78" y="133"/>
                  <a:pt x="78" y="133"/>
                  <a:pt x="78" y="133"/>
                </a:cubicBezTo>
                <a:cubicBezTo>
                  <a:pt x="72" y="131"/>
                  <a:pt x="65" y="131"/>
                  <a:pt x="60" y="134"/>
                </a:cubicBezTo>
                <a:cubicBezTo>
                  <a:pt x="60" y="125"/>
                  <a:pt x="60" y="125"/>
                  <a:pt x="60" y="125"/>
                </a:cubicBezTo>
                <a:cubicBezTo>
                  <a:pt x="64" y="123"/>
                  <a:pt x="67" y="120"/>
                  <a:pt x="70" y="116"/>
                </a:cubicBezTo>
                <a:cubicBezTo>
                  <a:pt x="75" y="105"/>
                  <a:pt x="71" y="92"/>
                  <a:pt x="60" y="87"/>
                </a:cubicBezTo>
                <a:cubicBezTo>
                  <a:pt x="60" y="87"/>
                  <a:pt x="60" y="87"/>
                  <a:pt x="60" y="87"/>
                </a:cubicBezTo>
                <a:cubicBezTo>
                  <a:pt x="60" y="78"/>
                  <a:pt x="60" y="78"/>
                  <a:pt x="60" y="78"/>
                </a:cubicBezTo>
                <a:cubicBezTo>
                  <a:pt x="66" y="78"/>
                  <a:pt x="73" y="74"/>
                  <a:pt x="76" y="68"/>
                </a:cubicBezTo>
                <a:cubicBezTo>
                  <a:pt x="77" y="66"/>
                  <a:pt x="77" y="65"/>
                  <a:pt x="78" y="64"/>
                </a:cubicBezTo>
                <a:close/>
                <a:moveTo>
                  <a:pt x="60" y="18"/>
                </a:moveTo>
                <a:cubicBezTo>
                  <a:pt x="0" y="56"/>
                  <a:pt x="10" y="159"/>
                  <a:pt x="46" y="180"/>
                </a:cubicBezTo>
                <a:cubicBezTo>
                  <a:pt x="51" y="183"/>
                  <a:pt x="55" y="185"/>
                  <a:pt x="60" y="187"/>
                </a:cubicBezTo>
                <a:cubicBezTo>
                  <a:pt x="60" y="176"/>
                  <a:pt x="60" y="176"/>
                  <a:pt x="60" y="176"/>
                </a:cubicBezTo>
                <a:cubicBezTo>
                  <a:pt x="59" y="175"/>
                  <a:pt x="59" y="175"/>
                  <a:pt x="59" y="175"/>
                </a:cubicBezTo>
                <a:cubicBezTo>
                  <a:pt x="59" y="175"/>
                  <a:pt x="59" y="175"/>
                  <a:pt x="59" y="175"/>
                </a:cubicBezTo>
                <a:cubicBezTo>
                  <a:pt x="48" y="170"/>
                  <a:pt x="43" y="156"/>
                  <a:pt x="49" y="144"/>
                </a:cubicBezTo>
                <a:cubicBezTo>
                  <a:pt x="51" y="139"/>
                  <a:pt x="55" y="136"/>
                  <a:pt x="60" y="134"/>
                </a:cubicBezTo>
                <a:cubicBezTo>
                  <a:pt x="60" y="125"/>
                  <a:pt x="60" y="125"/>
                  <a:pt x="60" y="125"/>
                </a:cubicBezTo>
                <a:cubicBezTo>
                  <a:pt x="54" y="128"/>
                  <a:pt x="47" y="128"/>
                  <a:pt x="41" y="125"/>
                </a:cubicBezTo>
                <a:cubicBezTo>
                  <a:pt x="41" y="125"/>
                  <a:pt x="41" y="125"/>
                  <a:pt x="41" y="125"/>
                </a:cubicBezTo>
                <a:cubicBezTo>
                  <a:pt x="31" y="120"/>
                  <a:pt x="26" y="107"/>
                  <a:pt x="32" y="97"/>
                </a:cubicBezTo>
                <a:cubicBezTo>
                  <a:pt x="37" y="86"/>
                  <a:pt x="49" y="82"/>
                  <a:pt x="60" y="87"/>
                </a:cubicBezTo>
                <a:cubicBezTo>
                  <a:pt x="60" y="78"/>
                  <a:pt x="60" y="78"/>
                  <a:pt x="60" y="78"/>
                </a:cubicBezTo>
                <a:cubicBezTo>
                  <a:pt x="57" y="78"/>
                  <a:pt x="54" y="77"/>
                  <a:pt x="51" y="76"/>
                </a:cubicBezTo>
                <a:cubicBezTo>
                  <a:pt x="42" y="71"/>
                  <a:pt x="38" y="60"/>
                  <a:pt x="43" y="51"/>
                </a:cubicBezTo>
                <a:cubicBezTo>
                  <a:pt x="43" y="51"/>
                  <a:pt x="43" y="51"/>
                  <a:pt x="43" y="51"/>
                </a:cubicBezTo>
                <a:cubicBezTo>
                  <a:pt x="46" y="44"/>
                  <a:pt x="53" y="40"/>
                  <a:pt x="60" y="40"/>
                </a:cubicBezTo>
                <a:lnTo>
                  <a:pt x="60" y="1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nvGrpSpPr>
          <p:cNvPr id="75" name="Group 127"/>
          <p:cNvGrpSpPr/>
          <p:nvPr/>
        </p:nvGrpSpPr>
        <p:grpSpPr>
          <a:xfrm>
            <a:off x="9090923" y="4260240"/>
            <a:ext cx="507803" cy="654050"/>
            <a:chOff x="8610600" y="4127500"/>
            <a:chExt cx="508001" cy="654050"/>
          </a:xfrm>
          <a:solidFill>
            <a:schemeClr val="accent2"/>
          </a:solidFill>
        </p:grpSpPr>
        <p:sp>
          <p:nvSpPr>
            <p:cNvPr id="76" name="Freeform 33"/>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77" name="Freeform 34"/>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78" name="Freeform 35"/>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79" name="Freeform 36"/>
            <p:cNvSpPr/>
            <p:nvPr/>
          </p:nvSpPr>
          <p:spPr bwMode="auto">
            <a:xfrm>
              <a:off x="8729663" y="4613275"/>
              <a:ext cx="141288" cy="168275"/>
            </a:xfrm>
            <a:custGeom>
              <a:avLst/>
              <a:gdLst>
                <a:gd name="T0" fmla="*/ 45 w 65"/>
                <a:gd name="T1" fmla="*/ 5 h 77"/>
                <a:gd name="T2" fmla="*/ 45 w 65"/>
                <a:gd name="T3" fmla="*/ 28 h 77"/>
                <a:gd name="T4" fmla="*/ 25 w 65"/>
                <a:gd name="T5" fmla="*/ 45 h 77"/>
                <a:gd name="T6" fmla="*/ 1 w 65"/>
                <a:gd name="T7" fmla="*/ 64 h 77"/>
                <a:gd name="T8" fmla="*/ 65 w 65"/>
                <a:gd name="T9" fmla="*/ 77 h 77"/>
                <a:gd name="T10" fmla="*/ 65 w 65"/>
                <a:gd name="T11" fmla="*/ 0 h 77"/>
                <a:gd name="T12" fmla="*/ 45 w 65"/>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5" h="77">
                  <a:moveTo>
                    <a:pt x="45" y="5"/>
                  </a:moveTo>
                  <a:cubicBezTo>
                    <a:pt x="45" y="28"/>
                    <a:pt x="45" y="28"/>
                    <a:pt x="45" y="28"/>
                  </a:cubicBezTo>
                  <a:cubicBezTo>
                    <a:pt x="45" y="28"/>
                    <a:pt x="39" y="40"/>
                    <a:pt x="25" y="45"/>
                  </a:cubicBezTo>
                  <a:cubicBezTo>
                    <a:pt x="12" y="49"/>
                    <a:pt x="0" y="56"/>
                    <a:pt x="1" y="64"/>
                  </a:cubicBezTo>
                  <a:cubicBezTo>
                    <a:pt x="2" y="71"/>
                    <a:pt x="18" y="77"/>
                    <a:pt x="65" y="77"/>
                  </a:cubicBezTo>
                  <a:cubicBezTo>
                    <a:pt x="65" y="0"/>
                    <a:pt x="65" y="0"/>
                    <a:pt x="65" y="0"/>
                  </a:cubicBezTo>
                  <a:lnTo>
                    <a:pt x="45"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80" name="Freeform 37"/>
            <p:cNvSpPr/>
            <p:nvPr/>
          </p:nvSpPr>
          <p:spPr bwMode="auto">
            <a:xfrm>
              <a:off x="8855075" y="4613275"/>
              <a:ext cx="134938" cy="168275"/>
            </a:xfrm>
            <a:custGeom>
              <a:avLst/>
              <a:gdLst>
                <a:gd name="T0" fmla="*/ 14 w 62"/>
                <a:gd name="T1" fmla="*/ 5 h 77"/>
                <a:gd name="T2" fmla="*/ 14 w 62"/>
                <a:gd name="T3" fmla="*/ 28 h 77"/>
                <a:gd name="T4" fmla="*/ 32 w 62"/>
                <a:gd name="T5" fmla="*/ 45 h 77"/>
                <a:gd name="T6" fmla="*/ 61 w 62"/>
                <a:gd name="T7" fmla="*/ 64 h 77"/>
                <a:gd name="T8" fmla="*/ 0 w 62"/>
                <a:gd name="T9" fmla="*/ 77 h 77"/>
                <a:gd name="T10" fmla="*/ 0 w 62"/>
                <a:gd name="T11" fmla="*/ 0 h 77"/>
                <a:gd name="T12" fmla="*/ 14 w 62"/>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2" h="77">
                  <a:moveTo>
                    <a:pt x="14" y="5"/>
                  </a:moveTo>
                  <a:cubicBezTo>
                    <a:pt x="14" y="28"/>
                    <a:pt x="14" y="28"/>
                    <a:pt x="14" y="28"/>
                  </a:cubicBezTo>
                  <a:cubicBezTo>
                    <a:pt x="14" y="28"/>
                    <a:pt x="19" y="40"/>
                    <a:pt x="32" y="45"/>
                  </a:cubicBezTo>
                  <a:cubicBezTo>
                    <a:pt x="46" y="49"/>
                    <a:pt x="62" y="56"/>
                    <a:pt x="61" y="64"/>
                  </a:cubicBezTo>
                  <a:cubicBezTo>
                    <a:pt x="60" y="71"/>
                    <a:pt x="34" y="77"/>
                    <a:pt x="0" y="77"/>
                  </a:cubicBezTo>
                  <a:cubicBezTo>
                    <a:pt x="0" y="0"/>
                    <a:pt x="0" y="0"/>
                    <a:pt x="0" y="0"/>
                  </a:cubicBezTo>
                  <a:lnTo>
                    <a:pt x="14"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81" name="Freeform 38"/>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82" name="Freeform 39"/>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83" name="Freeform 40"/>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sp>
        <p:nvSpPr>
          <p:cNvPr id="84" name="Freeform 41"/>
          <p:cNvSpPr>
            <a:spLocks noEditPoints="1"/>
          </p:cNvSpPr>
          <p:nvPr/>
        </p:nvSpPr>
        <p:spPr bwMode="auto">
          <a:xfrm>
            <a:off x="9511447" y="3599841"/>
            <a:ext cx="428458" cy="390525"/>
          </a:xfrm>
          <a:custGeom>
            <a:avLst/>
            <a:gdLst>
              <a:gd name="T0" fmla="*/ 116 w 196"/>
              <a:gd name="T1" fmla="*/ 2 h 179"/>
              <a:gd name="T2" fmla="*/ 98 w 196"/>
              <a:gd name="T3" fmla="*/ 0 h 179"/>
              <a:gd name="T4" fmla="*/ 98 w 196"/>
              <a:gd name="T5" fmla="*/ 17 h 179"/>
              <a:gd name="T6" fmla="*/ 113 w 196"/>
              <a:gd name="T7" fmla="*/ 18 h 179"/>
              <a:gd name="T8" fmla="*/ 169 w 196"/>
              <a:gd name="T9" fmla="*/ 105 h 179"/>
              <a:gd name="T10" fmla="*/ 98 w 196"/>
              <a:gd name="T11" fmla="*/ 163 h 179"/>
              <a:gd name="T12" fmla="*/ 98 w 196"/>
              <a:gd name="T13" fmla="*/ 179 h 179"/>
              <a:gd name="T14" fmla="*/ 185 w 196"/>
              <a:gd name="T15" fmla="*/ 108 h 179"/>
              <a:gd name="T16" fmla="*/ 116 w 196"/>
              <a:gd name="T17" fmla="*/ 2 h 179"/>
              <a:gd name="T18" fmla="*/ 98 w 196"/>
              <a:gd name="T19" fmla="*/ 0 h 179"/>
              <a:gd name="T20" fmla="*/ 10 w 196"/>
              <a:gd name="T21" fmla="*/ 71 h 179"/>
              <a:gd name="T22" fmla="*/ 79 w 196"/>
              <a:gd name="T23" fmla="*/ 177 h 179"/>
              <a:gd name="T24" fmla="*/ 98 w 196"/>
              <a:gd name="T25" fmla="*/ 179 h 179"/>
              <a:gd name="T26" fmla="*/ 98 w 196"/>
              <a:gd name="T27" fmla="*/ 163 h 179"/>
              <a:gd name="T28" fmla="*/ 83 w 196"/>
              <a:gd name="T29" fmla="*/ 161 h 179"/>
              <a:gd name="T30" fmla="*/ 83 w 196"/>
              <a:gd name="T31" fmla="*/ 161 h 179"/>
              <a:gd name="T32" fmla="*/ 26 w 196"/>
              <a:gd name="T33" fmla="*/ 75 h 179"/>
              <a:gd name="T34" fmla="*/ 98 w 196"/>
              <a:gd name="T35" fmla="*/ 17 h 179"/>
              <a:gd name="T36" fmla="*/ 98 w 196"/>
              <a:gd name="T37"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6" h="179">
                <a:moveTo>
                  <a:pt x="116" y="2"/>
                </a:moveTo>
                <a:cubicBezTo>
                  <a:pt x="110" y="1"/>
                  <a:pt x="104" y="0"/>
                  <a:pt x="98" y="0"/>
                </a:cubicBezTo>
                <a:cubicBezTo>
                  <a:pt x="98" y="17"/>
                  <a:pt x="98" y="17"/>
                  <a:pt x="98" y="17"/>
                </a:cubicBezTo>
                <a:cubicBezTo>
                  <a:pt x="103" y="17"/>
                  <a:pt x="108" y="17"/>
                  <a:pt x="113" y="18"/>
                </a:cubicBezTo>
                <a:cubicBezTo>
                  <a:pt x="152" y="27"/>
                  <a:pt x="177" y="65"/>
                  <a:pt x="169" y="105"/>
                </a:cubicBezTo>
                <a:cubicBezTo>
                  <a:pt x="162" y="139"/>
                  <a:pt x="131" y="163"/>
                  <a:pt x="98" y="163"/>
                </a:cubicBezTo>
                <a:cubicBezTo>
                  <a:pt x="98" y="179"/>
                  <a:pt x="98" y="179"/>
                  <a:pt x="98" y="179"/>
                </a:cubicBezTo>
                <a:cubicBezTo>
                  <a:pt x="139" y="179"/>
                  <a:pt x="177" y="150"/>
                  <a:pt x="185" y="108"/>
                </a:cubicBezTo>
                <a:cubicBezTo>
                  <a:pt x="196" y="60"/>
                  <a:pt x="165" y="12"/>
                  <a:pt x="116" y="2"/>
                </a:cubicBezTo>
                <a:close/>
                <a:moveTo>
                  <a:pt x="98" y="0"/>
                </a:moveTo>
                <a:cubicBezTo>
                  <a:pt x="56" y="0"/>
                  <a:pt x="19" y="29"/>
                  <a:pt x="10" y="71"/>
                </a:cubicBezTo>
                <a:cubicBezTo>
                  <a:pt x="0" y="120"/>
                  <a:pt x="31" y="167"/>
                  <a:pt x="79" y="177"/>
                </a:cubicBezTo>
                <a:cubicBezTo>
                  <a:pt x="85" y="179"/>
                  <a:pt x="92" y="179"/>
                  <a:pt x="98" y="179"/>
                </a:cubicBezTo>
                <a:cubicBezTo>
                  <a:pt x="98" y="163"/>
                  <a:pt x="98" y="163"/>
                  <a:pt x="98" y="163"/>
                </a:cubicBezTo>
                <a:cubicBezTo>
                  <a:pt x="93" y="163"/>
                  <a:pt x="88" y="162"/>
                  <a:pt x="83" y="161"/>
                </a:cubicBezTo>
                <a:cubicBezTo>
                  <a:pt x="83" y="161"/>
                  <a:pt x="83" y="161"/>
                  <a:pt x="83" y="161"/>
                </a:cubicBezTo>
                <a:cubicBezTo>
                  <a:pt x="43" y="153"/>
                  <a:pt x="18" y="114"/>
                  <a:pt x="26" y="75"/>
                </a:cubicBezTo>
                <a:cubicBezTo>
                  <a:pt x="33" y="40"/>
                  <a:pt x="64" y="17"/>
                  <a:pt x="98" y="17"/>
                </a:cubicBezTo>
                <a:lnTo>
                  <a:pt x="98"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85" name="Freeform 42"/>
          <p:cNvSpPr/>
          <p:nvPr/>
        </p:nvSpPr>
        <p:spPr bwMode="auto">
          <a:xfrm>
            <a:off x="9622529" y="3960203"/>
            <a:ext cx="92039" cy="198438"/>
          </a:xfrm>
          <a:custGeom>
            <a:avLst/>
            <a:gdLst>
              <a:gd name="T0" fmla="*/ 33 w 58"/>
              <a:gd name="T1" fmla="*/ 125 h 125"/>
              <a:gd name="T2" fmla="*/ 0 w 58"/>
              <a:gd name="T3" fmla="*/ 118 h 125"/>
              <a:gd name="T4" fmla="*/ 25 w 58"/>
              <a:gd name="T5" fmla="*/ 0 h 125"/>
              <a:gd name="T6" fmla="*/ 58 w 58"/>
              <a:gd name="T7" fmla="*/ 7 h 125"/>
              <a:gd name="T8" fmla="*/ 33 w 58"/>
              <a:gd name="T9" fmla="*/ 125 h 125"/>
            </a:gdLst>
            <a:ahLst/>
            <a:cxnLst>
              <a:cxn ang="0">
                <a:pos x="T0" y="T1"/>
              </a:cxn>
              <a:cxn ang="0">
                <a:pos x="T2" y="T3"/>
              </a:cxn>
              <a:cxn ang="0">
                <a:pos x="T4" y="T5"/>
              </a:cxn>
              <a:cxn ang="0">
                <a:pos x="T6" y="T7"/>
              </a:cxn>
              <a:cxn ang="0">
                <a:pos x="T8" y="T9"/>
              </a:cxn>
            </a:cxnLst>
            <a:rect l="0" t="0" r="r" b="b"/>
            <a:pathLst>
              <a:path w="58" h="125">
                <a:moveTo>
                  <a:pt x="33" y="125"/>
                </a:moveTo>
                <a:lnTo>
                  <a:pt x="0" y="118"/>
                </a:lnTo>
                <a:lnTo>
                  <a:pt x="25" y="0"/>
                </a:lnTo>
                <a:lnTo>
                  <a:pt x="58" y="7"/>
                </a:lnTo>
                <a:lnTo>
                  <a:pt x="33" y="12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86" name="Freeform 43"/>
          <p:cNvSpPr/>
          <p:nvPr/>
        </p:nvSpPr>
        <p:spPr bwMode="auto">
          <a:xfrm>
            <a:off x="9584444" y="4020528"/>
            <a:ext cx="130124" cy="268288"/>
          </a:xfrm>
          <a:custGeom>
            <a:avLst/>
            <a:gdLst>
              <a:gd name="T0" fmla="*/ 40 w 60"/>
              <a:gd name="T1" fmla="*/ 106 h 123"/>
              <a:gd name="T2" fmla="*/ 18 w 60"/>
              <a:gd name="T3" fmla="*/ 121 h 123"/>
              <a:gd name="T4" fmla="*/ 3 w 60"/>
              <a:gd name="T5" fmla="*/ 98 h 123"/>
              <a:gd name="T6" fmla="*/ 20 w 60"/>
              <a:gd name="T7" fmla="*/ 17 h 123"/>
              <a:gd name="T8" fmla="*/ 42 w 60"/>
              <a:gd name="T9" fmla="*/ 2 h 123"/>
              <a:gd name="T10" fmla="*/ 57 w 60"/>
              <a:gd name="T11" fmla="*/ 25 h 123"/>
              <a:gd name="T12" fmla="*/ 40 w 60"/>
              <a:gd name="T13" fmla="*/ 106 h 123"/>
            </a:gdLst>
            <a:ahLst/>
            <a:cxnLst>
              <a:cxn ang="0">
                <a:pos x="T0" y="T1"/>
              </a:cxn>
              <a:cxn ang="0">
                <a:pos x="T2" y="T3"/>
              </a:cxn>
              <a:cxn ang="0">
                <a:pos x="T4" y="T5"/>
              </a:cxn>
              <a:cxn ang="0">
                <a:pos x="T6" y="T7"/>
              </a:cxn>
              <a:cxn ang="0">
                <a:pos x="T8" y="T9"/>
              </a:cxn>
              <a:cxn ang="0">
                <a:pos x="T10" y="T11"/>
              </a:cxn>
              <a:cxn ang="0">
                <a:pos x="T12" y="T13"/>
              </a:cxn>
            </a:cxnLst>
            <a:rect l="0" t="0" r="r" b="b"/>
            <a:pathLst>
              <a:path w="60" h="123">
                <a:moveTo>
                  <a:pt x="40" y="106"/>
                </a:moveTo>
                <a:cubicBezTo>
                  <a:pt x="38" y="116"/>
                  <a:pt x="28" y="123"/>
                  <a:pt x="18" y="121"/>
                </a:cubicBezTo>
                <a:cubicBezTo>
                  <a:pt x="7" y="118"/>
                  <a:pt x="0" y="108"/>
                  <a:pt x="3" y="98"/>
                </a:cubicBezTo>
                <a:cubicBezTo>
                  <a:pt x="20" y="17"/>
                  <a:pt x="20" y="17"/>
                  <a:pt x="20" y="17"/>
                </a:cubicBezTo>
                <a:cubicBezTo>
                  <a:pt x="22" y="6"/>
                  <a:pt x="32" y="0"/>
                  <a:pt x="42" y="2"/>
                </a:cubicBezTo>
                <a:cubicBezTo>
                  <a:pt x="53" y="4"/>
                  <a:pt x="60" y="14"/>
                  <a:pt x="57" y="25"/>
                </a:cubicBezTo>
                <a:lnTo>
                  <a:pt x="40" y="10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87" name="Freeform 44"/>
          <p:cNvSpPr/>
          <p:nvPr/>
        </p:nvSpPr>
        <p:spPr bwMode="auto">
          <a:xfrm>
            <a:off x="8395870" y="1015391"/>
            <a:ext cx="523670" cy="479425"/>
          </a:xfrm>
          <a:custGeom>
            <a:avLst/>
            <a:gdLst>
              <a:gd name="T0" fmla="*/ 117 w 240"/>
              <a:gd name="T1" fmla="*/ 220 h 220"/>
              <a:gd name="T2" fmla="*/ 0 w 240"/>
              <a:gd name="T3" fmla="*/ 219 h 220"/>
              <a:gd name="T4" fmla="*/ 0 w 240"/>
              <a:gd name="T5" fmla="*/ 44 h 220"/>
              <a:gd name="T6" fmla="*/ 120 w 240"/>
              <a:gd name="T7" fmla="*/ 44 h 220"/>
              <a:gd name="T8" fmla="*/ 240 w 240"/>
              <a:gd name="T9" fmla="*/ 44 h 220"/>
              <a:gd name="T10" fmla="*/ 240 w 240"/>
              <a:gd name="T11" fmla="*/ 219 h 220"/>
              <a:gd name="T12" fmla="*/ 117 w 240"/>
              <a:gd name="T13" fmla="*/ 220 h 220"/>
            </a:gdLst>
            <a:ahLst/>
            <a:cxnLst>
              <a:cxn ang="0">
                <a:pos x="T0" y="T1"/>
              </a:cxn>
              <a:cxn ang="0">
                <a:pos x="T2" y="T3"/>
              </a:cxn>
              <a:cxn ang="0">
                <a:pos x="T4" y="T5"/>
              </a:cxn>
              <a:cxn ang="0">
                <a:pos x="T6" y="T7"/>
              </a:cxn>
              <a:cxn ang="0">
                <a:pos x="T8" y="T9"/>
              </a:cxn>
              <a:cxn ang="0">
                <a:pos x="T10" y="T11"/>
              </a:cxn>
              <a:cxn ang="0">
                <a:pos x="T12" y="T13"/>
              </a:cxn>
            </a:cxnLst>
            <a:rect l="0" t="0" r="r" b="b"/>
            <a:pathLst>
              <a:path w="240" h="220">
                <a:moveTo>
                  <a:pt x="117" y="220"/>
                </a:moveTo>
                <a:cubicBezTo>
                  <a:pt x="117" y="220"/>
                  <a:pt x="76" y="179"/>
                  <a:pt x="0" y="219"/>
                </a:cubicBezTo>
                <a:cubicBezTo>
                  <a:pt x="0" y="44"/>
                  <a:pt x="0" y="44"/>
                  <a:pt x="0" y="44"/>
                </a:cubicBezTo>
                <a:cubicBezTo>
                  <a:pt x="0" y="44"/>
                  <a:pt x="78" y="0"/>
                  <a:pt x="120" y="44"/>
                </a:cubicBezTo>
                <a:cubicBezTo>
                  <a:pt x="240" y="44"/>
                  <a:pt x="240" y="44"/>
                  <a:pt x="240" y="44"/>
                </a:cubicBezTo>
                <a:cubicBezTo>
                  <a:pt x="240" y="219"/>
                  <a:pt x="240" y="219"/>
                  <a:pt x="240" y="219"/>
                </a:cubicBezTo>
                <a:lnTo>
                  <a:pt x="117" y="220"/>
                </a:lnTo>
                <a:close/>
              </a:path>
            </a:pathLst>
          </a:custGeom>
          <a:solidFill>
            <a:schemeClr val="accent3"/>
          </a:solidFill>
          <a:ln>
            <a:noFill/>
          </a:ln>
        </p:spPr>
        <p:txBody>
          <a:bodyPr vert="horz" wrap="square" lIns="91440" tIns="45720" rIns="91440" bIns="45720" numCol="1" anchor="t" anchorCtr="0" compatLnSpc="1"/>
          <a:lstStyle/>
          <a:p>
            <a:endParaRPr lang="id-ID"/>
          </a:p>
        </p:txBody>
      </p:sp>
      <p:sp>
        <p:nvSpPr>
          <p:cNvPr id="88" name="Freeform 45"/>
          <p:cNvSpPr>
            <a:spLocks noEditPoints="1"/>
          </p:cNvSpPr>
          <p:nvPr/>
        </p:nvSpPr>
        <p:spPr bwMode="auto">
          <a:xfrm>
            <a:off x="8240356" y="3676040"/>
            <a:ext cx="637926" cy="528638"/>
          </a:xfrm>
          <a:custGeom>
            <a:avLst/>
            <a:gdLst>
              <a:gd name="T0" fmla="*/ 199 w 293"/>
              <a:gd name="T1" fmla="*/ 192 h 242"/>
              <a:gd name="T2" fmla="*/ 219 w 293"/>
              <a:gd name="T3" fmla="*/ 205 h 242"/>
              <a:gd name="T4" fmla="*/ 219 w 293"/>
              <a:gd name="T5" fmla="*/ 214 h 242"/>
              <a:gd name="T6" fmla="*/ 199 w 293"/>
              <a:gd name="T7" fmla="*/ 214 h 242"/>
              <a:gd name="T8" fmla="*/ 219 w 293"/>
              <a:gd name="T9" fmla="*/ 242 h 242"/>
              <a:gd name="T10" fmla="*/ 242 w 293"/>
              <a:gd name="T11" fmla="*/ 216 h 242"/>
              <a:gd name="T12" fmla="*/ 199 w 293"/>
              <a:gd name="T13" fmla="*/ 170 h 242"/>
              <a:gd name="T14" fmla="*/ 293 w 293"/>
              <a:gd name="T15" fmla="*/ 147 h 242"/>
              <a:gd name="T16" fmla="*/ 269 w 293"/>
              <a:gd name="T17" fmla="*/ 0 h 242"/>
              <a:gd name="T18" fmla="*/ 199 w 293"/>
              <a:gd name="T19" fmla="*/ 16 h 242"/>
              <a:gd name="T20" fmla="*/ 275 w 293"/>
              <a:gd name="T21" fmla="*/ 35 h 242"/>
              <a:gd name="T22" fmla="*/ 256 w 293"/>
              <a:gd name="T23" fmla="*/ 154 h 242"/>
              <a:gd name="T24" fmla="*/ 199 w 293"/>
              <a:gd name="T25" fmla="*/ 170 h 242"/>
              <a:gd name="T26" fmla="*/ 175 w 293"/>
              <a:gd name="T27" fmla="*/ 192 h 242"/>
              <a:gd name="T28" fmla="*/ 199 w 293"/>
              <a:gd name="T29" fmla="*/ 170 h 242"/>
              <a:gd name="T30" fmla="*/ 146 w 293"/>
              <a:gd name="T31" fmla="*/ 154 h 242"/>
              <a:gd name="T32" fmla="*/ 199 w 293"/>
              <a:gd name="T33" fmla="*/ 242 h 242"/>
              <a:gd name="T34" fmla="*/ 179 w 293"/>
              <a:gd name="T35" fmla="*/ 214 h 242"/>
              <a:gd name="T36" fmla="*/ 179 w 293"/>
              <a:gd name="T37" fmla="*/ 205 h 242"/>
              <a:gd name="T38" fmla="*/ 199 w 293"/>
              <a:gd name="T39" fmla="*/ 192 h 242"/>
              <a:gd name="T40" fmla="*/ 146 w 293"/>
              <a:gd name="T41" fmla="*/ 0 h 242"/>
              <a:gd name="T42" fmla="*/ 199 w 293"/>
              <a:gd name="T43" fmla="*/ 16 h 242"/>
              <a:gd name="T44" fmla="*/ 146 w 293"/>
              <a:gd name="T45" fmla="*/ 0 h 242"/>
              <a:gd name="T46" fmla="*/ 0 w 293"/>
              <a:gd name="T47" fmla="*/ 24 h 242"/>
              <a:gd name="T48" fmla="*/ 23 w 293"/>
              <a:gd name="T49" fmla="*/ 170 h 242"/>
              <a:gd name="T50" fmla="*/ 117 w 293"/>
              <a:gd name="T51" fmla="*/ 192 h 242"/>
              <a:gd name="T52" fmla="*/ 52 w 293"/>
              <a:gd name="T53" fmla="*/ 216 h 242"/>
              <a:gd name="T54" fmla="*/ 75 w 293"/>
              <a:gd name="T55" fmla="*/ 242 h 242"/>
              <a:gd name="T56" fmla="*/ 146 w 293"/>
              <a:gd name="T57" fmla="*/ 154 h 242"/>
              <a:gd name="T58" fmla="*/ 37 w 293"/>
              <a:gd name="T59" fmla="*/ 154 h 242"/>
              <a:gd name="T60" fmla="*/ 17 w 293"/>
              <a:gd name="T61" fmla="*/ 35 h 242"/>
              <a:gd name="T62" fmla="*/ 146 w 293"/>
              <a:gd name="T63" fmla="*/ 16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3" h="242">
                <a:moveTo>
                  <a:pt x="219" y="192"/>
                </a:moveTo>
                <a:cubicBezTo>
                  <a:pt x="199" y="192"/>
                  <a:pt x="199" y="192"/>
                  <a:pt x="199" y="192"/>
                </a:cubicBezTo>
                <a:cubicBezTo>
                  <a:pt x="199" y="205"/>
                  <a:pt x="199" y="205"/>
                  <a:pt x="199" y="205"/>
                </a:cubicBezTo>
                <a:cubicBezTo>
                  <a:pt x="219" y="205"/>
                  <a:pt x="219" y="205"/>
                  <a:pt x="219" y="205"/>
                </a:cubicBezTo>
                <a:cubicBezTo>
                  <a:pt x="221" y="205"/>
                  <a:pt x="223" y="207"/>
                  <a:pt x="223" y="209"/>
                </a:cubicBezTo>
                <a:cubicBezTo>
                  <a:pt x="223" y="212"/>
                  <a:pt x="221" y="214"/>
                  <a:pt x="219" y="214"/>
                </a:cubicBezTo>
                <a:cubicBezTo>
                  <a:pt x="219" y="214"/>
                  <a:pt x="219" y="214"/>
                  <a:pt x="219" y="214"/>
                </a:cubicBezTo>
                <a:cubicBezTo>
                  <a:pt x="199" y="214"/>
                  <a:pt x="199" y="214"/>
                  <a:pt x="199" y="214"/>
                </a:cubicBezTo>
                <a:cubicBezTo>
                  <a:pt x="199" y="242"/>
                  <a:pt x="199" y="242"/>
                  <a:pt x="199" y="242"/>
                </a:cubicBezTo>
                <a:cubicBezTo>
                  <a:pt x="219" y="242"/>
                  <a:pt x="219" y="242"/>
                  <a:pt x="219" y="242"/>
                </a:cubicBezTo>
                <a:cubicBezTo>
                  <a:pt x="232" y="242"/>
                  <a:pt x="242" y="232"/>
                  <a:pt x="242" y="219"/>
                </a:cubicBezTo>
                <a:cubicBezTo>
                  <a:pt x="242" y="216"/>
                  <a:pt x="242" y="216"/>
                  <a:pt x="242" y="216"/>
                </a:cubicBezTo>
                <a:cubicBezTo>
                  <a:pt x="242" y="203"/>
                  <a:pt x="232" y="192"/>
                  <a:pt x="219" y="192"/>
                </a:cubicBezTo>
                <a:close/>
                <a:moveTo>
                  <a:pt x="199" y="170"/>
                </a:moveTo>
                <a:cubicBezTo>
                  <a:pt x="269" y="170"/>
                  <a:pt x="269" y="170"/>
                  <a:pt x="269" y="170"/>
                </a:cubicBezTo>
                <a:cubicBezTo>
                  <a:pt x="282" y="170"/>
                  <a:pt x="293" y="160"/>
                  <a:pt x="293" y="147"/>
                </a:cubicBezTo>
                <a:cubicBezTo>
                  <a:pt x="293" y="24"/>
                  <a:pt x="293" y="24"/>
                  <a:pt x="293" y="24"/>
                </a:cubicBezTo>
                <a:cubicBezTo>
                  <a:pt x="293" y="11"/>
                  <a:pt x="282" y="0"/>
                  <a:pt x="269" y="0"/>
                </a:cubicBezTo>
                <a:cubicBezTo>
                  <a:pt x="199" y="0"/>
                  <a:pt x="199" y="0"/>
                  <a:pt x="199" y="0"/>
                </a:cubicBezTo>
                <a:cubicBezTo>
                  <a:pt x="199" y="16"/>
                  <a:pt x="199" y="16"/>
                  <a:pt x="199" y="16"/>
                </a:cubicBezTo>
                <a:cubicBezTo>
                  <a:pt x="256" y="16"/>
                  <a:pt x="256" y="16"/>
                  <a:pt x="256" y="16"/>
                </a:cubicBezTo>
                <a:cubicBezTo>
                  <a:pt x="267" y="16"/>
                  <a:pt x="275" y="24"/>
                  <a:pt x="275" y="35"/>
                </a:cubicBezTo>
                <a:cubicBezTo>
                  <a:pt x="275" y="135"/>
                  <a:pt x="275" y="135"/>
                  <a:pt x="275" y="135"/>
                </a:cubicBezTo>
                <a:cubicBezTo>
                  <a:pt x="275" y="146"/>
                  <a:pt x="267" y="154"/>
                  <a:pt x="256" y="154"/>
                </a:cubicBezTo>
                <a:cubicBezTo>
                  <a:pt x="199" y="154"/>
                  <a:pt x="199" y="154"/>
                  <a:pt x="199" y="154"/>
                </a:cubicBezTo>
                <a:lnTo>
                  <a:pt x="199" y="170"/>
                </a:lnTo>
                <a:close/>
                <a:moveTo>
                  <a:pt x="199" y="192"/>
                </a:moveTo>
                <a:cubicBezTo>
                  <a:pt x="175" y="192"/>
                  <a:pt x="175" y="192"/>
                  <a:pt x="175" y="192"/>
                </a:cubicBezTo>
                <a:cubicBezTo>
                  <a:pt x="175" y="170"/>
                  <a:pt x="175" y="170"/>
                  <a:pt x="175" y="170"/>
                </a:cubicBezTo>
                <a:cubicBezTo>
                  <a:pt x="199" y="170"/>
                  <a:pt x="199" y="170"/>
                  <a:pt x="199" y="170"/>
                </a:cubicBezTo>
                <a:cubicBezTo>
                  <a:pt x="199" y="154"/>
                  <a:pt x="199" y="154"/>
                  <a:pt x="199" y="154"/>
                </a:cubicBezTo>
                <a:cubicBezTo>
                  <a:pt x="146" y="154"/>
                  <a:pt x="146" y="154"/>
                  <a:pt x="146" y="154"/>
                </a:cubicBezTo>
                <a:cubicBezTo>
                  <a:pt x="146" y="242"/>
                  <a:pt x="146" y="242"/>
                  <a:pt x="146" y="242"/>
                </a:cubicBezTo>
                <a:cubicBezTo>
                  <a:pt x="199" y="242"/>
                  <a:pt x="199" y="242"/>
                  <a:pt x="199" y="242"/>
                </a:cubicBezTo>
                <a:cubicBezTo>
                  <a:pt x="199" y="214"/>
                  <a:pt x="199" y="214"/>
                  <a:pt x="199" y="214"/>
                </a:cubicBezTo>
                <a:cubicBezTo>
                  <a:pt x="179" y="214"/>
                  <a:pt x="179" y="214"/>
                  <a:pt x="179" y="214"/>
                </a:cubicBezTo>
                <a:cubicBezTo>
                  <a:pt x="177" y="214"/>
                  <a:pt x="175" y="212"/>
                  <a:pt x="175" y="209"/>
                </a:cubicBezTo>
                <a:cubicBezTo>
                  <a:pt x="175" y="207"/>
                  <a:pt x="177" y="205"/>
                  <a:pt x="179" y="205"/>
                </a:cubicBezTo>
                <a:cubicBezTo>
                  <a:pt x="199" y="205"/>
                  <a:pt x="199" y="205"/>
                  <a:pt x="199" y="205"/>
                </a:cubicBezTo>
                <a:cubicBezTo>
                  <a:pt x="199" y="192"/>
                  <a:pt x="199" y="192"/>
                  <a:pt x="199" y="192"/>
                </a:cubicBezTo>
                <a:close/>
                <a:moveTo>
                  <a:pt x="199" y="0"/>
                </a:moveTo>
                <a:cubicBezTo>
                  <a:pt x="146" y="0"/>
                  <a:pt x="146" y="0"/>
                  <a:pt x="146" y="0"/>
                </a:cubicBezTo>
                <a:cubicBezTo>
                  <a:pt x="146" y="16"/>
                  <a:pt x="146" y="16"/>
                  <a:pt x="146" y="16"/>
                </a:cubicBezTo>
                <a:cubicBezTo>
                  <a:pt x="199" y="16"/>
                  <a:pt x="199" y="16"/>
                  <a:pt x="199" y="16"/>
                </a:cubicBezTo>
                <a:lnTo>
                  <a:pt x="199" y="0"/>
                </a:lnTo>
                <a:close/>
                <a:moveTo>
                  <a:pt x="146" y="0"/>
                </a:moveTo>
                <a:cubicBezTo>
                  <a:pt x="23" y="0"/>
                  <a:pt x="23" y="0"/>
                  <a:pt x="23" y="0"/>
                </a:cubicBezTo>
                <a:cubicBezTo>
                  <a:pt x="10" y="0"/>
                  <a:pt x="0" y="11"/>
                  <a:pt x="0" y="24"/>
                </a:cubicBezTo>
                <a:cubicBezTo>
                  <a:pt x="0" y="147"/>
                  <a:pt x="0" y="147"/>
                  <a:pt x="0" y="147"/>
                </a:cubicBezTo>
                <a:cubicBezTo>
                  <a:pt x="0" y="160"/>
                  <a:pt x="10" y="170"/>
                  <a:pt x="23" y="170"/>
                </a:cubicBezTo>
                <a:cubicBezTo>
                  <a:pt x="117" y="170"/>
                  <a:pt x="117" y="170"/>
                  <a:pt x="117" y="170"/>
                </a:cubicBezTo>
                <a:cubicBezTo>
                  <a:pt x="117" y="192"/>
                  <a:pt x="117" y="192"/>
                  <a:pt x="117" y="192"/>
                </a:cubicBezTo>
                <a:cubicBezTo>
                  <a:pt x="75" y="192"/>
                  <a:pt x="75" y="192"/>
                  <a:pt x="75" y="192"/>
                </a:cubicBezTo>
                <a:cubicBezTo>
                  <a:pt x="62" y="192"/>
                  <a:pt x="52" y="203"/>
                  <a:pt x="52" y="216"/>
                </a:cubicBezTo>
                <a:cubicBezTo>
                  <a:pt x="52" y="219"/>
                  <a:pt x="52" y="219"/>
                  <a:pt x="52" y="219"/>
                </a:cubicBezTo>
                <a:cubicBezTo>
                  <a:pt x="52" y="232"/>
                  <a:pt x="62" y="242"/>
                  <a:pt x="75" y="242"/>
                </a:cubicBezTo>
                <a:cubicBezTo>
                  <a:pt x="146" y="242"/>
                  <a:pt x="146" y="242"/>
                  <a:pt x="146" y="242"/>
                </a:cubicBezTo>
                <a:cubicBezTo>
                  <a:pt x="146" y="154"/>
                  <a:pt x="146" y="154"/>
                  <a:pt x="146" y="154"/>
                </a:cubicBezTo>
                <a:cubicBezTo>
                  <a:pt x="37" y="154"/>
                  <a:pt x="37" y="154"/>
                  <a:pt x="37" y="154"/>
                </a:cubicBezTo>
                <a:cubicBezTo>
                  <a:pt x="37" y="154"/>
                  <a:pt x="37" y="154"/>
                  <a:pt x="37" y="154"/>
                </a:cubicBezTo>
                <a:cubicBezTo>
                  <a:pt x="26" y="154"/>
                  <a:pt x="17" y="146"/>
                  <a:pt x="17" y="135"/>
                </a:cubicBezTo>
                <a:cubicBezTo>
                  <a:pt x="17" y="35"/>
                  <a:pt x="17" y="35"/>
                  <a:pt x="17" y="35"/>
                </a:cubicBezTo>
                <a:cubicBezTo>
                  <a:pt x="17" y="24"/>
                  <a:pt x="26" y="16"/>
                  <a:pt x="37" y="16"/>
                </a:cubicBezTo>
                <a:cubicBezTo>
                  <a:pt x="146" y="16"/>
                  <a:pt x="146" y="16"/>
                  <a:pt x="146" y="16"/>
                </a:cubicBezTo>
                <a:lnTo>
                  <a:pt x="146"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89" name="Freeform 46"/>
          <p:cNvSpPr>
            <a:spLocks noEditPoints="1"/>
          </p:cNvSpPr>
          <p:nvPr/>
        </p:nvSpPr>
        <p:spPr bwMode="auto">
          <a:xfrm>
            <a:off x="9368628" y="2623529"/>
            <a:ext cx="818830" cy="955675"/>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chemeClr val="accent4"/>
          </a:solidFill>
          <a:ln>
            <a:noFill/>
          </a:ln>
        </p:spPr>
        <p:txBody>
          <a:bodyPr vert="horz" wrap="square" lIns="91440" tIns="45720" rIns="91440" bIns="45720" numCol="1" anchor="t" anchorCtr="0" compatLnSpc="1"/>
          <a:lstStyle/>
          <a:p>
            <a:endParaRPr lang="id-ID"/>
          </a:p>
        </p:txBody>
      </p:sp>
      <p:sp>
        <p:nvSpPr>
          <p:cNvPr id="90" name="Freeform 47"/>
          <p:cNvSpPr>
            <a:spLocks noEditPoints="1"/>
          </p:cNvSpPr>
          <p:nvPr/>
        </p:nvSpPr>
        <p:spPr bwMode="auto">
          <a:xfrm>
            <a:off x="9989098" y="2902929"/>
            <a:ext cx="353875" cy="695325"/>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chemeClr val="accent4"/>
          </a:solidFill>
          <a:ln>
            <a:noFill/>
          </a:ln>
        </p:spPr>
        <p:txBody>
          <a:bodyPr vert="horz" wrap="square" lIns="91440" tIns="45720" rIns="91440" bIns="45720" numCol="1" anchor="t" anchorCtr="0" compatLnSpc="1"/>
          <a:lstStyle/>
          <a:p>
            <a:endParaRPr lang="id-ID"/>
          </a:p>
        </p:txBody>
      </p:sp>
      <p:sp>
        <p:nvSpPr>
          <p:cNvPr id="91" name="Freeform 48"/>
          <p:cNvSpPr>
            <a:spLocks noEditPoints="1"/>
          </p:cNvSpPr>
          <p:nvPr/>
        </p:nvSpPr>
        <p:spPr bwMode="auto">
          <a:xfrm>
            <a:off x="8754504" y="2991828"/>
            <a:ext cx="579212" cy="579438"/>
          </a:xfrm>
          <a:custGeom>
            <a:avLst/>
            <a:gdLst>
              <a:gd name="T0" fmla="*/ 133 w 266"/>
              <a:gd name="T1" fmla="*/ 0 h 266"/>
              <a:gd name="T2" fmla="*/ 133 w 266"/>
              <a:gd name="T3" fmla="*/ 0 h 266"/>
              <a:gd name="T4" fmla="*/ 133 w 266"/>
              <a:gd name="T5" fmla="*/ 35 h 266"/>
              <a:gd name="T6" fmla="*/ 150 w 266"/>
              <a:gd name="T7" fmla="*/ 24 h 266"/>
              <a:gd name="T8" fmla="*/ 242 w 266"/>
              <a:gd name="T9" fmla="*/ 117 h 266"/>
              <a:gd name="T10" fmla="*/ 231 w 266"/>
              <a:gd name="T11" fmla="*/ 133 h 266"/>
              <a:gd name="T12" fmla="*/ 242 w 266"/>
              <a:gd name="T13" fmla="*/ 149 h 266"/>
              <a:gd name="T14" fmla="*/ 150 w 266"/>
              <a:gd name="T15" fmla="*/ 242 h 266"/>
              <a:gd name="T16" fmla="*/ 150 w 266"/>
              <a:gd name="T17" fmla="*/ 242 h 266"/>
              <a:gd name="T18" fmla="*/ 133 w 266"/>
              <a:gd name="T19" fmla="*/ 231 h 266"/>
              <a:gd name="T20" fmla="*/ 133 w 266"/>
              <a:gd name="T21" fmla="*/ 266 h 266"/>
              <a:gd name="T22" fmla="*/ 133 w 266"/>
              <a:gd name="T23" fmla="*/ 266 h 266"/>
              <a:gd name="T24" fmla="*/ 266 w 266"/>
              <a:gd name="T25" fmla="*/ 133 h 266"/>
              <a:gd name="T26" fmla="*/ 133 w 266"/>
              <a:gd name="T27" fmla="*/ 0 h 266"/>
              <a:gd name="T28" fmla="*/ 133 w 266"/>
              <a:gd name="T29" fmla="*/ 0 h 266"/>
              <a:gd name="T30" fmla="*/ 133 w 266"/>
              <a:gd name="T31" fmla="*/ 0 h 266"/>
              <a:gd name="T32" fmla="*/ 0 w 266"/>
              <a:gd name="T33" fmla="*/ 133 h 266"/>
              <a:gd name="T34" fmla="*/ 133 w 266"/>
              <a:gd name="T35" fmla="*/ 266 h 266"/>
              <a:gd name="T36" fmla="*/ 133 w 266"/>
              <a:gd name="T37" fmla="*/ 266 h 266"/>
              <a:gd name="T38" fmla="*/ 133 w 266"/>
              <a:gd name="T39" fmla="*/ 231 h 266"/>
              <a:gd name="T40" fmla="*/ 133 w 266"/>
              <a:gd name="T41" fmla="*/ 231 h 266"/>
              <a:gd name="T42" fmla="*/ 117 w 266"/>
              <a:gd name="T43" fmla="*/ 242 h 266"/>
              <a:gd name="T44" fmla="*/ 24 w 266"/>
              <a:gd name="T45" fmla="*/ 149 h 266"/>
              <a:gd name="T46" fmla="*/ 35 w 266"/>
              <a:gd name="T47" fmla="*/ 133 h 266"/>
              <a:gd name="T48" fmla="*/ 24 w 266"/>
              <a:gd name="T49" fmla="*/ 117 h 266"/>
              <a:gd name="T50" fmla="*/ 117 w 266"/>
              <a:gd name="T51" fmla="*/ 24 h 266"/>
              <a:gd name="T52" fmla="*/ 133 w 266"/>
              <a:gd name="T53" fmla="*/ 35 h 266"/>
              <a:gd name="T54" fmla="*/ 133 w 266"/>
              <a:gd name="T55" fmla="*/ 35 h 266"/>
              <a:gd name="T56" fmla="*/ 133 w 266"/>
              <a:gd name="T5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6" h="266">
                <a:moveTo>
                  <a:pt x="133" y="0"/>
                </a:moveTo>
                <a:cubicBezTo>
                  <a:pt x="133" y="0"/>
                  <a:pt x="133" y="0"/>
                  <a:pt x="133" y="0"/>
                </a:cubicBezTo>
                <a:cubicBezTo>
                  <a:pt x="133" y="35"/>
                  <a:pt x="133" y="35"/>
                  <a:pt x="133" y="35"/>
                </a:cubicBezTo>
                <a:cubicBezTo>
                  <a:pt x="141" y="35"/>
                  <a:pt x="147" y="30"/>
                  <a:pt x="150" y="24"/>
                </a:cubicBezTo>
                <a:cubicBezTo>
                  <a:pt x="197" y="31"/>
                  <a:pt x="235" y="69"/>
                  <a:pt x="242" y="117"/>
                </a:cubicBezTo>
                <a:cubicBezTo>
                  <a:pt x="236" y="119"/>
                  <a:pt x="231" y="125"/>
                  <a:pt x="231" y="133"/>
                </a:cubicBezTo>
                <a:cubicBezTo>
                  <a:pt x="231" y="140"/>
                  <a:pt x="236" y="147"/>
                  <a:pt x="242" y="149"/>
                </a:cubicBezTo>
                <a:cubicBezTo>
                  <a:pt x="235" y="197"/>
                  <a:pt x="197" y="235"/>
                  <a:pt x="150" y="242"/>
                </a:cubicBezTo>
                <a:cubicBezTo>
                  <a:pt x="150" y="242"/>
                  <a:pt x="150" y="242"/>
                  <a:pt x="150" y="242"/>
                </a:cubicBezTo>
                <a:cubicBezTo>
                  <a:pt x="147" y="236"/>
                  <a:pt x="141" y="231"/>
                  <a:pt x="133" y="231"/>
                </a:cubicBezTo>
                <a:cubicBezTo>
                  <a:pt x="133" y="266"/>
                  <a:pt x="133" y="266"/>
                  <a:pt x="133" y="266"/>
                </a:cubicBezTo>
                <a:cubicBezTo>
                  <a:pt x="133" y="266"/>
                  <a:pt x="133" y="266"/>
                  <a:pt x="133" y="266"/>
                </a:cubicBezTo>
                <a:cubicBezTo>
                  <a:pt x="207" y="266"/>
                  <a:pt x="266" y="206"/>
                  <a:pt x="266" y="133"/>
                </a:cubicBezTo>
                <a:cubicBezTo>
                  <a:pt x="266" y="59"/>
                  <a:pt x="207" y="0"/>
                  <a:pt x="133" y="0"/>
                </a:cubicBezTo>
                <a:close/>
                <a:moveTo>
                  <a:pt x="133" y="0"/>
                </a:moveTo>
                <a:cubicBezTo>
                  <a:pt x="133" y="0"/>
                  <a:pt x="133" y="0"/>
                  <a:pt x="133" y="0"/>
                </a:cubicBezTo>
                <a:cubicBezTo>
                  <a:pt x="60" y="0"/>
                  <a:pt x="0" y="59"/>
                  <a:pt x="0" y="133"/>
                </a:cubicBezTo>
                <a:cubicBezTo>
                  <a:pt x="0" y="206"/>
                  <a:pt x="60" y="266"/>
                  <a:pt x="133" y="266"/>
                </a:cubicBezTo>
                <a:cubicBezTo>
                  <a:pt x="133" y="266"/>
                  <a:pt x="133" y="266"/>
                  <a:pt x="133" y="266"/>
                </a:cubicBezTo>
                <a:cubicBezTo>
                  <a:pt x="133" y="231"/>
                  <a:pt x="133" y="231"/>
                  <a:pt x="133" y="231"/>
                </a:cubicBezTo>
                <a:cubicBezTo>
                  <a:pt x="133" y="231"/>
                  <a:pt x="133" y="231"/>
                  <a:pt x="133" y="231"/>
                </a:cubicBezTo>
                <a:cubicBezTo>
                  <a:pt x="126" y="231"/>
                  <a:pt x="120" y="236"/>
                  <a:pt x="117" y="242"/>
                </a:cubicBezTo>
                <a:cubicBezTo>
                  <a:pt x="69" y="235"/>
                  <a:pt x="31" y="197"/>
                  <a:pt x="24" y="149"/>
                </a:cubicBezTo>
                <a:cubicBezTo>
                  <a:pt x="31" y="147"/>
                  <a:pt x="35" y="140"/>
                  <a:pt x="35" y="133"/>
                </a:cubicBezTo>
                <a:cubicBezTo>
                  <a:pt x="35" y="125"/>
                  <a:pt x="31" y="119"/>
                  <a:pt x="24" y="117"/>
                </a:cubicBezTo>
                <a:cubicBezTo>
                  <a:pt x="31" y="69"/>
                  <a:pt x="69" y="31"/>
                  <a:pt x="117" y="24"/>
                </a:cubicBezTo>
                <a:cubicBezTo>
                  <a:pt x="120" y="30"/>
                  <a:pt x="126" y="35"/>
                  <a:pt x="133" y="35"/>
                </a:cubicBezTo>
                <a:cubicBezTo>
                  <a:pt x="133" y="35"/>
                  <a:pt x="133" y="35"/>
                  <a:pt x="133" y="35"/>
                </a:cubicBezTo>
                <a:lnTo>
                  <a:pt x="133"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92" name="Freeform 49"/>
          <p:cNvSpPr/>
          <p:nvPr/>
        </p:nvSpPr>
        <p:spPr bwMode="auto">
          <a:xfrm>
            <a:off x="8860827" y="3175978"/>
            <a:ext cx="288812" cy="152400"/>
          </a:xfrm>
          <a:custGeom>
            <a:avLst/>
            <a:gdLst>
              <a:gd name="T0" fmla="*/ 124 w 133"/>
              <a:gd name="T1" fmla="*/ 0 h 70"/>
              <a:gd name="T2" fmla="*/ 93 w 133"/>
              <a:gd name="T3" fmla="*/ 30 h 70"/>
              <a:gd name="T4" fmla="*/ 84 w 133"/>
              <a:gd name="T5" fmla="*/ 28 h 70"/>
              <a:gd name="T6" fmla="*/ 65 w 133"/>
              <a:gd name="T7" fmla="*/ 42 h 70"/>
              <a:gd name="T8" fmla="*/ 0 w 133"/>
              <a:gd name="T9" fmla="*/ 42 h 70"/>
              <a:gd name="T10" fmla="*/ 0 w 133"/>
              <a:gd name="T11" fmla="*/ 56 h 70"/>
              <a:gd name="T12" fmla="*/ 65 w 133"/>
              <a:gd name="T13" fmla="*/ 56 h 70"/>
              <a:gd name="T14" fmla="*/ 84 w 133"/>
              <a:gd name="T15" fmla="*/ 70 h 70"/>
              <a:gd name="T16" fmla="*/ 105 w 133"/>
              <a:gd name="T17" fmla="*/ 49 h 70"/>
              <a:gd name="T18" fmla="*/ 103 w 133"/>
              <a:gd name="T19" fmla="*/ 40 h 70"/>
              <a:gd name="T20" fmla="*/ 133 w 133"/>
              <a:gd name="T21" fmla="*/ 9 h 70"/>
              <a:gd name="T22" fmla="*/ 124 w 133"/>
              <a:gd name="T23"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70">
                <a:moveTo>
                  <a:pt x="124" y="0"/>
                </a:moveTo>
                <a:cubicBezTo>
                  <a:pt x="93" y="30"/>
                  <a:pt x="93" y="30"/>
                  <a:pt x="93" y="30"/>
                </a:cubicBezTo>
                <a:cubicBezTo>
                  <a:pt x="91" y="29"/>
                  <a:pt x="88" y="28"/>
                  <a:pt x="84" y="28"/>
                </a:cubicBezTo>
                <a:cubicBezTo>
                  <a:pt x="75" y="28"/>
                  <a:pt x="67" y="34"/>
                  <a:pt x="65" y="42"/>
                </a:cubicBezTo>
                <a:cubicBezTo>
                  <a:pt x="0" y="42"/>
                  <a:pt x="0" y="42"/>
                  <a:pt x="0" y="42"/>
                </a:cubicBezTo>
                <a:cubicBezTo>
                  <a:pt x="0" y="56"/>
                  <a:pt x="0" y="56"/>
                  <a:pt x="0" y="56"/>
                </a:cubicBezTo>
                <a:cubicBezTo>
                  <a:pt x="65" y="56"/>
                  <a:pt x="65" y="56"/>
                  <a:pt x="65" y="56"/>
                </a:cubicBezTo>
                <a:cubicBezTo>
                  <a:pt x="67" y="64"/>
                  <a:pt x="75" y="70"/>
                  <a:pt x="84" y="70"/>
                </a:cubicBezTo>
                <a:cubicBezTo>
                  <a:pt x="96" y="70"/>
                  <a:pt x="105" y="60"/>
                  <a:pt x="105" y="49"/>
                </a:cubicBezTo>
                <a:cubicBezTo>
                  <a:pt x="105" y="46"/>
                  <a:pt x="104" y="43"/>
                  <a:pt x="103" y="40"/>
                </a:cubicBezTo>
                <a:cubicBezTo>
                  <a:pt x="133" y="9"/>
                  <a:pt x="133" y="9"/>
                  <a:pt x="133" y="9"/>
                </a:cubicBezTo>
                <a:lnTo>
                  <a:pt x="124"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nvGrpSpPr>
          <p:cNvPr id="93" name="Group 126"/>
          <p:cNvGrpSpPr/>
          <p:nvPr/>
        </p:nvGrpSpPr>
        <p:grpSpPr>
          <a:xfrm>
            <a:off x="8986189" y="3737953"/>
            <a:ext cx="453848" cy="431800"/>
            <a:chOff x="8505825" y="3605213"/>
            <a:chExt cx="454025" cy="431800"/>
          </a:xfrm>
        </p:grpSpPr>
        <p:sp>
          <p:nvSpPr>
            <p:cNvPr id="94" name="Freeform 50"/>
            <p:cNvSpPr/>
            <p:nvPr/>
          </p:nvSpPr>
          <p:spPr bwMode="auto">
            <a:xfrm>
              <a:off x="8505825" y="3694113"/>
              <a:ext cx="454025" cy="342900"/>
            </a:xfrm>
            <a:custGeom>
              <a:avLst/>
              <a:gdLst>
                <a:gd name="T0" fmla="*/ 146 w 208"/>
                <a:gd name="T1" fmla="*/ 0 h 157"/>
                <a:gd name="T2" fmla="*/ 104 w 208"/>
                <a:gd name="T3" fmla="*/ 15 h 157"/>
                <a:gd name="T4" fmla="*/ 62 w 208"/>
                <a:gd name="T5" fmla="*/ 0 h 157"/>
                <a:gd name="T6" fmla="*/ 0 w 208"/>
                <a:gd name="T7" fmla="*/ 60 h 157"/>
                <a:gd name="T8" fmla="*/ 107 w 208"/>
                <a:gd name="T9" fmla="*/ 157 h 157"/>
                <a:gd name="T10" fmla="*/ 208 w 208"/>
                <a:gd name="T11" fmla="*/ 60 h 157"/>
                <a:gd name="T12" fmla="*/ 146 w 208"/>
                <a:gd name="T13" fmla="*/ 0 h 157"/>
              </a:gdLst>
              <a:ahLst/>
              <a:cxnLst>
                <a:cxn ang="0">
                  <a:pos x="T0" y="T1"/>
                </a:cxn>
                <a:cxn ang="0">
                  <a:pos x="T2" y="T3"/>
                </a:cxn>
                <a:cxn ang="0">
                  <a:pos x="T4" y="T5"/>
                </a:cxn>
                <a:cxn ang="0">
                  <a:pos x="T6" y="T7"/>
                </a:cxn>
                <a:cxn ang="0">
                  <a:pos x="T8" y="T9"/>
                </a:cxn>
                <a:cxn ang="0">
                  <a:pos x="T10" y="T11"/>
                </a:cxn>
                <a:cxn ang="0">
                  <a:pos x="T12" y="T13"/>
                </a:cxn>
              </a:cxnLst>
              <a:rect l="0" t="0" r="r" b="b"/>
              <a:pathLst>
                <a:path w="208" h="157">
                  <a:moveTo>
                    <a:pt x="146" y="0"/>
                  </a:moveTo>
                  <a:cubicBezTo>
                    <a:pt x="130" y="0"/>
                    <a:pt x="115" y="6"/>
                    <a:pt x="104" y="15"/>
                  </a:cubicBezTo>
                  <a:cubicBezTo>
                    <a:pt x="93" y="6"/>
                    <a:pt x="78" y="0"/>
                    <a:pt x="62" y="0"/>
                  </a:cubicBezTo>
                  <a:cubicBezTo>
                    <a:pt x="28" y="0"/>
                    <a:pt x="0" y="27"/>
                    <a:pt x="0" y="60"/>
                  </a:cubicBezTo>
                  <a:cubicBezTo>
                    <a:pt x="0" y="98"/>
                    <a:pt x="31" y="157"/>
                    <a:pt x="107" y="157"/>
                  </a:cubicBezTo>
                  <a:cubicBezTo>
                    <a:pt x="185" y="157"/>
                    <a:pt x="208" y="95"/>
                    <a:pt x="208" y="60"/>
                  </a:cubicBezTo>
                  <a:cubicBezTo>
                    <a:pt x="208" y="27"/>
                    <a:pt x="180" y="0"/>
                    <a:pt x="146"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95" name="Freeform 51"/>
            <p:cNvSpPr/>
            <p:nvPr/>
          </p:nvSpPr>
          <p:spPr bwMode="auto">
            <a:xfrm>
              <a:off x="8709025" y="3605213"/>
              <a:ext cx="123825" cy="157163"/>
            </a:xfrm>
            <a:custGeom>
              <a:avLst/>
              <a:gdLst>
                <a:gd name="T0" fmla="*/ 12 w 57"/>
                <a:gd name="T1" fmla="*/ 72 h 72"/>
                <a:gd name="T2" fmla="*/ 27 w 57"/>
                <a:gd name="T3" fmla="*/ 0 h 72"/>
                <a:gd name="T4" fmla="*/ 57 w 57"/>
                <a:gd name="T5" fmla="*/ 6 h 72"/>
                <a:gd name="T6" fmla="*/ 12 w 57"/>
                <a:gd name="T7" fmla="*/ 72 h 72"/>
              </a:gdLst>
              <a:ahLst/>
              <a:cxnLst>
                <a:cxn ang="0">
                  <a:pos x="T0" y="T1"/>
                </a:cxn>
                <a:cxn ang="0">
                  <a:pos x="T2" y="T3"/>
                </a:cxn>
                <a:cxn ang="0">
                  <a:pos x="T4" y="T5"/>
                </a:cxn>
                <a:cxn ang="0">
                  <a:pos x="T6" y="T7"/>
                </a:cxn>
              </a:cxnLst>
              <a:rect l="0" t="0" r="r" b="b"/>
              <a:pathLst>
                <a:path w="57" h="72">
                  <a:moveTo>
                    <a:pt x="12" y="72"/>
                  </a:moveTo>
                  <a:cubicBezTo>
                    <a:pt x="0" y="48"/>
                    <a:pt x="7" y="20"/>
                    <a:pt x="27" y="0"/>
                  </a:cubicBezTo>
                  <a:cubicBezTo>
                    <a:pt x="57" y="6"/>
                    <a:pt x="57" y="6"/>
                    <a:pt x="57" y="6"/>
                  </a:cubicBezTo>
                  <a:cubicBezTo>
                    <a:pt x="29" y="21"/>
                    <a:pt x="12" y="37"/>
                    <a:pt x="12" y="7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sp>
        <p:nvSpPr>
          <p:cNvPr id="96" name="Freeform 52"/>
          <p:cNvSpPr/>
          <p:nvPr/>
        </p:nvSpPr>
        <p:spPr bwMode="auto">
          <a:xfrm>
            <a:off x="7586561" y="1167790"/>
            <a:ext cx="679185" cy="552450"/>
          </a:xfrm>
          <a:custGeom>
            <a:avLst/>
            <a:gdLst>
              <a:gd name="T0" fmla="*/ 312 w 312"/>
              <a:gd name="T1" fmla="*/ 86 h 253"/>
              <a:gd name="T2" fmla="*/ 305 w 312"/>
              <a:gd name="T3" fmla="*/ 75 h 253"/>
              <a:gd name="T4" fmla="*/ 79 w 312"/>
              <a:gd name="T5" fmla="*/ 226 h 253"/>
              <a:gd name="T6" fmla="*/ 28 w 312"/>
              <a:gd name="T7" fmla="*/ 214 h 253"/>
              <a:gd name="T8" fmla="*/ 35 w 312"/>
              <a:gd name="T9" fmla="*/ 162 h 253"/>
              <a:gd name="T10" fmla="*/ 262 w 312"/>
              <a:gd name="T11" fmla="*/ 11 h 253"/>
              <a:gd name="T12" fmla="*/ 254 w 312"/>
              <a:gd name="T13" fmla="*/ 0 h 253"/>
              <a:gd name="T14" fmla="*/ 26 w 312"/>
              <a:gd name="T15" fmla="*/ 153 h 253"/>
              <a:gd name="T16" fmla="*/ 15 w 312"/>
              <a:gd name="T17" fmla="*/ 222 h 253"/>
              <a:gd name="T18" fmla="*/ 83 w 312"/>
              <a:gd name="T19" fmla="*/ 239 h 253"/>
              <a:gd name="T20" fmla="*/ 312 w 312"/>
              <a:gd name="T21" fmla="*/ 8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 h="253">
                <a:moveTo>
                  <a:pt x="312" y="86"/>
                </a:moveTo>
                <a:cubicBezTo>
                  <a:pt x="305" y="75"/>
                  <a:pt x="305" y="75"/>
                  <a:pt x="305" y="75"/>
                </a:cubicBezTo>
                <a:cubicBezTo>
                  <a:pt x="79" y="226"/>
                  <a:pt x="79" y="226"/>
                  <a:pt x="79" y="226"/>
                </a:cubicBezTo>
                <a:cubicBezTo>
                  <a:pt x="63" y="237"/>
                  <a:pt x="40" y="231"/>
                  <a:pt x="28" y="214"/>
                </a:cubicBezTo>
                <a:cubicBezTo>
                  <a:pt x="16" y="196"/>
                  <a:pt x="19" y="173"/>
                  <a:pt x="35" y="162"/>
                </a:cubicBezTo>
                <a:cubicBezTo>
                  <a:pt x="262" y="11"/>
                  <a:pt x="262" y="11"/>
                  <a:pt x="262" y="11"/>
                </a:cubicBezTo>
                <a:cubicBezTo>
                  <a:pt x="254" y="0"/>
                  <a:pt x="254" y="0"/>
                  <a:pt x="254" y="0"/>
                </a:cubicBezTo>
                <a:cubicBezTo>
                  <a:pt x="26" y="153"/>
                  <a:pt x="26" y="153"/>
                  <a:pt x="26" y="153"/>
                </a:cubicBezTo>
                <a:cubicBezTo>
                  <a:pt x="4" y="167"/>
                  <a:pt x="0" y="198"/>
                  <a:pt x="15" y="222"/>
                </a:cubicBezTo>
                <a:cubicBezTo>
                  <a:pt x="31" y="246"/>
                  <a:pt x="62" y="253"/>
                  <a:pt x="83" y="239"/>
                </a:cubicBezTo>
                <a:lnTo>
                  <a:pt x="312" y="8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97" name="Freeform 53"/>
          <p:cNvSpPr/>
          <p:nvPr/>
        </p:nvSpPr>
        <p:spPr bwMode="auto">
          <a:xfrm>
            <a:off x="8102298" y="1137629"/>
            <a:ext cx="187252" cy="257175"/>
          </a:xfrm>
          <a:custGeom>
            <a:avLst/>
            <a:gdLst>
              <a:gd name="T0" fmla="*/ 80 w 86"/>
              <a:gd name="T1" fmla="*/ 115 h 118"/>
              <a:gd name="T2" fmla="*/ 68 w 86"/>
              <a:gd name="T3" fmla="*/ 113 h 118"/>
              <a:gd name="T4" fmla="*/ 3 w 86"/>
              <a:gd name="T5" fmla="*/ 16 h 118"/>
              <a:gd name="T6" fmla="*/ 6 w 86"/>
              <a:gd name="T7" fmla="*/ 3 h 118"/>
              <a:gd name="T8" fmla="*/ 19 w 86"/>
              <a:gd name="T9" fmla="*/ 6 h 118"/>
              <a:gd name="T10" fmla="*/ 83 w 86"/>
              <a:gd name="T11" fmla="*/ 102 h 118"/>
              <a:gd name="T12" fmla="*/ 80 w 86"/>
              <a:gd name="T13" fmla="*/ 115 h 118"/>
            </a:gdLst>
            <a:ahLst/>
            <a:cxnLst>
              <a:cxn ang="0">
                <a:pos x="T0" y="T1"/>
              </a:cxn>
              <a:cxn ang="0">
                <a:pos x="T2" y="T3"/>
              </a:cxn>
              <a:cxn ang="0">
                <a:pos x="T4" y="T5"/>
              </a:cxn>
              <a:cxn ang="0">
                <a:pos x="T6" y="T7"/>
              </a:cxn>
              <a:cxn ang="0">
                <a:pos x="T8" y="T9"/>
              </a:cxn>
              <a:cxn ang="0">
                <a:pos x="T10" y="T11"/>
              </a:cxn>
              <a:cxn ang="0">
                <a:pos x="T12" y="T13"/>
              </a:cxn>
            </a:cxnLst>
            <a:rect l="0" t="0" r="r" b="b"/>
            <a:pathLst>
              <a:path w="86" h="118">
                <a:moveTo>
                  <a:pt x="80" y="115"/>
                </a:moveTo>
                <a:cubicBezTo>
                  <a:pt x="76" y="118"/>
                  <a:pt x="70" y="117"/>
                  <a:pt x="68" y="113"/>
                </a:cubicBezTo>
                <a:cubicBezTo>
                  <a:pt x="3" y="16"/>
                  <a:pt x="3" y="16"/>
                  <a:pt x="3" y="16"/>
                </a:cubicBezTo>
                <a:cubicBezTo>
                  <a:pt x="0" y="12"/>
                  <a:pt x="1" y="6"/>
                  <a:pt x="6" y="3"/>
                </a:cubicBezTo>
                <a:cubicBezTo>
                  <a:pt x="10" y="0"/>
                  <a:pt x="16" y="2"/>
                  <a:pt x="19" y="6"/>
                </a:cubicBezTo>
                <a:cubicBezTo>
                  <a:pt x="83" y="102"/>
                  <a:pt x="83" y="102"/>
                  <a:pt x="83" y="102"/>
                </a:cubicBezTo>
                <a:cubicBezTo>
                  <a:pt x="86" y="107"/>
                  <a:pt x="85" y="112"/>
                  <a:pt x="80" y="11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98" name="Freeform 54"/>
          <p:cNvSpPr/>
          <p:nvPr/>
        </p:nvSpPr>
        <p:spPr bwMode="auto">
          <a:xfrm>
            <a:off x="7675426" y="1313840"/>
            <a:ext cx="514149" cy="336550"/>
          </a:xfrm>
          <a:custGeom>
            <a:avLst/>
            <a:gdLst>
              <a:gd name="T0" fmla="*/ 236 w 236"/>
              <a:gd name="T1" fmla="*/ 13 h 154"/>
              <a:gd name="T2" fmla="*/ 227 w 236"/>
              <a:gd name="T3" fmla="*/ 0 h 154"/>
              <a:gd name="T4" fmla="*/ 25 w 236"/>
              <a:gd name="T5" fmla="*/ 135 h 154"/>
              <a:gd name="T6" fmla="*/ 0 w 236"/>
              <a:gd name="T7" fmla="*/ 136 h 154"/>
              <a:gd name="T8" fmla="*/ 1 w 236"/>
              <a:gd name="T9" fmla="*/ 138 h 154"/>
              <a:gd name="T10" fmla="*/ 36 w 236"/>
              <a:gd name="T11" fmla="*/ 146 h 154"/>
              <a:gd name="T12" fmla="*/ 236 w 236"/>
              <a:gd name="T13" fmla="*/ 13 h 154"/>
            </a:gdLst>
            <a:ahLst/>
            <a:cxnLst>
              <a:cxn ang="0">
                <a:pos x="T0" y="T1"/>
              </a:cxn>
              <a:cxn ang="0">
                <a:pos x="T2" y="T3"/>
              </a:cxn>
              <a:cxn ang="0">
                <a:pos x="T4" y="T5"/>
              </a:cxn>
              <a:cxn ang="0">
                <a:pos x="T6" y="T7"/>
              </a:cxn>
              <a:cxn ang="0">
                <a:pos x="T8" y="T9"/>
              </a:cxn>
              <a:cxn ang="0">
                <a:pos x="T10" y="T11"/>
              </a:cxn>
              <a:cxn ang="0">
                <a:pos x="T12" y="T13"/>
              </a:cxn>
            </a:cxnLst>
            <a:rect l="0" t="0" r="r" b="b"/>
            <a:pathLst>
              <a:path w="236" h="154">
                <a:moveTo>
                  <a:pt x="236" y="13"/>
                </a:moveTo>
                <a:cubicBezTo>
                  <a:pt x="227" y="0"/>
                  <a:pt x="227" y="0"/>
                  <a:pt x="227" y="0"/>
                </a:cubicBezTo>
                <a:cubicBezTo>
                  <a:pt x="25" y="135"/>
                  <a:pt x="25" y="135"/>
                  <a:pt x="25" y="135"/>
                </a:cubicBezTo>
                <a:cubicBezTo>
                  <a:pt x="17" y="140"/>
                  <a:pt x="8" y="140"/>
                  <a:pt x="0" y="136"/>
                </a:cubicBezTo>
                <a:cubicBezTo>
                  <a:pt x="0" y="137"/>
                  <a:pt x="0" y="137"/>
                  <a:pt x="1" y="138"/>
                </a:cubicBezTo>
                <a:cubicBezTo>
                  <a:pt x="9" y="150"/>
                  <a:pt x="25" y="154"/>
                  <a:pt x="36" y="146"/>
                </a:cubicBezTo>
                <a:lnTo>
                  <a:pt x="236" y="1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99" name="Freeform 55"/>
          <p:cNvSpPr>
            <a:spLocks noEditPoints="1"/>
          </p:cNvSpPr>
          <p:nvPr/>
        </p:nvSpPr>
        <p:spPr bwMode="auto">
          <a:xfrm>
            <a:off x="7256490" y="1609115"/>
            <a:ext cx="296747" cy="520700"/>
          </a:xfrm>
          <a:custGeom>
            <a:avLst/>
            <a:gdLst>
              <a:gd name="T0" fmla="*/ 59 w 136"/>
              <a:gd name="T1" fmla="*/ 203 h 239"/>
              <a:gd name="T2" fmla="*/ 54 w 136"/>
              <a:gd name="T3" fmla="*/ 203 h 239"/>
              <a:gd name="T4" fmla="*/ 54 w 136"/>
              <a:gd name="T5" fmla="*/ 239 h 239"/>
              <a:gd name="T6" fmla="*/ 72 w 136"/>
              <a:gd name="T7" fmla="*/ 226 h 239"/>
              <a:gd name="T8" fmla="*/ 59 w 136"/>
              <a:gd name="T9" fmla="*/ 203 h 239"/>
              <a:gd name="T10" fmla="*/ 54 w 136"/>
              <a:gd name="T11" fmla="*/ 187 h 239"/>
              <a:gd name="T12" fmla="*/ 54 w 136"/>
              <a:gd name="T13" fmla="*/ 82 h 239"/>
              <a:gd name="T14" fmla="*/ 81 w 136"/>
              <a:gd name="T15" fmla="*/ 74 h 239"/>
              <a:gd name="T16" fmla="*/ 97 w 136"/>
              <a:gd name="T17" fmla="*/ 13 h 239"/>
              <a:gd name="T18" fmla="*/ 114 w 136"/>
              <a:gd name="T19" fmla="*/ 2 h 239"/>
              <a:gd name="T20" fmla="*/ 124 w 136"/>
              <a:gd name="T21" fmla="*/ 20 h 239"/>
              <a:gd name="T22" fmla="*/ 109 w 136"/>
              <a:gd name="T23" fmla="*/ 81 h 239"/>
              <a:gd name="T24" fmla="*/ 130 w 136"/>
              <a:gd name="T25" fmla="*/ 134 h 239"/>
              <a:gd name="T26" fmla="*/ 122 w 136"/>
              <a:gd name="T27" fmla="*/ 164 h 239"/>
              <a:gd name="T28" fmla="*/ 122 w 136"/>
              <a:gd name="T29" fmla="*/ 164 h 239"/>
              <a:gd name="T30" fmla="*/ 136 w 136"/>
              <a:gd name="T31" fmla="*/ 187 h 239"/>
              <a:gd name="T32" fmla="*/ 131 w 136"/>
              <a:gd name="T33" fmla="*/ 207 h 239"/>
              <a:gd name="T34" fmla="*/ 54 w 136"/>
              <a:gd name="T35" fmla="*/ 187 h 239"/>
              <a:gd name="T36" fmla="*/ 54 w 136"/>
              <a:gd name="T37" fmla="*/ 203 h 239"/>
              <a:gd name="T38" fmla="*/ 36 w 136"/>
              <a:gd name="T39" fmla="*/ 216 h 239"/>
              <a:gd name="T40" fmla="*/ 50 w 136"/>
              <a:gd name="T41" fmla="*/ 239 h 239"/>
              <a:gd name="T42" fmla="*/ 54 w 136"/>
              <a:gd name="T43" fmla="*/ 239 h 239"/>
              <a:gd name="T44" fmla="*/ 54 w 136"/>
              <a:gd name="T45" fmla="*/ 203 h 239"/>
              <a:gd name="T46" fmla="*/ 54 w 136"/>
              <a:gd name="T47" fmla="*/ 82 h 239"/>
              <a:gd name="T48" fmla="*/ 54 w 136"/>
              <a:gd name="T49" fmla="*/ 187 h 239"/>
              <a:gd name="T50" fmla="*/ 0 w 136"/>
              <a:gd name="T51" fmla="*/ 173 h 239"/>
              <a:gd name="T52" fmla="*/ 5 w 136"/>
              <a:gd name="T53" fmla="*/ 152 h 239"/>
              <a:gd name="T54" fmla="*/ 29 w 136"/>
              <a:gd name="T55" fmla="*/ 140 h 239"/>
              <a:gd name="T56" fmla="*/ 37 w 136"/>
              <a:gd name="T57" fmla="*/ 109 h 239"/>
              <a:gd name="T58" fmla="*/ 54 w 136"/>
              <a:gd name="T59" fmla="*/ 8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6" h="239">
                <a:moveTo>
                  <a:pt x="59" y="203"/>
                </a:moveTo>
                <a:cubicBezTo>
                  <a:pt x="57" y="203"/>
                  <a:pt x="56" y="203"/>
                  <a:pt x="54" y="203"/>
                </a:cubicBezTo>
                <a:cubicBezTo>
                  <a:pt x="54" y="239"/>
                  <a:pt x="54" y="239"/>
                  <a:pt x="54" y="239"/>
                </a:cubicBezTo>
                <a:cubicBezTo>
                  <a:pt x="62" y="239"/>
                  <a:pt x="70" y="234"/>
                  <a:pt x="72" y="226"/>
                </a:cubicBezTo>
                <a:cubicBezTo>
                  <a:pt x="74" y="216"/>
                  <a:pt x="69" y="206"/>
                  <a:pt x="59" y="203"/>
                </a:cubicBezTo>
                <a:close/>
                <a:moveTo>
                  <a:pt x="54" y="187"/>
                </a:moveTo>
                <a:cubicBezTo>
                  <a:pt x="54" y="82"/>
                  <a:pt x="54" y="82"/>
                  <a:pt x="54" y="82"/>
                </a:cubicBezTo>
                <a:cubicBezTo>
                  <a:pt x="62" y="76"/>
                  <a:pt x="71" y="74"/>
                  <a:pt x="81" y="74"/>
                </a:cubicBezTo>
                <a:cubicBezTo>
                  <a:pt x="97" y="13"/>
                  <a:pt x="97" y="13"/>
                  <a:pt x="97" y="13"/>
                </a:cubicBezTo>
                <a:cubicBezTo>
                  <a:pt x="99" y="5"/>
                  <a:pt x="107" y="0"/>
                  <a:pt x="114" y="2"/>
                </a:cubicBezTo>
                <a:cubicBezTo>
                  <a:pt x="122" y="4"/>
                  <a:pt x="126" y="12"/>
                  <a:pt x="124" y="20"/>
                </a:cubicBezTo>
                <a:cubicBezTo>
                  <a:pt x="109" y="81"/>
                  <a:pt x="109" y="81"/>
                  <a:pt x="109" y="81"/>
                </a:cubicBezTo>
                <a:cubicBezTo>
                  <a:pt x="125" y="90"/>
                  <a:pt x="136" y="109"/>
                  <a:pt x="130" y="134"/>
                </a:cubicBezTo>
                <a:cubicBezTo>
                  <a:pt x="130" y="134"/>
                  <a:pt x="125" y="154"/>
                  <a:pt x="122" y="164"/>
                </a:cubicBezTo>
                <a:cubicBezTo>
                  <a:pt x="122" y="164"/>
                  <a:pt x="122" y="164"/>
                  <a:pt x="122" y="164"/>
                </a:cubicBezTo>
                <a:cubicBezTo>
                  <a:pt x="118" y="178"/>
                  <a:pt x="136" y="187"/>
                  <a:pt x="136" y="187"/>
                </a:cubicBezTo>
                <a:cubicBezTo>
                  <a:pt x="131" y="207"/>
                  <a:pt x="131" y="207"/>
                  <a:pt x="131" y="207"/>
                </a:cubicBezTo>
                <a:lnTo>
                  <a:pt x="54" y="187"/>
                </a:lnTo>
                <a:close/>
                <a:moveTo>
                  <a:pt x="54" y="203"/>
                </a:moveTo>
                <a:cubicBezTo>
                  <a:pt x="46" y="203"/>
                  <a:pt x="38" y="208"/>
                  <a:pt x="36" y="216"/>
                </a:cubicBezTo>
                <a:cubicBezTo>
                  <a:pt x="34" y="226"/>
                  <a:pt x="40" y="236"/>
                  <a:pt x="50" y="239"/>
                </a:cubicBezTo>
                <a:cubicBezTo>
                  <a:pt x="51" y="239"/>
                  <a:pt x="53" y="239"/>
                  <a:pt x="54" y="239"/>
                </a:cubicBezTo>
                <a:cubicBezTo>
                  <a:pt x="54" y="203"/>
                  <a:pt x="54" y="203"/>
                  <a:pt x="54" y="203"/>
                </a:cubicBezTo>
                <a:close/>
                <a:moveTo>
                  <a:pt x="54" y="82"/>
                </a:moveTo>
                <a:cubicBezTo>
                  <a:pt x="54" y="187"/>
                  <a:pt x="54" y="187"/>
                  <a:pt x="54" y="187"/>
                </a:cubicBezTo>
                <a:cubicBezTo>
                  <a:pt x="0" y="173"/>
                  <a:pt x="0" y="173"/>
                  <a:pt x="0" y="173"/>
                </a:cubicBezTo>
                <a:cubicBezTo>
                  <a:pt x="5" y="152"/>
                  <a:pt x="5" y="152"/>
                  <a:pt x="5" y="152"/>
                </a:cubicBezTo>
                <a:cubicBezTo>
                  <a:pt x="5" y="152"/>
                  <a:pt x="25" y="154"/>
                  <a:pt x="29" y="140"/>
                </a:cubicBezTo>
                <a:cubicBezTo>
                  <a:pt x="32" y="128"/>
                  <a:pt x="37" y="109"/>
                  <a:pt x="37" y="109"/>
                </a:cubicBezTo>
                <a:cubicBezTo>
                  <a:pt x="40" y="97"/>
                  <a:pt x="46" y="88"/>
                  <a:pt x="54" y="82"/>
                </a:cubicBezTo>
                <a:close/>
              </a:path>
            </a:pathLst>
          </a:custGeom>
          <a:solidFill>
            <a:schemeClr val="accent4"/>
          </a:solidFill>
          <a:ln>
            <a:noFill/>
          </a:ln>
        </p:spPr>
        <p:txBody>
          <a:bodyPr vert="horz" wrap="square" lIns="91440" tIns="45720" rIns="91440" bIns="45720" numCol="1" anchor="t" anchorCtr="0" compatLnSpc="1"/>
          <a:lstStyle/>
          <a:p>
            <a:endParaRPr lang="id-ID"/>
          </a:p>
        </p:txBody>
      </p:sp>
      <p:sp>
        <p:nvSpPr>
          <p:cNvPr id="100" name="Freeform 56"/>
          <p:cNvSpPr>
            <a:spLocks noEditPoints="1"/>
          </p:cNvSpPr>
          <p:nvPr/>
        </p:nvSpPr>
        <p:spPr bwMode="auto">
          <a:xfrm>
            <a:off x="6986721" y="2699728"/>
            <a:ext cx="555408" cy="604838"/>
          </a:xfrm>
          <a:custGeom>
            <a:avLst/>
            <a:gdLst>
              <a:gd name="T0" fmla="*/ 198 w 255"/>
              <a:gd name="T1" fmla="*/ 128 h 277"/>
              <a:gd name="T2" fmla="*/ 191 w 255"/>
              <a:gd name="T3" fmla="*/ 158 h 277"/>
              <a:gd name="T4" fmla="*/ 191 w 255"/>
              <a:gd name="T5" fmla="*/ 185 h 277"/>
              <a:gd name="T6" fmla="*/ 196 w 255"/>
              <a:gd name="T7" fmla="*/ 187 h 277"/>
              <a:gd name="T8" fmla="*/ 218 w 255"/>
              <a:gd name="T9" fmla="*/ 218 h 277"/>
              <a:gd name="T10" fmla="*/ 191 w 255"/>
              <a:gd name="T11" fmla="*/ 201 h 277"/>
              <a:gd name="T12" fmla="*/ 191 w 255"/>
              <a:gd name="T13" fmla="*/ 55 h 277"/>
              <a:gd name="T14" fmla="*/ 218 w 255"/>
              <a:gd name="T15" fmla="*/ 38 h 277"/>
              <a:gd name="T16" fmla="*/ 196 w 255"/>
              <a:gd name="T17" fmla="*/ 69 h 277"/>
              <a:gd name="T18" fmla="*/ 191 w 255"/>
              <a:gd name="T19" fmla="*/ 71 h 277"/>
              <a:gd name="T20" fmla="*/ 249 w 255"/>
              <a:gd name="T21" fmla="*/ 121 h 277"/>
              <a:gd name="T22" fmla="*/ 211 w 255"/>
              <a:gd name="T23" fmla="*/ 128 h 277"/>
              <a:gd name="T24" fmla="*/ 249 w 255"/>
              <a:gd name="T25" fmla="*/ 134 h 277"/>
              <a:gd name="T26" fmla="*/ 249 w 255"/>
              <a:gd name="T27" fmla="*/ 121 h 277"/>
              <a:gd name="T28" fmla="*/ 132 w 255"/>
              <a:gd name="T29" fmla="*/ 277 h 277"/>
              <a:gd name="T30" fmla="*/ 167 w 255"/>
              <a:gd name="T31" fmla="*/ 186 h 277"/>
              <a:gd name="T32" fmla="*/ 191 w 255"/>
              <a:gd name="T33" fmla="*/ 98 h 277"/>
              <a:gd name="T34" fmla="*/ 127 w 255"/>
              <a:gd name="T35" fmla="*/ 72 h 277"/>
              <a:gd name="T36" fmla="*/ 183 w 255"/>
              <a:gd name="T37" fmla="*/ 128 h 277"/>
              <a:gd name="T38" fmla="*/ 156 w 255"/>
              <a:gd name="T39" fmla="*/ 176 h 277"/>
              <a:gd name="T40" fmla="*/ 153 w 255"/>
              <a:gd name="T41" fmla="*/ 214 h 277"/>
              <a:gd name="T42" fmla="*/ 127 w 255"/>
              <a:gd name="T43" fmla="*/ 277 h 277"/>
              <a:gd name="T44" fmla="*/ 191 w 255"/>
              <a:gd name="T45" fmla="*/ 71 h 277"/>
              <a:gd name="T46" fmla="*/ 186 w 255"/>
              <a:gd name="T47" fmla="*/ 60 h 277"/>
              <a:gd name="T48" fmla="*/ 191 w 255"/>
              <a:gd name="T49" fmla="*/ 185 h 277"/>
              <a:gd name="T50" fmla="*/ 186 w 255"/>
              <a:gd name="T51" fmla="*/ 196 h 277"/>
              <a:gd name="T52" fmla="*/ 191 w 255"/>
              <a:gd name="T53" fmla="*/ 185 h 277"/>
              <a:gd name="T54" fmla="*/ 127 w 255"/>
              <a:gd name="T55" fmla="*/ 0 h 277"/>
              <a:gd name="T56" fmla="*/ 134 w 255"/>
              <a:gd name="T57" fmla="*/ 7 h 277"/>
              <a:gd name="T58" fmla="*/ 128 w 255"/>
              <a:gd name="T59" fmla="*/ 45 h 277"/>
              <a:gd name="T60" fmla="*/ 127 w 255"/>
              <a:gd name="T61" fmla="*/ 45 h 277"/>
              <a:gd name="T62" fmla="*/ 64 w 255"/>
              <a:gd name="T63" fmla="*/ 97 h 277"/>
              <a:gd name="T64" fmla="*/ 89 w 255"/>
              <a:gd name="T65" fmla="*/ 187 h 277"/>
              <a:gd name="T66" fmla="*/ 124 w 255"/>
              <a:gd name="T67" fmla="*/ 277 h 277"/>
              <a:gd name="T68" fmla="*/ 127 w 255"/>
              <a:gd name="T69" fmla="*/ 214 h 277"/>
              <a:gd name="T70" fmla="*/ 103 w 255"/>
              <a:gd name="T71" fmla="*/ 183 h 277"/>
              <a:gd name="T72" fmla="*/ 71 w 255"/>
              <a:gd name="T73" fmla="*/ 128 h 277"/>
              <a:gd name="T74" fmla="*/ 127 w 255"/>
              <a:gd name="T75" fmla="*/ 72 h 277"/>
              <a:gd name="T76" fmla="*/ 127 w 255"/>
              <a:gd name="T77" fmla="*/ 57 h 277"/>
              <a:gd name="T78" fmla="*/ 127 w 255"/>
              <a:gd name="T79" fmla="*/ 0 h 277"/>
              <a:gd name="T80" fmla="*/ 121 w 255"/>
              <a:gd name="T81" fmla="*/ 38 h 277"/>
              <a:gd name="T82" fmla="*/ 127 w 255"/>
              <a:gd name="T83" fmla="*/ 0 h 277"/>
              <a:gd name="T84" fmla="*/ 64 w 255"/>
              <a:gd name="T85" fmla="*/ 185 h 277"/>
              <a:gd name="T86" fmla="*/ 69 w 255"/>
              <a:gd name="T87" fmla="*/ 196 h 277"/>
              <a:gd name="T88" fmla="*/ 64 w 255"/>
              <a:gd name="T89" fmla="*/ 71 h 277"/>
              <a:gd name="T90" fmla="*/ 69 w 255"/>
              <a:gd name="T91" fmla="*/ 60 h 277"/>
              <a:gd name="T92" fmla="*/ 64 w 255"/>
              <a:gd name="T93" fmla="*/ 71 h 277"/>
              <a:gd name="T94" fmla="*/ 57 w 255"/>
              <a:gd name="T95" fmla="*/ 128 h 277"/>
              <a:gd name="T96" fmla="*/ 64 w 255"/>
              <a:gd name="T97" fmla="*/ 97 h 277"/>
              <a:gd name="T98" fmla="*/ 64 w 255"/>
              <a:gd name="T99" fmla="*/ 71 h 277"/>
              <a:gd name="T100" fmla="*/ 60 w 255"/>
              <a:gd name="T101" fmla="*/ 69 h 277"/>
              <a:gd name="T102" fmla="*/ 38 w 255"/>
              <a:gd name="T103" fmla="*/ 38 h 277"/>
              <a:gd name="T104" fmla="*/ 64 w 255"/>
              <a:gd name="T105" fmla="*/ 55 h 277"/>
              <a:gd name="T106" fmla="*/ 64 w 255"/>
              <a:gd name="T107" fmla="*/ 201 h 277"/>
              <a:gd name="T108" fmla="*/ 38 w 255"/>
              <a:gd name="T109" fmla="*/ 218 h 277"/>
              <a:gd name="T110" fmla="*/ 60 w 255"/>
              <a:gd name="T111" fmla="*/ 187 h 277"/>
              <a:gd name="T112" fmla="*/ 64 w 255"/>
              <a:gd name="T113" fmla="*/ 185 h 277"/>
              <a:gd name="T114" fmla="*/ 45 w 255"/>
              <a:gd name="T115" fmla="*/ 128 h 277"/>
              <a:gd name="T116" fmla="*/ 7 w 255"/>
              <a:gd name="T117" fmla="*/ 121 h 277"/>
              <a:gd name="T118" fmla="*/ 7 w 255"/>
              <a:gd name="T119" fmla="*/ 134 h 277"/>
              <a:gd name="T120" fmla="*/ 45 w 255"/>
              <a:gd name="T121" fmla="*/ 128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5" h="277">
                <a:moveTo>
                  <a:pt x="191" y="158"/>
                </a:moveTo>
                <a:cubicBezTo>
                  <a:pt x="195" y="149"/>
                  <a:pt x="198" y="139"/>
                  <a:pt x="198" y="128"/>
                </a:cubicBezTo>
                <a:cubicBezTo>
                  <a:pt x="198" y="117"/>
                  <a:pt x="195" y="107"/>
                  <a:pt x="191" y="98"/>
                </a:cubicBezTo>
                <a:cubicBezTo>
                  <a:pt x="191" y="158"/>
                  <a:pt x="191" y="158"/>
                  <a:pt x="191" y="158"/>
                </a:cubicBezTo>
                <a:close/>
                <a:moveTo>
                  <a:pt x="191" y="201"/>
                </a:moveTo>
                <a:cubicBezTo>
                  <a:pt x="191" y="185"/>
                  <a:pt x="191" y="185"/>
                  <a:pt x="191" y="185"/>
                </a:cubicBezTo>
                <a:cubicBezTo>
                  <a:pt x="193" y="185"/>
                  <a:pt x="194" y="185"/>
                  <a:pt x="196" y="187"/>
                </a:cubicBezTo>
                <a:cubicBezTo>
                  <a:pt x="196" y="187"/>
                  <a:pt x="196" y="187"/>
                  <a:pt x="196" y="187"/>
                </a:cubicBezTo>
                <a:cubicBezTo>
                  <a:pt x="218" y="209"/>
                  <a:pt x="218" y="209"/>
                  <a:pt x="218" y="209"/>
                </a:cubicBezTo>
                <a:cubicBezTo>
                  <a:pt x="220" y="211"/>
                  <a:pt x="220" y="216"/>
                  <a:pt x="218" y="218"/>
                </a:cubicBezTo>
                <a:cubicBezTo>
                  <a:pt x="215" y="221"/>
                  <a:pt x="211" y="221"/>
                  <a:pt x="209" y="218"/>
                </a:cubicBezTo>
                <a:cubicBezTo>
                  <a:pt x="191" y="201"/>
                  <a:pt x="191" y="201"/>
                  <a:pt x="191" y="201"/>
                </a:cubicBezTo>
                <a:close/>
                <a:moveTo>
                  <a:pt x="191" y="71"/>
                </a:moveTo>
                <a:cubicBezTo>
                  <a:pt x="191" y="55"/>
                  <a:pt x="191" y="55"/>
                  <a:pt x="191" y="55"/>
                </a:cubicBezTo>
                <a:cubicBezTo>
                  <a:pt x="209" y="38"/>
                  <a:pt x="209" y="38"/>
                  <a:pt x="209" y="38"/>
                </a:cubicBezTo>
                <a:cubicBezTo>
                  <a:pt x="211" y="35"/>
                  <a:pt x="215" y="35"/>
                  <a:pt x="218" y="38"/>
                </a:cubicBezTo>
                <a:cubicBezTo>
                  <a:pt x="220" y="40"/>
                  <a:pt x="220" y="44"/>
                  <a:pt x="218" y="47"/>
                </a:cubicBezTo>
                <a:cubicBezTo>
                  <a:pt x="196" y="69"/>
                  <a:pt x="196" y="69"/>
                  <a:pt x="196" y="69"/>
                </a:cubicBezTo>
                <a:cubicBezTo>
                  <a:pt x="196" y="69"/>
                  <a:pt x="196" y="69"/>
                  <a:pt x="196" y="69"/>
                </a:cubicBezTo>
                <a:cubicBezTo>
                  <a:pt x="194" y="71"/>
                  <a:pt x="193" y="71"/>
                  <a:pt x="191" y="71"/>
                </a:cubicBezTo>
                <a:close/>
                <a:moveTo>
                  <a:pt x="249" y="121"/>
                </a:moveTo>
                <a:cubicBezTo>
                  <a:pt x="249" y="121"/>
                  <a:pt x="249" y="121"/>
                  <a:pt x="249" y="121"/>
                </a:cubicBezTo>
                <a:cubicBezTo>
                  <a:pt x="217" y="121"/>
                  <a:pt x="217" y="121"/>
                  <a:pt x="217" y="121"/>
                </a:cubicBezTo>
                <a:cubicBezTo>
                  <a:pt x="214" y="121"/>
                  <a:pt x="211" y="124"/>
                  <a:pt x="211" y="128"/>
                </a:cubicBezTo>
                <a:cubicBezTo>
                  <a:pt x="211" y="132"/>
                  <a:pt x="214" y="134"/>
                  <a:pt x="217" y="134"/>
                </a:cubicBezTo>
                <a:cubicBezTo>
                  <a:pt x="249" y="134"/>
                  <a:pt x="249" y="134"/>
                  <a:pt x="249" y="134"/>
                </a:cubicBezTo>
                <a:cubicBezTo>
                  <a:pt x="252" y="134"/>
                  <a:pt x="255" y="132"/>
                  <a:pt x="255" y="128"/>
                </a:cubicBezTo>
                <a:cubicBezTo>
                  <a:pt x="255" y="124"/>
                  <a:pt x="252" y="121"/>
                  <a:pt x="249" y="121"/>
                </a:cubicBezTo>
                <a:close/>
                <a:moveTo>
                  <a:pt x="127" y="277"/>
                </a:moveTo>
                <a:cubicBezTo>
                  <a:pt x="132" y="277"/>
                  <a:pt x="132" y="277"/>
                  <a:pt x="132" y="277"/>
                </a:cubicBezTo>
                <a:cubicBezTo>
                  <a:pt x="151" y="277"/>
                  <a:pt x="167" y="262"/>
                  <a:pt x="167" y="242"/>
                </a:cubicBezTo>
                <a:cubicBezTo>
                  <a:pt x="167" y="186"/>
                  <a:pt x="167" y="186"/>
                  <a:pt x="167" y="186"/>
                </a:cubicBezTo>
                <a:cubicBezTo>
                  <a:pt x="177" y="179"/>
                  <a:pt x="186" y="169"/>
                  <a:pt x="191" y="158"/>
                </a:cubicBezTo>
                <a:cubicBezTo>
                  <a:pt x="191" y="98"/>
                  <a:pt x="191" y="98"/>
                  <a:pt x="191" y="98"/>
                </a:cubicBezTo>
                <a:cubicBezTo>
                  <a:pt x="180" y="74"/>
                  <a:pt x="156" y="57"/>
                  <a:pt x="127" y="57"/>
                </a:cubicBezTo>
                <a:cubicBezTo>
                  <a:pt x="127" y="72"/>
                  <a:pt x="127" y="72"/>
                  <a:pt x="127" y="72"/>
                </a:cubicBezTo>
                <a:cubicBezTo>
                  <a:pt x="143" y="72"/>
                  <a:pt x="157" y="78"/>
                  <a:pt x="167" y="88"/>
                </a:cubicBezTo>
                <a:cubicBezTo>
                  <a:pt x="177" y="98"/>
                  <a:pt x="183" y="112"/>
                  <a:pt x="183" y="128"/>
                </a:cubicBezTo>
                <a:cubicBezTo>
                  <a:pt x="183" y="148"/>
                  <a:pt x="172" y="166"/>
                  <a:pt x="156" y="176"/>
                </a:cubicBezTo>
                <a:cubicBezTo>
                  <a:pt x="156" y="176"/>
                  <a:pt x="156" y="176"/>
                  <a:pt x="156" y="176"/>
                </a:cubicBezTo>
                <a:cubicBezTo>
                  <a:pt x="154" y="177"/>
                  <a:pt x="153" y="180"/>
                  <a:pt x="153" y="182"/>
                </a:cubicBezTo>
                <a:cubicBezTo>
                  <a:pt x="153" y="214"/>
                  <a:pt x="153" y="214"/>
                  <a:pt x="153" y="214"/>
                </a:cubicBezTo>
                <a:cubicBezTo>
                  <a:pt x="127" y="214"/>
                  <a:pt x="127" y="214"/>
                  <a:pt x="127" y="214"/>
                </a:cubicBezTo>
                <a:cubicBezTo>
                  <a:pt x="127" y="277"/>
                  <a:pt x="127" y="277"/>
                  <a:pt x="127" y="277"/>
                </a:cubicBezTo>
                <a:close/>
                <a:moveTo>
                  <a:pt x="191" y="55"/>
                </a:moveTo>
                <a:cubicBezTo>
                  <a:pt x="191" y="71"/>
                  <a:pt x="191" y="71"/>
                  <a:pt x="191" y="71"/>
                </a:cubicBezTo>
                <a:cubicBezTo>
                  <a:pt x="189" y="71"/>
                  <a:pt x="188" y="71"/>
                  <a:pt x="186" y="69"/>
                </a:cubicBezTo>
                <a:cubicBezTo>
                  <a:pt x="184" y="67"/>
                  <a:pt x="184" y="63"/>
                  <a:pt x="186" y="60"/>
                </a:cubicBezTo>
                <a:cubicBezTo>
                  <a:pt x="191" y="55"/>
                  <a:pt x="191" y="55"/>
                  <a:pt x="191" y="55"/>
                </a:cubicBezTo>
                <a:close/>
                <a:moveTo>
                  <a:pt x="191" y="185"/>
                </a:moveTo>
                <a:cubicBezTo>
                  <a:pt x="191" y="201"/>
                  <a:pt x="191" y="201"/>
                  <a:pt x="191" y="201"/>
                </a:cubicBezTo>
                <a:cubicBezTo>
                  <a:pt x="186" y="196"/>
                  <a:pt x="186" y="196"/>
                  <a:pt x="186" y="196"/>
                </a:cubicBezTo>
                <a:cubicBezTo>
                  <a:pt x="184" y="193"/>
                  <a:pt x="184" y="189"/>
                  <a:pt x="186" y="187"/>
                </a:cubicBezTo>
                <a:cubicBezTo>
                  <a:pt x="188" y="185"/>
                  <a:pt x="189" y="185"/>
                  <a:pt x="191" y="185"/>
                </a:cubicBezTo>
                <a:close/>
                <a:moveTo>
                  <a:pt x="127" y="45"/>
                </a:moveTo>
                <a:cubicBezTo>
                  <a:pt x="127" y="0"/>
                  <a:pt x="127" y="0"/>
                  <a:pt x="127" y="0"/>
                </a:cubicBezTo>
                <a:cubicBezTo>
                  <a:pt x="127" y="0"/>
                  <a:pt x="128" y="0"/>
                  <a:pt x="128" y="0"/>
                </a:cubicBezTo>
                <a:cubicBezTo>
                  <a:pt x="131" y="0"/>
                  <a:pt x="134" y="3"/>
                  <a:pt x="134" y="7"/>
                </a:cubicBezTo>
                <a:cubicBezTo>
                  <a:pt x="134" y="38"/>
                  <a:pt x="134" y="38"/>
                  <a:pt x="134" y="38"/>
                </a:cubicBezTo>
                <a:cubicBezTo>
                  <a:pt x="134" y="42"/>
                  <a:pt x="131" y="45"/>
                  <a:pt x="128" y="45"/>
                </a:cubicBezTo>
                <a:cubicBezTo>
                  <a:pt x="128" y="45"/>
                  <a:pt x="128" y="45"/>
                  <a:pt x="128" y="45"/>
                </a:cubicBezTo>
                <a:cubicBezTo>
                  <a:pt x="128" y="45"/>
                  <a:pt x="127" y="45"/>
                  <a:pt x="127" y="45"/>
                </a:cubicBezTo>
                <a:close/>
                <a:moveTo>
                  <a:pt x="127" y="57"/>
                </a:moveTo>
                <a:cubicBezTo>
                  <a:pt x="99" y="57"/>
                  <a:pt x="75" y="74"/>
                  <a:pt x="64" y="97"/>
                </a:cubicBezTo>
                <a:cubicBezTo>
                  <a:pt x="64" y="159"/>
                  <a:pt x="64" y="159"/>
                  <a:pt x="64" y="159"/>
                </a:cubicBezTo>
                <a:cubicBezTo>
                  <a:pt x="70" y="170"/>
                  <a:pt x="78" y="180"/>
                  <a:pt x="89" y="187"/>
                </a:cubicBezTo>
                <a:cubicBezTo>
                  <a:pt x="89" y="242"/>
                  <a:pt x="89" y="242"/>
                  <a:pt x="89" y="242"/>
                </a:cubicBezTo>
                <a:cubicBezTo>
                  <a:pt x="89" y="262"/>
                  <a:pt x="104" y="277"/>
                  <a:pt x="124" y="277"/>
                </a:cubicBezTo>
                <a:cubicBezTo>
                  <a:pt x="127" y="277"/>
                  <a:pt x="127" y="277"/>
                  <a:pt x="127" y="277"/>
                </a:cubicBezTo>
                <a:cubicBezTo>
                  <a:pt x="127" y="214"/>
                  <a:pt x="127" y="214"/>
                  <a:pt x="127" y="214"/>
                </a:cubicBezTo>
                <a:cubicBezTo>
                  <a:pt x="103" y="214"/>
                  <a:pt x="103" y="214"/>
                  <a:pt x="103" y="214"/>
                </a:cubicBezTo>
                <a:cubicBezTo>
                  <a:pt x="103" y="183"/>
                  <a:pt x="103" y="183"/>
                  <a:pt x="103" y="183"/>
                </a:cubicBezTo>
                <a:cubicBezTo>
                  <a:pt x="103" y="180"/>
                  <a:pt x="102" y="178"/>
                  <a:pt x="100" y="176"/>
                </a:cubicBezTo>
                <a:cubicBezTo>
                  <a:pt x="83" y="167"/>
                  <a:pt x="71" y="149"/>
                  <a:pt x="71" y="128"/>
                </a:cubicBezTo>
                <a:cubicBezTo>
                  <a:pt x="71" y="112"/>
                  <a:pt x="78" y="98"/>
                  <a:pt x="88" y="88"/>
                </a:cubicBezTo>
                <a:cubicBezTo>
                  <a:pt x="98" y="78"/>
                  <a:pt x="112" y="72"/>
                  <a:pt x="127" y="72"/>
                </a:cubicBezTo>
                <a:cubicBezTo>
                  <a:pt x="127" y="72"/>
                  <a:pt x="127" y="72"/>
                  <a:pt x="127" y="72"/>
                </a:cubicBezTo>
                <a:cubicBezTo>
                  <a:pt x="127" y="57"/>
                  <a:pt x="127" y="57"/>
                  <a:pt x="127" y="57"/>
                </a:cubicBezTo>
                <a:cubicBezTo>
                  <a:pt x="127" y="57"/>
                  <a:pt x="127" y="57"/>
                  <a:pt x="127" y="57"/>
                </a:cubicBezTo>
                <a:close/>
                <a:moveTo>
                  <a:pt x="127" y="0"/>
                </a:moveTo>
                <a:cubicBezTo>
                  <a:pt x="127" y="45"/>
                  <a:pt x="127" y="45"/>
                  <a:pt x="127" y="45"/>
                </a:cubicBezTo>
                <a:cubicBezTo>
                  <a:pt x="124" y="45"/>
                  <a:pt x="121" y="42"/>
                  <a:pt x="121" y="38"/>
                </a:cubicBezTo>
                <a:cubicBezTo>
                  <a:pt x="121" y="7"/>
                  <a:pt x="121" y="7"/>
                  <a:pt x="121" y="7"/>
                </a:cubicBezTo>
                <a:cubicBezTo>
                  <a:pt x="121" y="4"/>
                  <a:pt x="124" y="1"/>
                  <a:pt x="127" y="0"/>
                </a:cubicBezTo>
                <a:close/>
                <a:moveTo>
                  <a:pt x="64" y="201"/>
                </a:moveTo>
                <a:cubicBezTo>
                  <a:pt x="64" y="185"/>
                  <a:pt x="64" y="185"/>
                  <a:pt x="64" y="185"/>
                </a:cubicBezTo>
                <a:cubicBezTo>
                  <a:pt x="66" y="185"/>
                  <a:pt x="68" y="185"/>
                  <a:pt x="69" y="187"/>
                </a:cubicBezTo>
                <a:cubicBezTo>
                  <a:pt x="72" y="189"/>
                  <a:pt x="72" y="193"/>
                  <a:pt x="69" y="196"/>
                </a:cubicBezTo>
                <a:cubicBezTo>
                  <a:pt x="64" y="201"/>
                  <a:pt x="64" y="201"/>
                  <a:pt x="64" y="201"/>
                </a:cubicBezTo>
                <a:close/>
                <a:moveTo>
                  <a:pt x="64" y="71"/>
                </a:moveTo>
                <a:cubicBezTo>
                  <a:pt x="64" y="55"/>
                  <a:pt x="64" y="55"/>
                  <a:pt x="64" y="55"/>
                </a:cubicBezTo>
                <a:cubicBezTo>
                  <a:pt x="69" y="60"/>
                  <a:pt x="69" y="60"/>
                  <a:pt x="69" y="60"/>
                </a:cubicBezTo>
                <a:cubicBezTo>
                  <a:pt x="72" y="63"/>
                  <a:pt x="72" y="67"/>
                  <a:pt x="69" y="69"/>
                </a:cubicBezTo>
                <a:cubicBezTo>
                  <a:pt x="68" y="71"/>
                  <a:pt x="66" y="71"/>
                  <a:pt x="64" y="71"/>
                </a:cubicBezTo>
                <a:close/>
                <a:moveTo>
                  <a:pt x="64" y="97"/>
                </a:moveTo>
                <a:cubicBezTo>
                  <a:pt x="59" y="106"/>
                  <a:pt x="57" y="117"/>
                  <a:pt x="57" y="128"/>
                </a:cubicBezTo>
                <a:cubicBezTo>
                  <a:pt x="57" y="139"/>
                  <a:pt x="59" y="149"/>
                  <a:pt x="64" y="159"/>
                </a:cubicBezTo>
                <a:cubicBezTo>
                  <a:pt x="64" y="97"/>
                  <a:pt x="64" y="97"/>
                  <a:pt x="64" y="97"/>
                </a:cubicBezTo>
                <a:close/>
                <a:moveTo>
                  <a:pt x="64" y="55"/>
                </a:moveTo>
                <a:cubicBezTo>
                  <a:pt x="64" y="71"/>
                  <a:pt x="64" y="71"/>
                  <a:pt x="64" y="71"/>
                </a:cubicBezTo>
                <a:cubicBezTo>
                  <a:pt x="62" y="71"/>
                  <a:pt x="61" y="70"/>
                  <a:pt x="60" y="69"/>
                </a:cubicBezTo>
                <a:cubicBezTo>
                  <a:pt x="60" y="69"/>
                  <a:pt x="60" y="69"/>
                  <a:pt x="60" y="69"/>
                </a:cubicBezTo>
                <a:cubicBezTo>
                  <a:pt x="38" y="47"/>
                  <a:pt x="38" y="47"/>
                  <a:pt x="38" y="47"/>
                </a:cubicBezTo>
                <a:cubicBezTo>
                  <a:pt x="35" y="44"/>
                  <a:pt x="35" y="40"/>
                  <a:pt x="38" y="38"/>
                </a:cubicBezTo>
                <a:cubicBezTo>
                  <a:pt x="40" y="35"/>
                  <a:pt x="44" y="35"/>
                  <a:pt x="47" y="38"/>
                </a:cubicBezTo>
                <a:cubicBezTo>
                  <a:pt x="64" y="55"/>
                  <a:pt x="64" y="55"/>
                  <a:pt x="64" y="55"/>
                </a:cubicBezTo>
                <a:close/>
                <a:moveTo>
                  <a:pt x="64" y="185"/>
                </a:moveTo>
                <a:cubicBezTo>
                  <a:pt x="64" y="201"/>
                  <a:pt x="64" y="201"/>
                  <a:pt x="64" y="201"/>
                </a:cubicBezTo>
                <a:cubicBezTo>
                  <a:pt x="47" y="218"/>
                  <a:pt x="47" y="218"/>
                  <a:pt x="47" y="218"/>
                </a:cubicBezTo>
                <a:cubicBezTo>
                  <a:pt x="44" y="221"/>
                  <a:pt x="40" y="221"/>
                  <a:pt x="38" y="218"/>
                </a:cubicBezTo>
                <a:cubicBezTo>
                  <a:pt x="35" y="216"/>
                  <a:pt x="35" y="211"/>
                  <a:pt x="38" y="209"/>
                </a:cubicBezTo>
                <a:cubicBezTo>
                  <a:pt x="60" y="187"/>
                  <a:pt x="60" y="187"/>
                  <a:pt x="60" y="187"/>
                </a:cubicBezTo>
                <a:cubicBezTo>
                  <a:pt x="60" y="187"/>
                  <a:pt x="60" y="187"/>
                  <a:pt x="60" y="187"/>
                </a:cubicBezTo>
                <a:cubicBezTo>
                  <a:pt x="61" y="185"/>
                  <a:pt x="62" y="185"/>
                  <a:pt x="64" y="185"/>
                </a:cubicBezTo>
                <a:close/>
                <a:moveTo>
                  <a:pt x="45" y="128"/>
                </a:moveTo>
                <a:cubicBezTo>
                  <a:pt x="45" y="128"/>
                  <a:pt x="45" y="128"/>
                  <a:pt x="45" y="128"/>
                </a:cubicBezTo>
                <a:cubicBezTo>
                  <a:pt x="45" y="124"/>
                  <a:pt x="42" y="121"/>
                  <a:pt x="38" y="121"/>
                </a:cubicBezTo>
                <a:cubicBezTo>
                  <a:pt x="7" y="121"/>
                  <a:pt x="7" y="121"/>
                  <a:pt x="7" y="121"/>
                </a:cubicBezTo>
                <a:cubicBezTo>
                  <a:pt x="3" y="121"/>
                  <a:pt x="0" y="124"/>
                  <a:pt x="0" y="128"/>
                </a:cubicBezTo>
                <a:cubicBezTo>
                  <a:pt x="0" y="132"/>
                  <a:pt x="3" y="134"/>
                  <a:pt x="7" y="134"/>
                </a:cubicBezTo>
                <a:cubicBezTo>
                  <a:pt x="38" y="134"/>
                  <a:pt x="38" y="134"/>
                  <a:pt x="38" y="134"/>
                </a:cubicBezTo>
                <a:cubicBezTo>
                  <a:pt x="42" y="134"/>
                  <a:pt x="45" y="132"/>
                  <a:pt x="45" y="128"/>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01" name="Freeform 57"/>
          <p:cNvSpPr>
            <a:spLocks noEditPoints="1"/>
          </p:cNvSpPr>
          <p:nvPr/>
        </p:nvSpPr>
        <p:spPr bwMode="auto">
          <a:xfrm>
            <a:off x="9035383" y="1136041"/>
            <a:ext cx="528432" cy="519113"/>
          </a:xfrm>
          <a:custGeom>
            <a:avLst/>
            <a:gdLst>
              <a:gd name="T0" fmla="*/ 231 w 243"/>
              <a:gd name="T1" fmla="*/ 92 h 238"/>
              <a:gd name="T2" fmla="*/ 214 w 243"/>
              <a:gd name="T3" fmla="*/ 83 h 238"/>
              <a:gd name="T4" fmla="*/ 206 w 243"/>
              <a:gd name="T5" fmla="*/ 71 h 238"/>
              <a:gd name="T6" fmla="*/ 192 w 243"/>
              <a:gd name="T7" fmla="*/ 82 h 238"/>
              <a:gd name="T8" fmla="*/ 194 w 243"/>
              <a:gd name="T9" fmla="*/ 64 h 238"/>
              <a:gd name="T10" fmla="*/ 179 w 243"/>
              <a:gd name="T11" fmla="*/ 64 h 238"/>
              <a:gd name="T12" fmla="*/ 162 w 243"/>
              <a:gd name="T13" fmla="*/ 54 h 238"/>
              <a:gd name="T14" fmla="*/ 154 w 243"/>
              <a:gd name="T15" fmla="*/ 42 h 238"/>
              <a:gd name="T16" fmla="*/ 140 w 243"/>
              <a:gd name="T17" fmla="*/ 53 h 238"/>
              <a:gd name="T18" fmla="*/ 142 w 243"/>
              <a:gd name="T19" fmla="*/ 35 h 238"/>
              <a:gd name="T20" fmla="*/ 128 w 243"/>
              <a:gd name="T21" fmla="*/ 35 h 238"/>
              <a:gd name="T22" fmla="*/ 110 w 243"/>
              <a:gd name="T23" fmla="*/ 25 h 238"/>
              <a:gd name="T24" fmla="*/ 102 w 243"/>
              <a:gd name="T25" fmla="*/ 13 h 238"/>
              <a:gd name="T26" fmla="*/ 101 w 243"/>
              <a:gd name="T27" fmla="*/ 22 h 238"/>
              <a:gd name="T28" fmla="*/ 208 w 243"/>
              <a:gd name="T29" fmla="*/ 128 h 238"/>
              <a:gd name="T30" fmla="*/ 206 w 243"/>
              <a:gd name="T31" fmla="*/ 132 h 238"/>
              <a:gd name="T32" fmla="*/ 101 w 243"/>
              <a:gd name="T33" fmla="*/ 74 h 238"/>
              <a:gd name="T34" fmla="*/ 196 w 243"/>
              <a:gd name="T35" fmla="*/ 149 h 238"/>
              <a:gd name="T36" fmla="*/ 194 w 243"/>
              <a:gd name="T37" fmla="*/ 153 h 238"/>
              <a:gd name="T38" fmla="*/ 101 w 243"/>
              <a:gd name="T39" fmla="*/ 101 h 238"/>
              <a:gd name="T40" fmla="*/ 185 w 243"/>
              <a:gd name="T41" fmla="*/ 170 h 238"/>
              <a:gd name="T42" fmla="*/ 182 w 243"/>
              <a:gd name="T43" fmla="*/ 174 h 238"/>
              <a:gd name="T44" fmla="*/ 101 w 243"/>
              <a:gd name="T45" fmla="*/ 129 h 238"/>
              <a:gd name="T46" fmla="*/ 173 w 243"/>
              <a:gd name="T47" fmla="*/ 191 h 238"/>
              <a:gd name="T48" fmla="*/ 171 w 243"/>
              <a:gd name="T49" fmla="*/ 195 h 238"/>
              <a:gd name="T50" fmla="*/ 101 w 243"/>
              <a:gd name="T51" fmla="*/ 156 h 238"/>
              <a:gd name="T52" fmla="*/ 138 w 243"/>
              <a:gd name="T53" fmla="*/ 231 h 238"/>
              <a:gd name="T54" fmla="*/ 243 w 243"/>
              <a:gd name="T55" fmla="*/ 91 h 238"/>
              <a:gd name="T56" fmla="*/ 101 w 243"/>
              <a:gd name="T57" fmla="*/ 22 h 238"/>
              <a:gd name="T58" fmla="*/ 85 w 243"/>
              <a:gd name="T59" fmla="*/ 11 h 238"/>
              <a:gd name="T60" fmla="*/ 78 w 243"/>
              <a:gd name="T61" fmla="*/ 0 h 238"/>
              <a:gd name="T62" fmla="*/ 15 w 243"/>
              <a:gd name="T63" fmla="*/ 163 h 238"/>
              <a:gd name="T64" fmla="*/ 101 w 243"/>
              <a:gd name="T65" fmla="*/ 156 h 238"/>
              <a:gd name="T66" fmla="*/ 27 w 243"/>
              <a:gd name="T67" fmla="*/ 113 h 238"/>
              <a:gd name="T68" fmla="*/ 101 w 243"/>
              <a:gd name="T69" fmla="*/ 151 h 238"/>
              <a:gd name="T70" fmla="*/ 40 w 243"/>
              <a:gd name="T71" fmla="*/ 95 h 238"/>
              <a:gd name="T72" fmla="*/ 42 w 243"/>
              <a:gd name="T73" fmla="*/ 91 h 238"/>
              <a:gd name="T74" fmla="*/ 101 w 243"/>
              <a:gd name="T75" fmla="*/ 101 h 238"/>
              <a:gd name="T76" fmla="*/ 51 w 243"/>
              <a:gd name="T77" fmla="*/ 71 h 238"/>
              <a:gd name="T78" fmla="*/ 101 w 243"/>
              <a:gd name="T79" fmla="*/ 96 h 238"/>
              <a:gd name="T80" fmla="*/ 63 w 243"/>
              <a:gd name="T81" fmla="*/ 53 h 238"/>
              <a:gd name="T82" fmla="*/ 65 w 243"/>
              <a:gd name="T83" fmla="*/ 49 h 238"/>
              <a:gd name="T84" fmla="*/ 101 w 243"/>
              <a:gd name="T85" fmla="*/ 2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43" h="238">
                <a:moveTo>
                  <a:pt x="232" y="85"/>
                </a:moveTo>
                <a:cubicBezTo>
                  <a:pt x="233" y="87"/>
                  <a:pt x="233" y="90"/>
                  <a:pt x="231" y="92"/>
                </a:cubicBezTo>
                <a:cubicBezTo>
                  <a:pt x="229" y="97"/>
                  <a:pt x="223" y="99"/>
                  <a:pt x="218" y="96"/>
                </a:cubicBezTo>
                <a:cubicBezTo>
                  <a:pt x="213" y="94"/>
                  <a:pt x="212" y="88"/>
                  <a:pt x="214" y="83"/>
                </a:cubicBezTo>
                <a:cubicBezTo>
                  <a:pt x="216" y="81"/>
                  <a:pt x="218" y="79"/>
                  <a:pt x="220" y="78"/>
                </a:cubicBezTo>
                <a:cubicBezTo>
                  <a:pt x="206" y="71"/>
                  <a:pt x="206" y="71"/>
                  <a:pt x="206" y="71"/>
                </a:cubicBezTo>
                <a:cubicBezTo>
                  <a:pt x="207" y="73"/>
                  <a:pt x="207" y="76"/>
                  <a:pt x="205" y="78"/>
                </a:cubicBezTo>
                <a:cubicBezTo>
                  <a:pt x="203" y="83"/>
                  <a:pt x="197" y="84"/>
                  <a:pt x="192" y="82"/>
                </a:cubicBezTo>
                <a:cubicBezTo>
                  <a:pt x="188" y="79"/>
                  <a:pt x="186" y="73"/>
                  <a:pt x="188" y="69"/>
                </a:cubicBezTo>
                <a:cubicBezTo>
                  <a:pt x="190" y="66"/>
                  <a:pt x="192" y="65"/>
                  <a:pt x="194" y="64"/>
                </a:cubicBezTo>
                <a:cubicBezTo>
                  <a:pt x="180" y="56"/>
                  <a:pt x="180" y="56"/>
                  <a:pt x="180" y="56"/>
                </a:cubicBezTo>
                <a:cubicBezTo>
                  <a:pt x="181" y="59"/>
                  <a:pt x="181" y="61"/>
                  <a:pt x="179" y="64"/>
                </a:cubicBezTo>
                <a:cubicBezTo>
                  <a:pt x="177" y="68"/>
                  <a:pt x="171" y="70"/>
                  <a:pt x="166" y="67"/>
                </a:cubicBezTo>
                <a:cubicBezTo>
                  <a:pt x="161" y="65"/>
                  <a:pt x="160" y="59"/>
                  <a:pt x="162" y="54"/>
                </a:cubicBezTo>
                <a:cubicBezTo>
                  <a:pt x="164" y="52"/>
                  <a:pt x="166" y="50"/>
                  <a:pt x="168" y="50"/>
                </a:cubicBezTo>
                <a:cubicBezTo>
                  <a:pt x="154" y="42"/>
                  <a:pt x="154" y="42"/>
                  <a:pt x="154" y="42"/>
                </a:cubicBezTo>
                <a:cubicBezTo>
                  <a:pt x="155" y="44"/>
                  <a:pt x="155" y="47"/>
                  <a:pt x="153" y="49"/>
                </a:cubicBezTo>
                <a:cubicBezTo>
                  <a:pt x="151" y="54"/>
                  <a:pt x="145" y="56"/>
                  <a:pt x="140" y="53"/>
                </a:cubicBezTo>
                <a:cubicBezTo>
                  <a:pt x="136" y="50"/>
                  <a:pt x="134" y="45"/>
                  <a:pt x="136" y="40"/>
                </a:cubicBezTo>
                <a:cubicBezTo>
                  <a:pt x="138" y="37"/>
                  <a:pt x="140" y="36"/>
                  <a:pt x="142" y="35"/>
                </a:cubicBezTo>
                <a:cubicBezTo>
                  <a:pt x="128" y="28"/>
                  <a:pt x="128" y="28"/>
                  <a:pt x="128" y="28"/>
                </a:cubicBezTo>
                <a:cubicBezTo>
                  <a:pt x="129" y="30"/>
                  <a:pt x="129" y="33"/>
                  <a:pt x="128" y="35"/>
                </a:cubicBezTo>
                <a:cubicBezTo>
                  <a:pt x="125" y="40"/>
                  <a:pt x="119" y="41"/>
                  <a:pt x="114" y="39"/>
                </a:cubicBezTo>
                <a:cubicBezTo>
                  <a:pt x="110" y="36"/>
                  <a:pt x="108" y="30"/>
                  <a:pt x="110" y="25"/>
                </a:cubicBezTo>
                <a:cubicBezTo>
                  <a:pt x="112" y="23"/>
                  <a:pt x="114" y="22"/>
                  <a:pt x="116" y="21"/>
                </a:cubicBezTo>
                <a:cubicBezTo>
                  <a:pt x="102" y="13"/>
                  <a:pt x="102" y="13"/>
                  <a:pt x="102" y="13"/>
                </a:cubicBezTo>
                <a:cubicBezTo>
                  <a:pt x="103" y="16"/>
                  <a:pt x="103" y="18"/>
                  <a:pt x="102" y="21"/>
                </a:cubicBezTo>
                <a:cubicBezTo>
                  <a:pt x="101" y="21"/>
                  <a:pt x="101" y="22"/>
                  <a:pt x="101" y="22"/>
                </a:cubicBezTo>
                <a:cubicBezTo>
                  <a:pt x="101" y="69"/>
                  <a:pt x="101" y="69"/>
                  <a:pt x="101" y="69"/>
                </a:cubicBezTo>
                <a:cubicBezTo>
                  <a:pt x="208" y="128"/>
                  <a:pt x="208" y="128"/>
                  <a:pt x="208" y="128"/>
                </a:cubicBezTo>
                <a:cubicBezTo>
                  <a:pt x="209" y="129"/>
                  <a:pt x="209" y="130"/>
                  <a:pt x="209" y="131"/>
                </a:cubicBezTo>
                <a:cubicBezTo>
                  <a:pt x="208" y="132"/>
                  <a:pt x="207" y="133"/>
                  <a:pt x="206" y="132"/>
                </a:cubicBezTo>
                <a:cubicBezTo>
                  <a:pt x="206" y="132"/>
                  <a:pt x="206" y="132"/>
                  <a:pt x="206" y="132"/>
                </a:cubicBezTo>
                <a:cubicBezTo>
                  <a:pt x="101" y="74"/>
                  <a:pt x="101" y="74"/>
                  <a:pt x="101" y="74"/>
                </a:cubicBezTo>
                <a:cubicBezTo>
                  <a:pt x="101" y="96"/>
                  <a:pt x="101" y="96"/>
                  <a:pt x="101" y="96"/>
                </a:cubicBezTo>
                <a:cubicBezTo>
                  <a:pt x="196" y="149"/>
                  <a:pt x="196" y="149"/>
                  <a:pt x="196" y="149"/>
                </a:cubicBezTo>
                <a:cubicBezTo>
                  <a:pt x="197" y="150"/>
                  <a:pt x="198" y="151"/>
                  <a:pt x="197" y="152"/>
                </a:cubicBezTo>
                <a:cubicBezTo>
                  <a:pt x="197" y="153"/>
                  <a:pt x="195" y="154"/>
                  <a:pt x="194" y="153"/>
                </a:cubicBezTo>
                <a:cubicBezTo>
                  <a:pt x="194" y="153"/>
                  <a:pt x="194" y="153"/>
                  <a:pt x="194" y="153"/>
                </a:cubicBezTo>
                <a:cubicBezTo>
                  <a:pt x="101" y="101"/>
                  <a:pt x="101" y="101"/>
                  <a:pt x="101" y="101"/>
                </a:cubicBezTo>
                <a:cubicBezTo>
                  <a:pt x="101" y="124"/>
                  <a:pt x="101" y="124"/>
                  <a:pt x="101" y="124"/>
                </a:cubicBezTo>
                <a:cubicBezTo>
                  <a:pt x="185" y="170"/>
                  <a:pt x="185" y="170"/>
                  <a:pt x="185" y="170"/>
                </a:cubicBezTo>
                <a:cubicBezTo>
                  <a:pt x="186" y="171"/>
                  <a:pt x="186" y="172"/>
                  <a:pt x="186" y="173"/>
                </a:cubicBezTo>
                <a:cubicBezTo>
                  <a:pt x="185" y="174"/>
                  <a:pt x="184" y="175"/>
                  <a:pt x="182" y="174"/>
                </a:cubicBezTo>
                <a:cubicBezTo>
                  <a:pt x="182" y="174"/>
                  <a:pt x="182" y="174"/>
                  <a:pt x="182" y="174"/>
                </a:cubicBezTo>
                <a:cubicBezTo>
                  <a:pt x="101" y="129"/>
                  <a:pt x="101" y="129"/>
                  <a:pt x="101" y="129"/>
                </a:cubicBezTo>
                <a:cubicBezTo>
                  <a:pt x="101" y="151"/>
                  <a:pt x="101" y="151"/>
                  <a:pt x="101" y="151"/>
                </a:cubicBezTo>
                <a:cubicBezTo>
                  <a:pt x="173" y="191"/>
                  <a:pt x="173" y="191"/>
                  <a:pt x="173" y="191"/>
                </a:cubicBezTo>
                <a:cubicBezTo>
                  <a:pt x="174" y="192"/>
                  <a:pt x="174" y="193"/>
                  <a:pt x="174" y="194"/>
                </a:cubicBezTo>
                <a:cubicBezTo>
                  <a:pt x="173" y="196"/>
                  <a:pt x="172" y="196"/>
                  <a:pt x="171" y="195"/>
                </a:cubicBezTo>
                <a:cubicBezTo>
                  <a:pt x="171" y="195"/>
                  <a:pt x="171" y="195"/>
                  <a:pt x="171" y="195"/>
                </a:cubicBezTo>
                <a:cubicBezTo>
                  <a:pt x="101" y="156"/>
                  <a:pt x="101" y="156"/>
                  <a:pt x="101" y="156"/>
                </a:cubicBezTo>
                <a:cubicBezTo>
                  <a:pt x="101" y="210"/>
                  <a:pt x="101" y="210"/>
                  <a:pt x="101" y="210"/>
                </a:cubicBezTo>
                <a:cubicBezTo>
                  <a:pt x="138" y="231"/>
                  <a:pt x="138" y="231"/>
                  <a:pt x="138" y="231"/>
                </a:cubicBezTo>
                <a:cubicBezTo>
                  <a:pt x="150" y="238"/>
                  <a:pt x="164" y="233"/>
                  <a:pt x="171" y="222"/>
                </a:cubicBezTo>
                <a:cubicBezTo>
                  <a:pt x="243" y="91"/>
                  <a:pt x="243" y="91"/>
                  <a:pt x="243" y="91"/>
                </a:cubicBezTo>
                <a:lnTo>
                  <a:pt x="232" y="85"/>
                </a:lnTo>
                <a:close/>
                <a:moveTo>
                  <a:pt x="101" y="22"/>
                </a:moveTo>
                <a:cubicBezTo>
                  <a:pt x="98" y="26"/>
                  <a:pt x="93" y="27"/>
                  <a:pt x="88" y="24"/>
                </a:cubicBezTo>
                <a:cubicBezTo>
                  <a:pt x="84" y="22"/>
                  <a:pt x="82" y="16"/>
                  <a:pt x="85" y="11"/>
                </a:cubicBezTo>
                <a:cubicBezTo>
                  <a:pt x="86" y="9"/>
                  <a:pt x="88" y="7"/>
                  <a:pt x="90" y="6"/>
                </a:cubicBezTo>
                <a:cubicBezTo>
                  <a:pt x="78" y="0"/>
                  <a:pt x="78" y="0"/>
                  <a:pt x="78" y="0"/>
                </a:cubicBezTo>
                <a:cubicBezTo>
                  <a:pt x="6" y="130"/>
                  <a:pt x="6" y="130"/>
                  <a:pt x="6" y="130"/>
                </a:cubicBezTo>
                <a:cubicBezTo>
                  <a:pt x="0" y="142"/>
                  <a:pt x="4" y="157"/>
                  <a:pt x="15" y="163"/>
                </a:cubicBezTo>
                <a:cubicBezTo>
                  <a:pt x="101" y="210"/>
                  <a:pt x="101" y="210"/>
                  <a:pt x="101" y="210"/>
                </a:cubicBezTo>
                <a:cubicBezTo>
                  <a:pt x="101" y="156"/>
                  <a:pt x="101" y="156"/>
                  <a:pt x="101" y="156"/>
                </a:cubicBezTo>
                <a:cubicBezTo>
                  <a:pt x="28" y="116"/>
                  <a:pt x="28" y="116"/>
                  <a:pt x="28" y="116"/>
                </a:cubicBezTo>
                <a:cubicBezTo>
                  <a:pt x="27" y="116"/>
                  <a:pt x="27" y="114"/>
                  <a:pt x="27" y="113"/>
                </a:cubicBezTo>
                <a:cubicBezTo>
                  <a:pt x="28" y="112"/>
                  <a:pt x="29" y="112"/>
                  <a:pt x="30" y="112"/>
                </a:cubicBezTo>
                <a:cubicBezTo>
                  <a:pt x="101" y="151"/>
                  <a:pt x="101" y="151"/>
                  <a:pt x="101" y="151"/>
                </a:cubicBezTo>
                <a:cubicBezTo>
                  <a:pt x="101" y="129"/>
                  <a:pt x="101" y="129"/>
                  <a:pt x="101" y="129"/>
                </a:cubicBezTo>
                <a:cubicBezTo>
                  <a:pt x="40" y="95"/>
                  <a:pt x="40" y="95"/>
                  <a:pt x="40" y="95"/>
                </a:cubicBezTo>
                <a:cubicBezTo>
                  <a:pt x="39" y="95"/>
                  <a:pt x="38" y="93"/>
                  <a:pt x="39" y="92"/>
                </a:cubicBezTo>
                <a:cubicBezTo>
                  <a:pt x="40" y="91"/>
                  <a:pt x="41" y="91"/>
                  <a:pt x="42" y="91"/>
                </a:cubicBezTo>
                <a:cubicBezTo>
                  <a:pt x="101" y="124"/>
                  <a:pt x="101" y="124"/>
                  <a:pt x="101" y="124"/>
                </a:cubicBezTo>
                <a:cubicBezTo>
                  <a:pt x="101" y="101"/>
                  <a:pt x="101" y="101"/>
                  <a:pt x="101" y="101"/>
                </a:cubicBezTo>
                <a:cubicBezTo>
                  <a:pt x="51" y="74"/>
                  <a:pt x="51" y="74"/>
                  <a:pt x="51" y="74"/>
                </a:cubicBezTo>
                <a:cubicBezTo>
                  <a:pt x="50" y="74"/>
                  <a:pt x="50" y="72"/>
                  <a:pt x="51" y="71"/>
                </a:cubicBezTo>
                <a:cubicBezTo>
                  <a:pt x="51" y="70"/>
                  <a:pt x="53" y="70"/>
                  <a:pt x="54" y="70"/>
                </a:cubicBezTo>
                <a:cubicBezTo>
                  <a:pt x="101" y="96"/>
                  <a:pt x="101" y="96"/>
                  <a:pt x="101" y="96"/>
                </a:cubicBezTo>
                <a:cubicBezTo>
                  <a:pt x="101" y="74"/>
                  <a:pt x="101" y="74"/>
                  <a:pt x="101" y="74"/>
                </a:cubicBezTo>
                <a:cubicBezTo>
                  <a:pt x="63" y="53"/>
                  <a:pt x="63" y="53"/>
                  <a:pt x="63" y="53"/>
                </a:cubicBezTo>
                <a:cubicBezTo>
                  <a:pt x="62" y="53"/>
                  <a:pt x="62" y="51"/>
                  <a:pt x="62" y="50"/>
                </a:cubicBezTo>
                <a:cubicBezTo>
                  <a:pt x="63" y="49"/>
                  <a:pt x="64" y="49"/>
                  <a:pt x="65" y="49"/>
                </a:cubicBezTo>
                <a:cubicBezTo>
                  <a:pt x="101" y="69"/>
                  <a:pt x="101" y="69"/>
                  <a:pt x="101" y="69"/>
                </a:cubicBezTo>
                <a:lnTo>
                  <a:pt x="101" y="2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02" name="Freeform 58"/>
          <p:cNvSpPr>
            <a:spLocks noEditPoints="1"/>
          </p:cNvSpPr>
          <p:nvPr/>
        </p:nvSpPr>
        <p:spPr bwMode="auto">
          <a:xfrm>
            <a:off x="7168704" y="3301664"/>
            <a:ext cx="514149" cy="520700"/>
          </a:xfrm>
          <a:custGeom>
            <a:avLst/>
            <a:gdLst>
              <a:gd name="T0" fmla="*/ 189 w 236"/>
              <a:gd name="T1" fmla="*/ 60 h 239"/>
              <a:gd name="T2" fmla="*/ 196 w 236"/>
              <a:gd name="T3" fmla="*/ 122 h 239"/>
              <a:gd name="T4" fmla="*/ 198 w 236"/>
              <a:gd name="T5" fmla="*/ 136 h 239"/>
              <a:gd name="T6" fmla="*/ 208 w 236"/>
              <a:gd name="T7" fmla="*/ 157 h 239"/>
              <a:gd name="T8" fmla="*/ 189 w 236"/>
              <a:gd name="T9" fmla="*/ 195 h 239"/>
              <a:gd name="T10" fmla="*/ 168 w 236"/>
              <a:gd name="T11" fmla="*/ 156 h 239"/>
              <a:gd name="T12" fmla="*/ 168 w 236"/>
              <a:gd name="T13" fmla="*/ 78 h 239"/>
              <a:gd name="T14" fmla="*/ 182 w 236"/>
              <a:gd name="T15" fmla="*/ 92 h 239"/>
              <a:gd name="T16" fmla="*/ 185 w 236"/>
              <a:gd name="T17" fmla="*/ 107 h 239"/>
              <a:gd name="T18" fmla="*/ 189 w 236"/>
              <a:gd name="T19" fmla="*/ 141 h 239"/>
              <a:gd name="T20" fmla="*/ 189 w 236"/>
              <a:gd name="T21" fmla="*/ 130 h 239"/>
              <a:gd name="T22" fmla="*/ 168 w 236"/>
              <a:gd name="T23" fmla="*/ 155 h 239"/>
              <a:gd name="T24" fmla="*/ 160 w 236"/>
              <a:gd name="T25" fmla="*/ 138 h 239"/>
              <a:gd name="T26" fmla="*/ 165 w 236"/>
              <a:gd name="T27" fmla="*/ 172 h 239"/>
              <a:gd name="T28" fmla="*/ 168 w 236"/>
              <a:gd name="T29" fmla="*/ 16 h 239"/>
              <a:gd name="T30" fmla="*/ 163 w 236"/>
              <a:gd name="T31" fmla="*/ 49 h 239"/>
              <a:gd name="T32" fmla="*/ 168 w 236"/>
              <a:gd name="T33" fmla="*/ 78 h 239"/>
              <a:gd name="T34" fmla="*/ 159 w 236"/>
              <a:gd name="T35" fmla="*/ 118 h 239"/>
              <a:gd name="T36" fmla="*/ 159 w 236"/>
              <a:gd name="T37" fmla="*/ 209 h 239"/>
              <a:gd name="T38" fmla="*/ 159 w 236"/>
              <a:gd name="T39" fmla="*/ 5 h 239"/>
              <a:gd name="T40" fmla="*/ 159 w 236"/>
              <a:gd name="T41" fmla="*/ 40 h 239"/>
              <a:gd name="T42" fmla="*/ 144 w 236"/>
              <a:gd name="T43" fmla="*/ 89 h 239"/>
              <a:gd name="T44" fmla="*/ 159 w 236"/>
              <a:gd name="T45" fmla="*/ 108 h 239"/>
              <a:gd name="T46" fmla="*/ 159 w 236"/>
              <a:gd name="T47" fmla="*/ 136 h 239"/>
              <a:gd name="T48" fmla="*/ 144 w 236"/>
              <a:gd name="T49" fmla="*/ 162 h 239"/>
              <a:gd name="T50" fmla="*/ 151 w 236"/>
              <a:gd name="T51" fmla="*/ 143 h 239"/>
              <a:gd name="T52" fmla="*/ 146 w 236"/>
              <a:gd name="T53" fmla="*/ 109 h 239"/>
              <a:gd name="T54" fmla="*/ 123 w 236"/>
              <a:gd name="T55" fmla="*/ 7 h 239"/>
              <a:gd name="T56" fmla="*/ 144 w 236"/>
              <a:gd name="T57" fmla="*/ 0 h 239"/>
              <a:gd name="T58" fmla="*/ 144 w 236"/>
              <a:gd name="T59" fmla="*/ 187 h 239"/>
              <a:gd name="T60" fmla="*/ 123 w 236"/>
              <a:gd name="T61" fmla="*/ 225 h 239"/>
              <a:gd name="T62" fmla="*/ 140 w 236"/>
              <a:gd name="T63" fmla="*/ 96 h 239"/>
              <a:gd name="T64" fmla="*/ 123 w 236"/>
              <a:gd name="T65" fmla="*/ 135 h 239"/>
              <a:gd name="T66" fmla="*/ 137 w 236"/>
              <a:gd name="T67" fmla="*/ 113 h 239"/>
              <a:gd name="T68" fmla="*/ 123 w 236"/>
              <a:gd name="T69" fmla="*/ 82 h 239"/>
              <a:gd name="T70" fmla="*/ 125 w 236"/>
              <a:gd name="T71" fmla="*/ 171 h 239"/>
              <a:gd name="T72" fmla="*/ 123 w 236"/>
              <a:gd name="T73" fmla="*/ 7 h 239"/>
              <a:gd name="T74" fmla="*/ 123 w 236"/>
              <a:gd name="T75" fmla="*/ 7 h 239"/>
              <a:gd name="T76" fmla="*/ 123 w 236"/>
              <a:gd name="T77" fmla="*/ 177 h 239"/>
              <a:gd name="T78" fmla="*/ 121 w 236"/>
              <a:gd name="T79" fmla="*/ 162 h 239"/>
              <a:gd name="T80" fmla="*/ 123 w 236"/>
              <a:gd name="T81" fmla="*/ 135 h 239"/>
              <a:gd name="T82" fmla="*/ 99 w 236"/>
              <a:gd name="T83" fmla="*/ 124 h 239"/>
              <a:gd name="T84" fmla="*/ 106 w 236"/>
              <a:gd name="T85" fmla="*/ 164 h 239"/>
              <a:gd name="T86" fmla="*/ 108 w 236"/>
              <a:gd name="T87" fmla="*/ 179 h 239"/>
              <a:gd name="T88" fmla="*/ 118 w 236"/>
              <a:gd name="T89" fmla="*/ 199 h 239"/>
              <a:gd name="T90" fmla="*/ 123 w 236"/>
              <a:gd name="T91" fmla="*/ 99 h 239"/>
              <a:gd name="T92" fmla="*/ 99 w 236"/>
              <a:gd name="T93" fmla="*/ 18 h 239"/>
              <a:gd name="T94" fmla="*/ 99 w 236"/>
              <a:gd name="T95" fmla="*/ 18 h 239"/>
              <a:gd name="T96" fmla="*/ 89 w 236"/>
              <a:gd name="T97" fmla="*/ 212 h 239"/>
              <a:gd name="T98" fmla="*/ 99 w 236"/>
              <a:gd name="T99" fmla="*/ 183 h 239"/>
              <a:gd name="T100" fmla="*/ 71 w 236"/>
              <a:gd name="T101" fmla="*/ 227 h 239"/>
              <a:gd name="T102" fmla="*/ 95 w 236"/>
              <a:gd name="T103" fmla="*/ 117 h 239"/>
              <a:gd name="T104" fmla="*/ 71 w 236"/>
              <a:gd name="T105" fmla="*/ 160 h 239"/>
              <a:gd name="T106" fmla="*/ 92 w 236"/>
              <a:gd name="T107" fmla="*/ 134 h 239"/>
              <a:gd name="T108" fmla="*/ 71 w 236"/>
              <a:gd name="T109" fmla="*/ 107 h 239"/>
              <a:gd name="T110" fmla="*/ 7 w 236"/>
              <a:gd name="T111" fmla="*/ 91 h 239"/>
              <a:gd name="T112" fmla="*/ 70 w 236"/>
              <a:gd name="T113" fmla="*/ 181 h 239"/>
              <a:gd name="T114" fmla="*/ 71 w 236"/>
              <a:gd name="T115" fmla="*/ 149 h 239"/>
              <a:gd name="T116" fmla="*/ 52 w 236"/>
              <a:gd name="T117" fmla="*/ 133 h 239"/>
              <a:gd name="T118" fmla="*/ 35 w 236"/>
              <a:gd name="T119" fmla="*/ 109 h 239"/>
              <a:gd name="T120" fmla="*/ 71 w 236"/>
              <a:gd name="T121" fmla="*/ 31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6" h="239">
                <a:moveTo>
                  <a:pt x="189" y="195"/>
                </a:moveTo>
                <a:cubicBezTo>
                  <a:pt x="216" y="182"/>
                  <a:pt x="216" y="182"/>
                  <a:pt x="216" y="182"/>
                </a:cubicBezTo>
                <a:cubicBezTo>
                  <a:pt x="230" y="176"/>
                  <a:pt x="236" y="159"/>
                  <a:pt x="229" y="146"/>
                </a:cubicBezTo>
                <a:cubicBezTo>
                  <a:pt x="189" y="60"/>
                  <a:pt x="189" y="60"/>
                  <a:pt x="189" y="60"/>
                </a:cubicBezTo>
                <a:cubicBezTo>
                  <a:pt x="189" y="107"/>
                  <a:pt x="189" y="107"/>
                  <a:pt x="189" y="107"/>
                </a:cubicBezTo>
                <a:cubicBezTo>
                  <a:pt x="190" y="108"/>
                  <a:pt x="190" y="108"/>
                  <a:pt x="190" y="109"/>
                </a:cubicBezTo>
                <a:cubicBezTo>
                  <a:pt x="196" y="122"/>
                  <a:pt x="196" y="122"/>
                  <a:pt x="196" y="122"/>
                </a:cubicBezTo>
                <a:cubicBezTo>
                  <a:pt x="196" y="122"/>
                  <a:pt x="196" y="122"/>
                  <a:pt x="196" y="122"/>
                </a:cubicBezTo>
                <a:cubicBezTo>
                  <a:pt x="197" y="124"/>
                  <a:pt x="196" y="126"/>
                  <a:pt x="194" y="127"/>
                </a:cubicBezTo>
                <a:cubicBezTo>
                  <a:pt x="189" y="130"/>
                  <a:pt x="189" y="130"/>
                  <a:pt x="189" y="130"/>
                </a:cubicBezTo>
                <a:cubicBezTo>
                  <a:pt x="189" y="141"/>
                  <a:pt x="189" y="141"/>
                  <a:pt x="189" y="141"/>
                </a:cubicBezTo>
                <a:cubicBezTo>
                  <a:pt x="198" y="136"/>
                  <a:pt x="198" y="136"/>
                  <a:pt x="198" y="136"/>
                </a:cubicBezTo>
                <a:cubicBezTo>
                  <a:pt x="201" y="135"/>
                  <a:pt x="203" y="136"/>
                  <a:pt x="204" y="138"/>
                </a:cubicBezTo>
                <a:cubicBezTo>
                  <a:pt x="210" y="151"/>
                  <a:pt x="210" y="151"/>
                  <a:pt x="210" y="151"/>
                </a:cubicBezTo>
                <a:cubicBezTo>
                  <a:pt x="210" y="151"/>
                  <a:pt x="210" y="151"/>
                  <a:pt x="210" y="151"/>
                </a:cubicBezTo>
                <a:cubicBezTo>
                  <a:pt x="211" y="153"/>
                  <a:pt x="210" y="156"/>
                  <a:pt x="208" y="157"/>
                </a:cubicBezTo>
                <a:cubicBezTo>
                  <a:pt x="189" y="166"/>
                  <a:pt x="189" y="166"/>
                  <a:pt x="189" y="166"/>
                </a:cubicBezTo>
                <a:lnTo>
                  <a:pt x="189" y="195"/>
                </a:lnTo>
                <a:close/>
                <a:moveTo>
                  <a:pt x="168" y="204"/>
                </a:moveTo>
                <a:cubicBezTo>
                  <a:pt x="189" y="195"/>
                  <a:pt x="189" y="195"/>
                  <a:pt x="189" y="195"/>
                </a:cubicBezTo>
                <a:cubicBezTo>
                  <a:pt x="189" y="166"/>
                  <a:pt x="189" y="166"/>
                  <a:pt x="189" y="166"/>
                </a:cubicBezTo>
                <a:cubicBezTo>
                  <a:pt x="180" y="170"/>
                  <a:pt x="180" y="170"/>
                  <a:pt x="180" y="170"/>
                </a:cubicBezTo>
                <a:cubicBezTo>
                  <a:pt x="178" y="171"/>
                  <a:pt x="175" y="170"/>
                  <a:pt x="174" y="168"/>
                </a:cubicBezTo>
                <a:cubicBezTo>
                  <a:pt x="168" y="156"/>
                  <a:pt x="168" y="156"/>
                  <a:pt x="168" y="156"/>
                </a:cubicBezTo>
                <a:cubicBezTo>
                  <a:pt x="168" y="204"/>
                  <a:pt x="168" y="204"/>
                  <a:pt x="168" y="204"/>
                </a:cubicBezTo>
                <a:close/>
                <a:moveTo>
                  <a:pt x="189" y="60"/>
                </a:moveTo>
                <a:cubicBezTo>
                  <a:pt x="168" y="16"/>
                  <a:pt x="168" y="16"/>
                  <a:pt x="168" y="16"/>
                </a:cubicBezTo>
                <a:cubicBezTo>
                  <a:pt x="168" y="78"/>
                  <a:pt x="168" y="78"/>
                  <a:pt x="168" y="78"/>
                </a:cubicBezTo>
                <a:cubicBezTo>
                  <a:pt x="171" y="77"/>
                  <a:pt x="171" y="77"/>
                  <a:pt x="171" y="77"/>
                </a:cubicBezTo>
                <a:cubicBezTo>
                  <a:pt x="173" y="76"/>
                  <a:pt x="175" y="77"/>
                  <a:pt x="176" y="79"/>
                </a:cubicBezTo>
                <a:cubicBezTo>
                  <a:pt x="182" y="92"/>
                  <a:pt x="182" y="92"/>
                  <a:pt x="182" y="92"/>
                </a:cubicBezTo>
                <a:cubicBezTo>
                  <a:pt x="182" y="92"/>
                  <a:pt x="182" y="92"/>
                  <a:pt x="182" y="92"/>
                </a:cubicBezTo>
                <a:cubicBezTo>
                  <a:pt x="183" y="94"/>
                  <a:pt x="182" y="97"/>
                  <a:pt x="180" y="98"/>
                </a:cubicBezTo>
                <a:cubicBezTo>
                  <a:pt x="168" y="103"/>
                  <a:pt x="168" y="103"/>
                  <a:pt x="168" y="103"/>
                </a:cubicBezTo>
                <a:cubicBezTo>
                  <a:pt x="168" y="114"/>
                  <a:pt x="168" y="114"/>
                  <a:pt x="168" y="114"/>
                </a:cubicBezTo>
                <a:cubicBezTo>
                  <a:pt x="185" y="107"/>
                  <a:pt x="185" y="107"/>
                  <a:pt x="185" y="107"/>
                </a:cubicBezTo>
                <a:cubicBezTo>
                  <a:pt x="186" y="106"/>
                  <a:pt x="188" y="106"/>
                  <a:pt x="189" y="107"/>
                </a:cubicBezTo>
                <a:cubicBezTo>
                  <a:pt x="189" y="60"/>
                  <a:pt x="189" y="60"/>
                  <a:pt x="189" y="60"/>
                </a:cubicBezTo>
                <a:close/>
                <a:moveTo>
                  <a:pt x="189" y="130"/>
                </a:moveTo>
                <a:cubicBezTo>
                  <a:pt x="189" y="141"/>
                  <a:pt x="189" y="141"/>
                  <a:pt x="189" y="141"/>
                </a:cubicBezTo>
                <a:cubicBezTo>
                  <a:pt x="170" y="150"/>
                  <a:pt x="170" y="150"/>
                  <a:pt x="170" y="150"/>
                </a:cubicBezTo>
                <a:cubicBezTo>
                  <a:pt x="169" y="150"/>
                  <a:pt x="169" y="151"/>
                  <a:pt x="168" y="151"/>
                </a:cubicBezTo>
                <a:cubicBezTo>
                  <a:pt x="168" y="139"/>
                  <a:pt x="168" y="139"/>
                  <a:pt x="168" y="139"/>
                </a:cubicBezTo>
                <a:lnTo>
                  <a:pt x="189" y="130"/>
                </a:lnTo>
                <a:close/>
                <a:moveTo>
                  <a:pt x="159" y="209"/>
                </a:moveTo>
                <a:cubicBezTo>
                  <a:pt x="168" y="204"/>
                  <a:pt x="168" y="204"/>
                  <a:pt x="168" y="204"/>
                </a:cubicBezTo>
                <a:cubicBezTo>
                  <a:pt x="168" y="156"/>
                  <a:pt x="168" y="156"/>
                  <a:pt x="168" y="156"/>
                </a:cubicBezTo>
                <a:cubicBezTo>
                  <a:pt x="168" y="155"/>
                  <a:pt x="168" y="155"/>
                  <a:pt x="168" y="155"/>
                </a:cubicBezTo>
                <a:cubicBezTo>
                  <a:pt x="168" y="154"/>
                  <a:pt x="168" y="152"/>
                  <a:pt x="168" y="151"/>
                </a:cubicBezTo>
                <a:cubicBezTo>
                  <a:pt x="168" y="139"/>
                  <a:pt x="168" y="139"/>
                  <a:pt x="168" y="139"/>
                </a:cubicBezTo>
                <a:cubicBezTo>
                  <a:pt x="166" y="141"/>
                  <a:pt x="166" y="141"/>
                  <a:pt x="166" y="141"/>
                </a:cubicBezTo>
                <a:cubicBezTo>
                  <a:pt x="164" y="142"/>
                  <a:pt x="161" y="141"/>
                  <a:pt x="160" y="138"/>
                </a:cubicBezTo>
                <a:cubicBezTo>
                  <a:pt x="159" y="136"/>
                  <a:pt x="159" y="136"/>
                  <a:pt x="159" y="136"/>
                </a:cubicBezTo>
                <a:cubicBezTo>
                  <a:pt x="159" y="160"/>
                  <a:pt x="159" y="160"/>
                  <a:pt x="159" y="160"/>
                </a:cubicBezTo>
                <a:cubicBezTo>
                  <a:pt x="165" y="172"/>
                  <a:pt x="165" y="172"/>
                  <a:pt x="165" y="172"/>
                </a:cubicBezTo>
                <a:cubicBezTo>
                  <a:pt x="165" y="172"/>
                  <a:pt x="165" y="172"/>
                  <a:pt x="165" y="172"/>
                </a:cubicBezTo>
                <a:cubicBezTo>
                  <a:pt x="166" y="175"/>
                  <a:pt x="165" y="177"/>
                  <a:pt x="163" y="178"/>
                </a:cubicBezTo>
                <a:cubicBezTo>
                  <a:pt x="159" y="180"/>
                  <a:pt x="159" y="180"/>
                  <a:pt x="159" y="180"/>
                </a:cubicBezTo>
                <a:cubicBezTo>
                  <a:pt x="159" y="209"/>
                  <a:pt x="159" y="209"/>
                  <a:pt x="159" y="209"/>
                </a:cubicBezTo>
                <a:close/>
                <a:moveTo>
                  <a:pt x="168" y="16"/>
                </a:moveTo>
                <a:cubicBezTo>
                  <a:pt x="168" y="15"/>
                  <a:pt x="168" y="15"/>
                  <a:pt x="168" y="15"/>
                </a:cubicBezTo>
                <a:cubicBezTo>
                  <a:pt x="166" y="11"/>
                  <a:pt x="163" y="7"/>
                  <a:pt x="159" y="5"/>
                </a:cubicBezTo>
                <a:cubicBezTo>
                  <a:pt x="159" y="40"/>
                  <a:pt x="159" y="40"/>
                  <a:pt x="159" y="40"/>
                </a:cubicBezTo>
                <a:cubicBezTo>
                  <a:pt x="163" y="49"/>
                  <a:pt x="163" y="49"/>
                  <a:pt x="163" y="49"/>
                </a:cubicBezTo>
                <a:cubicBezTo>
                  <a:pt x="163" y="49"/>
                  <a:pt x="163" y="49"/>
                  <a:pt x="163" y="49"/>
                </a:cubicBezTo>
                <a:cubicBezTo>
                  <a:pt x="166" y="55"/>
                  <a:pt x="164" y="61"/>
                  <a:pt x="159" y="65"/>
                </a:cubicBezTo>
                <a:cubicBezTo>
                  <a:pt x="159" y="82"/>
                  <a:pt x="159" y="82"/>
                  <a:pt x="159" y="82"/>
                </a:cubicBezTo>
                <a:cubicBezTo>
                  <a:pt x="168" y="78"/>
                  <a:pt x="168" y="78"/>
                  <a:pt x="168" y="78"/>
                </a:cubicBezTo>
                <a:cubicBezTo>
                  <a:pt x="168" y="16"/>
                  <a:pt x="168" y="16"/>
                  <a:pt x="168" y="16"/>
                </a:cubicBezTo>
                <a:close/>
                <a:moveTo>
                  <a:pt x="168" y="103"/>
                </a:moveTo>
                <a:cubicBezTo>
                  <a:pt x="168" y="114"/>
                  <a:pt x="168" y="114"/>
                  <a:pt x="168" y="114"/>
                </a:cubicBezTo>
                <a:cubicBezTo>
                  <a:pt x="159" y="118"/>
                  <a:pt x="159" y="118"/>
                  <a:pt x="159" y="118"/>
                </a:cubicBezTo>
                <a:cubicBezTo>
                  <a:pt x="159" y="108"/>
                  <a:pt x="159" y="108"/>
                  <a:pt x="159" y="108"/>
                </a:cubicBezTo>
                <a:lnTo>
                  <a:pt x="168" y="103"/>
                </a:lnTo>
                <a:close/>
                <a:moveTo>
                  <a:pt x="144" y="216"/>
                </a:moveTo>
                <a:cubicBezTo>
                  <a:pt x="159" y="209"/>
                  <a:pt x="159" y="209"/>
                  <a:pt x="159" y="209"/>
                </a:cubicBezTo>
                <a:cubicBezTo>
                  <a:pt x="159" y="180"/>
                  <a:pt x="159" y="180"/>
                  <a:pt x="159" y="180"/>
                </a:cubicBezTo>
                <a:cubicBezTo>
                  <a:pt x="144" y="187"/>
                  <a:pt x="144" y="187"/>
                  <a:pt x="144" y="187"/>
                </a:cubicBezTo>
                <a:cubicBezTo>
                  <a:pt x="144" y="216"/>
                  <a:pt x="144" y="216"/>
                  <a:pt x="144" y="216"/>
                </a:cubicBezTo>
                <a:close/>
                <a:moveTo>
                  <a:pt x="159" y="5"/>
                </a:moveTo>
                <a:cubicBezTo>
                  <a:pt x="155" y="2"/>
                  <a:pt x="149" y="0"/>
                  <a:pt x="144" y="0"/>
                </a:cubicBezTo>
                <a:cubicBezTo>
                  <a:pt x="144" y="22"/>
                  <a:pt x="144" y="22"/>
                  <a:pt x="144" y="22"/>
                </a:cubicBezTo>
                <a:cubicBezTo>
                  <a:pt x="148" y="23"/>
                  <a:pt x="152" y="25"/>
                  <a:pt x="154" y="30"/>
                </a:cubicBezTo>
                <a:cubicBezTo>
                  <a:pt x="159" y="40"/>
                  <a:pt x="159" y="40"/>
                  <a:pt x="159" y="40"/>
                </a:cubicBezTo>
                <a:cubicBezTo>
                  <a:pt x="159" y="5"/>
                  <a:pt x="159" y="5"/>
                  <a:pt x="159" y="5"/>
                </a:cubicBezTo>
                <a:close/>
                <a:moveTo>
                  <a:pt x="159" y="65"/>
                </a:moveTo>
                <a:cubicBezTo>
                  <a:pt x="159" y="82"/>
                  <a:pt x="159" y="82"/>
                  <a:pt x="159" y="82"/>
                </a:cubicBezTo>
                <a:cubicBezTo>
                  <a:pt x="144" y="89"/>
                  <a:pt x="144" y="89"/>
                  <a:pt x="144" y="89"/>
                </a:cubicBezTo>
                <a:cubicBezTo>
                  <a:pt x="144" y="72"/>
                  <a:pt x="144" y="72"/>
                  <a:pt x="144" y="72"/>
                </a:cubicBezTo>
                <a:cubicBezTo>
                  <a:pt x="157" y="66"/>
                  <a:pt x="157" y="66"/>
                  <a:pt x="157" y="66"/>
                </a:cubicBezTo>
                <a:cubicBezTo>
                  <a:pt x="158" y="66"/>
                  <a:pt x="159" y="66"/>
                  <a:pt x="159" y="65"/>
                </a:cubicBezTo>
                <a:close/>
                <a:moveTo>
                  <a:pt x="159" y="108"/>
                </a:moveTo>
                <a:cubicBezTo>
                  <a:pt x="159" y="118"/>
                  <a:pt x="159" y="118"/>
                  <a:pt x="159" y="118"/>
                </a:cubicBezTo>
                <a:cubicBezTo>
                  <a:pt x="156" y="120"/>
                  <a:pt x="156" y="120"/>
                  <a:pt x="156" y="120"/>
                </a:cubicBezTo>
                <a:cubicBezTo>
                  <a:pt x="154" y="121"/>
                  <a:pt x="153" y="123"/>
                  <a:pt x="154" y="126"/>
                </a:cubicBezTo>
                <a:cubicBezTo>
                  <a:pt x="159" y="136"/>
                  <a:pt x="159" y="136"/>
                  <a:pt x="159" y="136"/>
                </a:cubicBezTo>
                <a:cubicBezTo>
                  <a:pt x="159" y="160"/>
                  <a:pt x="159" y="160"/>
                  <a:pt x="159" y="160"/>
                </a:cubicBezTo>
                <a:cubicBezTo>
                  <a:pt x="159" y="159"/>
                  <a:pt x="159" y="159"/>
                  <a:pt x="159" y="159"/>
                </a:cubicBezTo>
                <a:cubicBezTo>
                  <a:pt x="158" y="157"/>
                  <a:pt x="155" y="156"/>
                  <a:pt x="153" y="157"/>
                </a:cubicBezTo>
                <a:cubicBezTo>
                  <a:pt x="144" y="162"/>
                  <a:pt x="144" y="162"/>
                  <a:pt x="144" y="162"/>
                </a:cubicBezTo>
                <a:cubicBezTo>
                  <a:pt x="144" y="151"/>
                  <a:pt x="144" y="151"/>
                  <a:pt x="144" y="151"/>
                </a:cubicBezTo>
                <a:cubicBezTo>
                  <a:pt x="149" y="148"/>
                  <a:pt x="149" y="148"/>
                  <a:pt x="149" y="148"/>
                </a:cubicBezTo>
                <a:cubicBezTo>
                  <a:pt x="151" y="147"/>
                  <a:pt x="152" y="145"/>
                  <a:pt x="151" y="143"/>
                </a:cubicBezTo>
                <a:cubicBezTo>
                  <a:pt x="151" y="143"/>
                  <a:pt x="151" y="143"/>
                  <a:pt x="151" y="143"/>
                </a:cubicBezTo>
                <a:cubicBezTo>
                  <a:pt x="145" y="130"/>
                  <a:pt x="145" y="130"/>
                  <a:pt x="145" y="130"/>
                </a:cubicBezTo>
                <a:cubicBezTo>
                  <a:pt x="145" y="129"/>
                  <a:pt x="144" y="129"/>
                  <a:pt x="144" y="128"/>
                </a:cubicBezTo>
                <a:cubicBezTo>
                  <a:pt x="144" y="104"/>
                  <a:pt x="144" y="104"/>
                  <a:pt x="144" y="104"/>
                </a:cubicBezTo>
                <a:cubicBezTo>
                  <a:pt x="146" y="109"/>
                  <a:pt x="146" y="109"/>
                  <a:pt x="146" y="109"/>
                </a:cubicBezTo>
                <a:cubicBezTo>
                  <a:pt x="147" y="111"/>
                  <a:pt x="150" y="112"/>
                  <a:pt x="152" y="111"/>
                </a:cubicBezTo>
                <a:lnTo>
                  <a:pt x="159" y="108"/>
                </a:lnTo>
                <a:close/>
                <a:moveTo>
                  <a:pt x="132" y="2"/>
                </a:moveTo>
                <a:cubicBezTo>
                  <a:pt x="123" y="7"/>
                  <a:pt x="123" y="7"/>
                  <a:pt x="123" y="7"/>
                </a:cubicBezTo>
                <a:cubicBezTo>
                  <a:pt x="123" y="30"/>
                  <a:pt x="123" y="30"/>
                  <a:pt x="123" y="30"/>
                </a:cubicBezTo>
                <a:cubicBezTo>
                  <a:pt x="137" y="23"/>
                  <a:pt x="137" y="23"/>
                  <a:pt x="137" y="23"/>
                </a:cubicBezTo>
                <a:cubicBezTo>
                  <a:pt x="139" y="22"/>
                  <a:pt x="142" y="22"/>
                  <a:pt x="144" y="22"/>
                </a:cubicBezTo>
                <a:cubicBezTo>
                  <a:pt x="144" y="0"/>
                  <a:pt x="144" y="0"/>
                  <a:pt x="144" y="0"/>
                </a:cubicBezTo>
                <a:cubicBezTo>
                  <a:pt x="140" y="0"/>
                  <a:pt x="136" y="1"/>
                  <a:pt x="132" y="2"/>
                </a:cubicBezTo>
                <a:close/>
                <a:moveTo>
                  <a:pt x="123" y="225"/>
                </a:moveTo>
                <a:cubicBezTo>
                  <a:pt x="144" y="216"/>
                  <a:pt x="144" y="216"/>
                  <a:pt x="144" y="216"/>
                </a:cubicBezTo>
                <a:cubicBezTo>
                  <a:pt x="144" y="187"/>
                  <a:pt x="144" y="187"/>
                  <a:pt x="144" y="187"/>
                </a:cubicBezTo>
                <a:cubicBezTo>
                  <a:pt x="135" y="191"/>
                  <a:pt x="135" y="191"/>
                  <a:pt x="135" y="191"/>
                </a:cubicBezTo>
                <a:cubicBezTo>
                  <a:pt x="133" y="192"/>
                  <a:pt x="130" y="191"/>
                  <a:pt x="129" y="189"/>
                </a:cubicBezTo>
                <a:cubicBezTo>
                  <a:pt x="123" y="177"/>
                  <a:pt x="123" y="177"/>
                  <a:pt x="123" y="177"/>
                </a:cubicBezTo>
                <a:cubicBezTo>
                  <a:pt x="123" y="225"/>
                  <a:pt x="123" y="225"/>
                  <a:pt x="123" y="225"/>
                </a:cubicBezTo>
                <a:close/>
                <a:moveTo>
                  <a:pt x="144" y="72"/>
                </a:moveTo>
                <a:cubicBezTo>
                  <a:pt x="144" y="89"/>
                  <a:pt x="144" y="89"/>
                  <a:pt x="144" y="89"/>
                </a:cubicBezTo>
                <a:cubicBezTo>
                  <a:pt x="142" y="90"/>
                  <a:pt x="142" y="90"/>
                  <a:pt x="142" y="90"/>
                </a:cubicBezTo>
                <a:cubicBezTo>
                  <a:pt x="140" y="91"/>
                  <a:pt x="139" y="94"/>
                  <a:pt x="140" y="96"/>
                </a:cubicBezTo>
                <a:cubicBezTo>
                  <a:pt x="144" y="104"/>
                  <a:pt x="144" y="104"/>
                  <a:pt x="144" y="104"/>
                </a:cubicBezTo>
                <a:cubicBezTo>
                  <a:pt x="144" y="128"/>
                  <a:pt x="144" y="128"/>
                  <a:pt x="144" y="128"/>
                </a:cubicBezTo>
                <a:cubicBezTo>
                  <a:pt x="143" y="127"/>
                  <a:pt x="141" y="127"/>
                  <a:pt x="139" y="128"/>
                </a:cubicBezTo>
                <a:cubicBezTo>
                  <a:pt x="123" y="135"/>
                  <a:pt x="123" y="135"/>
                  <a:pt x="123" y="135"/>
                </a:cubicBezTo>
                <a:cubicBezTo>
                  <a:pt x="123" y="125"/>
                  <a:pt x="123" y="125"/>
                  <a:pt x="123" y="125"/>
                </a:cubicBezTo>
                <a:cubicBezTo>
                  <a:pt x="135" y="119"/>
                  <a:pt x="135" y="119"/>
                  <a:pt x="135" y="119"/>
                </a:cubicBezTo>
                <a:cubicBezTo>
                  <a:pt x="137" y="118"/>
                  <a:pt x="138" y="115"/>
                  <a:pt x="137" y="113"/>
                </a:cubicBezTo>
                <a:cubicBezTo>
                  <a:pt x="137" y="113"/>
                  <a:pt x="137" y="113"/>
                  <a:pt x="137" y="113"/>
                </a:cubicBezTo>
                <a:cubicBezTo>
                  <a:pt x="131" y="100"/>
                  <a:pt x="131" y="100"/>
                  <a:pt x="131" y="100"/>
                </a:cubicBezTo>
                <a:cubicBezTo>
                  <a:pt x="130" y="98"/>
                  <a:pt x="128" y="97"/>
                  <a:pt x="126" y="98"/>
                </a:cubicBezTo>
                <a:cubicBezTo>
                  <a:pt x="123" y="99"/>
                  <a:pt x="123" y="99"/>
                  <a:pt x="123" y="99"/>
                </a:cubicBezTo>
                <a:cubicBezTo>
                  <a:pt x="123" y="82"/>
                  <a:pt x="123" y="82"/>
                  <a:pt x="123" y="82"/>
                </a:cubicBezTo>
                <a:cubicBezTo>
                  <a:pt x="144" y="72"/>
                  <a:pt x="144" y="72"/>
                  <a:pt x="144" y="72"/>
                </a:cubicBezTo>
                <a:close/>
                <a:moveTo>
                  <a:pt x="144" y="151"/>
                </a:moveTo>
                <a:cubicBezTo>
                  <a:pt x="144" y="162"/>
                  <a:pt x="144" y="162"/>
                  <a:pt x="144" y="162"/>
                </a:cubicBezTo>
                <a:cubicBezTo>
                  <a:pt x="125" y="171"/>
                  <a:pt x="125" y="171"/>
                  <a:pt x="125" y="171"/>
                </a:cubicBezTo>
                <a:cubicBezTo>
                  <a:pt x="124" y="171"/>
                  <a:pt x="124" y="172"/>
                  <a:pt x="123" y="172"/>
                </a:cubicBezTo>
                <a:cubicBezTo>
                  <a:pt x="123" y="161"/>
                  <a:pt x="123" y="161"/>
                  <a:pt x="123" y="161"/>
                </a:cubicBezTo>
                <a:lnTo>
                  <a:pt x="144" y="151"/>
                </a:lnTo>
                <a:close/>
                <a:moveTo>
                  <a:pt x="123" y="7"/>
                </a:moveTo>
                <a:cubicBezTo>
                  <a:pt x="99" y="18"/>
                  <a:pt x="99" y="18"/>
                  <a:pt x="99" y="18"/>
                </a:cubicBezTo>
                <a:cubicBezTo>
                  <a:pt x="99" y="41"/>
                  <a:pt x="99" y="41"/>
                  <a:pt x="99" y="41"/>
                </a:cubicBezTo>
                <a:cubicBezTo>
                  <a:pt x="123" y="30"/>
                  <a:pt x="123" y="30"/>
                  <a:pt x="123" y="30"/>
                </a:cubicBezTo>
                <a:cubicBezTo>
                  <a:pt x="123" y="7"/>
                  <a:pt x="123" y="7"/>
                  <a:pt x="123" y="7"/>
                </a:cubicBezTo>
                <a:close/>
                <a:moveTo>
                  <a:pt x="99" y="236"/>
                </a:moveTo>
                <a:cubicBezTo>
                  <a:pt x="100" y="236"/>
                  <a:pt x="102" y="235"/>
                  <a:pt x="103" y="235"/>
                </a:cubicBezTo>
                <a:cubicBezTo>
                  <a:pt x="123" y="225"/>
                  <a:pt x="123" y="225"/>
                  <a:pt x="123" y="225"/>
                </a:cubicBezTo>
                <a:cubicBezTo>
                  <a:pt x="123" y="177"/>
                  <a:pt x="123" y="177"/>
                  <a:pt x="123" y="177"/>
                </a:cubicBezTo>
                <a:cubicBezTo>
                  <a:pt x="123" y="176"/>
                  <a:pt x="123" y="176"/>
                  <a:pt x="123" y="176"/>
                </a:cubicBezTo>
                <a:cubicBezTo>
                  <a:pt x="122" y="175"/>
                  <a:pt x="123" y="174"/>
                  <a:pt x="123" y="172"/>
                </a:cubicBezTo>
                <a:cubicBezTo>
                  <a:pt x="123" y="161"/>
                  <a:pt x="123" y="161"/>
                  <a:pt x="123" y="161"/>
                </a:cubicBezTo>
                <a:cubicBezTo>
                  <a:pt x="121" y="162"/>
                  <a:pt x="121" y="162"/>
                  <a:pt x="121" y="162"/>
                </a:cubicBezTo>
                <a:cubicBezTo>
                  <a:pt x="119" y="163"/>
                  <a:pt x="116" y="162"/>
                  <a:pt x="115" y="159"/>
                </a:cubicBezTo>
                <a:cubicBezTo>
                  <a:pt x="109" y="147"/>
                  <a:pt x="109" y="147"/>
                  <a:pt x="109" y="147"/>
                </a:cubicBezTo>
                <a:cubicBezTo>
                  <a:pt x="108" y="145"/>
                  <a:pt x="109" y="142"/>
                  <a:pt x="111" y="141"/>
                </a:cubicBezTo>
                <a:cubicBezTo>
                  <a:pt x="123" y="135"/>
                  <a:pt x="123" y="135"/>
                  <a:pt x="123" y="135"/>
                </a:cubicBezTo>
                <a:cubicBezTo>
                  <a:pt x="123" y="125"/>
                  <a:pt x="123" y="125"/>
                  <a:pt x="123" y="125"/>
                </a:cubicBezTo>
                <a:cubicBezTo>
                  <a:pt x="107" y="132"/>
                  <a:pt x="107" y="132"/>
                  <a:pt x="107" y="132"/>
                </a:cubicBezTo>
                <a:cubicBezTo>
                  <a:pt x="105" y="133"/>
                  <a:pt x="102" y="132"/>
                  <a:pt x="101" y="130"/>
                </a:cubicBezTo>
                <a:cubicBezTo>
                  <a:pt x="99" y="124"/>
                  <a:pt x="99" y="124"/>
                  <a:pt x="99" y="124"/>
                </a:cubicBezTo>
                <a:cubicBezTo>
                  <a:pt x="99" y="150"/>
                  <a:pt x="99" y="150"/>
                  <a:pt x="99" y="150"/>
                </a:cubicBezTo>
                <a:cubicBezTo>
                  <a:pt x="99" y="150"/>
                  <a:pt x="99" y="151"/>
                  <a:pt x="100" y="151"/>
                </a:cubicBezTo>
                <a:cubicBezTo>
                  <a:pt x="106" y="164"/>
                  <a:pt x="106" y="164"/>
                  <a:pt x="106" y="164"/>
                </a:cubicBezTo>
                <a:cubicBezTo>
                  <a:pt x="106" y="164"/>
                  <a:pt x="106" y="164"/>
                  <a:pt x="106" y="164"/>
                </a:cubicBezTo>
                <a:cubicBezTo>
                  <a:pt x="107" y="166"/>
                  <a:pt x="106" y="169"/>
                  <a:pt x="104" y="170"/>
                </a:cubicBezTo>
                <a:cubicBezTo>
                  <a:pt x="99" y="172"/>
                  <a:pt x="99" y="172"/>
                  <a:pt x="99" y="172"/>
                </a:cubicBezTo>
                <a:cubicBezTo>
                  <a:pt x="99" y="183"/>
                  <a:pt x="99" y="183"/>
                  <a:pt x="99" y="183"/>
                </a:cubicBezTo>
                <a:cubicBezTo>
                  <a:pt x="108" y="179"/>
                  <a:pt x="108" y="179"/>
                  <a:pt x="108" y="179"/>
                </a:cubicBezTo>
                <a:cubicBezTo>
                  <a:pt x="110" y="178"/>
                  <a:pt x="113" y="179"/>
                  <a:pt x="114" y="181"/>
                </a:cubicBezTo>
                <a:cubicBezTo>
                  <a:pt x="120" y="194"/>
                  <a:pt x="120" y="194"/>
                  <a:pt x="120" y="194"/>
                </a:cubicBezTo>
                <a:cubicBezTo>
                  <a:pt x="120" y="194"/>
                  <a:pt x="120" y="194"/>
                  <a:pt x="120" y="194"/>
                </a:cubicBezTo>
                <a:cubicBezTo>
                  <a:pt x="121" y="196"/>
                  <a:pt x="120" y="198"/>
                  <a:pt x="118" y="199"/>
                </a:cubicBezTo>
                <a:cubicBezTo>
                  <a:pt x="99" y="208"/>
                  <a:pt x="99" y="208"/>
                  <a:pt x="99" y="208"/>
                </a:cubicBezTo>
                <a:cubicBezTo>
                  <a:pt x="99" y="236"/>
                  <a:pt x="99" y="236"/>
                  <a:pt x="99" y="236"/>
                </a:cubicBezTo>
                <a:close/>
                <a:moveTo>
                  <a:pt x="123" y="82"/>
                </a:moveTo>
                <a:cubicBezTo>
                  <a:pt x="123" y="99"/>
                  <a:pt x="123" y="99"/>
                  <a:pt x="123" y="99"/>
                </a:cubicBezTo>
                <a:cubicBezTo>
                  <a:pt x="99" y="111"/>
                  <a:pt x="99" y="111"/>
                  <a:pt x="99" y="111"/>
                </a:cubicBezTo>
                <a:cubicBezTo>
                  <a:pt x="99" y="94"/>
                  <a:pt x="99" y="94"/>
                  <a:pt x="99" y="94"/>
                </a:cubicBezTo>
                <a:lnTo>
                  <a:pt x="123" y="82"/>
                </a:lnTo>
                <a:close/>
                <a:moveTo>
                  <a:pt x="99" y="18"/>
                </a:moveTo>
                <a:cubicBezTo>
                  <a:pt x="71" y="31"/>
                  <a:pt x="71" y="31"/>
                  <a:pt x="71" y="31"/>
                </a:cubicBezTo>
                <a:cubicBezTo>
                  <a:pt x="71" y="54"/>
                  <a:pt x="71" y="54"/>
                  <a:pt x="71" y="54"/>
                </a:cubicBezTo>
                <a:cubicBezTo>
                  <a:pt x="99" y="41"/>
                  <a:pt x="99" y="41"/>
                  <a:pt x="99" y="41"/>
                </a:cubicBezTo>
                <a:cubicBezTo>
                  <a:pt x="99" y="18"/>
                  <a:pt x="99" y="18"/>
                  <a:pt x="99" y="18"/>
                </a:cubicBezTo>
                <a:close/>
                <a:moveTo>
                  <a:pt x="71" y="227"/>
                </a:moveTo>
                <a:cubicBezTo>
                  <a:pt x="77" y="235"/>
                  <a:pt x="88" y="239"/>
                  <a:pt x="99" y="236"/>
                </a:cubicBezTo>
                <a:cubicBezTo>
                  <a:pt x="99" y="208"/>
                  <a:pt x="99" y="208"/>
                  <a:pt x="99" y="208"/>
                </a:cubicBezTo>
                <a:cubicBezTo>
                  <a:pt x="89" y="212"/>
                  <a:pt x="89" y="212"/>
                  <a:pt x="89" y="212"/>
                </a:cubicBezTo>
                <a:cubicBezTo>
                  <a:pt x="87" y="213"/>
                  <a:pt x="85" y="213"/>
                  <a:pt x="84" y="210"/>
                </a:cubicBezTo>
                <a:cubicBezTo>
                  <a:pt x="78" y="197"/>
                  <a:pt x="78" y="197"/>
                  <a:pt x="78" y="197"/>
                </a:cubicBezTo>
                <a:cubicBezTo>
                  <a:pt x="77" y="195"/>
                  <a:pt x="78" y="193"/>
                  <a:pt x="80" y="192"/>
                </a:cubicBezTo>
                <a:cubicBezTo>
                  <a:pt x="99" y="183"/>
                  <a:pt x="99" y="183"/>
                  <a:pt x="99" y="183"/>
                </a:cubicBezTo>
                <a:cubicBezTo>
                  <a:pt x="99" y="172"/>
                  <a:pt x="99" y="172"/>
                  <a:pt x="99" y="172"/>
                </a:cubicBezTo>
                <a:cubicBezTo>
                  <a:pt x="75" y="183"/>
                  <a:pt x="75" y="183"/>
                  <a:pt x="75" y="183"/>
                </a:cubicBezTo>
                <a:cubicBezTo>
                  <a:pt x="74" y="184"/>
                  <a:pt x="72" y="183"/>
                  <a:pt x="71" y="182"/>
                </a:cubicBezTo>
                <a:cubicBezTo>
                  <a:pt x="71" y="227"/>
                  <a:pt x="71" y="227"/>
                  <a:pt x="71" y="227"/>
                </a:cubicBezTo>
                <a:close/>
                <a:moveTo>
                  <a:pt x="99" y="94"/>
                </a:moveTo>
                <a:cubicBezTo>
                  <a:pt x="99" y="111"/>
                  <a:pt x="99" y="111"/>
                  <a:pt x="99" y="111"/>
                </a:cubicBezTo>
                <a:cubicBezTo>
                  <a:pt x="97" y="111"/>
                  <a:pt x="97" y="111"/>
                  <a:pt x="97" y="111"/>
                </a:cubicBezTo>
                <a:cubicBezTo>
                  <a:pt x="95" y="112"/>
                  <a:pt x="94" y="115"/>
                  <a:pt x="95" y="117"/>
                </a:cubicBezTo>
                <a:cubicBezTo>
                  <a:pt x="99" y="124"/>
                  <a:pt x="99" y="124"/>
                  <a:pt x="99" y="124"/>
                </a:cubicBezTo>
                <a:cubicBezTo>
                  <a:pt x="99" y="150"/>
                  <a:pt x="99" y="150"/>
                  <a:pt x="99" y="150"/>
                </a:cubicBezTo>
                <a:cubicBezTo>
                  <a:pt x="97" y="149"/>
                  <a:pt x="96" y="148"/>
                  <a:pt x="94" y="149"/>
                </a:cubicBezTo>
                <a:cubicBezTo>
                  <a:pt x="71" y="160"/>
                  <a:pt x="71" y="160"/>
                  <a:pt x="71" y="160"/>
                </a:cubicBezTo>
                <a:cubicBezTo>
                  <a:pt x="71" y="149"/>
                  <a:pt x="71" y="149"/>
                  <a:pt x="71" y="149"/>
                </a:cubicBezTo>
                <a:cubicBezTo>
                  <a:pt x="90" y="140"/>
                  <a:pt x="90" y="140"/>
                  <a:pt x="90" y="140"/>
                </a:cubicBezTo>
                <a:cubicBezTo>
                  <a:pt x="92" y="139"/>
                  <a:pt x="93" y="136"/>
                  <a:pt x="92" y="134"/>
                </a:cubicBezTo>
                <a:cubicBezTo>
                  <a:pt x="92" y="134"/>
                  <a:pt x="92" y="134"/>
                  <a:pt x="92" y="134"/>
                </a:cubicBezTo>
                <a:cubicBezTo>
                  <a:pt x="86" y="122"/>
                  <a:pt x="86" y="122"/>
                  <a:pt x="86" y="122"/>
                </a:cubicBezTo>
                <a:cubicBezTo>
                  <a:pt x="85" y="119"/>
                  <a:pt x="82" y="118"/>
                  <a:pt x="80" y="119"/>
                </a:cubicBezTo>
                <a:cubicBezTo>
                  <a:pt x="71" y="124"/>
                  <a:pt x="71" y="124"/>
                  <a:pt x="71" y="124"/>
                </a:cubicBezTo>
                <a:cubicBezTo>
                  <a:pt x="71" y="107"/>
                  <a:pt x="71" y="107"/>
                  <a:pt x="71" y="107"/>
                </a:cubicBezTo>
                <a:lnTo>
                  <a:pt x="99" y="94"/>
                </a:lnTo>
                <a:close/>
                <a:moveTo>
                  <a:pt x="71" y="31"/>
                </a:moveTo>
                <a:cubicBezTo>
                  <a:pt x="20" y="55"/>
                  <a:pt x="20" y="55"/>
                  <a:pt x="20" y="55"/>
                </a:cubicBezTo>
                <a:cubicBezTo>
                  <a:pt x="6" y="62"/>
                  <a:pt x="0" y="78"/>
                  <a:pt x="7" y="91"/>
                </a:cubicBezTo>
                <a:cubicBezTo>
                  <a:pt x="68" y="222"/>
                  <a:pt x="68" y="222"/>
                  <a:pt x="68" y="222"/>
                </a:cubicBezTo>
                <a:cubicBezTo>
                  <a:pt x="69" y="223"/>
                  <a:pt x="70" y="225"/>
                  <a:pt x="71" y="227"/>
                </a:cubicBezTo>
                <a:cubicBezTo>
                  <a:pt x="71" y="182"/>
                  <a:pt x="71" y="182"/>
                  <a:pt x="71" y="182"/>
                </a:cubicBezTo>
                <a:cubicBezTo>
                  <a:pt x="71" y="182"/>
                  <a:pt x="70" y="181"/>
                  <a:pt x="70" y="181"/>
                </a:cubicBezTo>
                <a:cubicBezTo>
                  <a:pt x="64" y="168"/>
                  <a:pt x="64" y="168"/>
                  <a:pt x="64" y="168"/>
                </a:cubicBezTo>
                <a:cubicBezTo>
                  <a:pt x="63" y="166"/>
                  <a:pt x="64" y="163"/>
                  <a:pt x="66" y="162"/>
                </a:cubicBezTo>
                <a:cubicBezTo>
                  <a:pt x="71" y="160"/>
                  <a:pt x="71" y="160"/>
                  <a:pt x="71" y="160"/>
                </a:cubicBezTo>
                <a:cubicBezTo>
                  <a:pt x="71" y="149"/>
                  <a:pt x="71" y="149"/>
                  <a:pt x="71" y="149"/>
                </a:cubicBezTo>
                <a:cubicBezTo>
                  <a:pt x="62" y="153"/>
                  <a:pt x="62" y="153"/>
                  <a:pt x="62" y="153"/>
                </a:cubicBezTo>
                <a:cubicBezTo>
                  <a:pt x="60" y="154"/>
                  <a:pt x="57" y="153"/>
                  <a:pt x="56" y="151"/>
                </a:cubicBezTo>
                <a:cubicBezTo>
                  <a:pt x="50" y="138"/>
                  <a:pt x="50" y="138"/>
                  <a:pt x="50" y="138"/>
                </a:cubicBezTo>
                <a:cubicBezTo>
                  <a:pt x="49" y="136"/>
                  <a:pt x="50" y="134"/>
                  <a:pt x="52" y="133"/>
                </a:cubicBezTo>
                <a:cubicBezTo>
                  <a:pt x="71" y="124"/>
                  <a:pt x="71" y="124"/>
                  <a:pt x="71" y="124"/>
                </a:cubicBezTo>
                <a:cubicBezTo>
                  <a:pt x="71" y="107"/>
                  <a:pt x="71" y="107"/>
                  <a:pt x="71" y="107"/>
                </a:cubicBezTo>
                <a:cubicBezTo>
                  <a:pt x="53" y="115"/>
                  <a:pt x="53" y="115"/>
                  <a:pt x="53" y="115"/>
                </a:cubicBezTo>
                <a:cubicBezTo>
                  <a:pt x="46" y="118"/>
                  <a:pt x="38" y="116"/>
                  <a:pt x="35" y="109"/>
                </a:cubicBezTo>
                <a:cubicBezTo>
                  <a:pt x="26" y="89"/>
                  <a:pt x="26" y="89"/>
                  <a:pt x="26" y="89"/>
                </a:cubicBezTo>
                <a:cubicBezTo>
                  <a:pt x="23" y="83"/>
                  <a:pt x="26" y="75"/>
                  <a:pt x="33" y="72"/>
                </a:cubicBezTo>
                <a:cubicBezTo>
                  <a:pt x="71" y="54"/>
                  <a:pt x="71" y="54"/>
                  <a:pt x="71" y="54"/>
                </a:cubicBezTo>
                <a:lnTo>
                  <a:pt x="71" y="31"/>
                </a:lnTo>
                <a:close/>
              </a:path>
            </a:pathLst>
          </a:custGeom>
          <a:solidFill>
            <a:schemeClr val="accent2"/>
          </a:solidFill>
          <a:ln>
            <a:noFill/>
          </a:ln>
        </p:spPr>
        <p:txBody>
          <a:bodyPr vert="horz" wrap="square" lIns="91440" tIns="45720" rIns="91440" bIns="45720" numCol="1" anchor="t" anchorCtr="0" compatLnSpc="1"/>
          <a:lstStyle/>
          <a:p>
            <a:endParaRPr lang="id-ID"/>
          </a:p>
        </p:txBody>
      </p:sp>
      <p:sp>
        <p:nvSpPr>
          <p:cNvPr id="103" name="Rectangle 59"/>
          <p:cNvSpPr>
            <a:spLocks noChangeArrowheads="1"/>
          </p:cNvSpPr>
          <p:nvPr/>
        </p:nvSpPr>
        <p:spPr bwMode="auto">
          <a:xfrm>
            <a:off x="9163920" y="2807678"/>
            <a:ext cx="626818"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4" name="Rectangle 60"/>
          <p:cNvSpPr>
            <a:spLocks noChangeArrowheads="1"/>
          </p:cNvSpPr>
          <p:nvPr/>
        </p:nvSpPr>
        <p:spPr bwMode="auto">
          <a:xfrm>
            <a:off x="9189310" y="2744178"/>
            <a:ext cx="576038"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5" name="Rectangle 61"/>
          <p:cNvSpPr>
            <a:spLocks noChangeArrowheads="1"/>
          </p:cNvSpPr>
          <p:nvPr/>
        </p:nvSpPr>
        <p:spPr bwMode="auto">
          <a:xfrm>
            <a:off x="9416234" y="2679090"/>
            <a:ext cx="122190"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6" name="Rectangle 62"/>
          <p:cNvSpPr>
            <a:spLocks noChangeArrowheads="1"/>
          </p:cNvSpPr>
          <p:nvPr/>
        </p:nvSpPr>
        <p:spPr bwMode="auto">
          <a:xfrm>
            <a:off x="9438450" y="2445728"/>
            <a:ext cx="77758" cy="25400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7" name="Rectangle 63"/>
          <p:cNvSpPr>
            <a:spLocks noChangeArrowheads="1"/>
          </p:cNvSpPr>
          <p:nvPr/>
        </p:nvSpPr>
        <p:spPr bwMode="auto">
          <a:xfrm>
            <a:off x="9416234" y="2433028"/>
            <a:ext cx="122190"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8" name="Rectangle 64"/>
          <p:cNvSpPr>
            <a:spLocks noChangeArrowheads="1"/>
          </p:cNvSpPr>
          <p:nvPr/>
        </p:nvSpPr>
        <p:spPr bwMode="auto">
          <a:xfrm>
            <a:off x="9601899" y="2679090"/>
            <a:ext cx="119017"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09" name="Rectangle 65"/>
          <p:cNvSpPr>
            <a:spLocks noChangeArrowheads="1"/>
          </p:cNvSpPr>
          <p:nvPr/>
        </p:nvSpPr>
        <p:spPr bwMode="auto">
          <a:xfrm>
            <a:off x="9622529" y="2445728"/>
            <a:ext cx="76170" cy="25400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10" name="Rectangle 66"/>
          <p:cNvSpPr>
            <a:spLocks noChangeArrowheads="1"/>
          </p:cNvSpPr>
          <p:nvPr/>
        </p:nvSpPr>
        <p:spPr bwMode="auto">
          <a:xfrm>
            <a:off x="9601899" y="2433028"/>
            <a:ext cx="119017"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11" name="Rectangle 67"/>
          <p:cNvSpPr>
            <a:spLocks noChangeArrowheads="1"/>
          </p:cNvSpPr>
          <p:nvPr/>
        </p:nvSpPr>
        <p:spPr bwMode="auto">
          <a:xfrm>
            <a:off x="9233742" y="2679090"/>
            <a:ext cx="122190"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12" name="Rectangle 68"/>
          <p:cNvSpPr>
            <a:spLocks noChangeArrowheads="1"/>
          </p:cNvSpPr>
          <p:nvPr/>
        </p:nvSpPr>
        <p:spPr bwMode="auto">
          <a:xfrm>
            <a:off x="9254373" y="2445728"/>
            <a:ext cx="79344" cy="25400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13" name="Rectangle 69"/>
          <p:cNvSpPr>
            <a:spLocks noChangeArrowheads="1"/>
          </p:cNvSpPr>
          <p:nvPr/>
        </p:nvSpPr>
        <p:spPr bwMode="auto">
          <a:xfrm>
            <a:off x="9233742" y="2433028"/>
            <a:ext cx="122190"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14" name="Rectangle 70"/>
          <p:cNvSpPr>
            <a:spLocks noChangeArrowheads="1"/>
          </p:cNvSpPr>
          <p:nvPr/>
        </p:nvSpPr>
        <p:spPr bwMode="auto">
          <a:xfrm>
            <a:off x="9189310" y="2363178"/>
            <a:ext cx="576038" cy="317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15" name="Freeform 71"/>
          <p:cNvSpPr/>
          <p:nvPr/>
        </p:nvSpPr>
        <p:spPr bwMode="auto">
          <a:xfrm>
            <a:off x="9189310" y="2179028"/>
            <a:ext cx="576038" cy="184150"/>
          </a:xfrm>
          <a:custGeom>
            <a:avLst/>
            <a:gdLst>
              <a:gd name="T0" fmla="*/ 181 w 363"/>
              <a:gd name="T1" fmla="*/ 0 h 116"/>
              <a:gd name="T2" fmla="*/ 363 w 363"/>
              <a:gd name="T3" fmla="*/ 116 h 116"/>
              <a:gd name="T4" fmla="*/ 0 w 363"/>
              <a:gd name="T5" fmla="*/ 116 h 116"/>
              <a:gd name="T6" fmla="*/ 181 w 363"/>
              <a:gd name="T7" fmla="*/ 0 h 116"/>
            </a:gdLst>
            <a:ahLst/>
            <a:cxnLst>
              <a:cxn ang="0">
                <a:pos x="T0" y="T1"/>
              </a:cxn>
              <a:cxn ang="0">
                <a:pos x="T2" y="T3"/>
              </a:cxn>
              <a:cxn ang="0">
                <a:pos x="T4" y="T5"/>
              </a:cxn>
              <a:cxn ang="0">
                <a:pos x="T6" y="T7"/>
              </a:cxn>
            </a:cxnLst>
            <a:rect l="0" t="0" r="r" b="b"/>
            <a:pathLst>
              <a:path w="363" h="116">
                <a:moveTo>
                  <a:pt x="181" y="0"/>
                </a:moveTo>
                <a:lnTo>
                  <a:pt x="363" y="116"/>
                </a:lnTo>
                <a:lnTo>
                  <a:pt x="0" y="116"/>
                </a:lnTo>
                <a:lnTo>
                  <a:pt x="181"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16" name="Freeform 72"/>
          <p:cNvSpPr>
            <a:spLocks noEditPoints="1"/>
          </p:cNvSpPr>
          <p:nvPr/>
        </p:nvSpPr>
        <p:spPr bwMode="auto">
          <a:xfrm>
            <a:off x="7605603" y="2345715"/>
            <a:ext cx="799788" cy="522288"/>
          </a:xfrm>
          <a:custGeom>
            <a:avLst/>
            <a:gdLst>
              <a:gd name="T0" fmla="*/ 82 w 367"/>
              <a:gd name="T1" fmla="*/ 27 h 240"/>
              <a:gd name="T2" fmla="*/ 367 w 367"/>
              <a:gd name="T3" fmla="*/ 120 h 240"/>
              <a:gd name="T4" fmla="*/ 82 w 367"/>
              <a:gd name="T5" fmla="*/ 213 h 240"/>
              <a:gd name="T6" fmla="*/ 82 w 367"/>
              <a:gd name="T7" fmla="*/ 177 h 240"/>
              <a:gd name="T8" fmla="*/ 127 w 367"/>
              <a:gd name="T9" fmla="*/ 143 h 240"/>
              <a:gd name="T10" fmla="*/ 127 w 367"/>
              <a:gd name="T11" fmla="*/ 87 h 240"/>
              <a:gd name="T12" fmla="*/ 138 w 367"/>
              <a:gd name="T13" fmla="*/ 87 h 240"/>
              <a:gd name="T14" fmla="*/ 138 w 367"/>
              <a:gd name="T15" fmla="*/ 64 h 240"/>
              <a:gd name="T16" fmla="*/ 127 w 367"/>
              <a:gd name="T17" fmla="*/ 64 h 240"/>
              <a:gd name="T18" fmla="*/ 102 w 367"/>
              <a:gd name="T19" fmla="*/ 64 h 240"/>
              <a:gd name="T20" fmla="*/ 91 w 367"/>
              <a:gd name="T21" fmla="*/ 64 h 240"/>
              <a:gd name="T22" fmla="*/ 91 w 367"/>
              <a:gd name="T23" fmla="*/ 87 h 240"/>
              <a:gd name="T24" fmla="*/ 102 w 367"/>
              <a:gd name="T25" fmla="*/ 87 h 240"/>
              <a:gd name="T26" fmla="*/ 102 w 367"/>
              <a:gd name="T27" fmla="*/ 143 h 240"/>
              <a:gd name="T28" fmla="*/ 82 w 367"/>
              <a:gd name="T29" fmla="*/ 156 h 240"/>
              <a:gd name="T30" fmla="*/ 82 w 367"/>
              <a:gd name="T31" fmla="*/ 27 h 240"/>
              <a:gd name="T32" fmla="*/ 0 w 367"/>
              <a:gd name="T33" fmla="*/ 0 h 240"/>
              <a:gd name="T34" fmla="*/ 82 w 367"/>
              <a:gd name="T35" fmla="*/ 27 h 240"/>
              <a:gd name="T36" fmla="*/ 82 w 367"/>
              <a:gd name="T37" fmla="*/ 156 h 240"/>
              <a:gd name="T38" fmla="*/ 82 w 367"/>
              <a:gd name="T39" fmla="*/ 156 h 240"/>
              <a:gd name="T40" fmla="*/ 62 w 367"/>
              <a:gd name="T41" fmla="*/ 143 h 240"/>
              <a:gd name="T42" fmla="*/ 62 w 367"/>
              <a:gd name="T43" fmla="*/ 87 h 240"/>
              <a:gd name="T44" fmla="*/ 73 w 367"/>
              <a:gd name="T45" fmla="*/ 87 h 240"/>
              <a:gd name="T46" fmla="*/ 73 w 367"/>
              <a:gd name="T47" fmla="*/ 64 h 240"/>
              <a:gd name="T48" fmla="*/ 62 w 367"/>
              <a:gd name="T49" fmla="*/ 64 h 240"/>
              <a:gd name="T50" fmla="*/ 37 w 367"/>
              <a:gd name="T51" fmla="*/ 64 h 240"/>
              <a:gd name="T52" fmla="*/ 26 w 367"/>
              <a:gd name="T53" fmla="*/ 64 h 240"/>
              <a:gd name="T54" fmla="*/ 26 w 367"/>
              <a:gd name="T55" fmla="*/ 87 h 240"/>
              <a:gd name="T56" fmla="*/ 37 w 367"/>
              <a:gd name="T57" fmla="*/ 87 h 240"/>
              <a:gd name="T58" fmla="*/ 37 w 367"/>
              <a:gd name="T59" fmla="*/ 143 h 240"/>
              <a:gd name="T60" fmla="*/ 82 w 367"/>
              <a:gd name="T61" fmla="*/ 177 h 240"/>
              <a:gd name="T62" fmla="*/ 82 w 367"/>
              <a:gd name="T63" fmla="*/ 177 h 240"/>
              <a:gd name="T64" fmla="*/ 82 w 367"/>
              <a:gd name="T65" fmla="*/ 213 h 240"/>
              <a:gd name="T66" fmla="*/ 0 w 367"/>
              <a:gd name="T67" fmla="*/ 240 h 240"/>
              <a:gd name="T68" fmla="*/ 0 w 367"/>
              <a:gd name="T69"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7" h="240">
                <a:moveTo>
                  <a:pt x="82" y="27"/>
                </a:moveTo>
                <a:cubicBezTo>
                  <a:pt x="367" y="120"/>
                  <a:pt x="367" y="120"/>
                  <a:pt x="367" y="120"/>
                </a:cubicBezTo>
                <a:cubicBezTo>
                  <a:pt x="82" y="213"/>
                  <a:pt x="82" y="213"/>
                  <a:pt x="82" y="213"/>
                </a:cubicBezTo>
                <a:cubicBezTo>
                  <a:pt x="82" y="177"/>
                  <a:pt x="82" y="177"/>
                  <a:pt x="82" y="177"/>
                </a:cubicBezTo>
                <a:cubicBezTo>
                  <a:pt x="107" y="177"/>
                  <a:pt x="127" y="162"/>
                  <a:pt x="127" y="143"/>
                </a:cubicBezTo>
                <a:cubicBezTo>
                  <a:pt x="127" y="87"/>
                  <a:pt x="127" y="87"/>
                  <a:pt x="127" y="87"/>
                </a:cubicBezTo>
                <a:cubicBezTo>
                  <a:pt x="138" y="87"/>
                  <a:pt x="138" y="87"/>
                  <a:pt x="138" y="87"/>
                </a:cubicBezTo>
                <a:cubicBezTo>
                  <a:pt x="138" y="64"/>
                  <a:pt x="138" y="64"/>
                  <a:pt x="138" y="64"/>
                </a:cubicBezTo>
                <a:cubicBezTo>
                  <a:pt x="127" y="64"/>
                  <a:pt x="127" y="64"/>
                  <a:pt x="127" y="64"/>
                </a:cubicBezTo>
                <a:cubicBezTo>
                  <a:pt x="102" y="64"/>
                  <a:pt x="102" y="64"/>
                  <a:pt x="102" y="64"/>
                </a:cubicBezTo>
                <a:cubicBezTo>
                  <a:pt x="91" y="64"/>
                  <a:pt x="91" y="64"/>
                  <a:pt x="91" y="64"/>
                </a:cubicBezTo>
                <a:cubicBezTo>
                  <a:pt x="91" y="87"/>
                  <a:pt x="91" y="87"/>
                  <a:pt x="91" y="87"/>
                </a:cubicBezTo>
                <a:cubicBezTo>
                  <a:pt x="102" y="87"/>
                  <a:pt x="102" y="87"/>
                  <a:pt x="102" y="87"/>
                </a:cubicBezTo>
                <a:cubicBezTo>
                  <a:pt x="102" y="143"/>
                  <a:pt x="102" y="143"/>
                  <a:pt x="102" y="143"/>
                </a:cubicBezTo>
                <a:cubicBezTo>
                  <a:pt x="102" y="150"/>
                  <a:pt x="93" y="156"/>
                  <a:pt x="82" y="156"/>
                </a:cubicBezTo>
                <a:lnTo>
                  <a:pt x="82" y="27"/>
                </a:lnTo>
                <a:close/>
                <a:moveTo>
                  <a:pt x="0" y="0"/>
                </a:moveTo>
                <a:cubicBezTo>
                  <a:pt x="82" y="27"/>
                  <a:pt x="82" y="27"/>
                  <a:pt x="82" y="27"/>
                </a:cubicBezTo>
                <a:cubicBezTo>
                  <a:pt x="82" y="156"/>
                  <a:pt x="82" y="156"/>
                  <a:pt x="82" y="156"/>
                </a:cubicBezTo>
                <a:cubicBezTo>
                  <a:pt x="82" y="156"/>
                  <a:pt x="82" y="156"/>
                  <a:pt x="82" y="156"/>
                </a:cubicBezTo>
                <a:cubicBezTo>
                  <a:pt x="71" y="156"/>
                  <a:pt x="62" y="150"/>
                  <a:pt x="62" y="143"/>
                </a:cubicBezTo>
                <a:cubicBezTo>
                  <a:pt x="62" y="87"/>
                  <a:pt x="62" y="87"/>
                  <a:pt x="62" y="87"/>
                </a:cubicBezTo>
                <a:cubicBezTo>
                  <a:pt x="73" y="87"/>
                  <a:pt x="73" y="87"/>
                  <a:pt x="73" y="87"/>
                </a:cubicBezTo>
                <a:cubicBezTo>
                  <a:pt x="73" y="64"/>
                  <a:pt x="73" y="64"/>
                  <a:pt x="73" y="64"/>
                </a:cubicBezTo>
                <a:cubicBezTo>
                  <a:pt x="62" y="64"/>
                  <a:pt x="62" y="64"/>
                  <a:pt x="62" y="64"/>
                </a:cubicBezTo>
                <a:cubicBezTo>
                  <a:pt x="37" y="64"/>
                  <a:pt x="37" y="64"/>
                  <a:pt x="37" y="64"/>
                </a:cubicBezTo>
                <a:cubicBezTo>
                  <a:pt x="26" y="64"/>
                  <a:pt x="26" y="64"/>
                  <a:pt x="26" y="64"/>
                </a:cubicBezTo>
                <a:cubicBezTo>
                  <a:pt x="26" y="87"/>
                  <a:pt x="26" y="87"/>
                  <a:pt x="26" y="87"/>
                </a:cubicBezTo>
                <a:cubicBezTo>
                  <a:pt x="37" y="87"/>
                  <a:pt x="37" y="87"/>
                  <a:pt x="37" y="87"/>
                </a:cubicBezTo>
                <a:cubicBezTo>
                  <a:pt x="37" y="143"/>
                  <a:pt x="37" y="143"/>
                  <a:pt x="37" y="143"/>
                </a:cubicBezTo>
                <a:cubicBezTo>
                  <a:pt x="37" y="162"/>
                  <a:pt x="57" y="177"/>
                  <a:pt x="82" y="177"/>
                </a:cubicBezTo>
                <a:cubicBezTo>
                  <a:pt x="82" y="177"/>
                  <a:pt x="82" y="177"/>
                  <a:pt x="82" y="177"/>
                </a:cubicBezTo>
                <a:cubicBezTo>
                  <a:pt x="82" y="213"/>
                  <a:pt x="82" y="213"/>
                  <a:pt x="82" y="213"/>
                </a:cubicBezTo>
                <a:cubicBezTo>
                  <a:pt x="0" y="240"/>
                  <a:pt x="0" y="240"/>
                  <a:pt x="0" y="240"/>
                </a:cubicBez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17" name="Freeform 73"/>
          <p:cNvSpPr>
            <a:spLocks noEditPoints="1"/>
          </p:cNvSpPr>
          <p:nvPr/>
        </p:nvSpPr>
        <p:spPr bwMode="auto">
          <a:xfrm>
            <a:off x="9370214" y="2918804"/>
            <a:ext cx="187252" cy="327025"/>
          </a:xfrm>
          <a:custGeom>
            <a:avLst/>
            <a:gdLst>
              <a:gd name="T0" fmla="*/ 37 w 86"/>
              <a:gd name="T1" fmla="*/ 128 h 150"/>
              <a:gd name="T2" fmla="*/ 34 w 86"/>
              <a:gd name="T3" fmla="*/ 127 h 150"/>
              <a:gd name="T4" fmla="*/ 34 w 86"/>
              <a:gd name="T5" fmla="*/ 150 h 150"/>
              <a:gd name="T6" fmla="*/ 45 w 86"/>
              <a:gd name="T7" fmla="*/ 142 h 150"/>
              <a:gd name="T8" fmla="*/ 37 w 86"/>
              <a:gd name="T9" fmla="*/ 128 h 150"/>
              <a:gd name="T10" fmla="*/ 34 w 86"/>
              <a:gd name="T11" fmla="*/ 118 h 150"/>
              <a:gd name="T12" fmla="*/ 34 w 86"/>
              <a:gd name="T13" fmla="*/ 51 h 150"/>
              <a:gd name="T14" fmla="*/ 51 w 86"/>
              <a:gd name="T15" fmla="*/ 46 h 150"/>
              <a:gd name="T16" fmla="*/ 61 w 86"/>
              <a:gd name="T17" fmla="*/ 8 h 150"/>
              <a:gd name="T18" fmla="*/ 72 w 86"/>
              <a:gd name="T19" fmla="*/ 1 h 150"/>
              <a:gd name="T20" fmla="*/ 78 w 86"/>
              <a:gd name="T21" fmla="*/ 12 h 150"/>
              <a:gd name="T22" fmla="*/ 69 w 86"/>
              <a:gd name="T23" fmla="*/ 51 h 150"/>
              <a:gd name="T24" fmla="*/ 82 w 86"/>
              <a:gd name="T25" fmla="*/ 84 h 150"/>
              <a:gd name="T26" fmla="*/ 77 w 86"/>
              <a:gd name="T27" fmla="*/ 103 h 150"/>
              <a:gd name="T28" fmla="*/ 77 w 86"/>
              <a:gd name="T29" fmla="*/ 103 h 150"/>
              <a:gd name="T30" fmla="*/ 86 w 86"/>
              <a:gd name="T31" fmla="*/ 117 h 150"/>
              <a:gd name="T32" fmla="*/ 83 w 86"/>
              <a:gd name="T33" fmla="*/ 130 h 150"/>
              <a:gd name="T34" fmla="*/ 34 w 86"/>
              <a:gd name="T35" fmla="*/ 118 h 150"/>
              <a:gd name="T36" fmla="*/ 34 w 86"/>
              <a:gd name="T37" fmla="*/ 127 h 150"/>
              <a:gd name="T38" fmla="*/ 23 w 86"/>
              <a:gd name="T39" fmla="*/ 136 h 150"/>
              <a:gd name="T40" fmla="*/ 31 w 86"/>
              <a:gd name="T41" fmla="*/ 150 h 150"/>
              <a:gd name="T42" fmla="*/ 34 w 86"/>
              <a:gd name="T43" fmla="*/ 150 h 150"/>
              <a:gd name="T44" fmla="*/ 34 w 86"/>
              <a:gd name="T45" fmla="*/ 127 h 150"/>
              <a:gd name="T46" fmla="*/ 34 w 86"/>
              <a:gd name="T47" fmla="*/ 51 h 150"/>
              <a:gd name="T48" fmla="*/ 34 w 86"/>
              <a:gd name="T49" fmla="*/ 118 h 150"/>
              <a:gd name="T50" fmla="*/ 0 w 86"/>
              <a:gd name="T51" fmla="*/ 109 h 150"/>
              <a:gd name="T52" fmla="*/ 3 w 86"/>
              <a:gd name="T53" fmla="*/ 96 h 150"/>
              <a:gd name="T54" fmla="*/ 18 w 86"/>
              <a:gd name="T55" fmla="*/ 88 h 150"/>
              <a:gd name="T56" fmla="*/ 23 w 86"/>
              <a:gd name="T57" fmla="*/ 69 h 150"/>
              <a:gd name="T58" fmla="*/ 34 w 86"/>
              <a:gd name="T59" fmla="*/ 51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6" h="150">
                <a:moveTo>
                  <a:pt x="37" y="128"/>
                </a:moveTo>
                <a:cubicBezTo>
                  <a:pt x="36" y="127"/>
                  <a:pt x="35" y="127"/>
                  <a:pt x="34" y="127"/>
                </a:cubicBezTo>
                <a:cubicBezTo>
                  <a:pt x="34" y="150"/>
                  <a:pt x="34" y="150"/>
                  <a:pt x="34" y="150"/>
                </a:cubicBezTo>
                <a:cubicBezTo>
                  <a:pt x="39" y="150"/>
                  <a:pt x="44" y="147"/>
                  <a:pt x="45" y="142"/>
                </a:cubicBezTo>
                <a:cubicBezTo>
                  <a:pt x="47" y="136"/>
                  <a:pt x="43" y="129"/>
                  <a:pt x="37" y="128"/>
                </a:cubicBezTo>
                <a:close/>
                <a:moveTo>
                  <a:pt x="34" y="118"/>
                </a:moveTo>
                <a:cubicBezTo>
                  <a:pt x="34" y="51"/>
                  <a:pt x="34" y="51"/>
                  <a:pt x="34" y="51"/>
                </a:cubicBezTo>
                <a:cubicBezTo>
                  <a:pt x="39" y="48"/>
                  <a:pt x="45" y="46"/>
                  <a:pt x="51" y="46"/>
                </a:cubicBezTo>
                <a:cubicBezTo>
                  <a:pt x="61" y="8"/>
                  <a:pt x="61" y="8"/>
                  <a:pt x="61" y="8"/>
                </a:cubicBezTo>
                <a:cubicBezTo>
                  <a:pt x="62" y="3"/>
                  <a:pt x="67" y="0"/>
                  <a:pt x="72" y="1"/>
                </a:cubicBezTo>
                <a:cubicBezTo>
                  <a:pt x="77" y="2"/>
                  <a:pt x="80" y="7"/>
                  <a:pt x="78" y="12"/>
                </a:cubicBezTo>
                <a:cubicBezTo>
                  <a:pt x="69" y="51"/>
                  <a:pt x="69" y="51"/>
                  <a:pt x="69" y="51"/>
                </a:cubicBezTo>
                <a:cubicBezTo>
                  <a:pt x="79" y="57"/>
                  <a:pt x="86" y="68"/>
                  <a:pt x="82" y="84"/>
                </a:cubicBezTo>
                <a:cubicBezTo>
                  <a:pt x="82" y="84"/>
                  <a:pt x="79" y="97"/>
                  <a:pt x="77" y="103"/>
                </a:cubicBezTo>
                <a:cubicBezTo>
                  <a:pt x="77" y="103"/>
                  <a:pt x="77" y="103"/>
                  <a:pt x="77" y="103"/>
                </a:cubicBezTo>
                <a:cubicBezTo>
                  <a:pt x="75" y="112"/>
                  <a:pt x="86" y="117"/>
                  <a:pt x="86" y="117"/>
                </a:cubicBezTo>
                <a:cubicBezTo>
                  <a:pt x="83" y="130"/>
                  <a:pt x="83" y="130"/>
                  <a:pt x="83" y="130"/>
                </a:cubicBezTo>
                <a:lnTo>
                  <a:pt x="34" y="118"/>
                </a:lnTo>
                <a:close/>
                <a:moveTo>
                  <a:pt x="34" y="127"/>
                </a:moveTo>
                <a:cubicBezTo>
                  <a:pt x="29" y="127"/>
                  <a:pt x="24" y="131"/>
                  <a:pt x="23" y="136"/>
                </a:cubicBezTo>
                <a:cubicBezTo>
                  <a:pt x="21" y="142"/>
                  <a:pt x="25" y="148"/>
                  <a:pt x="31" y="150"/>
                </a:cubicBezTo>
                <a:cubicBezTo>
                  <a:pt x="32" y="150"/>
                  <a:pt x="33" y="150"/>
                  <a:pt x="34" y="150"/>
                </a:cubicBezTo>
                <a:cubicBezTo>
                  <a:pt x="34" y="127"/>
                  <a:pt x="34" y="127"/>
                  <a:pt x="34" y="127"/>
                </a:cubicBezTo>
                <a:close/>
                <a:moveTo>
                  <a:pt x="34" y="51"/>
                </a:moveTo>
                <a:cubicBezTo>
                  <a:pt x="34" y="118"/>
                  <a:pt x="34" y="118"/>
                  <a:pt x="34" y="118"/>
                </a:cubicBezTo>
                <a:cubicBezTo>
                  <a:pt x="0" y="109"/>
                  <a:pt x="0" y="109"/>
                  <a:pt x="0" y="109"/>
                </a:cubicBezTo>
                <a:cubicBezTo>
                  <a:pt x="3" y="96"/>
                  <a:pt x="3" y="96"/>
                  <a:pt x="3" y="96"/>
                </a:cubicBezTo>
                <a:cubicBezTo>
                  <a:pt x="3" y="96"/>
                  <a:pt x="16" y="97"/>
                  <a:pt x="18" y="88"/>
                </a:cubicBezTo>
                <a:cubicBezTo>
                  <a:pt x="20" y="80"/>
                  <a:pt x="23" y="69"/>
                  <a:pt x="23" y="69"/>
                </a:cubicBezTo>
                <a:cubicBezTo>
                  <a:pt x="25" y="61"/>
                  <a:pt x="29" y="55"/>
                  <a:pt x="34"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18" name="Freeform 74"/>
          <p:cNvSpPr>
            <a:spLocks noEditPoints="1"/>
          </p:cNvSpPr>
          <p:nvPr/>
        </p:nvSpPr>
        <p:spPr bwMode="auto">
          <a:xfrm>
            <a:off x="7735728" y="1798029"/>
            <a:ext cx="376091" cy="460375"/>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chemeClr val="accent3"/>
          </a:solidFill>
          <a:ln>
            <a:noFill/>
          </a:ln>
        </p:spPr>
        <p:txBody>
          <a:bodyPr vert="horz" wrap="square" lIns="91440" tIns="45720" rIns="91440" bIns="45720" numCol="1" anchor="t" anchorCtr="0" compatLnSpc="1"/>
          <a:lstStyle/>
          <a:p>
            <a:endParaRPr lang="id-ID"/>
          </a:p>
        </p:txBody>
      </p:sp>
      <p:sp>
        <p:nvSpPr>
          <p:cNvPr id="119" name="Freeform 75"/>
          <p:cNvSpPr>
            <a:spLocks noEditPoints="1"/>
          </p:cNvSpPr>
          <p:nvPr/>
        </p:nvSpPr>
        <p:spPr bwMode="auto">
          <a:xfrm>
            <a:off x="8459346" y="2282215"/>
            <a:ext cx="569690" cy="571500"/>
          </a:xfrm>
          <a:custGeom>
            <a:avLst/>
            <a:gdLst>
              <a:gd name="T0" fmla="*/ 249 w 261"/>
              <a:gd name="T1" fmla="*/ 220 h 262"/>
              <a:gd name="T2" fmla="*/ 261 w 261"/>
              <a:gd name="T3" fmla="*/ 70 h 262"/>
              <a:gd name="T4" fmla="*/ 249 w 261"/>
              <a:gd name="T5" fmla="*/ 70 h 262"/>
              <a:gd name="T6" fmla="*/ 249 w 261"/>
              <a:gd name="T7" fmla="*/ 154 h 262"/>
              <a:gd name="T8" fmla="*/ 227 w 261"/>
              <a:gd name="T9" fmla="*/ 180 h 262"/>
              <a:gd name="T10" fmla="*/ 209 w 261"/>
              <a:gd name="T11" fmla="*/ 262 h 262"/>
              <a:gd name="T12" fmla="*/ 209 w 261"/>
              <a:gd name="T13" fmla="*/ 262 h 262"/>
              <a:gd name="T14" fmla="*/ 209 w 261"/>
              <a:gd name="T15" fmla="*/ 15 h 262"/>
              <a:gd name="T16" fmla="*/ 203 w 261"/>
              <a:gd name="T17" fmla="*/ 28 h 262"/>
              <a:gd name="T18" fmla="*/ 209 w 261"/>
              <a:gd name="T19" fmla="*/ 50 h 262"/>
              <a:gd name="T20" fmla="*/ 201 w 261"/>
              <a:gd name="T21" fmla="*/ 120 h 262"/>
              <a:gd name="T22" fmla="*/ 209 w 261"/>
              <a:gd name="T23" fmla="*/ 197 h 262"/>
              <a:gd name="T24" fmla="*/ 209 w 261"/>
              <a:gd name="T25" fmla="*/ 197 h 262"/>
              <a:gd name="T26" fmla="*/ 195 w 261"/>
              <a:gd name="T27" fmla="*/ 232 h 262"/>
              <a:gd name="T28" fmla="*/ 168 w 261"/>
              <a:gd name="T29" fmla="*/ 36 h 262"/>
              <a:gd name="T30" fmla="*/ 195 w 261"/>
              <a:gd name="T31" fmla="*/ 20 h 262"/>
              <a:gd name="T32" fmla="*/ 195 w 261"/>
              <a:gd name="T33" fmla="*/ 50 h 262"/>
              <a:gd name="T34" fmla="*/ 195 w 261"/>
              <a:gd name="T35" fmla="*/ 120 h 262"/>
              <a:gd name="T36" fmla="*/ 168 w 261"/>
              <a:gd name="T37" fmla="*/ 220 h 262"/>
              <a:gd name="T38" fmla="*/ 192 w 261"/>
              <a:gd name="T39" fmla="*/ 249 h 262"/>
              <a:gd name="T40" fmla="*/ 168 w 261"/>
              <a:gd name="T41" fmla="*/ 21 h 262"/>
              <a:gd name="T42" fmla="*/ 168 w 261"/>
              <a:gd name="T43" fmla="*/ 44 h 262"/>
              <a:gd name="T44" fmla="*/ 135 w 261"/>
              <a:gd name="T45" fmla="*/ 120 h 262"/>
              <a:gd name="T46" fmla="*/ 167 w 261"/>
              <a:gd name="T47" fmla="*/ 198 h 262"/>
              <a:gd name="T48" fmla="*/ 167 w 261"/>
              <a:gd name="T49" fmla="*/ 167 h 262"/>
              <a:gd name="T50" fmla="*/ 130 w 261"/>
              <a:gd name="T51" fmla="*/ 147 h 262"/>
              <a:gd name="T52" fmla="*/ 93 w 261"/>
              <a:gd name="T53" fmla="*/ 44 h 262"/>
              <a:gd name="T54" fmla="*/ 130 w 261"/>
              <a:gd name="T55" fmla="*/ 0 h 262"/>
              <a:gd name="T56" fmla="*/ 126 w 261"/>
              <a:gd name="T57" fmla="*/ 120 h 262"/>
              <a:gd name="T58" fmla="*/ 130 w 261"/>
              <a:gd name="T59" fmla="*/ 159 h 262"/>
              <a:gd name="T60" fmla="*/ 130 w 261"/>
              <a:gd name="T61" fmla="*/ 179 h 262"/>
              <a:gd name="T62" fmla="*/ 130 w 261"/>
              <a:gd name="T63" fmla="*/ 198 h 262"/>
              <a:gd name="T64" fmla="*/ 93 w 261"/>
              <a:gd name="T65" fmla="*/ 3 h 262"/>
              <a:gd name="T66" fmla="*/ 93 w 261"/>
              <a:gd name="T67" fmla="*/ 36 h 262"/>
              <a:gd name="T68" fmla="*/ 67 w 261"/>
              <a:gd name="T69" fmla="*/ 20 h 262"/>
              <a:gd name="T70" fmla="*/ 67 w 261"/>
              <a:gd name="T71" fmla="*/ 70 h 262"/>
              <a:gd name="T72" fmla="*/ 92 w 261"/>
              <a:gd name="T73" fmla="*/ 147 h 262"/>
              <a:gd name="T74" fmla="*/ 92 w 261"/>
              <a:gd name="T75" fmla="*/ 179 h 262"/>
              <a:gd name="T76" fmla="*/ 93 w 261"/>
              <a:gd name="T77" fmla="*/ 198 h 262"/>
              <a:gd name="T78" fmla="*/ 67 w 261"/>
              <a:gd name="T79" fmla="*/ 171 h 262"/>
              <a:gd name="T80" fmla="*/ 69 w 261"/>
              <a:gd name="T81" fmla="*/ 232 h 262"/>
              <a:gd name="T82" fmla="*/ 58 w 261"/>
              <a:gd name="T83" fmla="*/ 28 h 262"/>
              <a:gd name="T84" fmla="*/ 67 w 261"/>
              <a:gd name="T85" fmla="*/ 9 h 262"/>
              <a:gd name="T86" fmla="*/ 67 w 261"/>
              <a:gd name="T87" fmla="*/ 120 h 262"/>
              <a:gd name="T88" fmla="*/ 67 w 261"/>
              <a:gd name="T89" fmla="*/ 188 h 262"/>
              <a:gd name="T90" fmla="*/ 67 w 261"/>
              <a:gd name="T91" fmla="*/ 232 h 262"/>
              <a:gd name="T92" fmla="*/ 67 w 261"/>
              <a:gd name="T93" fmla="*/ 232 h 262"/>
              <a:gd name="T94" fmla="*/ 52 w 261"/>
              <a:gd name="T95" fmla="*/ 50 h 262"/>
              <a:gd name="T96" fmla="*/ 12 w 261"/>
              <a:gd name="T97" fmla="*/ 220 h 262"/>
              <a:gd name="T98" fmla="*/ 52 w 261"/>
              <a:gd name="T99" fmla="*/ 232 h 262"/>
              <a:gd name="T100" fmla="*/ 52 w 261"/>
              <a:gd name="T101" fmla="*/ 232 h 262"/>
              <a:gd name="T102" fmla="*/ 12 w 261"/>
              <a:gd name="T103" fmla="*/ 114 h 262"/>
              <a:gd name="T104" fmla="*/ 0 w 261"/>
              <a:gd name="T105" fmla="*/ 104 h 262"/>
              <a:gd name="T106" fmla="*/ 12 w 261"/>
              <a:gd name="T107" fmla="*/ 15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1" h="262">
                <a:moveTo>
                  <a:pt x="249" y="220"/>
                </a:moveTo>
                <a:cubicBezTo>
                  <a:pt x="249" y="154"/>
                  <a:pt x="249" y="154"/>
                  <a:pt x="249" y="154"/>
                </a:cubicBezTo>
                <a:cubicBezTo>
                  <a:pt x="251" y="157"/>
                  <a:pt x="252" y="160"/>
                  <a:pt x="252" y="164"/>
                </a:cubicBezTo>
                <a:cubicBezTo>
                  <a:pt x="252" y="220"/>
                  <a:pt x="252" y="220"/>
                  <a:pt x="252" y="220"/>
                </a:cubicBezTo>
                <a:cubicBezTo>
                  <a:pt x="249" y="220"/>
                  <a:pt x="249" y="220"/>
                  <a:pt x="249" y="220"/>
                </a:cubicBezTo>
                <a:close/>
                <a:moveTo>
                  <a:pt x="249" y="114"/>
                </a:moveTo>
                <a:cubicBezTo>
                  <a:pt x="249" y="70"/>
                  <a:pt x="249" y="70"/>
                  <a:pt x="249" y="70"/>
                </a:cubicBezTo>
                <a:cubicBezTo>
                  <a:pt x="250" y="70"/>
                  <a:pt x="250" y="70"/>
                  <a:pt x="250" y="69"/>
                </a:cubicBezTo>
                <a:cubicBezTo>
                  <a:pt x="257" y="67"/>
                  <a:pt x="257" y="67"/>
                  <a:pt x="257" y="67"/>
                </a:cubicBezTo>
                <a:cubicBezTo>
                  <a:pt x="259" y="66"/>
                  <a:pt x="261" y="67"/>
                  <a:pt x="261" y="70"/>
                </a:cubicBezTo>
                <a:cubicBezTo>
                  <a:pt x="261" y="104"/>
                  <a:pt x="261" y="104"/>
                  <a:pt x="261" y="104"/>
                </a:cubicBezTo>
                <a:cubicBezTo>
                  <a:pt x="261" y="107"/>
                  <a:pt x="259" y="110"/>
                  <a:pt x="257" y="111"/>
                </a:cubicBezTo>
                <a:cubicBezTo>
                  <a:pt x="250" y="113"/>
                  <a:pt x="250" y="113"/>
                  <a:pt x="250" y="113"/>
                </a:cubicBezTo>
                <a:cubicBezTo>
                  <a:pt x="250" y="114"/>
                  <a:pt x="250" y="114"/>
                  <a:pt x="249" y="114"/>
                </a:cubicBezTo>
                <a:close/>
                <a:moveTo>
                  <a:pt x="249" y="70"/>
                </a:moveTo>
                <a:cubicBezTo>
                  <a:pt x="249" y="114"/>
                  <a:pt x="249" y="114"/>
                  <a:pt x="249" y="114"/>
                </a:cubicBezTo>
                <a:cubicBezTo>
                  <a:pt x="248" y="114"/>
                  <a:pt x="246" y="112"/>
                  <a:pt x="246" y="110"/>
                </a:cubicBezTo>
                <a:cubicBezTo>
                  <a:pt x="246" y="76"/>
                  <a:pt x="246" y="76"/>
                  <a:pt x="246" y="76"/>
                </a:cubicBezTo>
                <a:cubicBezTo>
                  <a:pt x="246" y="74"/>
                  <a:pt x="248" y="71"/>
                  <a:pt x="249" y="70"/>
                </a:cubicBezTo>
                <a:close/>
                <a:moveTo>
                  <a:pt x="249" y="154"/>
                </a:moveTo>
                <a:cubicBezTo>
                  <a:pt x="246" y="150"/>
                  <a:pt x="241" y="146"/>
                  <a:pt x="235" y="146"/>
                </a:cubicBezTo>
                <a:cubicBezTo>
                  <a:pt x="235" y="50"/>
                  <a:pt x="235" y="50"/>
                  <a:pt x="235" y="50"/>
                </a:cubicBezTo>
                <a:cubicBezTo>
                  <a:pt x="209" y="50"/>
                  <a:pt x="209" y="50"/>
                  <a:pt x="209" y="50"/>
                </a:cubicBezTo>
                <a:cubicBezTo>
                  <a:pt x="209" y="162"/>
                  <a:pt x="209" y="162"/>
                  <a:pt x="209" y="162"/>
                </a:cubicBezTo>
                <a:cubicBezTo>
                  <a:pt x="219" y="162"/>
                  <a:pt x="227" y="170"/>
                  <a:pt x="227" y="180"/>
                </a:cubicBezTo>
                <a:cubicBezTo>
                  <a:pt x="227" y="189"/>
                  <a:pt x="219" y="197"/>
                  <a:pt x="209" y="197"/>
                </a:cubicBezTo>
                <a:cubicBezTo>
                  <a:pt x="209" y="220"/>
                  <a:pt x="209" y="220"/>
                  <a:pt x="209" y="220"/>
                </a:cubicBezTo>
                <a:cubicBezTo>
                  <a:pt x="249" y="220"/>
                  <a:pt x="249" y="220"/>
                  <a:pt x="249" y="220"/>
                </a:cubicBezTo>
                <a:cubicBezTo>
                  <a:pt x="249" y="154"/>
                  <a:pt x="249" y="154"/>
                  <a:pt x="249" y="154"/>
                </a:cubicBezTo>
                <a:close/>
                <a:moveTo>
                  <a:pt x="209" y="262"/>
                </a:moveTo>
                <a:cubicBezTo>
                  <a:pt x="209" y="232"/>
                  <a:pt x="209" y="232"/>
                  <a:pt x="209" y="232"/>
                </a:cubicBezTo>
                <a:cubicBezTo>
                  <a:pt x="226" y="232"/>
                  <a:pt x="226" y="232"/>
                  <a:pt x="226" y="232"/>
                </a:cubicBezTo>
                <a:cubicBezTo>
                  <a:pt x="226" y="249"/>
                  <a:pt x="226" y="249"/>
                  <a:pt x="226" y="249"/>
                </a:cubicBezTo>
                <a:cubicBezTo>
                  <a:pt x="226" y="257"/>
                  <a:pt x="220" y="262"/>
                  <a:pt x="213" y="262"/>
                </a:cubicBezTo>
                <a:cubicBezTo>
                  <a:pt x="209" y="262"/>
                  <a:pt x="209" y="262"/>
                  <a:pt x="209" y="262"/>
                </a:cubicBezTo>
                <a:close/>
                <a:moveTo>
                  <a:pt x="209" y="44"/>
                </a:moveTo>
                <a:cubicBezTo>
                  <a:pt x="209" y="15"/>
                  <a:pt x="209" y="15"/>
                  <a:pt x="209" y="15"/>
                </a:cubicBezTo>
                <a:cubicBezTo>
                  <a:pt x="225" y="23"/>
                  <a:pt x="235" y="33"/>
                  <a:pt x="235" y="44"/>
                </a:cubicBezTo>
                <a:lnTo>
                  <a:pt x="209" y="44"/>
                </a:lnTo>
                <a:close/>
                <a:moveTo>
                  <a:pt x="209" y="15"/>
                </a:moveTo>
                <a:cubicBezTo>
                  <a:pt x="209" y="44"/>
                  <a:pt x="209" y="44"/>
                  <a:pt x="209" y="44"/>
                </a:cubicBezTo>
                <a:cubicBezTo>
                  <a:pt x="195" y="44"/>
                  <a:pt x="195" y="44"/>
                  <a:pt x="195" y="44"/>
                </a:cubicBezTo>
                <a:cubicBezTo>
                  <a:pt x="195" y="37"/>
                  <a:pt x="195" y="37"/>
                  <a:pt x="195" y="37"/>
                </a:cubicBezTo>
                <a:cubicBezTo>
                  <a:pt x="195" y="37"/>
                  <a:pt x="195" y="37"/>
                  <a:pt x="195" y="37"/>
                </a:cubicBezTo>
                <a:cubicBezTo>
                  <a:pt x="199" y="37"/>
                  <a:pt x="203" y="33"/>
                  <a:pt x="203" y="28"/>
                </a:cubicBezTo>
                <a:cubicBezTo>
                  <a:pt x="203" y="24"/>
                  <a:pt x="199" y="20"/>
                  <a:pt x="195" y="20"/>
                </a:cubicBezTo>
                <a:cubicBezTo>
                  <a:pt x="195" y="20"/>
                  <a:pt x="195" y="20"/>
                  <a:pt x="195" y="20"/>
                </a:cubicBezTo>
                <a:cubicBezTo>
                  <a:pt x="195" y="9"/>
                  <a:pt x="195" y="9"/>
                  <a:pt x="195" y="9"/>
                </a:cubicBezTo>
                <a:cubicBezTo>
                  <a:pt x="200" y="11"/>
                  <a:pt x="205" y="13"/>
                  <a:pt x="209" y="15"/>
                </a:cubicBezTo>
                <a:close/>
                <a:moveTo>
                  <a:pt x="209" y="50"/>
                </a:moveTo>
                <a:cubicBezTo>
                  <a:pt x="209" y="162"/>
                  <a:pt x="209" y="162"/>
                  <a:pt x="209" y="162"/>
                </a:cubicBezTo>
                <a:cubicBezTo>
                  <a:pt x="209" y="162"/>
                  <a:pt x="209" y="162"/>
                  <a:pt x="209" y="162"/>
                </a:cubicBezTo>
                <a:cubicBezTo>
                  <a:pt x="203" y="162"/>
                  <a:pt x="198" y="166"/>
                  <a:pt x="195" y="171"/>
                </a:cubicBezTo>
                <a:cubicBezTo>
                  <a:pt x="195" y="120"/>
                  <a:pt x="195" y="120"/>
                  <a:pt x="195" y="120"/>
                </a:cubicBezTo>
                <a:cubicBezTo>
                  <a:pt x="201" y="120"/>
                  <a:pt x="201" y="120"/>
                  <a:pt x="201" y="120"/>
                </a:cubicBezTo>
                <a:cubicBezTo>
                  <a:pt x="201" y="70"/>
                  <a:pt x="201" y="70"/>
                  <a:pt x="201" y="70"/>
                </a:cubicBezTo>
                <a:cubicBezTo>
                  <a:pt x="195" y="70"/>
                  <a:pt x="195" y="70"/>
                  <a:pt x="195" y="70"/>
                </a:cubicBezTo>
                <a:cubicBezTo>
                  <a:pt x="195" y="50"/>
                  <a:pt x="195" y="50"/>
                  <a:pt x="195" y="50"/>
                </a:cubicBezTo>
                <a:cubicBezTo>
                  <a:pt x="209" y="50"/>
                  <a:pt x="209" y="50"/>
                  <a:pt x="209" y="50"/>
                </a:cubicBezTo>
                <a:close/>
                <a:moveTo>
                  <a:pt x="209" y="197"/>
                </a:moveTo>
                <a:cubicBezTo>
                  <a:pt x="209" y="220"/>
                  <a:pt x="209" y="220"/>
                  <a:pt x="209" y="220"/>
                </a:cubicBezTo>
                <a:cubicBezTo>
                  <a:pt x="195" y="220"/>
                  <a:pt x="195" y="220"/>
                  <a:pt x="195" y="220"/>
                </a:cubicBezTo>
                <a:cubicBezTo>
                  <a:pt x="195" y="188"/>
                  <a:pt x="195" y="188"/>
                  <a:pt x="195" y="188"/>
                </a:cubicBezTo>
                <a:cubicBezTo>
                  <a:pt x="198" y="193"/>
                  <a:pt x="203" y="197"/>
                  <a:pt x="209" y="197"/>
                </a:cubicBezTo>
                <a:cubicBezTo>
                  <a:pt x="209" y="197"/>
                  <a:pt x="209" y="197"/>
                  <a:pt x="209" y="197"/>
                </a:cubicBezTo>
                <a:close/>
                <a:moveTo>
                  <a:pt x="209" y="232"/>
                </a:moveTo>
                <a:cubicBezTo>
                  <a:pt x="209" y="262"/>
                  <a:pt x="209" y="262"/>
                  <a:pt x="209" y="262"/>
                </a:cubicBezTo>
                <a:cubicBezTo>
                  <a:pt x="206" y="262"/>
                  <a:pt x="206" y="262"/>
                  <a:pt x="206" y="262"/>
                </a:cubicBezTo>
                <a:cubicBezTo>
                  <a:pt x="201" y="262"/>
                  <a:pt x="197" y="260"/>
                  <a:pt x="195" y="257"/>
                </a:cubicBezTo>
                <a:cubicBezTo>
                  <a:pt x="195" y="232"/>
                  <a:pt x="195" y="232"/>
                  <a:pt x="195" y="232"/>
                </a:cubicBezTo>
                <a:lnTo>
                  <a:pt x="209" y="232"/>
                </a:lnTo>
                <a:close/>
                <a:moveTo>
                  <a:pt x="171" y="20"/>
                </a:moveTo>
                <a:cubicBezTo>
                  <a:pt x="175" y="20"/>
                  <a:pt x="179" y="24"/>
                  <a:pt x="179" y="28"/>
                </a:cubicBezTo>
                <a:cubicBezTo>
                  <a:pt x="179" y="33"/>
                  <a:pt x="175" y="37"/>
                  <a:pt x="171" y="37"/>
                </a:cubicBezTo>
                <a:cubicBezTo>
                  <a:pt x="170" y="37"/>
                  <a:pt x="169" y="37"/>
                  <a:pt x="168" y="36"/>
                </a:cubicBezTo>
                <a:cubicBezTo>
                  <a:pt x="168" y="44"/>
                  <a:pt x="168" y="44"/>
                  <a:pt x="168" y="44"/>
                </a:cubicBezTo>
                <a:cubicBezTo>
                  <a:pt x="195" y="44"/>
                  <a:pt x="195" y="44"/>
                  <a:pt x="195" y="44"/>
                </a:cubicBezTo>
                <a:cubicBezTo>
                  <a:pt x="195" y="37"/>
                  <a:pt x="195" y="37"/>
                  <a:pt x="195" y="37"/>
                </a:cubicBezTo>
                <a:cubicBezTo>
                  <a:pt x="190" y="37"/>
                  <a:pt x="186" y="33"/>
                  <a:pt x="186" y="28"/>
                </a:cubicBezTo>
                <a:cubicBezTo>
                  <a:pt x="186" y="24"/>
                  <a:pt x="190" y="20"/>
                  <a:pt x="195" y="20"/>
                </a:cubicBezTo>
                <a:cubicBezTo>
                  <a:pt x="195" y="9"/>
                  <a:pt x="195" y="9"/>
                  <a:pt x="195" y="9"/>
                </a:cubicBezTo>
                <a:cubicBezTo>
                  <a:pt x="187" y="6"/>
                  <a:pt x="178" y="4"/>
                  <a:pt x="168" y="3"/>
                </a:cubicBezTo>
                <a:cubicBezTo>
                  <a:pt x="168" y="21"/>
                  <a:pt x="168" y="21"/>
                  <a:pt x="168" y="21"/>
                </a:cubicBezTo>
                <a:cubicBezTo>
                  <a:pt x="169" y="20"/>
                  <a:pt x="170" y="20"/>
                  <a:pt x="171" y="20"/>
                </a:cubicBezTo>
                <a:close/>
                <a:moveTo>
                  <a:pt x="195" y="50"/>
                </a:moveTo>
                <a:cubicBezTo>
                  <a:pt x="195" y="70"/>
                  <a:pt x="195" y="70"/>
                  <a:pt x="195" y="70"/>
                </a:cubicBezTo>
                <a:cubicBezTo>
                  <a:pt x="168" y="70"/>
                  <a:pt x="168" y="70"/>
                  <a:pt x="168" y="70"/>
                </a:cubicBezTo>
                <a:cubicBezTo>
                  <a:pt x="168" y="50"/>
                  <a:pt x="168" y="50"/>
                  <a:pt x="168" y="50"/>
                </a:cubicBezTo>
                <a:cubicBezTo>
                  <a:pt x="195" y="50"/>
                  <a:pt x="195" y="50"/>
                  <a:pt x="195" y="50"/>
                </a:cubicBezTo>
                <a:close/>
                <a:moveTo>
                  <a:pt x="195" y="120"/>
                </a:moveTo>
                <a:cubicBezTo>
                  <a:pt x="195" y="171"/>
                  <a:pt x="195" y="171"/>
                  <a:pt x="195" y="171"/>
                </a:cubicBezTo>
                <a:cubicBezTo>
                  <a:pt x="193" y="173"/>
                  <a:pt x="192" y="176"/>
                  <a:pt x="192" y="180"/>
                </a:cubicBezTo>
                <a:cubicBezTo>
                  <a:pt x="192" y="183"/>
                  <a:pt x="193" y="186"/>
                  <a:pt x="195" y="188"/>
                </a:cubicBezTo>
                <a:cubicBezTo>
                  <a:pt x="195" y="220"/>
                  <a:pt x="195" y="220"/>
                  <a:pt x="195" y="220"/>
                </a:cubicBezTo>
                <a:cubicBezTo>
                  <a:pt x="168" y="220"/>
                  <a:pt x="168" y="220"/>
                  <a:pt x="168" y="220"/>
                </a:cubicBezTo>
                <a:cubicBezTo>
                  <a:pt x="168" y="120"/>
                  <a:pt x="168" y="120"/>
                  <a:pt x="168" y="120"/>
                </a:cubicBezTo>
                <a:cubicBezTo>
                  <a:pt x="195" y="120"/>
                  <a:pt x="195" y="120"/>
                  <a:pt x="195" y="120"/>
                </a:cubicBezTo>
                <a:close/>
                <a:moveTo>
                  <a:pt x="195" y="232"/>
                </a:moveTo>
                <a:cubicBezTo>
                  <a:pt x="195" y="257"/>
                  <a:pt x="195" y="257"/>
                  <a:pt x="195" y="257"/>
                </a:cubicBezTo>
                <a:cubicBezTo>
                  <a:pt x="193" y="254"/>
                  <a:pt x="192" y="252"/>
                  <a:pt x="192" y="249"/>
                </a:cubicBezTo>
                <a:cubicBezTo>
                  <a:pt x="192" y="232"/>
                  <a:pt x="192" y="232"/>
                  <a:pt x="192" y="232"/>
                </a:cubicBezTo>
                <a:lnTo>
                  <a:pt x="195" y="232"/>
                </a:lnTo>
                <a:close/>
                <a:moveTo>
                  <a:pt x="168" y="36"/>
                </a:moveTo>
                <a:cubicBezTo>
                  <a:pt x="165" y="35"/>
                  <a:pt x="162" y="32"/>
                  <a:pt x="162" y="28"/>
                </a:cubicBezTo>
                <a:cubicBezTo>
                  <a:pt x="162" y="25"/>
                  <a:pt x="165" y="22"/>
                  <a:pt x="168" y="21"/>
                </a:cubicBezTo>
                <a:cubicBezTo>
                  <a:pt x="168" y="3"/>
                  <a:pt x="168" y="3"/>
                  <a:pt x="168" y="3"/>
                </a:cubicBezTo>
                <a:cubicBezTo>
                  <a:pt x="157" y="1"/>
                  <a:pt x="144" y="0"/>
                  <a:pt x="131" y="0"/>
                </a:cubicBezTo>
                <a:cubicBezTo>
                  <a:pt x="130" y="0"/>
                  <a:pt x="130" y="0"/>
                  <a:pt x="130" y="0"/>
                </a:cubicBezTo>
                <a:cubicBezTo>
                  <a:pt x="130" y="44"/>
                  <a:pt x="130" y="44"/>
                  <a:pt x="130" y="44"/>
                </a:cubicBezTo>
                <a:cubicBezTo>
                  <a:pt x="168" y="44"/>
                  <a:pt x="168" y="44"/>
                  <a:pt x="168" y="44"/>
                </a:cubicBezTo>
                <a:cubicBezTo>
                  <a:pt x="168" y="36"/>
                  <a:pt x="168" y="36"/>
                  <a:pt x="168" y="36"/>
                </a:cubicBezTo>
                <a:close/>
                <a:moveTo>
                  <a:pt x="168" y="50"/>
                </a:moveTo>
                <a:cubicBezTo>
                  <a:pt x="168" y="70"/>
                  <a:pt x="168" y="70"/>
                  <a:pt x="168" y="70"/>
                </a:cubicBezTo>
                <a:cubicBezTo>
                  <a:pt x="135" y="70"/>
                  <a:pt x="135" y="70"/>
                  <a:pt x="135" y="70"/>
                </a:cubicBezTo>
                <a:cubicBezTo>
                  <a:pt x="135" y="120"/>
                  <a:pt x="135" y="120"/>
                  <a:pt x="135" y="120"/>
                </a:cubicBezTo>
                <a:cubicBezTo>
                  <a:pt x="168" y="120"/>
                  <a:pt x="168" y="120"/>
                  <a:pt x="168" y="120"/>
                </a:cubicBezTo>
                <a:cubicBezTo>
                  <a:pt x="168" y="220"/>
                  <a:pt x="168" y="220"/>
                  <a:pt x="168" y="220"/>
                </a:cubicBezTo>
                <a:cubicBezTo>
                  <a:pt x="130" y="220"/>
                  <a:pt x="130" y="220"/>
                  <a:pt x="130" y="220"/>
                </a:cubicBezTo>
                <a:cubicBezTo>
                  <a:pt x="130" y="198"/>
                  <a:pt x="130" y="198"/>
                  <a:pt x="130" y="198"/>
                </a:cubicBezTo>
                <a:cubicBezTo>
                  <a:pt x="167" y="198"/>
                  <a:pt x="167" y="198"/>
                  <a:pt x="167" y="198"/>
                </a:cubicBezTo>
                <a:cubicBezTo>
                  <a:pt x="167" y="187"/>
                  <a:pt x="167" y="187"/>
                  <a:pt x="167" y="187"/>
                </a:cubicBezTo>
                <a:cubicBezTo>
                  <a:pt x="130" y="187"/>
                  <a:pt x="130" y="187"/>
                  <a:pt x="130" y="187"/>
                </a:cubicBezTo>
                <a:cubicBezTo>
                  <a:pt x="130" y="179"/>
                  <a:pt x="130" y="179"/>
                  <a:pt x="130" y="179"/>
                </a:cubicBezTo>
                <a:cubicBezTo>
                  <a:pt x="167" y="179"/>
                  <a:pt x="167" y="179"/>
                  <a:pt x="167" y="179"/>
                </a:cubicBezTo>
                <a:cubicBezTo>
                  <a:pt x="167" y="167"/>
                  <a:pt x="167" y="167"/>
                  <a:pt x="167" y="167"/>
                </a:cubicBezTo>
                <a:cubicBezTo>
                  <a:pt x="130" y="167"/>
                  <a:pt x="130" y="167"/>
                  <a:pt x="130" y="167"/>
                </a:cubicBezTo>
                <a:cubicBezTo>
                  <a:pt x="130" y="159"/>
                  <a:pt x="130" y="159"/>
                  <a:pt x="130" y="159"/>
                </a:cubicBezTo>
                <a:cubicBezTo>
                  <a:pt x="167" y="159"/>
                  <a:pt x="167" y="159"/>
                  <a:pt x="167" y="159"/>
                </a:cubicBezTo>
                <a:cubicBezTo>
                  <a:pt x="167" y="147"/>
                  <a:pt x="167" y="147"/>
                  <a:pt x="167" y="147"/>
                </a:cubicBezTo>
                <a:cubicBezTo>
                  <a:pt x="130" y="147"/>
                  <a:pt x="130" y="147"/>
                  <a:pt x="130" y="147"/>
                </a:cubicBezTo>
                <a:cubicBezTo>
                  <a:pt x="130" y="50"/>
                  <a:pt x="130" y="50"/>
                  <a:pt x="130" y="50"/>
                </a:cubicBezTo>
                <a:lnTo>
                  <a:pt x="168" y="50"/>
                </a:lnTo>
                <a:close/>
                <a:moveTo>
                  <a:pt x="130" y="0"/>
                </a:moveTo>
                <a:cubicBezTo>
                  <a:pt x="130" y="44"/>
                  <a:pt x="130" y="44"/>
                  <a:pt x="130" y="44"/>
                </a:cubicBezTo>
                <a:cubicBezTo>
                  <a:pt x="93" y="44"/>
                  <a:pt x="93" y="44"/>
                  <a:pt x="93" y="44"/>
                </a:cubicBezTo>
                <a:cubicBezTo>
                  <a:pt x="93" y="36"/>
                  <a:pt x="93" y="36"/>
                  <a:pt x="93" y="36"/>
                </a:cubicBezTo>
                <a:cubicBezTo>
                  <a:pt x="96" y="35"/>
                  <a:pt x="99" y="32"/>
                  <a:pt x="99" y="28"/>
                </a:cubicBezTo>
                <a:cubicBezTo>
                  <a:pt x="99" y="25"/>
                  <a:pt x="96" y="22"/>
                  <a:pt x="93" y="21"/>
                </a:cubicBezTo>
                <a:cubicBezTo>
                  <a:pt x="93" y="3"/>
                  <a:pt x="93" y="3"/>
                  <a:pt x="93" y="3"/>
                </a:cubicBezTo>
                <a:cubicBezTo>
                  <a:pt x="104" y="1"/>
                  <a:pt x="117" y="0"/>
                  <a:pt x="130" y="0"/>
                </a:cubicBezTo>
                <a:close/>
                <a:moveTo>
                  <a:pt x="130" y="50"/>
                </a:moveTo>
                <a:cubicBezTo>
                  <a:pt x="130" y="147"/>
                  <a:pt x="130" y="147"/>
                  <a:pt x="130" y="147"/>
                </a:cubicBezTo>
                <a:cubicBezTo>
                  <a:pt x="93" y="147"/>
                  <a:pt x="93" y="147"/>
                  <a:pt x="93" y="147"/>
                </a:cubicBezTo>
                <a:cubicBezTo>
                  <a:pt x="93" y="120"/>
                  <a:pt x="93" y="120"/>
                  <a:pt x="93" y="120"/>
                </a:cubicBezTo>
                <a:cubicBezTo>
                  <a:pt x="126" y="120"/>
                  <a:pt x="126" y="120"/>
                  <a:pt x="126" y="120"/>
                </a:cubicBezTo>
                <a:cubicBezTo>
                  <a:pt x="126" y="70"/>
                  <a:pt x="126" y="70"/>
                  <a:pt x="126" y="70"/>
                </a:cubicBezTo>
                <a:cubicBezTo>
                  <a:pt x="93" y="70"/>
                  <a:pt x="93" y="70"/>
                  <a:pt x="93" y="70"/>
                </a:cubicBezTo>
                <a:cubicBezTo>
                  <a:pt x="93" y="50"/>
                  <a:pt x="93" y="50"/>
                  <a:pt x="93" y="50"/>
                </a:cubicBezTo>
                <a:cubicBezTo>
                  <a:pt x="130" y="50"/>
                  <a:pt x="130" y="50"/>
                  <a:pt x="130" y="50"/>
                </a:cubicBezTo>
                <a:close/>
                <a:moveTo>
                  <a:pt x="130" y="159"/>
                </a:moveTo>
                <a:cubicBezTo>
                  <a:pt x="130" y="167"/>
                  <a:pt x="130" y="167"/>
                  <a:pt x="130" y="167"/>
                </a:cubicBezTo>
                <a:cubicBezTo>
                  <a:pt x="93" y="167"/>
                  <a:pt x="93" y="167"/>
                  <a:pt x="93" y="167"/>
                </a:cubicBezTo>
                <a:cubicBezTo>
                  <a:pt x="93" y="159"/>
                  <a:pt x="93" y="159"/>
                  <a:pt x="93" y="159"/>
                </a:cubicBezTo>
                <a:cubicBezTo>
                  <a:pt x="130" y="159"/>
                  <a:pt x="130" y="159"/>
                  <a:pt x="130" y="159"/>
                </a:cubicBezTo>
                <a:close/>
                <a:moveTo>
                  <a:pt x="130" y="179"/>
                </a:moveTo>
                <a:cubicBezTo>
                  <a:pt x="130" y="187"/>
                  <a:pt x="130" y="187"/>
                  <a:pt x="130" y="187"/>
                </a:cubicBezTo>
                <a:cubicBezTo>
                  <a:pt x="93" y="187"/>
                  <a:pt x="93" y="187"/>
                  <a:pt x="93" y="187"/>
                </a:cubicBezTo>
                <a:cubicBezTo>
                  <a:pt x="93" y="179"/>
                  <a:pt x="93" y="179"/>
                  <a:pt x="93" y="179"/>
                </a:cubicBezTo>
                <a:cubicBezTo>
                  <a:pt x="130" y="179"/>
                  <a:pt x="130" y="179"/>
                  <a:pt x="130" y="179"/>
                </a:cubicBezTo>
                <a:close/>
                <a:moveTo>
                  <a:pt x="130" y="198"/>
                </a:moveTo>
                <a:cubicBezTo>
                  <a:pt x="130" y="220"/>
                  <a:pt x="130" y="220"/>
                  <a:pt x="130" y="220"/>
                </a:cubicBezTo>
                <a:cubicBezTo>
                  <a:pt x="93" y="220"/>
                  <a:pt x="93" y="220"/>
                  <a:pt x="93" y="220"/>
                </a:cubicBezTo>
                <a:cubicBezTo>
                  <a:pt x="93" y="198"/>
                  <a:pt x="93" y="198"/>
                  <a:pt x="93" y="198"/>
                </a:cubicBezTo>
                <a:lnTo>
                  <a:pt x="130" y="198"/>
                </a:lnTo>
                <a:close/>
                <a:moveTo>
                  <a:pt x="93" y="3"/>
                </a:moveTo>
                <a:cubicBezTo>
                  <a:pt x="93" y="21"/>
                  <a:pt x="93" y="21"/>
                  <a:pt x="93" y="21"/>
                </a:cubicBezTo>
                <a:cubicBezTo>
                  <a:pt x="92" y="20"/>
                  <a:pt x="92" y="20"/>
                  <a:pt x="91" y="20"/>
                </a:cubicBezTo>
                <a:cubicBezTo>
                  <a:pt x="86" y="20"/>
                  <a:pt x="83" y="24"/>
                  <a:pt x="83" y="28"/>
                </a:cubicBezTo>
                <a:cubicBezTo>
                  <a:pt x="83" y="33"/>
                  <a:pt x="86" y="37"/>
                  <a:pt x="91" y="37"/>
                </a:cubicBezTo>
                <a:cubicBezTo>
                  <a:pt x="92" y="37"/>
                  <a:pt x="92" y="37"/>
                  <a:pt x="93" y="36"/>
                </a:cubicBezTo>
                <a:cubicBezTo>
                  <a:pt x="93" y="44"/>
                  <a:pt x="93" y="44"/>
                  <a:pt x="93" y="44"/>
                </a:cubicBezTo>
                <a:cubicBezTo>
                  <a:pt x="67" y="44"/>
                  <a:pt x="67" y="44"/>
                  <a:pt x="67" y="44"/>
                </a:cubicBezTo>
                <a:cubicBezTo>
                  <a:pt x="67" y="37"/>
                  <a:pt x="67" y="37"/>
                  <a:pt x="67" y="37"/>
                </a:cubicBezTo>
                <a:cubicBezTo>
                  <a:pt x="71" y="37"/>
                  <a:pt x="75" y="33"/>
                  <a:pt x="75" y="28"/>
                </a:cubicBezTo>
                <a:cubicBezTo>
                  <a:pt x="75" y="24"/>
                  <a:pt x="71" y="20"/>
                  <a:pt x="67" y="20"/>
                </a:cubicBezTo>
                <a:cubicBezTo>
                  <a:pt x="67" y="9"/>
                  <a:pt x="67" y="9"/>
                  <a:pt x="67" y="9"/>
                </a:cubicBezTo>
                <a:cubicBezTo>
                  <a:pt x="75" y="6"/>
                  <a:pt x="84" y="4"/>
                  <a:pt x="93" y="3"/>
                </a:cubicBezTo>
                <a:close/>
                <a:moveTo>
                  <a:pt x="93" y="50"/>
                </a:moveTo>
                <a:cubicBezTo>
                  <a:pt x="93" y="70"/>
                  <a:pt x="93" y="70"/>
                  <a:pt x="93" y="70"/>
                </a:cubicBezTo>
                <a:cubicBezTo>
                  <a:pt x="67" y="70"/>
                  <a:pt x="67" y="70"/>
                  <a:pt x="67" y="70"/>
                </a:cubicBezTo>
                <a:cubicBezTo>
                  <a:pt x="67" y="50"/>
                  <a:pt x="67" y="50"/>
                  <a:pt x="67" y="50"/>
                </a:cubicBezTo>
                <a:cubicBezTo>
                  <a:pt x="93" y="50"/>
                  <a:pt x="93" y="50"/>
                  <a:pt x="93" y="50"/>
                </a:cubicBezTo>
                <a:close/>
                <a:moveTo>
                  <a:pt x="93" y="120"/>
                </a:moveTo>
                <a:cubicBezTo>
                  <a:pt x="93" y="147"/>
                  <a:pt x="93" y="147"/>
                  <a:pt x="93" y="147"/>
                </a:cubicBezTo>
                <a:cubicBezTo>
                  <a:pt x="92" y="147"/>
                  <a:pt x="92" y="147"/>
                  <a:pt x="92" y="147"/>
                </a:cubicBezTo>
                <a:cubicBezTo>
                  <a:pt x="92" y="159"/>
                  <a:pt x="92" y="159"/>
                  <a:pt x="92" y="159"/>
                </a:cubicBezTo>
                <a:cubicBezTo>
                  <a:pt x="93" y="159"/>
                  <a:pt x="93" y="159"/>
                  <a:pt x="93" y="159"/>
                </a:cubicBezTo>
                <a:cubicBezTo>
                  <a:pt x="93" y="167"/>
                  <a:pt x="93" y="167"/>
                  <a:pt x="93" y="167"/>
                </a:cubicBezTo>
                <a:cubicBezTo>
                  <a:pt x="92" y="167"/>
                  <a:pt x="92" y="167"/>
                  <a:pt x="92" y="167"/>
                </a:cubicBezTo>
                <a:cubicBezTo>
                  <a:pt x="92" y="179"/>
                  <a:pt x="92" y="179"/>
                  <a:pt x="92" y="179"/>
                </a:cubicBezTo>
                <a:cubicBezTo>
                  <a:pt x="93" y="179"/>
                  <a:pt x="93" y="179"/>
                  <a:pt x="93" y="179"/>
                </a:cubicBezTo>
                <a:cubicBezTo>
                  <a:pt x="93" y="187"/>
                  <a:pt x="93" y="187"/>
                  <a:pt x="93" y="187"/>
                </a:cubicBezTo>
                <a:cubicBezTo>
                  <a:pt x="92" y="187"/>
                  <a:pt x="92" y="187"/>
                  <a:pt x="92" y="187"/>
                </a:cubicBezTo>
                <a:cubicBezTo>
                  <a:pt x="92" y="198"/>
                  <a:pt x="92" y="198"/>
                  <a:pt x="92" y="198"/>
                </a:cubicBezTo>
                <a:cubicBezTo>
                  <a:pt x="93" y="198"/>
                  <a:pt x="93" y="198"/>
                  <a:pt x="93" y="198"/>
                </a:cubicBezTo>
                <a:cubicBezTo>
                  <a:pt x="93" y="220"/>
                  <a:pt x="93" y="220"/>
                  <a:pt x="93" y="220"/>
                </a:cubicBezTo>
                <a:cubicBezTo>
                  <a:pt x="67" y="220"/>
                  <a:pt x="67" y="220"/>
                  <a:pt x="67" y="220"/>
                </a:cubicBezTo>
                <a:cubicBezTo>
                  <a:pt x="67" y="188"/>
                  <a:pt x="67" y="188"/>
                  <a:pt x="67" y="188"/>
                </a:cubicBezTo>
                <a:cubicBezTo>
                  <a:pt x="68" y="186"/>
                  <a:pt x="69" y="183"/>
                  <a:pt x="69" y="180"/>
                </a:cubicBezTo>
                <a:cubicBezTo>
                  <a:pt x="69" y="176"/>
                  <a:pt x="68" y="173"/>
                  <a:pt x="67" y="171"/>
                </a:cubicBezTo>
                <a:cubicBezTo>
                  <a:pt x="67" y="120"/>
                  <a:pt x="67" y="120"/>
                  <a:pt x="67" y="120"/>
                </a:cubicBezTo>
                <a:cubicBezTo>
                  <a:pt x="93" y="120"/>
                  <a:pt x="93" y="120"/>
                  <a:pt x="93" y="120"/>
                </a:cubicBezTo>
                <a:close/>
                <a:moveTo>
                  <a:pt x="67" y="257"/>
                </a:moveTo>
                <a:cubicBezTo>
                  <a:pt x="67" y="232"/>
                  <a:pt x="67" y="232"/>
                  <a:pt x="67" y="232"/>
                </a:cubicBezTo>
                <a:cubicBezTo>
                  <a:pt x="69" y="232"/>
                  <a:pt x="69" y="232"/>
                  <a:pt x="69" y="232"/>
                </a:cubicBezTo>
                <a:cubicBezTo>
                  <a:pt x="69" y="249"/>
                  <a:pt x="69" y="249"/>
                  <a:pt x="69" y="249"/>
                </a:cubicBezTo>
                <a:cubicBezTo>
                  <a:pt x="69" y="252"/>
                  <a:pt x="68" y="254"/>
                  <a:pt x="67" y="257"/>
                </a:cubicBezTo>
                <a:close/>
                <a:moveTo>
                  <a:pt x="67" y="9"/>
                </a:moveTo>
                <a:cubicBezTo>
                  <a:pt x="67" y="20"/>
                  <a:pt x="67" y="20"/>
                  <a:pt x="67" y="20"/>
                </a:cubicBezTo>
                <a:cubicBezTo>
                  <a:pt x="62" y="20"/>
                  <a:pt x="58" y="24"/>
                  <a:pt x="58" y="28"/>
                </a:cubicBezTo>
                <a:cubicBezTo>
                  <a:pt x="58" y="33"/>
                  <a:pt x="62" y="37"/>
                  <a:pt x="67" y="37"/>
                </a:cubicBezTo>
                <a:cubicBezTo>
                  <a:pt x="67" y="44"/>
                  <a:pt x="67" y="44"/>
                  <a:pt x="67" y="44"/>
                </a:cubicBezTo>
                <a:cubicBezTo>
                  <a:pt x="52" y="44"/>
                  <a:pt x="52" y="44"/>
                  <a:pt x="52" y="44"/>
                </a:cubicBezTo>
                <a:cubicBezTo>
                  <a:pt x="52" y="15"/>
                  <a:pt x="52" y="15"/>
                  <a:pt x="52" y="15"/>
                </a:cubicBezTo>
                <a:cubicBezTo>
                  <a:pt x="56" y="13"/>
                  <a:pt x="61" y="11"/>
                  <a:pt x="67" y="9"/>
                </a:cubicBezTo>
                <a:close/>
                <a:moveTo>
                  <a:pt x="67" y="50"/>
                </a:moveTo>
                <a:cubicBezTo>
                  <a:pt x="67" y="70"/>
                  <a:pt x="67" y="70"/>
                  <a:pt x="67" y="70"/>
                </a:cubicBezTo>
                <a:cubicBezTo>
                  <a:pt x="60" y="70"/>
                  <a:pt x="60" y="70"/>
                  <a:pt x="60" y="70"/>
                </a:cubicBezTo>
                <a:cubicBezTo>
                  <a:pt x="60" y="120"/>
                  <a:pt x="60" y="120"/>
                  <a:pt x="60" y="120"/>
                </a:cubicBezTo>
                <a:cubicBezTo>
                  <a:pt x="67" y="120"/>
                  <a:pt x="67" y="120"/>
                  <a:pt x="67" y="120"/>
                </a:cubicBezTo>
                <a:cubicBezTo>
                  <a:pt x="67" y="171"/>
                  <a:pt x="67" y="171"/>
                  <a:pt x="67" y="171"/>
                </a:cubicBezTo>
                <a:cubicBezTo>
                  <a:pt x="64" y="166"/>
                  <a:pt x="58" y="162"/>
                  <a:pt x="52" y="162"/>
                </a:cubicBezTo>
                <a:cubicBezTo>
                  <a:pt x="52" y="50"/>
                  <a:pt x="52" y="50"/>
                  <a:pt x="52" y="50"/>
                </a:cubicBezTo>
                <a:cubicBezTo>
                  <a:pt x="67" y="50"/>
                  <a:pt x="67" y="50"/>
                  <a:pt x="67" y="50"/>
                </a:cubicBezTo>
                <a:close/>
                <a:moveTo>
                  <a:pt x="67" y="188"/>
                </a:moveTo>
                <a:cubicBezTo>
                  <a:pt x="67" y="220"/>
                  <a:pt x="67" y="220"/>
                  <a:pt x="67" y="220"/>
                </a:cubicBezTo>
                <a:cubicBezTo>
                  <a:pt x="52" y="220"/>
                  <a:pt x="52" y="220"/>
                  <a:pt x="52" y="220"/>
                </a:cubicBezTo>
                <a:cubicBezTo>
                  <a:pt x="52" y="197"/>
                  <a:pt x="52" y="197"/>
                  <a:pt x="52" y="197"/>
                </a:cubicBezTo>
                <a:cubicBezTo>
                  <a:pt x="58" y="197"/>
                  <a:pt x="64" y="193"/>
                  <a:pt x="67" y="188"/>
                </a:cubicBezTo>
                <a:close/>
                <a:moveTo>
                  <a:pt x="67" y="232"/>
                </a:moveTo>
                <a:cubicBezTo>
                  <a:pt x="67" y="257"/>
                  <a:pt x="67" y="257"/>
                  <a:pt x="67" y="257"/>
                </a:cubicBezTo>
                <a:cubicBezTo>
                  <a:pt x="64" y="260"/>
                  <a:pt x="60" y="262"/>
                  <a:pt x="56" y="262"/>
                </a:cubicBezTo>
                <a:cubicBezTo>
                  <a:pt x="52" y="262"/>
                  <a:pt x="52" y="262"/>
                  <a:pt x="52" y="262"/>
                </a:cubicBezTo>
                <a:cubicBezTo>
                  <a:pt x="52" y="232"/>
                  <a:pt x="52" y="232"/>
                  <a:pt x="52" y="232"/>
                </a:cubicBezTo>
                <a:lnTo>
                  <a:pt x="67" y="232"/>
                </a:lnTo>
                <a:close/>
                <a:moveTo>
                  <a:pt x="52" y="15"/>
                </a:moveTo>
                <a:cubicBezTo>
                  <a:pt x="52" y="44"/>
                  <a:pt x="52" y="44"/>
                  <a:pt x="52" y="44"/>
                </a:cubicBezTo>
                <a:cubicBezTo>
                  <a:pt x="27" y="44"/>
                  <a:pt x="27" y="44"/>
                  <a:pt x="27" y="44"/>
                </a:cubicBezTo>
                <a:cubicBezTo>
                  <a:pt x="27" y="33"/>
                  <a:pt x="36" y="23"/>
                  <a:pt x="52" y="15"/>
                </a:cubicBezTo>
                <a:close/>
                <a:moveTo>
                  <a:pt x="52" y="50"/>
                </a:moveTo>
                <a:cubicBezTo>
                  <a:pt x="52" y="162"/>
                  <a:pt x="52" y="162"/>
                  <a:pt x="52" y="162"/>
                </a:cubicBezTo>
                <a:cubicBezTo>
                  <a:pt x="42" y="162"/>
                  <a:pt x="35" y="170"/>
                  <a:pt x="35" y="180"/>
                </a:cubicBezTo>
                <a:cubicBezTo>
                  <a:pt x="35" y="189"/>
                  <a:pt x="42" y="197"/>
                  <a:pt x="52" y="197"/>
                </a:cubicBezTo>
                <a:cubicBezTo>
                  <a:pt x="52" y="220"/>
                  <a:pt x="52" y="220"/>
                  <a:pt x="52" y="220"/>
                </a:cubicBezTo>
                <a:cubicBezTo>
                  <a:pt x="12" y="220"/>
                  <a:pt x="12" y="220"/>
                  <a:pt x="12" y="220"/>
                </a:cubicBezTo>
                <a:cubicBezTo>
                  <a:pt x="12" y="154"/>
                  <a:pt x="12" y="154"/>
                  <a:pt x="12" y="154"/>
                </a:cubicBezTo>
                <a:cubicBezTo>
                  <a:pt x="15" y="150"/>
                  <a:pt x="21" y="146"/>
                  <a:pt x="27" y="146"/>
                </a:cubicBezTo>
                <a:cubicBezTo>
                  <a:pt x="27" y="50"/>
                  <a:pt x="27" y="50"/>
                  <a:pt x="27" y="50"/>
                </a:cubicBezTo>
                <a:cubicBezTo>
                  <a:pt x="52" y="50"/>
                  <a:pt x="52" y="50"/>
                  <a:pt x="52" y="50"/>
                </a:cubicBezTo>
                <a:close/>
                <a:moveTo>
                  <a:pt x="52" y="232"/>
                </a:moveTo>
                <a:cubicBezTo>
                  <a:pt x="52" y="262"/>
                  <a:pt x="52" y="262"/>
                  <a:pt x="52" y="262"/>
                </a:cubicBezTo>
                <a:cubicBezTo>
                  <a:pt x="48" y="262"/>
                  <a:pt x="48" y="262"/>
                  <a:pt x="48" y="262"/>
                </a:cubicBezTo>
                <a:cubicBezTo>
                  <a:pt x="41" y="262"/>
                  <a:pt x="35" y="257"/>
                  <a:pt x="35" y="249"/>
                </a:cubicBezTo>
                <a:cubicBezTo>
                  <a:pt x="35" y="232"/>
                  <a:pt x="35" y="232"/>
                  <a:pt x="35" y="232"/>
                </a:cubicBezTo>
                <a:cubicBezTo>
                  <a:pt x="52" y="232"/>
                  <a:pt x="52" y="232"/>
                  <a:pt x="52" y="232"/>
                </a:cubicBezTo>
                <a:close/>
                <a:moveTo>
                  <a:pt x="12" y="114"/>
                </a:moveTo>
                <a:cubicBezTo>
                  <a:pt x="14" y="114"/>
                  <a:pt x="15" y="112"/>
                  <a:pt x="15" y="110"/>
                </a:cubicBezTo>
                <a:cubicBezTo>
                  <a:pt x="15" y="76"/>
                  <a:pt x="15" y="76"/>
                  <a:pt x="15" y="76"/>
                </a:cubicBezTo>
                <a:cubicBezTo>
                  <a:pt x="15" y="74"/>
                  <a:pt x="14" y="71"/>
                  <a:pt x="12" y="70"/>
                </a:cubicBezTo>
                <a:lnTo>
                  <a:pt x="12" y="114"/>
                </a:lnTo>
                <a:close/>
                <a:moveTo>
                  <a:pt x="12" y="70"/>
                </a:moveTo>
                <a:cubicBezTo>
                  <a:pt x="12" y="114"/>
                  <a:pt x="12" y="114"/>
                  <a:pt x="12" y="114"/>
                </a:cubicBezTo>
                <a:cubicBezTo>
                  <a:pt x="12" y="114"/>
                  <a:pt x="11" y="114"/>
                  <a:pt x="11" y="113"/>
                </a:cubicBezTo>
                <a:cubicBezTo>
                  <a:pt x="4" y="111"/>
                  <a:pt x="4" y="111"/>
                  <a:pt x="4" y="111"/>
                </a:cubicBezTo>
                <a:cubicBezTo>
                  <a:pt x="2" y="110"/>
                  <a:pt x="0" y="107"/>
                  <a:pt x="0" y="104"/>
                </a:cubicBezTo>
                <a:cubicBezTo>
                  <a:pt x="0" y="70"/>
                  <a:pt x="0" y="70"/>
                  <a:pt x="0" y="70"/>
                </a:cubicBezTo>
                <a:cubicBezTo>
                  <a:pt x="0" y="67"/>
                  <a:pt x="2" y="66"/>
                  <a:pt x="4" y="67"/>
                </a:cubicBezTo>
                <a:cubicBezTo>
                  <a:pt x="11" y="69"/>
                  <a:pt x="11" y="69"/>
                  <a:pt x="11" y="69"/>
                </a:cubicBezTo>
                <a:cubicBezTo>
                  <a:pt x="11" y="70"/>
                  <a:pt x="12" y="70"/>
                  <a:pt x="12" y="70"/>
                </a:cubicBezTo>
                <a:close/>
                <a:moveTo>
                  <a:pt x="12" y="154"/>
                </a:moveTo>
                <a:cubicBezTo>
                  <a:pt x="12" y="220"/>
                  <a:pt x="12" y="220"/>
                  <a:pt x="12" y="220"/>
                </a:cubicBezTo>
                <a:cubicBezTo>
                  <a:pt x="9" y="220"/>
                  <a:pt x="9" y="220"/>
                  <a:pt x="9" y="220"/>
                </a:cubicBezTo>
                <a:cubicBezTo>
                  <a:pt x="9" y="164"/>
                  <a:pt x="9" y="164"/>
                  <a:pt x="9" y="164"/>
                </a:cubicBezTo>
                <a:cubicBezTo>
                  <a:pt x="9" y="160"/>
                  <a:pt x="10" y="157"/>
                  <a:pt x="12" y="154"/>
                </a:cubicBezTo>
                <a:close/>
              </a:path>
            </a:pathLst>
          </a:custGeom>
          <a:solidFill>
            <a:schemeClr val="accent2"/>
          </a:solidFill>
          <a:ln>
            <a:noFill/>
          </a:ln>
        </p:spPr>
        <p:txBody>
          <a:bodyPr vert="horz" wrap="square" lIns="91440" tIns="45720" rIns="91440" bIns="45720" numCol="1" anchor="t" anchorCtr="0" compatLnSpc="1"/>
          <a:lstStyle/>
          <a:p>
            <a:endParaRPr lang="id-ID"/>
          </a:p>
        </p:txBody>
      </p:sp>
      <p:sp>
        <p:nvSpPr>
          <p:cNvPr id="120" name="Freeform 76"/>
          <p:cNvSpPr>
            <a:spLocks noEditPoints="1"/>
          </p:cNvSpPr>
          <p:nvPr/>
        </p:nvSpPr>
        <p:spPr bwMode="auto">
          <a:xfrm>
            <a:off x="7891242" y="3018816"/>
            <a:ext cx="642687" cy="487363"/>
          </a:xfrm>
          <a:custGeom>
            <a:avLst/>
            <a:gdLst>
              <a:gd name="T0" fmla="*/ 271 w 295"/>
              <a:gd name="T1" fmla="*/ 0 h 224"/>
              <a:gd name="T2" fmla="*/ 277 w 295"/>
              <a:gd name="T3" fmla="*/ 35 h 224"/>
              <a:gd name="T4" fmla="*/ 224 w 295"/>
              <a:gd name="T5" fmla="*/ 224 h 224"/>
              <a:gd name="T6" fmla="*/ 248 w 295"/>
              <a:gd name="T7" fmla="*/ 188 h 224"/>
              <a:gd name="T8" fmla="*/ 249 w 295"/>
              <a:gd name="T9" fmla="*/ 29 h 224"/>
              <a:gd name="T10" fmla="*/ 224 w 295"/>
              <a:gd name="T11" fmla="*/ 194 h 224"/>
              <a:gd name="T12" fmla="*/ 224 w 295"/>
              <a:gd name="T13" fmla="*/ 16 h 224"/>
              <a:gd name="T14" fmla="*/ 224 w 295"/>
              <a:gd name="T15" fmla="*/ 208 h 224"/>
              <a:gd name="T16" fmla="*/ 224 w 295"/>
              <a:gd name="T17" fmla="*/ 179 h 224"/>
              <a:gd name="T18" fmla="*/ 224 w 295"/>
              <a:gd name="T19" fmla="*/ 194 h 224"/>
              <a:gd name="T20" fmla="*/ 201 w 295"/>
              <a:gd name="T21" fmla="*/ 128 h 224"/>
              <a:gd name="T22" fmla="*/ 203 w 295"/>
              <a:gd name="T23" fmla="*/ 98 h 224"/>
              <a:gd name="T24" fmla="*/ 195 w 295"/>
              <a:gd name="T25" fmla="*/ 67 h 224"/>
              <a:gd name="T26" fmla="*/ 187 w 295"/>
              <a:gd name="T27" fmla="*/ 128 h 224"/>
              <a:gd name="T28" fmla="*/ 187 w 295"/>
              <a:gd name="T29" fmla="*/ 100 h 224"/>
              <a:gd name="T30" fmla="*/ 190 w 295"/>
              <a:gd name="T31" fmla="*/ 75 h 224"/>
              <a:gd name="T32" fmla="*/ 187 w 295"/>
              <a:gd name="T33" fmla="*/ 0 h 224"/>
              <a:gd name="T34" fmla="*/ 187 w 295"/>
              <a:gd name="T35" fmla="*/ 0 h 224"/>
              <a:gd name="T36" fmla="*/ 147 w 295"/>
              <a:gd name="T37" fmla="*/ 208 h 224"/>
              <a:gd name="T38" fmla="*/ 182 w 295"/>
              <a:gd name="T39" fmla="*/ 67 h 224"/>
              <a:gd name="T40" fmla="*/ 168 w 295"/>
              <a:gd name="T41" fmla="*/ 109 h 224"/>
              <a:gd name="T42" fmla="*/ 187 w 295"/>
              <a:gd name="T43" fmla="*/ 194 h 224"/>
              <a:gd name="T44" fmla="*/ 148 w 295"/>
              <a:gd name="T45" fmla="*/ 125 h 224"/>
              <a:gd name="T46" fmla="*/ 147 w 295"/>
              <a:gd name="T47" fmla="*/ 106 h 224"/>
              <a:gd name="T48" fmla="*/ 184 w 295"/>
              <a:gd name="T49" fmla="*/ 70 h 224"/>
              <a:gd name="T50" fmla="*/ 187 w 295"/>
              <a:gd name="T51" fmla="*/ 91 h 224"/>
              <a:gd name="T52" fmla="*/ 179 w 295"/>
              <a:gd name="T53" fmla="*/ 116 h 224"/>
              <a:gd name="T54" fmla="*/ 187 w 295"/>
              <a:gd name="T55" fmla="*/ 100 h 224"/>
              <a:gd name="T56" fmla="*/ 147 w 295"/>
              <a:gd name="T57" fmla="*/ 16 h 224"/>
              <a:gd name="T58" fmla="*/ 147 w 295"/>
              <a:gd name="T59" fmla="*/ 208 h 224"/>
              <a:gd name="T60" fmla="*/ 147 w 295"/>
              <a:gd name="T61" fmla="*/ 106 h 224"/>
              <a:gd name="T62" fmla="*/ 127 w 295"/>
              <a:gd name="T63" fmla="*/ 121 h 224"/>
              <a:gd name="T64" fmla="*/ 147 w 295"/>
              <a:gd name="T65" fmla="*/ 137 h 224"/>
              <a:gd name="T66" fmla="*/ 102 w 295"/>
              <a:gd name="T67" fmla="*/ 156 h 224"/>
              <a:gd name="T68" fmla="*/ 109 w 295"/>
              <a:gd name="T69" fmla="*/ 113 h 224"/>
              <a:gd name="T70" fmla="*/ 100 w 295"/>
              <a:gd name="T71" fmla="*/ 93 h 224"/>
              <a:gd name="T72" fmla="*/ 111 w 295"/>
              <a:gd name="T73" fmla="*/ 97 h 224"/>
              <a:gd name="T74" fmla="*/ 99 w 295"/>
              <a:gd name="T75" fmla="*/ 88 h 224"/>
              <a:gd name="T76" fmla="*/ 101 w 295"/>
              <a:gd name="T77" fmla="*/ 150 h 224"/>
              <a:gd name="T78" fmla="*/ 99 w 295"/>
              <a:gd name="T79" fmla="*/ 123 h 224"/>
              <a:gd name="T80" fmla="*/ 0 w 295"/>
              <a:gd name="T81" fmla="*/ 23 h 224"/>
              <a:gd name="T82" fmla="*/ 99 w 295"/>
              <a:gd name="T83" fmla="*/ 208 h 224"/>
              <a:gd name="T84" fmla="*/ 17 w 295"/>
              <a:gd name="T85" fmla="*/ 35 h 224"/>
              <a:gd name="T86" fmla="*/ 99 w 295"/>
              <a:gd name="T87" fmla="*/ 29 h 224"/>
              <a:gd name="T88" fmla="*/ 79 w 295"/>
              <a:gd name="T89" fmla="*/ 129 h 224"/>
              <a:gd name="T90" fmla="*/ 99 w 295"/>
              <a:gd name="T91" fmla="*/ 157 h 224"/>
              <a:gd name="T92" fmla="*/ 30 w 295"/>
              <a:gd name="T93" fmla="*/ 45 h 224"/>
              <a:gd name="T94" fmla="*/ 99 w 295"/>
              <a:gd name="T95" fmla="*/ 115 h 224"/>
              <a:gd name="T96" fmla="*/ 99 w 295"/>
              <a:gd name="T97" fmla="*/ 123 h 224"/>
              <a:gd name="T98" fmla="*/ 91 w 295"/>
              <a:gd name="T99" fmla="*/ 13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95" h="224">
                <a:moveTo>
                  <a:pt x="271" y="224"/>
                </a:moveTo>
                <a:cubicBezTo>
                  <a:pt x="284" y="224"/>
                  <a:pt x="295" y="213"/>
                  <a:pt x="295" y="200"/>
                </a:cubicBezTo>
                <a:cubicBezTo>
                  <a:pt x="295" y="23"/>
                  <a:pt x="295" y="23"/>
                  <a:pt x="295" y="23"/>
                </a:cubicBezTo>
                <a:cubicBezTo>
                  <a:pt x="295" y="10"/>
                  <a:pt x="284" y="0"/>
                  <a:pt x="271" y="0"/>
                </a:cubicBezTo>
                <a:cubicBezTo>
                  <a:pt x="224" y="0"/>
                  <a:pt x="224" y="0"/>
                  <a:pt x="224" y="0"/>
                </a:cubicBezTo>
                <a:cubicBezTo>
                  <a:pt x="224" y="16"/>
                  <a:pt x="224" y="16"/>
                  <a:pt x="224" y="16"/>
                </a:cubicBezTo>
                <a:cubicBezTo>
                  <a:pt x="258" y="16"/>
                  <a:pt x="258" y="16"/>
                  <a:pt x="258" y="16"/>
                </a:cubicBezTo>
                <a:cubicBezTo>
                  <a:pt x="268" y="16"/>
                  <a:pt x="277" y="24"/>
                  <a:pt x="277" y="35"/>
                </a:cubicBezTo>
                <a:cubicBezTo>
                  <a:pt x="277" y="189"/>
                  <a:pt x="277" y="189"/>
                  <a:pt x="277" y="189"/>
                </a:cubicBezTo>
                <a:cubicBezTo>
                  <a:pt x="277" y="199"/>
                  <a:pt x="268" y="208"/>
                  <a:pt x="258" y="208"/>
                </a:cubicBezTo>
                <a:cubicBezTo>
                  <a:pt x="224" y="208"/>
                  <a:pt x="224" y="208"/>
                  <a:pt x="224" y="208"/>
                </a:cubicBezTo>
                <a:cubicBezTo>
                  <a:pt x="224" y="224"/>
                  <a:pt x="224" y="224"/>
                  <a:pt x="224" y="224"/>
                </a:cubicBezTo>
                <a:cubicBezTo>
                  <a:pt x="271" y="224"/>
                  <a:pt x="271" y="224"/>
                  <a:pt x="271" y="224"/>
                </a:cubicBezTo>
                <a:close/>
                <a:moveTo>
                  <a:pt x="224" y="194"/>
                </a:moveTo>
                <a:cubicBezTo>
                  <a:pt x="224" y="188"/>
                  <a:pt x="224" y="188"/>
                  <a:pt x="224" y="188"/>
                </a:cubicBezTo>
                <a:cubicBezTo>
                  <a:pt x="248" y="188"/>
                  <a:pt x="248" y="188"/>
                  <a:pt x="248" y="188"/>
                </a:cubicBezTo>
                <a:cubicBezTo>
                  <a:pt x="248" y="179"/>
                  <a:pt x="248" y="179"/>
                  <a:pt x="248" y="179"/>
                </a:cubicBezTo>
                <a:cubicBezTo>
                  <a:pt x="224" y="179"/>
                  <a:pt x="224" y="179"/>
                  <a:pt x="224" y="179"/>
                </a:cubicBezTo>
                <a:cubicBezTo>
                  <a:pt x="224" y="29"/>
                  <a:pt x="224" y="29"/>
                  <a:pt x="224" y="29"/>
                </a:cubicBezTo>
                <a:cubicBezTo>
                  <a:pt x="249" y="29"/>
                  <a:pt x="249" y="29"/>
                  <a:pt x="249" y="29"/>
                </a:cubicBezTo>
                <a:cubicBezTo>
                  <a:pt x="257" y="29"/>
                  <a:pt x="264" y="36"/>
                  <a:pt x="264" y="45"/>
                </a:cubicBezTo>
                <a:cubicBezTo>
                  <a:pt x="264" y="179"/>
                  <a:pt x="264" y="179"/>
                  <a:pt x="264" y="179"/>
                </a:cubicBezTo>
                <a:cubicBezTo>
                  <a:pt x="264" y="187"/>
                  <a:pt x="257" y="194"/>
                  <a:pt x="249" y="194"/>
                </a:cubicBezTo>
                <a:lnTo>
                  <a:pt x="224" y="194"/>
                </a:lnTo>
                <a:close/>
                <a:moveTo>
                  <a:pt x="224" y="0"/>
                </a:moveTo>
                <a:cubicBezTo>
                  <a:pt x="187" y="0"/>
                  <a:pt x="187" y="0"/>
                  <a:pt x="187" y="0"/>
                </a:cubicBezTo>
                <a:cubicBezTo>
                  <a:pt x="187" y="16"/>
                  <a:pt x="187" y="16"/>
                  <a:pt x="187" y="16"/>
                </a:cubicBezTo>
                <a:cubicBezTo>
                  <a:pt x="224" y="16"/>
                  <a:pt x="224" y="16"/>
                  <a:pt x="224" y="16"/>
                </a:cubicBezTo>
                <a:cubicBezTo>
                  <a:pt x="224" y="0"/>
                  <a:pt x="224" y="0"/>
                  <a:pt x="224" y="0"/>
                </a:cubicBezTo>
                <a:close/>
                <a:moveTo>
                  <a:pt x="187" y="224"/>
                </a:moveTo>
                <a:cubicBezTo>
                  <a:pt x="224" y="224"/>
                  <a:pt x="224" y="224"/>
                  <a:pt x="224" y="224"/>
                </a:cubicBezTo>
                <a:cubicBezTo>
                  <a:pt x="224" y="208"/>
                  <a:pt x="224" y="208"/>
                  <a:pt x="224" y="208"/>
                </a:cubicBezTo>
                <a:cubicBezTo>
                  <a:pt x="187" y="208"/>
                  <a:pt x="187" y="208"/>
                  <a:pt x="187" y="208"/>
                </a:cubicBezTo>
                <a:cubicBezTo>
                  <a:pt x="187" y="224"/>
                  <a:pt x="187" y="224"/>
                  <a:pt x="187" y="224"/>
                </a:cubicBezTo>
                <a:close/>
                <a:moveTo>
                  <a:pt x="224" y="29"/>
                </a:moveTo>
                <a:cubicBezTo>
                  <a:pt x="224" y="179"/>
                  <a:pt x="224" y="179"/>
                  <a:pt x="224" y="179"/>
                </a:cubicBezTo>
                <a:cubicBezTo>
                  <a:pt x="200" y="179"/>
                  <a:pt x="200" y="179"/>
                  <a:pt x="200" y="179"/>
                </a:cubicBezTo>
                <a:cubicBezTo>
                  <a:pt x="200" y="188"/>
                  <a:pt x="200" y="188"/>
                  <a:pt x="200" y="188"/>
                </a:cubicBezTo>
                <a:cubicBezTo>
                  <a:pt x="224" y="188"/>
                  <a:pt x="224" y="188"/>
                  <a:pt x="224" y="188"/>
                </a:cubicBezTo>
                <a:cubicBezTo>
                  <a:pt x="224" y="194"/>
                  <a:pt x="224" y="194"/>
                  <a:pt x="224" y="194"/>
                </a:cubicBezTo>
                <a:cubicBezTo>
                  <a:pt x="187" y="194"/>
                  <a:pt x="187" y="194"/>
                  <a:pt x="187" y="194"/>
                </a:cubicBezTo>
                <a:cubicBezTo>
                  <a:pt x="187" y="135"/>
                  <a:pt x="187" y="135"/>
                  <a:pt x="187" y="135"/>
                </a:cubicBezTo>
                <a:cubicBezTo>
                  <a:pt x="188" y="135"/>
                  <a:pt x="189" y="134"/>
                  <a:pt x="189" y="134"/>
                </a:cubicBezTo>
                <a:cubicBezTo>
                  <a:pt x="194" y="133"/>
                  <a:pt x="197" y="131"/>
                  <a:pt x="201" y="128"/>
                </a:cubicBezTo>
                <a:cubicBezTo>
                  <a:pt x="204" y="124"/>
                  <a:pt x="206" y="121"/>
                  <a:pt x="207" y="117"/>
                </a:cubicBezTo>
                <a:cubicBezTo>
                  <a:pt x="208" y="115"/>
                  <a:pt x="208" y="113"/>
                  <a:pt x="208" y="111"/>
                </a:cubicBezTo>
                <a:cubicBezTo>
                  <a:pt x="208" y="109"/>
                  <a:pt x="208" y="107"/>
                  <a:pt x="207" y="104"/>
                </a:cubicBezTo>
                <a:cubicBezTo>
                  <a:pt x="207" y="102"/>
                  <a:pt x="205" y="100"/>
                  <a:pt x="203" y="98"/>
                </a:cubicBezTo>
                <a:cubicBezTo>
                  <a:pt x="200" y="96"/>
                  <a:pt x="197" y="94"/>
                  <a:pt x="193" y="94"/>
                </a:cubicBezTo>
                <a:cubicBezTo>
                  <a:pt x="197" y="91"/>
                  <a:pt x="199" y="88"/>
                  <a:pt x="201" y="85"/>
                </a:cubicBezTo>
                <a:cubicBezTo>
                  <a:pt x="202" y="81"/>
                  <a:pt x="202" y="78"/>
                  <a:pt x="201" y="74"/>
                </a:cubicBezTo>
                <a:cubicBezTo>
                  <a:pt x="200" y="71"/>
                  <a:pt x="198" y="69"/>
                  <a:pt x="195" y="67"/>
                </a:cubicBezTo>
                <a:cubicBezTo>
                  <a:pt x="193" y="66"/>
                  <a:pt x="190" y="66"/>
                  <a:pt x="187" y="66"/>
                </a:cubicBezTo>
                <a:cubicBezTo>
                  <a:pt x="187" y="29"/>
                  <a:pt x="187" y="29"/>
                  <a:pt x="187" y="29"/>
                </a:cubicBezTo>
                <a:cubicBezTo>
                  <a:pt x="224" y="29"/>
                  <a:pt x="224" y="29"/>
                  <a:pt x="224" y="29"/>
                </a:cubicBezTo>
                <a:close/>
                <a:moveTo>
                  <a:pt x="187" y="128"/>
                </a:moveTo>
                <a:cubicBezTo>
                  <a:pt x="187" y="128"/>
                  <a:pt x="188" y="128"/>
                  <a:pt x="188" y="128"/>
                </a:cubicBezTo>
                <a:cubicBezTo>
                  <a:pt x="191" y="127"/>
                  <a:pt x="193" y="125"/>
                  <a:pt x="194" y="122"/>
                </a:cubicBezTo>
                <a:cubicBezTo>
                  <a:pt x="195" y="118"/>
                  <a:pt x="195" y="115"/>
                  <a:pt x="194" y="111"/>
                </a:cubicBezTo>
                <a:cubicBezTo>
                  <a:pt x="193" y="106"/>
                  <a:pt x="191" y="103"/>
                  <a:pt x="187" y="100"/>
                </a:cubicBezTo>
                <a:cubicBezTo>
                  <a:pt x="187" y="128"/>
                  <a:pt x="187" y="128"/>
                  <a:pt x="187" y="128"/>
                </a:cubicBezTo>
                <a:close/>
                <a:moveTo>
                  <a:pt x="187" y="91"/>
                </a:moveTo>
                <a:cubicBezTo>
                  <a:pt x="189" y="87"/>
                  <a:pt x="190" y="84"/>
                  <a:pt x="190" y="80"/>
                </a:cubicBezTo>
                <a:cubicBezTo>
                  <a:pt x="190" y="78"/>
                  <a:pt x="190" y="77"/>
                  <a:pt x="190" y="75"/>
                </a:cubicBezTo>
                <a:cubicBezTo>
                  <a:pt x="189" y="74"/>
                  <a:pt x="189" y="72"/>
                  <a:pt x="188" y="71"/>
                </a:cubicBezTo>
                <a:cubicBezTo>
                  <a:pt x="187" y="71"/>
                  <a:pt x="187" y="71"/>
                  <a:pt x="187" y="71"/>
                </a:cubicBezTo>
                <a:lnTo>
                  <a:pt x="187" y="91"/>
                </a:lnTo>
                <a:close/>
                <a:moveTo>
                  <a:pt x="187" y="0"/>
                </a:moveTo>
                <a:cubicBezTo>
                  <a:pt x="147" y="0"/>
                  <a:pt x="147" y="0"/>
                  <a:pt x="147" y="0"/>
                </a:cubicBezTo>
                <a:cubicBezTo>
                  <a:pt x="147" y="16"/>
                  <a:pt x="147" y="16"/>
                  <a:pt x="147" y="16"/>
                </a:cubicBezTo>
                <a:cubicBezTo>
                  <a:pt x="187" y="16"/>
                  <a:pt x="187" y="16"/>
                  <a:pt x="187" y="16"/>
                </a:cubicBezTo>
                <a:cubicBezTo>
                  <a:pt x="187" y="0"/>
                  <a:pt x="187" y="0"/>
                  <a:pt x="187" y="0"/>
                </a:cubicBezTo>
                <a:close/>
                <a:moveTo>
                  <a:pt x="147" y="224"/>
                </a:moveTo>
                <a:cubicBezTo>
                  <a:pt x="187" y="224"/>
                  <a:pt x="187" y="224"/>
                  <a:pt x="187" y="224"/>
                </a:cubicBezTo>
                <a:cubicBezTo>
                  <a:pt x="187" y="208"/>
                  <a:pt x="187" y="208"/>
                  <a:pt x="187" y="208"/>
                </a:cubicBezTo>
                <a:cubicBezTo>
                  <a:pt x="147" y="208"/>
                  <a:pt x="147" y="208"/>
                  <a:pt x="147" y="208"/>
                </a:cubicBezTo>
                <a:cubicBezTo>
                  <a:pt x="147" y="224"/>
                  <a:pt x="147" y="224"/>
                  <a:pt x="147" y="224"/>
                </a:cubicBezTo>
                <a:close/>
                <a:moveTo>
                  <a:pt x="187" y="29"/>
                </a:moveTo>
                <a:cubicBezTo>
                  <a:pt x="187" y="66"/>
                  <a:pt x="187" y="66"/>
                  <a:pt x="187" y="66"/>
                </a:cubicBezTo>
                <a:cubicBezTo>
                  <a:pt x="185" y="66"/>
                  <a:pt x="184" y="66"/>
                  <a:pt x="182" y="67"/>
                </a:cubicBezTo>
                <a:cubicBezTo>
                  <a:pt x="176" y="68"/>
                  <a:pt x="172" y="71"/>
                  <a:pt x="169" y="75"/>
                </a:cubicBezTo>
                <a:cubicBezTo>
                  <a:pt x="167" y="80"/>
                  <a:pt x="166" y="84"/>
                  <a:pt x="167" y="88"/>
                </a:cubicBezTo>
                <a:cubicBezTo>
                  <a:pt x="168" y="93"/>
                  <a:pt x="172" y="97"/>
                  <a:pt x="177" y="98"/>
                </a:cubicBezTo>
                <a:cubicBezTo>
                  <a:pt x="173" y="101"/>
                  <a:pt x="169" y="105"/>
                  <a:pt x="168" y="109"/>
                </a:cubicBezTo>
                <a:cubicBezTo>
                  <a:pt x="166" y="113"/>
                  <a:pt x="165" y="117"/>
                  <a:pt x="167" y="122"/>
                </a:cubicBezTo>
                <a:cubicBezTo>
                  <a:pt x="168" y="126"/>
                  <a:pt x="170" y="130"/>
                  <a:pt x="175" y="133"/>
                </a:cubicBezTo>
                <a:cubicBezTo>
                  <a:pt x="178" y="135"/>
                  <a:pt x="182" y="135"/>
                  <a:pt x="187" y="135"/>
                </a:cubicBezTo>
                <a:cubicBezTo>
                  <a:pt x="187" y="194"/>
                  <a:pt x="187" y="194"/>
                  <a:pt x="187" y="194"/>
                </a:cubicBezTo>
                <a:cubicBezTo>
                  <a:pt x="147" y="194"/>
                  <a:pt x="147" y="194"/>
                  <a:pt x="147" y="194"/>
                </a:cubicBezTo>
                <a:cubicBezTo>
                  <a:pt x="147" y="137"/>
                  <a:pt x="147" y="137"/>
                  <a:pt x="147" y="137"/>
                </a:cubicBezTo>
                <a:cubicBezTo>
                  <a:pt x="148" y="137"/>
                  <a:pt x="148" y="137"/>
                  <a:pt x="148" y="137"/>
                </a:cubicBezTo>
                <a:cubicBezTo>
                  <a:pt x="148" y="125"/>
                  <a:pt x="148" y="125"/>
                  <a:pt x="148" y="125"/>
                </a:cubicBezTo>
                <a:cubicBezTo>
                  <a:pt x="159" y="123"/>
                  <a:pt x="159" y="123"/>
                  <a:pt x="159" y="123"/>
                </a:cubicBezTo>
                <a:cubicBezTo>
                  <a:pt x="158" y="112"/>
                  <a:pt x="158" y="112"/>
                  <a:pt x="158" y="112"/>
                </a:cubicBezTo>
                <a:cubicBezTo>
                  <a:pt x="147" y="115"/>
                  <a:pt x="147" y="115"/>
                  <a:pt x="147" y="115"/>
                </a:cubicBezTo>
                <a:cubicBezTo>
                  <a:pt x="147" y="106"/>
                  <a:pt x="147" y="106"/>
                  <a:pt x="147" y="106"/>
                </a:cubicBezTo>
                <a:cubicBezTo>
                  <a:pt x="147" y="29"/>
                  <a:pt x="147" y="29"/>
                  <a:pt x="147" y="29"/>
                </a:cubicBezTo>
                <a:cubicBezTo>
                  <a:pt x="187" y="29"/>
                  <a:pt x="187" y="29"/>
                  <a:pt x="187" y="29"/>
                </a:cubicBezTo>
                <a:close/>
                <a:moveTo>
                  <a:pt x="187" y="71"/>
                </a:moveTo>
                <a:cubicBezTo>
                  <a:pt x="186" y="70"/>
                  <a:pt x="185" y="70"/>
                  <a:pt x="184" y="70"/>
                </a:cubicBezTo>
                <a:cubicBezTo>
                  <a:pt x="181" y="71"/>
                  <a:pt x="179" y="73"/>
                  <a:pt x="178" y="76"/>
                </a:cubicBezTo>
                <a:cubicBezTo>
                  <a:pt x="177" y="78"/>
                  <a:pt x="177" y="81"/>
                  <a:pt x="178" y="83"/>
                </a:cubicBezTo>
                <a:cubicBezTo>
                  <a:pt x="179" y="88"/>
                  <a:pt x="181" y="91"/>
                  <a:pt x="185" y="93"/>
                </a:cubicBezTo>
                <a:cubicBezTo>
                  <a:pt x="186" y="92"/>
                  <a:pt x="187" y="91"/>
                  <a:pt x="187" y="91"/>
                </a:cubicBezTo>
                <a:cubicBezTo>
                  <a:pt x="187" y="71"/>
                  <a:pt x="187" y="71"/>
                  <a:pt x="187" y="71"/>
                </a:cubicBezTo>
                <a:close/>
                <a:moveTo>
                  <a:pt x="187" y="100"/>
                </a:moveTo>
                <a:cubicBezTo>
                  <a:pt x="187" y="100"/>
                  <a:pt x="186" y="100"/>
                  <a:pt x="186" y="99"/>
                </a:cubicBezTo>
                <a:cubicBezTo>
                  <a:pt x="181" y="104"/>
                  <a:pt x="179" y="110"/>
                  <a:pt x="179" y="116"/>
                </a:cubicBezTo>
                <a:cubicBezTo>
                  <a:pt x="179" y="118"/>
                  <a:pt x="179" y="120"/>
                  <a:pt x="180" y="121"/>
                </a:cubicBezTo>
                <a:cubicBezTo>
                  <a:pt x="180" y="124"/>
                  <a:pt x="182" y="126"/>
                  <a:pt x="183" y="127"/>
                </a:cubicBezTo>
                <a:cubicBezTo>
                  <a:pt x="184" y="128"/>
                  <a:pt x="186" y="128"/>
                  <a:pt x="187" y="128"/>
                </a:cubicBezTo>
                <a:lnTo>
                  <a:pt x="187" y="100"/>
                </a:lnTo>
                <a:close/>
                <a:moveTo>
                  <a:pt x="147" y="0"/>
                </a:moveTo>
                <a:cubicBezTo>
                  <a:pt x="99" y="0"/>
                  <a:pt x="99" y="0"/>
                  <a:pt x="99" y="0"/>
                </a:cubicBezTo>
                <a:cubicBezTo>
                  <a:pt x="99" y="16"/>
                  <a:pt x="99" y="16"/>
                  <a:pt x="99" y="16"/>
                </a:cubicBezTo>
                <a:cubicBezTo>
                  <a:pt x="147" y="16"/>
                  <a:pt x="147" y="16"/>
                  <a:pt x="147" y="16"/>
                </a:cubicBezTo>
                <a:cubicBezTo>
                  <a:pt x="147" y="0"/>
                  <a:pt x="147" y="0"/>
                  <a:pt x="147" y="0"/>
                </a:cubicBezTo>
                <a:close/>
                <a:moveTo>
                  <a:pt x="99" y="224"/>
                </a:moveTo>
                <a:cubicBezTo>
                  <a:pt x="147" y="224"/>
                  <a:pt x="147" y="224"/>
                  <a:pt x="147" y="224"/>
                </a:cubicBezTo>
                <a:cubicBezTo>
                  <a:pt x="147" y="208"/>
                  <a:pt x="147" y="208"/>
                  <a:pt x="147" y="208"/>
                </a:cubicBezTo>
                <a:cubicBezTo>
                  <a:pt x="99" y="208"/>
                  <a:pt x="99" y="208"/>
                  <a:pt x="99" y="208"/>
                </a:cubicBezTo>
                <a:cubicBezTo>
                  <a:pt x="99" y="224"/>
                  <a:pt x="99" y="224"/>
                  <a:pt x="99" y="224"/>
                </a:cubicBezTo>
                <a:close/>
                <a:moveTo>
                  <a:pt x="147" y="29"/>
                </a:moveTo>
                <a:cubicBezTo>
                  <a:pt x="147" y="106"/>
                  <a:pt x="147" y="106"/>
                  <a:pt x="147" y="106"/>
                </a:cubicBezTo>
                <a:cubicBezTo>
                  <a:pt x="147" y="104"/>
                  <a:pt x="147" y="104"/>
                  <a:pt x="147" y="104"/>
                </a:cubicBezTo>
                <a:cubicBezTo>
                  <a:pt x="137" y="107"/>
                  <a:pt x="137" y="107"/>
                  <a:pt x="137" y="107"/>
                </a:cubicBezTo>
                <a:cubicBezTo>
                  <a:pt x="138" y="118"/>
                  <a:pt x="138" y="118"/>
                  <a:pt x="138" y="118"/>
                </a:cubicBezTo>
                <a:cubicBezTo>
                  <a:pt x="127" y="121"/>
                  <a:pt x="127" y="121"/>
                  <a:pt x="127" y="121"/>
                </a:cubicBezTo>
                <a:cubicBezTo>
                  <a:pt x="127" y="131"/>
                  <a:pt x="127" y="131"/>
                  <a:pt x="127" y="131"/>
                </a:cubicBezTo>
                <a:cubicBezTo>
                  <a:pt x="138" y="128"/>
                  <a:pt x="138" y="128"/>
                  <a:pt x="138" y="128"/>
                </a:cubicBezTo>
                <a:cubicBezTo>
                  <a:pt x="138" y="139"/>
                  <a:pt x="138" y="139"/>
                  <a:pt x="138" y="139"/>
                </a:cubicBezTo>
                <a:cubicBezTo>
                  <a:pt x="147" y="137"/>
                  <a:pt x="147" y="137"/>
                  <a:pt x="147" y="137"/>
                </a:cubicBezTo>
                <a:cubicBezTo>
                  <a:pt x="147" y="194"/>
                  <a:pt x="147" y="194"/>
                  <a:pt x="147" y="194"/>
                </a:cubicBezTo>
                <a:cubicBezTo>
                  <a:pt x="99" y="194"/>
                  <a:pt x="99" y="194"/>
                  <a:pt x="99" y="194"/>
                </a:cubicBezTo>
                <a:cubicBezTo>
                  <a:pt x="99" y="157"/>
                  <a:pt x="99" y="157"/>
                  <a:pt x="99" y="157"/>
                </a:cubicBezTo>
                <a:cubicBezTo>
                  <a:pt x="100" y="157"/>
                  <a:pt x="101" y="157"/>
                  <a:pt x="102" y="156"/>
                </a:cubicBezTo>
                <a:cubicBezTo>
                  <a:pt x="109" y="155"/>
                  <a:pt x="113" y="151"/>
                  <a:pt x="117" y="145"/>
                </a:cubicBezTo>
                <a:cubicBezTo>
                  <a:pt x="120" y="139"/>
                  <a:pt x="121" y="132"/>
                  <a:pt x="119" y="124"/>
                </a:cubicBezTo>
                <a:cubicBezTo>
                  <a:pt x="118" y="120"/>
                  <a:pt x="116" y="117"/>
                  <a:pt x="114" y="115"/>
                </a:cubicBezTo>
                <a:cubicBezTo>
                  <a:pt x="112" y="114"/>
                  <a:pt x="111" y="113"/>
                  <a:pt x="109" y="113"/>
                </a:cubicBezTo>
                <a:cubicBezTo>
                  <a:pt x="108" y="112"/>
                  <a:pt x="105" y="113"/>
                  <a:pt x="103" y="113"/>
                </a:cubicBezTo>
                <a:cubicBezTo>
                  <a:pt x="101" y="114"/>
                  <a:pt x="100" y="114"/>
                  <a:pt x="99" y="115"/>
                </a:cubicBezTo>
                <a:cubicBezTo>
                  <a:pt x="99" y="93"/>
                  <a:pt x="99" y="93"/>
                  <a:pt x="99" y="93"/>
                </a:cubicBezTo>
                <a:cubicBezTo>
                  <a:pt x="100" y="93"/>
                  <a:pt x="100" y="93"/>
                  <a:pt x="100" y="93"/>
                </a:cubicBezTo>
                <a:cubicBezTo>
                  <a:pt x="102" y="93"/>
                  <a:pt x="103" y="93"/>
                  <a:pt x="104" y="94"/>
                </a:cubicBezTo>
                <a:cubicBezTo>
                  <a:pt x="105" y="94"/>
                  <a:pt x="106" y="95"/>
                  <a:pt x="106" y="97"/>
                </a:cubicBezTo>
                <a:cubicBezTo>
                  <a:pt x="106" y="98"/>
                  <a:pt x="106" y="99"/>
                  <a:pt x="105" y="100"/>
                </a:cubicBezTo>
                <a:cubicBezTo>
                  <a:pt x="108" y="99"/>
                  <a:pt x="110" y="98"/>
                  <a:pt x="111" y="97"/>
                </a:cubicBezTo>
                <a:cubicBezTo>
                  <a:pt x="112" y="95"/>
                  <a:pt x="112" y="93"/>
                  <a:pt x="111" y="92"/>
                </a:cubicBezTo>
                <a:cubicBezTo>
                  <a:pt x="111" y="90"/>
                  <a:pt x="110" y="89"/>
                  <a:pt x="107" y="88"/>
                </a:cubicBezTo>
                <a:cubicBezTo>
                  <a:pt x="105" y="87"/>
                  <a:pt x="103" y="87"/>
                  <a:pt x="100" y="88"/>
                </a:cubicBezTo>
                <a:cubicBezTo>
                  <a:pt x="99" y="88"/>
                  <a:pt x="99" y="88"/>
                  <a:pt x="99" y="88"/>
                </a:cubicBezTo>
                <a:cubicBezTo>
                  <a:pt x="99" y="29"/>
                  <a:pt x="99" y="29"/>
                  <a:pt x="99" y="29"/>
                </a:cubicBezTo>
                <a:cubicBezTo>
                  <a:pt x="147" y="29"/>
                  <a:pt x="147" y="29"/>
                  <a:pt x="147" y="29"/>
                </a:cubicBezTo>
                <a:close/>
                <a:moveTo>
                  <a:pt x="99" y="150"/>
                </a:moveTo>
                <a:cubicBezTo>
                  <a:pt x="100" y="150"/>
                  <a:pt x="101" y="150"/>
                  <a:pt x="101" y="150"/>
                </a:cubicBezTo>
                <a:cubicBezTo>
                  <a:pt x="105" y="149"/>
                  <a:pt x="107" y="146"/>
                  <a:pt x="109" y="142"/>
                </a:cubicBezTo>
                <a:cubicBezTo>
                  <a:pt x="110" y="137"/>
                  <a:pt x="111" y="133"/>
                  <a:pt x="110" y="129"/>
                </a:cubicBezTo>
                <a:cubicBezTo>
                  <a:pt x="108" y="123"/>
                  <a:pt x="106" y="120"/>
                  <a:pt x="103" y="121"/>
                </a:cubicBezTo>
                <a:cubicBezTo>
                  <a:pt x="101" y="121"/>
                  <a:pt x="100" y="122"/>
                  <a:pt x="99" y="123"/>
                </a:cubicBezTo>
                <a:lnTo>
                  <a:pt x="99" y="150"/>
                </a:lnTo>
                <a:close/>
                <a:moveTo>
                  <a:pt x="99" y="0"/>
                </a:moveTo>
                <a:cubicBezTo>
                  <a:pt x="23" y="0"/>
                  <a:pt x="23" y="0"/>
                  <a:pt x="23" y="0"/>
                </a:cubicBezTo>
                <a:cubicBezTo>
                  <a:pt x="10" y="0"/>
                  <a:pt x="0" y="10"/>
                  <a:pt x="0" y="23"/>
                </a:cubicBezTo>
                <a:cubicBezTo>
                  <a:pt x="0" y="200"/>
                  <a:pt x="0" y="200"/>
                  <a:pt x="0" y="200"/>
                </a:cubicBezTo>
                <a:cubicBezTo>
                  <a:pt x="0" y="213"/>
                  <a:pt x="10" y="224"/>
                  <a:pt x="23" y="224"/>
                </a:cubicBezTo>
                <a:cubicBezTo>
                  <a:pt x="99" y="224"/>
                  <a:pt x="99" y="224"/>
                  <a:pt x="99" y="224"/>
                </a:cubicBezTo>
                <a:cubicBezTo>
                  <a:pt x="99" y="208"/>
                  <a:pt x="99" y="208"/>
                  <a:pt x="99" y="208"/>
                </a:cubicBezTo>
                <a:cubicBezTo>
                  <a:pt x="37" y="208"/>
                  <a:pt x="37" y="208"/>
                  <a:pt x="37" y="208"/>
                </a:cubicBezTo>
                <a:cubicBezTo>
                  <a:pt x="37" y="208"/>
                  <a:pt x="37" y="208"/>
                  <a:pt x="37" y="208"/>
                </a:cubicBezTo>
                <a:cubicBezTo>
                  <a:pt x="26" y="208"/>
                  <a:pt x="17" y="199"/>
                  <a:pt x="17" y="189"/>
                </a:cubicBezTo>
                <a:cubicBezTo>
                  <a:pt x="17" y="35"/>
                  <a:pt x="17" y="35"/>
                  <a:pt x="17" y="35"/>
                </a:cubicBezTo>
                <a:cubicBezTo>
                  <a:pt x="17" y="24"/>
                  <a:pt x="26" y="16"/>
                  <a:pt x="37" y="16"/>
                </a:cubicBezTo>
                <a:cubicBezTo>
                  <a:pt x="99" y="16"/>
                  <a:pt x="99" y="16"/>
                  <a:pt x="99" y="16"/>
                </a:cubicBezTo>
                <a:cubicBezTo>
                  <a:pt x="99" y="0"/>
                  <a:pt x="99" y="0"/>
                  <a:pt x="99" y="0"/>
                </a:cubicBezTo>
                <a:close/>
                <a:moveTo>
                  <a:pt x="99" y="29"/>
                </a:moveTo>
                <a:cubicBezTo>
                  <a:pt x="99" y="88"/>
                  <a:pt x="99" y="88"/>
                  <a:pt x="99" y="88"/>
                </a:cubicBezTo>
                <a:cubicBezTo>
                  <a:pt x="93" y="89"/>
                  <a:pt x="89" y="93"/>
                  <a:pt x="85" y="97"/>
                </a:cubicBezTo>
                <a:cubicBezTo>
                  <a:pt x="82" y="102"/>
                  <a:pt x="80" y="109"/>
                  <a:pt x="79" y="116"/>
                </a:cubicBezTo>
                <a:cubicBezTo>
                  <a:pt x="78" y="120"/>
                  <a:pt x="78" y="124"/>
                  <a:pt x="79" y="129"/>
                </a:cubicBezTo>
                <a:cubicBezTo>
                  <a:pt x="79" y="134"/>
                  <a:pt x="80" y="138"/>
                  <a:pt x="81" y="142"/>
                </a:cubicBezTo>
                <a:cubicBezTo>
                  <a:pt x="81" y="144"/>
                  <a:pt x="81" y="144"/>
                  <a:pt x="81" y="144"/>
                </a:cubicBezTo>
                <a:cubicBezTo>
                  <a:pt x="82" y="146"/>
                  <a:pt x="82" y="148"/>
                  <a:pt x="83" y="150"/>
                </a:cubicBezTo>
                <a:cubicBezTo>
                  <a:pt x="86" y="156"/>
                  <a:pt x="92" y="158"/>
                  <a:pt x="99" y="157"/>
                </a:cubicBezTo>
                <a:cubicBezTo>
                  <a:pt x="99" y="194"/>
                  <a:pt x="99" y="194"/>
                  <a:pt x="99" y="194"/>
                </a:cubicBezTo>
                <a:cubicBezTo>
                  <a:pt x="46" y="194"/>
                  <a:pt x="46" y="194"/>
                  <a:pt x="46" y="194"/>
                </a:cubicBezTo>
                <a:cubicBezTo>
                  <a:pt x="37" y="194"/>
                  <a:pt x="30" y="187"/>
                  <a:pt x="30" y="179"/>
                </a:cubicBezTo>
                <a:cubicBezTo>
                  <a:pt x="30" y="45"/>
                  <a:pt x="30" y="45"/>
                  <a:pt x="30" y="45"/>
                </a:cubicBezTo>
                <a:cubicBezTo>
                  <a:pt x="30" y="36"/>
                  <a:pt x="37" y="29"/>
                  <a:pt x="46" y="29"/>
                </a:cubicBezTo>
                <a:cubicBezTo>
                  <a:pt x="99" y="29"/>
                  <a:pt x="99" y="29"/>
                  <a:pt x="99" y="29"/>
                </a:cubicBezTo>
                <a:close/>
                <a:moveTo>
                  <a:pt x="99" y="93"/>
                </a:moveTo>
                <a:cubicBezTo>
                  <a:pt x="99" y="115"/>
                  <a:pt x="99" y="115"/>
                  <a:pt x="99" y="115"/>
                </a:cubicBezTo>
                <a:cubicBezTo>
                  <a:pt x="98" y="115"/>
                  <a:pt x="97" y="116"/>
                  <a:pt x="96" y="118"/>
                </a:cubicBezTo>
                <a:cubicBezTo>
                  <a:pt x="94" y="120"/>
                  <a:pt x="93" y="122"/>
                  <a:pt x="94" y="125"/>
                </a:cubicBezTo>
                <a:cubicBezTo>
                  <a:pt x="94" y="127"/>
                  <a:pt x="95" y="128"/>
                  <a:pt x="97" y="129"/>
                </a:cubicBezTo>
                <a:cubicBezTo>
                  <a:pt x="97" y="127"/>
                  <a:pt x="98" y="125"/>
                  <a:pt x="99" y="123"/>
                </a:cubicBezTo>
                <a:cubicBezTo>
                  <a:pt x="99" y="150"/>
                  <a:pt x="99" y="150"/>
                  <a:pt x="99" y="150"/>
                </a:cubicBezTo>
                <a:cubicBezTo>
                  <a:pt x="98" y="150"/>
                  <a:pt x="97" y="149"/>
                  <a:pt x="96" y="149"/>
                </a:cubicBezTo>
                <a:cubicBezTo>
                  <a:pt x="95" y="148"/>
                  <a:pt x="94" y="146"/>
                  <a:pt x="93" y="142"/>
                </a:cubicBezTo>
                <a:cubicBezTo>
                  <a:pt x="92" y="140"/>
                  <a:pt x="92" y="137"/>
                  <a:pt x="91" y="133"/>
                </a:cubicBezTo>
                <a:cubicBezTo>
                  <a:pt x="91" y="128"/>
                  <a:pt x="90" y="124"/>
                  <a:pt x="90" y="119"/>
                </a:cubicBezTo>
                <a:cubicBezTo>
                  <a:pt x="90" y="111"/>
                  <a:pt x="91" y="104"/>
                  <a:pt x="93" y="100"/>
                </a:cubicBezTo>
                <a:cubicBezTo>
                  <a:pt x="95" y="97"/>
                  <a:pt x="97" y="94"/>
                  <a:pt x="99" y="93"/>
                </a:cubicBezTo>
                <a:close/>
              </a:path>
            </a:pathLst>
          </a:custGeom>
          <a:solidFill>
            <a:schemeClr val="accent3"/>
          </a:solidFill>
          <a:ln>
            <a:noFill/>
          </a:ln>
        </p:spPr>
        <p:txBody>
          <a:bodyPr vert="horz" wrap="square" lIns="91440" tIns="45720" rIns="91440" bIns="45720" numCol="1" anchor="t" anchorCtr="0" compatLnSpc="1"/>
          <a:lstStyle/>
          <a:p>
            <a:endParaRPr lang="id-ID"/>
          </a:p>
        </p:txBody>
      </p:sp>
      <p:sp>
        <p:nvSpPr>
          <p:cNvPr id="121" name="Freeform 77"/>
          <p:cNvSpPr/>
          <p:nvPr/>
        </p:nvSpPr>
        <p:spPr bwMode="auto">
          <a:xfrm>
            <a:off x="8172121" y="2304440"/>
            <a:ext cx="214229" cy="160338"/>
          </a:xfrm>
          <a:custGeom>
            <a:avLst/>
            <a:gdLst>
              <a:gd name="T0" fmla="*/ 69 w 98"/>
              <a:gd name="T1" fmla="*/ 0 h 74"/>
              <a:gd name="T2" fmla="*/ 49 w 98"/>
              <a:gd name="T3" fmla="*/ 8 h 74"/>
              <a:gd name="T4" fmla="*/ 30 w 98"/>
              <a:gd name="T5" fmla="*/ 0 h 74"/>
              <a:gd name="T6" fmla="*/ 0 w 98"/>
              <a:gd name="T7" fmla="*/ 29 h 74"/>
              <a:gd name="T8" fmla="*/ 51 w 98"/>
              <a:gd name="T9" fmla="*/ 74 h 74"/>
              <a:gd name="T10" fmla="*/ 98 w 98"/>
              <a:gd name="T11" fmla="*/ 29 h 74"/>
              <a:gd name="T12" fmla="*/ 69 w 98"/>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98" h="74">
                <a:moveTo>
                  <a:pt x="69" y="0"/>
                </a:moveTo>
                <a:cubicBezTo>
                  <a:pt x="61" y="0"/>
                  <a:pt x="54" y="3"/>
                  <a:pt x="49" y="8"/>
                </a:cubicBezTo>
                <a:cubicBezTo>
                  <a:pt x="44" y="3"/>
                  <a:pt x="37" y="0"/>
                  <a:pt x="30" y="0"/>
                </a:cubicBezTo>
                <a:cubicBezTo>
                  <a:pt x="13" y="0"/>
                  <a:pt x="0" y="13"/>
                  <a:pt x="0" y="29"/>
                </a:cubicBezTo>
                <a:cubicBezTo>
                  <a:pt x="0" y="47"/>
                  <a:pt x="15" y="74"/>
                  <a:pt x="51" y="74"/>
                </a:cubicBezTo>
                <a:cubicBezTo>
                  <a:pt x="88" y="74"/>
                  <a:pt x="98" y="45"/>
                  <a:pt x="98" y="29"/>
                </a:cubicBezTo>
                <a:cubicBezTo>
                  <a:pt x="98" y="13"/>
                  <a:pt x="85" y="0"/>
                  <a:pt x="69"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2" name="Freeform 78"/>
          <p:cNvSpPr/>
          <p:nvPr/>
        </p:nvSpPr>
        <p:spPr bwMode="auto">
          <a:xfrm>
            <a:off x="8267333" y="2263166"/>
            <a:ext cx="58715" cy="73025"/>
          </a:xfrm>
          <a:custGeom>
            <a:avLst/>
            <a:gdLst>
              <a:gd name="T0" fmla="*/ 6 w 27"/>
              <a:gd name="T1" fmla="*/ 34 h 34"/>
              <a:gd name="T2" fmla="*/ 13 w 27"/>
              <a:gd name="T3" fmla="*/ 0 h 34"/>
              <a:gd name="T4" fmla="*/ 27 w 27"/>
              <a:gd name="T5" fmla="*/ 3 h 34"/>
              <a:gd name="T6" fmla="*/ 6 w 27"/>
              <a:gd name="T7" fmla="*/ 34 h 34"/>
            </a:gdLst>
            <a:ahLst/>
            <a:cxnLst>
              <a:cxn ang="0">
                <a:pos x="T0" y="T1"/>
              </a:cxn>
              <a:cxn ang="0">
                <a:pos x="T2" y="T3"/>
              </a:cxn>
              <a:cxn ang="0">
                <a:pos x="T4" y="T5"/>
              </a:cxn>
              <a:cxn ang="0">
                <a:pos x="T6" y="T7"/>
              </a:cxn>
            </a:cxnLst>
            <a:rect l="0" t="0" r="r" b="b"/>
            <a:pathLst>
              <a:path w="27" h="34">
                <a:moveTo>
                  <a:pt x="6" y="34"/>
                </a:moveTo>
                <a:cubicBezTo>
                  <a:pt x="0" y="22"/>
                  <a:pt x="4" y="9"/>
                  <a:pt x="13" y="0"/>
                </a:cubicBezTo>
                <a:cubicBezTo>
                  <a:pt x="27" y="3"/>
                  <a:pt x="27" y="3"/>
                  <a:pt x="27" y="3"/>
                </a:cubicBezTo>
                <a:cubicBezTo>
                  <a:pt x="14" y="10"/>
                  <a:pt x="6" y="18"/>
                  <a:pt x="6" y="34"/>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3" name="Freeform 79"/>
          <p:cNvSpPr>
            <a:spLocks noEditPoints="1"/>
          </p:cNvSpPr>
          <p:nvPr/>
        </p:nvSpPr>
        <p:spPr bwMode="auto">
          <a:xfrm>
            <a:off x="7934089" y="3599840"/>
            <a:ext cx="225337" cy="312738"/>
          </a:xfrm>
          <a:custGeom>
            <a:avLst/>
            <a:gdLst>
              <a:gd name="T0" fmla="*/ 87 w 103"/>
              <a:gd name="T1" fmla="*/ 88 h 143"/>
              <a:gd name="T2" fmla="*/ 103 w 103"/>
              <a:gd name="T3" fmla="*/ 112 h 143"/>
              <a:gd name="T4" fmla="*/ 102 w 103"/>
              <a:gd name="T5" fmla="*/ 143 h 143"/>
              <a:gd name="T6" fmla="*/ 87 w 103"/>
              <a:gd name="T7" fmla="*/ 137 h 143"/>
              <a:gd name="T8" fmla="*/ 87 w 103"/>
              <a:gd name="T9" fmla="*/ 134 h 143"/>
              <a:gd name="T10" fmla="*/ 91 w 103"/>
              <a:gd name="T11" fmla="*/ 136 h 143"/>
              <a:gd name="T12" fmla="*/ 100 w 103"/>
              <a:gd name="T13" fmla="*/ 130 h 143"/>
              <a:gd name="T14" fmla="*/ 100 w 103"/>
              <a:gd name="T15" fmla="*/ 113 h 143"/>
              <a:gd name="T16" fmla="*/ 100 w 103"/>
              <a:gd name="T17" fmla="*/ 113 h 143"/>
              <a:gd name="T18" fmla="*/ 99 w 103"/>
              <a:gd name="T19" fmla="*/ 111 h 143"/>
              <a:gd name="T20" fmla="*/ 92 w 103"/>
              <a:gd name="T21" fmla="*/ 110 h 143"/>
              <a:gd name="T22" fmla="*/ 90 w 103"/>
              <a:gd name="T23" fmla="*/ 116 h 143"/>
              <a:gd name="T24" fmla="*/ 87 w 103"/>
              <a:gd name="T25" fmla="*/ 115 h 143"/>
              <a:gd name="T26" fmla="*/ 87 w 103"/>
              <a:gd name="T27" fmla="*/ 88 h 143"/>
              <a:gd name="T28" fmla="*/ 73 w 103"/>
              <a:gd name="T29" fmla="*/ 132 h 143"/>
              <a:gd name="T30" fmla="*/ 32 w 103"/>
              <a:gd name="T31" fmla="*/ 70 h 143"/>
              <a:gd name="T32" fmla="*/ 28 w 103"/>
              <a:gd name="T33" fmla="*/ 68 h 143"/>
              <a:gd name="T34" fmla="*/ 28 w 103"/>
              <a:gd name="T35" fmla="*/ 67 h 143"/>
              <a:gd name="T36" fmla="*/ 28 w 103"/>
              <a:gd name="T37" fmla="*/ 63 h 143"/>
              <a:gd name="T38" fmla="*/ 29 w 103"/>
              <a:gd name="T39" fmla="*/ 65 h 143"/>
              <a:gd name="T40" fmla="*/ 34 w 103"/>
              <a:gd name="T41" fmla="*/ 66 h 143"/>
              <a:gd name="T42" fmla="*/ 41 w 103"/>
              <a:gd name="T43" fmla="*/ 61 h 143"/>
              <a:gd name="T44" fmla="*/ 41 w 103"/>
              <a:gd name="T45" fmla="*/ 61 h 143"/>
              <a:gd name="T46" fmla="*/ 37 w 103"/>
              <a:gd name="T47" fmla="*/ 59 h 143"/>
              <a:gd name="T48" fmla="*/ 28 w 103"/>
              <a:gd name="T49" fmla="*/ 45 h 143"/>
              <a:gd name="T50" fmla="*/ 28 w 103"/>
              <a:gd name="T51" fmla="*/ 26 h 143"/>
              <a:gd name="T52" fmla="*/ 39 w 103"/>
              <a:gd name="T53" fmla="*/ 19 h 143"/>
              <a:gd name="T54" fmla="*/ 44 w 103"/>
              <a:gd name="T55" fmla="*/ 21 h 143"/>
              <a:gd name="T56" fmla="*/ 61 w 103"/>
              <a:gd name="T57" fmla="*/ 46 h 143"/>
              <a:gd name="T58" fmla="*/ 61 w 103"/>
              <a:gd name="T59" fmla="*/ 50 h 143"/>
              <a:gd name="T60" fmla="*/ 87 w 103"/>
              <a:gd name="T61" fmla="*/ 88 h 143"/>
              <a:gd name="T62" fmla="*/ 87 w 103"/>
              <a:gd name="T63" fmla="*/ 115 h 143"/>
              <a:gd name="T64" fmla="*/ 84 w 103"/>
              <a:gd name="T65" fmla="*/ 116 h 143"/>
              <a:gd name="T66" fmla="*/ 82 w 103"/>
              <a:gd name="T67" fmla="*/ 122 h 143"/>
              <a:gd name="T68" fmla="*/ 75 w 103"/>
              <a:gd name="T69" fmla="*/ 121 h 143"/>
              <a:gd name="T70" fmla="*/ 74 w 103"/>
              <a:gd name="T71" fmla="*/ 128 h 143"/>
              <a:gd name="T72" fmla="*/ 75 w 103"/>
              <a:gd name="T73" fmla="*/ 130 h 143"/>
              <a:gd name="T74" fmla="*/ 87 w 103"/>
              <a:gd name="T75" fmla="*/ 134 h 143"/>
              <a:gd name="T76" fmla="*/ 87 w 103"/>
              <a:gd name="T77" fmla="*/ 137 h 143"/>
              <a:gd name="T78" fmla="*/ 73 w 103"/>
              <a:gd name="T79" fmla="*/ 132 h 143"/>
              <a:gd name="T80" fmla="*/ 28 w 103"/>
              <a:gd name="T81" fmla="*/ 4 h 143"/>
              <a:gd name="T82" fmla="*/ 28 w 103"/>
              <a:gd name="T83" fmla="*/ 24 h 143"/>
              <a:gd name="T84" fmla="*/ 36 w 103"/>
              <a:gd name="T85" fmla="*/ 15 h 143"/>
              <a:gd name="T86" fmla="*/ 32 w 103"/>
              <a:gd name="T87" fmla="*/ 8 h 143"/>
              <a:gd name="T88" fmla="*/ 28 w 103"/>
              <a:gd name="T89" fmla="*/ 4 h 143"/>
              <a:gd name="T90" fmla="*/ 28 w 103"/>
              <a:gd name="T91" fmla="*/ 67 h 143"/>
              <a:gd name="T92" fmla="*/ 11 w 103"/>
              <a:gd name="T93" fmla="*/ 43 h 143"/>
              <a:gd name="T94" fmla="*/ 11 w 103"/>
              <a:gd name="T95" fmla="*/ 37 h 143"/>
              <a:gd name="T96" fmla="*/ 5 w 103"/>
              <a:gd name="T97" fmla="*/ 27 h 143"/>
              <a:gd name="T98" fmla="*/ 9 w 103"/>
              <a:gd name="T99" fmla="*/ 4 h 143"/>
              <a:gd name="T100" fmla="*/ 28 w 103"/>
              <a:gd name="T101" fmla="*/ 4 h 143"/>
              <a:gd name="T102" fmla="*/ 28 w 103"/>
              <a:gd name="T103" fmla="*/ 24 h 143"/>
              <a:gd name="T104" fmla="*/ 21 w 103"/>
              <a:gd name="T105" fmla="*/ 31 h 143"/>
              <a:gd name="T106" fmla="*/ 28 w 103"/>
              <a:gd name="T107" fmla="*/ 26 h 143"/>
              <a:gd name="T108" fmla="*/ 28 w 103"/>
              <a:gd name="T109" fmla="*/ 45 h 143"/>
              <a:gd name="T110" fmla="*/ 22 w 103"/>
              <a:gd name="T111" fmla="*/ 37 h 143"/>
              <a:gd name="T112" fmla="*/ 22 w 103"/>
              <a:gd name="T113" fmla="*/ 33 h 143"/>
              <a:gd name="T114" fmla="*/ 15 w 103"/>
              <a:gd name="T115" fmla="*/ 37 h 143"/>
              <a:gd name="T116" fmla="*/ 14 w 103"/>
              <a:gd name="T117" fmla="*/ 43 h 143"/>
              <a:gd name="T118" fmla="*/ 28 w 103"/>
              <a:gd name="T119" fmla="*/ 63 h 143"/>
              <a:gd name="T120" fmla="*/ 28 w 103"/>
              <a:gd name="T121" fmla="*/ 6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3" h="143">
                <a:moveTo>
                  <a:pt x="87" y="88"/>
                </a:moveTo>
                <a:cubicBezTo>
                  <a:pt x="103" y="112"/>
                  <a:pt x="103" y="112"/>
                  <a:pt x="103" y="112"/>
                </a:cubicBezTo>
                <a:cubicBezTo>
                  <a:pt x="102" y="143"/>
                  <a:pt x="102" y="143"/>
                  <a:pt x="102" y="143"/>
                </a:cubicBezTo>
                <a:cubicBezTo>
                  <a:pt x="87" y="137"/>
                  <a:pt x="87" y="137"/>
                  <a:pt x="87" y="137"/>
                </a:cubicBezTo>
                <a:cubicBezTo>
                  <a:pt x="87" y="134"/>
                  <a:pt x="87" y="134"/>
                  <a:pt x="87" y="134"/>
                </a:cubicBezTo>
                <a:cubicBezTo>
                  <a:pt x="91" y="136"/>
                  <a:pt x="91" y="136"/>
                  <a:pt x="91" y="136"/>
                </a:cubicBezTo>
                <a:cubicBezTo>
                  <a:pt x="100" y="130"/>
                  <a:pt x="100" y="130"/>
                  <a:pt x="100" y="130"/>
                </a:cubicBezTo>
                <a:cubicBezTo>
                  <a:pt x="100" y="113"/>
                  <a:pt x="100" y="113"/>
                  <a:pt x="100" y="113"/>
                </a:cubicBezTo>
                <a:cubicBezTo>
                  <a:pt x="100" y="113"/>
                  <a:pt x="100" y="113"/>
                  <a:pt x="100" y="113"/>
                </a:cubicBezTo>
                <a:cubicBezTo>
                  <a:pt x="99" y="111"/>
                  <a:pt x="99" y="111"/>
                  <a:pt x="99" y="111"/>
                </a:cubicBezTo>
                <a:cubicBezTo>
                  <a:pt x="98" y="109"/>
                  <a:pt x="95" y="108"/>
                  <a:pt x="92" y="110"/>
                </a:cubicBezTo>
                <a:cubicBezTo>
                  <a:pt x="90" y="111"/>
                  <a:pt x="89" y="114"/>
                  <a:pt x="90" y="116"/>
                </a:cubicBezTo>
                <a:cubicBezTo>
                  <a:pt x="89" y="115"/>
                  <a:pt x="88" y="115"/>
                  <a:pt x="87" y="115"/>
                </a:cubicBezTo>
                <a:lnTo>
                  <a:pt x="87" y="88"/>
                </a:lnTo>
                <a:close/>
                <a:moveTo>
                  <a:pt x="73" y="132"/>
                </a:moveTo>
                <a:cubicBezTo>
                  <a:pt x="32" y="70"/>
                  <a:pt x="32" y="70"/>
                  <a:pt x="32" y="70"/>
                </a:cubicBezTo>
                <a:cubicBezTo>
                  <a:pt x="30" y="70"/>
                  <a:pt x="29" y="69"/>
                  <a:pt x="28" y="68"/>
                </a:cubicBezTo>
                <a:cubicBezTo>
                  <a:pt x="28" y="67"/>
                  <a:pt x="28" y="67"/>
                  <a:pt x="28" y="67"/>
                </a:cubicBezTo>
                <a:cubicBezTo>
                  <a:pt x="28" y="63"/>
                  <a:pt x="28" y="63"/>
                  <a:pt x="28" y="63"/>
                </a:cubicBezTo>
                <a:cubicBezTo>
                  <a:pt x="29" y="65"/>
                  <a:pt x="29" y="65"/>
                  <a:pt x="29" y="65"/>
                </a:cubicBezTo>
                <a:cubicBezTo>
                  <a:pt x="30" y="67"/>
                  <a:pt x="33" y="67"/>
                  <a:pt x="34" y="66"/>
                </a:cubicBezTo>
                <a:cubicBezTo>
                  <a:pt x="41" y="61"/>
                  <a:pt x="41" y="61"/>
                  <a:pt x="41" y="61"/>
                </a:cubicBezTo>
                <a:cubicBezTo>
                  <a:pt x="41" y="61"/>
                  <a:pt x="41" y="61"/>
                  <a:pt x="41" y="61"/>
                </a:cubicBezTo>
                <a:cubicBezTo>
                  <a:pt x="40" y="61"/>
                  <a:pt x="38" y="61"/>
                  <a:pt x="37" y="59"/>
                </a:cubicBezTo>
                <a:cubicBezTo>
                  <a:pt x="28" y="45"/>
                  <a:pt x="28" y="45"/>
                  <a:pt x="28" y="45"/>
                </a:cubicBezTo>
                <a:cubicBezTo>
                  <a:pt x="28" y="26"/>
                  <a:pt x="28" y="26"/>
                  <a:pt x="28" y="26"/>
                </a:cubicBezTo>
                <a:cubicBezTo>
                  <a:pt x="39" y="19"/>
                  <a:pt x="39" y="19"/>
                  <a:pt x="39" y="19"/>
                </a:cubicBezTo>
                <a:cubicBezTo>
                  <a:pt x="41" y="18"/>
                  <a:pt x="43" y="19"/>
                  <a:pt x="44" y="21"/>
                </a:cubicBezTo>
                <a:cubicBezTo>
                  <a:pt x="61" y="46"/>
                  <a:pt x="61" y="46"/>
                  <a:pt x="61" y="46"/>
                </a:cubicBezTo>
                <a:cubicBezTo>
                  <a:pt x="62" y="47"/>
                  <a:pt x="62" y="49"/>
                  <a:pt x="61" y="50"/>
                </a:cubicBezTo>
                <a:cubicBezTo>
                  <a:pt x="87" y="88"/>
                  <a:pt x="87" y="88"/>
                  <a:pt x="87" y="88"/>
                </a:cubicBezTo>
                <a:cubicBezTo>
                  <a:pt x="87" y="115"/>
                  <a:pt x="87" y="115"/>
                  <a:pt x="87" y="115"/>
                </a:cubicBezTo>
                <a:cubicBezTo>
                  <a:pt x="86" y="115"/>
                  <a:pt x="85" y="115"/>
                  <a:pt x="84" y="116"/>
                </a:cubicBezTo>
                <a:cubicBezTo>
                  <a:pt x="82" y="117"/>
                  <a:pt x="81" y="120"/>
                  <a:pt x="82" y="122"/>
                </a:cubicBezTo>
                <a:cubicBezTo>
                  <a:pt x="80" y="120"/>
                  <a:pt x="77" y="120"/>
                  <a:pt x="75" y="121"/>
                </a:cubicBezTo>
                <a:cubicBezTo>
                  <a:pt x="73" y="123"/>
                  <a:pt x="72" y="126"/>
                  <a:pt x="74" y="128"/>
                </a:cubicBezTo>
                <a:cubicBezTo>
                  <a:pt x="75" y="130"/>
                  <a:pt x="75" y="130"/>
                  <a:pt x="75" y="130"/>
                </a:cubicBezTo>
                <a:cubicBezTo>
                  <a:pt x="87" y="134"/>
                  <a:pt x="87" y="134"/>
                  <a:pt x="87" y="134"/>
                </a:cubicBezTo>
                <a:cubicBezTo>
                  <a:pt x="87" y="137"/>
                  <a:pt x="87" y="137"/>
                  <a:pt x="87" y="137"/>
                </a:cubicBezTo>
                <a:cubicBezTo>
                  <a:pt x="73" y="132"/>
                  <a:pt x="73" y="132"/>
                  <a:pt x="73" y="132"/>
                </a:cubicBezTo>
                <a:close/>
                <a:moveTo>
                  <a:pt x="28" y="4"/>
                </a:moveTo>
                <a:cubicBezTo>
                  <a:pt x="28" y="24"/>
                  <a:pt x="28" y="24"/>
                  <a:pt x="28" y="24"/>
                </a:cubicBezTo>
                <a:cubicBezTo>
                  <a:pt x="36" y="15"/>
                  <a:pt x="36" y="15"/>
                  <a:pt x="36" y="15"/>
                </a:cubicBezTo>
                <a:cubicBezTo>
                  <a:pt x="32" y="8"/>
                  <a:pt x="32" y="8"/>
                  <a:pt x="32" y="8"/>
                </a:cubicBezTo>
                <a:cubicBezTo>
                  <a:pt x="31" y="7"/>
                  <a:pt x="29" y="5"/>
                  <a:pt x="28" y="4"/>
                </a:cubicBezTo>
                <a:close/>
                <a:moveTo>
                  <a:pt x="28" y="67"/>
                </a:moveTo>
                <a:cubicBezTo>
                  <a:pt x="11" y="43"/>
                  <a:pt x="11" y="43"/>
                  <a:pt x="11" y="43"/>
                </a:cubicBezTo>
                <a:cubicBezTo>
                  <a:pt x="10" y="41"/>
                  <a:pt x="10" y="38"/>
                  <a:pt x="11" y="37"/>
                </a:cubicBezTo>
                <a:cubicBezTo>
                  <a:pt x="5" y="27"/>
                  <a:pt x="5" y="27"/>
                  <a:pt x="5" y="27"/>
                </a:cubicBezTo>
                <a:cubicBezTo>
                  <a:pt x="0" y="19"/>
                  <a:pt x="2" y="9"/>
                  <a:pt x="9" y="4"/>
                </a:cubicBezTo>
                <a:cubicBezTo>
                  <a:pt x="15" y="0"/>
                  <a:pt x="22" y="0"/>
                  <a:pt x="28" y="4"/>
                </a:cubicBezTo>
                <a:cubicBezTo>
                  <a:pt x="28" y="24"/>
                  <a:pt x="28" y="24"/>
                  <a:pt x="28" y="24"/>
                </a:cubicBezTo>
                <a:cubicBezTo>
                  <a:pt x="21" y="31"/>
                  <a:pt x="21" y="31"/>
                  <a:pt x="21" y="31"/>
                </a:cubicBezTo>
                <a:cubicBezTo>
                  <a:pt x="28" y="26"/>
                  <a:pt x="28" y="26"/>
                  <a:pt x="28" y="26"/>
                </a:cubicBezTo>
                <a:cubicBezTo>
                  <a:pt x="28" y="45"/>
                  <a:pt x="28" y="45"/>
                  <a:pt x="28" y="45"/>
                </a:cubicBezTo>
                <a:cubicBezTo>
                  <a:pt x="22" y="37"/>
                  <a:pt x="22" y="37"/>
                  <a:pt x="22" y="37"/>
                </a:cubicBezTo>
                <a:cubicBezTo>
                  <a:pt x="21" y="36"/>
                  <a:pt x="21" y="34"/>
                  <a:pt x="22" y="33"/>
                </a:cubicBezTo>
                <a:cubicBezTo>
                  <a:pt x="15" y="37"/>
                  <a:pt x="15" y="37"/>
                  <a:pt x="15" y="37"/>
                </a:cubicBezTo>
                <a:cubicBezTo>
                  <a:pt x="14" y="39"/>
                  <a:pt x="13" y="41"/>
                  <a:pt x="14" y="43"/>
                </a:cubicBezTo>
                <a:cubicBezTo>
                  <a:pt x="28" y="63"/>
                  <a:pt x="28" y="63"/>
                  <a:pt x="28" y="63"/>
                </a:cubicBezTo>
                <a:lnTo>
                  <a:pt x="28" y="67"/>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4" name="Freeform 80"/>
          <p:cNvSpPr>
            <a:spLocks noEditPoints="1"/>
          </p:cNvSpPr>
          <p:nvPr/>
        </p:nvSpPr>
        <p:spPr bwMode="auto">
          <a:xfrm>
            <a:off x="9665374" y="1996466"/>
            <a:ext cx="282465" cy="309563"/>
          </a:xfrm>
          <a:custGeom>
            <a:avLst/>
            <a:gdLst>
              <a:gd name="T0" fmla="*/ 101 w 130"/>
              <a:gd name="T1" fmla="*/ 65 h 142"/>
              <a:gd name="T2" fmla="*/ 97 w 130"/>
              <a:gd name="T3" fmla="*/ 81 h 142"/>
              <a:gd name="T4" fmla="*/ 97 w 130"/>
              <a:gd name="T5" fmla="*/ 94 h 142"/>
              <a:gd name="T6" fmla="*/ 100 w 130"/>
              <a:gd name="T7" fmla="*/ 95 h 142"/>
              <a:gd name="T8" fmla="*/ 111 w 130"/>
              <a:gd name="T9" fmla="*/ 112 h 142"/>
              <a:gd name="T10" fmla="*/ 97 w 130"/>
              <a:gd name="T11" fmla="*/ 103 h 142"/>
              <a:gd name="T12" fmla="*/ 97 w 130"/>
              <a:gd name="T13" fmla="*/ 28 h 142"/>
              <a:gd name="T14" fmla="*/ 111 w 130"/>
              <a:gd name="T15" fmla="*/ 19 h 142"/>
              <a:gd name="T16" fmla="*/ 100 w 130"/>
              <a:gd name="T17" fmla="*/ 35 h 142"/>
              <a:gd name="T18" fmla="*/ 97 w 130"/>
              <a:gd name="T19" fmla="*/ 36 h 142"/>
              <a:gd name="T20" fmla="*/ 127 w 130"/>
              <a:gd name="T21" fmla="*/ 62 h 142"/>
              <a:gd name="T22" fmla="*/ 108 w 130"/>
              <a:gd name="T23" fmla="*/ 65 h 142"/>
              <a:gd name="T24" fmla="*/ 127 w 130"/>
              <a:gd name="T25" fmla="*/ 69 h 142"/>
              <a:gd name="T26" fmla="*/ 127 w 130"/>
              <a:gd name="T27" fmla="*/ 62 h 142"/>
              <a:gd name="T28" fmla="*/ 67 w 130"/>
              <a:gd name="T29" fmla="*/ 142 h 142"/>
              <a:gd name="T30" fmla="*/ 85 w 130"/>
              <a:gd name="T31" fmla="*/ 95 h 142"/>
              <a:gd name="T32" fmla="*/ 97 w 130"/>
              <a:gd name="T33" fmla="*/ 50 h 142"/>
              <a:gd name="T34" fmla="*/ 65 w 130"/>
              <a:gd name="T35" fmla="*/ 37 h 142"/>
              <a:gd name="T36" fmla="*/ 93 w 130"/>
              <a:gd name="T37" fmla="*/ 65 h 142"/>
              <a:gd name="T38" fmla="*/ 79 w 130"/>
              <a:gd name="T39" fmla="*/ 90 h 142"/>
              <a:gd name="T40" fmla="*/ 78 w 130"/>
              <a:gd name="T41" fmla="*/ 110 h 142"/>
              <a:gd name="T42" fmla="*/ 65 w 130"/>
              <a:gd name="T43" fmla="*/ 142 h 142"/>
              <a:gd name="T44" fmla="*/ 97 w 130"/>
              <a:gd name="T45" fmla="*/ 36 h 142"/>
              <a:gd name="T46" fmla="*/ 95 w 130"/>
              <a:gd name="T47" fmla="*/ 31 h 142"/>
              <a:gd name="T48" fmla="*/ 97 w 130"/>
              <a:gd name="T49" fmla="*/ 94 h 142"/>
              <a:gd name="T50" fmla="*/ 95 w 130"/>
              <a:gd name="T51" fmla="*/ 100 h 142"/>
              <a:gd name="T52" fmla="*/ 97 w 130"/>
              <a:gd name="T53" fmla="*/ 94 h 142"/>
              <a:gd name="T54" fmla="*/ 65 w 130"/>
              <a:gd name="T55" fmla="*/ 0 h 142"/>
              <a:gd name="T56" fmla="*/ 68 w 130"/>
              <a:gd name="T57" fmla="*/ 3 h 142"/>
              <a:gd name="T58" fmla="*/ 65 w 130"/>
              <a:gd name="T59" fmla="*/ 23 h 142"/>
              <a:gd name="T60" fmla="*/ 65 w 130"/>
              <a:gd name="T61" fmla="*/ 23 h 142"/>
              <a:gd name="T62" fmla="*/ 32 w 130"/>
              <a:gd name="T63" fmla="*/ 50 h 142"/>
              <a:gd name="T64" fmla="*/ 45 w 130"/>
              <a:gd name="T65" fmla="*/ 96 h 142"/>
              <a:gd name="T66" fmla="*/ 63 w 130"/>
              <a:gd name="T67" fmla="*/ 142 h 142"/>
              <a:gd name="T68" fmla="*/ 65 w 130"/>
              <a:gd name="T69" fmla="*/ 110 h 142"/>
              <a:gd name="T70" fmla="*/ 52 w 130"/>
              <a:gd name="T71" fmla="*/ 93 h 142"/>
              <a:gd name="T72" fmla="*/ 36 w 130"/>
              <a:gd name="T73" fmla="*/ 65 h 142"/>
              <a:gd name="T74" fmla="*/ 65 w 130"/>
              <a:gd name="T75" fmla="*/ 37 h 142"/>
              <a:gd name="T76" fmla="*/ 65 w 130"/>
              <a:gd name="T77" fmla="*/ 29 h 142"/>
              <a:gd name="T78" fmla="*/ 65 w 130"/>
              <a:gd name="T79" fmla="*/ 0 h 142"/>
              <a:gd name="T80" fmla="*/ 62 w 130"/>
              <a:gd name="T81" fmla="*/ 20 h 142"/>
              <a:gd name="T82" fmla="*/ 65 w 130"/>
              <a:gd name="T83" fmla="*/ 0 h 142"/>
              <a:gd name="T84" fmla="*/ 32 w 130"/>
              <a:gd name="T85" fmla="*/ 94 h 142"/>
              <a:gd name="T86" fmla="*/ 35 w 130"/>
              <a:gd name="T87" fmla="*/ 100 h 142"/>
              <a:gd name="T88" fmla="*/ 32 w 130"/>
              <a:gd name="T89" fmla="*/ 36 h 142"/>
              <a:gd name="T90" fmla="*/ 35 w 130"/>
              <a:gd name="T91" fmla="*/ 31 h 142"/>
              <a:gd name="T92" fmla="*/ 32 w 130"/>
              <a:gd name="T93" fmla="*/ 36 h 142"/>
              <a:gd name="T94" fmla="*/ 29 w 130"/>
              <a:gd name="T95" fmla="*/ 65 h 142"/>
              <a:gd name="T96" fmla="*/ 32 w 130"/>
              <a:gd name="T97" fmla="*/ 50 h 142"/>
              <a:gd name="T98" fmla="*/ 32 w 130"/>
              <a:gd name="T99" fmla="*/ 36 h 142"/>
              <a:gd name="T100" fmla="*/ 30 w 130"/>
              <a:gd name="T101" fmla="*/ 35 h 142"/>
              <a:gd name="T102" fmla="*/ 19 w 130"/>
              <a:gd name="T103" fmla="*/ 19 h 142"/>
              <a:gd name="T104" fmla="*/ 32 w 130"/>
              <a:gd name="T105" fmla="*/ 28 h 142"/>
              <a:gd name="T106" fmla="*/ 32 w 130"/>
              <a:gd name="T107" fmla="*/ 103 h 142"/>
              <a:gd name="T108" fmla="*/ 19 w 130"/>
              <a:gd name="T109" fmla="*/ 112 h 142"/>
              <a:gd name="T110" fmla="*/ 30 w 130"/>
              <a:gd name="T111" fmla="*/ 95 h 142"/>
              <a:gd name="T112" fmla="*/ 32 w 130"/>
              <a:gd name="T113" fmla="*/ 94 h 142"/>
              <a:gd name="T114" fmla="*/ 22 w 130"/>
              <a:gd name="T115" fmla="*/ 65 h 142"/>
              <a:gd name="T116" fmla="*/ 3 w 130"/>
              <a:gd name="T117" fmla="*/ 62 h 142"/>
              <a:gd name="T118" fmla="*/ 3 w 130"/>
              <a:gd name="T119" fmla="*/ 69 h 142"/>
              <a:gd name="T120" fmla="*/ 22 w 130"/>
              <a:gd name="T121" fmla="*/ 6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 h="142">
                <a:moveTo>
                  <a:pt x="97" y="81"/>
                </a:moveTo>
                <a:cubicBezTo>
                  <a:pt x="100" y="76"/>
                  <a:pt x="101" y="71"/>
                  <a:pt x="101" y="65"/>
                </a:cubicBezTo>
                <a:cubicBezTo>
                  <a:pt x="101" y="60"/>
                  <a:pt x="100" y="55"/>
                  <a:pt x="97" y="50"/>
                </a:cubicBezTo>
                <a:cubicBezTo>
                  <a:pt x="97" y="81"/>
                  <a:pt x="97" y="81"/>
                  <a:pt x="97" y="81"/>
                </a:cubicBezTo>
                <a:close/>
                <a:moveTo>
                  <a:pt x="97" y="103"/>
                </a:moveTo>
                <a:cubicBezTo>
                  <a:pt x="97" y="94"/>
                  <a:pt x="97" y="94"/>
                  <a:pt x="97" y="94"/>
                </a:cubicBezTo>
                <a:cubicBezTo>
                  <a:pt x="98" y="94"/>
                  <a:pt x="99" y="95"/>
                  <a:pt x="100" y="95"/>
                </a:cubicBezTo>
                <a:cubicBezTo>
                  <a:pt x="100" y="95"/>
                  <a:pt x="100" y="95"/>
                  <a:pt x="100" y="95"/>
                </a:cubicBezTo>
                <a:cubicBezTo>
                  <a:pt x="111" y="107"/>
                  <a:pt x="111" y="107"/>
                  <a:pt x="111" y="107"/>
                </a:cubicBezTo>
                <a:cubicBezTo>
                  <a:pt x="113" y="108"/>
                  <a:pt x="113" y="110"/>
                  <a:pt x="111" y="112"/>
                </a:cubicBezTo>
                <a:cubicBezTo>
                  <a:pt x="110" y="113"/>
                  <a:pt x="108" y="113"/>
                  <a:pt x="106" y="112"/>
                </a:cubicBezTo>
                <a:cubicBezTo>
                  <a:pt x="97" y="103"/>
                  <a:pt x="97" y="103"/>
                  <a:pt x="97" y="103"/>
                </a:cubicBezTo>
                <a:close/>
                <a:moveTo>
                  <a:pt x="97" y="36"/>
                </a:moveTo>
                <a:cubicBezTo>
                  <a:pt x="97" y="28"/>
                  <a:pt x="97" y="28"/>
                  <a:pt x="97" y="28"/>
                </a:cubicBezTo>
                <a:cubicBezTo>
                  <a:pt x="106" y="19"/>
                  <a:pt x="106" y="19"/>
                  <a:pt x="106" y="19"/>
                </a:cubicBezTo>
                <a:cubicBezTo>
                  <a:pt x="108" y="18"/>
                  <a:pt x="110" y="18"/>
                  <a:pt x="111" y="19"/>
                </a:cubicBezTo>
                <a:cubicBezTo>
                  <a:pt x="113" y="20"/>
                  <a:pt x="113" y="23"/>
                  <a:pt x="111" y="24"/>
                </a:cubicBezTo>
                <a:cubicBezTo>
                  <a:pt x="100" y="35"/>
                  <a:pt x="100" y="35"/>
                  <a:pt x="100" y="35"/>
                </a:cubicBezTo>
                <a:cubicBezTo>
                  <a:pt x="100" y="35"/>
                  <a:pt x="100" y="35"/>
                  <a:pt x="100" y="35"/>
                </a:cubicBezTo>
                <a:cubicBezTo>
                  <a:pt x="99" y="36"/>
                  <a:pt x="98" y="36"/>
                  <a:pt x="97" y="36"/>
                </a:cubicBezTo>
                <a:close/>
                <a:moveTo>
                  <a:pt x="127" y="62"/>
                </a:moveTo>
                <a:cubicBezTo>
                  <a:pt x="127" y="62"/>
                  <a:pt x="127" y="62"/>
                  <a:pt x="127" y="62"/>
                </a:cubicBezTo>
                <a:cubicBezTo>
                  <a:pt x="111" y="62"/>
                  <a:pt x="111" y="62"/>
                  <a:pt x="111" y="62"/>
                </a:cubicBezTo>
                <a:cubicBezTo>
                  <a:pt x="109" y="62"/>
                  <a:pt x="108" y="64"/>
                  <a:pt x="108" y="65"/>
                </a:cubicBezTo>
                <a:cubicBezTo>
                  <a:pt x="108" y="67"/>
                  <a:pt x="109" y="69"/>
                  <a:pt x="111" y="69"/>
                </a:cubicBezTo>
                <a:cubicBezTo>
                  <a:pt x="127" y="69"/>
                  <a:pt x="127" y="69"/>
                  <a:pt x="127" y="69"/>
                </a:cubicBezTo>
                <a:cubicBezTo>
                  <a:pt x="129" y="69"/>
                  <a:pt x="130" y="67"/>
                  <a:pt x="130" y="65"/>
                </a:cubicBezTo>
                <a:cubicBezTo>
                  <a:pt x="130" y="64"/>
                  <a:pt x="129" y="62"/>
                  <a:pt x="127" y="62"/>
                </a:cubicBezTo>
                <a:close/>
                <a:moveTo>
                  <a:pt x="65" y="142"/>
                </a:moveTo>
                <a:cubicBezTo>
                  <a:pt x="67" y="142"/>
                  <a:pt x="67" y="142"/>
                  <a:pt x="67" y="142"/>
                </a:cubicBezTo>
                <a:cubicBezTo>
                  <a:pt x="77" y="142"/>
                  <a:pt x="85" y="134"/>
                  <a:pt x="85" y="124"/>
                </a:cubicBezTo>
                <a:cubicBezTo>
                  <a:pt x="85" y="95"/>
                  <a:pt x="85" y="95"/>
                  <a:pt x="85" y="95"/>
                </a:cubicBezTo>
                <a:cubicBezTo>
                  <a:pt x="90" y="92"/>
                  <a:pt x="95" y="87"/>
                  <a:pt x="97" y="81"/>
                </a:cubicBezTo>
                <a:cubicBezTo>
                  <a:pt x="97" y="50"/>
                  <a:pt x="97" y="50"/>
                  <a:pt x="97" y="50"/>
                </a:cubicBezTo>
                <a:cubicBezTo>
                  <a:pt x="92" y="38"/>
                  <a:pt x="79" y="29"/>
                  <a:pt x="65" y="29"/>
                </a:cubicBezTo>
                <a:cubicBezTo>
                  <a:pt x="65" y="37"/>
                  <a:pt x="65" y="37"/>
                  <a:pt x="65" y="37"/>
                </a:cubicBezTo>
                <a:cubicBezTo>
                  <a:pt x="73" y="37"/>
                  <a:pt x="80" y="40"/>
                  <a:pt x="85" y="45"/>
                </a:cubicBezTo>
                <a:cubicBezTo>
                  <a:pt x="90" y="50"/>
                  <a:pt x="93" y="57"/>
                  <a:pt x="93" y="65"/>
                </a:cubicBezTo>
                <a:cubicBezTo>
                  <a:pt x="93" y="76"/>
                  <a:pt x="88" y="85"/>
                  <a:pt x="79" y="90"/>
                </a:cubicBezTo>
                <a:cubicBezTo>
                  <a:pt x="79" y="90"/>
                  <a:pt x="79" y="90"/>
                  <a:pt x="79" y="90"/>
                </a:cubicBezTo>
                <a:cubicBezTo>
                  <a:pt x="78" y="91"/>
                  <a:pt x="78" y="92"/>
                  <a:pt x="78" y="93"/>
                </a:cubicBezTo>
                <a:cubicBezTo>
                  <a:pt x="78" y="110"/>
                  <a:pt x="78" y="110"/>
                  <a:pt x="78" y="110"/>
                </a:cubicBezTo>
                <a:cubicBezTo>
                  <a:pt x="65" y="110"/>
                  <a:pt x="65" y="110"/>
                  <a:pt x="65" y="110"/>
                </a:cubicBezTo>
                <a:cubicBezTo>
                  <a:pt x="65" y="142"/>
                  <a:pt x="65" y="142"/>
                  <a:pt x="65" y="142"/>
                </a:cubicBezTo>
                <a:close/>
                <a:moveTo>
                  <a:pt x="97" y="28"/>
                </a:moveTo>
                <a:cubicBezTo>
                  <a:pt x="97" y="36"/>
                  <a:pt x="97" y="36"/>
                  <a:pt x="97" y="36"/>
                </a:cubicBezTo>
                <a:cubicBezTo>
                  <a:pt x="97" y="36"/>
                  <a:pt x="96" y="36"/>
                  <a:pt x="95" y="35"/>
                </a:cubicBezTo>
                <a:cubicBezTo>
                  <a:pt x="94" y="34"/>
                  <a:pt x="94" y="32"/>
                  <a:pt x="95" y="31"/>
                </a:cubicBezTo>
                <a:cubicBezTo>
                  <a:pt x="97" y="28"/>
                  <a:pt x="97" y="28"/>
                  <a:pt x="97" y="28"/>
                </a:cubicBezTo>
                <a:close/>
                <a:moveTo>
                  <a:pt x="97" y="94"/>
                </a:moveTo>
                <a:cubicBezTo>
                  <a:pt x="97" y="103"/>
                  <a:pt x="97" y="103"/>
                  <a:pt x="97" y="103"/>
                </a:cubicBezTo>
                <a:cubicBezTo>
                  <a:pt x="95" y="100"/>
                  <a:pt x="95" y="100"/>
                  <a:pt x="95" y="100"/>
                </a:cubicBezTo>
                <a:cubicBezTo>
                  <a:pt x="94" y="99"/>
                  <a:pt x="94" y="97"/>
                  <a:pt x="95" y="95"/>
                </a:cubicBezTo>
                <a:cubicBezTo>
                  <a:pt x="96" y="95"/>
                  <a:pt x="97" y="94"/>
                  <a:pt x="97" y="94"/>
                </a:cubicBezTo>
                <a:close/>
                <a:moveTo>
                  <a:pt x="65" y="23"/>
                </a:moveTo>
                <a:cubicBezTo>
                  <a:pt x="65" y="0"/>
                  <a:pt x="65" y="0"/>
                  <a:pt x="65" y="0"/>
                </a:cubicBezTo>
                <a:cubicBezTo>
                  <a:pt x="65" y="0"/>
                  <a:pt x="65" y="0"/>
                  <a:pt x="65" y="0"/>
                </a:cubicBezTo>
                <a:cubicBezTo>
                  <a:pt x="67" y="0"/>
                  <a:pt x="68" y="2"/>
                  <a:pt x="68" y="3"/>
                </a:cubicBezTo>
                <a:cubicBezTo>
                  <a:pt x="68" y="20"/>
                  <a:pt x="68" y="20"/>
                  <a:pt x="68" y="20"/>
                </a:cubicBezTo>
                <a:cubicBezTo>
                  <a:pt x="68" y="21"/>
                  <a:pt x="67" y="23"/>
                  <a:pt x="65" y="23"/>
                </a:cubicBezTo>
                <a:cubicBezTo>
                  <a:pt x="65" y="23"/>
                  <a:pt x="65" y="23"/>
                  <a:pt x="65" y="23"/>
                </a:cubicBezTo>
                <a:cubicBezTo>
                  <a:pt x="65" y="23"/>
                  <a:pt x="65" y="23"/>
                  <a:pt x="65" y="23"/>
                </a:cubicBezTo>
                <a:close/>
                <a:moveTo>
                  <a:pt x="65" y="29"/>
                </a:moveTo>
                <a:cubicBezTo>
                  <a:pt x="50" y="29"/>
                  <a:pt x="38" y="37"/>
                  <a:pt x="32" y="50"/>
                </a:cubicBezTo>
                <a:cubicBezTo>
                  <a:pt x="32" y="81"/>
                  <a:pt x="32" y="81"/>
                  <a:pt x="32" y="81"/>
                </a:cubicBezTo>
                <a:cubicBezTo>
                  <a:pt x="35" y="87"/>
                  <a:pt x="40" y="92"/>
                  <a:pt x="45" y="96"/>
                </a:cubicBezTo>
                <a:cubicBezTo>
                  <a:pt x="45" y="124"/>
                  <a:pt x="45" y="124"/>
                  <a:pt x="45" y="124"/>
                </a:cubicBezTo>
                <a:cubicBezTo>
                  <a:pt x="45" y="134"/>
                  <a:pt x="53" y="142"/>
                  <a:pt x="63" y="142"/>
                </a:cubicBezTo>
                <a:cubicBezTo>
                  <a:pt x="65" y="142"/>
                  <a:pt x="65" y="142"/>
                  <a:pt x="65" y="142"/>
                </a:cubicBezTo>
                <a:cubicBezTo>
                  <a:pt x="65" y="110"/>
                  <a:pt x="65" y="110"/>
                  <a:pt x="65" y="110"/>
                </a:cubicBezTo>
                <a:cubicBezTo>
                  <a:pt x="52" y="110"/>
                  <a:pt x="52" y="110"/>
                  <a:pt x="52" y="110"/>
                </a:cubicBezTo>
                <a:cubicBezTo>
                  <a:pt x="52" y="93"/>
                  <a:pt x="52" y="93"/>
                  <a:pt x="52" y="93"/>
                </a:cubicBezTo>
                <a:cubicBezTo>
                  <a:pt x="52" y="92"/>
                  <a:pt x="52" y="91"/>
                  <a:pt x="51" y="90"/>
                </a:cubicBezTo>
                <a:cubicBezTo>
                  <a:pt x="42" y="85"/>
                  <a:pt x="36" y="76"/>
                  <a:pt x="36" y="65"/>
                </a:cubicBezTo>
                <a:cubicBezTo>
                  <a:pt x="36" y="57"/>
                  <a:pt x="39" y="50"/>
                  <a:pt x="44" y="45"/>
                </a:cubicBezTo>
                <a:cubicBezTo>
                  <a:pt x="50" y="40"/>
                  <a:pt x="57" y="37"/>
                  <a:pt x="65" y="37"/>
                </a:cubicBezTo>
                <a:cubicBezTo>
                  <a:pt x="65" y="37"/>
                  <a:pt x="65" y="37"/>
                  <a:pt x="65" y="37"/>
                </a:cubicBezTo>
                <a:cubicBezTo>
                  <a:pt x="65" y="29"/>
                  <a:pt x="65" y="29"/>
                  <a:pt x="65" y="29"/>
                </a:cubicBezTo>
                <a:cubicBezTo>
                  <a:pt x="65" y="29"/>
                  <a:pt x="65" y="29"/>
                  <a:pt x="65" y="29"/>
                </a:cubicBezTo>
                <a:close/>
                <a:moveTo>
                  <a:pt x="65" y="0"/>
                </a:moveTo>
                <a:cubicBezTo>
                  <a:pt x="65" y="23"/>
                  <a:pt x="65" y="23"/>
                  <a:pt x="65" y="23"/>
                </a:cubicBezTo>
                <a:cubicBezTo>
                  <a:pt x="63" y="23"/>
                  <a:pt x="62" y="21"/>
                  <a:pt x="62" y="20"/>
                </a:cubicBezTo>
                <a:cubicBezTo>
                  <a:pt x="62" y="3"/>
                  <a:pt x="62" y="3"/>
                  <a:pt x="62" y="3"/>
                </a:cubicBezTo>
                <a:cubicBezTo>
                  <a:pt x="62" y="2"/>
                  <a:pt x="63" y="0"/>
                  <a:pt x="65" y="0"/>
                </a:cubicBezTo>
                <a:close/>
                <a:moveTo>
                  <a:pt x="32" y="103"/>
                </a:moveTo>
                <a:cubicBezTo>
                  <a:pt x="32" y="94"/>
                  <a:pt x="32" y="94"/>
                  <a:pt x="32" y="94"/>
                </a:cubicBezTo>
                <a:cubicBezTo>
                  <a:pt x="33" y="94"/>
                  <a:pt x="34" y="95"/>
                  <a:pt x="35" y="95"/>
                </a:cubicBezTo>
                <a:cubicBezTo>
                  <a:pt x="36" y="97"/>
                  <a:pt x="36" y="99"/>
                  <a:pt x="35" y="100"/>
                </a:cubicBezTo>
                <a:cubicBezTo>
                  <a:pt x="32" y="103"/>
                  <a:pt x="32" y="103"/>
                  <a:pt x="32" y="103"/>
                </a:cubicBezTo>
                <a:close/>
                <a:moveTo>
                  <a:pt x="32" y="36"/>
                </a:moveTo>
                <a:cubicBezTo>
                  <a:pt x="32" y="28"/>
                  <a:pt x="32" y="28"/>
                  <a:pt x="32" y="28"/>
                </a:cubicBezTo>
                <a:cubicBezTo>
                  <a:pt x="35" y="31"/>
                  <a:pt x="35" y="31"/>
                  <a:pt x="35" y="31"/>
                </a:cubicBezTo>
                <a:cubicBezTo>
                  <a:pt x="36" y="32"/>
                  <a:pt x="36" y="34"/>
                  <a:pt x="35" y="35"/>
                </a:cubicBezTo>
                <a:cubicBezTo>
                  <a:pt x="34" y="36"/>
                  <a:pt x="33" y="36"/>
                  <a:pt x="32" y="36"/>
                </a:cubicBezTo>
                <a:close/>
                <a:moveTo>
                  <a:pt x="32" y="50"/>
                </a:moveTo>
                <a:cubicBezTo>
                  <a:pt x="30" y="54"/>
                  <a:pt x="29" y="60"/>
                  <a:pt x="29" y="65"/>
                </a:cubicBezTo>
                <a:cubicBezTo>
                  <a:pt x="29" y="71"/>
                  <a:pt x="30" y="76"/>
                  <a:pt x="32" y="81"/>
                </a:cubicBezTo>
                <a:cubicBezTo>
                  <a:pt x="32" y="50"/>
                  <a:pt x="32" y="50"/>
                  <a:pt x="32" y="50"/>
                </a:cubicBezTo>
                <a:close/>
                <a:moveTo>
                  <a:pt x="32" y="28"/>
                </a:moveTo>
                <a:cubicBezTo>
                  <a:pt x="32" y="36"/>
                  <a:pt x="32" y="36"/>
                  <a:pt x="32" y="36"/>
                </a:cubicBezTo>
                <a:cubicBezTo>
                  <a:pt x="32" y="36"/>
                  <a:pt x="31" y="36"/>
                  <a:pt x="30" y="35"/>
                </a:cubicBezTo>
                <a:cubicBezTo>
                  <a:pt x="30" y="35"/>
                  <a:pt x="30" y="35"/>
                  <a:pt x="30" y="35"/>
                </a:cubicBezTo>
                <a:cubicBezTo>
                  <a:pt x="19" y="24"/>
                  <a:pt x="19" y="24"/>
                  <a:pt x="19" y="24"/>
                </a:cubicBezTo>
                <a:cubicBezTo>
                  <a:pt x="17" y="23"/>
                  <a:pt x="17" y="20"/>
                  <a:pt x="19" y="19"/>
                </a:cubicBezTo>
                <a:cubicBezTo>
                  <a:pt x="20" y="18"/>
                  <a:pt x="22" y="18"/>
                  <a:pt x="24" y="19"/>
                </a:cubicBezTo>
                <a:cubicBezTo>
                  <a:pt x="32" y="28"/>
                  <a:pt x="32" y="28"/>
                  <a:pt x="32" y="28"/>
                </a:cubicBezTo>
                <a:close/>
                <a:moveTo>
                  <a:pt x="32" y="94"/>
                </a:moveTo>
                <a:cubicBezTo>
                  <a:pt x="32" y="103"/>
                  <a:pt x="32" y="103"/>
                  <a:pt x="32" y="103"/>
                </a:cubicBezTo>
                <a:cubicBezTo>
                  <a:pt x="24" y="112"/>
                  <a:pt x="24" y="112"/>
                  <a:pt x="24" y="112"/>
                </a:cubicBezTo>
                <a:cubicBezTo>
                  <a:pt x="22" y="113"/>
                  <a:pt x="20" y="113"/>
                  <a:pt x="19" y="112"/>
                </a:cubicBezTo>
                <a:cubicBezTo>
                  <a:pt x="17" y="110"/>
                  <a:pt x="17" y="108"/>
                  <a:pt x="19" y="107"/>
                </a:cubicBezTo>
                <a:cubicBezTo>
                  <a:pt x="30" y="95"/>
                  <a:pt x="30" y="95"/>
                  <a:pt x="30" y="95"/>
                </a:cubicBezTo>
                <a:cubicBezTo>
                  <a:pt x="30" y="95"/>
                  <a:pt x="30" y="95"/>
                  <a:pt x="30" y="95"/>
                </a:cubicBezTo>
                <a:cubicBezTo>
                  <a:pt x="31" y="95"/>
                  <a:pt x="32" y="95"/>
                  <a:pt x="32" y="94"/>
                </a:cubicBezTo>
                <a:close/>
                <a:moveTo>
                  <a:pt x="22" y="65"/>
                </a:moveTo>
                <a:cubicBezTo>
                  <a:pt x="22" y="65"/>
                  <a:pt x="22" y="65"/>
                  <a:pt x="22" y="65"/>
                </a:cubicBezTo>
                <a:cubicBezTo>
                  <a:pt x="22" y="64"/>
                  <a:pt x="21" y="62"/>
                  <a:pt x="19" y="62"/>
                </a:cubicBezTo>
                <a:cubicBezTo>
                  <a:pt x="3" y="62"/>
                  <a:pt x="3" y="62"/>
                  <a:pt x="3" y="62"/>
                </a:cubicBezTo>
                <a:cubicBezTo>
                  <a:pt x="1" y="62"/>
                  <a:pt x="0" y="64"/>
                  <a:pt x="0" y="65"/>
                </a:cubicBezTo>
                <a:cubicBezTo>
                  <a:pt x="0" y="67"/>
                  <a:pt x="1" y="69"/>
                  <a:pt x="3" y="69"/>
                </a:cubicBezTo>
                <a:cubicBezTo>
                  <a:pt x="19" y="69"/>
                  <a:pt x="19" y="69"/>
                  <a:pt x="19" y="69"/>
                </a:cubicBezTo>
                <a:cubicBezTo>
                  <a:pt x="21" y="69"/>
                  <a:pt x="22" y="67"/>
                  <a:pt x="22" y="6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5" name="Freeform 81"/>
          <p:cNvSpPr>
            <a:spLocks noEditPoints="1"/>
          </p:cNvSpPr>
          <p:nvPr/>
        </p:nvSpPr>
        <p:spPr bwMode="auto">
          <a:xfrm>
            <a:off x="8253051" y="1580541"/>
            <a:ext cx="426871" cy="614363"/>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6" name="Freeform 82"/>
          <p:cNvSpPr>
            <a:spLocks noEditPoints="1"/>
          </p:cNvSpPr>
          <p:nvPr/>
        </p:nvSpPr>
        <p:spPr bwMode="auto">
          <a:xfrm>
            <a:off x="8100710" y="1493228"/>
            <a:ext cx="245967" cy="217488"/>
          </a:xfrm>
          <a:custGeom>
            <a:avLst/>
            <a:gdLst>
              <a:gd name="T0" fmla="*/ 103 w 113"/>
              <a:gd name="T1" fmla="*/ 31 h 100"/>
              <a:gd name="T2" fmla="*/ 57 w 113"/>
              <a:gd name="T3" fmla="*/ 0 h 100"/>
              <a:gd name="T4" fmla="*/ 57 w 113"/>
              <a:gd name="T5" fmla="*/ 9 h 100"/>
              <a:gd name="T6" fmla="*/ 95 w 113"/>
              <a:gd name="T7" fmla="*/ 35 h 100"/>
              <a:gd name="T8" fmla="*/ 72 w 113"/>
              <a:gd name="T9" fmla="*/ 88 h 100"/>
              <a:gd name="T10" fmla="*/ 57 w 113"/>
              <a:gd name="T11" fmla="*/ 91 h 100"/>
              <a:gd name="T12" fmla="*/ 57 w 113"/>
              <a:gd name="T13" fmla="*/ 100 h 100"/>
              <a:gd name="T14" fmla="*/ 75 w 113"/>
              <a:gd name="T15" fmla="*/ 96 h 100"/>
              <a:gd name="T16" fmla="*/ 103 w 113"/>
              <a:gd name="T17" fmla="*/ 31 h 100"/>
              <a:gd name="T18" fmla="*/ 57 w 113"/>
              <a:gd name="T19" fmla="*/ 0 h 100"/>
              <a:gd name="T20" fmla="*/ 38 w 113"/>
              <a:gd name="T21" fmla="*/ 4 h 100"/>
              <a:gd name="T22" fmla="*/ 11 w 113"/>
              <a:gd name="T23" fmla="*/ 68 h 100"/>
              <a:gd name="T24" fmla="*/ 57 w 113"/>
              <a:gd name="T25" fmla="*/ 100 h 100"/>
              <a:gd name="T26" fmla="*/ 57 w 113"/>
              <a:gd name="T27" fmla="*/ 91 h 100"/>
              <a:gd name="T28" fmla="*/ 19 w 113"/>
              <a:gd name="T29" fmla="*/ 65 h 100"/>
              <a:gd name="T30" fmla="*/ 19 w 113"/>
              <a:gd name="T31" fmla="*/ 65 h 100"/>
              <a:gd name="T32" fmla="*/ 42 w 113"/>
              <a:gd name="T33" fmla="*/ 12 h 100"/>
              <a:gd name="T34" fmla="*/ 57 w 113"/>
              <a:gd name="T35" fmla="*/ 9 h 100"/>
              <a:gd name="T36" fmla="*/ 57 w 113"/>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3" h="100">
                <a:moveTo>
                  <a:pt x="103" y="31"/>
                </a:moveTo>
                <a:cubicBezTo>
                  <a:pt x="95" y="12"/>
                  <a:pt x="77" y="0"/>
                  <a:pt x="57" y="0"/>
                </a:cubicBezTo>
                <a:cubicBezTo>
                  <a:pt x="57" y="9"/>
                  <a:pt x="57" y="9"/>
                  <a:pt x="57" y="9"/>
                </a:cubicBezTo>
                <a:cubicBezTo>
                  <a:pt x="73" y="9"/>
                  <a:pt x="88" y="19"/>
                  <a:pt x="95" y="35"/>
                </a:cubicBezTo>
                <a:cubicBezTo>
                  <a:pt x="103" y="56"/>
                  <a:pt x="93" y="79"/>
                  <a:pt x="72" y="88"/>
                </a:cubicBezTo>
                <a:cubicBezTo>
                  <a:pt x="67" y="90"/>
                  <a:pt x="62" y="91"/>
                  <a:pt x="57" y="91"/>
                </a:cubicBezTo>
                <a:cubicBezTo>
                  <a:pt x="57" y="100"/>
                  <a:pt x="57" y="100"/>
                  <a:pt x="57" y="100"/>
                </a:cubicBezTo>
                <a:cubicBezTo>
                  <a:pt x="63" y="100"/>
                  <a:pt x="69" y="99"/>
                  <a:pt x="75" y="96"/>
                </a:cubicBezTo>
                <a:cubicBezTo>
                  <a:pt x="101" y="86"/>
                  <a:pt x="113" y="57"/>
                  <a:pt x="103" y="31"/>
                </a:cubicBezTo>
                <a:close/>
                <a:moveTo>
                  <a:pt x="57" y="0"/>
                </a:moveTo>
                <a:cubicBezTo>
                  <a:pt x="51" y="0"/>
                  <a:pt x="44" y="1"/>
                  <a:pt x="38" y="4"/>
                </a:cubicBezTo>
                <a:cubicBezTo>
                  <a:pt x="13" y="14"/>
                  <a:pt x="0" y="43"/>
                  <a:pt x="11" y="68"/>
                </a:cubicBezTo>
                <a:cubicBezTo>
                  <a:pt x="18" y="88"/>
                  <a:pt x="37" y="100"/>
                  <a:pt x="57" y="100"/>
                </a:cubicBezTo>
                <a:cubicBezTo>
                  <a:pt x="57" y="91"/>
                  <a:pt x="57" y="91"/>
                  <a:pt x="57" y="91"/>
                </a:cubicBezTo>
                <a:cubicBezTo>
                  <a:pt x="41" y="90"/>
                  <a:pt x="26" y="81"/>
                  <a:pt x="19" y="65"/>
                </a:cubicBezTo>
                <a:cubicBezTo>
                  <a:pt x="19" y="65"/>
                  <a:pt x="19" y="65"/>
                  <a:pt x="19" y="65"/>
                </a:cubicBezTo>
                <a:cubicBezTo>
                  <a:pt x="11" y="44"/>
                  <a:pt x="21" y="21"/>
                  <a:pt x="42" y="12"/>
                </a:cubicBezTo>
                <a:cubicBezTo>
                  <a:pt x="47" y="10"/>
                  <a:pt x="52" y="9"/>
                  <a:pt x="57" y="9"/>
                </a:cubicBezTo>
                <a:lnTo>
                  <a:pt x="57"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7" name="Freeform 83"/>
          <p:cNvSpPr/>
          <p:nvPr/>
        </p:nvSpPr>
        <p:spPr bwMode="auto">
          <a:xfrm>
            <a:off x="8030887" y="1623404"/>
            <a:ext cx="107908" cy="68263"/>
          </a:xfrm>
          <a:custGeom>
            <a:avLst/>
            <a:gdLst>
              <a:gd name="T0" fmla="*/ 7 w 68"/>
              <a:gd name="T1" fmla="*/ 43 h 43"/>
              <a:gd name="T2" fmla="*/ 0 w 68"/>
              <a:gd name="T3" fmla="*/ 25 h 43"/>
              <a:gd name="T4" fmla="*/ 62 w 68"/>
              <a:gd name="T5" fmla="*/ 0 h 43"/>
              <a:gd name="T6" fmla="*/ 68 w 68"/>
              <a:gd name="T7" fmla="*/ 18 h 43"/>
              <a:gd name="T8" fmla="*/ 7 w 68"/>
              <a:gd name="T9" fmla="*/ 43 h 43"/>
            </a:gdLst>
            <a:ahLst/>
            <a:cxnLst>
              <a:cxn ang="0">
                <a:pos x="T0" y="T1"/>
              </a:cxn>
              <a:cxn ang="0">
                <a:pos x="T2" y="T3"/>
              </a:cxn>
              <a:cxn ang="0">
                <a:pos x="T4" y="T5"/>
              </a:cxn>
              <a:cxn ang="0">
                <a:pos x="T6" y="T7"/>
              </a:cxn>
              <a:cxn ang="0">
                <a:pos x="T8" y="T9"/>
              </a:cxn>
            </a:cxnLst>
            <a:rect l="0" t="0" r="r" b="b"/>
            <a:pathLst>
              <a:path w="68" h="43">
                <a:moveTo>
                  <a:pt x="7" y="43"/>
                </a:moveTo>
                <a:lnTo>
                  <a:pt x="0" y="25"/>
                </a:lnTo>
                <a:lnTo>
                  <a:pt x="62" y="0"/>
                </a:lnTo>
                <a:lnTo>
                  <a:pt x="68" y="18"/>
                </a:lnTo>
                <a:lnTo>
                  <a:pt x="7" y="4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8" name="Freeform 84"/>
          <p:cNvSpPr/>
          <p:nvPr/>
        </p:nvSpPr>
        <p:spPr bwMode="auto">
          <a:xfrm>
            <a:off x="7962652" y="1632928"/>
            <a:ext cx="145993" cy="88900"/>
          </a:xfrm>
          <a:custGeom>
            <a:avLst/>
            <a:gdLst>
              <a:gd name="T0" fmla="*/ 16 w 67"/>
              <a:gd name="T1" fmla="*/ 39 h 41"/>
              <a:gd name="T2" fmla="*/ 2 w 67"/>
              <a:gd name="T3" fmla="*/ 33 h 41"/>
              <a:gd name="T4" fmla="*/ 8 w 67"/>
              <a:gd name="T5" fmla="*/ 19 h 41"/>
              <a:gd name="T6" fmla="*/ 50 w 67"/>
              <a:gd name="T7" fmla="*/ 2 h 41"/>
              <a:gd name="T8" fmla="*/ 64 w 67"/>
              <a:gd name="T9" fmla="*/ 8 h 41"/>
              <a:gd name="T10" fmla="*/ 58 w 67"/>
              <a:gd name="T11" fmla="*/ 22 h 41"/>
              <a:gd name="T12" fmla="*/ 16 w 67"/>
              <a:gd name="T13" fmla="*/ 39 h 41"/>
            </a:gdLst>
            <a:ahLst/>
            <a:cxnLst>
              <a:cxn ang="0">
                <a:pos x="T0" y="T1"/>
              </a:cxn>
              <a:cxn ang="0">
                <a:pos x="T2" y="T3"/>
              </a:cxn>
              <a:cxn ang="0">
                <a:pos x="T4" y="T5"/>
              </a:cxn>
              <a:cxn ang="0">
                <a:pos x="T6" y="T7"/>
              </a:cxn>
              <a:cxn ang="0">
                <a:pos x="T8" y="T9"/>
              </a:cxn>
              <a:cxn ang="0">
                <a:pos x="T10" y="T11"/>
              </a:cxn>
              <a:cxn ang="0">
                <a:pos x="T12" y="T13"/>
              </a:cxn>
            </a:cxnLst>
            <a:rect l="0" t="0" r="r" b="b"/>
            <a:pathLst>
              <a:path w="67" h="41">
                <a:moveTo>
                  <a:pt x="16" y="39"/>
                </a:moveTo>
                <a:cubicBezTo>
                  <a:pt x="10" y="41"/>
                  <a:pt x="4" y="39"/>
                  <a:pt x="2" y="33"/>
                </a:cubicBezTo>
                <a:cubicBezTo>
                  <a:pt x="0" y="28"/>
                  <a:pt x="2" y="21"/>
                  <a:pt x="8" y="19"/>
                </a:cubicBezTo>
                <a:cubicBezTo>
                  <a:pt x="50" y="2"/>
                  <a:pt x="50" y="2"/>
                  <a:pt x="50" y="2"/>
                </a:cubicBezTo>
                <a:cubicBezTo>
                  <a:pt x="56" y="0"/>
                  <a:pt x="62" y="3"/>
                  <a:pt x="64" y="8"/>
                </a:cubicBezTo>
                <a:cubicBezTo>
                  <a:pt x="67" y="14"/>
                  <a:pt x="64" y="20"/>
                  <a:pt x="58" y="22"/>
                </a:cubicBezTo>
                <a:lnTo>
                  <a:pt x="16" y="3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29" name="Freeform 85"/>
          <p:cNvSpPr>
            <a:spLocks noEditPoints="1"/>
          </p:cNvSpPr>
          <p:nvPr/>
        </p:nvSpPr>
        <p:spPr bwMode="auto">
          <a:xfrm>
            <a:off x="7878547" y="2791803"/>
            <a:ext cx="445914" cy="158750"/>
          </a:xfrm>
          <a:custGeom>
            <a:avLst/>
            <a:gdLst>
              <a:gd name="T0" fmla="*/ 142 w 205"/>
              <a:gd name="T1" fmla="*/ 5 h 73"/>
              <a:gd name="T2" fmla="*/ 157 w 205"/>
              <a:gd name="T3" fmla="*/ 2 h 73"/>
              <a:gd name="T4" fmla="*/ 164 w 205"/>
              <a:gd name="T5" fmla="*/ 5 h 73"/>
              <a:gd name="T6" fmla="*/ 179 w 205"/>
              <a:gd name="T7" fmla="*/ 2 h 73"/>
              <a:gd name="T8" fmla="*/ 202 w 205"/>
              <a:gd name="T9" fmla="*/ 18 h 73"/>
              <a:gd name="T10" fmla="*/ 187 w 205"/>
              <a:gd name="T11" fmla="*/ 42 h 73"/>
              <a:gd name="T12" fmla="*/ 177 w 205"/>
              <a:gd name="T13" fmla="*/ 43 h 73"/>
              <a:gd name="T14" fmla="*/ 166 w 205"/>
              <a:gd name="T15" fmla="*/ 18 h 73"/>
              <a:gd name="T16" fmla="*/ 172 w 205"/>
              <a:gd name="T17" fmla="*/ 45 h 73"/>
              <a:gd name="T18" fmla="*/ 167 w 205"/>
              <a:gd name="T19" fmla="*/ 50 h 73"/>
              <a:gd name="T20" fmla="*/ 142 w 205"/>
              <a:gd name="T21" fmla="*/ 55 h 73"/>
              <a:gd name="T22" fmla="*/ 142 w 205"/>
              <a:gd name="T23" fmla="*/ 20 h 73"/>
              <a:gd name="T24" fmla="*/ 158 w 205"/>
              <a:gd name="T25" fmla="*/ 17 h 73"/>
              <a:gd name="T26" fmla="*/ 163 w 205"/>
              <a:gd name="T27" fmla="*/ 19 h 73"/>
              <a:gd name="T28" fmla="*/ 161 w 205"/>
              <a:gd name="T29" fmla="*/ 9 h 73"/>
              <a:gd name="T30" fmla="*/ 155 w 205"/>
              <a:gd name="T31" fmla="*/ 5 h 73"/>
              <a:gd name="T32" fmla="*/ 142 w 205"/>
              <a:gd name="T33" fmla="*/ 8 h 73"/>
              <a:gd name="T34" fmla="*/ 142 w 205"/>
              <a:gd name="T35" fmla="*/ 5 h 73"/>
              <a:gd name="T36" fmla="*/ 28 w 205"/>
              <a:gd name="T37" fmla="*/ 30 h 73"/>
              <a:gd name="T38" fmla="*/ 116 w 205"/>
              <a:gd name="T39" fmla="*/ 13 h 73"/>
              <a:gd name="T40" fmla="*/ 121 w 205"/>
              <a:gd name="T41" fmla="*/ 9 h 73"/>
              <a:gd name="T42" fmla="*/ 142 w 205"/>
              <a:gd name="T43" fmla="*/ 5 h 73"/>
              <a:gd name="T44" fmla="*/ 142 w 205"/>
              <a:gd name="T45" fmla="*/ 8 h 73"/>
              <a:gd name="T46" fmla="*/ 124 w 205"/>
              <a:gd name="T47" fmla="*/ 11 h 73"/>
              <a:gd name="T48" fmla="*/ 120 w 205"/>
              <a:gd name="T49" fmla="*/ 17 h 73"/>
              <a:gd name="T50" fmla="*/ 122 w 205"/>
              <a:gd name="T51" fmla="*/ 28 h 73"/>
              <a:gd name="T52" fmla="*/ 122 w 205"/>
              <a:gd name="T53" fmla="*/ 28 h 73"/>
              <a:gd name="T54" fmla="*/ 126 w 205"/>
              <a:gd name="T55" fmla="*/ 24 h 73"/>
              <a:gd name="T56" fmla="*/ 142 w 205"/>
              <a:gd name="T57" fmla="*/ 20 h 73"/>
              <a:gd name="T58" fmla="*/ 142 w 205"/>
              <a:gd name="T59" fmla="*/ 55 h 73"/>
              <a:gd name="T60" fmla="*/ 130 w 205"/>
              <a:gd name="T61" fmla="*/ 57 h 73"/>
              <a:gd name="T62" fmla="*/ 125 w 205"/>
              <a:gd name="T63" fmla="*/ 56 h 73"/>
              <a:gd name="T64" fmla="*/ 35 w 205"/>
              <a:gd name="T65" fmla="*/ 73 h 73"/>
              <a:gd name="T66" fmla="*/ 28 w 205"/>
              <a:gd name="T67" fmla="*/ 70 h 73"/>
              <a:gd name="T68" fmla="*/ 28 w 205"/>
              <a:gd name="T69" fmla="*/ 67 h 73"/>
              <a:gd name="T70" fmla="*/ 35 w 205"/>
              <a:gd name="T71" fmla="*/ 70 h 73"/>
              <a:gd name="T72" fmla="*/ 35 w 205"/>
              <a:gd name="T73" fmla="*/ 70 h 73"/>
              <a:gd name="T74" fmla="*/ 37 w 205"/>
              <a:gd name="T75" fmla="*/ 70 h 73"/>
              <a:gd name="T76" fmla="*/ 42 w 205"/>
              <a:gd name="T77" fmla="*/ 62 h 73"/>
              <a:gd name="T78" fmla="*/ 36 w 205"/>
              <a:gd name="T79" fmla="*/ 57 h 73"/>
              <a:gd name="T80" fmla="*/ 40 w 205"/>
              <a:gd name="T81" fmla="*/ 50 h 73"/>
              <a:gd name="T82" fmla="*/ 34 w 205"/>
              <a:gd name="T83" fmla="*/ 45 h 73"/>
              <a:gd name="T84" fmla="*/ 37 w 205"/>
              <a:gd name="T85" fmla="*/ 38 h 73"/>
              <a:gd name="T86" fmla="*/ 30 w 205"/>
              <a:gd name="T87" fmla="*/ 33 h 73"/>
              <a:gd name="T88" fmla="*/ 28 w 205"/>
              <a:gd name="T89" fmla="*/ 33 h 73"/>
              <a:gd name="T90" fmla="*/ 28 w 205"/>
              <a:gd name="T91" fmla="*/ 34 h 73"/>
              <a:gd name="T92" fmla="*/ 28 w 205"/>
              <a:gd name="T93" fmla="*/ 30 h 73"/>
              <a:gd name="T94" fmla="*/ 26 w 205"/>
              <a:gd name="T95" fmla="*/ 31 h 73"/>
              <a:gd name="T96" fmla="*/ 28 w 205"/>
              <a:gd name="T97" fmla="*/ 30 h 73"/>
              <a:gd name="T98" fmla="*/ 28 w 205"/>
              <a:gd name="T99" fmla="*/ 34 h 73"/>
              <a:gd name="T100" fmla="*/ 13 w 205"/>
              <a:gd name="T101" fmla="*/ 49 h 73"/>
              <a:gd name="T102" fmla="*/ 15 w 205"/>
              <a:gd name="T103" fmla="*/ 62 h 73"/>
              <a:gd name="T104" fmla="*/ 28 w 205"/>
              <a:gd name="T105" fmla="*/ 67 h 73"/>
              <a:gd name="T106" fmla="*/ 28 w 205"/>
              <a:gd name="T107" fmla="*/ 70 h 73"/>
              <a:gd name="T108" fmla="*/ 0 w 205"/>
              <a:gd name="T109" fmla="*/ 58 h 73"/>
              <a:gd name="T110" fmla="*/ 26 w 205"/>
              <a:gd name="T111" fmla="*/ 31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5" h="73">
                <a:moveTo>
                  <a:pt x="142" y="5"/>
                </a:moveTo>
                <a:cubicBezTo>
                  <a:pt x="157" y="2"/>
                  <a:pt x="157" y="2"/>
                  <a:pt x="157" y="2"/>
                </a:cubicBezTo>
                <a:cubicBezTo>
                  <a:pt x="160" y="1"/>
                  <a:pt x="163" y="3"/>
                  <a:pt x="164" y="5"/>
                </a:cubicBezTo>
                <a:cubicBezTo>
                  <a:pt x="179" y="2"/>
                  <a:pt x="179" y="2"/>
                  <a:pt x="179" y="2"/>
                </a:cubicBezTo>
                <a:cubicBezTo>
                  <a:pt x="190" y="0"/>
                  <a:pt x="200" y="7"/>
                  <a:pt x="202" y="18"/>
                </a:cubicBezTo>
                <a:cubicBezTo>
                  <a:pt x="205" y="29"/>
                  <a:pt x="197" y="39"/>
                  <a:pt x="187" y="42"/>
                </a:cubicBezTo>
                <a:cubicBezTo>
                  <a:pt x="177" y="43"/>
                  <a:pt x="177" y="43"/>
                  <a:pt x="177" y="43"/>
                </a:cubicBezTo>
                <a:cubicBezTo>
                  <a:pt x="166" y="18"/>
                  <a:pt x="166" y="18"/>
                  <a:pt x="166" y="18"/>
                </a:cubicBezTo>
                <a:cubicBezTo>
                  <a:pt x="172" y="45"/>
                  <a:pt x="172" y="45"/>
                  <a:pt x="172" y="45"/>
                </a:cubicBezTo>
                <a:cubicBezTo>
                  <a:pt x="172" y="47"/>
                  <a:pt x="170" y="50"/>
                  <a:pt x="167" y="50"/>
                </a:cubicBezTo>
                <a:cubicBezTo>
                  <a:pt x="142" y="55"/>
                  <a:pt x="142" y="55"/>
                  <a:pt x="142" y="55"/>
                </a:cubicBezTo>
                <a:cubicBezTo>
                  <a:pt x="142" y="20"/>
                  <a:pt x="142" y="20"/>
                  <a:pt x="142" y="20"/>
                </a:cubicBezTo>
                <a:cubicBezTo>
                  <a:pt x="158" y="17"/>
                  <a:pt x="158" y="17"/>
                  <a:pt x="158" y="17"/>
                </a:cubicBezTo>
                <a:cubicBezTo>
                  <a:pt x="160" y="17"/>
                  <a:pt x="162" y="18"/>
                  <a:pt x="163" y="19"/>
                </a:cubicBezTo>
                <a:cubicBezTo>
                  <a:pt x="161" y="9"/>
                  <a:pt x="161" y="9"/>
                  <a:pt x="161" y="9"/>
                </a:cubicBezTo>
                <a:cubicBezTo>
                  <a:pt x="161" y="6"/>
                  <a:pt x="158" y="5"/>
                  <a:pt x="155" y="5"/>
                </a:cubicBezTo>
                <a:cubicBezTo>
                  <a:pt x="142" y="8"/>
                  <a:pt x="142" y="8"/>
                  <a:pt x="142" y="8"/>
                </a:cubicBezTo>
                <a:lnTo>
                  <a:pt x="142" y="5"/>
                </a:lnTo>
                <a:close/>
                <a:moveTo>
                  <a:pt x="28" y="30"/>
                </a:moveTo>
                <a:cubicBezTo>
                  <a:pt x="116" y="13"/>
                  <a:pt x="116" y="13"/>
                  <a:pt x="116" y="13"/>
                </a:cubicBezTo>
                <a:cubicBezTo>
                  <a:pt x="117" y="11"/>
                  <a:pt x="119" y="9"/>
                  <a:pt x="121" y="9"/>
                </a:cubicBezTo>
                <a:cubicBezTo>
                  <a:pt x="142" y="5"/>
                  <a:pt x="142" y="5"/>
                  <a:pt x="142" y="5"/>
                </a:cubicBezTo>
                <a:cubicBezTo>
                  <a:pt x="142" y="8"/>
                  <a:pt x="142" y="8"/>
                  <a:pt x="142" y="8"/>
                </a:cubicBezTo>
                <a:cubicBezTo>
                  <a:pt x="124" y="11"/>
                  <a:pt x="124" y="11"/>
                  <a:pt x="124" y="11"/>
                </a:cubicBezTo>
                <a:cubicBezTo>
                  <a:pt x="121" y="12"/>
                  <a:pt x="119" y="15"/>
                  <a:pt x="120" y="17"/>
                </a:cubicBezTo>
                <a:cubicBezTo>
                  <a:pt x="122" y="28"/>
                  <a:pt x="122" y="28"/>
                  <a:pt x="122" y="28"/>
                </a:cubicBezTo>
                <a:cubicBezTo>
                  <a:pt x="122" y="28"/>
                  <a:pt x="122" y="28"/>
                  <a:pt x="122" y="28"/>
                </a:cubicBezTo>
                <a:cubicBezTo>
                  <a:pt x="122" y="26"/>
                  <a:pt x="124" y="24"/>
                  <a:pt x="126" y="24"/>
                </a:cubicBezTo>
                <a:cubicBezTo>
                  <a:pt x="142" y="20"/>
                  <a:pt x="142" y="20"/>
                  <a:pt x="142" y="20"/>
                </a:cubicBezTo>
                <a:cubicBezTo>
                  <a:pt x="142" y="55"/>
                  <a:pt x="142" y="55"/>
                  <a:pt x="142" y="55"/>
                </a:cubicBezTo>
                <a:cubicBezTo>
                  <a:pt x="130" y="57"/>
                  <a:pt x="130" y="57"/>
                  <a:pt x="130" y="57"/>
                </a:cubicBezTo>
                <a:cubicBezTo>
                  <a:pt x="128" y="58"/>
                  <a:pt x="126" y="57"/>
                  <a:pt x="125" y="56"/>
                </a:cubicBezTo>
                <a:cubicBezTo>
                  <a:pt x="35" y="73"/>
                  <a:pt x="35" y="73"/>
                  <a:pt x="35" y="73"/>
                </a:cubicBezTo>
                <a:cubicBezTo>
                  <a:pt x="28" y="70"/>
                  <a:pt x="28" y="70"/>
                  <a:pt x="28" y="70"/>
                </a:cubicBezTo>
                <a:cubicBezTo>
                  <a:pt x="28" y="67"/>
                  <a:pt x="28" y="67"/>
                  <a:pt x="28" y="67"/>
                </a:cubicBezTo>
                <a:cubicBezTo>
                  <a:pt x="35" y="70"/>
                  <a:pt x="35" y="70"/>
                  <a:pt x="35" y="70"/>
                </a:cubicBezTo>
                <a:cubicBezTo>
                  <a:pt x="35" y="70"/>
                  <a:pt x="35" y="70"/>
                  <a:pt x="35" y="70"/>
                </a:cubicBezTo>
                <a:cubicBezTo>
                  <a:pt x="37" y="70"/>
                  <a:pt x="37" y="70"/>
                  <a:pt x="37" y="70"/>
                </a:cubicBezTo>
                <a:cubicBezTo>
                  <a:pt x="41" y="69"/>
                  <a:pt x="43" y="66"/>
                  <a:pt x="42" y="62"/>
                </a:cubicBezTo>
                <a:cubicBezTo>
                  <a:pt x="42" y="59"/>
                  <a:pt x="39" y="57"/>
                  <a:pt x="36" y="57"/>
                </a:cubicBezTo>
                <a:cubicBezTo>
                  <a:pt x="39" y="56"/>
                  <a:pt x="40" y="53"/>
                  <a:pt x="40" y="50"/>
                </a:cubicBezTo>
                <a:cubicBezTo>
                  <a:pt x="39" y="47"/>
                  <a:pt x="37" y="45"/>
                  <a:pt x="34" y="45"/>
                </a:cubicBezTo>
                <a:cubicBezTo>
                  <a:pt x="36" y="44"/>
                  <a:pt x="38" y="41"/>
                  <a:pt x="37" y="38"/>
                </a:cubicBezTo>
                <a:cubicBezTo>
                  <a:pt x="37" y="34"/>
                  <a:pt x="33" y="32"/>
                  <a:pt x="30" y="33"/>
                </a:cubicBezTo>
                <a:cubicBezTo>
                  <a:pt x="28" y="33"/>
                  <a:pt x="28" y="33"/>
                  <a:pt x="28" y="33"/>
                </a:cubicBezTo>
                <a:cubicBezTo>
                  <a:pt x="28" y="34"/>
                  <a:pt x="28" y="34"/>
                  <a:pt x="28" y="34"/>
                </a:cubicBezTo>
                <a:lnTo>
                  <a:pt x="28" y="30"/>
                </a:lnTo>
                <a:close/>
                <a:moveTo>
                  <a:pt x="26" y="31"/>
                </a:moveTo>
                <a:cubicBezTo>
                  <a:pt x="28" y="30"/>
                  <a:pt x="28" y="30"/>
                  <a:pt x="28" y="30"/>
                </a:cubicBezTo>
                <a:cubicBezTo>
                  <a:pt x="28" y="34"/>
                  <a:pt x="28" y="34"/>
                  <a:pt x="28" y="34"/>
                </a:cubicBezTo>
                <a:cubicBezTo>
                  <a:pt x="13" y="49"/>
                  <a:pt x="13" y="49"/>
                  <a:pt x="13" y="49"/>
                </a:cubicBezTo>
                <a:cubicBezTo>
                  <a:pt x="15" y="62"/>
                  <a:pt x="15" y="62"/>
                  <a:pt x="15" y="62"/>
                </a:cubicBezTo>
                <a:cubicBezTo>
                  <a:pt x="28" y="67"/>
                  <a:pt x="28" y="67"/>
                  <a:pt x="28" y="67"/>
                </a:cubicBezTo>
                <a:cubicBezTo>
                  <a:pt x="28" y="70"/>
                  <a:pt x="28" y="70"/>
                  <a:pt x="28" y="70"/>
                </a:cubicBezTo>
                <a:cubicBezTo>
                  <a:pt x="0" y="58"/>
                  <a:pt x="0" y="58"/>
                  <a:pt x="0" y="58"/>
                </a:cubicBezTo>
                <a:lnTo>
                  <a:pt x="26" y="3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0" name="Freeform 86"/>
          <p:cNvSpPr/>
          <p:nvPr/>
        </p:nvSpPr>
        <p:spPr bwMode="auto">
          <a:xfrm>
            <a:off x="9725676" y="3201379"/>
            <a:ext cx="245967" cy="315913"/>
          </a:xfrm>
          <a:custGeom>
            <a:avLst/>
            <a:gdLst>
              <a:gd name="T0" fmla="*/ 113 w 113"/>
              <a:gd name="T1" fmla="*/ 25 h 145"/>
              <a:gd name="T2" fmla="*/ 108 w 113"/>
              <a:gd name="T3" fmla="*/ 22 h 145"/>
              <a:gd name="T4" fmla="*/ 42 w 113"/>
              <a:gd name="T5" fmla="*/ 128 h 145"/>
              <a:gd name="T6" fmla="*/ 19 w 113"/>
              <a:gd name="T7" fmla="*/ 132 h 145"/>
              <a:gd name="T8" fmla="*/ 12 w 113"/>
              <a:gd name="T9" fmla="*/ 109 h 145"/>
              <a:gd name="T10" fmla="*/ 78 w 113"/>
              <a:gd name="T11" fmla="*/ 3 h 145"/>
              <a:gd name="T12" fmla="*/ 73 w 113"/>
              <a:gd name="T13" fmla="*/ 0 h 145"/>
              <a:gd name="T14" fmla="*/ 6 w 113"/>
              <a:gd name="T15" fmla="*/ 107 h 145"/>
              <a:gd name="T16" fmla="*/ 15 w 113"/>
              <a:gd name="T17" fmla="*/ 138 h 145"/>
              <a:gd name="T18" fmla="*/ 47 w 113"/>
              <a:gd name="T19" fmla="*/ 132 h 145"/>
              <a:gd name="T20" fmla="*/ 113 w 113"/>
              <a:gd name="T21" fmla="*/ 2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45">
                <a:moveTo>
                  <a:pt x="113" y="25"/>
                </a:moveTo>
                <a:cubicBezTo>
                  <a:pt x="108" y="22"/>
                  <a:pt x="108" y="22"/>
                  <a:pt x="108" y="22"/>
                </a:cubicBezTo>
                <a:cubicBezTo>
                  <a:pt x="42" y="128"/>
                  <a:pt x="42" y="128"/>
                  <a:pt x="42" y="128"/>
                </a:cubicBezTo>
                <a:cubicBezTo>
                  <a:pt x="38" y="135"/>
                  <a:pt x="27" y="137"/>
                  <a:pt x="19" y="132"/>
                </a:cubicBezTo>
                <a:cubicBezTo>
                  <a:pt x="11" y="127"/>
                  <a:pt x="8" y="117"/>
                  <a:pt x="12" y="109"/>
                </a:cubicBezTo>
                <a:cubicBezTo>
                  <a:pt x="78" y="3"/>
                  <a:pt x="78" y="3"/>
                  <a:pt x="78" y="3"/>
                </a:cubicBezTo>
                <a:cubicBezTo>
                  <a:pt x="73" y="0"/>
                  <a:pt x="73" y="0"/>
                  <a:pt x="73" y="0"/>
                </a:cubicBezTo>
                <a:cubicBezTo>
                  <a:pt x="6" y="107"/>
                  <a:pt x="6" y="107"/>
                  <a:pt x="6" y="107"/>
                </a:cubicBezTo>
                <a:cubicBezTo>
                  <a:pt x="0" y="117"/>
                  <a:pt x="4" y="131"/>
                  <a:pt x="15" y="138"/>
                </a:cubicBezTo>
                <a:cubicBezTo>
                  <a:pt x="26" y="145"/>
                  <a:pt x="40" y="142"/>
                  <a:pt x="47" y="132"/>
                </a:cubicBezTo>
                <a:lnTo>
                  <a:pt x="113" y="2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1" name="Freeform 87"/>
          <p:cNvSpPr/>
          <p:nvPr/>
        </p:nvSpPr>
        <p:spPr bwMode="auto">
          <a:xfrm>
            <a:off x="9865321" y="3190265"/>
            <a:ext cx="119017" cy="82550"/>
          </a:xfrm>
          <a:custGeom>
            <a:avLst/>
            <a:gdLst>
              <a:gd name="T0" fmla="*/ 54 w 55"/>
              <a:gd name="T1" fmla="*/ 35 h 38"/>
              <a:gd name="T2" fmla="*/ 48 w 55"/>
              <a:gd name="T3" fmla="*/ 37 h 38"/>
              <a:gd name="T4" fmla="*/ 3 w 55"/>
              <a:gd name="T5" fmla="*/ 9 h 38"/>
              <a:gd name="T6" fmla="*/ 2 w 55"/>
              <a:gd name="T7" fmla="*/ 3 h 38"/>
              <a:gd name="T8" fmla="*/ 8 w 55"/>
              <a:gd name="T9" fmla="*/ 1 h 38"/>
              <a:gd name="T10" fmla="*/ 53 w 55"/>
              <a:gd name="T11" fmla="*/ 29 h 38"/>
              <a:gd name="T12" fmla="*/ 54 w 55"/>
              <a:gd name="T13" fmla="*/ 35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54" y="35"/>
                </a:moveTo>
                <a:cubicBezTo>
                  <a:pt x="53" y="37"/>
                  <a:pt x="50" y="38"/>
                  <a:pt x="48" y="37"/>
                </a:cubicBezTo>
                <a:cubicBezTo>
                  <a:pt x="3" y="9"/>
                  <a:pt x="3" y="9"/>
                  <a:pt x="3" y="9"/>
                </a:cubicBezTo>
                <a:cubicBezTo>
                  <a:pt x="1" y="7"/>
                  <a:pt x="0" y="5"/>
                  <a:pt x="2" y="3"/>
                </a:cubicBezTo>
                <a:cubicBezTo>
                  <a:pt x="3" y="1"/>
                  <a:pt x="6" y="0"/>
                  <a:pt x="8" y="1"/>
                </a:cubicBezTo>
                <a:cubicBezTo>
                  <a:pt x="53" y="29"/>
                  <a:pt x="53" y="29"/>
                  <a:pt x="53" y="29"/>
                </a:cubicBezTo>
                <a:cubicBezTo>
                  <a:pt x="55" y="31"/>
                  <a:pt x="55" y="33"/>
                  <a:pt x="54" y="3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2" name="Freeform 88"/>
          <p:cNvSpPr/>
          <p:nvPr/>
        </p:nvSpPr>
        <p:spPr bwMode="auto">
          <a:xfrm>
            <a:off x="9773282" y="3255354"/>
            <a:ext cx="163449" cy="227013"/>
          </a:xfrm>
          <a:custGeom>
            <a:avLst/>
            <a:gdLst>
              <a:gd name="T0" fmla="*/ 75 w 75"/>
              <a:gd name="T1" fmla="*/ 4 h 104"/>
              <a:gd name="T2" fmla="*/ 69 w 75"/>
              <a:gd name="T3" fmla="*/ 0 h 104"/>
              <a:gd name="T4" fmla="*/ 10 w 75"/>
              <a:gd name="T5" fmla="*/ 95 h 104"/>
              <a:gd name="T6" fmla="*/ 0 w 75"/>
              <a:gd name="T7" fmla="*/ 100 h 104"/>
              <a:gd name="T8" fmla="*/ 1 w 75"/>
              <a:gd name="T9" fmla="*/ 101 h 104"/>
              <a:gd name="T10" fmla="*/ 17 w 75"/>
              <a:gd name="T11" fmla="*/ 98 h 104"/>
              <a:gd name="T12" fmla="*/ 75 w 75"/>
              <a:gd name="T13" fmla="*/ 4 h 104"/>
            </a:gdLst>
            <a:ahLst/>
            <a:cxnLst>
              <a:cxn ang="0">
                <a:pos x="T0" y="T1"/>
              </a:cxn>
              <a:cxn ang="0">
                <a:pos x="T2" y="T3"/>
              </a:cxn>
              <a:cxn ang="0">
                <a:pos x="T4" y="T5"/>
              </a:cxn>
              <a:cxn ang="0">
                <a:pos x="T6" y="T7"/>
              </a:cxn>
              <a:cxn ang="0">
                <a:pos x="T8" y="T9"/>
              </a:cxn>
              <a:cxn ang="0">
                <a:pos x="T10" y="T11"/>
              </a:cxn>
              <a:cxn ang="0">
                <a:pos x="T12" y="T13"/>
              </a:cxn>
            </a:cxnLst>
            <a:rect l="0" t="0" r="r" b="b"/>
            <a:pathLst>
              <a:path w="75" h="104">
                <a:moveTo>
                  <a:pt x="75" y="4"/>
                </a:moveTo>
                <a:cubicBezTo>
                  <a:pt x="69" y="0"/>
                  <a:pt x="69" y="0"/>
                  <a:pt x="69" y="0"/>
                </a:cubicBezTo>
                <a:cubicBezTo>
                  <a:pt x="10" y="95"/>
                  <a:pt x="10" y="95"/>
                  <a:pt x="10" y="95"/>
                </a:cubicBezTo>
                <a:cubicBezTo>
                  <a:pt x="8" y="98"/>
                  <a:pt x="4" y="100"/>
                  <a:pt x="0" y="100"/>
                </a:cubicBezTo>
                <a:cubicBezTo>
                  <a:pt x="0" y="100"/>
                  <a:pt x="1" y="100"/>
                  <a:pt x="1" y="101"/>
                </a:cubicBezTo>
                <a:cubicBezTo>
                  <a:pt x="7" y="104"/>
                  <a:pt x="14" y="103"/>
                  <a:pt x="17" y="98"/>
                </a:cubicBezTo>
                <a:lnTo>
                  <a:pt x="75" y="4"/>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3" name="Freeform 89"/>
          <p:cNvSpPr>
            <a:spLocks noEditPoints="1"/>
          </p:cNvSpPr>
          <p:nvPr/>
        </p:nvSpPr>
        <p:spPr bwMode="auto">
          <a:xfrm>
            <a:off x="9392430" y="1963129"/>
            <a:ext cx="222163" cy="161925"/>
          </a:xfrm>
          <a:custGeom>
            <a:avLst/>
            <a:gdLst>
              <a:gd name="T0" fmla="*/ 84 w 102"/>
              <a:gd name="T1" fmla="*/ 71 h 74"/>
              <a:gd name="T2" fmla="*/ 79 w 102"/>
              <a:gd name="T3" fmla="*/ 69 h 74"/>
              <a:gd name="T4" fmla="*/ 79 w 102"/>
              <a:gd name="T5" fmla="*/ 69 h 74"/>
              <a:gd name="T6" fmla="*/ 79 w 102"/>
              <a:gd name="T7" fmla="*/ 52 h 74"/>
              <a:gd name="T8" fmla="*/ 86 w 102"/>
              <a:gd name="T9" fmla="*/ 49 h 74"/>
              <a:gd name="T10" fmla="*/ 90 w 102"/>
              <a:gd name="T11" fmla="*/ 38 h 74"/>
              <a:gd name="T12" fmla="*/ 79 w 102"/>
              <a:gd name="T13" fmla="*/ 31 h 74"/>
              <a:gd name="T14" fmla="*/ 85 w 102"/>
              <a:gd name="T15" fmla="*/ 20 h 74"/>
              <a:gd name="T16" fmla="*/ 79 w 102"/>
              <a:gd name="T17" fmla="*/ 16 h 74"/>
              <a:gd name="T18" fmla="*/ 72 w 102"/>
              <a:gd name="T19" fmla="*/ 3 h 74"/>
              <a:gd name="T20" fmla="*/ 79 w 102"/>
              <a:gd name="T21" fmla="*/ 16 h 74"/>
              <a:gd name="T22" fmla="*/ 72 w 102"/>
              <a:gd name="T23" fmla="*/ 21 h 74"/>
              <a:gd name="T24" fmla="*/ 72 w 102"/>
              <a:gd name="T25" fmla="*/ 9 h 74"/>
              <a:gd name="T26" fmla="*/ 79 w 102"/>
              <a:gd name="T27" fmla="*/ 73 h 74"/>
              <a:gd name="T28" fmla="*/ 72 w 102"/>
              <a:gd name="T29" fmla="*/ 69 h 74"/>
              <a:gd name="T30" fmla="*/ 79 w 102"/>
              <a:gd name="T31" fmla="*/ 73 h 74"/>
              <a:gd name="T32" fmla="*/ 79 w 102"/>
              <a:gd name="T33" fmla="*/ 34 h 74"/>
              <a:gd name="T34" fmla="*/ 75 w 102"/>
              <a:gd name="T35" fmla="*/ 45 h 74"/>
              <a:gd name="T36" fmla="*/ 79 w 102"/>
              <a:gd name="T37" fmla="*/ 52 h 74"/>
              <a:gd name="T38" fmla="*/ 72 w 102"/>
              <a:gd name="T39" fmla="*/ 25 h 74"/>
              <a:gd name="T40" fmla="*/ 79 w 102"/>
              <a:gd name="T41" fmla="*/ 31 h 74"/>
              <a:gd name="T42" fmla="*/ 72 w 102"/>
              <a:gd name="T43" fmla="*/ 3 h 74"/>
              <a:gd name="T44" fmla="*/ 71 w 102"/>
              <a:gd name="T45" fmla="*/ 8 h 74"/>
              <a:gd name="T46" fmla="*/ 66 w 102"/>
              <a:gd name="T47" fmla="*/ 2 h 74"/>
              <a:gd name="T48" fmla="*/ 66 w 102"/>
              <a:gd name="T49" fmla="*/ 73 h 74"/>
              <a:gd name="T50" fmla="*/ 67 w 102"/>
              <a:gd name="T51" fmla="*/ 65 h 74"/>
              <a:gd name="T52" fmla="*/ 72 w 102"/>
              <a:gd name="T53" fmla="*/ 74 h 74"/>
              <a:gd name="T54" fmla="*/ 72 w 102"/>
              <a:gd name="T55" fmla="*/ 21 h 74"/>
              <a:gd name="T56" fmla="*/ 72 w 102"/>
              <a:gd name="T57" fmla="*/ 52 h 74"/>
              <a:gd name="T58" fmla="*/ 66 w 102"/>
              <a:gd name="T59" fmla="*/ 57 h 74"/>
              <a:gd name="T60" fmla="*/ 69 w 102"/>
              <a:gd name="T61" fmla="*/ 16 h 74"/>
              <a:gd name="T62" fmla="*/ 22 w 102"/>
              <a:gd name="T63" fmla="*/ 10 h 74"/>
              <a:gd name="T64" fmla="*/ 66 w 102"/>
              <a:gd name="T65" fmla="*/ 5 h 74"/>
              <a:gd name="T66" fmla="*/ 64 w 102"/>
              <a:gd name="T67" fmla="*/ 6 h 74"/>
              <a:gd name="T68" fmla="*/ 66 w 102"/>
              <a:gd name="T69" fmla="*/ 16 h 74"/>
              <a:gd name="T70" fmla="*/ 66 w 102"/>
              <a:gd name="T71" fmla="*/ 64 h 74"/>
              <a:gd name="T72" fmla="*/ 37 w 102"/>
              <a:gd name="T73" fmla="*/ 57 h 74"/>
              <a:gd name="T74" fmla="*/ 22 w 102"/>
              <a:gd name="T75" fmla="*/ 49 h 74"/>
              <a:gd name="T76" fmla="*/ 27 w 102"/>
              <a:gd name="T77" fmla="*/ 48 h 74"/>
              <a:gd name="T78" fmla="*/ 22 w 102"/>
              <a:gd name="T79" fmla="*/ 27 h 74"/>
              <a:gd name="T80" fmla="*/ 2 w 102"/>
              <a:gd name="T81" fmla="*/ 41 h 74"/>
              <a:gd name="T82" fmla="*/ 22 w 102"/>
              <a:gd name="T83" fmla="*/ 10 h 74"/>
              <a:gd name="T84" fmla="*/ 17 w 102"/>
              <a:gd name="T85" fmla="*/ 28 h 74"/>
              <a:gd name="T86" fmla="*/ 22 w 102"/>
              <a:gd name="T87" fmla="*/ 49 h 74"/>
              <a:gd name="T88" fmla="*/ 2 w 102"/>
              <a:gd name="T89" fmla="*/ 4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2" h="74">
                <a:moveTo>
                  <a:pt x="79" y="7"/>
                </a:moveTo>
                <a:cubicBezTo>
                  <a:pt x="102" y="22"/>
                  <a:pt x="98" y="62"/>
                  <a:pt x="84" y="71"/>
                </a:cubicBezTo>
                <a:cubicBezTo>
                  <a:pt x="82" y="72"/>
                  <a:pt x="80" y="73"/>
                  <a:pt x="79" y="73"/>
                </a:cubicBezTo>
                <a:cubicBezTo>
                  <a:pt x="79" y="69"/>
                  <a:pt x="79" y="69"/>
                  <a:pt x="79" y="69"/>
                </a:cubicBezTo>
                <a:cubicBezTo>
                  <a:pt x="79" y="69"/>
                  <a:pt x="79" y="69"/>
                  <a:pt x="79" y="69"/>
                </a:cubicBezTo>
                <a:cubicBezTo>
                  <a:pt x="79" y="69"/>
                  <a:pt x="79" y="69"/>
                  <a:pt x="79" y="69"/>
                </a:cubicBezTo>
                <a:cubicBezTo>
                  <a:pt x="83" y="67"/>
                  <a:pt x="85" y="61"/>
                  <a:pt x="83" y="57"/>
                </a:cubicBezTo>
                <a:cubicBezTo>
                  <a:pt x="82" y="55"/>
                  <a:pt x="80" y="53"/>
                  <a:pt x="79" y="52"/>
                </a:cubicBezTo>
                <a:cubicBezTo>
                  <a:pt x="79" y="49"/>
                  <a:pt x="79" y="49"/>
                  <a:pt x="79" y="49"/>
                </a:cubicBezTo>
                <a:cubicBezTo>
                  <a:pt x="81" y="50"/>
                  <a:pt x="84" y="50"/>
                  <a:pt x="86" y="49"/>
                </a:cubicBezTo>
                <a:cubicBezTo>
                  <a:pt x="86" y="49"/>
                  <a:pt x="86" y="49"/>
                  <a:pt x="86" y="49"/>
                </a:cubicBezTo>
                <a:cubicBezTo>
                  <a:pt x="90" y="47"/>
                  <a:pt x="92" y="42"/>
                  <a:pt x="90" y="38"/>
                </a:cubicBezTo>
                <a:cubicBezTo>
                  <a:pt x="88" y="34"/>
                  <a:pt x="83" y="32"/>
                  <a:pt x="79" y="34"/>
                </a:cubicBezTo>
                <a:cubicBezTo>
                  <a:pt x="79" y="31"/>
                  <a:pt x="79" y="31"/>
                  <a:pt x="79" y="31"/>
                </a:cubicBezTo>
                <a:cubicBezTo>
                  <a:pt x="80" y="31"/>
                  <a:pt x="81" y="30"/>
                  <a:pt x="82" y="30"/>
                </a:cubicBezTo>
                <a:cubicBezTo>
                  <a:pt x="86" y="28"/>
                  <a:pt x="87" y="24"/>
                  <a:pt x="85" y="20"/>
                </a:cubicBezTo>
                <a:cubicBezTo>
                  <a:pt x="85" y="20"/>
                  <a:pt x="85" y="20"/>
                  <a:pt x="85" y="20"/>
                </a:cubicBezTo>
                <a:cubicBezTo>
                  <a:pt x="84" y="17"/>
                  <a:pt x="81" y="16"/>
                  <a:pt x="79" y="16"/>
                </a:cubicBezTo>
                <a:lnTo>
                  <a:pt x="79" y="7"/>
                </a:lnTo>
                <a:close/>
                <a:moveTo>
                  <a:pt x="72" y="3"/>
                </a:moveTo>
                <a:cubicBezTo>
                  <a:pt x="74" y="4"/>
                  <a:pt x="76" y="5"/>
                  <a:pt x="79" y="7"/>
                </a:cubicBezTo>
                <a:cubicBezTo>
                  <a:pt x="79" y="16"/>
                  <a:pt x="79" y="16"/>
                  <a:pt x="79" y="16"/>
                </a:cubicBezTo>
                <a:cubicBezTo>
                  <a:pt x="77" y="16"/>
                  <a:pt x="76" y="16"/>
                  <a:pt x="75" y="17"/>
                </a:cubicBezTo>
                <a:cubicBezTo>
                  <a:pt x="73" y="17"/>
                  <a:pt x="72" y="19"/>
                  <a:pt x="72" y="21"/>
                </a:cubicBezTo>
                <a:cubicBezTo>
                  <a:pt x="72" y="13"/>
                  <a:pt x="72" y="13"/>
                  <a:pt x="72" y="13"/>
                </a:cubicBezTo>
                <a:cubicBezTo>
                  <a:pt x="72" y="12"/>
                  <a:pt x="72" y="10"/>
                  <a:pt x="72" y="9"/>
                </a:cubicBezTo>
                <a:cubicBezTo>
                  <a:pt x="72" y="3"/>
                  <a:pt x="72" y="3"/>
                  <a:pt x="72" y="3"/>
                </a:cubicBezTo>
                <a:close/>
                <a:moveTo>
                  <a:pt x="79" y="73"/>
                </a:moveTo>
                <a:cubicBezTo>
                  <a:pt x="76" y="74"/>
                  <a:pt x="74" y="74"/>
                  <a:pt x="72" y="74"/>
                </a:cubicBezTo>
                <a:cubicBezTo>
                  <a:pt x="72" y="69"/>
                  <a:pt x="72" y="69"/>
                  <a:pt x="72" y="69"/>
                </a:cubicBezTo>
                <a:cubicBezTo>
                  <a:pt x="74" y="70"/>
                  <a:pt x="76" y="70"/>
                  <a:pt x="79" y="69"/>
                </a:cubicBezTo>
                <a:cubicBezTo>
                  <a:pt x="79" y="73"/>
                  <a:pt x="79" y="73"/>
                  <a:pt x="79" y="73"/>
                </a:cubicBezTo>
                <a:close/>
                <a:moveTo>
                  <a:pt x="79" y="31"/>
                </a:moveTo>
                <a:cubicBezTo>
                  <a:pt x="79" y="34"/>
                  <a:pt x="79" y="34"/>
                  <a:pt x="79" y="34"/>
                </a:cubicBezTo>
                <a:cubicBezTo>
                  <a:pt x="78" y="34"/>
                  <a:pt x="78" y="34"/>
                  <a:pt x="78" y="34"/>
                </a:cubicBezTo>
                <a:cubicBezTo>
                  <a:pt x="74" y="36"/>
                  <a:pt x="73" y="41"/>
                  <a:pt x="75" y="45"/>
                </a:cubicBezTo>
                <a:cubicBezTo>
                  <a:pt x="76" y="47"/>
                  <a:pt x="77" y="48"/>
                  <a:pt x="79" y="49"/>
                </a:cubicBezTo>
                <a:cubicBezTo>
                  <a:pt x="79" y="52"/>
                  <a:pt x="79" y="52"/>
                  <a:pt x="79" y="52"/>
                </a:cubicBezTo>
                <a:cubicBezTo>
                  <a:pt x="76" y="51"/>
                  <a:pt x="74" y="51"/>
                  <a:pt x="72" y="52"/>
                </a:cubicBezTo>
                <a:cubicBezTo>
                  <a:pt x="72" y="25"/>
                  <a:pt x="72" y="25"/>
                  <a:pt x="72" y="25"/>
                </a:cubicBezTo>
                <a:cubicBezTo>
                  <a:pt x="72" y="26"/>
                  <a:pt x="72" y="26"/>
                  <a:pt x="72" y="26"/>
                </a:cubicBezTo>
                <a:cubicBezTo>
                  <a:pt x="73" y="29"/>
                  <a:pt x="76" y="31"/>
                  <a:pt x="79" y="31"/>
                </a:cubicBezTo>
                <a:close/>
                <a:moveTo>
                  <a:pt x="66" y="2"/>
                </a:moveTo>
                <a:cubicBezTo>
                  <a:pt x="68" y="2"/>
                  <a:pt x="70" y="3"/>
                  <a:pt x="72" y="3"/>
                </a:cubicBezTo>
                <a:cubicBezTo>
                  <a:pt x="72" y="9"/>
                  <a:pt x="72" y="9"/>
                  <a:pt x="72" y="9"/>
                </a:cubicBezTo>
                <a:cubicBezTo>
                  <a:pt x="71" y="9"/>
                  <a:pt x="71" y="9"/>
                  <a:pt x="71" y="8"/>
                </a:cubicBezTo>
                <a:cubicBezTo>
                  <a:pt x="70" y="7"/>
                  <a:pt x="68" y="5"/>
                  <a:pt x="66" y="5"/>
                </a:cubicBezTo>
                <a:cubicBezTo>
                  <a:pt x="66" y="2"/>
                  <a:pt x="66" y="2"/>
                  <a:pt x="66" y="2"/>
                </a:cubicBezTo>
                <a:close/>
                <a:moveTo>
                  <a:pt x="72" y="74"/>
                </a:moveTo>
                <a:cubicBezTo>
                  <a:pt x="70" y="74"/>
                  <a:pt x="68" y="73"/>
                  <a:pt x="66" y="73"/>
                </a:cubicBezTo>
                <a:cubicBezTo>
                  <a:pt x="66" y="64"/>
                  <a:pt x="66" y="64"/>
                  <a:pt x="66" y="64"/>
                </a:cubicBezTo>
                <a:cubicBezTo>
                  <a:pt x="66" y="64"/>
                  <a:pt x="67" y="64"/>
                  <a:pt x="67" y="65"/>
                </a:cubicBezTo>
                <a:cubicBezTo>
                  <a:pt x="68" y="67"/>
                  <a:pt x="70" y="68"/>
                  <a:pt x="72" y="69"/>
                </a:cubicBezTo>
                <a:cubicBezTo>
                  <a:pt x="72" y="74"/>
                  <a:pt x="72" y="74"/>
                  <a:pt x="72" y="74"/>
                </a:cubicBezTo>
                <a:close/>
                <a:moveTo>
                  <a:pt x="72" y="13"/>
                </a:moveTo>
                <a:cubicBezTo>
                  <a:pt x="72" y="21"/>
                  <a:pt x="72" y="21"/>
                  <a:pt x="72" y="21"/>
                </a:cubicBezTo>
                <a:cubicBezTo>
                  <a:pt x="71" y="22"/>
                  <a:pt x="71" y="24"/>
                  <a:pt x="72" y="25"/>
                </a:cubicBezTo>
                <a:cubicBezTo>
                  <a:pt x="72" y="52"/>
                  <a:pt x="72" y="52"/>
                  <a:pt x="72" y="52"/>
                </a:cubicBezTo>
                <a:cubicBezTo>
                  <a:pt x="71" y="52"/>
                  <a:pt x="71" y="52"/>
                  <a:pt x="71" y="52"/>
                </a:cubicBezTo>
                <a:cubicBezTo>
                  <a:pt x="69" y="54"/>
                  <a:pt x="67" y="55"/>
                  <a:pt x="66" y="57"/>
                </a:cubicBezTo>
                <a:cubicBezTo>
                  <a:pt x="66" y="16"/>
                  <a:pt x="66" y="16"/>
                  <a:pt x="66" y="16"/>
                </a:cubicBezTo>
                <a:cubicBezTo>
                  <a:pt x="67" y="16"/>
                  <a:pt x="68" y="16"/>
                  <a:pt x="69" y="16"/>
                </a:cubicBezTo>
                <a:cubicBezTo>
                  <a:pt x="70" y="15"/>
                  <a:pt x="71" y="14"/>
                  <a:pt x="72" y="13"/>
                </a:cubicBezTo>
                <a:close/>
                <a:moveTo>
                  <a:pt x="22" y="10"/>
                </a:moveTo>
                <a:cubicBezTo>
                  <a:pt x="41" y="2"/>
                  <a:pt x="55" y="0"/>
                  <a:pt x="66" y="2"/>
                </a:cubicBezTo>
                <a:cubicBezTo>
                  <a:pt x="66" y="5"/>
                  <a:pt x="66" y="5"/>
                  <a:pt x="66" y="5"/>
                </a:cubicBezTo>
                <a:cubicBezTo>
                  <a:pt x="65" y="5"/>
                  <a:pt x="65" y="6"/>
                  <a:pt x="64" y="6"/>
                </a:cubicBezTo>
                <a:cubicBezTo>
                  <a:pt x="64" y="6"/>
                  <a:pt x="64" y="6"/>
                  <a:pt x="64" y="6"/>
                </a:cubicBezTo>
                <a:cubicBezTo>
                  <a:pt x="61" y="7"/>
                  <a:pt x="60" y="11"/>
                  <a:pt x="61" y="13"/>
                </a:cubicBezTo>
                <a:cubicBezTo>
                  <a:pt x="62" y="15"/>
                  <a:pt x="64" y="16"/>
                  <a:pt x="66" y="16"/>
                </a:cubicBezTo>
                <a:cubicBezTo>
                  <a:pt x="66" y="57"/>
                  <a:pt x="66" y="57"/>
                  <a:pt x="66" y="57"/>
                </a:cubicBezTo>
                <a:cubicBezTo>
                  <a:pt x="66" y="59"/>
                  <a:pt x="66" y="62"/>
                  <a:pt x="66" y="64"/>
                </a:cubicBezTo>
                <a:cubicBezTo>
                  <a:pt x="66" y="73"/>
                  <a:pt x="66" y="73"/>
                  <a:pt x="66" y="73"/>
                </a:cubicBezTo>
                <a:cubicBezTo>
                  <a:pt x="56" y="68"/>
                  <a:pt x="48" y="56"/>
                  <a:pt x="37" y="57"/>
                </a:cubicBezTo>
                <a:cubicBezTo>
                  <a:pt x="32" y="57"/>
                  <a:pt x="27" y="58"/>
                  <a:pt x="22" y="57"/>
                </a:cubicBezTo>
                <a:cubicBezTo>
                  <a:pt x="22" y="49"/>
                  <a:pt x="22" y="49"/>
                  <a:pt x="22" y="49"/>
                </a:cubicBezTo>
                <a:cubicBezTo>
                  <a:pt x="24" y="49"/>
                  <a:pt x="25" y="48"/>
                  <a:pt x="27" y="48"/>
                </a:cubicBezTo>
                <a:cubicBezTo>
                  <a:pt x="27" y="48"/>
                  <a:pt x="27" y="48"/>
                  <a:pt x="27" y="48"/>
                </a:cubicBezTo>
                <a:cubicBezTo>
                  <a:pt x="32" y="45"/>
                  <a:pt x="34" y="38"/>
                  <a:pt x="32" y="33"/>
                </a:cubicBezTo>
                <a:cubicBezTo>
                  <a:pt x="30" y="29"/>
                  <a:pt x="26" y="27"/>
                  <a:pt x="22" y="27"/>
                </a:cubicBezTo>
                <a:lnTo>
                  <a:pt x="22" y="10"/>
                </a:lnTo>
                <a:close/>
                <a:moveTo>
                  <a:pt x="2" y="41"/>
                </a:moveTo>
                <a:cubicBezTo>
                  <a:pt x="0" y="23"/>
                  <a:pt x="18" y="12"/>
                  <a:pt x="18" y="12"/>
                </a:cubicBezTo>
                <a:cubicBezTo>
                  <a:pt x="20" y="12"/>
                  <a:pt x="21" y="11"/>
                  <a:pt x="22" y="10"/>
                </a:cubicBezTo>
                <a:cubicBezTo>
                  <a:pt x="22" y="27"/>
                  <a:pt x="22" y="27"/>
                  <a:pt x="22" y="27"/>
                </a:cubicBezTo>
                <a:cubicBezTo>
                  <a:pt x="20" y="27"/>
                  <a:pt x="19" y="27"/>
                  <a:pt x="17" y="28"/>
                </a:cubicBezTo>
                <a:cubicBezTo>
                  <a:pt x="12" y="31"/>
                  <a:pt x="9" y="37"/>
                  <a:pt x="12" y="43"/>
                </a:cubicBezTo>
                <a:cubicBezTo>
                  <a:pt x="14" y="47"/>
                  <a:pt x="18" y="49"/>
                  <a:pt x="22" y="49"/>
                </a:cubicBezTo>
                <a:cubicBezTo>
                  <a:pt x="22" y="57"/>
                  <a:pt x="22" y="57"/>
                  <a:pt x="22" y="57"/>
                </a:cubicBezTo>
                <a:cubicBezTo>
                  <a:pt x="12" y="57"/>
                  <a:pt x="4" y="53"/>
                  <a:pt x="2" y="4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4" name="Freeform 90"/>
          <p:cNvSpPr/>
          <p:nvPr/>
        </p:nvSpPr>
        <p:spPr bwMode="auto">
          <a:xfrm>
            <a:off x="7540542" y="3023578"/>
            <a:ext cx="206294" cy="266700"/>
          </a:xfrm>
          <a:custGeom>
            <a:avLst/>
            <a:gdLst>
              <a:gd name="T0" fmla="*/ 0 w 95"/>
              <a:gd name="T1" fmla="*/ 21 h 123"/>
              <a:gd name="T2" fmla="*/ 4 w 95"/>
              <a:gd name="T3" fmla="*/ 19 h 123"/>
              <a:gd name="T4" fmla="*/ 59 w 95"/>
              <a:gd name="T5" fmla="*/ 109 h 123"/>
              <a:gd name="T6" fmla="*/ 79 w 95"/>
              <a:gd name="T7" fmla="*/ 112 h 123"/>
              <a:gd name="T8" fmla="*/ 85 w 95"/>
              <a:gd name="T9" fmla="*/ 93 h 123"/>
              <a:gd name="T10" fmla="*/ 29 w 95"/>
              <a:gd name="T11" fmla="*/ 3 h 123"/>
              <a:gd name="T12" fmla="*/ 34 w 95"/>
              <a:gd name="T13" fmla="*/ 0 h 123"/>
              <a:gd name="T14" fmla="*/ 90 w 95"/>
              <a:gd name="T15" fmla="*/ 91 h 123"/>
              <a:gd name="T16" fmla="*/ 82 w 95"/>
              <a:gd name="T17" fmla="*/ 117 h 123"/>
              <a:gd name="T18" fmla="*/ 56 w 95"/>
              <a:gd name="T19" fmla="*/ 112 h 123"/>
              <a:gd name="T20" fmla="*/ 0 w 95"/>
              <a:gd name="T21" fmla="*/ 2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123">
                <a:moveTo>
                  <a:pt x="0" y="21"/>
                </a:moveTo>
                <a:cubicBezTo>
                  <a:pt x="4" y="19"/>
                  <a:pt x="4" y="19"/>
                  <a:pt x="4" y="19"/>
                </a:cubicBezTo>
                <a:cubicBezTo>
                  <a:pt x="59" y="109"/>
                  <a:pt x="59" y="109"/>
                  <a:pt x="59" y="109"/>
                </a:cubicBezTo>
                <a:cubicBezTo>
                  <a:pt x="63" y="115"/>
                  <a:pt x="72" y="117"/>
                  <a:pt x="79" y="112"/>
                </a:cubicBezTo>
                <a:cubicBezTo>
                  <a:pt x="87" y="108"/>
                  <a:pt x="89" y="99"/>
                  <a:pt x="85" y="93"/>
                </a:cubicBezTo>
                <a:cubicBezTo>
                  <a:pt x="29" y="3"/>
                  <a:pt x="29" y="3"/>
                  <a:pt x="29" y="3"/>
                </a:cubicBezTo>
                <a:cubicBezTo>
                  <a:pt x="34" y="0"/>
                  <a:pt x="34" y="0"/>
                  <a:pt x="34" y="0"/>
                </a:cubicBezTo>
                <a:cubicBezTo>
                  <a:pt x="90" y="91"/>
                  <a:pt x="90" y="91"/>
                  <a:pt x="90" y="91"/>
                </a:cubicBezTo>
                <a:cubicBezTo>
                  <a:pt x="95" y="100"/>
                  <a:pt x="92" y="111"/>
                  <a:pt x="82" y="117"/>
                </a:cubicBezTo>
                <a:cubicBezTo>
                  <a:pt x="73" y="123"/>
                  <a:pt x="61" y="121"/>
                  <a:pt x="56" y="112"/>
                </a:cubicBezTo>
                <a:lnTo>
                  <a:pt x="0" y="2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5" name="Freeform 91"/>
          <p:cNvSpPr/>
          <p:nvPr/>
        </p:nvSpPr>
        <p:spPr bwMode="auto">
          <a:xfrm>
            <a:off x="7527847" y="3014053"/>
            <a:ext cx="101560" cy="69850"/>
          </a:xfrm>
          <a:custGeom>
            <a:avLst/>
            <a:gdLst>
              <a:gd name="T0" fmla="*/ 1 w 47"/>
              <a:gd name="T1" fmla="*/ 30 h 32"/>
              <a:gd name="T2" fmla="*/ 6 w 47"/>
              <a:gd name="T3" fmla="*/ 31 h 32"/>
              <a:gd name="T4" fmla="*/ 44 w 47"/>
              <a:gd name="T5" fmla="*/ 7 h 32"/>
              <a:gd name="T6" fmla="*/ 46 w 47"/>
              <a:gd name="T7" fmla="*/ 2 h 32"/>
              <a:gd name="T8" fmla="*/ 41 w 47"/>
              <a:gd name="T9" fmla="*/ 1 h 32"/>
              <a:gd name="T10" fmla="*/ 2 w 47"/>
              <a:gd name="T11" fmla="*/ 25 h 32"/>
              <a:gd name="T12" fmla="*/ 1 w 47"/>
              <a:gd name="T13" fmla="*/ 30 h 32"/>
            </a:gdLst>
            <a:ahLst/>
            <a:cxnLst>
              <a:cxn ang="0">
                <a:pos x="T0" y="T1"/>
              </a:cxn>
              <a:cxn ang="0">
                <a:pos x="T2" y="T3"/>
              </a:cxn>
              <a:cxn ang="0">
                <a:pos x="T4" y="T5"/>
              </a:cxn>
              <a:cxn ang="0">
                <a:pos x="T6" y="T7"/>
              </a:cxn>
              <a:cxn ang="0">
                <a:pos x="T8" y="T9"/>
              </a:cxn>
              <a:cxn ang="0">
                <a:pos x="T10" y="T11"/>
              </a:cxn>
              <a:cxn ang="0">
                <a:pos x="T12" y="T13"/>
              </a:cxn>
            </a:cxnLst>
            <a:rect l="0" t="0" r="r" b="b"/>
            <a:pathLst>
              <a:path w="47" h="32">
                <a:moveTo>
                  <a:pt x="1" y="30"/>
                </a:moveTo>
                <a:cubicBezTo>
                  <a:pt x="2" y="32"/>
                  <a:pt x="4" y="32"/>
                  <a:pt x="6" y="31"/>
                </a:cubicBezTo>
                <a:cubicBezTo>
                  <a:pt x="44" y="7"/>
                  <a:pt x="44" y="7"/>
                  <a:pt x="44" y="7"/>
                </a:cubicBezTo>
                <a:cubicBezTo>
                  <a:pt x="46" y="6"/>
                  <a:pt x="47" y="4"/>
                  <a:pt x="46" y="2"/>
                </a:cubicBezTo>
                <a:cubicBezTo>
                  <a:pt x="45" y="1"/>
                  <a:pt x="42" y="0"/>
                  <a:pt x="41" y="1"/>
                </a:cubicBezTo>
                <a:cubicBezTo>
                  <a:pt x="2" y="25"/>
                  <a:pt x="2" y="25"/>
                  <a:pt x="2" y="25"/>
                </a:cubicBezTo>
                <a:cubicBezTo>
                  <a:pt x="1" y="26"/>
                  <a:pt x="0" y="28"/>
                  <a:pt x="1" y="3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6" name="Freeform 92"/>
          <p:cNvSpPr/>
          <p:nvPr/>
        </p:nvSpPr>
        <p:spPr bwMode="auto">
          <a:xfrm>
            <a:off x="7569106" y="3071203"/>
            <a:ext cx="139645" cy="192088"/>
          </a:xfrm>
          <a:custGeom>
            <a:avLst/>
            <a:gdLst>
              <a:gd name="T0" fmla="*/ 0 w 64"/>
              <a:gd name="T1" fmla="*/ 3 h 88"/>
              <a:gd name="T2" fmla="*/ 5 w 64"/>
              <a:gd name="T3" fmla="*/ 0 h 88"/>
              <a:gd name="T4" fmla="*/ 55 w 64"/>
              <a:gd name="T5" fmla="*/ 80 h 88"/>
              <a:gd name="T6" fmla="*/ 64 w 64"/>
              <a:gd name="T7" fmla="*/ 85 h 88"/>
              <a:gd name="T8" fmla="*/ 63 w 64"/>
              <a:gd name="T9" fmla="*/ 85 h 88"/>
              <a:gd name="T10" fmla="*/ 49 w 64"/>
              <a:gd name="T11" fmla="*/ 82 h 88"/>
              <a:gd name="T12" fmla="*/ 0 w 64"/>
              <a:gd name="T13" fmla="*/ 3 h 88"/>
            </a:gdLst>
            <a:ahLst/>
            <a:cxnLst>
              <a:cxn ang="0">
                <a:pos x="T0" y="T1"/>
              </a:cxn>
              <a:cxn ang="0">
                <a:pos x="T2" y="T3"/>
              </a:cxn>
              <a:cxn ang="0">
                <a:pos x="T4" y="T5"/>
              </a:cxn>
              <a:cxn ang="0">
                <a:pos x="T6" y="T7"/>
              </a:cxn>
              <a:cxn ang="0">
                <a:pos x="T8" y="T9"/>
              </a:cxn>
              <a:cxn ang="0">
                <a:pos x="T10" y="T11"/>
              </a:cxn>
              <a:cxn ang="0">
                <a:pos x="T12" y="T13"/>
              </a:cxn>
            </a:cxnLst>
            <a:rect l="0" t="0" r="r" b="b"/>
            <a:pathLst>
              <a:path w="64" h="88">
                <a:moveTo>
                  <a:pt x="0" y="3"/>
                </a:moveTo>
                <a:cubicBezTo>
                  <a:pt x="5" y="0"/>
                  <a:pt x="5" y="0"/>
                  <a:pt x="5" y="0"/>
                </a:cubicBezTo>
                <a:cubicBezTo>
                  <a:pt x="55" y="80"/>
                  <a:pt x="55" y="80"/>
                  <a:pt x="55" y="80"/>
                </a:cubicBezTo>
                <a:cubicBezTo>
                  <a:pt x="57" y="83"/>
                  <a:pt x="60" y="85"/>
                  <a:pt x="64" y="85"/>
                </a:cubicBezTo>
                <a:cubicBezTo>
                  <a:pt x="63" y="85"/>
                  <a:pt x="63" y="85"/>
                  <a:pt x="63" y="85"/>
                </a:cubicBezTo>
                <a:cubicBezTo>
                  <a:pt x="58" y="88"/>
                  <a:pt x="52" y="87"/>
                  <a:pt x="49" y="82"/>
                </a:cubicBezTo>
                <a:lnTo>
                  <a:pt x="0" y="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7" name="Freeform 93"/>
          <p:cNvSpPr>
            <a:spLocks noEditPoints="1"/>
          </p:cNvSpPr>
          <p:nvPr/>
        </p:nvSpPr>
        <p:spPr bwMode="auto">
          <a:xfrm>
            <a:off x="8900498" y="4674579"/>
            <a:ext cx="218989" cy="239713"/>
          </a:xfrm>
          <a:custGeom>
            <a:avLst/>
            <a:gdLst>
              <a:gd name="T0" fmla="*/ 78 w 101"/>
              <a:gd name="T1" fmla="*/ 51 h 110"/>
              <a:gd name="T2" fmla="*/ 75 w 101"/>
              <a:gd name="T3" fmla="*/ 63 h 110"/>
              <a:gd name="T4" fmla="*/ 75 w 101"/>
              <a:gd name="T5" fmla="*/ 73 h 110"/>
              <a:gd name="T6" fmla="*/ 77 w 101"/>
              <a:gd name="T7" fmla="*/ 74 h 110"/>
              <a:gd name="T8" fmla="*/ 86 w 101"/>
              <a:gd name="T9" fmla="*/ 86 h 110"/>
              <a:gd name="T10" fmla="*/ 75 w 101"/>
              <a:gd name="T11" fmla="*/ 80 h 110"/>
              <a:gd name="T12" fmla="*/ 75 w 101"/>
              <a:gd name="T13" fmla="*/ 22 h 110"/>
              <a:gd name="T14" fmla="*/ 86 w 101"/>
              <a:gd name="T15" fmla="*/ 15 h 110"/>
              <a:gd name="T16" fmla="*/ 77 w 101"/>
              <a:gd name="T17" fmla="*/ 28 h 110"/>
              <a:gd name="T18" fmla="*/ 75 w 101"/>
              <a:gd name="T19" fmla="*/ 28 h 110"/>
              <a:gd name="T20" fmla="*/ 98 w 101"/>
              <a:gd name="T21" fmla="*/ 48 h 110"/>
              <a:gd name="T22" fmla="*/ 83 w 101"/>
              <a:gd name="T23" fmla="*/ 51 h 110"/>
              <a:gd name="T24" fmla="*/ 98 w 101"/>
              <a:gd name="T25" fmla="*/ 53 h 110"/>
              <a:gd name="T26" fmla="*/ 98 w 101"/>
              <a:gd name="T27" fmla="*/ 48 h 110"/>
              <a:gd name="T28" fmla="*/ 52 w 101"/>
              <a:gd name="T29" fmla="*/ 110 h 110"/>
              <a:gd name="T30" fmla="*/ 66 w 101"/>
              <a:gd name="T31" fmla="*/ 74 h 110"/>
              <a:gd name="T32" fmla="*/ 75 w 101"/>
              <a:gd name="T33" fmla="*/ 39 h 110"/>
              <a:gd name="T34" fmla="*/ 50 w 101"/>
              <a:gd name="T35" fmla="*/ 29 h 110"/>
              <a:gd name="T36" fmla="*/ 72 w 101"/>
              <a:gd name="T37" fmla="*/ 51 h 110"/>
              <a:gd name="T38" fmla="*/ 62 w 101"/>
              <a:gd name="T39" fmla="*/ 70 h 110"/>
              <a:gd name="T40" fmla="*/ 60 w 101"/>
              <a:gd name="T41" fmla="*/ 85 h 110"/>
              <a:gd name="T42" fmla="*/ 50 w 101"/>
              <a:gd name="T43" fmla="*/ 110 h 110"/>
              <a:gd name="T44" fmla="*/ 75 w 101"/>
              <a:gd name="T45" fmla="*/ 28 h 110"/>
              <a:gd name="T46" fmla="*/ 74 w 101"/>
              <a:gd name="T47" fmla="*/ 24 h 110"/>
              <a:gd name="T48" fmla="*/ 75 w 101"/>
              <a:gd name="T49" fmla="*/ 73 h 110"/>
              <a:gd name="T50" fmla="*/ 74 w 101"/>
              <a:gd name="T51" fmla="*/ 78 h 110"/>
              <a:gd name="T52" fmla="*/ 75 w 101"/>
              <a:gd name="T53" fmla="*/ 73 h 110"/>
              <a:gd name="T54" fmla="*/ 50 w 101"/>
              <a:gd name="T55" fmla="*/ 0 h 110"/>
              <a:gd name="T56" fmla="*/ 53 w 101"/>
              <a:gd name="T57" fmla="*/ 3 h 110"/>
              <a:gd name="T58" fmla="*/ 50 w 101"/>
              <a:gd name="T59" fmla="*/ 18 h 110"/>
              <a:gd name="T60" fmla="*/ 50 w 101"/>
              <a:gd name="T61" fmla="*/ 23 h 110"/>
              <a:gd name="T62" fmla="*/ 25 w 101"/>
              <a:gd name="T63" fmla="*/ 63 h 110"/>
              <a:gd name="T64" fmla="*/ 35 w 101"/>
              <a:gd name="T65" fmla="*/ 96 h 110"/>
              <a:gd name="T66" fmla="*/ 50 w 101"/>
              <a:gd name="T67" fmla="*/ 110 h 110"/>
              <a:gd name="T68" fmla="*/ 41 w 101"/>
              <a:gd name="T69" fmla="*/ 85 h 110"/>
              <a:gd name="T70" fmla="*/ 39 w 101"/>
              <a:gd name="T71" fmla="*/ 70 h 110"/>
              <a:gd name="T72" fmla="*/ 34 w 101"/>
              <a:gd name="T73" fmla="*/ 35 h 110"/>
              <a:gd name="T74" fmla="*/ 50 w 101"/>
              <a:gd name="T75" fmla="*/ 23 h 110"/>
              <a:gd name="T76" fmla="*/ 50 w 101"/>
              <a:gd name="T77" fmla="*/ 18 h 110"/>
              <a:gd name="T78" fmla="*/ 48 w 101"/>
              <a:gd name="T79" fmla="*/ 3 h 110"/>
              <a:gd name="T80" fmla="*/ 25 w 101"/>
              <a:gd name="T81" fmla="*/ 80 h 110"/>
              <a:gd name="T82" fmla="*/ 27 w 101"/>
              <a:gd name="T83" fmla="*/ 74 h 110"/>
              <a:gd name="T84" fmla="*/ 25 w 101"/>
              <a:gd name="T85" fmla="*/ 80 h 110"/>
              <a:gd name="T86" fmla="*/ 25 w 101"/>
              <a:gd name="T87" fmla="*/ 22 h 110"/>
              <a:gd name="T88" fmla="*/ 27 w 101"/>
              <a:gd name="T89" fmla="*/ 28 h 110"/>
              <a:gd name="T90" fmla="*/ 25 w 101"/>
              <a:gd name="T91" fmla="*/ 39 h 110"/>
              <a:gd name="T92" fmla="*/ 25 w 101"/>
              <a:gd name="T93" fmla="*/ 63 h 110"/>
              <a:gd name="T94" fmla="*/ 25 w 101"/>
              <a:gd name="T95" fmla="*/ 22 h 110"/>
              <a:gd name="T96" fmla="*/ 23 w 101"/>
              <a:gd name="T97" fmla="*/ 28 h 110"/>
              <a:gd name="T98" fmla="*/ 15 w 101"/>
              <a:gd name="T99" fmla="*/ 19 h 110"/>
              <a:gd name="T100" fmla="*/ 18 w 101"/>
              <a:gd name="T101" fmla="*/ 15 h 110"/>
              <a:gd name="T102" fmla="*/ 25 w 101"/>
              <a:gd name="T103" fmla="*/ 73 h 110"/>
              <a:gd name="T104" fmla="*/ 18 w 101"/>
              <a:gd name="T105" fmla="*/ 86 h 110"/>
              <a:gd name="T106" fmla="*/ 15 w 101"/>
              <a:gd name="T107" fmla="*/ 83 h 110"/>
              <a:gd name="T108" fmla="*/ 23 w 101"/>
              <a:gd name="T109" fmla="*/ 74 h 110"/>
              <a:gd name="T110" fmla="*/ 18 w 101"/>
              <a:gd name="T111" fmla="*/ 51 h 110"/>
              <a:gd name="T112" fmla="*/ 15 w 101"/>
              <a:gd name="T113" fmla="*/ 48 h 110"/>
              <a:gd name="T114" fmla="*/ 0 w 101"/>
              <a:gd name="T115" fmla="*/ 51 h 110"/>
              <a:gd name="T116" fmla="*/ 15 w 101"/>
              <a:gd name="T117" fmla="*/ 5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10">
                <a:moveTo>
                  <a:pt x="75" y="63"/>
                </a:moveTo>
                <a:cubicBezTo>
                  <a:pt x="77" y="59"/>
                  <a:pt x="78" y="55"/>
                  <a:pt x="78" y="51"/>
                </a:cubicBezTo>
                <a:cubicBezTo>
                  <a:pt x="78" y="47"/>
                  <a:pt x="77" y="43"/>
                  <a:pt x="75" y="39"/>
                </a:cubicBezTo>
                <a:cubicBezTo>
                  <a:pt x="75" y="63"/>
                  <a:pt x="75" y="63"/>
                  <a:pt x="75" y="63"/>
                </a:cubicBezTo>
                <a:close/>
                <a:moveTo>
                  <a:pt x="75" y="80"/>
                </a:moveTo>
                <a:cubicBezTo>
                  <a:pt x="75" y="73"/>
                  <a:pt x="75" y="73"/>
                  <a:pt x="75" y="73"/>
                </a:cubicBezTo>
                <a:cubicBezTo>
                  <a:pt x="76" y="73"/>
                  <a:pt x="77" y="73"/>
                  <a:pt x="77" y="74"/>
                </a:cubicBezTo>
                <a:cubicBezTo>
                  <a:pt x="77" y="74"/>
                  <a:pt x="77" y="74"/>
                  <a:pt x="77" y="74"/>
                </a:cubicBezTo>
                <a:cubicBezTo>
                  <a:pt x="86" y="83"/>
                  <a:pt x="86" y="83"/>
                  <a:pt x="86" y="83"/>
                </a:cubicBezTo>
                <a:cubicBezTo>
                  <a:pt x="87" y="84"/>
                  <a:pt x="87" y="85"/>
                  <a:pt x="86" y="86"/>
                </a:cubicBezTo>
                <a:cubicBezTo>
                  <a:pt x="85" y="87"/>
                  <a:pt x="83" y="87"/>
                  <a:pt x="82" y="86"/>
                </a:cubicBezTo>
                <a:cubicBezTo>
                  <a:pt x="75" y="80"/>
                  <a:pt x="75" y="80"/>
                  <a:pt x="75" y="80"/>
                </a:cubicBezTo>
                <a:close/>
                <a:moveTo>
                  <a:pt x="75" y="28"/>
                </a:moveTo>
                <a:cubicBezTo>
                  <a:pt x="75" y="22"/>
                  <a:pt x="75" y="22"/>
                  <a:pt x="75" y="22"/>
                </a:cubicBezTo>
                <a:cubicBezTo>
                  <a:pt x="82" y="15"/>
                  <a:pt x="82" y="15"/>
                  <a:pt x="82" y="15"/>
                </a:cubicBezTo>
                <a:cubicBezTo>
                  <a:pt x="83" y="14"/>
                  <a:pt x="85" y="14"/>
                  <a:pt x="86" y="15"/>
                </a:cubicBezTo>
                <a:cubicBezTo>
                  <a:pt x="87" y="16"/>
                  <a:pt x="87" y="18"/>
                  <a:pt x="86" y="19"/>
                </a:cubicBezTo>
                <a:cubicBezTo>
                  <a:pt x="77" y="28"/>
                  <a:pt x="77" y="28"/>
                  <a:pt x="77" y="28"/>
                </a:cubicBezTo>
                <a:cubicBezTo>
                  <a:pt x="77" y="28"/>
                  <a:pt x="77" y="28"/>
                  <a:pt x="77" y="28"/>
                </a:cubicBezTo>
                <a:cubicBezTo>
                  <a:pt x="77" y="28"/>
                  <a:pt x="76" y="28"/>
                  <a:pt x="75" y="28"/>
                </a:cubicBezTo>
                <a:close/>
                <a:moveTo>
                  <a:pt x="98" y="48"/>
                </a:moveTo>
                <a:cubicBezTo>
                  <a:pt x="98" y="48"/>
                  <a:pt x="98" y="48"/>
                  <a:pt x="98" y="48"/>
                </a:cubicBezTo>
                <a:cubicBezTo>
                  <a:pt x="86" y="48"/>
                  <a:pt x="86" y="48"/>
                  <a:pt x="86" y="48"/>
                </a:cubicBezTo>
                <a:cubicBezTo>
                  <a:pt x="84" y="48"/>
                  <a:pt x="83" y="49"/>
                  <a:pt x="83" y="51"/>
                </a:cubicBezTo>
                <a:cubicBezTo>
                  <a:pt x="83" y="52"/>
                  <a:pt x="84" y="53"/>
                  <a:pt x="86" y="53"/>
                </a:cubicBezTo>
                <a:cubicBezTo>
                  <a:pt x="98" y="53"/>
                  <a:pt x="98" y="53"/>
                  <a:pt x="98" y="53"/>
                </a:cubicBezTo>
                <a:cubicBezTo>
                  <a:pt x="100" y="53"/>
                  <a:pt x="101" y="52"/>
                  <a:pt x="101" y="51"/>
                </a:cubicBezTo>
                <a:cubicBezTo>
                  <a:pt x="101" y="49"/>
                  <a:pt x="100" y="48"/>
                  <a:pt x="98" y="48"/>
                </a:cubicBezTo>
                <a:close/>
                <a:moveTo>
                  <a:pt x="50" y="110"/>
                </a:moveTo>
                <a:cubicBezTo>
                  <a:pt x="52" y="110"/>
                  <a:pt x="52" y="110"/>
                  <a:pt x="52" y="110"/>
                </a:cubicBezTo>
                <a:cubicBezTo>
                  <a:pt x="60" y="110"/>
                  <a:pt x="66" y="104"/>
                  <a:pt x="66" y="96"/>
                </a:cubicBezTo>
                <a:cubicBezTo>
                  <a:pt x="66" y="74"/>
                  <a:pt x="66" y="74"/>
                  <a:pt x="66" y="74"/>
                </a:cubicBezTo>
                <a:cubicBezTo>
                  <a:pt x="70" y="71"/>
                  <a:pt x="73" y="67"/>
                  <a:pt x="75" y="63"/>
                </a:cubicBezTo>
                <a:cubicBezTo>
                  <a:pt x="75" y="39"/>
                  <a:pt x="75" y="39"/>
                  <a:pt x="75" y="39"/>
                </a:cubicBezTo>
                <a:cubicBezTo>
                  <a:pt x="71" y="29"/>
                  <a:pt x="61" y="23"/>
                  <a:pt x="50" y="23"/>
                </a:cubicBezTo>
                <a:cubicBezTo>
                  <a:pt x="50" y="29"/>
                  <a:pt x="50" y="29"/>
                  <a:pt x="50" y="29"/>
                </a:cubicBezTo>
                <a:cubicBezTo>
                  <a:pt x="56" y="29"/>
                  <a:pt x="62" y="31"/>
                  <a:pt x="66" y="35"/>
                </a:cubicBezTo>
                <a:cubicBezTo>
                  <a:pt x="70" y="39"/>
                  <a:pt x="72" y="45"/>
                  <a:pt x="72" y="51"/>
                </a:cubicBezTo>
                <a:cubicBezTo>
                  <a:pt x="72" y="59"/>
                  <a:pt x="68" y="66"/>
                  <a:pt x="62" y="70"/>
                </a:cubicBezTo>
                <a:cubicBezTo>
                  <a:pt x="62" y="70"/>
                  <a:pt x="62" y="70"/>
                  <a:pt x="62" y="70"/>
                </a:cubicBezTo>
                <a:cubicBezTo>
                  <a:pt x="61" y="70"/>
                  <a:pt x="60" y="71"/>
                  <a:pt x="60" y="72"/>
                </a:cubicBezTo>
                <a:cubicBezTo>
                  <a:pt x="60" y="85"/>
                  <a:pt x="60" y="85"/>
                  <a:pt x="60" y="85"/>
                </a:cubicBezTo>
                <a:cubicBezTo>
                  <a:pt x="50" y="85"/>
                  <a:pt x="50" y="85"/>
                  <a:pt x="50" y="85"/>
                </a:cubicBezTo>
                <a:cubicBezTo>
                  <a:pt x="50" y="110"/>
                  <a:pt x="50" y="110"/>
                  <a:pt x="50" y="110"/>
                </a:cubicBezTo>
                <a:close/>
                <a:moveTo>
                  <a:pt x="75" y="22"/>
                </a:moveTo>
                <a:cubicBezTo>
                  <a:pt x="75" y="28"/>
                  <a:pt x="75" y="28"/>
                  <a:pt x="75" y="28"/>
                </a:cubicBezTo>
                <a:cubicBezTo>
                  <a:pt x="75" y="28"/>
                  <a:pt x="74" y="28"/>
                  <a:pt x="74" y="28"/>
                </a:cubicBezTo>
                <a:cubicBezTo>
                  <a:pt x="72" y="27"/>
                  <a:pt x="72" y="25"/>
                  <a:pt x="74" y="24"/>
                </a:cubicBezTo>
                <a:cubicBezTo>
                  <a:pt x="75" y="22"/>
                  <a:pt x="75" y="22"/>
                  <a:pt x="75" y="22"/>
                </a:cubicBezTo>
                <a:close/>
                <a:moveTo>
                  <a:pt x="75" y="73"/>
                </a:moveTo>
                <a:cubicBezTo>
                  <a:pt x="75" y="80"/>
                  <a:pt x="75" y="80"/>
                  <a:pt x="75" y="80"/>
                </a:cubicBezTo>
                <a:cubicBezTo>
                  <a:pt x="74" y="78"/>
                  <a:pt x="74" y="78"/>
                  <a:pt x="74" y="78"/>
                </a:cubicBezTo>
                <a:cubicBezTo>
                  <a:pt x="72" y="77"/>
                  <a:pt x="72" y="75"/>
                  <a:pt x="74" y="74"/>
                </a:cubicBezTo>
                <a:cubicBezTo>
                  <a:pt x="74" y="73"/>
                  <a:pt x="75" y="73"/>
                  <a:pt x="75" y="73"/>
                </a:cubicBezTo>
                <a:close/>
                <a:moveTo>
                  <a:pt x="50" y="18"/>
                </a:moveTo>
                <a:cubicBezTo>
                  <a:pt x="50" y="0"/>
                  <a:pt x="50" y="0"/>
                  <a:pt x="50" y="0"/>
                </a:cubicBezTo>
                <a:cubicBezTo>
                  <a:pt x="50" y="0"/>
                  <a:pt x="50" y="0"/>
                  <a:pt x="50" y="0"/>
                </a:cubicBezTo>
                <a:cubicBezTo>
                  <a:pt x="52" y="0"/>
                  <a:pt x="53" y="2"/>
                  <a:pt x="53" y="3"/>
                </a:cubicBezTo>
                <a:cubicBezTo>
                  <a:pt x="53" y="15"/>
                  <a:pt x="53" y="15"/>
                  <a:pt x="53" y="15"/>
                </a:cubicBezTo>
                <a:cubicBezTo>
                  <a:pt x="53" y="17"/>
                  <a:pt x="52" y="18"/>
                  <a:pt x="50" y="18"/>
                </a:cubicBezTo>
                <a:cubicBezTo>
                  <a:pt x="50" y="18"/>
                  <a:pt x="50" y="18"/>
                  <a:pt x="50" y="18"/>
                </a:cubicBezTo>
                <a:close/>
                <a:moveTo>
                  <a:pt x="50" y="23"/>
                </a:moveTo>
                <a:cubicBezTo>
                  <a:pt x="39" y="23"/>
                  <a:pt x="30" y="29"/>
                  <a:pt x="25" y="39"/>
                </a:cubicBezTo>
                <a:cubicBezTo>
                  <a:pt x="25" y="63"/>
                  <a:pt x="25" y="63"/>
                  <a:pt x="25" y="63"/>
                </a:cubicBezTo>
                <a:cubicBezTo>
                  <a:pt x="27" y="68"/>
                  <a:pt x="31" y="71"/>
                  <a:pt x="35" y="74"/>
                </a:cubicBezTo>
                <a:cubicBezTo>
                  <a:pt x="35" y="96"/>
                  <a:pt x="35" y="96"/>
                  <a:pt x="35" y="96"/>
                </a:cubicBezTo>
                <a:cubicBezTo>
                  <a:pt x="35" y="104"/>
                  <a:pt x="41" y="110"/>
                  <a:pt x="49" y="110"/>
                </a:cubicBezTo>
                <a:cubicBezTo>
                  <a:pt x="50" y="110"/>
                  <a:pt x="50" y="110"/>
                  <a:pt x="50" y="110"/>
                </a:cubicBezTo>
                <a:cubicBezTo>
                  <a:pt x="50" y="85"/>
                  <a:pt x="50" y="85"/>
                  <a:pt x="50" y="85"/>
                </a:cubicBezTo>
                <a:cubicBezTo>
                  <a:pt x="41" y="85"/>
                  <a:pt x="41" y="85"/>
                  <a:pt x="41" y="85"/>
                </a:cubicBezTo>
                <a:cubicBezTo>
                  <a:pt x="41" y="72"/>
                  <a:pt x="41" y="72"/>
                  <a:pt x="41" y="72"/>
                </a:cubicBezTo>
                <a:cubicBezTo>
                  <a:pt x="41" y="71"/>
                  <a:pt x="40" y="71"/>
                  <a:pt x="39" y="70"/>
                </a:cubicBezTo>
                <a:cubicBezTo>
                  <a:pt x="33" y="66"/>
                  <a:pt x="28" y="59"/>
                  <a:pt x="28" y="51"/>
                </a:cubicBezTo>
                <a:cubicBezTo>
                  <a:pt x="28" y="45"/>
                  <a:pt x="30" y="39"/>
                  <a:pt x="34" y="35"/>
                </a:cubicBezTo>
                <a:cubicBezTo>
                  <a:pt x="39" y="31"/>
                  <a:pt x="44" y="29"/>
                  <a:pt x="50" y="29"/>
                </a:cubicBezTo>
                <a:cubicBezTo>
                  <a:pt x="50" y="23"/>
                  <a:pt x="50" y="23"/>
                  <a:pt x="50" y="23"/>
                </a:cubicBezTo>
                <a:close/>
                <a:moveTo>
                  <a:pt x="50" y="0"/>
                </a:moveTo>
                <a:cubicBezTo>
                  <a:pt x="50" y="18"/>
                  <a:pt x="50" y="18"/>
                  <a:pt x="50" y="18"/>
                </a:cubicBezTo>
                <a:cubicBezTo>
                  <a:pt x="49" y="18"/>
                  <a:pt x="48" y="17"/>
                  <a:pt x="48" y="15"/>
                </a:cubicBezTo>
                <a:cubicBezTo>
                  <a:pt x="48" y="3"/>
                  <a:pt x="48" y="3"/>
                  <a:pt x="48" y="3"/>
                </a:cubicBezTo>
                <a:cubicBezTo>
                  <a:pt x="48" y="2"/>
                  <a:pt x="49" y="1"/>
                  <a:pt x="50" y="0"/>
                </a:cubicBezTo>
                <a:close/>
                <a:moveTo>
                  <a:pt x="25" y="80"/>
                </a:moveTo>
                <a:cubicBezTo>
                  <a:pt x="25" y="73"/>
                  <a:pt x="25" y="73"/>
                  <a:pt x="25" y="73"/>
                </a:cubicBezTo>
                <a:cubicBezTo>
                  <a:pt x="26" y="73"/>
                  <a:pt x="27" y="73"/>
                  <a:pt x="27" y="74"/>
                </a:cubicBezTo>
                <a:cubicBezTo>
                  <a:pt x="28" y="75"/>
                  <a:pt x="28" y="77"/>
                  <a:pt x="27" y="78"/>
                </a:cubicBezTo>
                <a:cubicBezTo>
                  <a:pt x="25" y="80"/>
                  <a:pt x="25" y="80"/>
                  <a:pt x="25" y="80"/>
                </a:cubicBezTo>
                <a:close/>
                <a:moveTo>
                  <a:pt x="25" y="28"/>
                </a:moveTo>
                <a:cubicBezTo>
                  <a:pt x="25" y="22"/>
                  <a:pt x="25" y="22"/>
                  <a:pt x="25" y="22"/>
                </a:cubicBezTo>
                <a:cubicBezTo>
                  <a:pt x="27" y="24"/>
                  <a:pt x="27" y="24"/>
                  <a:pt x="27" y="24"/>
                </a:cubicBezTo>
                <a:cubicBezTo>
                  <a:pt x="28" y="25"/>
                  <a:pt x="28" y="27"/>
                  <a:pt x="27" y="28"/>
                </a:cubicBezTo>
                <a:cubicBezTo>
                  <a:pt x="27" y="28"/>
                  <a:pt x="26" y="28"/>
                  <a:pt x="25" y="28"/>
                </a:cubicBezTo>
                <a:close/>
                <a:moveTo>
                  <a:pt x="25" y="39"/>
                </a:moveTo>
                <a:cubicBezTo>
                  <a:pt x="23" y="42"/>
                  <a:pt x="22" y="46"/>
                  <a:pt x="22" y="51"/>
                </a:cubicBezTo>
                <a:cubicBezTo>
                  <a:pt x="22" y="55"/>
                  <a:pt x="23" y="59"/>
                  <a:pt x="25" y="63"/>
                </a:cubicBezTo>
                <a:cubicBezTo>
                  <a:pt x="25" y="39"/>
                  <a:pt x="25" y="39"/>
                  <a:pt x="25" y="39"/>
                </a:cubicBezTo>
                <a:close/>
                <a:moveTo>
                  <a:pt x="25" y="22"/>
                </a:moveTo>
                <a:cubicBezTo>
                  <a:pt x="25" y="28"/>
                  <a:pt x="25" y="28"/>
                  <a:pt x="25" y="28"/>
                </a:cubicBezTo>
                <a:cubicBezTo>
                  <a:pt x="25" y="28"/>
                  <a:pt x="24" y="28"/>
                  <a:pt x="23" y="28"/>
                </a:cubicBezTo>
                <a:cubicBezTo>
                  <a:pt x="23" y="28"/>
                  <a:pt x="23" y="28"/>
                  <a:pt x="23" y="28"/>
                </a:cubicBezTo>
                <a:cubicBezTo>
                  <a:pt x="15" y="19"/>
                  <a:pt x="15" y="19"/>
                  <a:pt x="15" y="19"/>
                </a:cubicBezTo>
                <a:cubicBezTo>
                  <a:pt x="14" y="18"/>
                  <a:pt x="14" y="16"/>
                  <a:pt x="15" y="15"/>
                </a:cubicBezTo>
                <a:cubicBezTo>
                  <a:pt x="16" y="14"/>
                  <a:pt x="17" y="14"/>
                  <a:pt x="18" y="15"/>
                </a:cubicBezTo>
                <a:cubicBezTo>
                  <a:pt x="25" y="22"/>
                  <a:pt x="25" y="22"/>
                  <a:pt x="25" y="22"/>
                </a:cubicBezTo>
                <a:close/>
                <a:moveTo>
                  <a:pt x="25" y="73"/>
                </a:moveTo>
                <a:cubicBezTo>
                  <a:pt x="25" y="80"/>
                  <a:pt x="25" y="80"/>
                  <a:pt x="25" y="80"/>
                </a:cubicBezTo>
                <a:cubicBezTo>
                  <a:pt x="18" y="86"/>
                  <a:pt x="18" y="86"/>
                  <a:pt x="18" y="86"/>
                </a:cubicBezTo>
                <a:cubicBezTo>
                  <a:pt x="17" y="87"/>
                  <a:pt x="16" y="87"/>
                  <a:pt x="15" y="86"/>
                </a:cubicBezTo>
                <a:cubicBezTo>
                  <a:pt x="14" y="85"/>
                  <a:pt x="14" y="84"/>
                  <a:pt x="15" y="83"/>
                </a:cubicBezTo>
                <a:cubicBezTo>
                  <a:pt x="23" y="74"/>
                  <a:pt x="23" y="74"/>
                  <a:pt x="23" y="74"/>
                </a:cubicBezTo>
                <a:cubicBezTo>
                  <a:pt x="23" y="74"/>
                  <a:pt x="23" y="74"/>
                  <a:pt x="23" y="74"/>
                </a:cubicBezTo>
                <a:cubicBezTo>
                  <a:pt x="24" y="74"/>
                  <a:pt x="25" y="73"/>
                  <a:pt x="25" y="73"/>
                </a:cubicBezTo>
                <a:close/>
                <a:moveTo>
                  <a:pt x="18" y="51"/>
                </a:moveTo>
                <a:cubicBezTo>
                  <a:pt x="18" y="51"/>
                  <a:pt x="18" y="51"/>
                  <a:pt x="18" y="51"/>
                </a:cubicBezTo>
                <a:cubicBezTo>
                  <a:pt x="18" y="49"/>
                  <a:pt x="16" y="48"/>
                  <a:pt x="15" y="48"/>
                </a:cubicBezTo>
                <a:cubicBezTo>
                  <a:pt x="3" y="48"/>
                  <a:pt x="3" y="48"/>
                  <a:pt x="3" y="48"/>
                </a:cubicBezTo>
                <a:cubicBezTo>
                  <a:pt x="1" y="48"/>
                  <a:pt x="0" y="49"/>
                  <a:pt x="0" y="51"/>
                </a:cubicBezTo>
                <a:cubicBezTo>
                  <a:pt x="0" y="52"/>
                  <a:pt x="1" y="53"/>
                  <a:pt x="3" y="53"/>
                </a:cubicBezTo>
                <a:cubicBezTo>
                  <a:pt x="15" y="53"/>
                  <a:pt x="15" y="53"/>
                  <a:pt x="15" y="53"/>
                </a:cubicBezTo>
                <a:cubicBezTo>
                  <a:pt x="16" y="53"/>
                  <a:pt x="18" y="52"/>
                  <a:pt x="18"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8" name="Freeform 94"/>
          <p:cNvSpPr/>
          <p:nvPr/>
        </p:nvSpPr>
        <p:spPr bwMode="auto">
          <a:xfrm>
            <a:off x="8635489" y="3095016"/>
            <a:ext cx="63475" cy="60325"/>
          </a:xfrm>
          <a:custGeom>
            <a:avLst/>
            <a:gdLst>
              <a:gd name="T0" fmla="*/ 28 w 29"/>
              <a:gd name="T1" fmla="*/ 16 h 28"/>
              <a:gd name="T2" fmla="*/ 12 w 29"/>
              <a:gd name="T3" fmla="*/ 27 h 28"/>
              <a:gd name="T4" fmla="*/ 1 w 29"/>
              <a:gd name="T5" fmla="*/ 12 h 28"/>
              <a:gd name="T6" fmla="*/ 17 w 29"/>
              <a:gd name="T7" fmla="*/ 1 h 28"/>
              <a:gd name="T8" fmla="*/ 28 w 29"/>
              <a:gd name="T9" fmla="*/ 16 h 28"/>
            </a:gdLst>
            <a:ahLst/>
            <a:cxnLst>
              <a:cxn ang="0">
                <a:pos x="T0" y="T1"/>
              </a:cxn>
              <a:cxn ang="0">
                <a:pos x="T2" y="T3"/>
              </a:cxn>
              <a:cxn ang="0">
                <a:pos x="T4" y="T5"/>
              </a:cxn>
              <a:cxn ang="0">
                <a:pos x="T6" y="T7"/>
              </a:cxn>
              <a:cxn ang="0">
                <a:pos x="T8" y="T9"/>
              </a:cxn>
            </a:cxnLst>
            <a:rect l="0" t="0" r="r" b="b"/>
            <a:pathLst>
              <a:path w="29" h="28">
                <a:moveTo>
                  <a:pt x="28" y="16"/>
                </a:moveTo>
                <a:cubicBezTo>
                  <a:pt x="26" y="23"/>
                  <a:pt x="19" y="28"/>
                  <a:pt x="12" y="27"/>
                </a:cubicBezTo>
                <a:cubicBezTo>
                  <a:pt x="5" y="26"/>
                  <a:pt x="0" y="19"/>
                  <a:pt x="1" y="12"/>
                </a:cubicBezTo>
                <a:cubicBezTo>
                  <a:pt x="3" y="4"/>
                  <a:pt x="10" y="0"/>
                  <a:pt x="17" y="1"/>
                </a:cubicBezTo>
                <a:cubicBezTo>
                  <a:pt x="24" y="2"/>
                  <a:pt x="29" y="9"/>
                  <a:pt x="28" y="1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39" name="Freeform 95"/>
          <p:cNvSpPr/>
          <p:nvPr/>
        </p:nvSpPr>
        <p:spPr bwMode="auto">
          <a:xfrm>
            <a:off x="8621207" y="2912453"/>
            <a:ext cx="58715" cy="196850"/>
          </a:xfrm>
          <a:custGeom>
            <a:avLst/>
            <a:gdLst>
              <a:gd name="T0" fmla="*/ 27 w 27"/>
              <a:gd name="T1" fmla="*/ 90 h 91"/>
              <a:gd name="T2" fmla="*/ 12 w 27"/>
              <a:gd name="T3" fmla="*/ 14 h 91"/>
              <a:gd name="T4" fmla="*/ 1 w 27"/>
              <a:gd name="T5" fmla="*/ 0 h 91"/>
              <a:gd name="T6" fmla="*/ 17 w 27"/>
              <a:gd name="T7" fmla="*/ 91 h 91"/>
              <a:gd name="T8" fmla="*/ 27 w 27"/>
              <a:gd name="T9" fmla="*/ 90 h 91"/>
            </a:gdLst>
            <a:ahLst/>
            <a:cxnLst>
              <a:cxn ang="0">
                <a:pos x="T0" y="T1"/>
              </a:cxn>
              <a:cxn ang="0">
                <a:pos x="T2" y="T3"/>
              </a:cxn>
              <a:cxn ang="0">
                <a:pos x="T4" y="T5"/>
              </a:cxn>
              <a:cxn ang="0">
                <a:pos x="T6" y="T7"/>
              </a:cxn>
              <a:cxn ang="0">
                <a:pos x="T8" y="T9"/>
              </a:cxn>
            </a:cxnLst>
            <a:rect l="0" t="0" r="r" b="b"/>
            <a:pathLst>
              <a:path w="27" h="91">
                <a:moveTo>
                  <a:pt x="27" y="90"/>
                </a:moveTo>
                <a:cubicBezTo>
                  <a:pt x="27" y="90"/>
                  <a:pt x="12" y="14"/>
                  <a:pt x="12" y="14"/>
                </a:cubicBezTo>
                <a:cubicBezTo>
                  <a:pt x="12" y="14"/>
                  <a:pt x="3" y="0"/>
                  <a:pt x="1" y="0"/>
                </a:cubicBezTo>
                <a:cubicBezTo>
                  <a:pt x="0" y="0"/>
                  <a:pt x="17" y="91"/>
                  <a:pt x="17" y="91"/>
                </a:cubicBezTo>
                <a:lnTo>
                  <a:pt x="27" y="9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40" name="Freeform 96"/>
          <p:cNvSpPr/>
          <p:nvPr/>
        </p:nvSpPr>
        <p:spPr bwMode="auto">
          <a:xfrm>
            <a:off x="8662466" y="2944204"/>
            <a:ext cx="126950" cy="169863"/>
          </a:xfrm>
          <a:custGeom>
            <a:avLst/>
            <a:gdLst>
              <a:gd name="T0" fmla="*/ 1 w 80"/>
              <a:gd name="T1" fmla="*/ 99 h 107"/>
              <a:gd name="T2" fmla="*/ 60 w 80"/>
              <a:gd name="T3" fmla="*/ 13 h 107"/>
              <a:gd name="T4" fmla="*/ 80 w 80"/>
              <a:gd name="T5" fmla="*/ 0 h 107"/>
              <a:gd name="T6" fmla="*/ 71 w 80"/>
              <a:gd name="T7" fmla="*/ 21 h 107"/>
              <a:gd name="T8" fmla="*/ 12 w 80"/>
              <a:gd name="T9" fmla="*/ 107 h 107"/>
              <a:gd name="T10" fmla="*/ 0 w 80"/>
              <a:gd name="T11" fmla="*/ 100 h 107"/>
              <a:gd name="T12" fmla="*/ 1 w 80"/>
              <a:gd name="T13" fmla="*/ 99 h 107"/>
            </a:gdLst>
            <a:ahLst/>
            <a:cxnLst>
              <a:cxn ang="0">
                <a:pos x="T0" y="T1"/>
              </a:cxn>
              <a:cxn ang="0">
                <a:pos x="T2" y="T3"/>
              </a:cxn>
              <a:cxn ang="0">
                <a:pos x="T4" y="T5"/>
              </a:cxn>
              <a:cxn ang="0">
                <a:pos x="T6" y="T7"/>
              </a:cxn>
              <a:cxn ang="0">
                <a:pos x="T8" y="T9"/>
              </a:cxn>
              <a:cxn ang="0">
                <a:pos x="T10" y="T11"/>
              </a:cxn>
              <a:cxn ang="0">
                <a:pos x="T12" y="T13"/>
              </a:cxn>
            </a:cxnLst>
            <a:rect l="0" t="0" r="r" b="b"/>
            <a:pathLst>
              <a:path w="80" h="107">
                <a:moveTo>
                  <a:pt x="1" y="99"/>
                </a:moveTo>
                <a:lnTo>
                  <a:pt x="60" y="13"/>
                </a:lnTo>
                <a:lnTo>
                  <a:pt x="80" y="0"/>
                </a:lnTo>
                <a:lnTo>
                  <a:pt x="71" y="21"/>
                </a:lnTo>
                <a:lnTo>
                  <a:pt x="12" y="107"/>
                </a:lnTo>
                <a:lnTo>
                  <a:pt x="0" y="100"/>
                </a:lnTo>
                <a:lnTo>
                  <a:pt x="1" y="9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41" name="Freeform 97"/>
          <p:cNvSpPr/>
          <p:nvPr/>
        </p:nvSpPr>
        <p:spPr bwMode="auto">
          <a:xfrm>
            <a:off x="8651358" y="3141053"/>
            <a:ext cx="15869" cy="31750"/>
          </a:xfrm>
          <a:custGeom>
            <a:avLst/>
            <a:gdLst>
              <a:gd name="T0" fmla="*/ 2 w 7"/>
              <a:gd name="T1" fmla="*/ 3 h 15"/>
              <a:gd name="T2" fmla="*/ 5 w 7"/>
              <a:gd name="T3" fmla="*/ 1 h 15"/>
              <a:gd name="T4" fmla="*/ 7 w 7"/>
              <a:gd name="T5" fmla="*/ 3 h 15"/>
              <a:gd name="T6" fmla="*/ 5 w 7"/>
              <a:gd name="T7" fmla="*/ 13 h 15"/>
              <a:gd name="T8" fmla="*/ 3 w 7"/>
              <a:gd name="T9" fmla="*/ 15 h 15"/>
              <a:gd name="T10" fmla="*/ 1 w 7"/>
              <a:gd name="T11" fmla="*/ 12 h 15"/>
              <a:gd name="T12" fmla="*/ 2 w 7"/>
              <a:gd name="T13" fmla="*/ 3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2" y="3"/>
                </a:moveTo>
                <a:cubicBezTo>
                  <a:pt x="3" y="1"/>
                  <a:pt x="4" y="0"/>
                  <a:pt x="5" y="1"/>
                </a:cubicBezTo>
                <a:cubicBezTo>
                  <a:pt x="6" y="1"/>
                  <a:pt x="7" y="2"/>
                  <a:pt x="7" y="3"/>
                </a:cubicBezTo>
                <a:cubicBezTo>
                  <a:pt x="5" y="13"/>
                  <a:pt x="5" y="13"/>
                  <a:pt x="5" y="13"/>
                </a:cubicBezTo>
                <a:cubicBezTo>
                  <a:pt x="5" y="14"/>
                  <a:pt x="4" y="15"/>
                  <a:pt x="3" y="15"/>
                </a:cubicBezTo>
                <a:cubicBezTo>
                  <a:pt x="1" y="15"/>
                  <a:pt x="0" y="13"/>
                  <a:pt x="1" y="12"/>
                </a:cubicBezTo>
                <a:lnTo>
                  <a:pt x="2" y="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42" name="Freeform 98"/>
          <p:cNvSpPr>
            <a:spLocks noEditPoints="1"/>
          </p:cNvSpPr>
          <p:nvPr/>
        </p:nvSpPr>
        <p:spPr bwMode="auto">
          <a:xfrm>
            <a:off x="8600578" y="1532915"/>
            <a:ext cx="220577" cy="236538"/>
          </a:xfrm>
          <a:custGeom>
            <a:avLst/>
            <a:gdLst>
              <a:gd name="T0" fmla="*/ 78 w 101"/>
              <a:gd name="T1" fmla="*/ 50 h 109"/>
              <a:gd name="T2" fmla="*/ 76 w 101"/>
              <a:gd name="T3" fmla="*/ 62 h 109"/>
              <a:gd name="T4" fmla="*/ 76 w 101"/>
              <a:gd name="T5" fmla="*/ 73 h 109"/>
              <a:gd name="T6" fmla="*/ 78 w 101"/>
              <a:gd name="T7" fmla="*/ 73 h 109"/>
              <a:gd name="T8" fmla="*/ 86 w 101"/>
              <a:gd name="T9" fmla="*/ 86 h 109"/>
              <a:gd name="T10" fmla="*/ 76 w 101"/>
              <a:gd name="T11" fmla="*/ 79 h 109"/>
              <a:gd name="T12" fmla="*/ 76 w 101"/>
              <a:gd name="T13" fmla="*/ 22 h 109"/>
              <a:gd name="T14" fmla="*/ 86 w 101"/>
              <a:gd name="T15" fmla="*/ 15 h 109"/>
              <a:gd name="T16" fmla="*/ 78 w 101"/>
              <a:gd name="T17" fmla="*/ 27 h 109"/>
              <a:gd name="T18" fmla="*/ 76 w 101"/>
              <a:gd name="T19" fmla="*/ 28 h 109"/>
              <a:gd name="T20" fmla="*/ 99 w 101"/>
              <a:gd name="T21" fmla="*/ 48 h 109"/>
              <a:gd name="T22" fmla="*/ 84 w 101"/>
              <a:gd name="T23" fmla="*/ 50 h 109"/>
              <a:gd name="T24" fmla="*/ 99 w 101"/>
              <a:gd name="T25" fmla="*/ 53 h 109"/>
              <a:gd name="T26" fmla="*/ 99 w 101"/>
              <a:gd name="T27" fmla="*/ 48 h 109"/>
              <a:gd name="T28" fmla="*/ 53 w 101"/>
              <a:gd name="T29" fmla="*/ 109 h 109"/>
              <a:gd name="T30" fmla="*/ 66 w 101"/>
              <a:gd name="T31" fmla="*/ 73 h 109"/>
              <a:gd name="T32" fmla="*/ 76 w 101"/>
              <a:gd name="T33" fmla="*/ 38 h 109"/>
              <a:gd name="T34" fmla="*/ 51 w 101"/>
              <a:gd name="T35" fmla="*/ 28 h 109"/>
              <a:gd name="T36" fmla="*/ 73 w 101"/>
              <a:gd name="T37" fmla="*/ 50 h 109"/>
              <a:gd name="T38" fmla="*/ 62 w 101"/>
              <a:gd name="T39" fmla="*/ 69 h 109"/>
              <a:gd name="T40" fmla="*/ 61 w 101"/>
              <a:gd name="T41" fmla="*/ 84 h 109"/>
              <a:gd name="T42" fmla="*/ 51 w 101"/>
              <a:gd name="T43" fmla="*/ 109 h 109"/>
              <a:gd name="T44" fmla="*/ 76 w 101"/>
              <a:gd name="T45" fmla="*/ 28 h 109"/>
              <a:gd name="T46" fmla="*/ 74 w 101"/>
              <a:gd name="T47" fmla="*/ 23 h 109"/>
              <a:gd name="T48" fmla="*/ 76 w 101"/>
              <a:gd name="T49" fmla="*/ 73 h 109"/>
              <a:gd name="T50" fmla="*/ 74 w 101"/>
              <a:gd name="T51" fmla="*/ 77 h 109"/>
              <a:gd name="T52" fmla="*/ 76 w 101"/>
              <a:gd name="T53" fmla="*/ 73 h 109"/>
              <a:gd name="T54" fmla="*/ 51 w 101"/>
              <a:gd name="T55" fmla="*/ 0 h 109"/>
              <a:gd name="T56" fmla="*/ 53 w 101"/>
              <a:gd name="T57" fmla="*/ 2 h 109"/>
              <a:gd name="T58" fmla="*/ 51 w 101"/>
              <a:gd name="T59" fmla="*/ 17 h 109"/>
              <a:gd name="T60" fmla="*/ 51 w 101"/>
              <a:gd name="T61" fmla="*/ 22 h 109"/>
              <a:gd name="T62" fmla="*/ 26 w 101"/>
              <a:gd name="T63" fmla="*/ 62 h 109"/>
              <a:gd name="T64" fmla="*/ 35 w 101"/>
              <a:gd name="T65" fmla="*/ 95 h 109"/>
              <a:gd name="T66" fmla="*/ 51 w 101"/>
              <a:gd name="T67" fmla="*/ 109 h 109"/>
              <a:gd name="T68" fmla="*/ 41 w 101"/>
              <a:gd name="T69" fmla="*/ 84 h 109"/>
              <a:gd name="T70" fmla="*/ 40 w 101"/>
              <a:gd name="T71" fmla="*/ 69 h 109"/>
              <a:gd name="T72" fmla="*/ 35 w 101"/>
              <a:gd name="T73" fmla="*/ 35 h 109"/>
              <a:gd name="T74" fmla="*/ 51 w 101"/>
              <a:gd name="T75" fmla="*/ 22 h 109"/>
              <a:gd name="T76" fmla="*/ 51 w 101"/>
              <a:gd name="T77" fmla="*/ 17 h 109"/>
              <a:gd name="T78" fmla="*/ 48 w 101"/>
              <a:gd name="T79" fmla="*/ 2 h 109"/>
              <a:gd name="T80" fmla="*/ 26 w 101"/>
              <a:gd name="T81" fmla="*/ 79 h 109"/>
              <a:gd name="T82" fmla="*/ 28 w 101"/>
              <a:gd name="T83" fmla="*/ 73 h 109"/>
              <a:gd name="T84" fmla="*/ 26 w 101"/>
              <a:gd name="T85" fmla="*/ 79 h 109"/>
              <a:gd name="T86" fmla="*/ 26 w 101"/>
              <a:gd name="T87" fmla="*/ 21 h 109"/>
              <a:gd name="T88" fmla="*/ 28 w 101"/>
              <a:gd name="T89" fmla="*/ 27 h 109"/>
              <a:gd name="T90" fmla="*/ 26 w 101"/>
              <a:gd name="T91" fmla="*/ 38 h 109"/>
              <a:gd name="T92" fmla="*/ 26 w 101"/>
              <a:gd name="T93" fmla="*/ 62 h 109"/>
              <a:gd name="T94" fmla="*/ 26 w 101"/>
              <a:gd name="T95" fmla="*/ 21 h 109"/>
              <a:gd name="T96" fmla="*/ 24 w 101"/>
              <a:gd name="T97" fmla="*/ 27 h 109"/>
              <a:gd name="T98" fmla="*/ 15 w 101"/>
              <a:gd name="T99" fmla="*/ 18 h 109"/>
              <a:gd name="T100" fmla="*/ 19 w 101"/>
              <a:gd name="T101" fmla="*/ 15 h 109"/>
              <a:gd name="T102" fmla="*/ 26 w 101"/>
              <a:gd name="T103" fmla="*/ 73 h 109"/>
              <a:gd name="T104" fmla="*/ 19 w 101"/>
              <a:gd name="T105" fmla="*/ 86 h 109"/>
              <a:gd name="T106" fmla="*/ 15 w 101"/>
              <a:gd name="T107" fmla="*/ 82 h 109"/>
              <a:gd name="T108" fmla="*/ 24 w 101"/>
              <a:gd name="T109" fmla="*/ 73 h 109"/>
              <a:gd name="T110" fmla="*/ 18 w 101"/>
              <a:gd name="T111" fmla="*/ 50 h 109"/>
              <a:gd name="T112" fmla="*/ 15 w 101"/>
              <a:gd name="T113" fmla="*/ 48 h 109"/>
              <a:gd name="T114" fmla="*/ 0 w 101"/>
              <a:gd name="T115" fmla="*/ 50 h 109"/>
              <a:gd name="T116" fmla="*/ 15 w 101"/>
              <a:gd name="T117" fmla="*/ 5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09">
                <a:moveTo>
                  <a:pt x="76" y="62"/>
                </a:moveTo>
                <a:cubicBezTo>
                  <a:pt x="78" y="58"/>
                  <a:pt x="78" y="54"/>
                  <a:pt x="78" y="50"/>
                </a:cubicBezTo>
                <a:cubicBezTo>
                  <a:pt x="78" y="46"/>
                  <a:pt x="78" y="42"/>
                  <a:pt x="76" y="38"/>
                </a:cubicBezTo>
                <a:cubicBezTo>
                  <a:pt x="76" y="62"/>
                  <a:pt x="76" y="62"/>
                  <a:pt x="76" y="62"/>
                </a:cubicBezTo>
                <a:close/>
                <a:moveTo>
                  <a:pt x="76" y="79"/>
                </a:moveTo>
                <a:cubicBezTo>
                  <a:pt x="76" y="73"/>
                  <a:pt x="76" y="73"/>
                  <a:pt x="76" y="73"/>
                </a:cubicBezTo>
                <a:cubicBezTo>
                  <a:pt x="77" y="73"/>
                  <a:pt x="77" y="73"/>
                  <a:pt x="78" y="73"/>
                </a:cubicBezTo>
                <a:cubicBezTo>
                  <a:pt x="78" y="73"/>
                  <a:pt x="78" y="73"/>
                  <a:pt x="78" y="73"/>
                </a:cubicBezTo>
                <a:cubicBezTo>
                  <a:pt x="86" y="82"/>
                  <a:pt x="86" y="82"/>
                  <a:pt x="86" y="82"/>
                </a:cubicBezTo>
                <a:cubicBezTo>
                  <a:pt x="87" y="83"/>
                  <a:pt x="87" y="85"/>
                  <a:pt x="86" y="86"/>
                </a:cubicBezTo>
                <a:cubicBezTo>
                  <a:pt x="85" y="87"/>
                  <a:pt x="84" y="87"/>
                  <a:pt x="83" y="86"/>
                </a:cubicBezTo>
                <a:cubicBezTo>
                  <a:pt x="76" y="79"/>
                  <a:pt x="76" y="79"/>
                  <a:pt x="76" y="79"/>
                </a:cubicBezTo>
                <a:close/>
                <a:moveTo>
                  <a:pt x="76" y="28"/>
                </a:moveTo>
                <a:cubicBezTo>
                  <a:pt x="76" y="22"/>
                  <a:pt x="76" y="22"/>
                  <a:pt x="76" y="22"/>
                </a:cubicBezTo>
                <a:cubicBezTo>
                  <a:pt x="83" y="15"/>
                  <a:pt x="83" y="15"/>
                  <a:pt x="83" y="15"/>
                </a:cubicBezTo>
                <a:cubicBezTo>
                  <a:pt x="84" y="14"/>
                  <a:pt x="85" y="14"/>
                  <a:pt x="86" y="15"/>
                </a:cubicBezTo>
                <a:cubicBezTo>
                  <a:pt x="87" y="16"/>
                  <a:pt x="87" y="17"/>
                  <a:pt x="86" y="18"/>
                </a:cubicBezTo>
                <a:cubicBezTo>
                  <a:pt x="78" y="27"/>
                  <a:pt x="78" y="27"/>
                  <a:pt x="78" y="27"/>
                </a:cubicBezTo>
                <a:cubicBezTo>
                  <a:pt x="78" y="27"/>
                  <a:pt x="78" y="27"/>
                  <a:pt x="78" y="27"/>
                </a:cubicBezTo>
                <a:cubicBezTo>
                  <a:pt x="77" y="28"/>
                  <a:pt x="77" y="28"/>
                  <a:pt x="76" y="28"/>
                </a:cubicBezTo>
                <a:close/>
                <a:moveTo>
                  <a:pt x="99" y="48"/>
                </a:moveTo>
                <a:cubicBezTo>
                  <a:pt x="99" y="48"/>
                  <a:pt x="99" y="48"/>
                  <a:pt x="99" y="48"/>
                </a:cubicBezTo>
                <a:cubicBezTo>
                  <a:pt x="86" y="48"/>
                  <a:pt x="86" y="48"/>
                  <a:pt x="86" y="48"/>
                </a:cubicBezTo>
                <a:cubicBezTo>
                  <a:pt x="85" y="48"/>
                  <a:pt x="84" y="49"/>
                  <a:pt x="84" y="50"/>
                </a:cubicBezTo>
                <a:cubicBezTo>
                  <a:pt x="84" y="52"/>
                  <a:pt x="85" y="53"/>
                  <a:pt x="86" y="53"/>
                </a:cubicBezTo>
                <a:cubicBezTo>
                  <a:pt x="99" y="53"/>
                  <a:pt x="99" y="53"/>
                  <a:pt x="99" y="53"/>
                </a:cubicBezTo>
                <a:cubicBezTo>
                  <a:pt x="100" y="53"/>
                  <a:pt x="101" y="52"/>
                  <a:pt x="101" y="50"/>
                </a:cubicBezTo>
                <a:cubicBezTo>
                  <a:pt x="101" y="49"/>
                  <a:pt x="100" y="48"/>
                  <a:pt x="99" y="48"/>
                </a:cubicBezTo>
                <a:close/>
                <a:moveTo>
                  <a:pt x="51" y="109"/>
                </a:moveTo>
                <a:cubicBezTo>
                  <a:pt x="53" y="109"/>
                  <a:pt x="53" y="109"/>
                  <a:pt x="53" y="109"/>
                </a:cubicBezTo>
                <a:cubicBezTo>
                  <a:pt x="60" y="109"/>
                  <a:pt x="66" y="103"/>
                  <a:pt x="66" y="95"/>
                </a:cubicBezTo>
                <a:cubicBezTo>
                  <a:pt x="66" y="73"/>
                  <a:pt x="66" y="73"/>
                  <a:pt x="66" y="73"/>
                </a:cubicBezTo>
                <a:cubicBezTo>
                  <a:pt x="70" y="70"/>
                  <a:pt x="74" y="67"/>
                  <a:pt x="76" y="62"/>
                </a:cubicBezTo>
                <a:cubicBezTo>
                  <a:pt x="76" y="38"/>
                  <a:pt x="76" y="38"/>
                  <a:pt x="76" y="38"/>
                </a:cubicBezTo>
                <a:cubicBezTo>
                  <a:pt x="71" y="29"/>
                  <a:pt x="62" y="22"/>
                  <a:pt x="51" y="22"/>
                </a:cubicBezTo>
                <a:cubicBezTo>
                  <a:pt x="51" y="28"/>
                  <a:pt x="51" y="28"/>
                  <a:pt x="51" y="28"/>
                </a:cubicBezTo>
                <a:cubicBezTo>
                  <a:pt x="57" y="28"/>
                  <a:pt x="62" y="31"/>
                  <a:pt x="66" y="35"/>
                </a:cubicBezTo>
                <a:cubicBezTo>
                  <a:pt x="70" y="39"/>
                  <a:pt x="73" y="44"/>
                  <a:pt x="73" y="50"/>
                </a:cubicBezTo>
                <a:cubicBezTo>
                  <a:pt x="73" y="58"/>
                  <a:pt x="68" y="65"/>
                  <a:pt x="62" y="69"/>
                </a:cubicBezTo>
                <a:cubicBezTo>
                  <a:pt x="62" y="69"/>
                  <a:pt x="62" y="69"/>
                  <a:pt x="62" y="69"/>
                </a:cubicBezTo>
                <a:cubicBezTo>
                  <a:pt x="61" y="70"/>
                  <a:pt x="61" y="71"/>
                  <a:pt x="61" y="72"/>
                </a:cubicBezTo>
                <a:cubicBezTo>
                  <a:pt x="61" y="84"/>
                  <a:pt x="61" y="84"/>
                  <a:pt x="61" y="84"/>
                </a:cubicBezTo>
                <a:cubicBezTo>
                  <a:pt x="51" y="84"/>
                  <a:pt x="51" y="84"/>
                  <a:pt x="51" y="84"/>
                </a:cubicBezTo>
                <a:cubicBezTo>
                  <a:pt x="51" y="109"/>
                  <a:pt x="51" y="109"/>
                  <a:pt x="51" y="109"/>
                </a:cubicBezTo>
                <a:close/>
                <a:moveTo>
                  <a:pt x="76" y="22"/>
                </a:moveTo>
                <a:cubicBezTo>
                  <a:pt x="76" y="28"/>
                  <a:pt x="76" y="28"/>
                  <a:pt x="76" y="28"/>
                </a:cubicBezTo>
                <a:cubicBezTo>
                  <a:pt x="75" y="28"/>
                  <a:pt x="75" y="28"/>
                  <a:pt x="74" y="27"/>
                </a:cubicBezTo>
                <a:cubicBezTo>
                  <a:pt x="73" y="26"/>
                  <a:pt x="73" y="24"/>
                  <a:pt x="74" y="23"/>
                </a:cubicBezTo>
                <a:cubicBezTo>
                  <a:pt x="76" y="22"/>
                  <a:pt x="76" y="22"/>
                  <a:pt x="76" y="22"/>
                </a:cubicBezTo>
                <a:close/>
                <a:moveTo>
                  <a:pt x="76" y="73"/>
                </a:moveTo>
                <a:cubicBezTo>
                  <a:pt x="76" y="79"/>
                  <a:pt x="76" y="79"/>
                  <a:pt x="76" y="79"/>
                </a:cubicBezTo>
                <a:cubicBezTo>
                  <a:pt x="74" y="77"/>
                  <a:pt x="74" y="77"/>
                  <a:pt x="74" y="77"/>
                </a:cubicBezTo>
                <a:cubicBezTo>
                  <a:pt x="73" y="76"/>
                  <a:pt x="73" y="74"/>
                  <a:pt x="74" y="73"/>
                </a:cubicBezTo>
                <a:cubicBezTo>
                  <a:pt x="75" y="73"/>
                  <a:pt x="75" y="73"/>
                  <a:pt x="76" y="73"/>
                </a:cubicBezTo>
                <a:close/>
                <a:moveTo>
                  <a:pt x="51" y="17"/>
                </a:moveTo>
                <a:cubicBezTo>
                  <a:pt x="51" y="0"/>
                  <a:pt x="51" y="0"/>
                  <a:pt x="51" y="0"/>
                </a:cubicBezTo>
                <a:cubicBezTo>
                  <a:pt x="51" y="0"/>
                  <a:pt x="51" y="0"/>
                  <a:pt x="51" y="0"/>
                </a:cubicBezTo>
                <a:cubicBezTo>
                  <a:pt x="52" y="0"/>
                  <a:pt x="53" y="1"/>
                  <a:pt x="53" y="2"/>
                </a:cubicBezTo>
                <a:cubicBezTo>
                  <a:pt x="53" y="15"/>
                  <a:pt x="53" y="15"/>
                  <a:pt x="53" y="15"/>
                </a:cubicBezTo>
                <a:cubicBezTo>
                  <a:pt x="53" y="16"/>
                  <a:pt x="52" y="17"/>
                  <a:pt x="51" y="17"/>
                </a:cubicBezTo>
                <a:cubicBezTo>
                  <a:pt x="51" y="17"/>
                  <a:pt x="51" y="17"/>
                  <a:pt x="51" y="17"/>
                </a:cubicBezTo>
                <a:close/>
                <a:moveTo>
                  <a:pt x="51" y="22"/>
                </a:moveTo>
                <a:cubicBezTo>
                  <a:pt x="40" y="22"/>
                  <a:pt x="30" y="29"/>
                  <a:pt x="26" y="38"/>
                </a:cubicBezTo>
                <a:cubicBezTo>
                  <a:pt x="26" y="62"/>
                  <a:pt x="26" y="62"/>
                  <a:pt x="26" y="62"/>
                </a:cubicBezTo>
                <a:cubicBezTo>
                  <a:pt x="28" y="67"/>
                  <a:pt x="31" y="71"/>
                  <a:pt x="35" y="74"/>
                </a:cubicBezTo>
                <a:cubicBezTo>
                  <a:pt x="35" y="95"/>
                  <a:pt x="35" y="95"/>
                  <a:pt x="35" y="95"/>
                </a:cubicBezTo>
                <a:cubicBezTo>
                  <a:pt x="35" y="103"/>
                  <a:pt x="42" y="109"/>
                  <a:pt x="49" y="109"/>
                </a:cubicBezTo>
                <a:cubicBezTo>
                  <a:pt x="51" y="109"/>
                  <a:pt x="51" y="109"/>
                  <a:pt x="51" y="109"/>
                </a:cubicBezTo>
                <a:cubicBezTo>
                  <a:pt x="51" y="84"/>
                  <a:pt x="51" y="84"/>
                  <a:pt x="51" y="84"/>
                </a:cubicBezTo>
                <a:cubicBezTo>
                  <a:pt x="41" y="84"/>
                  <a:pt x="41" y="84"/>
                  <a:pt x="41" y="84"/>
                </a:cubicBezTo>
                <a:cubicBezTo>
                  <a:pt x="41" y="72"/>
                  <a:pt x="41" y="72"/>
                  <a:pt x="41" y="72"/>
                </a:cubicBezTo>
                <a:cubicBezTo>
                  <a:pt x="41" y="71"/>
                  <a:pt x="41" y="70"/>
                  <a:pt x="40" y="69"/>
                </a:cubicBezTo>
                <a:cubicBezTo>
                  <a:pt x="33" y="66"/>
                  <a:pt x="28" y="58"/>
                  <a:pt x="28" y="50"/>
                </a:cubicBezTo>
                <a:cubicBezTo>
                  <a:pt x="28" y="44"/>
                  <a:pt x="31" y="39"/>
                  <a:pt x="35" y="35"/>
                </a:cubicBezTo>
                <a:cubicBezTo>
                  <a:pt x="39" y="31"/>
                  <a:pt x="44" y="28"/>
                  <a:pt x="51" y="28"/>
                </a:cubicBezTo>
                <a:cubicBezTo>
                  <a:pt x="51" y="22"/>
                  <a:pt x="51" y="22"/>
                  <a:pt x="51" y="22"/>
                </a:cubicBezTo>
                <a:close/>
                <a:moveTo>
                  <a:pt x="51" y="0"/>
                </a:moveTo>
                <a:cubicBezTo>
                  <a:pt x="51" y="17"/>
                  <a:pt x="51" y="17"/>
                  <a:pt x="51" y="17"/>
                </a:cubicBezTo>
                <a:cubicBezTo>
                  <a:pt x="49" y="17"/>
                  <a:pt x="48" y="16"/>
                  <a:pt x="48" y="15"/>
                </a:cubicBezTo>
                <a:cubicBezTo>
                  <a:pt x="48" y="2"/>
                  <a:pt x="48" y="2"/>
                  <a:pt x="48" y="2"/>
                </a:cubicBezTo>
                <a:cubicBezTo>
                  <a:pt x="48" y="1"/>
                  <a:pt x="49" y="0"/>
                  <a:pt x="51" y="0"/>
                </a:cubicBezTo>
                <a:close/>
                <a:moveTo>
                  <a:pt x="26" y="79"/>
                </a:moveTo>
                <a:cubicBezTo>
                  <a:pt x="26" y="73"/>
                  <a:pt x="26" y="73"/>
                  <a:pt x="26" y="73"/>
                </a:cubicBezTo>
                <a:cubicBezTo>
                  <a:pt x="26" y="73"/>
                  <a:pt x="27" y="73"/>
                  <a:pt x="28" y="73"/>
                </a:cubicBezTo>
                <a:cubicBezTo>
                  <a:pt x="29" y="74"/>
                  <a:pt x="29" y="76"/>
                  <a:pt x="28" y="77"/>
                </a:cubicBezTo>
                <a:cubicBezTo>
                  <a:pt x="26" y="79"/>
                  <a:pt x="26" y="79"/>
                  <a:pt x="26" y="79"/>
                </a:cubicBezTo>
                <a:close/>
                <a:moveTo>
                  <a:pt x="26" y="28"/>
                </a:moveTo>
                <a:cubicBezTo>
                  <a:pt x="26" y="21"/>
                  <a:pt x="26" y="21"/>
                  <a:pt x="26" y="21"/>
                </a:cubicBezTo>
                <a:cubicBezTo>
                  <a:pt x="28" y="23"/>
                  <a:pt x="28" y="23"/>
                  <a:pt x="28" y="23"/>
                </a:cubicBezTo>
                <a:cubicBezTo>
                  <a:pt x="29" y="24"/>
                  <a:pt x="29" y="26"/>
                  <a:pt x="28" y="27"/>
                </a:cubicBezTo>
                <a:cubicBezTo>
                  <a:pt x="27" y="28"/>
                  <a:pt x="26" y="28"/>
                  <a:pt x="26" y="28"/>
                </a:cubicBezTo>
                <a:close/>
                <a:moveTo>
                  <a:pt x="26" y="38"/>
                </a:moveTo>
                <a:cubicBezTo>
                  <a:pt x="24" y="42"/>
                  <a:pt x="23" y="46"/>
                  <a:pt x="23" y="50"/>
                </a:cubicBezTo>
                <a:cubicBezTo>
                  <a:pt x="23" y="55"/>
                  <a:pt x="24" y="59"/>
                  <a:pt x="26" y="62"/>
                </a:cubicBezTo>
                <a:cubicBezTo>
                  <a:pt x="26" y="38"/>
                  <a:pt x="26" y="38"/>
                  <a:pt x="26" y="38"/>
                </a:cubicBezTo>
                <a:close/>
                <a:moveTo>
                  <a:pt x="26" y="21"/>
                </a:moveTo>
                <a:cubicBezTo>
                  <a:pt x="26" y="28"/>
                  <a:pt x="26" y="28"/>
                  <a:pt x="26" y="28"/>
                </a:cubicBezTo>
                <a:cubicBezTo>
                  <a:pt x="25" y="28"/>
                  <a:pt x="24" y="27"/>
                  <a:pt x="24" y="27"/>
                </a:cubicBezTo>
                <a:cubicBezTo>
                  <a:pt x="24" y="27"/>
                  <a:pt x="24" y="27"/>
                  <a:pt x="24" y="27"/>
                </a:cubicBezTo>
                <a:cubicBezTo>
                  <a:pt x="15" y="18"/>
                  <a:pt x="15" y="18"/>
                  <a:pt x="15" y="18"/>
                </a:cubicBezTo>
                <a:cubicBezTo>
                  <a:pt x="14" y="17"/>
                  <a:pt x="14" y="16"/>
                  <a:pt x="15" y="15"/>
                </a:cubicBezTo>
                <a:cubicBezTo>
                  <a:pt x="16" y="14"/>
                  <a:pt x="18" y="14"/>
                  <a:pt x="19" y="15"/>
                </a:cubicBezTo>
                <a:cubicBezTo>
                  <a:pt x="26" y="21"/>
                  <a:pt x="26" y="21"/>
                  <a:pt x="26" y="21"/>
                </a:cubicBezTo>
                <a:close/>
                <a:moveTo>
                  <a:pt x="26" y="73"/>
                </a:moveTo>
                <a:cubicBezTo>
                  <a:pt x="26" y="79"/>
                  <a:pt x="26" y="79"/>
                  <a:pt x="26" y="79"/>
                </a:cubicBezTo>
                <a:cubicBezTo>
                  <a:pt x="19" y="86"/>
                  <a:pt x="19" y="86"/>
                  <a:pt x="19" y="86"/>
                </a:cubicBezTo>
                <a:cubicBezTo>
                  <a:pt x="18" y="87"/>
                  <a:pt x="16" y="87"/>
                  <a:pt x="15" y="86"/>
                </a:cubicBezTo>
                <a:cubicBezTo>
                  <a:pt x="14" y="85"/>
                  <a:pt x="14" y="83"/>
                  <a:pt x="15" y="82"/>
                </a:cubicBezTo>
                <a:cubicBezTo>
                  <a:pt x="24" y="73"/>
                  <a:pt x="24" y="73"/>
                  <a:pt x="24" y="73"/>
                </a:cubicBezTo>
                <a:cubicBezTo>
                  <a:pt x="24" y="73"/>
                  <a:pt x="24" y="73"/>
                  <a:pt x="24" y="73"/>
                </a:cubicBezTo>
                <a:cubicBezTo>
                  <a:pt x="24" y="73"/>
                  <a:pt x="25" y="73"/>
                  <a:pt x="26" y="73"/>
                </a:cubicBezTo>
                <a:close/>
                <a:moveTo>
                  <a:pt x="18" y="50"/>
                </a:moveTo>
                <a:cubicBezTo>
                  <a:pt x="18" y="50"/>
                  <a:pt x="18" y="50"/>
                  <a:pt x="18" y="50"/>
                </a:cubicBezTo>
                <a:cubicBezTo>
                  <a:pt x="18" y="49"/>
                  <a:pt x="17" y="48"/>
                  <a:pt x="15" y="48"/>
                </a:cubicBezTo>
                <a:cubicBezTo>
                  <a:pt x="3" y="48"/>
                  <a:pt x="3" y="48"/>
                  <a:pt x="3" y="48"/>
                </a:cubicBezTo>
                <a:cubicBezTo>
                  <a:pt x="2" y="48"/>
                  <a:pt x="0" y="49"/>
                  <a:pt x="0" y="50"/>
                </a:cubicBezTo>
                <a:cubicBezTo>
                  <a:pt x="0" y="52"/>
                  <a:pt x="2" y="53"/>
                  <a:pt x="3" y="53"/>
                </a:cubicBezTo>
                <a:cubicBezTo>
                  <a:pt x="15" y="53"/>
                  <a:pt x="15" y="53"/>
                  <a:pt x="15" y="53"/>
                </a:cubicBezTo>
                <a:cubicBezTo>
                  <a:pt x="17" y="53"/>
                  <a:pt x="18" y="52"/>
                  <a:pt x="18" y="5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43" name="燕尾形 142"/>
          <p:cNvSpPr/>
          <p:nvPr/>
        </p:nvSpPr>
        <p:spPr>
          <a:xfrm rot="5400000">
            <a:off x="2533085" y="2023615"/>
            <a:ext cx="360040" cy="575839"/>
          </a:xfrm>
          <a:prstGeom prst="chevr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cxnSp>
        <p:nvCxnSpPr>
          <p:cNvPr id="144" name="直接连接符 143"/>
          <p:cNvCxnSpPr/>
          <p:nvPr/>
        </p:nvCxnSpPr>
        <p:spPr>
          <a:xfrm>
            <a:off x="2713105" y="2599566"/>
            <a:ext cx="3634984" cy="0"/>
          </a:xfrm>
          <a:prstGeom prst="line">
            <a:avLst/>
          </a:prstGeom>
          <a:ln>
            <a:solidFill>
              <a:schemeClr val="bg1">
                <a:lumMod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47" name="燕尾形 146"/>
          <p:cNvSpPr/>
          <p:nvPr/>
        </p:nvSpPr>
        <p:spPr>
          <a:xfrm rot="5400000">
            <a:off x="2533085" y="4074392"/>
            <a:ext cx="360040" cy="575839"/>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cxnSp>
        <p:nvCxnSpPr>
          <p:cNvPr id="148" name="直接连接符 147"/>
          <p:cNvCxnSpPr/>
          <p:nvPr/>
        </p:nvCxnSpPr>
        <p:spPr>
          <a:xfrm>
            <a:off x="2713105" y="4675108"/>
            <a:ext cx="3634984" cy="0"/>
          </a:xfrm>
          <a:prstGeom prst="line">
            <a:avLst/>
          </a:prstGeom>
          <a:ln>
            <a:solidFill>
              <a:schemeClr val="bg1">
                <a:lumMod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51" name="燕尾形 150"/>
          <p:cNvSpPr/>
          <p:nvPr/>
        </p:nvSpPr>
        <p:spPr>
          <a:xfrm rot="5400000">
            <a:off x="2533085" y="5986357"/>
            <a:ext cx="360040" cy="575839"/>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cxnSp>
        <p:nvCxnSpPr>
          <p:cNvPr id="152" name="直接连接符 151"/>
          <p:cNvCxnSpPr/>
          <p:nvPr/>
        </p:nvCxnSpPr>
        <p:spPr>
          <a:xfrm>
            <a:off x="2713105" y="6576278"/>
            <a:ext cx="3634984" cy="0"/>
          </a:xfrm>
          <a:prstGeom prst="line">
            <a:avLst/>
          </a:prstGeom>
          <a:ln>
            <a:solidFill>
              <a:schemeClr val="bg1">
                <a:lumMod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rot="1620000">
            <a:off x="7947978"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pic>
        <p:nvPicPr>
          <p:cNvPr id="6" name="图片 5"/>
          <p:cNvPicPr>
            <a:picLocks noChangeAspect="1"/>
          </p:cNvPicPr>
          <p:nvPr/>
        </p:nvPicPr>
        <p:blipFill>
          <a:blip r:embed="rId1"/>
          <a:stretch>
            <a:fillRect/>
          </a:stretch>
        </p:blipFill>
        <p:spPr>
          <a:xfrm>
            <a:off x="3092133" y="1182370"/>
            <a:ext cx="2816225" cy="1309370"/>
          </a:xfrm>
          <a:prstGeom prst="rect">
            <a:avLst/>
          </a:prstGeom>
        </p:spPr>
      </p:pic>
      <p:pic>
        <p:nvPicPr>
          <p:cNvPr id="4" name="图片 3"/>
          <p:cNvPicPr>
            <a:picLocks noChangeAspect="1"/>
          </p:cNvPicPr>
          <p:nvPr/>
        </p:nvPicPr>
        <p:blipFill>
          <a:blip r:embed="rId2"/>
          <a:stretch>
            <a:fillRect/>
          </a:stretch>
        </p:blipFill>
        <p:spPr>
          <a:xfrm>
            <a:off x="3092133" y="5149850"/>
            <a:ext cx="3594100" cy="1337310"/>
          </a:xfrm>
          <a:prstGeom prst="rect">
            <a:avLst/>
          </a:prstGeom>
        </p:spPr>
      </p:pic>
      <p:pic>
        <p:nvPicPr>
          <p:cNvPr id="5" name="图片 4"/>
          <p:cNvPicPr>
            <a:picLocks noChangeAspect="1"/>
          </p:cNvPicPr>
          <p:nvPr/>
        </p:nvPicPr>
        <p:blipFill>
          <a:blip r:embed="rId3"/>
          <a:stretch>
            <a:fillRect/>
          </a:stretch>
        </p:blipFill>
        <p:spPr>
          <a:xfrm>
            <a:off x="3092133" y="3255645"/>
            <a:ext cx="2969895" cy="1265555"/>
          </a:xfrm>
          <a:prstGeom prst="rect">
            <a:avLst/>
          </a:prstGeom>
        </p:spPr>
      </p:pic>
      <p:sp>
        <p:nvSpPr>
          <p:cNvPr id="17" name="文本框 16"/>
          <p:cNvSpPr txBox="1"/>
          <p:nvPr/>
        </p:nvSpPr>
        <p:spPr>
          <a:xfrm>
            <a:off x="0" y="2893695"/>
            <a:ext cx="2713355" cy="2523490"/>
          </a:xfrm>
          <a:prstGeom prst="rect">
            <a:avLst/>
          </a:prstGeom>
          <a:noFill/>
        </p:spPr>
        <p:txBody>
          <a:bodyPr wrap="square" rtlCol="0">
            <a:spAutoFit/>
          </a:bodyPr>
          <a:p>
            <a:pPr eaLnBrk="1" hangingPunct="1">
              <a:lnSpc>
                <a:spcPct val="150000"/>
              </a:lnSpc>
              <a:spcBef>
                <a:spcPct val="0"/>
              </a:spcBef>
              <a:spcAft>
                <a:spcPts val="395"/>
              </a:spcAft>
              <a:buNone/>
            </a:pPr>
            <a:r>
              <a:rPr lang="zh-CN" altLang="en-US" sz="1000" b="1" dirty="0">
                <a:solidFill>
                  <a:schemeClr val="tx1">
                    <a:lumMod val="95000"/>
                    <a:lumOff val="5000"/>
                  </a:schemeClr>
                </a:solidFill>
                <a:ea typeface="微软雅黑" panose="020B0503020204020204" charset="-122"/>
                <a:sym typeface="Arial" panose="020B0604020202020204" pitchFamily="34" charset="0"/>
              </a:rPr>
              <a:t>Victing 加湿器             AMIR 百货</a:t>
            </a:r>
            <a:endParaRPr lang="zh-CN" altLang="en-US" sz="1000" b="1" dirty="0">
              <a:solidFill>
                <a:schemeClr val="tx1">
                  <a:lumMod val="95000"/>
                  <a:lumOff val="5000"/>
                </a:schemeClr>
              </a:solidFill>
              <a:latin typeface="+mn-lt"/>
              <a:ea typeface="微软雅黑" panose="020B0503020204020204" charset="-122"/>
              <a:sym typeface="Arial" panose="020B0604020202020204" pitchFamily="34" charset="0"/>
            </a:endParaRPr>
          </a:p>
          <a:p>
            <a:pPr eaLnBrk="1" hangingPunct="1">
              <a:lnSpc>
                <a:spcPct val="150000"/>
              </a:lnSpc>
              <a:spcBef>
                <a:spcPct val="0"/>
              </a:spcBef>
              <a:spcAft>
                <a:spcPts val="395"/>
              </a:spcAft>
              <a:buNone/>
            </a:pPr>
            <a:r>
              <a:rPr lang="zh-CN" altLang="en-US" sz="1000" b="1" dirty="0">
                <a:solidFill>
                  <a:schemeClr val="tx1">
                    <a:lumMod val="95000"/>
                    <a:lumOff val="5000"/>
                  </a:schemeClr>
                </a:solidFill>
                <a:ea typeface="微软雅黑" panose="020B0503020204020204" charset="-122"/>
                <a:sym typeface="Arial" panose="020B0604020202020204" pitchFamily="34" charset="0"/>
              </a:rPr>
              <a:t>TaoTronics 百货         Etekcity 百货</a:t>
            </a:r>
            <a:endParaRPr lang="zh-CN" altLang="en-US" sz="1000" b="1" dirty="0">
              <a:solidFill>
                <a:schemeClr val="tx1">
                  <a:lumMod val="95000"/>
                  <a:lumOff val="5000"/>
                </a:schemeClr>
              </a:solidFill>
              <a:latin typeface="+mn-lt"/>
              <a:ea typeface="微软雅黑" panose="020B0503020204020204" charset="-122"/>
              <a:sym typeface="Arial" panose="020B0604020202020204" pitchFamily="34" charset="0"/>
            </a:endParaRPr>
          </a:p>
          <a:p>
            <a:pPr eaLnBrk="1" hangingPunct="1">
              <a:lnSpc>
                <a:spcPct val="150000"/>
              </a:lnSpc>
              <a:spcBef>
                <a:spcPct val="0"/>
              </a:spcBef>
              <a:spcAft>
                <a:spcPts val="395"/>
              </a:spcAft>
              <a:buNone/>
            </a:pPr>
            <a:r>
              <a:rPr lang="zh-CN" altLang="en-US" sz="1000" b="1" dirty="0">
                <a:solidFill>
                  <a:schemeClr val="tx1">
                    <a:lumMod val="95000"/>
                    <a:lumOff val="5000"/>
                  </a:schemeClr>
                </a:solidFill>
                <a:ea typeface="微软雅黑" panose="020B0503020204020204" charset="-122"/>
                <a:sym typeface="Arial" panose="020B0604020202020204" pitchFamily="34" charset="0"/>
              </a:rPr>
              <a:t>Mpow 蓝牙耳机           Romwe 时尚女装</a:t>
            </a:r>
            <a:endParaRPr lang="en-US" altLang="zh-CN" sz="1000" b="1" dirty="0">
              <a:solidFill>
                <a:schemeClr val="tx1">
                  <a:lumMod val="95000"/>
                  <a:lumOff val="5000"/>
                </a:schemeClr>
              </a:solidFill>
              <a:latin typeface="Arial" panose="020B0604020202020204" pitchFamily="34" charset="0"/>
              <a:ea typeface="微软雅黑" panose="020B0503020204020204" charset="-122"/>
              <a:sym typeface="Arial" panose="020B0604020202020204" pitchFamily="34" charset="0"/>
            </a:endParaRPr>
          </a:p>
          <a:p>
            <a:pPr eaLnBrk="1" hangingPunct="1">
              <a:lnSpc>
                <a:spcPct val="150000"/>
              </a:lnSpc>
              <a:spcBef>
                <a:spcPct val="0"/>
              </a:spcBef>
              <a:spcAft>
                <a:spcPts val="395"/>
              </a:spcAft>
              <a:buNone/>
            </a:pPr>
            <a:r>
              <a:rPr lang="zh-CN" altLang="en-US" sz="1000" b="1" dirty="0">
                <a:solidFill>
                  <a:schemeClr val="tx1">
                    <a:lumMod val="95000"/>
                    <a:lumOff val="5000"/>
                  </a:schemeClr>
                </a:solidFill>
                <a:ea typeface="微软雅黑" panose="020B0503020204020204" charset="-122"/>
                <a:sym typeface="Arial" panose="020B0604020202020204" pitchFamily="34" charset="0"/>
              </a:rPr>
              <a:t>DKnight 蓝牙音箱       Litom 太阳能壁灯</a:t>
            </a:r>
            <a:endParaRPr lang="zh-CN" altLang="en-US" sz="1000" b="1" dirty="0">
              <a:solidFill>
                <a:schemeClr val="tx1">
                  <a:lumMod val="95000"/>
                  <a:lumOff val="5000"/>
                </a:schemeClr>
              </a:solidFill>
              <a:latin typeface="+mn-lt"/>
              <a:ea typeface="微软雅黑" panose="020B0503020204020204" charset="-122"/>
              <a:sym typeface="Arial" panose="020B0604020202020204" pitchFamily="34" charset="0"/>
            </a:endParaRPr>
          </a:p>
          <a:p>
            <a:pPr eaLnBrk="1" hangingPunct="1">
              <a:lnSpc>
                <a:spcPct val="150000"/>
              </a:lnSpc>
              <a:spcBef>
                <a:spcPct val="0"/>
              </a:spcBef>
              <a:spcAft>
                <a:spcPts val="395"/>
              </a:spcAft>
              <a:buNone/>
            </a:pPr>
            <a:r>
              <a:rPr lang="zh-CN" altLang="en-US" sz="1000" b="1" dirty="0">
                <a:solidFill>
                  <a:schemeClr val="tx1">
                    <a:lumMod val="95000"/>
                    <a:lumOff val="5000"/>
                  </a:schemeClr>
                </a:solidFill>
                <a:ea typeface="微软雅黑" panose="020B0503020204020204" charset="-122"/>
                <a:sym typeface="Arial" panose="020B0604020202020204" pitchFamily="34" charset="0"/>
              </a:rPr>
              <a:t>Tenvis 智能监控         Eufy 智能家居</a:t>
            </a:r>
            <a:endParaRPr lang="zh-CN" altLang="en-US" sz="1000" b="1" dirty="0">
              <a:solidFill>
                <a:schemeClr val="tx1">
                  <a:lumMod val="95000"/>
                  <a:lumOff val="5000"/>
                </a:schemeClr>
              </a:solidFill>
              <a:latin typeface="+mn-lt"/>
              <a:ea typeface="微软雅黑" panose="020B0503020204020204" charset="-122"/>
              <a:sym typeface="Arial" panose="020B0604020202020204" pitchFamily="34" charset="0"/>
            </a:endParaRPr>
          </a:p>
          <a:p>
            <a:pPr eaLnBrk="1" hangingPunct="1">
              <a:lnSpc>
                <a:spcPct val="150000"/>
              </a:lnSpc>
              <a:spcBef>
                <a:spcPct val="0"/>
              </a:spcBef>
              <a:spcAft>
                <a:spcPts val="395"/>
              </a:spcAft>
              <a:buNone/>
            </a:pPr>
            <a:r>
              <a:rPr lang="zh-CN" altLang="en-US" sz="1000" b="1" dirty="0">
                <a:solidFill>
                  <a:schemeClr val="tx1">
                    <a:lumMod val="95000"/>
                    <a:lumOff val="5000"/>
                  </a:schemeClr>
                </a:solidFill>
                <a:ea typeface="微软雅黑" panose="020B0503020204020204" charset="-122"/>
                <a:sym typeface="Arial" panose="020B0604020202020204" pitchFamily="34" charset="0"/>
              </a:rPr>
              <a:t>Aukey 移动数据          Anker 移动数据</a:t>
            </a:r>
            <a:endParaRPr lang="zh-CN" altLang="en-US" sz="1000" b="1" dirty="0">
              <a:solidFill>
                <a:schemeClr val="tx1">
                  <a:lumMod val="95000"/>
                  <a:lumOff val="5000"/>
                </a:schemeClr>
              </a:solidFill>
              <a:latin typeface="+mn-lt"/>
              <a:ea typeface="微软雅黑" panose="020B0503020204020204" charset="-122"/>
              <a:sym typeface="Arial" panose="020B0604020202020204" pitchFamily="34" charset="0"/>
            </a:endParaRPr>
          </a:p>
          <a:p>
            <a:pPr eaLnBrk="1" hangingPunct="1">
              <a:lnSpc>
                <a:spcPct val="150000"/>
              </a:lnSpc>
              <a:spcBef>
                <a:spcPct val="0"/>
              </a:spcBef>
              <a:spcAft>
                <a:spcPts val="395"/>
              </a:spcAft>
              <a:buNone/>
            </a:pPr>
            <a:r>
              <a:rPr lang="zh-CN" altLang="en-US" sz="1000" b="1" dirty="0">
                <a:solidFill>
                  <a:schemeClr val="tx1">
                    <a:lumMod val="95000"/>
                    <a:lumOff val="5000"/>
                  </a:schemeClr>
                </a:solidFill>
                <a:ea typeface="微软雅黑" panose="020B0503020204020204" charset="-122"/>
                <a:sym typeface="Arial" panose="020B0604020202020204" pitchFamily="34" charset="0"/>
              </a:rPr>
              <a:t>EasyAcc移动电源       Bestek 移动数据     </a:t>
            </a:r>
            <a:endParaRPr lang="zh-CN" altLang="en-US" sz="1000" b="1" dirty="0">
              <a:solidFill>
                <a:schemeClr val="tx1">
                  <a:lumMod val="95000"/>
                  <a:lumOff val="5000"/>
                </a:schemeClr>
              </a:solidFill>
              <a:ea typeface="微软雅黑" panose="020B0503020204020204" charset="-122"/>
              <a:sym typeface="Arial" panose="020B0604020202020204" pitchFamily="34" charset="0"/>
            </a:endParaRPr>
          </a:p>
          <a:p>
            <a:pPr eaLnBrk="1" hangingPunct="1">
              <a:lnSpc>
                <a:spcPct val="150000"/>
              </a:lnSpc>
              <a:spcBef>
                <a:spcPct val="0"/>
              </a:spcBef>
              <a:spcAft>
                <a:spcPts val="395"/>
              </a:spcAft>
              <a:buNone/>
            </a:pPr>
            <a:r>
              <a:rPr lang="zh-CN" altLang="en-US" sz="1000" b="1" dirty="0">
                <a:solidFill>
                  <a:schemeClr val="tx1">
                    <a:lumMod val="95000"/>
                    <a:lumOff val="5000"/>
                  </a:schemeClr>
                </a:solidFill>
                <a:ea typeface="微软雅黑" panose="020B0503020204020204" charset="-122"/>
                <a:sym typeface="Arial" panose="020B0604020202020204" pitchFamily="34" charset="0"/>
              </a:rPr>
              <a:t>Tomtop 航模配件        iClever 移动数据     Sunvallytek 电脑配件</a:t>
            </a:r>
            <a:endParaRPr lang="en-US" altLang="zh-CN" sz="1000" b="1">
              <a:latin typeface="锐字工房云字库锐倩GBK" panose="02010604000000000000" charset="-122"/>
              <a:ea typeface="锐字工房云字库锐倩GBK" panose="02010604000000000000" charset="-122"/>
            </a:endParaRPr>
          </a:p>
        </p:txBody>
      </p:sp>
      <p:sp>
        <p:nvSpPr>
          <p:cNvPr id="7" name="文本框 6"/>
          <p:cNvSpPr txBox="1"/>
          <p:nvPr/>
        </p:nvSpPr>
        <p:spPr>
          <a:xfrm>
            <a:off x="857885" y="283210"/>
            <a:ext cx="2926715" cy="583565"/>
          </a:xfrm>
          <a:prstGeom prst="rect">
            <a:avLst/>
          </a:prstGeom>
          <a:noFill/>
        </p:spPr>
        <p:txBody>
          <a:bodyPr wrap="none" rtlCol="0">
            <a:spAutoFit/>
          </a:bodyPr>
          <a:p>
            <a:pPr algn="l"/>
            <a:r>
              <a:rPr lang="zh-CN" altLang="en-US" sz="3200" b="1" spc="100" dirty="0" smtClean="0">
                <a:latin typeface="宋体" panose="02010600030101010101" pitchFamily="2" charset="-122"/>
                <a:ea typeface="宋体" panose="02010600030101010101" pitchFamily="2" charset="-122"/>
                <a:cs typeface="Lato Light" charset="0"/>
                <a:sym typeface="Lato Light" charset="0"/>
              </a:rPr>
              <a:t>排名</a:t>
            </a:r>
            <a:r>
              <a:rPr lang="en-US" altLang="zh-CN" sz="3200" b="1" spc="100" dirty="0" smtClean="0">
                <a:latin typeface="宋体" panose="02010600030101010101" pitchFamily="2" charset="-122"/>
                <a:ea typeface="宋体" panose="02010600030101010101" pitchFamily="2" charset="-122"/>
                <a:cs typeface="Lato Light" charset="0"/>
                <a:sym typeface="Lato Light" charset="0"/>
              </a:rPr>
              <a:t>-</a:t>
            </a:r>
            <a:r>
              <a:rPr lang="zh-CN" altLang="en-US" sz="3200" b="1" spc="100" dirty="0" smtClean="0">
                <a:latin typeface="宋体" panose="02010600030101010101" pitchFamily="2" charset="-122"/>
                <a:ea typeface="宋体" panose="02010600030101010101" pitchFamily="2" charset="-122"/>
                <a:cs typeface="Lato Light" charset="0"/>
                <a:sym typeface="Lato Light" charset="0"/>
              </a:rPr>
              <a:t>反应速度</a:t>
            </a:r>
            <a:endParaRPr lang="en-US" altLang="zh-CN" sz="3200" b="1">
              <a:solidFill>
                <a:schemeClr val="tx1">
                  <a:lumMod val="75000"/>
                  <a:lumOff val="25000"/>
                </a:schemeClr>
              </a:solidFill>
            </a:endParaRPr>
          </a:p>
        </p:txBody>
      </p:sp>
      <p:sp>
        <p:nvSpPr>
          <p:cNvPr id="18" name="矩形 17"/>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ppt_x"/>
                                          </p:val>
                                        </p:tav>
                                        <p:tav tm="100000">
                                          <p:val>
                                            <p:strVal val="#ppt_x"/>
                                          </p:val>
                                        </p:tav>
                                      </p:tavLst>
                                    </p:anim>
                                    <p:anim calcmode="lin" valueType="num">
                                      <p:cBhvr additive="base">
                                        <p:cTn id="13" dur="500" fill="hold"/>
                                        <p:tgtEl>
                                          <p:spTgt spid="2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ppt_x"/>
                                          </p:val>
                                        </p:tav>
                                        <p:tav tm="100000">
                                          <p:val>
                                            <p:strVal val="#ppt_x"/>
                                          </p:val>
                                        </p:tav>
                                      </p:tavLst>
                                    </p:anim>
                                    <p:anim calcmode="lin" valueType="num">
                                      <p:cBhvr additive="base">
                                        <p:cTn id="18" dur="500" fill="hold"/>
                                        <p:tgtEl>
                                          <p:spTgt spid="2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additive="base">
                                        <p:cTn id="22" dur="500" fill="hold"/>
                                        <p:tgtEl>
                                          <p:spTgt spid="27"/>
                                        </p:tgtEl>
                                        <p:attrNameLst>
                                          <p:attrName>ppt_x</p:attrName>
                                        </p:attrNameLst>
                                      </p:cBhvr>
                                      <p:tavLst>
                                        <p:tav tm="0">
                                          <p:val>
                                            <p:strVal val="1+#ppt_w/2"/>
                                          </p:val>
                                        </p:tav>
                                        <p:tav tm="100000">
                                          <p:val>
                                            <p:strVal val="#ppt_x"/>
                                          </p:val>
                                        </p:tav>
                                      </p:tavLst>
                                    </p:anim>
                                    <p:anim calcmode="lin" valueType="num">
                                      <p:cBhvr additive="base">
                                        <p:cTn id="23" dur="500" fill="hold"/>
                                        <p:tgtEl>
                                          <p:spTgt spid="27"/>
                                        </p:tgtEl>
                                        <p:attrNameLst>
                                          <p:attrName>ppt_y</p:attrName>
                                        </p:attrNameLst>
                                      </p:cBhvr>
                                      <p:tavLst>
                                        <p:tav tm="0">
                                          <p:val>
                                            <p:strVal val="#ppt_y"/>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additive="base">
                                        <p:cTn id="26" dur="500" fill="hold"/>
                                        <p:tgtEl>
                                          <p:spTgt spid="28"/>
                                        </p:tgtEl>
                                        <p:attrNameLst>
                                          <p:attrName>ppt_x</p:attrName>
                                        </p:attrNameLst>
                                      </p:cBhvr>
                                      <p:tavLst>
                                        <p:tav tm="0">
                                          <p:val>
                                            <p:strVal val="#ppt_x"/>
                                          </p:val>
                                        </p:tav>
                                        <p:tav tm="100000">
                                          <p:val>
                                            <p:strVal val="#ppt_x"/>
                                          </p:val>
                                        </p:tav>
                                      </p:tavLst>
                                    </p:anim>
                                    <p:anim calcmode="lin" valueType="num">
                                      <p:cBhvr additive="base">
                                        <p:cTn id="27" dur="500" fill="hold"/>
                                        <p:tgtEl>
                                          <p:spTgt spid="28"/>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29"/>
                                        </p:tgtEl>
                                        <p:attrNameLst>
                                          <p:attrName>style.visibility</p:attrName>
                                        </p:attrNameLst>
                                      </p:cBhvr>
                                      <p:to>
                                        <p:strVal val="visible"/>
                                      </p:to>
                                    </p:set>
                                    <p:anim calcmode="lin" valueType="num">
                                      <p:cBhvr additive="base">
                                        <p:cTn id="30" dur="500" fill="hold"/>
                                        <p:tgtEl>
                                          <p:spTgt spid="29"/>
                                        </p:tgtEl>
                                        <p:attrNameLst>
                                          <p:attrName>ppt_x</p:attrName>
                                        </p:attrNameLst>
                                      </p:cBhvr>
                                      <p:tavLst>
                                        <p:tav tm="0">
                                          <p:val>
                                            <p:strVal val="#ppt_x"/>
                                          </p:val>
                                        </p:tav>
                                        <p:tav tm="100000">
                                          <p:val>
                                            <p:strVal val="#ppt_x"/>
                                          </p:val>
                                        </p:tav>
                                      </p:tavLst>
                                    </p:anim>
                                    <p:anim calcmode="lin" valueType="num">
                                      <p:cBhvr additive="base">
                                        <p:cTn id="31" dur="500" fill="hold"/>
                                        <p:tgtEl>
                                          <p:spTgt spid="2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 calcmode="lin" valueType="num">
                                      <p:cBhvr additive="base">
                                        <p:cTn id="34" dur="500" fill="hold"/>
                                        <p:tgtEl>
                                          <p:spTgt spid="30"/>
                                        </p:tgtEl>
                                        <p:attrNameLst>
                                          <p:attrName>ppt_x</p:attrName>
                                        </p:attrNameLst>
                                      </p:cBhvr>
                                      <p:tavLst>
                                        <p:tav tm="0">
                                          <p:val>
                                            <p:strVal val="#ppt_x"/>
                                          </p:val>
                                        </p:tav>
                                        <p:tav tm="100000">
                                          <p:val>
                                            <p:strVal val="#ppt_x"/>
                                          </p:val>
                                        </p:tav>
                                      </p:tavLst>
                                    </p:anim>
                                    <p:anim calcmode="lin" valueType="num">
                                      <p:cBhvr additive="base">
                                        <p:cTn id="35" dur="500" fill="hold"/>
                                        <p:tgtEl>
                                          <p:spTgt spid="30"/>
                                        </p:tgtEl>
                                        <p:attrNameLst>
                                          <p:attrName>ppt_y</p:attrName>
                                        </p:attrNameLst>
                                      </p:cBhvr>
                                      <p:tavLst>
                                        <p:tav tm="0">
                                          <p:val>
                                            <p:strVal val="1+#ppt_h/2"/>
                                          </p:val>
                                        </p:tav>
                                        <p:tav tm="100000">
                                          <p:val>
                                            <p:strVal val="#ppt_y"/>
                                          </p:val>
                                        </p:tav>
                                      </p:tavLst>
                                    </p:anim>
                                  </p:childTnLst>
                                </p:cTn>
                              </p:par>
                              <p:par>
                                <p:cTn id="36" presetID="2" presetClass="entr" presetSubtype="3" fill="hold" grpId="0" nodeType="withEffect">
                                  <p:stCondLst>
                                    <p:cond delay="0"/>
                                  </p:stCondLst>
                                  <p:childTnLst>
                                    <p:set>
                                      <p:cBhvr>
                                        <p:cTn id="37" dur="1" fill="hold">
                                          <p:stCondLst>
                                            <p:cond delay="0"/>
                                          </p:stCondLst>
                                        </p:cTn>
                                        <p:tgtEl>
                                          <p:spTgt spid="43"/>
                                        </p:tgtEl>
                                        <p:attrNameLst>
                                          <p:attrName>style.visibility</p:attrName>
                                        </p:attrNameLst>
                                      </p:cBhvr>
                                      <p:to>
                                        <p:strVal val="visible"/>
                                      </p:to>
                                    </p:set>
                                    <p:anim calcmode="lin" valueType="num">
                                      <p:cBhvr additive="base">
                                        <p:cTn id="38" dur="500" fill="hold"/>
                                        <p:tgtEl>
                                          <p:spTgt spid="43"/>
                                        </p:tgtEl>
                                        <p:attrNameLst>
                                          <p:attrName>ppt_x</p:attrName>
                                        </p:attrNameLst>
                                      </p:cBhvr>
                                      <p:tavLst>
                                        <p:tav tm="0">
                                          <p:val>
                                            <p:strVal val="1+#ppt_w/2"/>
                                          </p:val>
                                        </p:tav>
                                        <p:tav tm="100000">
                                          <p:val>
                                            <p:strVal val="#ppt_x"/>
                                          </p:val>
                                        </p:tav>
                                      </p:tavLst>
                                    </p:anim>
                                    <p:anim calcmode="lin" valueType="num">
                                      <p:cBhvr additive="base">
                                        <p:cTn id="39" dur="500" fill="hold"/>
                                        <p:tgtEl>
                                          <p:spTgt spid="43"/>
                                        </p:tgtEl>
                                        <p:attrNameLst>
                                          <p:attrName>ppt_y</p:attrName>
                                        </p:attrNameLst>
                                      </p:cBhvr>
                                      <p:tavLst>
                                        <p:tav tm="0">
                                          <p:val>
                                            <p:strVal val="0-#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44"/>
                                        </p:tgtEl>
                                        <p:attrNameLst>
                                          <p:attrName>style.visibility</p:attrName>
                                        </p:attrNameLst>
                                      </p:cBhvr>
                                      <p:to>
                                        <p:strVal val="visible"/>
                                      </p:to>
                                    </p:set>
                                    <p:anim calcmode="lin" valueType="num">
                                      <p:cBhvr additive="base">
                                        <p:cTn id="42" dur="500" fill="hold"/>
                                        <p:tgtEl>
                                          <p:spTgt spid="44"/>
                                        </p:tgtEl>
                                        <p:attrNameLst>
                                          <p:attrName>ppt_x</p:attrName>
                                        </p:attrNameLst>
                                      </p:cBhvr>
                                      <p:tavLst>
                                        <p:tav tm="0">
                                          <p:val>
                                            <p:strVal val="#ppt_x"/>
                                          </p:val>
                                        </p:tav>
                                        <p:tav tm="100000">
                                          <p:val>
                                            <p:strVal val="#ppt_x"/>
                                          </p:val>
                                        </p:tav>
                                      </p:tavLst>
                                    </p:anim>
                                    <p:anim calcmode="lin" valueType="num">
                                      <p:cBhvr additive="base">
                                        <p:cTn id="43" dur="500" fill="hold"/>
                                        <p:tgtEl>
                                          <p:spTgt spid="44"/>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45"/>
                                        </p:tgtEl>
                                        <p:attrNameLst>
                                          <p:attrName>style.visibility</p:attrName>
                                        </p:attrNameLst>
                                      </p:cBhvr>
                                      <p:to>
                                        <p:strVal val="visible"/>
                                      </p:to>
                                    </p:set>
                                    <p:anim calcmode="lin" valueType="num">
                                      <p:cBhvr additive="base">
                                        <p:cTn id="46" dur="500" fill="hold"/>
                                        <p:tgtEl>
                                          <p:spTgt spid="45"/>
                                        </p:tgtEl>
                                        <p:attrNameLst>
                                          <p:attrName>ppt_x</p:attrName>
                                        </p:attrNameLst>
                                      </p:cBhvr>
                                      <p:tavLst>
                                        <p:tav tm="0">
                                          <p:val>
                                            <p:strVal val="#ppt_x"/>
                                          </p:val>
                                        </p:tav>
                                        <p:tav tm="100000">
                                          <p:val>
                                            <p:strVal val="#ppt_x"/>
                                          </p:val>
                                        </p:tav>
                                      </p:tavLst>
                                    </p:anim>
                                    <p:anim calcmode="lin" valueType="num">
                                      <p:cBhvr additive="base">
                                        <p:cTn id="47" dur="500" fill="hold"/>
                                        <p:tgtEl>
                                          <p:spTgt spid="45"/>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46"/>
                                        </p:tgtEl>
                                        <p:attrNameLst>
                                          <p:attrName>style.visibility</p:attrName>
                                        </p:attrNameLst>
                                      </p:cBhvr>
                                      <p:to>
                                        <p:strVal val="visible"/>
                                      </p:to>
                                    </p:set>
                                    <p:anim calcmode="lin" valueType="num">
                                      <p:cBhvr additive="base">
                                        <p:cTn id="50" dur="500" fill="hold"/>
                                        <p:tgtEl>
                                          <p:spTgt spid="46"/>
                                        </p:tgtEl>
                                        <p:attrNameLst>
                                          <p:attrName>ppt_x</p:attrName>
                                        </p:attrNameLst>
                                      </p:cBhvr>
                                      <p:tavLst>
                                        <p:tav tm="0">
                                          <p:val>
                                            <p:strVal val="#ppt_x"/>
                                          </p:val>
                                        </p:tav>
                                        <p:tav tm="100000">
                                          <p:val>
                                            <p:strVal val="#ppt_x"/>
                                          </p:val>
                                        </p:tav>
                                      </p:tavLst>
                                    </p:anim>
                                    <p:anim calcmode="lin" valueType="num">
                                      <p:cBhvr additive="base">
                                        <p:cTn id="51" dur="500" fill="hold"/>
                                        <p:tgtEl>
                                          <p:spTgt spid="46"/>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47"/>
                                        </p:tgtEl>
                                        <p:attrNameLst>
                                          <p:attrName>style.visibility</p:attrName>
                                        </p:attrNameLst>
                                      </p:cBhvr>
                                      <p:to>
                                        <p:strVal val="visible"/>
                                      </p:to>
                                    </p:set>
                                    <p:anim calcmode="lin" valueType="num">
                                      <p:cBhvr additive="base">
                                        <p:cTn id="54" dur="500" fill="hold"/>
                                        <p:tgtEl>
                                          <p:spTgt spid="47"/>
                                        </p:tgtEl>
                                        <p:attrNameLst>
                                          <p:attrName>ppt_x</p:attrName>
                                        </p:attrNameLst>
                                      </p:cBhvr>
                                      <p:tavLst>
                                        <p:tav tm="0">
                                          <p:val>
                                            <p:strVal val="#ppt_x"/>
                                          </p:val>
                                        </p:tav>
                                        <p:tav tm="100000">
                                          <p:val>
                                            <p:strVal val="#ppt_x"/>
                                          </p:val>
                                        </p:tav>
                                      </p:tavLst>
                                    </p:anim>
                                    <p:anim calcmode="lin" valueType="num">
                                      <p:cBhvr additive="base">
                                        <p:cTn id="55" dur="500" fill="hold"/>
                                        <p:tgtEl>
                                          <p:spTgt spid="47"/>
                                        </p:tgtEl>
                                        <p:attrNameLst>
                                          <p:attrName>ppt_y</p:attrName>
                                        </p:attrNameLst>
                                      </p:cBhvr>
                                      <p:tavLst>
                                        <p:tav tm="0">
                                          <p:val>
                                            <p:strVal val="1+#ppt_h/2"/>
                                          </p:val>
                                        </p:tav>
                                        <p:tav tm="100000">
                                          <p:val>
                                            <p:strVal val="#ppt_y"/>
                                          </p:val>
                                        </p:tav>
                                      </p:tavLst>
                                    </p:anim>
                                  </p:childTnLst>
                                </p:cTn>
                              </p:par>
                              <p:par>
                                <p:cTn id="56" presetID="2" presetClass="entr" presetSubtype="6" fill="hold" nodeType="withEffect">
                                  <p:stCondLst>
                                    <p:cond delay="0"/>
                                  </p:stCondLst>
                                  <p:childTnLst>
                                    <p:set>
                                      <p:cBhvr>
                                        <p:cTn id="57" dur="1" fill="hold">
                                          <p:stCondLst>
                                            <p:cond delay="0"/>
                                          </p:stCondLst>
                                        </p:cTn>
                                        <p:tgtEl>
                                          <p:spTgt spid="48"/>
                                        </p:tgtEl>
                                        <p:attrNameLst>
                                          <p:attrName>style.visibility</p:attrName>
                                        </p:attrNameLst>
                                      </p:cBhvr>
                                      <p:to>
                                        <p:strVal val="visible"/>
                                      </p:to>
                                    </p:set>
                                    <p:anim calcmode="lin" valueType="num">
                                      <p:cBhvr additive="base">
                                        <p:cTn id="58" dur="500" fill="hold"/>
                                        <p:tgtEl>
                                          <p:spTgt spid="48"/>
                                        </p:tgtEl>
                                        <p:attrNameLst>
                                          <p:attrName>ppt_x</p:attrName>
                                        </p:attrNameLst>
                                      </p:cBhvr>
                                      <p:tavLst>
                                        <p:tav tm="0">
                                          <p:val>
                                            <p:strVal val="1+#ppt_w/2"/>
                                          </p:val>
                                        </p:tav>
                                        <p:tav tm="100000">
                                          <p:val>
                                            <p:strVal val="#ppt_x"/>
                                          </p:val>
                                        </p:tav>
                                      </p:tavLst>
                                    </p:anim>
                                    <p:anim calcmode="lin" valueType="num">
                                      <p:cBhvr additive="base">
                                        <p:cTn id="59" dur="500" fill="hold"/>
                                        <p:tgtEl>
                                          <p:spTgt spid="48"/>
                                        </p:tgtEl>
                                        <p:attrNameLst>
                                          <p:attrName>ppt_y</p:attrName>
                                        </p:attrNameLst>
                                      </p:cBhvr>
                                      <p:tavLst>
                                        <p:tav tm="0">
                                          <p:val>
                                            <p:strVal val="1+#ppt_h/2"/>
                                          </p:val>
                                        </p:tav>
                                        <p:tav tm="100000">
                                          <p:val>
                                            <p:strVal val="#ppt_y"/>
                                          </p:val>
                                        </p:tav>
                                      </p:tavLst>
                                    </p:anim>
                                  </p:childTnLst>
                                </p:cTn>
                              </p:par>
                              <p:par>
                                <p:cTn id="60" presetID="2" presetClass="entr" presetSubtype="6" fill="hold" grpId="0" nodeType="withEffect">
                                  <p:stCondLst>
                                    <p:cond delay="0"/>
                                  </p:stCondLst>
                                  <p:childTnLst>
                                    <p:set>
                                      <p:cBhvr>
                                        <p:cTn id="61" dur="1" fill="hold">
                                          <p:stCondLst>
                                            <p:cond delay="0"/>
                                          </p:stCondLst>
                                        </p:cTn>
                                        <p:tgtEl>
                                          <p:spTgt spid="55"/>
                                        </p:tgtEl>
                                        <p:attrNameLst>
                                          <p:attrName>style.visibility</p:attrName>
                                        </p:attrNameLst>
                                      </p:cBhvr>
                                      <p:to>
                                        <p:strVal val="visible"/>
                                      </p:to>
                                    </p:set>
                                    <p:anim calcmode="lin" valueType="num">
                                      <p:cBhvr additive="base">
                                        <p:cTn id="62" dur="500" fill="hold"/>
                                        <p:tgtEl>
                                          <p:spTgt spid="55"/>
                                        </p:tgtEl>
                                        <p:attrNameLst>
                                          <p:attrName>ppt_x</p:attrName>
                                        </p:attrNameLst>
                                      </p:cBhvr>
                                      <p:tavLst>
                                        <p:tav tm="0">
                                          <p:val>
                                            <p:strVal val="1+#ppt_w/2"/>
                                          </p:val>
                                        </p:tav>
                                        <p:tav tm="100000">
                                          <p:val>
                                            <p:strVal val="#ppt_x"/>
                                          </p:val>
                                        </p:tav>
                                      </p:tavLst>
                                    </p:anim>
                                    <p:anim calcmode="lin" valueType="num">
                                      <p:cBhvr additive="base">
                                        <p:cTn id="63" dur="500" fill="hold"/>
                                        <p:tgtEl>
                                          <p:spTgt spid="55"/>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56"/>
                                        </p:tgtEl>
                                        <p:attrNameLst>
                                          <p:attrName>style.visibility</p:attrName>
                                        </p:attrNameLst>
                                      </p:cBhvr>
                                      <p:to>
                                        <p:strVal val="visible"/>
                                      </p:to>
                                    </p:set>
                                    <p:anim calcmode="lin" valueType="num">
                                      <p:cBhvr additive="base">
                                        <p:cTn id="66" dur="500" fill="hold"/>
                                        <p:tgtEl>
                                          <p:spTgt spid="56"/>
                                        </p:tgtEl>
                                        <p:attrNameLst>
                                          <p:attrName>ppt_x</p:attrName>
                                        </p:attrNameLst>
                                      </p:cBhvr>
                                      <p:tavLst>
                                        <p:tav tm="0">
                                          <p:val>
                                            <p:strVal val="#ppt_x"/>
                                          </p:val>
                                        </p:tav>
                                        <p:tav tm="100000">
                                          <p:val>
                                            <p:strVal val="#ppt_x"/>
                                          </p:val>
                                        </p:tav>
                                      </p:tavLst>
                                    </p:anim>
                                    <p:anim calcmode="lin" valueType="num">
                                      <p:cBhvr additive="base">
                                        <p:cTn id="67" dur="500" fill="hold"/>
                                        <p:tgtEl>
                                          <p:spTgt spid="56"/>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57"/>
                                        </p:tgtEl>
                                        <p:attrNameLst>
                                          <p:attrName>style.visibility</p:attrName>
                                        </p:attrNameLst>
                                      </p:cBhvr>
                                      <p:to>
                                        <p:strVal val="visible"/>
                                      </p:to>
                                    </p:set>
                                    <p:anim calcmode="lin" valueType="num">
                                      <p:cBhvr additive="base">
                                        <p:cTn id="70" dur="500" fill="hold"/>
                                        <p:tgtEl>
                                          <p:spTgt spid="57"/>
                                        </p:tgtEl>
                                        <p:attrNameLst>
                                          <p:attrName>ppt_x</p:attrName>
                                        </p:attrNameLst>
                                      </p:cBhvr>
                                      <p:tavLst>
                                        <p:tav tm="0">
                                          <p:val>
                                            <p:strVal val="#ppt_x"/>
                                          </p:val>
                                        </p:tav>
                                        <p:tav tm="100000">
                                          <p:val>
                                            <p:strVal val="#ppt_x"/>
                                          </p:val>
                                        </p:tav>
                                      </p:tavLst>
                                    </p:anim>
                                    <p:anim calcmode="lin" valueType="num">
                                      <p:cBhvr additive="base">
                                        <p:cTn id="71" dur="500" fill="hold"/>
                                        <p:tgtEl>
                                          <p:spTgt spid="57"/>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58"/>
                                        </p:tgtEl>
                                        <p:attrNameLst>
                                          <p:attrName>style.visibility</p:attrName>
                                        </p:attrNameLst>
                                      </p:cBhvr>
                                      <p:to>
                                        <p:strVal val="visible"/>
                                      </p:to>
                                    </p:set>
                                    <p:anim calcmode="lin" valueType="num">
                                      <p:cBhvr additive="base">
                                        <p:cTn id="74" dur="500" fill="hold"/>
                                        <p:tgtEl>
                                          <p:spTgt spid="58"/>
                                        </p:tgtEl>
                                        <p:attrNameLst>
                                          <p:attrName>ppt_x</p:attrName>
                                        </p:attrNameLst>
                                      </p:cBhvr>
                                      <p:tavLst>
                                        <p:tav tm="0">
                                          <p:val>
                                            <p:strVal val="#ppt_x"/>
                                          </p:val>
                                        </p:tav>
                                        <p:tav tm="100000">
                                          <p:val>
                                            <p:strVal val="#ppt_x"/>
                                          </p:val>
                                        </p:tav>
                                      </p:tavLst>
                                    </p:anim>
                                    <p:anim calcmode="lin" valueType="num">
                                      <p:cBhvr additive="base">
                                        <p:cTn id="75" dur="500" fill="hold"/>
                                        <p:tgtEl>
                                          <p:spTgt spid="58"/>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59"/>
                                        </p:tgtEl>
                                        <p:attrNameLst>
                                          <p:attrName>style.visibility</p:attrName>
                                        </p:attrNameLst>
                                      </p:cBhvr>
                                      <p:to>
                                        <p:strVal val="visible"/>
                                      </p:to>
                                    </p:set>
                                    <p:anim calcmode="lin" valueType="num">
                                      <p:cBhvr additive="base">
                                        <p:cTn id="78" dur="500" fill="hold"/>
                                        <p:tgtEl>
                                          <p:spTgt spid="59"/>
                                        </p:tgtEl>
                                        <p:attrNameLst>
                                          <p:attrName>ppt_x</p:attrName>
                                        </p:attrNameLst>
                                      </p:cBhvr>
                                      <p:tavLst>
                                        <p:tav tm="0">
                                          <p:val>
                                            <p:strVal val="#ppt_x"/>
                                          </p:val>
                                        </p:tav>
                                        <p:tav tm="100000">
                                          <p:val>
                                            <p:strVal val="#ppt_x"/>
                                          </p:val>
                                        </p:tav>
                                      </p:tavLst>
                                    </p:anim>
                                    <p:anim calcmode="lin" valueType="num">
                                      <p:cBhvr additive="base">
                                        <p:cTn id="79" dur="500" fill="hold"/>
                                        <p:tgtEl>
                                          <p:spTgt spid="59"/>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60"/>
                                        </p:tgtEl>
                                        <p:attrNameLst>
                                          <p:attrName>style.visibility</p:attrName>
                                        </p:attrNameLst>
                                      </p:cBhvr>
                                      <p:to>
                                        <p:strVal val="visible"/>
                                      </p:to>
                                    </p:set>
                                    <p:anim calcmode="lin" valueType="num">
                                      <p:cBhvr additive="base">
                                        <p:cTn id="82" dur="500" fill="hold"/>
                                        <p:tgtEl>
                                          <p:spTgt spid="60"/>
                                        </p:tgtEl>
                                        <p:attrNameLst>
                                          <p:attrName>ppt_x</p:attrName>
                                        </p:attrNameLst>
                                      </p:cBhvr>
                                      <p:tavLst>
                                        <p:tav tm="0">
                                          <p:val>
                                            <p:strVal val="#ppt_x"/>
                                          </p:val>
                                        </p:tav>
                                        <p:tav tm="100000">
                                          <p:val>
                                            <p:strVal val="#ppt_x"/>
                                          </p:val>
                                        </p:tav>
                                      </p:tavLst>
                                    </p:anim>
                                    <p:anim calcmode="lin" valueType="num">
                                      <p:cBhvr additive="base">
                                        <p:cTn id="83" dur="500" fill="hold"/>
                                        <p:tgtEl>
                                          <p:spTgt spid="60"/>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61"/>
                                        </p:tgtEl>
                                        <p:attrNameLst>
                                          <p:attrName>style.visibility</p:attrName>
                                        </p:attrNameLst>
                                      </p:cBhvr>
                                      <p:to>
                                        <p:strVal val="visible"/>
                                      </p:to>
                                    </p:set>
                                    <p:anim calcmode="lin" valueType="num">
                                      <p:cBhvr additive="base">
                                        <p:cTn id="86" dur="500" fill="hold"/>
                                        <p:tgtEl>
                                          <p:spTgt spid="61"/>
                                        </p:tgtEl>
                                        <p:attrNameLst>
                                          <p:attrName>ppt_x</p:attrName>
                                        </p:attrNameLst>
                                      </p:cBhvr>
                                      <p:tavLst>
                                        <p:tav tm="0">
                                          <p:val>
                                            <p:strVal val="#ppt_x"/>
                                          </p:val>
                                        </p:tav>
                                        <p:tav tm="100000">
                                          <p:val>
                                            <p:strVal val="#ppt_x"/>
                                          </p:val>
                                        </p:tav>
                                      </p:tavLst>
                                    </p:anim>
                                    <p:anim calcmode="lin" valueType="num">
                                      <p:cBhvr additive="base">
                                        <p:cTn id="87" dur="500" fill="hold"/>
                                        <p:tgtEl>
                                          <p:spTgt spid="61"/>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69"/>
                                        </p:tgtEl>
                                        <p:attrNameLst>
                                          <p:attrName>style.visibility</p:attrName>
                                        </p:attrNameLst>
                                      </p:cBhvr>
                                      <p:to>
                                        <p:strVal val="visible"/>
                                      </p:to>
                                    </p:set>
                                    <p:anim calcmode="lin" valueType="num">
                                      <p:cBhvr additive="base">
                                        <p:cTn id="90" dur="500" fill="hold"/>
                                        <p:tgtEl>
                                          <p:spTgt spid="69"/>
                                        </p:tgtEl>
                                        <p:attrNameLst>
                                          <p:attrName>ppt_x</p:attrName>
                                        </p:attrNameLst>
                                      </p:cBhvr>
                                      <p:tavLst>
                                        <p:tav tm="0">
                                          <p:val>
                                            <p:strVal val="#ppt_x"/>
                                          </p:val>
                                        </p:tav>
                                        <p:tav tm="100000">
                                          <p:val>
                                            <p:strVal val="#ppt_x"/>
                                          </p:val>
                                        </p:tav>
                                      </p:tavLst>
                                    </p:anim>
                                    <p:anim calcmode="lin" valueType="num">
                                      <p:cBhvr additive="base">
                                        <p:cTn id="91" dur="500" fill="hold"/>
                                        <p:tgtEl>
                                          <p:spTgt spid="69"/>
                                        </p:tgtEl>
                                        <p:attrNameLst>
                                          <p:attrName>ppt_y</p:attrName>
                                        </p:attrNameLst>
                                      </p:cBhvr>
                                      <p:tavLst>
                                        <p:tav tm="0">
                                          <p:val>
                                            <p:strVal val="1+#ppt_h/2"/>
                                          </p:val>
                                        </p:tav>
                                        <p:tav tm="100000">
                                          <p:val>
                                            <p:strVal val="#ppt_y"/>
                                          </p:val>
                                        </p:tav>
                                      </p:tavLst>
                                    </p:anim>
                                  </p:childTnLst>
                                </p:cTn>
                              </p:par>
                              <p:par>
                                <p:cTn id="92" presetID="2" presetClass="entr" presetSubtype="1" fill="hold" grpId="0" nodeType="withEffect">
                                  <p:stCondLst>
                                    <p:cond delay="0"/>
                                  </p:stCondLst>
                                  <p:childTnLst>
                                    <p:set>
                                      <p:cBhvr>
                                        <p:cTn id="93" dur="1" fill="hold">
                                          <p:stCondLst>
                                            <p:cond delay="0"/>
                                          </p:stCondLst>
                                        </p:cTn>
                                        <p:tgtEl>
                                          <p:spTgt spid="70"/>
                                        </p:tgtEl>
                                        <p:attrNameLst>
                                          <p:attrName>style.visibility</p:attrName>
                                        </p:attrNameLst>
                                      </p:cBhvr>
                                      <p:to>
                                        <p:strVal val="visible"/>
                                      </p:to>
                                    </p:set>
                                    <p:anim calcmode="lin" valueType="num">
                                      <p:cBhvr additive="base">
                                        <p:cTn id="94" dur="500" fill="hold"/>
                                        <p:tgtEl>
                                          <p:spTgt spid="70"/>
                                        </p:tgtEl>
                                        <p:attrNameLst>
                                          <p:attrName>ppt_x</p:attrName>
                                        </p:attrNameLst>
                                      </p:cBhvr>
                                      <p:tavLst>
                                        <p:tav tm="0">
                                          <p:val>
                                            <p:strVal val="#ppt_x"/>
                                          </p:val>
                                        </p:tav>
                                        <p:tav tm="100000">
                                          <p:val>
                                            <p:strVal val="#ppt_x"/>
                                          </p:val>
                                        </p:tav>
                                      </p:tavLst>
                                    </p:anim>
                                    <p:anim calcmode="lin" valueType="num">
                                      <p:cBhvr additive="base">
                                        <p:cTn id="95" dur="500" fill="hold"/>
                                        <p:tgtEl>
                                          <p:spTgt spid="70"/>
                                        </p:tgtEl>
                                        <p:attrNameLst>
                                          <p:attrName>ppt_y</p:attrName>
                                        </p:attrNameLst>
                                      </p:cBhvr>
                                      <p:tavLst>
                                        <p:tav tm="0">
                                          <p:val>
                                            <p:strVal val="0-#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71"/>
                                        </p:tgtEl>
                                        <p:attrNameLst>
                                          <p:attrName>style.visibility</p:attrName>
                                        </p:attrNameLst>
                                      </p:cBhvr>
                                      <p:to>
                                        <p:strVal val="visible"/>
                                      </p:to>
                                    </p:set>
                                    <p:anim calcmode="lin" valueType="num">
                                      <p:cBhvr additive="base">
                                        <p:cTn id="98" dur="500" fill="hold"/>
                                        <p:tgtEl>
                                          <p:spTgt spid="71"/>
                                        </p:tgtEl>
                                        <p:attrNameLst>
                                          <p:attrName>ppt_x</p:attrName>
                                        </p:attrNameLst>
                                      </p:cBhvr>
                                      <p:tavLst>
                                        <p:tav tm="0">
                                          <p:val>
                                            <p:strVal val="#ppt_x"/>
                                          </p:val>
                                        </p:tav>
                                        <p:tav tm="100000">
                                          <p:val>
                                            <p:strVal val="#ppt_x"/>
                                          </p:val>
                                        </p:tav>
                                      </p:tavLst>
                                    </p:anim>
                                    <p:anim calcmode="lin" valueType="num">
                                      <p:cBhvr additive="base">
                                        <p:cTn id="99" dur="500" fill="hold"/>
                                        <p:tgtEl>
                                          <p:spTgt spid="71"/>
                                        </p:tgtEl>
                                        <p:attrNameLst>
                                          <p:attrName>ppt_y</p:attrName>
                                        </p:attrNameLst>
                                      </p:cBhvr>
                                      <p:tavLst>
                                        <p:tav tm="0">
                                          <p:val>
                                            <p:strVal val="1+#ppt_h/2"/>
                                          </p:val>
                                        </p:tav>
                                        <p:tav tm="100000">
                                          <p:val>
                                            <p:strVal val="#ppt_y"/>
                                          </p:val>
                                        </p:tav>
                                      </p:tavLst>
                                    </p:anim>
                                  </p:childTnLst>
                                </p:cTn>
                              </p:par>
                              <p:par>
                                <p:cTn id="100" presetID="2" presetClass="entr" presetSubtype="9" fill="hold" grpId="0" nodeType="withEffect">
                                  <p:stCondLst>
                                    <p:cond delay="0"/>
                                  </p:stCondLst>
                                  <p:childTnLst>
                                    <p:set>
                                      <p:cBhvr>
                                        <p:cTn id="101" dur="1" fill="hold">
                                          <p:stCondLst>
                                            <p:cond delay="0"/>
                                          </p:stCondLst>
                                        </p:cTn>
                                        <p:tgtEl>
                                          <p:spTgt spid="72"/>
                                        </p:tgtEl>
                                        <p:attrNameLst>
                                          <p:attrName>style.visibility</p:attrName>
                                        </p:attrNameLst>
                                      </p:cBhvr>
                                      <p:to>
                                        <p:strVal val="visible"/>
                                      </p:to>
                                    </p:set>
                                    <p:anim calcmode="lin" valueType="num">
                                      <p:cBhvr additive="base">
                                        <p:cTn id="102" dur="500" fill="hold"/>
                                        <p:tgtEl>
                                          <p:spTgt spid="72"/>
                                        </p:tgtEl>
                                        <p:attrNameLst>
                                          <p:attrName>ppt_x</p:attrName>
                                        </p:attrNameLst>
                                      </p:cBhvr>
                                      <p:tavLst>
                                        <p:tav tm="0">
                                          <p:val>
                                            <p:strVal val="0-#ppt_w/2"/>
                                          </p:val>
                                        </p:tav>
                                        <p:tav tm="100000">
                                          <p:val>
                                            <p:strVal val="#ppt_x"/>
                                          </p:val>
                                        </p:tav>
                                      </p:tavLst>
                                    </p:anim>
                                    <p:anim calcmode="lin" valueType="num">
                                      <p:cBhvr additive="base">
                                        <p:cTn id="103" dur="500" fill="hold"/>
                                        <p:tgtEl>
                                          <p:spTgt spid="72"/>
                                        </p:tgtEl>
                                        <p:attrNameLst>
                                          <p:attrName>ppt_y</p:attrName>
                                        </p:attrNameLst>
                                      </p:cBhvr>
                                      <p:tavLst>
                                        <p:tav tm="0">
                                          <p:val>
                                            <p:strVal val="0-#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73"/>
                                        </p:tgtEl>
                                        <p:attrNameLst>
                                          <p:attrName>style.visibility</p:attrName>
                                        </p:attrNameLst>
                                      </p:cBhvr>
                                      <p:to>
                                        <p:strVal val="visible"/>
                                      </p:to>
                                    </p:set>
                                    <p:anim calcmode="lin" valueType="num">
                                      <p:cBhvr additive="base">
                                        <p:cTn id="106" dur="500" fill="hold"/>
                                        <p:tgtEl>
                                          <p:spTgt spid="73"/>
                                        </p:tgtEl>
                                        <p:attrNameLst>
                                          <p:attrName>ppt_x</p:attrName>
                                        </p:attrNameLst>
                                      </p:cBhvr>
                                      <p:tavLst>
                                        <p:tav tm="0">
                                          <p:val>
                                            <p:strVal val="#ppt_x"/>
                                          </p:val>
                                        </p:tav>
                                        <p:tav tm="100000">
                                          <p:val>
                                            <p:strVal val="#ppt_x"/>
                                          </p:val>
                                        </p:tav>
                                      </p:tavLst>
                                    </p:anim>
                                    <p:anim calcmode="lin" valueType="num">
                                      <p:cBhvr additive="base">
                                        <p:cTn id="107" dur="500" fill="hold"/>
                                        <p:tgtEl>
                                          <p:spTgt spid="73"/>
                                        </p:tgtEl>
                                        <p:attrNameLst>
                                          <p:attrName>ppt_y</p:attrName>
                                        </p:attrNameLst>
                                      </p:cBhvr>
                                      <p:tavLst>
                                        <p:tav tm="0">
                                          <p:val>
                                            <p:strVal val="1+#ppt_h/2"/>
                                          </p:val>
                                        </p:tav>
                                        <p:tav tm="100000">
                                          <p:val>
                                            <p:strVal val="#ppt_y"/>
                                          </p:val>
                                        </p:tav>
                                      </p:tavLst>
                                    </p:anim>
                                  </p:childTnLst>
                                </p:cTn>
                              </p:par>
                              <p:par>
                                <p:cTn id="108" presetID="2" presetClass="entr" presetSubtype="9" fill="hold" grpId="0" nodeType="withEffect">
                                  <p:stCondLst>
                                    <p:cond delay="0"/>
                                  </p:stCondLst>
                                  <p:childTnLst>
                                    <p:set>
                                      <p:cBhvr>
                                        <p:cTn id="109" dur="1" fill="hold">
                                          <p:stCondLst>
                                            <p:cond delay="0"/>
                                          </p:stCondLst>
                                        </p:cTn>
                                        <p:tgtEl>
                                          <p:spTgt spid="74"/>
                                        </p:tgtEl>
                                        <p:attrNameLst>
                                          <p:attrName>style.visibility</p:attrName>
                                        </p:attrNameLst>
                                      </p:cBhvr>
                                      <p:to>
                                        <p:strVal val="visible"/>
                                      </p:to>
                                    </p:set>
                                    <p:anim calcmode="lin" valueType="num">
                                      <p:cBhvr additive="base">
                                        <p:cTn id="110" dur="500" fill="hold"/>
                                        <p:tgtEl>
                                          <p:spTgt spid="74"/>
                                        </p:tgtEl>
                                        <p:attrNameLst>
                                          <p:attrName>ppt_x</p:attrName>
                                        </p:attrNameLst>
                                      </p:cBhvr>
                                      <p:tavLst>
                                        <p:tav tm="0">
                                          <p:val>
                                            <p:strVal val="0-#ppt_w/2"/>
                                          </p:val>
                                        </p:tav>
                                        <p:tav tm="100000">
                                          <p:val>
                                            <p:strVal val="#ppt_x"/>
                                          </p:val>
                                        </p:tav>
                                      </p:tavLst>
                                    </p:anim>
                                    <p:anim calcmode="lin" valueType="num">
                                      <p:cBhvr additive="base">
                                        <p:cTn id="111" dur="500" fill="hold"/>
                                        <p:tgtEl>
                                          <p:spTgt spid="74"/>
                                        </p:tgtEl>
                                        <p:attrNameLst>
                                          <p:attrName>ppt_y</p:attrName>
                                        </p:attrNameLst>
                                      </p:cBhvr>
                                      <p:tavLst>
                                        <p:tav tm="0">
                                          <p:val>
                                            <p:strVal val="0-#ppt_h/2"/>
                                          </p:val>
                                        </p:tav>
                                        <p:tav tm="100000">
                                          <p:val>
                                            <p:strVal val="#ppt_y"/>
                                          </p:val>
                                        </p:tav>
                                      </p:tavLst>
                                    </p:anim>
                                  </p:childTnLst>
                                </p:cTn>
                              </p:par>
                              <p:par>
                                <p:cTn id="112" presetID="2" presetClass="entr" presetSubtype="12" fill="hold" nodeType="withEffect">
                                  <p:stCondLst>
                                    <p:cond delay="0"/>
                                  </p:stCondLst>
                                  <p:childTnLst>
                                    <p:set>
                                      <p:cBhvr>
                                        <p:cTn id="113" dur="1" fill="hold">
                                          <p:stCondLst>
                                            <p:cond delay="0"/>
                                          </p:stCondLst>
                                        </p:cTn>
                                        <p:tgtEl>
                                          <p:spTgt spid="75"/>
                                        </p:tgtEl>
                                        <p:attrNameLst>
                                          <p:attrName>style.visibility</p:attrName>
                                        </p:attrNameLst>
                                      </p:cBhvr>
                                      <p:to>
                                        <p:strVal val="visible"/>
                                      </p:to>
                                    </p:set>
                                    <p:anim calcmode="lin" valueType="num">
                                      <p:cBhvr additive="base">
                                        <p:cTn id="114" dur="500" fill="hold"/>
                                        <p:tgtEl>
                                          <p:spTgt spid="75"/>
                                        </p:tgtEl>
                                        <p:attrNameLst>
                                          <p:attrName>ppt_x</p:attrName>
                                        </p:attrNameLst>
                                      </p:cBhvr>
                                      <p:tavLst>
                                        <p:tav tm="0">
                                          <p:val>
                                            <p:strVal val="0-#ppt_w/2"/>
                                          </p:val>
                                        </p:tav>
                                        <p:tav tm="100000">
                                          <p:val>
                                            <p:strVal val="#ppt_x"/>
                                          </p:val>
                                        </p:tav>
                                      </p:tavLst>
                                    </p:anim>
                                    <p:anim calcmode="lin" valueType="num">
                                      <p:cBhvr additive="base">
                                        <p:cTn id="115" dur="500" fill="hold"/>
                                        <p:tgtEl>
                                          <p:spTgt spid="75"/>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84"/>
                                        </p:tgtEl>
                                        <p:attrNameLst>
                                          <p:attrName>style.visibility</p:attrName>
                                        </p:attrNameLst>
                                      </p:cBhvr>
                                      <p:to>
                                        <p:strVal val="visible"/>
                                      </p:to>
                                    </p:set>
                                    <p:anim calcmode="lin" valueType="num">
                                      <p:cBhvr additive="base">
                                        <p:cTn id="118" dur="500" fill="hold"/>
                                        <p:tgtEl>
                                          <p:spTgt spid="84"/>
                                        </p:tgtEl>
                                        <p:attrNameLst>
                                          <p:attrName>ppt_x</p:attrName>
                                        </p:attrNameLst>
                                      </p:cBhvr>
                                      <p:tavLst>
                                        <p:tav tm="0">
                                          <p:val>
                                            <p:strVal val="#ppt_x"/>
                                          </p:val>
                                        </p:tav>
                                        <p:tav tm="100000">
                                          <p:val>
                                            <p:strVal val="#ppt_x"/>
                                          </p:val>
                                        </p:tav>
                                      </p:tavLst>
                                    </p:anim>
                                    <p:anim calcmode="lin" valueType="num">
                                      <p:cBhvr additive="base">
                                        <p:cTn id="119" dur="500" fill="hold"/>
                                        <p:tgtEl>
                                          <p:spTgt spid="84"/>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85"/>
                                        </p:tgtEl>
                                        <p:attrNameLst>
                                          <p:attrName>style.visibility</p:attrName>
                                        </p:attrNameLst>
                                      </p:cBhvr>
                                      <p:to>
                                        <p:strVal val="visible"/>
                                      </p:to>
                                    </p:set>
                                    <p:anim calcmode="lin" valueType="num">
                                      <p:cBhvr additive="base">
                                        <p:cTn id="122" dur="500" fill="hold"/>
                                        <p:tgtEl>
                                          <p:spTgt spid="85"/>
                                        </p:tgtEl>
                                        <p:attrNameLst>
                                          <p:attrName>ppt_x</p:attrName>
                                        </p:attrNameLst>
                                      </p:cBhvr>
                                      <p:tavLst>
                                        <p:tav tm="0">
                                          <p:val>
                                            <p:strVal val="#ppt_x"/>
                                          </p:val>
                                        </p:tav>
                                        <p:tav tm="100000">
                                          <p:val>
                                            <p:strVal val="#ppt_x"/>
                                          </p:val>
                                        </p:tav>
                                      </p:tavLst>
                                    </p:anim>
                                    <p:anim calcmode="lin" valueType="num">
                                      <p:cBhvr additive="base">
                                        <p:cTn id="123" dur="500" fill="hold"/>
                                        <p:tgtEl>
                                          <p:spTgt spid="85"/>
                                        </p:tgtEl>
                                        <p:attrNameLst>
                                          <p:attrName>ppt_y</p:attrName>
                                        </p:attrNameLst>
                                      </p:cBhvr>
                                      <p:tavLst>
                                        <p:tav tm="0">
                                          <p:val>
                                            <p:strVal val="1+#ppt_h/2"/>
                                          </p:val>
                                        </p:tav>
                                        <p:tav tm="100000">
                                          <p:val>
                                            <p:strVal val="#ppt_y"/>
                                          </p:val>
                                        </p:tav>
                                      </p:tavLst>
                                    </p:anim>
                                  </p:childTnLst>
                                </p:cTn>
                              </p:par>
                              <p:par>
                                <p:cTn id="124" presetID="2" presetClass="entr" presetSubtype="4" fill="hold" grpId="0" nodeType="withEffect">
                                  <p:stCondLst>
                                    <p:cond delay="0"/>
                                  </p:stCondLst>
                                  <p:childTnLst>
                                    <p:set>
                                      <p:cBhvr>
                                        <p:cTn id="125" dur="1" fill="hold">
                                          <p:stCondLst>
                                            <p:cond delay="0"/>
                                          </p:stCondLst>
                                        </p:cTn>
                                        <p:tgtEl>
                                          <p:spTgt spid="86"/>
                                        </p:tgtEl>
                                        <p:attrNameLst>
                                          <p:attrName>style.visibility</p:attrName>
                                        </p:attrNameLst>
                                      </p:cBhvr>
                                      <p:to>
                                        <p:strVal val="visible"/>
                                      </p:to>
                                    </p:set>
                                    <p:anim calcmode="lin" valueType="num">
                                      <p:cBhvr additive="base">
                                        <p:cTn id="126" dur="500" fill="hold"/>
                                        <p:tgtEl>
                                          <p:spTgt spid="86"/>
                                        </p:tgtEl>
                                        <p:attrNameLst>
                                          <p:attrName>ppt_x</p:attrName>
                                        </p:attrNameLst>
                                      </p:cBhvr>
                                      <p:tavLst>
                                        <p:tav tm="0">
                                          <p:val>
                                            <p:strVal val="#ppt_x"/>
                                          </p:val>
                                        </p:tav>
                                        <p:tav tm="100000">
                                          <p:val>
                                            <p:strVal val="#ppt_x"/>
                                          </p:val>
                                        </p:tav>
                                      </p:tavLst>
                                    </p:anim>
                                    <p:anim calcmode="lin" valueType="num">
                                      <p:cBhvr additive="base">
                                        <p:cTn id="127" dur="500" fill="hold"/>
                                        <p:tgtEl>
                                          <p:spTgt spid="86"/>
                                        </p:tgtEl>
                                        <p:attrNameLst>
                                          <p:attrName>ppt_y</p:attrName>
                                        </p:attrNameLst>
                                      </p:cBhvr>
                                      <p:tavLst>
                                        <p:tav tm="0">
                                          <p:val>
                                            <p:strVal val="1+#ppt_h/2"/>
                                          </p:val>
                                        </p:tav>
                                        <p:tav tm="100000">
                                          <p:val>
                                            <p:strVal val="#ppt_y"/>
                                          </p:val>
                                        </p:tav>
                                      </p:tavLst>
                                    </p:anim>
                                  </p:childTnLst>
                                </p:cTn>
                              </p:par>
                              <p:par>
                                <p:cTn id="128" presetID="2" presetClass="entr" presetSubtype="12" fill="hold" grpId="0" nodeType="withEffect">
                                  <p:stCondLst>
                                    <p:cond delay="0"/>
                                  </p:stCondLst>
                                  <p:childTnLst>
                                    <p:set>
                                      <p:cBhvr>
                                        <p:cTn id="129" dur="1" fill="hold">
                                          <p:stCondLst>
                                            <p:cond delay="0"/>
                                          </p:stCondLst>
                                        </p:cTn>
                                        <p:tgtEl>
                                          <p:spTgt spid="87"/>
                                        </p:tgtEl>
                                        <p:attrNameLst>
                                          <p:attrName>style.visibility</p:attrName>
                                        </p:attrNameLst>
                                      </p:cBhvr>
                                      <p:to>
                                        <p:strVal val="visible"/>
                                      </p:to>
                                    </p:set>
                                    <p:anim calcmode="lin" valueType="num">
                                      <p:cBhvr additive="base">
                                        <p:cTn id="130" dur="500" fill="hold"/>
                                        <p:tgtEl>
                                          <p:spTgt spid="87"/>
                                        </p:tgtEl>
                                        <p:attrNameLst>
                                          <p:attrName>ppt_x</p:attrName>
                                        </p:attrNameLst>
                                      </p:cBhvr>
                                      <p:tavLst>
                                        <p:tav tm="0">
                                          <p:val>
                                            <p:strVal val="0-#ppt_w/2"/>
                                          </p:val>
                                        </p:tav>
                                        <p:tav tm="100000">
                                          <p:val>
                                            <p:strVal val="#ppt_x"/>
                                          </p:val>
                                        </p:tav>
                                      </p:tavLst>
                                    </p:anim>
                                    <p:anim calcmode="lin" valueType="num">
                                      <p:cBhvr additive="base">
                                        <p:cTn id="131" dur="500" fill="hold"/>
                                        <p:tgtEl>
                                          <p:spTgt spid="87"/>
                                        </p:tgtEl>
                                        <p:attrNameLst>
                                          <p:attrName>ppt_y</p:attrName>
                                        </p:attrNameLst>
                                      </p:cBhvr>
                                      <p:tavLst>
                                        <p:tav tm="0">
                                          <p:val>
                                            <p:strVal val="1+#ppt_h/2"/>
                                          </p:val>
                                        </p:tav>
                                        <p:tav tm="100000">
                                          <p:val>
                                            <p:strVal val="#ppt_y"/>
                                          </p:val>
                                        </p:tav>
                                      </p:tavLst>
                                    </p:anim>
                                  </p:childTnLst>
                                </p:cTn>
                              </p:par>
                              <p:par>
                                <p:cTn id="132" presetID="2" presetClass="entr" presetSubtype="4" fill="hold" grpId="0" nodeType="withEffect">
                                  <p:stCondLst>
                                    <p:cond delay="0"/>
                                  </p:stCondLst>
                                  <p:childTnLst>
                                    <p:set>
                                      <p:cBhvr>
                                        <p:cTn id="133" dur="1" fill="hold">
                                          <p:stCondLst>
                                            <p:cond delay="0"/>
                                          </p:stCondLst>
                                        </p:cTn>
                                        <p:tgtEl>
                                          <p:spTgt spid="88"/>
                                        </p:tgtEl>
                                        <p:attrNameLst>
                                          <p:attrName>style.visibility</p:attrName>
                                        </p:attrNameLst>
                                      </p:cBhvr>
                                      <p:to>
                                        <p:strVal val="visible"/>
                                      </p:to>
                                    </p:set>
                                    <p:anim calcmode="lin" valueType="num">
                                      <p:cBhvr additive="base">
                                        <p:cTn id="134" dur="500" fill="hold"/>
                                        <p:tgtEl>
                                          <p:spTgt spid="88"/>
                                        </p:tgtEl>
                                        <p:attrNameLst>
                                          <p:attrName>ppt_x</p:attrName>
                                        </p:attrNameLst>
                                      </p:cBhvr>
                                      <p:tavLst>
                                        <p:tav tm="0">
                                          <p:val>
                                            <p:strVal val="#ppt_x"/>
                                          </p:val>
                                        </p:tav>
                                        <p:tav tm="100000">
                                          <p:val>
                                            <p:strVal val="#ppt_x"/>
                                          </p:val>
                                        </p:tav>
                                      </p:tavLst>
                                    </p:anim>
                                    <p:anim calcmode="lin" valueType="num">
                                      <p:cBhvr additive="base">
                                        <p:cTn id="135" dur="500" fill="hold"/>
                                        <p:tgtEl>
                                          <p:spTgt spid="88"/>
                                        </p:tgtEl>
                                        <p:attrNameLst>
                                          <p:attrName>ppt_y</p:attrName>
                                        </p:attrNameLst>
                                      </p:cBhvr>
                                      <p:tavLst>
                                        <p:tav tm="0">
                                          <p:val>
                                            <p:strVal val="1+#ppt_h/2"/>
                                          </p:val>
                                        </p:tav>
                                        <p:tav tm="100000">
                                          <p:val>
                                            <p:strVal val="#ppt_y"/>
                                          </p:val>
                                        </p:tav>
                                      </p:tavLst>
                                    </p:anim>
                                  </p:childTnLst>
                                </p:cTn>
                              </p:par>
                              <p:par>
                                <p:cTn id="136" presetID="2" presetClass="entr" presetSubtype="12" fill="hold" grpId="0" nodeType="withEffect">
                                  <p:stCondLst>
                                    <p:cond delay="0"/>
                                  </p:stCondLst>
                                  <p:childTnLst>
                                    <p:set>
                                      <p:cBhvr>
                                        <p:cTn id="137" dur="1" fill="hold">
                                          <p:stCondLst>
                                            <p:cond delay="0"/>
                                          </p:stCondLst>
                                        </p:cTn>
                                        <p:tgtEl>
                                          <p:spTgt spid="89"/>
                                        </p:tgtEl>
                                        <p:attrNameLst>
                                          <p:attrName>style.visibility</p:attrName>
                                        </p:attrNameLst>
                                      </p:cBhvr>
                                      <p:to>
                                        <p:strVal val="visible"/>
                                      </p:to>
                                    </p:set>
                                    <p:anim calcmode="lin" valueType="num">
                                      <p:cBhvr additive="base">
                                        <p:cTn id="138" dur="500" fill="hold"/>
                                        <p:tgtEl>
                                          <p:spTgt spid="89"/>
                                        </p:tgtEl>
                                        <p:attrNameLst>
                                          <p:attrName>ppt_x</p:attrName>
                                        </p:attrNameLst>
                                      </p:cBhvr>
                                      <p:tavLst>
                                        <p:tav tm="0">
                                          <p:val>
                                            <p:strVal val="0-#ppt_w/2"/>
                                          </p:val>
                                        </p:tav>
                                        <p:tav tm="100000">
                                          <p:val>
                                            <p:strVal val="#ppt_x"/>
                                          </p:val>
                                        </p:tav>
                                      </p:tavLst>
                                    </p:anim>
                                    <p:anim calcmode="lin" valueType="num">
                                      <p:cBhvr additive="base">
                                        <p:cTn id="139" dur="500" fill="hold"/>
                                        <p:tgtEl>
                                          <p:spTgt spid="89"/>
                                        </p:tgtEl>
                                        <p:attrNameLst>
                                          <p:attrName>ppt_y</p:attrName>
                                        </p:attrNameLst>
                                      </p:cBhvr>
                                      <p:tavLst>
                                        <p:tav tm="0">
                                          <p:val>
                                            <p:strVal val="1+#ppt_h/2"/>
                                          </p:val>
                                        </p:tav>
                                        <p:tav tm="100000">
                                          <p:val>
                                            <p:strVal val="#ppt_y"/>
                                          </p:val>
                                        </p:tav>
                                      </p:tavLst>
                                    </p:anim>
                                  </p:childTnLst>
                                </p:cTn>
                              </p:par>
                              <p:par>
                                <p:cTn id="140" presetID="2" presetClass="entr" presetSubtype="4" fill="hold" grpId="0" nodeType="withEffect">
                                  <p:stCondLst>
                                    <p:cond delay="0"/>
                                  </p:stCondLst>
                                  <p:childTnLst>
                                    <p:set>
                                      <p:cBhvr>
                                        <p:cTn id="141" dur="1" fill="hold">
                                          <p:stCondLst>
                                            <p:cond delay="0"/>
                                          </p:stCondLst>
                                        </p:cTn>
                                        <p:tgtEl>
                                          <p:spTgt spid="90"/>
                                        </p:tgtEl>
                                        <p:attrNameLst>
                                          <p:attrName>style.visibility</p:attrName>
                                        </p:attrNameLst>
                                      </p:cBhvr>
                                      <p:to>
                                        <p:strVal val="visible"/>
                                      </p:to>
                                    </p:set>
                                    <p:anim calcmode="lin" valueType="num">
                                      <p:cBhvr additive="base">
                                        <p:cTn id="142" dur="500" fill="hold"/>
                                        <p:tgtEl>
                                          <p:spTgt spid="90"/>
                                        </p:tgtEl>
                                        <p:attrNameLst>
                                          <p:attrName>ppt_x</p:attrName>
                                        </p:attrNameLst>
                                      </p:cBhvr>
                                      <p:tavLst>
                                        <p:tav tm="0">
                                          <p:val>
                                            <p:strVal val="#ppt_x"/>
                                          </p:val>
                                        </p:tav>
                                        <p:tav tm="100000">
                                          <p:val>
                                            <p:strVal val="#ppt_x"/>
                                          </p:val>
                                        </p:tav>
                                      </p:tavLst>
                                    </p:anim>
                                    <p:anim calcmode="lin" valueType="num">
                                      <p:cBhvr additive="base">
                                        <p:cTn id="143" dur="500" fill="hold"/>
                                        <p:tgtEl>
                                          <p:spTgt spid="90"/>
                                        </p:tgtEl>
                                        <p:attrNameLst>
                                          <p:attrName>ppt_y</p:attrName>
                                        </p:attrNameLst>
                                      </p:cBhvr>
                                      <p:tavLst>
                                        <p:tav tm="0">
                                          <p:val>
                                            <p:strVal val="1+#ppt_h/2"/>
                                          </p:val>
                                        </p:tav>
                                        <p:tav tm="100000">
                                          <p:val>
                                            <p:strVal val="#ppt_y"/>
                                          </p:val>
                                        </p:tav>
                                      </p:tavLst>
                                    </p:anim>
                                  </p:childTnLst>
                                </p:cTn>
                              </p:par>
                              <p:par>
                                <p:cTn id="144" presetID="2" presetClass="entr" presetSubtype="4" fill="hold" grpId="0" nodeType="withEffect">
                                  <p:stCondLst>
                                    <p:cond delay="0"/>
                                  </p:stCondLst>
                                  <p:childTnLst>
                                    <p:set>
                                      <p:cBhvr>
                                        <p:cTn id="145" dur="1" fill="hold">
                                          <p:stCondLst>
                                            <p:cond delay="0"/>
                                          </p:stCondLst>
                                        </p:cTn>
                                        <p:tgtEl>
                                          <p:spTgt spid="91"/>
                                        </p:tgtEl>
                                        <p:attrNameLst>
                                          <p:attrName>style.visibility</p:attrName>
                                        </p:attrNameLst>
                                      </p:cBhvr>
                                      <p:to>
                                        <p:strVal val="visible"/>
                                      </p:to>
                                    </p:set>
                                    <p:anim calcmode="lin" valueType="num">
                                      <p:cBhvr additive="base">
                                        <p:cTn id="146" dur="500" fill="hold"/>
                                        <p:tgtEl>
                                          <p:spTgt spid="91"/>
                                        </p:tgtEl>
                                        <p:attrNameLst>
                                          <p:attrName>ppt_x</p:attrName>
                                        </p:attrNameLst>
                                      </p:cBhvr>
                                      <p:tavLst>
                                        <p:tav tm="0">
                                          <p:val>
                                            <p:strVal val="#ppt_x"/>
                                          </p:val>
                                        </p:tav>
                                        <p:tav tm="100000">
                                          <p:val>
                                            <p:strVal val="#ppt_x"/>
                                          </p:val>
                                        </p:tav>
                                      </p:tavLst>
                                    </p:anim>
                                    <p:anim calcmode="lin" valueType="num">
                                      <p:cBhvr additive="base">
                                        <p:cTn id="147" dur="500" fill="hold"/>
                                        <p:tgtEl>
                                          <p:spTgt spid="91"/>
                                        </p:tgtEl>
                                        <p:attrNameLst>
                                          <p:attrName>ppt_y</p:attrName>
                                        </p:attrNameLst>
                                      </p:cBhvr>
                                      <p:tavLst>
                                        <p:tav tm="0">
                                          <p:val>
                                            <p:strVal val="1+#ppt_h/2"/>
                                          </p:val>
                                        </p:tav>
                                        <p:tav tm="100000">
                                          <p:val>
                                            <p:strVal val="#ppt_y"/>
                                          </p:val>
                                        </p:tav>
                                      </p:tavLst>
                                    </p:anim>
                                  </p:childTnLst>
                                </p:cTn>
                              </p:par>
                              <p:par>
                                <p:cTn id="148" presetID="2" presetClass="entr" presetSubtype="4" fill="hold" grpId="0" nodeType="withEffect">
                                  <p:stCondLst>
                                    <p:cond delay="0"/>
                                  </p:stCondLst>
                                  <p:childTnLst>
                                    <p:set>
                                      <p:cBhvr>
                                        <p:cTn id="149" dur="1" fill="hold">
                                          <p:stCondLst>
                                            <p:cond delay="0"/>
                                          </p:stCondLst>
                                        </p:cTn>
                                        <p:tgtEl>
                                          <p:spTgt spid="92"/>
                                        </p:tgtEl>
                                        <p:attrNameLst>
                                          <p:attrName>style.visibility</p:attrName>
                                        </p:attrNameLst>
                                      </p:cBhvr>
                                      <p:to>
                                        <p:strVal val="visible"/>
                                      </p:to>
                                    </p:set>
                                    <p:anim calcmode="lin" valueType="num">
                                      <p:cBhvr additive="base">
                                        <p:cTn id="150" dur="500" fill="hold"/>
                                        <p:tgtEl>
                                          <p:spTgt spid="92"/>
                                        </p:tgtEl>
                                        <p:attrNameLst>
                                          <p:attrName>ppt_x</p:attrName>
                                        </p:attrNameLst>
                                      </p:cBhvr>
                                      <p:tavLst>
                                        <p:tav tm="0">
                                          <p:val>
                                            <p:strVal val="#ppt_x"/>
                                          </p:val>
                                        </p:tav>
                                        <p:tav tm="100000">
                                          <p:val>
                                            <p:strVal val="#ppt_x"/>
                                          </p:val>
                                        </p:tav>
                                      </p:tavLst>
                                    </p:anim>
                                    <p:anim calcmode="lin" valueType="num">
                                      <p:cBhvr additive="base">
                                        <p:cTn id="151" dur="500" fill="hold"/>
                                        <p:tgtEl>
                                          <p:spTgt spid="92"/>
                                        </p:tgtEl>
                                        <p:attrNameLst>
                                          <p:attrName>ppt_y</p:attrName>
                                        </p:attrNameLst>
                                      </p:cBhvr>
                                      <p:tavLst>
                                        <p:tav tm="0">
                                          <p:val>
                                            <p:strVal val="1+#ppt_h/2"/>
                                          </p:val>
                                        </p:tav>
                                        <p:tav tm="100000">
                                          <p:val>
                                            <p:strVal val="#ppt_y"/>
                                          </p:val>
                                        </p:tav>
                                      </p:tavLst>
                                    </p:anim>
                                  </p:childTnLst>
                                </p:cTn>
                              </p:par>
                              <p:par>
                                <p:cTn id="152" presetID="2" presetClass="entr" presetSubtype="8" fill="hold" nodeType="withEffect">
                                  <p:stCondLst>
                                    <p:cond delay="0"/>
                                  </p:stCondLst>
                                  <p:childTnLst>
                                    <p:set>
                                      <p:cBhvr>
                                        <p:cTn id="153" dur="1" fill="hold">
                                          <p:stCondLst>
                                            <p:cond delay="0"/>
                                          </p:stCondLst>
                                        </p:cTn>
                                        <p:tgtEl>
                                          <p:spTgt spid="93"/>
                                        </p:tgtEl>
                                        <p:attrNameLst>
                                          <p:attrName>style.visibility</p:attrName>
                                        </p:attrNameLst>
                                      </p:cBhvr>
                                      <p:to>
                                        <p:strVal val="visible"/>
                                      </p:to>
                                    </p:set>
                                    <p:anim calcmode="lin" valueType="num">
                                      <p:cBhvr additive="base">
                                        <p:cTn id="154" dur="500" fill="hold"/>
                                        <p:tgtEl>
                                          <p:spTgt spid="93"/>
                                        </p:tgtEl>
                                        <p:attrNameLst>
                                          <p:attrName>ppt_x</p:attrName>
                                        </p:attrNameLst>
                                      </p:cBhvr>
                                      <p:tavLst>
                                        <p:tav tm="0">
                                          <p:val>
                                            <p:strVal val="0-#ppt_w/2"/>
                                          </p:val>
                                        </p:tav>
                                        <p:tav tm="100000">
                                          <p:val>
                                            <p:strVal val="#ppt_x"/>
                                          </p:val>
                                        </p:tav>
                                      </p:tavLst>
                                    </p:anim>
                                    <p:anim calcmode="lin" valueType="num">
                                      <p:cBhvr additive="base">
                                        <p:cTn id="155" dur="500" fill="hold"/>
                                        <p:tgtEl>
                                          <p:spTgt spid="93"/>
                                        </p:tgtEl>
                                        <p:attrNameLst>
                                          <p:attrName>ppt_y</p:attrName>
                                        </p:attrNameLst>
                                      </p:cBhvr>
                                      <p:tavLst>
                                        <p:tav tm="0">
                                          <p:val>
                                            <p:strVal val="#ppt_y"/>
                                          </p:val>
                                        </p:tav>
                                        <p:tav tm="100000">
                                          <p:val>
                                            <p:strVal val="#ppt_y"/>
                                          </p:val>
                                        </p:tav>
                                      </p:tavLst>
                                    </p:anim>
                                  </p:childTnLst>
                                </p:cTn>
                              </p:par>
                              <p:par>
                                <p:cTn id="156" presetID="2" presetClass="entr" presetSubtype="4" fill="hold" grpId="0" nodeType="withEffect">
                                  <p:stCondLst>
                                    <p:cond delay="0"/>
                                  </p:stCondLst>
                                  <p:childTnLst>
                                    <p:set>
                                      <p:cBhvr>
                                        <p:cTn id="157" dur="1" fill="hold">
                                          <p:stCondLst>
                                            <p:cond delay="0"/>
                                          </p:stCondLst>
                                        </p:cTn>
                                        <p:tgtEl>
                                          <p:spTgt spid="96"/>
                                        </p:tgtEl>
                                        <p:attrNameLst>
                                          <p:attrName>style.visibility</p:attrName>
                                        </p:attrNameLst>
                                      </p:cBhvr>
                                      <p:to>
                                        <p:strVal val="visible"/>
                                      </p:to>
                                    </p:set>
                                    <p:anim calcmode="lin" valueType="num">
                                      <p:cBhvr additive="base">
                                        <p:cTn id="158" dur="500" fill="hold"/>
                                        <p:tgtEl>
                                          <p:spTgt spid="96"/>
                                        </p:tgtEl>
                                        <p:attrNameLst>
                                          <p:attrName>ppt_x</p:attrName>
                                        </p:attrNameLst>
                                      </p:cBhvr>
                                      <p:tavLst>
                                        <p:tav tm="0">
                                          <p:val>
                                            <p:strVal val="#ppt_x"/>
                                          </p:val>
                                        </p:tav>
                                        <p:tav tm="100000">
                                          <p:val>
                                            <p:strVal val="#ppt_x"/>
                                          </p:val>
                                        </p:tav>
                                      </p:tavLst>
                                    </p:anim>
                                    <p:anim calcmode="lin" valueType="num">
                                      <p:cBhvr additive="base">
                                        <p:cTn id="159" dur="500" fill="hold"/>
                                        <p:tgtEl>
                                          <p:spTgt spid="96"/>
                                        </p:tgtEl>
                                        <p:attrNameLst>
                                          <p:attrName>ppt_y</p:attrName>
                                        </p:attrNameLst>
                                      </p:cBhvr>
                                      <p:tavLst>
                                        <p:tav tm="0">
                                          <p:val>
                                            <p:strVal val="1+#ppt_h/2"/>
                                          </p:val>
                                        </p:tav>
                                        <p:tav tm="100000">
                                          <p:val>
                                            <p:strVal val="#ppt_y"/>
                                          </p:val>
                                        </p:tav>
                                      </p:tavLst>
                                    </p:anim>
                                  </p:childTnLst>
                                </p:cTn>
                              </p:par>
                              <p:par>
                                <p:cTn id="160" presetID="2" presetClass="entr" presetSubtype="4" fill="hold" grpId="0" nodeType="withEffect">
                                  <p:stCondLst>
                                    <p:cond delay="0"/>
                                  </p:stCondLst>
                                  <p:childTnLst>
                                    <p:set>
                                      <p:cBhvr>
                                        <p:cTn id="161" dur="1" fill="hold">
                                          <p:stCondLst>
                                            <p:cond delay="0"/>
                                          </p:stCondLst>
                                        </p:cTn>
                                        <p:tgtEl>
                                          <p:spTgt spid="97"/>
                                        </p:tgtEl>
                                        <p:attrNameLst>
                                          <p:attrName>style.visibility</p:attrName>
                                        </p:attrNameLst>
                                      </p:cBhvr>
                                      <p:to>
                                        <p:strVal val="visible"/>
                                      </p:to>
                                    </p:set>
                                    <p:anim calcmode="lin" valueType="num">
                                      <p:cBhvr additive="base">
                                        <p:cTn id="162" dur="500" fill="hold"/>
                                        <p:tgtEl>
                                          <p:spTgt spid="97"/>
                                        </p:tgtEl>
                                        <p:attrNameLst>
                                          <p:attrName>ppt_x</p:attrName>
                                        </p:attrNameLst>
                                      </p:cBhvr>
                                      <p:tavLst>
                                        <p:tav tm="0">
                                          <p:val>
                                            <p:strVal val="#ppt_x"/>
                                          </p:val>
                                        </p:tav>
                                        <p:tav tm="100000">
                                          <p:val>
                                            <p:strVal val="#ppt_x"/>
                                          </p:val>
                                        </p:tav>
                                      </p:tavLst>
                                    </p:anim>
                                    <p:anim calcmode="lin" valueType="num">
                                      <p:cBhvr additive="base">
                                        <p:cTn id="163" dur="500" fill="hold"/>
                                        <p:tgtEl>
                                          <p:spTgt spid="97"/>
                                        </p:tgtEl>
                                        <p:attrNameLst>
                                          <p:attrName>ppt_y</p:attrName>
                                        </p:attrNameLst>
                                      </p:cBhvr>
                                      <p:tavLst>
                                        <p:tav tm="0">
                                          <p:val>
                                            <p:strVal val="1+#ppt_h/2"/>
                                          </p:val>
                                        </p:tav>
                                        <p:tav tm="100000">
                                          <p:val>
                                            <p:strVal val="#ppt_y"/>
                                          </p:val>
                                        </p:tav>
                                      </p:tavLst>
                                    </p:anim>
                                  </p:childTnLst>
                                </p:cTn>
                              </p:par>
                              <p:par>
                                <p:cTn id="164" presetID="2" presetClass="entr" presetSubtype="4" fill="hold" grpId="0" nodeType="withEffect">
                                  <p:stCondLst>
                                    <p:cond delay="0"/>
                                  </p:stCondLst>
                                  <p:childTnLst>
                                    <p:set>
                                      <p:cBhvr>
                                        <p:cTn id="165" dur="1" fill="hold">
                                          <p:stCondLst>
                                            <p:cond delay="0"/>
                                          </p:stCondLst>
                                        </p:cTn>
                                        <p:tgtEl>
                                          <p:spTgt spid="98"/>
                                        </p:tgtEl>
                                        <p:attrNameLst>
                                          <p:attrName>style.visibility</p:attrName>
                                        </p:attrNameLst>
                                      </p:cBhvr>
                                      <p:to>
                                        <p:strVal val="visible"/>
                                      </p:to>
                                    </p:set>
                                    <p:anim calcmode="lin" valueType="num">
                                      <p:cBhvr additive="base">
                                        <p:cTn id="166" dur="500" fill="hold"/>
                                        <p:tgtEl>
                                          <p:spTgt spid="98"/>
                                        </p:tgtEl>
                                        <p:attrNameLst>
                                          <p:attrName>ppt_x</p:attrName>
                                        </p:attrNameLst>
                                      </p:cBhvr>
                                      <p:tavLst>
                                        <p:tav tm="0">
                                          <p:val>
                                            <p:strVal val="#ppt_x"/>
                                          </p:val>
                                        </p:tav>
                                        <p:tav tm="100000">
                                          <p:val>
                                            <p:strVal val="#ppt_x"/>
                                          </p:val>
                                        </p:tav>
                                      </p:tavLst>
                                    </p:anim>
                                    <p:anim calcmode="lin" valueType="num">
                                      <p:cBhvr additive="base">
                                        <p:cTn id="167" dur="500" fill="hold"/>
                                        <p:tgtEl>
                                          <p:spTgt spid="98"/>
                                        </p:tgtEl>
                                        <p:attrNameLst>
                                          <p:attrName>ppt_y</p:attrName>
                                        </p:attrNameLst>
                                      </p:cBhvr>
                                      <p:tavLst>
                                        <p:tav tm="0">
                                          <p:val>
                                            <p:strVal val="1+#ppt_h/2"/>
                                          </p:val>
                                        </p:tav>
                                        <p:tav tm="100000">
                                          <p:val>
                                            <p:strVal val="#ppt_y"/>
                                          </p:val>
                                        </p:tav>
                                      </p:tavLst>
                                    </p:anim>
                                  </p:childTnLst>
                                </p:cTn>
                              </p:par>
                              <p:par>
                                <p:cTn id="168" presetID="2" presetClass="entr" presetSubtype="4" fill="hold" grpId="0" nodeType="withEffect">
                                  <p:stCondLst>
                                    <p:cond delay="0"/>
                                  </p:stCondLst>
                                  <p:childTnLst>
                                    <p:set>
                                      <p:cBhvr>
                                        <p:cTn id="169" dur="1" fill="hold">
                                          <p:stCondLst>
                                            <p:cond delay="0"/>
                                          </p:stCondLst>
                                        </p:cTn>
                                        <p:tgtEl>
                                          <p:spTgt spid="99"/>
                                        </p:tgtEl>
                                        <p:attrNameLst>
                                          <p:attrName>style.visibility</p:attrName>
                                        </p:attrNameLst>
                                      </p:cBhvr>
                                      <p:to>
                                        <p:strVal val="visible"/>
                                      </p:to>
                                    </p:set>
                                    <p:anim calcmode="lin" valueType="num">
                                      <p:cBhvr additive="base">
                                        <p:cTn id="170" dur="500" fill="hold"/>
                                        <p:tgtEl>
                                          <p:spTgt spid="99"/>
                                        </p:tgtEl>
                                        <p:attrNameLst>
                                          <p:attrName>ppt_x</p:attrName>
                                        </p:attrNameLst>
                                      </p:cBhvr>
                                      <p:tavLst>
                                        <p:tav tm="0">
                                          <p:val>
                                            <p:strVal val="#ppt_x"/>
                                          </p:val>
                                        </p:tav>
                                        <p:tav tm="100000">
                                          <p:val>
                                            <p:strVal val="#ppt_x"/>
                                          </p:val>
                                        </p:tav>
                                      </p:tavLst>
                                    </p:anim>
                                    <p:anim calcmode="lin" valueType="num">
                                      <p:cBhvr additive="base">
                                        <p:cTn id="171" dur="500" fill="hold"/>
                                        <p:tgtEl>
                                          <p:spTgt spid="99"/>
                                        </p:tgtEl>
                                        <p:attrNameLst>
                                          <p:attrName>ppt_y</p:attrName>
                                        </p:attrNameLst>
                                      </p:cBhvr>
                                      <p:tavLst>
                                        <p:tav tm="0">
                                          <p:val>
                                            <p:strVal val="1+#ppt_h/2"/>
                                          </p:val>
                                        </p:tav>
                                        <p:tav tm="100000">
                                          <p:val>
                                            <p:strVal val="#ppt_y"/>
                                          </p:val>
                                        </p:tav>
                                      </p:tavLst>
                                    </p:anim>
                                  </p:childTnLst>
                                </p:cTn>
                              </p:par>
                              <p:par>
                                <p:cTn id="172" presetID="2" presetClass="entr" presetSubtype="4" fill="hold" grpId="0" nodeType="withEffect">
                                  <p:stCondLst>
                                    <p:cond delay="0"/>
                                  </p:stCondLst>
                                  <p:childTnLst>
                                    <p:set>
                                      <p:cBhvr>
                                        <p:cTn id="173" dur="1" fill="hold">
                                          <p:stCondLst>
                                            <p:cond delay="0"/>
                                          </p:stCondLst>
                                        </p:cTn>
                                        <p:tgtEl>
                                          <p:spTgt spid="100"/>
                                        </p:tgtEl>
                                        <p:attrNameLst>
                                          <p:attrName>style.visibility</p:attrName>
                                        </p:attrNameLst>
                                      </p:cBhvr>
                                      <p:to>
                                        <p:strVal val="visible"/>
                                      </p:to>
                                    </p:set>
                                    <p:anim calcmode="lin" valueType="num">
                                      <p:cBhvr additive="base">
                                        <p:cTn id="174" dur="500" fill="hold"/>
                                        <p:tgtEl>
                                          <p:spTgt spid="100"/>
                                        </p:tgtEl>
                                        <p:attrNameLst>
                                          <p:attrName>ppt_x</p:attrName>
                                        </p:attrNameLst>
                                      </p:cBhvr>
                                      <p:tavLst>
                                        <p:tav tm="0">
                                          <p:val>
                                            <p:strVal val="#ppt_x"/>
                                          </p:val>
                                        </p:tav>
                                        <p:tav tm="100000">
                                          <p:val>
                                            <p:strVal val="#ppt_x"/>
                                          </p:val>
                                        </p:tav>
                                      </p:tavLst>
                                    </p:anim>
                                    <p:anim calcmode="lin" valueType="num">
                                      <p:cBhvr additive="base">
                                        <p:cTn id="175" dur="500" fill="hold"/>
                                        <p:tgtEl>
                                          <p:spTgt spid="100"/>
                                        </p:tgtEl>
                                        <p:attrNameLst>
                                          <p:attrName>ppt_y</p:attrName>
                                        </p:attrNameLst>
                                      </p:cBhvr>
                                      <p:tavLst>
                                        <p:tav tm="0">
                                          <p:val>
                                            <p:strVal val="1+#ppt_h/2"/>
                                          </p:val>
                                        </p:tav>
                                        <p:tav tm="100000">
                                          <p:val>
                                            <p:strVal val="#ppt_y"/>
                                          </p:val>
                                        </p:tav>
                                      </p:tavLst>
                                    </p:anim>
                                  </p:childTnLst>
                                </p:cTn>
                              </p:par>
                              <p:par>
                                <p:cTn id="176" presetID="2" presetClass="entr" presetSubtype="8" fill="hold" grpId="0" nodeType="withEffect">
                                  <p:stCondLst>
                                    <p:cond delay="0"/>
                                  </p:stCondLst>
                                  <p:childTnLst>
                                    <p:set>
                                      <p:cBhvr>
                                        <p:cTn id="177" dur="1" fill="hold">
                                          <p:stCondLst>
                                            <p:cond delay="0"/>
                                          </p:stCondLst>
                                        </p:cTn>
                                        <p:tgtEl>
                                          <p:spTgt spid="101"/>
                                        </p:tgtEl>
                                        <p:attrNameLst>
                                          <p:attrName>style.visibility</p:attrName>
                                        </p:attrNameLst>
                                      </p:cBhvr>
                                      <p:to>
                                        <p:strVal val="visible"/>
                                      </p:to>
                                    </p:set>
                                    <p:anim calcmode="lin" valueType="num">
                                      <p:cBhvr additive="base">
                                        <p:cTn id="178" dur="500" fill="hold"/>
                                        <p:tgtEl>
                                          <p:spTgt spid="101"/>
                                        </p:tgtEl>
                                        <p:attrNameLst>
                                          <p:attrName>ppt_x</p:attrName>
                                        </p:attrNameLst>
                                      </p:cBhvr>
                                      <p:tavLst>
                                        <p:tav tm="0">
                                          <p:val>
                                            <p:strVal val="0-#ppt_w/2"/>
                                          </p:val>
                                        </p:tav>
                                        <p:tav tm="100000">
                                          <p:val>
                                            <p:strVal val="#ppt_x"/>
                                          </p:val>
                                        </p:tav>
                                      </p:tavLst>
                                    </p:anim>
                                    <p:anim calcmode="lin" valueType="num">
                                      <p:cBhvr additive="base">
                                        <p:cTn id="179" dur="500" fill="hold"/>
                                        <p:tgtEl>
                                          <p:spTgt spid="101"/>
                                        </p:tgtEl>
                                        <p:attrNameLst>
                                          <p:attrName>ppt_y</p:attrName>
                                        </p:attrNameLst>
                                      </p:cBhvr>
                                      <p:tavLst>
                                        <p:tav tm="0">
                                          <p:val>
                                            <p:strVal val="#ppt_y"/>
                                          </p:val>
                                        </p:tav>
                                        <p:tav tm="100000">
                                          <p:val>
                                            <p:strVal val="#ppt_y"/>
                                          </p:val>
                                        </p:tav>
                                      </p:tavLst>
                                    </p:anim>
                                  </p:childTnLst>
                                </p:cTn>
                              </p:par>
                              <p:par>
                                <p:cTn id="180" presetID="2" presetClass="entr" presetSubtype="4" fill="hold" grpId="0" nodeType="withEffect">
                                  <p:stCondLst>
                                    <p:cond delay="0"/>
                                  </p:stCondLst>
                                  <p:childTnLst>
                                    <p:set>
                                      <p:cBhvr>
                                        <p:cTn id="181" dur="1" fill="hold">
                                          <p:stCondLst>
                                            <p:cond delay="0"/>
                                          </p:stCondLst>
                                        </p:cTn>
                                        <p:tgtEl>
                                          <p:spTgt spid="102"/>
                                        </p:tgtEl>
                                        <p:attrNameLst>
                                          <p:attrName>style.visibility</p:attrName>
                                        </p:attrNameLst>
                                      </p:cBhvr>
                                      <p:to>
                                        <p:strVal val="visible"/>
                                      </p:to>
                                    </p:set>
                                    <p:anim calcmode="lin" valueType="num">
                                      <p:cBhvr additive="base">
                                        <p:cTn id="182" dur="500" fill="hold"/>
                                        <p:tgtEl>
                                          <p:spTgt spid="102"/>
                                        </p:tgtEl>
                                        <p:attrNameLst>
                                          <p:attrName>ppt_x</p:attrName>
                                        </p:attrNameLst>
                                      </p:cBhvr>
                                      <p:tavLst>
                                        <p:tav tm="0">
                                          <p:val>
                                            <p:strVal val="#ppt_x"/>
                                          </p:val>
                                        </p:tav>
                                        <p:tav tm="100000">
                                          <p:val>
                                            <p:strVal val="#ppt_x"/>
                                          </p:val>
                                        </p:tav>
                                      </p:tavLst>
                                    </p:anim>
                                    <p:anim calcmode="lin" valueType="num">
                                      <p:cBhvr additive="base">
                                        <p:cTn id="183" dur="500" fill="hold"/>
                                        <p:tgtEl>
                                          <p:spTgt spid="102"/>
                                        </p:tgtEl>
                                        <p:attrNameLst>
                                          <p:attrName>ppt_y</p:attrName>
                                        </p:attrNameLst>
                                      </p:cBhvr>
                                      <p:tavLst>
                                        <p:tav tm="0">
                                          <p:val>
                                            <p:strVal val="1+#ppt_h/2"/>
                                          </p:val>
                                        </p:tav>
                                        <p:tav tm="100000">
                                          <p:val>
                                            <p:strVal val="#ppt_y"/>
                                          </p:val>
                                        </p:tav>
                                      </p:tavLst>
                                    </p:anim>
                                  </p:childTnLst>
                                </p:cTn>
                              </p:par>
                              <p:par>
                                <p:cTn id="184" presetID="2" presetClass="entr" presetSubtype="4" fill="hold" grpId="0" nodeType="withEffect">
                                  <p:stCondLst>
                                    <p:cond delay="0"/>
                                  </p:stCondLst>
                                  <p:childTnLst>
                                    <p:set>
                                      <p:cBhvr>
                                        <p:cTn id="185" dur="1" fill="hold">
                                          <p:stCondLst>
                                            <p:cond delay="0"/>
                                          </p:stCondLst>
                                        </p:cTn>
                                        <p:tgtEl>
                                          <p:spTgt spid="103"/>
                                        </p:tgtEl>
                                        <p:attrNameLst>
                                          <p:attrName>style.visibility</p:attrName>
                                        </p:attrNameLst>
                                      </p:cBhvr>
                                      <p:to>
                                        <p:strVal val="visible"/>
                                      </p:to>
                                    </p:set>
                                    <p:anim calcmode="lin" valueType="num">
                                      <p:cBhvr additive="base">
                                        <p:cTn id="186" dur="500" fill="hold"/>
                                        <p:tgtEl>
                                          <p:spTgt spid="103"/>
                                        </p:tgtEl>
                                        <p:attrNameLst>
                                          <p:attrName>ppt_x</p:attrName>
                                        </p:attrNameLst>
                                      </p:cBhvr>
                                      <p:tavLst>
                                        <p:tav tm="0">
                                          <p:val>
                                            <p:strVal val="#ppt_x"/>
                                          </p:val>
                                        </p:tav>
                                        <p:tav tm="100000">
                                          <p:val>
                                            <p:strVal val="#ppt_x"/>
                                          </p:val>
                                        </p:tav>
                                      </p:tavLst>
                                    </p:anim>
                                    <p:anim calcmode="lin" valueType="num">
                                      <p:cBhvr additive="base">
                                        <p:cTn id="187" dur="500" fill="hold"/>
                                        <p:tgtEl>
                                          <p:spTgt spid="103"/>
                                        </p:tgtEl>
                                        <p:attrNameLst>
                                          <p:attrName>ppt_y</p:attrName>
                                        </p:attrNameLst>
                                      </p:cBhvr>
                                      <p:tavLst>
                                        <p:tav tm="0">
                                          <p:val>
                                            <p:strVal val="1+#ppt_h/2"/>
                                          </p:val>
                                        </p:tav>
                                        <p:tav tm="100000">
                                          <p:val>
                                            <p:strVal val="#ppt_y"/>
                                          </p:val>
                                        </p:tav>
                                      </p:tavLst>
                                    </p:anim>
                                  </p:childTnLst>
                                </p:cTn>
                              </p:par>
                              <p:par>
                                <p:cTn id="188" presetID="2" presetClass="entr" presetSubtype="4" fill="hold" grpId="0" nodeType="withEffect">
                                  <p:stCondLst>
                                    <p:cond delay="0"/>
                                  </p:stCondLst>
                                  <p:childTnLst>
                                    <p:set>
                                      <p:cBhvr>
                                        <p:cTn id="189" dur="1" fill="hold">
                                          <p:stCondLst>
                                            <p:cond delay="0"/>
                                          </p:stCondLst>
                                        </p:cTn>
                                        <p:tgtEl>
                                          <p:spTgt spid="104"/>
                                        </p:tgtEl>
                                        <p:attrNameLst>
                                          <p:attrName>style.visibility</p:attrName>
                                        </p:attrNameLst>
                                      </p:cBhvr>
                                      <p:to>
                                        <p:strVal val="visible"/>
                                      </p:to>
                                    </p:set>
                                    <p:anim calcmode="lin" valueType="num">
                                      <p:cBhvr additive="base">
                                        <p:cTn id="190" dur="500" fill="hold"/>
                                        <p:tgtEl>
                                          <p:spTgt spid="104"/>
                                        </p:tgtEl>
                                        <p:attrNameLst>
                                          <p:attrName>ppt_x</p:attrName>
                                        </p:attrNameLst>
                                      </p:cBhvr>
                                      <p:tavLst>
                                        <p:tav tm="0">
                                          <p:val>
                                            <p:strVal val="#ppt_x"/>
                                          </p:val>
                                        </p:tav>
                                        <p:tav tm="100000">
                                          <p:val>
                                            <p:strVal val="#ppt_x"/>
                                          </p:val>
                                        </p:tav>
                                      </p:tavLst>
                                    </p:anim>
                                    <p:anim calcmode="lin" valueType="num">
                                      <p:cBhvr additive="base">
                                        <p:cTn id="191" dur="500" fill="hold"/>
                                        <p:tgtEl>
                                          <p:spTgt spid="104"/>
                                        </p:tgtEl>
                                        <p:attrNameLst>
                                          <p:attrName>ppt_y</p:attrName>
                                        </p:attrNameLst>
                                      </p:cBhvr>
                                      <p:tavLst>
                                        <p:tav tm="0">
                                          <p:val>
                                            <p:strVal val="1+#ppt_h/2"/>
                                          </p:val>
                                        </p:tav>
                                        <p:tav tm="100000">
                                          <p:val>
                                            <p:strVal val="#ppt_y"/>
                                          </p:val>
                                        </p:tav>
                                      </p:tavLst>
                                    </p:anim>
                                  </p:childTnLst>
                                </p:cTn>
                              </p:par>
                              <p:par>
                                <p:cTn id="192" presetID="2" presetClass="entr" presetSubtype="4" fill="hold" grpId="0" nodeType="withEffect">
                                  <p:stCondLst>
                                    <p:cond delay="0"/>
                                  </p:stCondLst>
                                  <p:childTnLst>
                                    <p:set>
                                      <p:cBhvr>
                                        <p:cTn id="193" dur="1" fill="hold">
                                          <p:stCondLst>
                                            <p:cond delay="0"/>
                                          </p:stCondLst>
                                        </p:cTn>
                                        <p:tgtEl>
                                          <p:spTgt spid="105"/>
                                        </p:tgtEl>
                                        <p:attrNameLst>
                                          <p:attrName>style.visibility</p:attrName>
                                        </p:attrNameLst>
                                      </p:cBhvr>
                                      <p:to>
                                        <p:strVal val="visible"/>
                                      </p:to>
                                    </p:set>
                                    <p:anim calcmode="lin" valueType="num">
                                      <p:cBhvr additive="base">
                                        <p:cTn id="194" dur="500" fill="hold"/>
                                        <p:tgtEl>
                                          <p:spTgt spid="105"/>
                                        </p:tgtEl>
                                        <p:attrNameLst>
                                          <p:attrName>ppt_x</p:attrName>
                                        </p:attrNameLst>
                                      </p:cBhvr>
                                      <p:tavLst>
                                        <p:tav tm="0">
                                          <p:val>
                                            <p:strVal val="#ppt_x"/>
                                          </p:val>
                                        </p:tav>
                                        <p:tav tm="100000">
                                          <p:val>
                                            <p:strVal val="#ppt_x"/>
                                          </p:val>
                                        </p:tav>
                                      </p:tavLst>
                                    </p:anim>
                                    <p:anim calcmode="lin" valueType="num">
                                      <p:cBhvr additive="base">
                                        <p:cTn id="195" dur="500" fill="hold"/>
                                        <p:tgtEl>
                                          <p:spTgt spid="105"/>
                                        </p:tgtEl>
                                        <p:attrNameLst>
                                          <p:attrName>ppt_y</p:attrName>
                                        </p:attrNameLst>
                                      </p:cBhvr>
                                      <p:tavLst>
                                        <p:tav tm="0">
                                          <p:val>
                                            <p:strVal val="1+#ppt_h/2"/>
                                          </p:val>
                                        </p:tav>
                                        <p:tav tm="100000">
                                          <p:val>
                                            <p:strVal val="#ppt_y"/>
                                          </p:val>
                                        </p:tav>
                                      </p:tavLst>
                                    </p:anim>
                                  </p:childTnLst>
                                </p:cTn>
                              </p:par>
                              <p:par>
                                <p:cTn id="196" presetID="2" presetClass="entr" presetSubtype="4" fill="hold" grpId="0" nodeType="withEffect">
                                  <p:stCondLst>
                                    <p:cond delay="0"/>
                                  </p:stCondLst>
                                  <p:childTnLst>
                                    <p:set>
                                      <p:cBhvr>
                                        <p:cTn id="197" dur="1" fill="hold">
                                          <p:stCondLst>
                                            <p:cond delay="0"/>
                                          </p:stCondLst>
                                        </p:cTn>
                                        <p:tgtEl>
                                          <p:spTgt spid="106"/>
                                        </p:tgtEl>
                                        <p:attrNameLst>
                                          <p:attrName>style.visibility</p:attrName>
                                        </p:attrNameLst>
                                      </p:cBhvr>
                                      <p:to>
                                        <p:strVal val="visible"/>
                                      </p:to>
                                    </p:set>
                                    <p:anim calcmode="lin" valueType="num">
                                      <p:cBhvr additive="base">
                                        <p:cTn id="198" dur="500" fill="hold"/>
                                        <p:tgtEl>
                                          <p:spTgt spid="106"/>
                                        </p:tgtEl>
                                        <p:attrNameLst>
                                          <p:attrName>ppt_x</p:attrName>
                                        </p:attrNameLst>
                                      </p:cBhvr>
                                      <p:tavLst>
                                        <p:tav tm="0">
                                          <p:val>
                                            <p:strVal val="#ppt_x"/>
                                          </p:val>
                                        </p:tav>
                                        <p:tav tm="100000">
                                          <p:val>
                                            <p:strVal val="#ppt_x"/>
                                          </p:val>
                                        </p:tav>
                                      </p:tavLst>
                                    </p:anim>
                                    <p:anim calcmode="lin" valueType="num">
                                      <p:cBhvr additive="base">
                                        <p:cTn id="199" dur="500" fill="hold"/>
                                        <p:tgtEl>
                                          <p:spTgt spid="106"/>
                                        </p:tgtEl>
                                        <p:attrNameLst>
                                          <p:attrName>ppt_y</p:attrName>
                                        </p:attrNameLst>
                                      </p:cBhvr>
                                      <p:tavLst>
                                        <p:tav tm="0">
                                          <p:val>
                                            <p:strVal val="1+#ppt_h/2"/>
                                          </p:val>
                                        </p:tav>
                                        <p:tav tm="100000">
                                          <p:val>
                                            <p:strVal val="#ppt_y"/>
                                          </p:val>
                                        </p:tav>
                                      </p:tavLst>
                                    </p:anim>
                                  </p:childTnLst>
                                </p:cTn>
                              </p:par>
                              <p:par>
                                <p:cTn id="200" presetID="2" presetClass="entr" presetSubtype="4" fill="hold" grpId="0" nodeType="withEffect">
                                  <p:stCondLst>
                                    <p:cond delay="0"/>
                                  </p:stCondLst>
                                  <p:childTnLst>
                                    <p:set>
                                      <p:cBhvr>
                                        <p:cTn id="201" dur="1" fill="hold">
                                          <p:stCondLst>
                                            <p:cond delay="0"/>
                                          </p:stCondLst>
                                        </p:cTn>
                                        <p:tgtEl>
                                          <p:spTgt spid="107"/>
                                        </p:tgtEl>
                                        <p:attrNameLst>
                                          <p:attrName>style.visibility</p:attrName>
                                        </p:attrNameLst>
                                      </p:cBhvr>
                                      <p:to>
                                        <p:strVal val="visible"/>
                                      </p:to>
                                    </p:set>
                                    <p:anim calcmode="lin" valueType="num">
                                      <p:cBhvr additive="base">
                                        <p:cTn id="202" dur="500" fill="hold"/>
                                        <p:tgtEl>
                                          <p:spTgt spid="107"/>
                                        </p:tgtEl>
                                        <p:attrNameLst>
                                          <p:attrName>ppt_x</p:attrName>
                                        </p:attrNameLst>
                                      </p:cBhvr>
                                      <p:tavLst>
                                        <p:tav tm="0">
                                          <p:val>
                                            <p:strVal val="#ppt_x"/>
                                          </p:val>
                                        </p:tav>
                                        <p:tav tm="100000">
                                          <p:val>
                                            <p:strVal val="#ppt_x"/>
                                          </p:val>
                                        </p:tav>
                                      </p:tavLst>
                                    </p:anim>
                                    <p:anim calcmode="lin" valueType="num">
                                      <p:cBhvr additive="base">
                                        <p:cTn id="203" dur="500" fill="hold"/>
                                        <p:tgtEl>
                                          <p:spTgt spid="107"/>
                                        </p:tgtEl>
                                        <p:attrNameLst>
                                          <p:attrName>ppt_y</p:attrName>
                                        </p:attrNameLst>
                                      </p:cBhvr>
                                      <p:tavLst>
                                        <p:tav tm="0">
                                          <p:val>
                                            <p:strVal val="1+#ppt_h/2"/>
                                          </p:val>
                                        </p:tav>
                                        <p:tav tm="100000">
                                          <p:val>
                                            <p:strVal val="#ppt_y"/>
                                          </p:val>
                                        </p:tav>
                                      </p:tavLst>
                                    </p:anim>
                                  </p:childTnLst>
                                </p:cTn>
                              </p:par>
                              <p:par>
                                <p:cTn id="204" presetID="2" presetClass="entr" presetSubtype="4" fill="hold" grpId="0" nodeType="withEffect">
                                  <p:stCondLst>
                                    <p:cond delay="0"/>
                                  </p:stCondLst>
                                  <p:childTnLst>
                                    <p:set>
                                      <p:cBhvr>
                                        <p:cTn id="205" dur="1" fill="hold">
                                          <p:stCondLst>
                                            <p:cond delay="0"/>
                                          </p:stCondLst>
                                        </p:cTn>
                                        <p:tgtEl>
                                          <p:spTgt spid="108"/>
                                        </p:tgtEl>
                                        <p:attrNameLst>
                                          <p:attrName>style.visibility</p:attrName>
                                        </p:attrNameLst>
                                      </p:cBhvr>
                                      <p:to>
                                        <p:strVal val="visible"/>
                                      </p:to>
                                    </p:set>
                                    <p:anim calcmode="lin" valueType="num">
                                      <p:cBhvr additive="base">
                                        <p:cTn id="206" dur="500" fill="hold"/>
                                        <p:tgtEl>
                                          <p:spTgt spid="108"/>
                                        </p:tgtEl>
                                        <p:attrNameLst>
                                          <p:attrName>ppt_x</p:attrName>
                                        </p:attrNameLst>
                                      </p:cBhvr>
                                      <p:tavLst>
                                        <p:tav tm="0">
                                          <p:val>
                                            <p:strVal val="#ppt_x"/>
                                          </p:val>
                                        </p:tav>
                                        <p:tav tm="100000">
                                          <p:val>
                                            <p:strVal val="#ppt_x"/>
                                          </p:val>
                                        </p:tav>
                                      </p:tavLst>
                                    </p:anim>
                                    <p:anim calcmode="lin" valueType="num">
                                      <p:cBhvr additive="base">
                                        <p:cTn id="207" dur="500" fill="hold"/>
                                        <p:tgtEl>
                                          <p:spTgt spid="108"/>
                                        </p:tgtEl>
                                        <p:attrNameLst>
                                          <p:attrName>ppt_y</p:attrName>
                                        </p:attrNameLst>
                                      </p:cBhvr>
                                      <p:tavLst>
                                        <p:tav tm="0">
                                          <p:val>
                                            <p:strVal val="1+#ppt_h/2"/>
                                          </p:val>
                                        </p:tav>
                                        <p:tav tm="100000">
                                          <p:val>
                                            <p:strVal val="#ppt_y"/>
                                          </p:val>
                                        </p:tav>
                                      </p:tavLst>
                                    </p:anim>
                                  </p:childTnLst>
                                </p:cTn>
                              </p:par>
                              <p:par>
                                <p:cTn id="208" presetID="2" presetClass="entr" presetSubtype="4" fill="hold" grpId="0" nodeType="withEffect">
                                  <p:stCondLst>
                                    <p:cond delay="0"/>
                                  </p:stCondLst>
                                  <p:childTnLst>
                                    <p:set>
                                      <p:cBhvr>
                                        <p:cTn id="209" dur="1" fill="hold">
                                          <p:stCondLst>
                                            <p:cond delay="0"/>
                                          </p:stCondLst>
                                        </p:cTn>
                                        <p:tgtEl>
                                          <p:spTgt spid="109"/>
                                        </p:tgtEl>
                                        <p:attrNameLst>
                                          <p:attrName>style.visibility</p:attrName>
                                        </p:attrNameLst>
                                      </p:cBhvr>
                                      <p:to>
                                        <p:strVal val="visible"/>
                                      </p:to>
                                    </p:set>
                                    <p:anim calcmode="lin" valueType="num">
                                      <p:cBhvr additive="base">
                                        <p:cTn id="210" dur="500" fill="hold"/>
                                        <p:tgtEl>
                                          <p:spTgt spid="109"/>
                                        </p:tgtEl>
                                        <p:attrNameLst>
                                          <p:attrName>ppt_x</p:attrName>
                                        </p:attrNameLst>
                                      </p:cBhvr>
                                      <p:tavLst>
                                        <p:tav tm="0">
                                          <p:val>
                                            <p:strVal val="#ppt_x"/>
                                          </p:val>
                                        </p:tav>
                                        <p:tav tm="100000">
                                          <p:val>
                                            <p:strVal val="#ppt_x"/>
                                          </p:val>
                                        </p:tav>
                                      </p:tavLst>
                                    </p:anim>
                                    <p:anim calcmode="lin" valueType="num">
                                      <p:cBhvr additive="base">
                                        <p:cTn id="211" dur="500" fill="hold"/>
                                        <p:tgtEl>
                                          <p:spTgt spid="109"/>
                                        </p:tgtEl>
                                        <p:attrNameLst>
                                          <p:attrName>ppt_y</p:attrName>
                                        </p:attrNameLst>
                                      </p:cBhvr>
                                      <p:tavLst>
                                        <p:tav tm="0">
                                          <p:val>
                                            <p:strVal val="1+#ppt_h/2"/>
                                          </p:val>
                                        </p:tav>
                                        <p:tav tm="100000">
                                          <p:val>
                                            <p:strVal val="#ppt_y"/>
                                          </p:val>
                                        </p:tav>
                                      </p:tavLst>
                                    </p:anim>
                                  </p:childTnLst>
                                </p:cTn>
                              </p:par>
                              <p:par>
                                <p:cTn id="212" presetID="2" presetClass="entr" presetSubtype="4" fill="hold" grpId="0" nodeType="withEffect">
                                  <p:stCondLst>
                                    <p:cond delay="0"/>
                                  </p:stCondLst>
                                  <p:childTnLst>
                                    <p:set>
                                      <p:cBhvr>
                                        <p:cTn id="213" dur="1" fill="hold">
                                          <p:stCondLst>
                                            <p:cond delay="0"/>
                                          </p:stCondLst>
                                        </p:cTn>
                                        <p:tgtEl>
                                          <p:spTgt spid="110"/>
                                        </p:tgtEl>
                                        <p:attrNameLst>
                                          <p:attrName>style.visibility</p:attrName>
                                        </p:attrNameLst>
                                      </p:cBhvr>
                                      <p:to>
                                        <p:strVal val="visible"/>
                                      </p:to>
                                    </p:set>
                                    <p:anim calcmode="lin" valueType="num">
                                      <p:cBhvr additive="base">
                                        <p:cTn id="214" dur="500" fill="hold"/>
                                        <p:tgtEl>
                                          <p:spTgt spid="110"/>
                                        </p:tgtEl>
                                        <p:attrNameLst>
                                          <p:attrName>ppt_x</p:attrName>
                                        </p:attrNameLst>
                                      </p:cBhvr>
                                      <p:tavLst>
                                        <p:tav tm="0">
                                          <p:val>
                                            <p:strVal val="#ppt_x"/>
                                          </p:val>
                                        </p:tav>
                                        <p:tav tm="100000">
                                          <p:val>
                                            <p:strVal val="#ppt_x"/>
                                          </p:val>
                                        </p:tav>
                                      </p:tavLst>
                                    </p:anim>
                                    <p:anim calcmode="lin" valueType="num">
                                      <p:cBhvr additive="base">
                                        <p:cTn id="215" dur="500" fill="hold"/>
                                        <p:tgtEl>
                                          <p:spTgt spid="110"/>
                                        </p:tgtEl>
                                        <p:attrNameLst>
                                          <p:attrName>ppt_y</p:attrName>
                                        </p:attrNameLst>
                                      </p:cBhvr>
                                      <p:tavLst>
                                        <p:tav tm="0">
                                          <p:val>
                                            <p:strVal val="1+#ppt_h/2"/>
                                          </p:val>
                                        </p:tav>
                                        <p:tav tm="100000">
                                          <p:val>
                                            <p:strVal val="#ppt_y"/>
                                          </p:val>
                                        </p:tav>
                                      </p:tavLst>
                                    </p:anim>
                                  </p:childTnLst>
                                </p:cTn>
                              </p:par>
                              <p:par>
                                <p:cTn id="216" presetID="2" presetClass="entr" presetSubtype="4" fill="hold" grpId="0" nodeType="withEffect">
                                  <p:stCondLst>
                                    <p:cond delay="0"/>
                                  </p:stCondLst>
                                  <p:childTnLst>
                                    <p:set>
                                      <p:cBhvr>
                                        <p:cTn id="217" dur="1" fill="hold">
                                          <p:stCondLst>
                                            <p:cond delay="0"/>
                                          </p:stCondLst>
                                        </p:cTn>
                                        <p:tgtEl>
                                          <p:spTgt spid="111"/>
                                        </p:tgtEl>
                                        <p:attrNameLst>
                                          <p:attrName>style.visibility</p:attrName>
                                        </p:attrNameLst>
                                      </p:cBhvr>
                                      <p:to>
                                        <p:strVal val="visible"/>
                                      </p:to>
                                    </p:set>
                                    <p:anim calcmode="lin" valueType="num">
                                      <p:cBhvr additive="base">
                                        <p:cTn id="218" dur="500" fill="hold"/>
                                        <p:tgtEl>
                                          <p:spTgt spid="111"/>
                                        </p:tgtEl>
                                        <p:attrNameLst>
                                          <p:attrName>ppt_x</p:attrName>
                                        </p:attrNameLst>
                                      </p:cBhvr>
                                      <p:tavLst>
                                        <p:tav tm="0">
                                          <p:val>
                                            <p:strVal val="#ppt_x"/>
                                          </p:val>
                                        </p:tav>
                                        <p:tav tm="100000">
                                          <p:val>
                                            <p:strVal val="#ppt_x"/>
                                          </p:val>
                                        </p:tav>
                                      </p:tavLst>
                                    </p:anim>
                                    <p:anim calcmode="lin" valueType="num">
                                      <p:cBhvr additive="base">
                                        <p:cTn id="219" dur="500" fill="hold"/>
                                        <p:tgtEl>
                                          <p:spTgt spid="111"/>
                                        </p:tgtEl>
                                        <p:attrNameLst>
                                          <p:attrName>ppt_y</p:attrName>
                                        </p:attrNameLst>
                                      </p:cBhvr>
                                      <p:tavLst>
                                        <p:tav tm="0">
                                          <p:val>
                                            <p:strVal val="1+#ppt_h/2"/>
                                          </p:val>
                                        </p:tav>
                                        <p:tav tm="100000">
                                          <p:val>
                                            <p:strVal val="#ppt_y"/>
                                          </p:val>
                                        </p:tav>
                                      </p:tavLst>
                                    </p:anim>
                                  </p:childTnLst>
                                </p:cTn>
                              </p:par>
                              <p:par>
                                <p:cTn id="220" presetID="2" presetClass="entr" presetSubtype="4" fill="hold" grpId="0" nodeType="withEffect">
                                  <p:stCondLst>
                                    <p:cond delay="0"/>
                                  </p:stCondLst>
                                  <p:childTnLst>
                                    <p:set>
                                      <p:cBhvr>
                                        <p:cTn id="221" dur="1" fill="hold">
                                          <p:stCondLst>
                                            <p:cond delay="0"/>
                                          </p:stCondLst>
                                        </p:cTn>
                                        <p:tgtEl>
                                          <p:spTgt spid="112"/>
                                        </p:tgtEl>
                                        <p:attrNameLst>
                                          <p:attrName>style.visibility</p:attrName>
                                        </p:attrNameLst>
                                      </p:cBhvr>
                                      <p:to>
                                        <p:strVal val="visible"/>
                                      </p:to>
                                    </p:set>
                                    <p:anim calcmode="lin" valueType="num">
                                      <p:cBhvr additive="base">
                                        <p:cTn id="222" dur="500" fill="hold"/>
                                        <p:tgtEl>
                                          <p:spTgt spid="112"/>
                                        </p:tgtEl>
                                        <p:attrNameLst>
                                          <p:attrName>ppt_x</p:attrName>
                                        </p:attrNameLst>
                                      </p:cBhvr>
                                      <p:tavLst>
                                        <p:tav tm="0">
                                          <p:val>
                                            <p:strVal val="#ppt_x"/>
                                          </p:val>
                                        </p:tav>
                                        <p:tav tm="100000">
                                          <p:val>
                                            <p:strVal val="#ppt_x"/>
                                          </p:val>
                                        </p:tav>
                                      </p:tavLst>
                                    </p:anim>
                                    <p:anim calcmode="lin" valueType="num">
                                      <p:cBhvr additive="base">
                                        <p:cTn id="223" dur="500" fill="hold"/>
                                        <p:tgtEl>
                                          <p:spTgt spid="112"/>
                                        </p:tgtEl>
                                        <p:attrNameLst>
                                          <p:attrName>ppt_y</p:attrName>
                                        </p:attrNameLst>
                                      </p:cBhvr>
                                      <p:tavLst>
                                        <p:tav tm="0">
                                          <p:val>
                                            <p:strVal val="1+#ppt_h/2"/>
                                          </p:val>
                                        </p:tav>
                                        <p:tav tm="100000">
                                          <p:val>
                                            <p:strVal val="#ppt_y"/>
                                          </p:val>
                                        </p:tav>
                                      </p:tavLst>
                                    </p:anim>
                                  </p:childTnLst>
                                </p:cTn>
                              </p:par>
                              <p:par>
                                <p:cTn id="224" presetID="2" presetClass="entr" presetSubtype="4" fill="hold" grpId="0" nodeType="withEffect">
                                  <p:stCondLst>
                                    <p:cond delay="0"/>
                                  </p:stCondLst>
                                  <p:childTnLst>
                                    <p:set>
                                      <p:cBhvr>
                                        <p:cTn id="225" dur="1" fill="hold">
                                          <p:stCondLst>
                                            <p:cond delay="0"/>
                                          </p:stCondLst>
                                        </p:cTn>
                                        <p:tgtEl>
                                          <p:spTgt spid="113"/>
                                        </p:tgtEl>
                                        <p:attrNameLst>
                                          <p:attrName>style.visibility</p:attrName>
                                        </p:attrNameLst>
                                      </p:cBhvr>
                                      <p:to>
                                        <p:strVal val="visible"/>
                                      </p:to>
                                    </p:set>
                                    <p:anim calcmode="lin" valueType="num">
                                      <p:cBhvr additive="base">
                                        <p:cTn id="226" dur="500" fill="hold"/>
                                        <p:tgtEl>
                                          <p:spTgt spid="113"/>
                                        </p:tgtEl>
                                        <p:attrNameLst>
                                          <p:attrName>ppt_x</p:attrName>
                                        </p:attrNameLst>
                                      </p:cBhvr>
                                      <p:tavLst>
                                        <p:tav tm="0">
                                          <p:val>
                                            <p:strVal val="#ppt_x"/>
                                          </p:val>
                                        </p:tav>
                                        <p:tav tm="100000">
                                          <p:val>
                                            <p:strVal val="#ppt_x"/>
                                          </p:val>
                                        </p:tav>
                                      </p:tavLst>
                                    </p:anim>
                                    <p:anim calcmode="lin" valueType="num">
                                      <p:cBhvr additive="base">
                                        <p:cTn id="227" dur="500" fill="hold"/>
                                        <p:tgtEl>
                                          <p:spTgt spid="113"/>
                                        </p:tgtEl>
                                        <p:attrNameLst>
                                          <p:attrName>ppt_y</p:attrName>
                                        </p:attrNameLst>
                                      </p:cBhvr>
                                      <p:tavLst>
                                        <p:tav tm="0">
                                          <p:val>
                                            <p:strVal val="1+#ppt_h/2"/>
                                          </p:val>
                                        </p:tav>
                                        <p:tav tm="100000">
                                          <p:val>
                                            <p:strVal val="#ppt_y"/>
                                          </p:val>
                                        </p:tav>
                                      </p:tavLst>
                                    </p:anim>
                                  </p:childTnLst>
                                </p:cTn>
                              </p:par>
                              <p:par>
                                <p:cTn id="228" presetID="2" presetClass="entr" presetSubtype="4" fill="hold" grpId="0" nodeType="withEffect">
                                  <p:stCondLst>
                                    <p:cond delay="0"/>
                                  </p:stCondLst>
                                  <p:childTnLst>
                                    <p:set>
                                      <p:cBhvr>
                                        <p:cTn id="229" dur="1" fill="hold">
                                          <p:stCondLst>
                                            <p:cond delay="0"/>
                                          </p:stCondLst>
                                        </p:cTn>
                                        <p:tgtEl>
                                          <p:spTgt spid="114"/>
                                        </p:tgtEl>
                                        <p:attrNameLst>
                                          <p:attrName>style.visibility</p:attrName>
                                        </p:attrNameLst>
                                      </p:cBhvr>
                                      <p:to>
                                        <p:strVal val="visible"/>
                                      </p:to>
                                    </p:set>
                                    <p:anim calcmode="lin" valueType="num">
                                      <p:cBhvr additive="base">
                                        <p:cTn id="230" dur="500" fill="hold"/>
                                        <p:tgtEl>
                                          <p:spTgt spid="114"/>
                                        </p:tgtEl>
                                        <p:attrNameLst>
                                          <p:attrName>ppt_x</p:attrName>
                                        </p:attrNameLst>
                                      </p:cBhvr>
                                      <p:tavLst>
                                        <p:tav tm="0">
                                          <p:val>
                                            <p:strVal val="#ppt_x"/>
                                          </p:val>
                                        </p:tav>
                                        <p:tav tm="100000">
                                          <p:val>
                                            <p:strVal val="#ppt_x"/>
                                          </p:val>
                                        </p:tav>
                                      </p:tavLst>
                                    </p:anim>
                                    <p:anim calcmode="lin" valueType="num">
                                      <p:cBhvr additive="base">
                                        <p:cTn id="231" dur="500" fill="hold"/>
                                        <p:tgtEl>
                                          <p:spTgt spid="114"/>
                                        </p:tgtEl>
                                        <p:attrNameLst>
                                          <p:attrName>ppt_y</p:attrName>
                                        </p:attrNameLst>
                                      </p:cBhvr>
                                      <p:tavLst>
                                        <p:tav tm="0">
                                          <p:val>
                                            <p:strVal val="1+#ppt_h/2"/>
                                          </p:val>
                                        </p:tav>
                                        <p:tav tm="100000">
                                          <p:val>
                                            <p:strVal val="#ppt_y"/>
                                          </p:val>
                                        </p:tav>
                                      </p:tavLst>
                                    </p:anim>
                                  </p:childTnLst>
                                </p:cTn>
                              </p:par>
                              <p:par>
                                <p:cTn id="232" presetID="2" presetClass="entr" presetSubtype="4" fill="hold" grpId="0" nodeType="withEffect">
                                  <p:stCondLst>
                                    <p:cond delay="0"/>
                                  </p:stCondLst>
                                  <p:childTnLst>
                                    <p:set>
                                      <p:cBhvr>
                                        <p:cTn id="233" dur="1" fill="hold">
                                          <p:stCondLst>
                                            <p:cond delay="0"/>
                                          </p:stCondLst>
                                        </p:cTn>
                                        <p:tgtEl>
                                          <p:spTgt spid="115"/>
                                        </p:tgtEl>
                                        <p:attrNameLst>
                                          <p:attrName>style.visibility</p:attrName>
                                        </p:attrNameLst>
                                      </p:cBhvr>
                                      <p:to>
                                        <p:strVal val="visible"/>
                                      </p:to>
                                    </p:set>
                                    <p:anim calcmode="lin" valueType="num">
                                      <p:cBhvr additive="base">
                                        <p:cTn id="234" dur="500" fill="hold"/>
                                        <p:tgtEl>
                                          <p:spTgt spid="115"/>
                                        </p:tgtEl>
                                        <p:attrNameLst>
                                          <p:attrName>ppt_x</p:attrName>
                                        </p:attrNameLst>
                                      </p:cBhvr>
                                      <p:tavLst>
                                        <p:tav tm="0">
                                          <p:val>
                                            <p:strVal val="#ppt_x"/>
                                          </p:val>
                                        </p:tav>
                                        <p:tav tm="100000">
                                          <p:val>
                                            <p:strVal val="#ppt_x"/>
                                          </p:val>
                                        </p:tav>
                                      </p:tavLst>
                                    </p:anim>
                                    <p:anim calcmode="lin" valueType="num">
                                      <p:cBhvr additive="base">
                                        <p:cTn id="235" dur="500" fill="hold"/>
                                        <p:tgtEl>
                                          <p:spTgt spid="115"/>
                                        </p:tgtEl>
                                        <p:attrNameLst>
                                          <p:attrName>ppt_y</p:attrName>
                                        </p:attrNameLst>
                                      </p:cBhvr>
                                      <p:tavLst>
                                        <p:tav tm="0">
                                          <p:val>
                                            <p:strVal val="1+#ppt_h/2"/>
                                          </p:val>
                                        </p:tav>
                                        <p:tav tm="100000">
                                          <p:val>
                                            <p:strVal val="#ppt_y"/>
                                          </p:val>
                                        </p:tav>
                                      </p:tavLst>
                                    </p:anim>
                                  </p:childTnLst>
                                </p:cTn>
                              </p:par>
                              <p:par>
                                <p:cTn id="236" presetID="2" presetClass="entr" presetSubtype="1" fill="hold" grpId="0" nodeType="withEffect">
                                  <p:stCondLst>
                                    <p:cond delay="0"/>
                                  </p:stCondLst>
                                  <p:childTnLst>
                                    <p:set>
                                      <p:cBhvr>
                                        <p:cTn id="237" dur="1" fill="hold">
                                          <p:stCondLst>
                                            <p:cond delay="0"/>
                                          </p:stCondLst>
                                        </p:cTn>
                                        <p:tgtEl>
                                          <p:spTgt spid="116"/>
                                        </p:tgtEl>
                                        <p:attrNameLst>
                                          <p:attrName>style.visibility</p:attrName>
                                        </p:attrNameLst>
                                      </p:cBhvr>
                                      <p:to>
                                        <p:strVal val="visible"/>
                                      </p:to>
                                    </p:set>
                                    <p:anim calcmode="lin" valueType="num">
                                      <p:cBhvr additive="base">
                                        <p:cTn id="238" dur="500" fill="hold"/>
                                        <p:tgtEl>
                                          <p:spTgt spid="116"/>
                                        </p:tgtEl>
                                        <p:attrNameLst>
                                          <p:attrName>ppt_x</p:attrName>
                                        </p:attrNameLst>
                                      </p:cBhvr>
                                      <p:tavLst>
                                        <p:tav tm="0">
                                          <p:val>
                                            <p:strVal val="#ppt_x"/>
                                          </p:val>
                                        </p:tav>
                                        <p:tav tm="100000">
                                          <p:val>
                                            <p:strVal val="#ppt_x"/>
                                          </p:val>
                                        </p:tav>
                                      </p:tavLst>
                                    </p:anim>
                                    <p:anim calcmode="lin" valueType="num">
                                      <p:cBhvr additive="base">
                                        <p:cTn id="239" dur="500" fill="hold"/>
                                        <p:tgtEl>
                                          <p:spTgt spid="116"/>
                                        </p:tgtEl>
                                        <p:attrNameLst>
                                          <p:attrName>ppt_y</p:attrName>
                                        </p:attrNameLst>
                                      </p:cBhvr>
                                      <p:tavLst>
                                        <p:tav tm="0">
                                          <p:val>
                                            <p:strVal val="0-#ppt_h/2"/>
                                          </p:val>
                                        </p:tav>
                                        <p:tav tm="100000">
                                          <p:val>
                                            <p:strVal val="#ppt_y"/>
                                          </p:val>
                                        </p:tav>
                                      </p:tavLst>
                                    </p:anim>
                                  </p:childTnLst>
                                </p:cTn>
                              </p:par>
                              <p:par>
                                <p:cTn id="240" presetID="2" presetClass="entr" presetSubtype="4" fill="hold" grpId="0" nodeType="withEffect">
                                  <p:stCondLst>
                                    <p:cond delay="0"/>
                                  </p:stCondLst>
                                  <p:childTnLst>
                                    <p:set>
                                      <p:cBhvr>
                                        <p:cTn id="241" dur="1" fill="hold">
                                          <p:stCondLst>
                                            <p:cond delay="0"/>
                                          </p:stCondLst>
                                        </p:cTn>
                                        <p:tgtEl>
                                          <p:spTgt spid="117"/>
                                        </p:tgtEl>
                                        <p:attrNameLst>
                                          <p:attrName>style.visibility</p:attrName>
                                        </p:attrNameLst>
                                      </p:cBhvr>
                                      <p:to>
                                        <p:strVal val="visible"/>
                                      </p:to>
                                    </p:set>
                                    <p:anim calcmode="lin" valueType="num">
                                      <p:cBhvr additive="base">
                                        <p:cTn id="242" dur="500" fill="hold"/>
                                        <p:tgtEl>
                                          <p:spTgt spid="117"/>
                                        </p:tgtEl>
                                        <p:attrNameLst>
                                          <p:attrName>ppt_x</p:attrName>
                                        </p:attrNameLst>
                                      </p:cBhvr>
                                      <p:tavLst>
                                        <p:tav tm="0">
                                          <p:val>
                                            <p:strVal val="#ppt_x"/>
                                          </p:val>
                                        </p:tav>
                                        <p:tav tm="100000">
                                          <p:val>
                                            <p:strVal val="#ppt_x"/>
                                          </p:val>
                                        </p:tav>
                                      </p:tavLst>
                                    </p:anim>
                                    <p:anim calcmode="lin" valueType="num">
                                      <p:cBhvr additive="base">
                                        <p:cTn id="243" dur="500" fill="hold"/>
                                        <p:tgtEl>
                                          <p:spTgt spid="117"/>
                                        </p:tgtEl>
                                        <p:attrNameLst>
                                          <p:attrName>ppt_y</p:attrName>
                                        </p:attrNameLst>
                                      </p:cBhvr>
                                      <p:tavLst>
                                        <p:tav tm="0">
                                          <p:val>
                                            <p:strVal val="1+#ppt_h/2"/>
                                          </p:val>
                                        </p:tav>
                                        <p:tav tm="100000">
                                          <p:val>
                                            <p:strVal val="#ppt_y"/>
                                          </p:val>
                                        </p:tav>
                                      </p:tavLst>
                                    </p:anim>
                                  </p:childTnLst>
                                </p:cTn>
                              </p:par>
                              <p:par>
                                <p:cTn id="244" presetID="2" presetClass="entr" presetSubtype="4" fill="hold" grpId="0" nodeType="withEffect">
                                  <p:stCondLst>
                                    <p:cond delay="0"/>
                                  </p:stCondLst>
                                  <p:childTnLst>
                                    <p:set>
                                      <p:cBhvr>
                                        <p:cTn id="245" dur="1" fill="hold">
                                          <p:stCondLst>
                                            <p:cond delay="0"/>
                                          </p:stCondLst>
                                        </p:cTn>
                                        <p:tgtEl>
                                          <p:spTgt spid="118"/>
                                        </p:tgtEl>
                                        <p:attrNameLst>
                                          <p:attrName>style.visibility</p:attrName>
                                        </p:attrNameLst>
                                      </p:cBhvr>
                                      <p:to>
                                        <p:strVal val="visible"/>
                                      </p:to>
                                    </p:set>
                                    <p:anim calcmode="lin" valueType="num">
                                      <p:cBhvr additive="base">
                                        <p:cTn id="246" dur="500" fill="hold"/>
                                        <p:tgtEl>
                                          <p:spTgt spid="118"/>
                                        </p:tgtEl>
                                        <p:attrNameLst>
                                          <p:attrName>ppt_x</p:attrName>
                                        </p:attrNameLst>
                                      </p:cBhvr>
                                      <p:tavLst>
                                        <p:tav tm="0">
                                          <p:val>
                                            <p:strVal val="#ppt_x"/>
                                          </p:val>
                                        </p:tav>
                                        <p:tav tm="100000">
                                          <p:val>
                                            <p:strVal val="#ppt_x"/>
                                          </p:val>
                                        </p:tav>
                                      </p:tavLst>
                                    </p:anim>
                                    <p:anim calcmode="lin" valueType="num">
                                      <p:cBhvr additive="base">
                                        <p:cTn id="247" dur="500" fill="hold"/>
                                        <p:tgtEl>
                                          <p:spTgt spid="118"/>
                                        </p:tgtEl>
                                        <p:attrNameLst>
                                          <p:attrName>ppt_y</p:attrName>
                                        </p:attrNameLst>
                                      </p:cBhvr>
                                      <p:tavLst>
                                        <p:tav tm="0">
                                          <p:val>
                                            <p:strVal val="1+#ppt_h/2"/>
                                          </p:val>
                                        </p:tav>
                                        <p:tav tm="100000">
                                          <p:val>
                                            <p:strVal val="#ppt_y"/>
                                          </p:val>
                                        </p:tav>
                                      </p:tavLst>
                                    </p:anim>
                                  </p:childTnLst>
                                </p:cTn>
                              </p:par>
                              <p:par>
                                <p:cTn id="248" presetID="2" presetClass="entr" presetSubtype="3" fill="hold" grpId="0" nodeType="withEffect">
                                  <p:stCondLst>
                                    <p:cond delay="0"/>
                                  </p:stCondLst>
                                  <p:childTnLst>
                                    <p:set>
                                      <p:cBhvr>
                                        <p:cTn id="249" dur="1" fill="hold">
                                          <p:stCondLst>
                                            <p:cond delay="0"/>
                                          </p:stCondLst>
                                        </p:cTn>
                                        <p:tgtEl>
                                          <p:spTgt spid="119"/>
                                        </p:tgtEl>
                                        <p:attrNameLst>
                                          <p:attrName>style.visibility</p:attrName>
                                        </p:attrNameLst>
                                      </p:cBhvr>
                                      <p:to>
                                        <p:strVal val="visible"/>
                                      </p:to>
                                    </p:set>
                                    <p:anim calcmode="lin" valueType="num">
                                      <p:cBhvr additive="base">
                                        <p:cTn id="250" dur="500" fill="hold"/>
                                        <p:tgtEl>
                                          <p:spTgt spid="119"/>
                                        </p:tgtEl>
                                        <p:attrNameLst>
                                          <p:attrName>ppt_x</p:attrName>
                                        </p:attrNameLst>
                                      </p:cBhvr>
                                      <p:tavLst>
                                        <p:tav tm="0">
                                          <p:val>
                                            <p:strVal val="1+#ppt_w/2"/>
                                          </p:val>
                                        </p:tav>
                                        <p:tav tm="100000">
                                          <p:val>
                                            <p:strVal val="#ppt_x"/>
                                          </p:val>
                                        </p:tav>
                                      </p:tavLst>
                                    </p:anim>
                                    <p:anim calcmode="lin" valueType="num">
                                      <p:cBhvr additive="base">
                                        <p:cTn id="251" dur="500" fill="hold"/>
                                        <p:tgtEl>
                                          <p:spTgt spid="119"/>
                                        </p:tgtEl>
                                        <p:attrNameLst>
                                          <p:attrName>ppt_y</p:attrName>
                                        </p:attrNameLst>
                                      </p:cBhvr>
                                      <p:tavLst>
                                        <p:tav tm="0">
                                          <p:val>
                                            <p:strVal val="0-#ppt_h/2"/>
                                          </p:val>
                                        </p:tav>
                                        <p:tav tm="100000">
                                          <p:val>
                                            <p:strVal val="#ppt_y"/>
                                          </p:val>
                                        </p:tav>
                                      </p:tavLst>
                                    </p:anim>
                                  </p:childTnLst>
                                </p:cTn>
                              </p:par>
                              <p:par>
                                <p:cTn id="252" presetID="2" presetClass="entr" presetSubtype="2" fill="hold" grpId="0" nodeType="withEffect">
                                  <p:stCondLst>
                                    <p:cond delay="0"/>
                                  </p:stCondLst>
                                  <p:childTnLst>
                                    <p:set>
                                      <p:cBhvr>
                                        <p:cTn id="253" dur="1" fill="hold">
                                          <p:stCondLst>
                                            <p:cond delay="0"/>
                                          </p:stCondLst>
                                        </p:cTn>
                                        <p:tgtEl>
                                          <p:spTgt spid="120"/>
                                        </p:tgtEl>
                                        <p:attrNameLst>
                                          <p:attrName>style.visibility</p:attrName>
                                        </p:attrNameLst>
                                      </p:cBhvr>
                                      <p:to>
                                        <p:strVal val="visible"/>
                                      </p:to>
                                    </p:set>
                                    <p:anim calcmode="lin" valueType="num">
                                      <p:cBhvr additive="base">
                                        <p:cTn id="254" dur="500" fill="hold"/>
                                        <p:tgtEl>
                                          <p:spTgt spid="120"/>
                                        </p:tgtEl>
                                        <p:attrNameLst>
                                          <p:attrName>ppt_x</p:attrName>
                                        </p:attrNameLst>
                                      </p:cBhvr>
                                      <p:tavLst>
                                        <p:tav tm="0">
                                          <p:val>
                                            <p:strVal val="1+#ppt_w/2"/>
                                          </p:val>
                                        </p:tav>
                                        <p:tav tm="100000">
                                          <p:val>
                                            <p:strVal val="#ppt_x"/>
                                          </p:val>
                                        </p:tav>
                                      </p:tavLst>
                                    </p:anim>
                                    <p:anim calcmode="lin" valueType="num">
                                      <p:cBhvr additive="base">
                                        <p:cTn id="255" dur="500" fill="hold"/>
                                        <p:tgtEl>
                                          <p:spTgt spid="120"/>
                                        </p:tgtEl>
                                        <p:attrNameLst>
                                          <p:attrName>ppt_y</p:attrName>
                                        </p:attrNameLst>
                                      </p:cBhvr>
                                      <p:tavLst>
                                        <p:tav tm="0">
                                          <p:val>
                                            <p:strVal val="#ppt_y"/>
                                          </p:val>
                                        </p:tav>
                                        <p:tav tm="100000">
                                          <p:val>
                                            <p:strVal val="#ppt_y"/>
                                          </p:val>
                                        </p:tav>
                                      </p:tavLst>
                                    </p:anim>
                                  </p:childTnLst>
                                </p:cTn>
                              </p:par>
                              <p:par>
                                <p:cTn id="256" presetID="2" presetClass="entr" presetSubtype="12" fill="hold" grpId="0" nodeType="withEffect">
                                  <p:stCondLst>
                                    <p:cond delay="0"/>
                                  </p:stCondLst>
                                  <p:childTnLst>
                                    <p:set>
                                      <p:cBhvr>
                                        <p:cTn id="257" dur="1" fill="hold">
                                          <p:stCondLst>
                                            <p:cond delay="0"/>
                                          </p:stCondLst>
                                        </p:cTn>
                                        <p:tgtEl>
                                          <p:spTgt spid="121"/>
                                        </p:tgtEl>
                                        <p:attrNameLst>
                                          <p:attrName>style.visibility</p:attrName>
                                        </p:attrNameLst>
                                      </p:cBhvr>
                                      <p:to>
                                        <p:strVal val="visible"/>
                                      </p:to>
                                    </p:set>
                                    <p:anim calcmode="lin" valueType="num">
                                      <p:cBhvr additive="base">
                                        <p:cTn id="258" dur="500" fill="hold"/>
                                        <p:tgtEl>
                                          <p:spTgt spid="121"/>
                                        </p:tgtEl>
                                        <p:attrNameLst>
                                          <p:attrName>ppt_x</p:attrName>
                                        </p:attrNameLst>
                                      </p:cBhvr>
                                      <p:tavLst>
                                        <p:tav tm="0">
                                          <p:val>
                                            <p:strVal val="0-#ppt_w/2"/>
                                          </p:val>
                                        </p:tav>
                                        <p:tav tm="100000">
                                          <p:val>
                                            <p:strVal val="#ppt_x"/>
                                          </p:val>
                                        </p:tav>
                                      </p:tavLst>
                                    </p:anim>
                                    <p:anim calcmode="lin" valueType="num">
                                      <p:cBhvr additive="base">
                                        <p:cTn id="259" dur="500" fill="hold"/>
                                        <p:tgtEl>
                                          <p:spTgt spid="121"/>
                                        </p:tgtEl>
                                        <p:attrNameLst>
                                          <p:attrName>ppt_y</p:attrName>
                                        </p:attrNameLst>
                                      </p:cBhvr>
                                      <p:tavLst>
                                        <p:tav tm="0">
                                          <p:val>
                                            <p:strVal val="1+#ppt_h/2"/>
                                          </p:val>
                                        </p:tav>
                                        <p:tav tm="100000">
                                          <p:val>
                                            <p:strVal val="#ppt_y"/>
                                          </p:val>
                                        </p:tav>
                                      </p:tavLst>
                                    </p:anim>
                                  </p:childTnLst>
                                </p:cTn>
                              </p:par>
                              <p:par>
                                <p:cTn id="260" presetID="2" presetClass="entr" presetSubtype="4" fill="hold" grpId="0" nodeType="withEffect">
                                  <p:stCondLst>
                                    <p:cond delay="0"/>
                                  </p:stCondLst>
                                  <p:childTnLst>
                                    <p:set>
                                      <p:cBhvr>
                                        <p:cTn id="261" dur="1" fill="hold">
                                          <p:stCondLst>
                                            <p:cond delay="0"/>
                                          </p:stCondLst>
                                        </p:cTn>
                                        <p:tgtEl>
                                          <p:spTgt spid="122"/>
                                        </p:tgtEl>
                                        <p:attrNameLst>
                                          <p:attrName>style.visibility</p:attrName>
                                        </p:attrNameLst>
                                      </p:cBhvr>
                                      <p:to>
                                        <p:strVal val="visible"/>
                                      </p:to>
                                    </p:set>
                                    <p:anim calcmode="lin" valueType="num">
                                      <p:cBhvr additive="base">
                                        <p:cTn id="262" dur="500" fill="hold"/>
                                        <p:tgtEl>
                                          <p:spTgt spid="122"/>
                                        </p:tgtEl>
                                        <p:attrNameLst>
                                          <p:attrName>ppt_x</p:attrName>
                                        </p:attrNameLst>
                                      </p:cBhvr>
                                      <p:tavLst>
                                        <p:tav tm="0">
                                          <p:val>
                                            <p:strVal val="#ppt_x"/>
                                          </p:val>
                                        </p:tav>
                                        <p:tav tm="100000">
                                          <p:val>
                                            <p:strVal val="#ppt_x"/>
                                          </p:val>
                                        </p:tav>
                                      </p:tavLst>
                                    </p:anim>
                                    <p:anim calcmode="lin" valueType="num">
                                      <p:cBhvr additive="base">
                                        <p:cTn id="263" dur="500" fill="hold"/>
                                        <p:tgtEl>
                                          <p:spTgt spid="122"/>
                                        </p:tgtEl>
                                        <p:attrNameLst>
                                          <p:attrName>ppt_y</p:attrName>
                                        </p:attrNameLst>
                                      </p:cBhvr>
                                      <p:tavLst>
                                        <p:tav tm="0">
                                          <p:val>
                                            <p:strVal val="1+#ppt_h/2"/>
                                          </p:val>
                                        </p:tav>
                                        <p:tav tm="100000">
                                          <p:val>
                                            <p:strVal val="#ppt_y"/>
                                          </p:val>
                                        </p:tav>
                                      </p:tavLst>
                                    </p:anim>
                                  </p:childTnLst>
                                </p:cTn>
                              </p:par>
                              <p:par>
                                <p:cTn id="264" presetID="2" presetClass="entr" presetSubtype="4" fill="hold" grpId="0" nodeType="withEffect">
                                  <p:stCondLst>
                                    <p:cond delay="0"/>
                                  </p:stCondLst>
                                  <p:childTnLst>
                                    <p:set>
                                      <p:cBhvr>
                                        <p:cTn id="265" dur="1" fill="hold">
                                          <p:stCondLst>
                                            <p:cond delay="0"/>
                                          </p:stCondLst>
                                        </p:cTn>
                                        <p:tgtEl>
                                          <p:spTgt spid="123"/>
                                        </p:tgtEl>
                                        <p:attrNameLst>
                                          <p:attrName>style.visibility</p:attrName>
                                        </p:attrNameLst>
                                      </p:cBhvr>
                                      <p:to>
                                        <p:strVal val="visible"/>
                                      </p:to>
                                    </p:set>
                                    <p:anim calcmode="lin" valueType="num">
                                      <p:cBhvr additive="base">
                                        <p:cTn id="266" dur="500" fill="hold"/>
                                        <p:tgtEl>
                                          <p:spTgt spid="123"/>
                                        </p:tgtEl>
                                        <p:attrNameLst>
                                          <p:attrName>ppt_x</p:attrName>
                                        </p:attrNameLst>
                                      </p:cBhvr>
                                      <p:tavLst>
                                        <p:tav tm="0">
                                          <p:val>
                                            <p:strVal val="#ppt_x"/>
                                          </p:val>
                                        </p:tav>
                                        <p:tav tm="100000">
                                          <p:val>
                                            <p:strVal val="#ppt_x"/>
                                          </p:val>
                                        </p:tav>
                                      </p:tavLst>
                                    </p:anim>
                                    <p:anim calcmode="lin" valueType="num">
                                      <p:cBhvr additive="base">
                                        <p:cTn id="267" dur="500" fill="hold"/>
                                        <p:tgtEl>
                                          <p:spTgt spid="123"/>
                                        </p:tgtEl>
                                        <p:attrNameLst>
                                          <p:attrName>ppt_y</p:attrName>
                                        </p:attrNameLst>
                                      </p:cBhvr>
                                      <p:tavLst>
                                        <p:tav tm="0">
                                          <p:val>
                                            <p:strVal val="1+#ppt_h/2"/>
                                          </p:val>
                                        </p:tav>
                                        <p:tav tm="100000">
                                          <p:val>
                                            <p:strVal val="#ppt_y"/>
                                          </p:val>
                                        </p:tav>
                                      </p:tavLst>
                                    </p:anim>
                                  </p:childTnLst>
                                </p:cTn>
                              </p:par>
                              <p:par>
                                <p:cTn id="268" presetID="2" presetClass="entr" presetSubtype="4" fill="hold" grpId="0" nodeType="withEffect">
                                  <p:stCondLst>
                                    <p:cond delay="0"/>
                                  </p:stCondLst>
                                  <p:childTnLst>
                                    <p:set>
                                      <p:cBhvr>
                                        <p:cTn id="269" dur="1" fill="hold">
                                          <p:stCondLst>
                                            <p:cond delay="0"/>
                                          </p:stCondLst>
                                        </p:cTn>
                                        <p:tgtEl>
                                          <p:spTgt spid="124"/>
                                        </p:tgtEl>
                                        <p:attrNameLst>
                                          <p:attrName>style.visibility</p:attrName>
                                        </p:attrNameLst>
                                      </p:cBhvr>
                                      <p:to>
                                        <p:strVal val="visible"/>
                                      </p:to>
                                    </p:set>
                                    <p:anim calcmode="lin" valueType="num">
                                      <p:cBhvr additive="base">
                                        <p:cTn id="270" dur="500" fill="hold"/>
                                        <p:tgtEl>
                                          <p:spTgt spid="124"/>
                                        </p:tgtEl>
                                        <p:attrNameLst>
                                          <p:attrName>ppt_x</p:attrName>
                                        </p:attrNameLst>
                                      </p:cBhvr>
                                      <p:tavLst>
                                        <p:tav tm="0">
                                          <p:val>
                                            <p:strVal val="#ppt_x"/>
                                          </p:val>
                                        </p:tav>
                                        <p:tav tm="100000">
                                          <p:val>
                                            <p:strVal val="#ppt_x"/>
                                          </p:val>
                                        </p:tav>
                                      </p:tavLst>
                                    </p:anim>
                                    <p:anim calcmode="lin" valueType="num">
                                      <p:cBhvr additive="base">
                                        <p:cTn id="271" dur="500" fill="hold"/>
                                        <p:tgtEl>
                                          <p:spTgt spid="124"/>
                                        </p:tgtEl>
                                        <p:attrNameLst>
                                          <p:attrName>ppt_y</p:attrName>
                                        </p:attrNameLst>
                                      </p:cBhvr>
                                      <p:tavLst>
                                        <p:tav tm="0">
                                          <p:val>
                                            <p:strVal val="1+#ppt_h/2"/>
                                          </p:val>
                                        </p:tav>
                                        <p:tav tm="100000">
                                          <p:val>
                                            <p:strVal val="#ppt_y"/>
                                          </p:val>
                                        </p:tav>
                                      </p:tavLst>
                                    </p:anim>
                                  </p:childTnLst>
                                </p:cTn>
                              </p:par>
                              <p:par>
                                <p:cTn id="272" presetID="2" presetClass="entr" presetSubtype="8" fill="hold" grpId="0" nodeType="withEffect">
                                  <p:stCondLst>
                                    <p:cond delay="0"/>
                                  </p:stCondLst>
                                  <p:childTnLst>
                                    <p:set>
                                      <p:cBhvr>
                                        <p:cTn id="273" dur="1" fill="hold">
                                          <p:stCondLst>
                                            <p:cond delay="0"/>
                                          </p:stCondLst>
                                        </p:cTn>
                                        <p:tgtEl>
                                          <p:spTgt spid="125"/>
                                        </p:tgtEl>
                                        <p:attrNameLst>
                                          <p:attrName>style.visibility</p:attrName>
                                        </p:attrNameLst>
                                      </p:cBhvr>
                                      <p:to>
                                        <p:strVal val="visible"/>
                                      </p:to>
                                    </p:set>
                                    <p:anim calcmode="lin" valueType="num">
                                      <p:cBhvr additive="base">
                                        <p:cTn id="274" dur="500" fill="hold"/>
                                        <p:tgtEl>
                                          <p:spTgt spid="125"/>
                                        </p:tgtEl>
                                        <p:attrNameLst>
                                          <p:attrName>ppt_x</p:attrName>
                                        </p:attrNameLst>
                                      </p:cBhvr>
                                      <p:tavLst>
                                        <p:tav tm="0">
                                          <p:val>
                                            <p:strVal val="0-#ppt_w/2"/>
                                          </p:val>
                                        </p:tav>
                                        <p:tav tm="100000">
                                          <p:val>
                                            <p:strVal val="#ppt_x"/>
                                          </p:val>
                                        </p:tav>
                                      </p:tavLst>
                                    </p:anim>
                                    <p:anim calcmode="lin" valueType="num">
                                      <p:cBhvr additive="base">
                                        <p:cTn id="275" dur="500" fill="hold"/>
                                        <p:tgtEl>
                                          <p:spTgt spid="125"/>
                                        </p:tgtEl>
                                        <p:attrNameLst>
                                          <p:attrName>ppt_y</p:attrName>
                                        </p:attrNameLst>
                                      </p:cBhvr>
                                      <p:tavLst>
                                        <p:tav tm="0">
                                          <p:val>
                                            <p:strVal val="#ppt_y"/>
                                          </p:val>
                                        </p:tav>
                                        <p:tav tm="100000">
                                          <p:val>
                                            <p:strVal val="#ppt_y"/>
                                          </p:val>
                                        </p:tav>
                                      </p:tavLst>
                                    </p:anim>
                                  </p:childTnLst>
                                </p:cTn>
                              </p:par>
                              <p:par>
                                <p:cTn id="276" presetID="2" presetClass="entr" presetSubtype="4" fill="hold" grpId="0" nodeType="withEffect">
                                  <p:stCondLst>
                                    <p:cond delay="0"/>
                                  </p:stCondLst>
                                  <p:childTnLst>
                                    <p:set>
                                      <p:cBhvr>
                                        <p:cTn id="277" dur="1" fill="hold">
                                          <p:stCondLst>
                                            <p:cond delay="0"/>
                                          </p:stCondLst>
                                        </p:cTn>
                                        <p:tgtEl>
                                          <p:spTgt spid="126"/>
                                        </p:tgtEl>
                                        <p:attrNameLst>
                                          <p:attrName>style.visibility</p:attrName>
                                        </p:attrNameLst>
                                      </p:cBhvr>
                                      <p:to>
                                        <p:strVal val="visible"/>
                                      </p:to>
                                    </p:set>
                                    <p:anim calcmode="lin" valueType="num">
                                      <p:cBhvr additive="base">
                                        <p:cTn id="278" dur="500" fill="hold"/>
                                        <p:tgtEl>
                                          <p:spTgt spid="126"/>
                                        </p:tgtEl>
                                        <p:attrNameLst>
                                          <p:attrName>ppt_x</p:attrName>
                                        </p:attrNameLst>
                                      </p:cBhvr>
                                      <p:tavLst>
                                        <p:tav tm="0">
                                          <p:val>
                                            <p:strVal val="#ppt_x"/>
                                          </p:val>
                                        </p:tav>
                                        <p:tav tm="100000">
                                          <p:val>
                                            <p:strVal val="#ppt_x"/>
                                          </p:val>
                                        </p:tav>
                                      </p:tavLst>
                                    </p:anim>
                                    <p:anim calcmode="lin" valueType="num">
                                      <p:cBhvr additive="base">
                                        <p:cTn id="279" dur="500" fill="hold"/>
                                        <p:tgtEl>
                                          <p:spTgt spid="126"/>
                                        </p:tgtEl>
                                        <p:attrNameLst>
                                          <p:attrName>ppt_y</p:attrName>
                                        </p:attrNameLst>
                                      </p:cBhvr>
                                      <p:tavLst>
                                        <p:tav tm="0">
                                          <p:val>
                                            <p:strVal val="1+#ppt_h/2"/>
                                          </p:val>
                                        </p:tav>
                                        <p:tav tm="100000">
                                          <p:val>
                                            <p:strVal val="#ppt_y"/>
                                          </p:val>
                                        </p:tav>
                                      </p:tavLst>
                                    </p:anim>
                                  </p:childTnLst>
                                </p:cTn>
                              </p:par>
                              <p:par>
                                <p:cTn id="280" presetID="2" presetClass="entr" presetSubtype="4" fill="hold" grpId="0" nodeType="withEffect">
                                  <p:stCondLst>
                                    <p:cond delay="0"/>
                                  </p:stCondLst>
                                  <p:childTnLst>
                                    <p:set>
                                      <p:cBhvr>
                                        <p:cTn id="281" dur="1" fill="hold">
                                          <p:stCondLst>
                                            <p:cond delay="0"/>
                                          </p:stCondLst>
                                        </p:cTn>
                                        <p:tgtEl>
                                          <p:spTgt spid="127"/>
                                        </p:tgtEl>
                                        <p:attrNameLst>
                                          <p:attrName>style.visibility</p:attrName>
                                        </p:attrNameLst>
                                      </p:cBhvr>
                                      <p:to>
                                        <p:strVal val="visible"/>
                                      </p:to>
                                    </p:set>
                                    <p:anim calcmode="lin" valueType="num">
                                      <p:cBhvr additive="base">
                                        <p:cTn id="282" dur="500" fill="hold"/>
                                        <p:tgtEl>
                                          <p:spTgt spid="127"/>
                                        </p:tgtEl>
                                        <p:attrNameLst>
                                          <p:attrName>ppt_x</p:attrName>
                                        </p:attrNameLst>
                                      </p:cBhvr>
                                      <p:tavLst>
                                        <p:tav tm="0">
                                          <p:val>
                                            <p:strVal val="#ppt_x"/>
                                          </p:val>
                                        </p:tav>
                                        <p:tav tm="100000">
                                          <p:val>
                                            <p:strVal val="#ppt_x"/>
                                          </p:val>
                                        </p:tav>
                                      </p:tavLst>
                                    </p:anim>
                                    <p:anim calcmode="lin" valueType="num">
                                      <p:cBhvr additive="base">
                                        <p:cTn id="283" dur="500" fill="hold"/>
                                        <p:tgtEl>
                                          <p:spTgt spid="127"/>
                                        </p:tgtEl>
                                        <p:attrNameLst>
                                          <p:attrName>ppt_y</p:attrName>
                                        </p:attrNameLst>
                                      </p:cBhvr>
                                      <p:tavLst>
                                        <p:tav tm="0">
                                          <p:val>
                                            <p:strVal val="1+#ppt_h/2"/>
                                          </p:val>
                                        </p:tav>
                                        <p:tav tm="100000">
                                          <p:val>
                                            <p:strVal val="#ppt_y"/>
                                          </p:val>
                                        </p:tav>
                                      </p:tavLst>
                                    </p:anim>
                                  </p:childTnLst>
                                </p:cTn>
                              </p:par>
                              <p:par>
                                <p:cTn id="284" presetID="2" presetClass="entr" presetSubtype="4" fill="hold" grpId="0" nodeType="withEffect">
                                  <p:stCondLst>
                                    <p:cond delay="0"/>
                                  </p:stCondLst>
                                  <p:childTnLst>
                                    <p:set>
                                      <p:cBhvr>
                                        <p:cTn id="285" dur="1" fill="hold">
                                          <p:stCondLst>
                                            <p:cond delay="0"/>
                                          </p:stCondLst>
                                        </p:cTn>
                                        <p:tgtEl>
                                          <p:spTgt spid="128"/>
                                        </p:tgtEl>
                                        <p:attrNameLst>
                                          <p:attrName>style.visibility</p:attrName>
                                        </p:attrNameLst>
                                      </p:cBhvr>
                                      <p:to>
                                        <p:strVal val="visible"/>
                                      </p:to>
                                    </p:set>
                                    <p:anim calcmode="lin" valueType="num">
                                      <p:cBhvr additive="base">
                                        <p:cTn id="286" dur="500" fill="hold"/>
                                        <p:tgtEl>
                                          <p:spTgt spid="128"/>
                                        </p:tgtEl>
                                        <p:attrNameLst>
                                          <p:attrName>ppt_x</p:attrName>
                                        </p:attrNameLst>
                                      </p:cBhvr>
                                      <p:tavLst>
                                        <p:tav tm="0">
                                          <p:val>
                                            <p:strVal val="#ppt_x"/>
                                          </p:val>
                                        </p:tav>
                                        <p:tav tm="100000">
                                          <p:val>
                                            <p:strVal val="#ppt_x"/>
                                          </p:val>
                                        </p:tav>
                                      </p:tavLst>
                                    </p:anim>
                                    <p:anim calcmode="lin" valueType="num">
                                      <p:cBhvr additive="base">
                                        <p:cTn id="287" dur="500" fill="hold"/>
                                        <p:tgtEl>
                                          <p:spTgt spid="128"/>
                                        </p:tgtEl>
                                        <p:attrNameLst>
                                          <p:attrName>ppt_y</p:attrName>
                                        </p:attrNameLst>
                                      </p:cBhvr>
                                      <p:tavLst>
                                        <p:tav tm="0">
                                          <p:val>
                                            <p:strVal val="1+#ppt_h/2"/>
                                          </p:val>
                                        </p:tav>
                                        <p:tav tm="100000">
                                          <p:val>
                                            <p:strVal val="#ppt_y"/>
                                          </p:val>
                                        </p:tav>
                                      </p:tavLst>
                                    </p:anim>
                                  </p:childTnLst>
                                </p:cTn>
                              </p:par>
                              <p:par>
                                <p:cTn id="288" presetID="2" presetClass="entr" presetSubtype="4" fill="hold" grpId="0" nodeType="withEffect">
                                  <p:stCondLst>
                                    <p:cond delay="0"/>
                                  </p:stCondLst>
                                  <p:childTnLst>
                                    <p:set>
                                      <p:cBhvr>
                                        <p:cTn id="289" dur="1" fill="hold">
                                          <p:stCondLst>
                                            <p:cond delay="0"/>
                                          </p:stCondLst>
                                        </p:cTn>
                                        <p:tgtEl>
                                          <p:spTgt spid="129"/>
                                        </p:tgtEl>
                                        <p:attrNameLst>
                                          <p:attrName>style.visibility</p:attrName>
                                        </p:attrNameLst>
                                      </p:cBhvr>
                                      <p:to>
                                        <p:strVal val="visible"/>
                                      </p:to>
                                    </p:set>
                                    <p:anim calcmode="lin" valueType="num">
                                      <p:cBhvr additive="base">
                                        <p:cTn id="290" dur="500" fill="hold"/>
                                        <p:tgtEl>
                                          <p:spTgt spid="129"/>
                                        </p:tgtEl>
                                        <p:attrNameLst>
                                          <p:attrName>ppt_x</p:attrName>
                                        </p:attrNameLst>
                                      </p:cBhvr>
                                      <p:tavLst>
                                        <p:tav tm="0">
                                          <p:val>
                                            <p:strVal val="#ppt_x"/>
                                          </p:val>
                                        </p:tav>
                                        <p:tav tm="100000">
                                          <p:val>
                                            <p:strVal val="#ppt_x"/>
                                          </p:val>
                                        </p:tav>
                                      </p:tavLst>
                                    </p:anim>
                                    <p:anim calcmode="lin" valueType="num">
                                      <p:cBhvr additive="base">
                                        <p:cTn id="291" dur="500" fill="hold"/>
                                        <p:tgtEl>
                                          <p:spTgt spid="129"/>
                                        </p:tgtEl>
                                        <p:attrNameLst>
                                          <p:attrName>ppt_y</p:attrName>
                                        </p:attrNameLst>
                                      </p:cBhvr>
                                      <p:tavLst>
                                        <p:tav tm="0">
                                          <p:val>
                                            <p:strVal val="1+#ppt_h/2"/>
                                          </p:val>
                                        </p:tav>
                                        <p:tav tm="100000">
                                          <p:val>
                                            <p:strVal val="#ppt_y"/>
                                          </p:val>
                                        </p:tav>
                                      </p:tavLst>
                                    </p:anim>
                                  </p:childTnLst>
                                </p:cTn>
                              </p:par>
                              <p:par>
                                <p:cTn id="292" presetID="2" presetClass="entr" presetSubtype="4" fill="hold" grpId="0" nodeType="withEffect">
                                  <p:stCondLst>
                                    <p:cond delay="0"/>
                                  </p:stCondLst>
                                  <p:childTnLst>
                                    <p:set>
                                      <p:cBhvr>
                                        <p:cTn id="293" dur="1" fill="hold">
                                          <p:stCondLst>
                                            <p:cond delay="0"/>
                                          </p:stCondLst>
                                        </p:cTn>
                                        <p:tgtEl>
                                          <p:spTgt spid="130"/>
                                        </p:tgtEl>
                                        <p:attrNameLst>
                                          <p:attrName>style.visibility</p:attrName>
                                        </p:attrNameLst>
                                      </p:cBhvr>
                                      <p:to>
                                        <p:strVal val="visible"/>
                                      </p:to>
                                    </p:set>
                                    <p:anim calcmode="lin" valueType="num">
                                      <p:cBhvr additive="base">
                                        <p:cTn id="294" dur="500" fill="hold"/>
                                        <p:tgtEl>
                                          <p:spTgt spid="130"/>
                                        </p:tgtEl>
                                        <p:attrNameLst>
                                          <p:attrName>ppt_x</p:attrName>
                                        </p:attrNameLst>
                                      </p:cBhvr>
                                      <p:tavLst>
                                        <p:tav tm="0">
                                          <p:val>
                                            <p:strVal val="#ppt_x"/>
                                          </p:val>
                                        </p:tav>
                                        <p:tav tm="100000">
                                          <p:val>
                                            <p:strVal val="#ppt_x"/>
                                          </p:val>
                                        </p:tav>
                                      </p:tavLst>
                                    </p:anim>
                                    <p:anim calcmode="lin" valueType="num">
                                      <p:cBhvr additive="base">
                                        <p:cTn id="295" dur="500" fill="hold"/>
                                        <p:tgtEl>
                                          <p:spTgt spid="130"/>
                                        </p:tgtEl>
                                        <p:attrNameLst>
                                          <p:attrName>ppt_y</p:attrName>
                                        </p:attrNameLst>
                                      </p:cBhvr>
                                      <p:tavLst>
                                        <p:tav tm="0">
                                          <p:val>
                                            <p:strVal val="1+#ppt_h/2"/>
                                          </p:val>
                                        </p:tav>
                                        <p:tav tm="100000">
                                          <p:val>
                                            <p:strVal val="#ppt_y"/>
                                          </p:val>
                                        </p:tav>
                                      </p:tavLst>
                                    </p:anim>
                                  </p:childTnLst>
                                </p:cTn>
                              </p:par>
                              <p:par>
                                <p:cTn id="296" presetID="2" presetClass="entr" presetSubtype="4" fill="hold" grpId="0" nodeType="withEffect">
                                  <p:stCondLst>
                                    <p:cond delay="0"/>
                                  </p:stCondLst>
                                  <p:childTnLst>
                                    <p:set>
                                      <p:cBhvr>
                                        <p:cTn id="297" dur="1" fill="hold">
                                          <p:stCondLst>
                                            <p:cond delay="0"/>
                                          </p:stCondLst>
                                        </p:cTn>
                                        <p:tgtEl>
                                          <p:spTgt spid="131"/>
                                        </p:tgtEl>
                                        <p:attrNameLst>
                                          <p:attrName>style.visibility</p:attrName>
                                        </p:attrNameLst>
                                      </p:cBhvr>
                                      <p:to>
                                        <p:strVal val="visible"/>
                                      </p:to>
                                    </p:set>
                                    <p:anim calcmode="lin" valueType="num">
                                      <p:cBhvr additive="base">
                                        <p:cTn id="298" dur="500" fill="hold"/>
                                        <p:tgtEl>
                                          <p:spTgt spid="131"/>
                                        </p:tgtEl>
                                        <p:attrNameLst>
                                          <p:attrName>ppt_x</p:attrName>
                                        </p:attrNameLst>
                                      </p:cBhvr>
                                      <p:tavLst>
                                        <p:tav tm="0">
                                          <p:val>
                                            <p:strVal val="#ppt_x"/>
                                          </p:val>
                                        </p:tav>
                                        <p:tav tm="100000">
                                          <p:val>
                                            <p:strVal val="#ppt_x"/>
                                          </p:val>
                                        </p:tav>
                                      </p:tavLst>
                                    </p:anim>
                                    <p:anim calcmode="lin" valueType="num">
                                      <p:cBhvr additive="base">
                                        <p:cTn id="299" dur="500" fill="hold"/>
                                        <p:tgtEl>
                                          <p:spTgt spid="131"/>
                                        </p:tgtEl>
                                        <p:attrNameLst>
                                          <p:attrName>ppt_y</p:attrName>
                                        </p:attrNameLst>
                                      </p:cBhvr>
                                      <p:tavLst>
                                        <p:tav tm="0">
                                          <p:val>
                                            <p:strVal val="1+#ppt_h/2"/>
                                          </p:val>
                                        </p:tav>
                                        <p:tav tm="100000">
                                          <p:val>
                                            <p:strVal val="#ppt_y"/>
                                          </p:val>
                                        </p:tav>
                                      </p:tavLst>
                                    </p:anim>
                                  </p:childTnLst>
                                </p:cTn>
                              </p:par>
                              <p:par>
                                <p:cTn id="300" presetID="2" presetClass="entr" presetSubtype="4" fill="hold" grpId="0" nodeType="withEffect">
                                  <p:stCondLst>
                                    <p:cond delay="0"/>
                                  </p:stCondLst>
                                  <p:childTnLst>
                                    <p:set>
                                      <p:cBhvr>
                                        <p:cTn id="301" dur="1" fill="hold">
                                          <p:stCondLst>
                                            <p:cond delay="0"/>
                                          </p:stCondLst>
                                        </p:cTn>
                                        <p:tgtEl>
                                          <p:spTgt spid="132"/>
                                        </p:tgtEl>
                                        <p:attrNameLst>
                                          <p:attrName>style.visibility</p:attrName>
                                        </p:attrNameLst>
                                      </p:cBhvr>
                                      <p:to>
                                        <p:strVal val="visible"/>
                                      </p:to>
                                    </p:set>
                                    <p:anim calcmode="lin" valueType="num">
                                      <p:cBhvr additive="base">
                                        <p:cTn id="302" dur="500" fill="hold"/>
                                        <p:tgtEl>
                                          <p:spTgt spid="132"/>
                                        </p:tgtEl>
                                        <p:attrNameLst>
                                          <p:attrName>ppt_x</p:attrName>
                                        </p:attrNameLst>
                                      </p:cBhvr>
                                      <p:tavLst>
                                        <p:tav tm="0">
                                          <p:val>
                                            <p:strVal val="#ppt_x"/>
                                          </p:val>
                                        </p:tav>
                                        <p:tav tm="100000">
                                          <p:val>
                                            <p:strVal val="#ppt_x"/>
                                          </p:val>
                                        </p:tav>
                                      </p:tavLst>
                                    </p:anim>
                                    <p:anim calcmode="lin" valueType="num">
                                      <p:cBhvr additive="base">
                                        <p:cTn id="303" dur="500" fill="hold"/>
                                        <p:tgtEl>
                                          <p:spTgt spid="132"/>
                                        </p:tgtEl>
                                        <p:attrNameLst>
                                          <p:attrName>ppt_y</p:attrName>
                                        </p:attrNameLst>
                                      </p:cBhvr>
                                      <p:tavLst>
                                        <p:tav tm="0">
                                          <p:val>
                                            <p:strVal val="1+#ppt_h/2"/>
                                          </p:val>
                                        </p:tav>
                                        <p:tav tm="100000">
                                          <p:val>
                                            <p:strVal val="#ppt_y"/>
                                          </p:val>
                                        </p:tav>
                                      </p:tavLst>
                                    </p:anim>
                                  </p:childTnLst>
                                </p:cTn>
                              </p:par>
                              <p:par>
                                <p:cTn id="304" presetID="2" presetClass="entr" presetSubtype="4" fill="hold" grpId="0" nodeType="withEffect">
                                  <p:stCondLst>
                                    <p:cond delay="0"/>
                                  </p:stCondLst>
                                  <p:childTnLst>
                                    <p:set>
                                      <p:cBhvr>
                                        <p:cTn id="305" dur="1" fill="hold">
                                          <p:stCondLst>
                                            <p:cond delay="0"/>
                                          </p:stCondLst>
                                        </p:cTn>
                                        <p:tgtEl>
                                          <p:spTgt spid="133"/>
                                        </p:tgtEl>
                                        <p:attrNameLst>
                                          <p:attrName>style.visibility</p:attrName>
                                        </p:attrNameLst>
                                      </p:cBhvr>
                                      <p:to>
                                        <p:strVal val="visible"/>
                                      </p:to>
                                    </p:set>
                                    <p:anim calcmode="lin" valueType="num">
                                      <p:cBhvr additive="base">
                                        <p:cTn id="306" dur="500" fill="hold"/>
                                        <p:tgtEl>
                                          <p:spTgt spid="133"/>
                                        </p:tgtEl>
                                        <p:attrNameLst>
                                          <p:attrName>ppt_x</p:attrName>
                                        </p:attrNameLst>
                                      </p:cBhvr>
                                      <p:tavLst>
                                        <p:tav tm="0">
                                          <p:val>
                                            <p:strVal val="#ppt_x"/>
                                          </p:val>
                                        </p:tav>
                                        <p:tav tm="100000">
                                          <p:val>
                                            <p:strVal val="#ppt_x"/>
                                          </p:val>
                                        </p:tav>
                                      </p:tavLst>
                                    </p:anim>
                                    <p:anim calcmode="lin" valueType="num">
                                      <p:cBhvr additive="base">
                                        <p:cTn id="307" dur="500" fill="hold"/>
                                        <p:tgtEl>
                                          <p:spTgt spid="133"/>
                                        </p:tgtEl>
                                        <p:attrNameLst>
                                          <p:attrName>ppt_y</p:attrName>
                                        </p:attrNameLst>
                                      </p:cBhvr>
                                      <p:tavLst>
                                        <p:tav tm="0">
                                          <p:val>
                                            <p:strVal val="1+#ppt_h/2"/>
                                          </p:val>
                                        </p:tav>
                                        <p:tav tm="100000">
                                          <p:val>
                                            <p:strVal val="#ppt_y"/>
                                          </p:val>
                                        </p:tav>
                                      </p:tavLst>
                                    </p:anim>
                                  </p:childTnLst>
                                </p:cTn>
                              </p:par>
                              <p:par>
                                <p:cTn id="308" presetID="2" presetClass="entr" presetSubtype="4" fill="hold" grpId="0" nodeType="withEffect">
                                  <p:stCondLst>
                                    <p:cond delay="0"/>
                                  </p:stCondLst>
                                  <p:childTnLst>
                                    <p:set>
                                      <p:cBhvr>
                                        <p:cTn id="309" dur="1" fill="hold">
                                          <p:stCondLst>
                                            <p:cond delay="0"/>
                                          </p:stCondLst>
                                        </p:cTn>
                                        <p:tgtEl>
                                          <p:spTgt spid="134"/>
                                        </p:tgtEl>
                                        <p:attrNameLst>
                                          <p:attrName>style.visibility</p:attrName>
                                        </p:attrNameLst>
                                      </p:cBhvr>
                                      <p:to>
                                        <p:strVal val="visible"/>
                                      </p:to>
                                    </p:set>
                                    <p:anim calcmode="lin" valueType="num">
                                      <p:cBhvr additive="base">
                                        <p:cTn id="310" dur="500" fill="hold"/>
                                        <p:tgtEl>
                                          <p:spTgt spid="134"/>
                                        </p:tgtEl>
                                        <p:attrNameLst>
                                          <p:attrName>ppt_x</p:attrName>
                                        </p:attrNameLst>
                                      </p:cBhvr>
                                      <p:tavLst>
                                        <p:tav tm="0">
                                          <p:val>
                                            <p:strVal val="#ppt_x"/>
                                          </p:val>
                                        </p:tav>
                                        <p:tav tm="100000">
                                          <p:val>
                                            <p:strVal val="#ppt_x"/>
                                          </p:val>
                                        </p:tav>
                                      </p:tavLst>
                                    </p:anim>
                                    <p:anim calcmode="lin" valueType="num">
                                      <p:cBhvr additive="base">
                                        <p:cTn id="311" dur="500" fill="hold"/>
                                        <p:tgtEl>
                                          <p:spTgt spid="134"/>
                                        </p:tgtEl>
                                        <p:attrNameLst>
                                          <p:attrName>ppt_y</p:attrName>
                                        </p:attrNameLst>
                                      </p:cBhvr>
                                      <p:tavLst>
                                        <p:tav tm="0">
                                          <p:val>
                                            <p:strVal val="1+#ppt_h/2"/>
                                          </p:val>
                                        </p:tav>
                                        <p:tav tm="100000">
                                          <p:val>
                                            <p:strVal val="#ppt_y"/>
                                          </p:val>
                                        </p:tav>
                                      </p:tavLst>
                                    </p:anim>
                                  </p:childTnLst>
                                </p:cTn>
                              </p:par>
                              <p:par>
                                <p:cTn id="312" presetID="2" presetClass="entr" presetSubtype="4" fill="hold" grpId="0" nodeType="withEffect">
                                  <p:stCondLst>
                                    <p:cond delay="0"/>
                                  </p:stCondLst>
                                  <p:childTnLst>
                                    <p:set>
                                      <p:cBhvr>
                                        <p:cTn id="313" dur="1" fill="hold">
                                          <p:stCondLst>
                                            <p:cond delay="0"/>
                                          </p:stCondLst>
                                        </p:cTn>
                                        <p:tgtEl>
                                          <p:spTgt spid="135"/>
                                        </p:tgtEl>
                                        <p:attrNameLst>
                                          <p:attrName>style.visibility</p:attrName>
                                        </p:attrNameLst>
                                      </p:cBhvr>
                                      <p:to>
                                        <p:strVal val="visible"/>
                                      </p:to>
                                    </p:set>
                                    <p:anim calcmode="lin" valueType="num">
                                      <p:cBhvr additive="base">
                                        <p:cTn id="314" dur="500" fill="hold"/>
                                        <p:tgtEl>
                                          <p:spTgt spid="135"/>
                                        </p:tgtEl>
                                        <p:attrNameLst>
                                          <p:attrName>ppt_x</p:attrName>
                                        </p:attrNameLst>
                                      </p:cBhvr>
                                      <p:tavLst>
                                        <p:tav tm="0">
                                          <p:val>
                                            <p:strVal val="#ppt_x"/>
                                          </p:val>
                                        </p:tav>
                                        <p:tav tm="100000">
                                          <p:val>
                                            <p:strVal val="#ppt_x"/>
                                          </p:val>
                                        </p:tav>
                                      </p:tavLst>
                                    </p:anim>
                                    <p:anim calcmode="lin" valueType="num">
                                      <p:cBhvr additive="base">
                                        <p:cTn id="315" dur="500" fill="hold"/>
                                        <p:tgtEl>
                                          <p:spTgt spid="135"/>
                                        </p:tgtEl>
                                        <p:attrNameLst>
                                          <p:attrName>ppt_y</p:attrName>
                                        </p:attrNameLst>
                                      </p:cBhvr>
                                      <p:tavLst>
                                        <p:tav tm="0">
                                          <p:val>
                                            <p:strVal val="1+#ppt_h/2"/>
                                          </p:val>
                                        </p:tav>
                                        <p:tav tm="100000">
                                          <p:val>
                                            <p:strVal val="#ppt_y"/>
                                          </p:val>
                                        </p:tav>
                                      </p:tavLst>
                                    </p:anim>
                                  </p:childTnLst>
                                </p:cTn>
                              </p:par>
                              <p:par>
                                <p:cTn id="316" presetID="2" presetClass="entr" presetSubtype="4" fill="hold" grpId="0" nodeType="withEffect">
                                  <p:stCondLst>
                                    <p:cond delay="0"/>
                                  </p:stCondLst>
                                  <p:childTnLst>
                                    <p:set>
                                      <p:cBhvr>
                                        <p:cTn id="317" dur="1" fill="hold">
                                          <p:stCondLst>
                                            <p:cond delay="0"/>
                                          </p:stCondLst>
                                        </p:cTn>
                                        <p:tgtEl>
                                          <p:spTgt spid="136"/>
                                        </p:tgtEl>
                                        <p:attrNameLst>
                                          <p:attrName>style.visibility</p:attrName>
                                        </p:attrNameLst>
                                      </p:cBhvr>
                                      <p:to>
                                        <p:strVal val="visible"/>
                                      </p:to>
                                    </p:set>
                                    <p:anim calcmode="lin" valueType="num">
                                      <p:cBhvr additive="base">
                                        <p:cTn id="318" dur="500" fill="hold"/>
                                        <p:tgtEl>
                                          <p:spTgt spid="136"/>
                                        </p:tgtEl>
                                        <p:attrNameLst>
                                          <p:attrName>ppt_x</p:attrName>
                                        </p:attrNameLst>
                                      </p:cBhvr>
                                      <p:tavLst>
                                        <p:tav tm="0">
                                          <p:val>
                                            <p:strVal val="#ppt_x"/>
                                          </p:val>
                                        </p:tav>
                                        <p:tav tm="100000">
                                          <p:val>
                                            <p:strVal val="#ppt_x"/>
                                          </p:val>
                                        </p:tav>
                                      </p:tavLst>
                                    </p:anim>
                                    <p:anim calcmode="lin" valueType="num">
                                      <p:cBhvr additive="base">
                                        <p:cTn id="319" dur="500" fill="hold"/>
                                        <p:tgtEl>
                                          <p:spTgt spid="136"/>
                                        </p:tgtEl>
                                        <p:attrNameLst>
                                          <p:attrName>ppt_y</p:attrName>
                                        </p:attrNameLst>
                                      </p:cBhvr>
                                      <p:tavLst>
                                        <p:tav tm="0">
                                          <p:val>
                                            <p:strVal val="1+#ppt_h/2"/>
                                          </p:val>
                                        </p:tav>
                                        <p:tav tm="100000">
                                          <p:val>
                                            <p:strVal val="#ppt_y"/>
                                          </p:val>
                                        </p:tav>
                                      </p:tavLst>
                                    </p:anim>
                                  </p:childTnLst>
                                </p:cTn>
                              </p:par>
                              <p:par>
                                <p:cTn id="320" presetID="2" presetClass="entr" presetSubtype="4" fill="hold" grpId="0" nodeType="withEffect">
                                  <p:stCondLst>
                                    <p:cond delay="0"/>
                                  </p:stCondLst>
                                  <p:childTnLst>
                                    <p:set>
                                      <p:cBhvr>
                                        <p:cTn id="321" dur="1" fill="hold">
                                          <p:stCondLst>
                                            <p:cond delay="0"/>
                                          </p:stCondLst>
                                        </p:cTn>
                                        <p:tgtEl>
                                          <p:spTgt spid="137"/>
                                        </p:tgtEl>
                                        <p:attrNameLst>
                                          <p:attrName>style.visibility</p:attrName>
                                        </p:attrNameLst>
                                      </p:cBhvr>
                                      <p:to>
                                        <p:strVal val="visible"/>
                                      </p:to>
                                    </p:set>
                                    <p:anim calcmode="lin" valueType="num">
                                      <p:cBhvr additive="base">
                                        <p:cTn id="322" dur="500" fill="hold"/>
                                        <p:tgtEl>
                                          <p:spTgt spid="137"/>
                                        </p:tgtEl>
                                        <p:attrNameLst>
                                          <p:attrName>ppt_x</p:attrName>
                                        </p:attrNameLst>
                                      </p:cBhvr>
                                      <p:tavLst>
                                        <p:tav tm="0">
                                          <p:val>
                                            <p:strVal val="#ppt_x"/>
                                          </p:val>
                                        </p:tav>
                                        <p:tav tm="100000">
                                          <p:val>
                                            <p:strVal val="#ppt_x"/>
                                          </p:val>
                                        </p:tav>
                                      </p:tavLst>
                                    </p:anim>
                                    <p:anim calcmode="lin" valueType="num">
                                      <p:cBhvr additive="base">
                                        <p:cTn id="323" dur="500" fill="hold"/>
                                        <p:tgtEl>
                                          <p:spTgt spid="137"/>
                                        </p:tgtEl>
                                        <p:attrNameLst>
                                          <p:attrName>ppt_y</p:attrName>
                                        </p:attrNameLst>
                                      </p:cBhvr>
                                      <p:tavLst>
                                        <p:tav tm="0">
                                          <p:val>
                                            <p:strVal val="1+#ppt_h/2"/>
                                          </p:val>
                                        </p:tav>
                                        <p:tav tm="100000">
                                          <p:val>
                                            <p:strVal val="#ppt_y"/>
                                          </p:val>
                                        </p:tav>
                                      </p:tavLst>
                                    </p:anim>
                                  </p:childTnLst>
                                </p:cTn>
                              </p:par>
                              <p:par>
                                <p:cTn id="324" presetID="2" presetClass="entr" presetSubtype="4" fill="hold" grpId="0" nodeType="withEffect">
                                  <p:stCondLst>
                                    <p:cond delay="0"/>
                                  </p:stCondLst>
                                  <p:childTnLst>
                                    <p:set>
                                      <p:cBhvr>
                                        <p:cTn id="325" dur="1" fill="hold">
                                          <p:stCondLst>
                                            <p:cond delay="0"/>
                                          </p:stCondLst>
                                        </p:cTn>
                                        <p:tgtEl>
                                          <p:spTgt spid="138"/>
                                        </p:tgtEl>
                                        <p:attrNameLst>
                                          <p:attrName>style.visibility</p:attrName>
                                        </p:attrNameLst>
                                      </p:cBhvr>
                                      <p:to>
                                        <p:strVal val="visible"/>
                                      </p:to>
                                    </p:set>
                                    <p:anim calcmode="lin" valueType="num">
                                      <p:cBhvr additive="base">
                                        <p:cTn id="326" dur="500" fill="hold"/>
                                        <p:tgtEl>
                                          <p:spTgt spid="138"/>
                                        </p:tgtEl>
                                        <p:attrNameLst>
                                          <p:attrName>ppt_x</p:attrName>
                                        </p:attrNameLst>
                                      </p:cBhvr>
                                      <p:tavLst>
                                        <p:tav tm="0">
                                          <p:val>
                                            <p:strVal val="#ppt_x"/>
                                          </p:val>
                                        </p:tav>
                                        <p:tav tm="100000">
                                          <p:val>
                                            <p:strVal val="#ppt_x"/>
                                          </p:val>
                                        </p:tav>
                                      </p:tavLst>
                                    </p:anim>
                                    <p:anim calcmode="lin" valueType="num">
                                      <p:cBhvr additive="base">
                                        <p:cTn id="327" dur="500" fill="hold"/>
                                        <p:tgtEl>
                                          <p:spTgt spid="138"/>
                                        </p:tgtEl>
                                        <p:attrNameLst>
                                          <p:attrName>ppt_y</p:attrName>
                                        </p:attrNameLst>
                                      </p:cBhvr>
                                      <p:tavLst>
                                        <p:tav tm="0">
                                          <p:val>
                                            <p:strVal val="1+#ppt_h/2"/>
                                          </p:val>
                                        </p:tav>
                                        <p:tav tm="100000">
                                          <p:val>
                                            <p:strVal val="#ppt_y"/>
                                          </p:val>
                                        </p:tav>
                                      </p:tavLst>
                                    </p:anim>
                                  </p:childTnLst>
                                </p:cTn>
                              </p:par>
                              <p:par>
                                <p:cTn id="328" presetID="2" presetClass="entr" presetSubtype="4" fill="hold" grpId="0" nodeType="withEffect">
                                  <p:stCondLst>
                                    <p:cond delay="0"/>
                                  </p:stCondLst>
                                  <p:childTnLst>
                                    <p:set>
                                      <p:cBhvr>
                                        <p:cTn id="329" dur="1" fill="hold">
                                          <p:stCondLst>
                                            <p:cond delay="0"/>
                                          </p:stCondLst>
                                        </p:cTn>
                                        <p:tgtEl>
                                          <p:spTgt spid="139"/>
                                        </p:tgtEl>
                                        <p:attrNameLst>
                                          <p:attrName>style.visibility</p:attrName>
                                        </p:attrNameLst>
                                      </p:cBhvr>
                                      <p:to>
                                        <p:strVal val="visible"/>
                                      </p:to>
                                    </p:set>
                                    <p:anim calcmode="lin" valueType="num">
                                      <p:cBhvr additive="base">
                                        <p:cTn id="330" dur="500" fill="hold"/>
                                        <p:tgtEl>
                                          <p:spTgt spid="139"/>
                                        </p:tgtEl>
                                        <p:attrNameLst>
                                          <p:attrName>ppt_x</p:attrName>
                                        </p:attrNameLst>
                                      </p:cBhvr>
                                      <p:tavLst>
                                        <p:tav tm="0">
                                          <p:val>
                                            <p:strVal val="#ppt_x"/>
                                          </p:val>
                                        </p:tav>
                                        <p:tav tm="100000">
                                          <p:val>
                                            <p:strVal val="#ppt_x"/>
                                          </p:val>
                                        </p:tav>
                                      </p:tavLst>
                                    </p:anim>
                                    <p:anim calcmode="lin" valueType="num">
                                      <p:cBhvr additive="base">
                                        <p:cTn id="331" dur="500" fill="hold"/>
                                        <p:tgtEl>
                                          <p:spTgt spid="139"/>
                                        </p:tgtEl>
                                        <p:attrNameLst>
                                          <p:attrName>ppt_y</p:attrName>
                                        </p:attrNameLst>
                                      </p:cBhvr>
                                      <p:tavLst>
                                        <p:tav tm="0">
                                          <p:val>
                                            <p:strVal val="1+#ppt_h/2"/>
                                          </p:val>
                                        </p:tav>
                                        <p:tav tm="100000">
                                          <p:val>
                                            <p:strVal val="#ppt_y"/>
                                          </p:val>
                                        </p:tav>
                                      </p:tavLst>
                                    </p:anim>
                                  </p:childTnLst>
                                </p:cTn>
                              </p:par>
                              <p:par>
                                <p:cTn id="332" presetID="2" presetClass="entr" presetSubtype="4" fill="hold" grpId="0" nodeType="withEffect">
                                  <p:stCondLst>
                                    <p:cond delay="0"/>
                                  </p:stCondLst>
                                  <p:childTnLst>
                                    <p:set>
                                      <p:cBhvr>
                                        <p:cTn id="333" dur="1" fill="hold">
                                          <p:stCondLst>
                                            <p:cond delay="0"/>
                                          </p:stCondLst>
                                        </p:cTn>
                                        <p:tgtEl>
                                          <p:spTgt spid="140"/>
                                        </p:tgtEl>
                                        <p:attrNameLst>
                                          <p:attrName>style.visibility</p:attrName>
                                        </p:attrNameLst>
                                      </p:cBhvr>
                                      <p:to>
                                        <p:strVal val="visible"/>
                                      </p:to>
                                    </p:set>
                                    <p:anim calcmode="lin" valueType="num">
                                      <p:cBhvr additive="base">
                                        <p:cTn id="334" dur="500" fill="hold"/>
                                        <p:tgtEl>
                                          <p:spTgt spid="140"/>
                                        </p:tgtEl>
                                        <p:attrNameLst>
                                          <p:attrName>ppt_x</p:attrName>
                                        </p:attrNameLst>
                                      </p:cBhvr>
                                      <p:tavLst>
                                        <p:tav tm="0">
                                          <p:val>
                                            <p:strVal val="#ppt_x"/>
                                          </p:val>
                                        </p:tav>
                                        <p:tav tm="100000">
                                          <p:val>
                                            <p:strVal val="#ppt_x"/>
                                          </p:val>
                                        </p:tav>
                                      </p:tavLst>
                                    </p:anim>
                                    <p:anim calcmode="lin" valueType="num">
                                      <p:cBhvr additive="base">
                                        <p:cTn id="335" dur="500" fill="hold"/>
                                        <p:tgtEl>
                                          <p:spTgt spid="140"/>
                                        </p:tgtEl>
                                        <p:attrNameLst>
                                          <p:attrName>ppt_y</p:attrName>
                                        </p:attrNameLst>
                                      </p:cBhvr>
                                      <p:tavLst>
                                        <p:tav tm="0">
                                          <p:val>
                                            <p:strVal val="1+#ppt_h/2"/>
                                          </p:val>
                                        </p:tav>
                                        <p:tav tm="100000">
                                          <p:val>
                                            <p:strVal val="#ppt_y"/>
                                          </p:val>
                                        </p:tav>
                                      </p:tavLst>
                                    </p:anim>
                                  </p:childTnLst>
                                </p:cTn>
                              </p:par>
                              <p:par>
                                <p:cTn id="336" presetID="2" presetClass="entr" presetSubtype="4" fill="hold" grpId="0" nodeType="withEffect">
                                  <p:stCondLst>
                                    <p:cond delay="0"/>
                                  </p:stCondLst>
                                  <p:childTnLst>
                                    <p:set>
                                      <p:cBhvr>
                                        <p:cTn id="337" dur="1" fill="hold">
                                          <p:stCondLst>
                                            <p:cond delay="0"/>
                                          </p:stCondLst>
                                        </p:cTn>
                                        <p:tgtEl>
                                          <p:spTgt spid="141"/>
                                        </p:tgtEl>
                                        <p:attrNameLst>
                                          <p:attrName>style.visibility</p:attrName>
                                        </p:attrNameLst>
                                      </p:cBhvr>
                                      <p:to>
                                        <p:strVal val="visible"/>
                                      </p:to>
                                    </p:set>
                                    <p:anim calcmode="lin" valueType="num">
                                      <p:cBhvr additive="base">
                                        <p:cTn id="338" dur="500" fill="hold"/>
                                        <p:tgtEl>
                                          <p:spTgt spid="141"/>
                                        </p:tgtEl>
                                        <p:attrNameLst>
                                          <p:attrName>ppt_x</p:attrName>
                                        </p:attrNameLst>
                                      </p:cBhvr>
                                      <p:tavLst>
                                        <p:tav tm="0">
                                          <p:val>
                                            <p:strVal val="#ppt_x"/>
                                          </p:val>
                                        </p:tav>
                                        <p:tav tm="100000">
                                          <p:val>
                                            <p:strVal val="#ppt_x"/>
                                          </p:val>
                                        </p:tav>
                                      </p:tavLst>
                                    </p:anim>
                                    <p:anim calcmode="lin" valueType="num">
                                      <p:cBhvr additive="base">
                                        <p:cTn id="339" dur="500" fill="hold"/>
                                        <p:tgtEl>
                                          <p:spTgt spid="141"/>
                                        </p:tgtEl>
                                        <p:attrNameLst>
                                          <p:attrName>ppt_y</p:attrName>
                                        </p:attrNameLst>
                                      </p:cBhvr>
                                      <p:tavLst>
                                        <p:tav tm="0">
                                          <p:val>
                                            <p:strVal val="1+#ppt_h/2"/>
                                          </p:val>
                                        </p:tav>
                                        <p:tav tm="100000">
                                          <p:val>
                                            <p:strVal val="#ppt_y"/>
                                          </p:val>
                                        </p:tav>
                                      </p:tavLst>
                                    </p:anim>
                                  </p:childTnLst>
                                </p:cTn>
                              </p:par>
                              <p:par>
                                <p:cTn id="340" presetID="2" presetClass="entr" presetSubtype="4" fill="hold" grpId="0" nodeType="withEffect">
                                  <p:stCondLst>
                                    <p:cond delay="0"/>
                                  </p:stCondLst>
                                  <p:childTnLst>
                                    <p:set>
                                      <p:cBhvr>
                                        <p:cTn id="341" dur="1" fill="hold">
                                          <p:stCondLst>
                                            <p:cond delay="0"/>
                                          </p:stCondLst>
                                        </p:cTn>
                                        <p:tgtEl>
                                          <p:spTgt spid="142"/>
                                        </p:tgtEl>
                                        <p:attrNameLst>
                                          <p:attrName>style.visibility</p:attrName>
                                        </p:attrNameLst>
                                      </p:cBhvr>
                                      <p:to>
                                        <p:strVal val="visible"/>
                                      </p:to>
                                    </p:set>
                                    <p:anim calcmode="lin" valueType="num">
                                      <p:cBhvr additive="base">
                                        <p:cTn id="342" dur="500" fill="hold"/>
                                        <p:tgtEl>
                                          <p:spTgt spid="142"/>
                                        </p:tgtEl>
                                        <p:attrNameLst>
                                          <p:attrName>ppt_x</p:attrName>
                                        </p:attrNameLst>
                                      </p:cBhvr>
                                      <p:tavLst>
                                        <p:tav tm="0">
                                          <p:val>
                                            <p:strVal val="#ppt_x"/>
                                          </p:val>
                                        </p:tav>
                                        <p:tav tm="100000">
                                          <p:val>
                                            <p:strVal val="#ppt_x"/>
                                          </p:val>
                                        </p:tav>
                                      </p:tavLst>
                                    </p:anim>
                                    <p:anim calcmode="lin" valueType="num">
                                      <p:cBhvr additive="base">
                                        <p:cTn id="343" dur="500" fill="hold"/>
                                        <p:tgtEl>
                                          <p:spTgt spid="142"/>
                                        </p:tgtEl>
                                        <p:attrNameLst>
                                          <p:attrName>ppt_y</p:attrName>
                                        </p:attrNameLst>
                                      </p:cBhvr>
                                      <p:tavLst>
                                        <p:tav tm="0">
                                          <p:val>
                                            <p:strVal val="1+#ppt_h/2"/>
                                          </p:val>
                                        </p:tav>
                                        <p:tav tm="100000">
                                          <p:val>
                                            <p:strVal val="#ppt_y"/>
                                          </p:val>
                                        </p:tav>
                                      </p:tavLst>
                                    </p:anim>
                                  </p:childTnLst>
                                </p:cTn>
                              </p:par>
                            </p:childTnLst>
                          </p:cTn>
                        </p:par>
                        <p:par>
                          <p:cTn id="344" fill="hold">
                            <p:stCondLst>
                              <p:cond delay="2000"/>
                            </p:stCondLst>
                            <p:childTnLst>
                              <p:par>
                                <p:cTn id="345" presetID="47" presetClass="entr" presetSubtype="0" fill="hold" grpId="0" nodeType="afterEffect">
                                  <p:stCondLst>
                                    <p:cond delay="0"/>
                                  </p:stCondLst>
                                  <p:childTnLst>
                                    <p:set>
                                      <p:cBhvr>
                                        <p:cTn id="346" dur="1" fill="hold">
                                          <p:stCondLst>
                                            <p:cond delay="0"/>
                                          </p:stCondLst>
                                        </p:cTn>
                                        <p:tgtEl>
                                          <p:spTgt spid="143"/>
                                        </p:tgtEl>
                                        <p:attrNameLst>
                                          <p:attrName>style.visibility</p:attrName>
                                        </p:attrNameLst>
                                      </p:cBhvr>
                                      <p:to>
                                        <p:strVal val="visible"/>
                                      </p:to>
                                    </p:set>
                                    <p:animEffect transition="in" filter="fade">
                                      <p:cBhvr>
                                        <p:cTn id="347" dur="1000"/>
                                        <p:tgtEl>
                                          <p:spTgt spid="143"/>
                                        </p:tgtEl>
                                      </p:cBhvr>
                                    </p:animEffect>
                                    <p:anim calcmode="lin" valueType="num">
                                      <p:cBhvr>
                                        <p:cTn id="348" dur="1000" fill="hold"/>
                                        <p:tgtEl>
                                          <p:spTgt spid="143"/>
                                        </p:tgtEl>
                                        <p:attrNameLst>
                                          <p:attrName>ppt_x</p:attrName>
                                        </p:attrNameLst>
                                      </p:cBhvr>
                                      <p:tavLst>
                                        <p:tav tm="0">
                                          <p:val>
                                            <p:strVal val="#ppt_x"/>
                                          </p:val>
                                        </p:tav>
                                        <p:tav tm="100000">
                                          <p:val>
                                            <p:strVal val="#ppt_x"/>
                                          </p:val>
                                        </p:tav>
                                      </p:tavLst>
                                    </p:anim>
                                    <p:anim calcmode="lin" valueType="num">
                                      <p:cBhvr>
                                        <p:cTn id="349" dur="1000" fill="hold"/>
                                        <p:tgtEl>
                                          <p:spTgt spid="143"/>
                                        </p:tgtEl>
                                        <p:attrNameLst>
                                          <p:attrName>ppt_y</p:attrName>
                                        </p:attrNameLst>
                                      </p:cBhvr>
                                      <p:tavLst>
                                        <p:tav tm="0">
                                          <p:val>
                                            <p:strVal val="#ppt_y-.1"/>
                                          </p:val>
                                        </p:tav>
                                        <p:tav tm="100000">
                                          <p:val>
                                            <p:strVal val="#ppt_y"/>
                                          </p:val>
                                        </p:tav>
                                      </p:tavLst>
                                    </p:anim>
                                  </p:childTnLst>
                                </p:cTn>
                              </p:par>
                            </p:childTnLst>
                          </p:cTn>
                        </p:par>
                        <p:par>
                          <p:cTn id="350" fill="hold">
                            <p:stCondLst>
                              <p:cond delay="3000"/>
                            </p:stCondLst>
                            <p:childTnLst>
                              <p:par>
                                <p:cTn id="351" presetID="22" presetClass="entr" presetSubtype="8" fill="hold" nodeType="afterEffect">
                                  <p:stCondLst>
                                    <p:cond delay="0"/>
                                  </p:stCondLst>
                                  <p:childTnLst>
                                    <p:set>
                                      <p:cBhvr>
                                        <p:cTn id="352" dur="1" fill="hold">
                                          <p:stCondLst>
                                            <p:cond delay="0"/>
                                          </p:stCondLst>
                                        </p:cTn>
                                        <p:tgtEl>
                                          <p:spTgt spid="144"/>
                                        </p:tgtEl>
                                        <p:attrNameLst>
                                          <p:attrName>style.visibility</p:attrName>
                                        </p:attrNameLst>
                                      </p:cBhvr>
                                      <p:to>
                                        <p:strVal val="visible"/>
                                      </p:to>
                                    </p:set>
                                    <p:animEffect transition="in" filter="wipe(left)">
                                      <p:cBhvr>
                                        <p:cTn id="353" dur="500"/>
                                        <p:tgtEl>
                                          <p:spTgt spid="144"/>
                                        </p:tgtEl>
                                      </p:cBhvr>
                                    </p:animEffect>
                                  </p:childTnLst>
                                </p:cTn>
                              </p:par>
                            </p:childTnLst>
                          </p:cTn>
                        </p:par>
                        <p:par>
                          <p:cTn id="354" fill="hold">
                            <p:stCondLst>
                              <p:cond delay="3500"/>
                            </p:stCondLst>
                            <p:childTnLst>
                              <p:par>
                                <p:cTn id="355" presetID="47" presetClass="entr" presetSubtype="0" fill="hold" grpId="0" nodeType="afterEffect">
                                  <p:stCondLst>
                                    <p:cond delay="0"/>
                                  </p:stCondLst>
                                  <p:childTnLst>
                                    <p:set>
                                      <p:cBhvr>
                                        <p:cTn id="356" dur="1" fill="hold">
                                          <p:stCondLst>
                                            <p:cond delay="0"/>
                                          </p:stCondLst>
                                        </p:cTn>
                                        <p:tgtEl>
                                          <p:spTgt spid="147"/>
                                        </p:tgtEl>
                                        <p:attrNameLst>
                                          <p:attrName>style.visibility</p:attrName>
                                        </p:attrNameLst>
                                      </p:cBhvr>
                                      <p:to>
                                        <p:strVal val="visible"/>
                                      </p:to>
                                    </p:set>
                                    <p:animEffect transition="in" filter="fade">
                                      <p:cBhvr>
                                        <p:cTn id="357" dur="1000"/>
                                        <p:tgtEl>
                                          <p:spTgt spid="147"/>
                                        </p:tgtEl>
                                      </p:cBhvr>
                                    </p:animEffect>
                                    <p:anim calcmode="lin" valueType="num">
                                      <p:cBhvr>
                                        <p:cTn id="358" dur="1000" fill="hold"/>
                                        <p:tgtEl>
                                          <p:spTgt spid="147"/>
                                        </p:tgtEl>
                                        <p:attrNameLst>
                                          <p:attrName>ppt_x</p:attrName>
                                        </p:attrNameLst>
                                      </p:cBhvr>
                                      <p:tavLst>
                                        <p:tav tm="0">
                                          <p:val>
                                            <p:strVal val="#ppt_x"/>
                                          </p:val>
                                        </p:tav>
                                        <p:tav tm="100000">
                                          <p:val>
                                            <p:strVal val="#ppt_x"/>
                                          </p:val>
                                        </p:tav>
                                      </p:tavLst>
                                    </p:anim>
                                    <p:anim calcmode="lin" valueType="num">
                                      <p:cBhvr>
                                        <p:cTn id="359" dur="1000" fill="hold"/>
                                        <p:tgtEl>
                                          <p:spTgt spid="147"/>
                                        </p:tgtEl>
                                        <p:attrNameLst>
                                          <p:attrName>ppt_y</p:attrName>
                                        </p:attrNameLst>
                                      </p:cBhvr>
                                      <p:tavLst>
                                        <p:tav tm="0">
                                          <p:val>
                                            <p:strVal val="#ppt_y-.1"/>
                                          </p:val>
                                        </p:tav>
                                        <p:tav tm="100000">
                                          <p:val>
                                            <p:strVal val="#ppt_y"/>
                                          </p:val>
                                        </p:tav>
                                      </p:tavLst>
                                    </p:anim>
                                  </p:childTnLst>
                                </p:cTn>
                              </p:par>
                            </p:childTnLst>
                          </p:cTn>
                        </p:par>
                        <p:par>
                          <p:cTn id="360" fill="hold">
                            <p:stCondLst>
                              <p:cond delay="4500"/>
                            </p:stCondLst>
                            <p:childTnLst>
                              <p:par>
                                <p:cTn id="361" presetID="22" presetClass="entr" presetSubtype="8" fill="hold" nodeType="afterEffect">
                                  <p:stCondLst>
                                    <p:cond delay="0"/>
                                  </p:stCondLst>
                                  <p:childTnLst>
                                    <p:set>
                                      <p:cBhvr>
                                        <p:cTn id="362" dur="1" fill="hold">
                                          <p:stCondLst>
                                            <p:cond delay="0"/>
                                          </p:stCondLst>
                                        </p:cTn>
                                        <p:tgtEl>
                                          <p:spTgt spid="148"/>
                                        </p:tgtEl>
                                        <p:attrNameLst>
                                          <p:attrName>style.visibility</p:attrName>
                                        </p:attrNameLst>
                                      </p:cBhvr>
                                      <p:to>
                                        <p:strVal val="visible"/>
                                      </p:to>
                                    </p:set>
                                    <p:animEffect transition="in" filter="wipe(left)">
                                      <p:cBhvr>
                                        <p:cTn id="363" dur="500"/>
                                        <p:tgtEl>
                                          <p:spTgt spid="148"/>
                                        </p:tgtEl>
                                      </p:cBhvr>
                                    </p:animEffect>
                                  </p:childTnLst>
                                </p:cTn>
                              </p:par>
                            </p:childTnLst>
                          </p:cTn>
                        </p:par>
                        <p:par>
                          <p:cTn id="364" fill="hold">
                            <p:stCondLst>
                              <p:cond delay="5000"/>
                            </p:stCondLst>
                            <p:childTnLst>
                              <p:par>
                                <p:cTn id="365" presetID="47" presetClass="entr" presetSubtype="0" fill="hold" grpId="0" nodeType="afterEffect">
                                  <p:stCondLst>
                                    <p:cond delay="0"/>
                                  </p:stCondLst>
                                  <p:childTnLst>
                                    <p:set>
                                      <p:cBhvr>
                                        <p:cTn id="366" dur="1" fill="hold">
                                          <p:stCondLst>
                                            <p:cond delay="0"/>
                                          </p:stCondLst>
                                        </p:cTn>
                                        <p:tgtEl>
                                          <p:spTgt spid="151"/>
                                        </p:tgtEl>
                                        <p:attrNameLst>
                                          <p:attrName>style.visibility</p:attrName>
                                        </p:attrNameLst>
                                      </p:cBhvr>
                                      <p:to>
                                        <p:strVal val="visible"/>
                                      </p:to>
                                    </p:set>
                                    <p:animEffect transition="in" filter="fade">
                                      <p:cBhvr>
                                        <p:cTn id="367" dur="1000"/>
                                        <p:tgtEl>
                                          <p:spTgt spid="151"/>
                                        </p:tgtEl>
                                      </p:cBhvr>
                                    </p:animEffect>
                                    <p:anim calcmode="lin" valueType="num">
                                      <p:cBhvr>
                                        <p:cTn id="368" dur="1000" fill="hold"/>
                                        <p:tgtEl>
                                          <p:spTgt spid="151"/>
                                        </p:tgtEl>
                                        <p:attrNameLst>
                                          <p:attrName>ppt_x</p:attrName>
                                        </p:attrNameLst>
                                      </p:cBhvr>
                                      <p:tavLst>
                                        <p:tav tm="0">
                                          <p:val>
                                            <p:strVal val="#ppt_x"/>
                                          </p:val>
                                        </p:tav>
                                        <p:tav tm="100000">
                                          <p:val>
                                            <p:strVal val="#ppt_x"/>
                                          </p:val>
                                        </p:tav>
                                      </p:tavLst>
                                    </p:anim>
                                    <p:anim calcmode="lin" valueType="num">
                                      <p:cBhvr>
                                        <p:cTn id="369" dur="1000" fill="hold"/>
                                        <p:tgtEl>
                                          <p:spTgt spid="151"/>
                                        </p:tgtEl>
                                        <p:attrNameLst>
                                          <p:attrName>ppt_y</p:attrName>
                                        </p:attrNameLst>
                                      </p:cBhvr>
                                      <p:tavLst>
                                        <p:tav tm="0">
                                          <p:val>
                                            <p:strVal val="#ppt_y-.1"/>
                                          </p:val>
                                        </p:tav>
                                        <p:tav tm="100000">
                                          <p:val>
                                            <p:strVal val="#ppt_y"/>
                                          </p:val>
                                        </p:tav>
                                      </p:tavLst>
                                    </p:anim>
                                  </p:childTnLst>
                                </p:cTn>
                              </p:par>
                            </p:childTnLst>
                          </p:cTn>
                        </p:par>
                        <p:par>
                          <p:cTn id="370" fill="hold">
                            <p:stCondLst>
                              <p:cond delay="6000"/>
                            </p:stCondLst>
                            <p:childTnLst>
                              <p:par>
                                <p:cTn id="371" presetID="22" presetClass="entr" presetSubtype="8" fill="hold" nodeType="afterEffect">
                                  <p:stCondLst>
                                    <p:cond delay="0"/>
                                  </p:stCondLst>
                                  <p:childTnLst>
                                    <p:set>
                                      <p:cBhvr>
                                        <p:cTn id="372" dur="1" fill="hold">
                                          <p:stCondLst>
                                            <p:cond delay="0"/>
                                          </p:stCondLst>
                                        </p:cTn>
                                        <p:tgtEl>
                                          <p:spTgt spid="152"/>
                                        </p:tgtEl>
                                        <p:attrNameLst>
                                          <p:attrName>style.visibility</p:attrName>
                                        </p:attrNameLst>
                                      </p:cBhvr>
                                      <p:to>
                                        <p:strVal val="visible"/>
                                      </p:to>
                                    </p:set>
                                    <p:animEffect transition="in" filter="wipe(left)">
                                      <p:cBhvr>
                                        <p:cTn id="373" dur="5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5" grpId="0" bldLvl="0" animBg="1"/>
      <p:bldP spid="26" grpId="0" bldLvl="0" animBg="1"/>
      <p:bldP spid="27" grpId="0" bldLvl="0" animBg="1"/>
      <p:bldP spid="28" grpId="0" bldLvl="0" animBg="1"/>
      <p:bldP spid="29" grpId="0" bldLvl="0" animBg="1"/>
      <p:bldP spid="30" grpId="0" bldLvl="0" animBg="1"/>
      <p:bldP spid="43" grpId="0" bldLvl="0" animBg="1"/>
      <p:bldP spid="44" grpId="0" bldLvl="0" animBg="1"/>
      <p:bldP spid="45" grpId="0" bldLvl="0" animBg="1"/>
      <p:bldP spid="46" grpId="0" bldLvl="0" animBg="1"/>
      <p:bldP spid="47" grpId="0" bldLvl="0" animBg="1"/>
      <p:bldP spid="55" grpId="0" bldLvl="0" animBg="1"/>
      <p:bldP spid="56" grpId="0" bldLvl="0" animBg="1"/>
      <p:bldP spid="57" grpId="0" bldLvl="0" animBg="1"/>
      <p:bldP spid="58" grpId="0" bldLvl="0" animBg="1"/>
      <p:bldP spid="59" grpId="0" bldLvl="0" animBg="1"/>
      <p:bldP spid="60" grpId="0" bldLvl="0" animBg="1"/>
      <p:bldP spid="61" grpId="0" bldLvl="0" animBg="1"/>
      <p:bldP spid="69" grpId="0" bldLvl="0" animBg="1"/>
      <p:bldP spid="70" grpId="0" bldLvl="0" animBg="1"/>
      <p:bldP spid="71" grpId="0" bldLvl="0" animBg="1"/>
      <p:bldP spid="72" grpId="0" bldLvl="0" animBg="1"/>
      <p:bldP spid="73" grpId="0" bldLvl="0" animBg="1"/>
      <p:bldP spid="74" grpId="0" bldLvl="0" animBg="1"/>
      <p:bldP spid="84" grpId="0" bldLvl="0" animBg="1"/>
      <p:bldP spid="85" grpId="0" bldLvl="0" animBg="1"/>
      <p:bldP spid="86" grpId="0" bldLvl="0" animBg="1"/>
      <p:bldP spid="87" grpId="0" bldLvl="0" animBg="1"/>
      <p:bldP spid="88" grpId="0" bldLvl="0" animBg="1"/>
      <p:bldP spid="89" grpId="0" bldLvl="0" animBg="1"/>
      <p:bldP spid="90" grpId="0" bldLvl="0" animBg="1"/>
      <p:bldP spid="91" grpId="0" bldLvl="0" animBg="1"/>
      <p:bldP spid="92" grpId="0" bldLvl="0" animBg="1"/>
      <p:bldP spid="96" grpId="0" bldLvl="0" animBg="1"/>
      <p:bldP spid="97" grpId="0" bldLvl="0" animBg="1"/>
      <p:bldP spid="98" grpId="0" bldLvl="0" animBg="1"/>
      <p:bldP spid="99" grpId="0" bldLvl="0" animBg="1"/>
      <p:bldP spid="100" grpId="0" bldLvl="0" animBg="1"/>
      <p:bldP spid="101" grpId="0" bldLvl="0" animBg="1"/>
      <p:bldP spid="102" grpId="0" bldLvl="0" animBg="1"/>
      <p:bldP spid="103" grpId="0" bldLvl="0" animBg="1"/>
      <p:bldP spid="104" grpId="0" bldLvl="0" animBg="1"/>
      <p:bldP spid="105" grpId="0" bldLvl="0" animBg="1"/>
      <p:bldP spid="106" grpId="0" bldLvl="0" animBg="1"/>
      <p:bldP spid="107" grpId="0" bldLvl="0" animBg="1"/>
      <p:bldP spid="108" grpId="0" bldLvl="0" animBg="1"/>
      <p:bldP spid="109" grpId="0" bldLvl="0" animBg="1"/>
      <p:bldP spid="110" grpId="0" bldLvl="0" animBg="1"/>
      <p:bldP spid="111" grpId="0" bldLvl="0" animBg="1"/>
      <p:bldP spid="112" grpId="0" bldLvl="0" animBg="1"/>
      <p:bldP spid="113" grpId="0" bldLvl="0" animBg="1"/>
      <p:bldP spid="114" grpId="0" bldLvl="0" animBg="1"/>
      <p:bldP spid="115" grpId="0" bldLvl="0" animBg="1"/>
      <p:bldP spid="116" grpId="0" bldLvl="0" animBg="1"/>
      <p:bldP spid="117" grpId="0" bldLvl="0" animBg="1"/>
      <p:bldP spid="118" grpId="0" bldLvl="0" animBg="1"/>
      <p:bldP spid="119" grpId="0" bldLvl="0" animBg="1"/>
      <p:bldP spid="120" grpId="0" bldLvl="0" animBg="1"/>
      <p:bldP spid="121" grpId="0" bldLvl="0" animBg="1"/>
      <p:bldP spid="122" grpId="0" bldLvl="0" animBg="1"/>
      <p:bldP spid="123" grpId="0" bldLvl="0" animBg="1"/>
      <p:bldP spid="124" grpId="0" bldLvl="0" animBg="1"/>
      <p:bldP spid="125" grpId="0" bldLvl="0" animBg="1"/>
      <p:bldP spid="126" grpId="0" bldLvl="0" animBg="1"/>
      <p:bldP spid="127" grpId="0" bldLvl="0" animBg="1"/>
      <p:bldP spid="128" grpId="0" bldLvl="0" animBg="1"/>
      <p:bldP spid="129" grpId="0" bldLvl="0" animBg="1"/>
      <p:bldP spid="130" grpId="0" bldLvl="0" animBg="1"/>
      <p:bldP spid="131" grpId="0" bldLvl="0" animBg="1"/>
      <p:bldP spid="132" grpId="0" bldLvl="0" animBg="1"/>
      <p:bldP spid="133" grpId="0" bldLvl="0" animBg="1"/>
      <p:bldP spid="134" grpId="0" bldLvl="0" animBg="1"/>
      <p:bldP spid="135" grpId="0" bldLvl="0" animBg="1"/>
      <p:bldP spid="136" grpId="0" bldLvl="0" animBg="1"/>
      <p:bldP spid="137" grpId="0" bldLvl="0" animBg="1"/>
      <p:bldP spid="138" grpId="0" bldLvl="0" animBg="1"/>
      <p:bldP spid="139" grpId="0" bldLvl="0" animBg="1"/>
      <p:bldP spid="140" grpId="0" bldLvl="0" animBg="1"/>
      <p:bldP spid="141" grpId="0" bldLvl="0" animBg="1"/>
      <p:bldP spid="142" grpId="0" bldLvl="0" animBg="1"/>
      <p:bldP spid="143" grpId="0" bldLvl="0" animBg="1"/>
      <p:bldP spid="147" grpId="0" bldLvl="0" animBg="1"/>
      <p:bldP spid="151"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5" name="矩形 4"/>
          <p:cNvSpPr/>
          <p:nvPr/>
        </p:nvSpPr>
        <p:spPr>
          <a:xfrm flipV="1">
            <a:off x="128" y="6762496"/>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cxnSp>
        <p:nvCxnSpPr>
          <p:cNvPr id="11" name="Elbow Connector 70"/>
          <p:cNvCxnSpPr>
            <a:endCxn id="61" idx="0"/>
          </p:cNvCxnSpPr>
          <p:nvPr/>
        </p:nvCxnSpPr>
        <p:spPr>
          <a:xfrm rot="16200000" flipH="1">
            <a:off x="7397245" y="2931987"/>
            <a:ext cx="977075" cy="332239"/>
          </a:xfrm>
          <a:prstGeom prst="bentConnector3">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4" name="Elbow Connector 69"/>
          <p:cNvCxnSpPr>
            <a:endCxn id="67" idx="0"/>
          </p:cNvCxnSpPr>
          <p:nvPr/>
        </p:nvCxnSpPr>
        <p:spPr>
          <a:xfrm rot="16200000" flipH="1">
            <a:off x="5567973" y="2931988"/>
            <a:ext cx="977074" cy="332240"/>
          </a:xfrm>
          <a:prstGeom prst="bentConnector3">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31"/>
          <p:cNvCxnSpPr/>
          <p:nvPr/>
        </p:nvCxnSpPr>
        <p:spPr>
          <a:xfrm>
            <a:off x="1547462" y="3648160"/>
            <a:ext cx="8403941" cy="0"/>
          </a:xfrm>
          <a:prstGeom prst="line">
            <a:avLst/>
          </a:prstGeom>
          <a:ln w="571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16" name="Group 13"/>
          <p:cNvGrpSpPr/>
          <p:nvPr/>
        </p:nvGrpSpPr>
        <p:grpSpPr>
          <a:xfrm>
            <a:off x="2321710" y="3505177"/>
            <a:ext cx="280303" cy="285966"/>
            <a:chOff x="1828800" y="3130422"/>
            <a:chExt cx="471487" cy="481012"/>
          </a:xfrm>
          <a:solidFill>
            <a:schemeClr val="bg1"/>
          </a:solidFill>
        </p:grpSpPr>
        <p:sp>
          <p:nvSpPr>
            <p:cNvPr id="70" name="Oval 6"/>
            <p:cNvSpPr>
              <a:spLocks noChangeArrowheads="1"/>
            </p:cNvSpPr>
            <p:nvPr/>
          </p:nvSpPr>
          <p:spPr bwMode="auto">
            <a:xfrm>
              <a:off x="1828800" y="3130422"/>
              <a:ext cx="471487" cy="481012"/>
            </a:xfrm>
            <a:prstGeom prst="ellipse">
              <a:avLst/>
            </a:prstGeom>
            <a:solidFill>
              <a:schemeClr val="tx1">
                <a:lumMod val="65000"/>
                <a:lumOff val="35000"/>
              </a:schemeClr>
            </a:solidFill>
            <a:ln>
              <a:no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71" name="Oval 7"/>
            <p:cNvSpPr>
              <a:spLocks noChangeArrowheads="1"/>
            </p:cNvSpPr>
            <p:nvPr/>
          </p:nvSpPr>
          <p:spPr bwMode="auto">
            <a:xfrm>
              <a:off x="1936750" y="3247897"/>
              <a:ext cx="255587" cy="244475"/>
            </a:xfrm>
            <a:prstGeom prst="ellipse">
              <a:avLst/>
            </a:prstGeom>
            <a:solidFill>
              <a:schemeClr val="tx1">
                <a:lumMod val="65000"/>
                <a:lumOff val="35000"/>
              </a:schemeClr>
            </a:solidFill>
            <a:ln w="9525">
              <a:solidFill>
                <a:schemeClr val="tx1">
                  <a:lumMod val="65000"/>
                  <a:lumOff val="35000"/>
                </a:schemeClr>
              </a:solidFill>
              <a:round/>
            </a:ln>
          </p:spPr>
          <p:txBody>
            <a:bodyPr vert="horz" wrap="square" lIns="91440" tIns="45720" rIns="91440" bIns="45720" numCol="1" anchor="t" anchorCtr="0" compatLnSpc="1"/>
            <a:lstStyle/>
            <a:p>
              <a:endParaRPr lang="en-US">
                <a:solidFill>
                  <a:schemeClr val="tx1">
                    <a:lumMod val="75000"/>
                    <a:lumOff val="25000"/>
                  </a:schemeClr>
                </a:solidFill>
              </a:endParaRPr>
            </a:p>
          </p:txBody>
        </p:sp>
      </p:grpSp>
      <p:grpSp>
        <p:nvGrpSpPr>
          <p:cNvPr id="17" name="Group 14"/>
          <p:cNvGrpSpPr/>
          <p:nvPr/>
        </p:nvGrpSpPr>
        <p:grpSpPr>
          <a:xfrm>
            <a:off x="4218563" y="3527907"/>
            <a:ext cx="235744" cy="240506"/>
            <a:chOff x="2635250" y="3130422"/>
            <a:chExt cx="471487" cy="481012"/>
          </a:xfrm>
          <a:solidFill>
            <a:schemeClr val="bg1"/>
          </a:solidFill>
        </p:grpSpPr>
        <p:sp>
          <p:nvSpPr>
            <p:cNvPr id="68" name="Oval 6"/>
            <p:cNvSpPr>
              <a:spLocks noChangeArrowheads="1"/>
            </p:cNvSpPr>
            <p:nvPr/>
          </p:nvSpPr>
          <p:spPr bwMode="auto">
            <a:xfrm>
              <a:off x="2635250" y="3130422"/>
              <a:ext cx="471487" cy="481012"/>
            </a:xfrm>
            <a:prstGeom prst="ellipse">
              <a:avLst/>
            </a:prstGeom>
            <a:solidFill>
              <a:schemeClr val="tx1">
                <a:lumMod val="65000"/>
                <a:lumOff val="35000"/>
              </a:schemeClr>
            </a:solidFill>
            <a:ln>
              <a:no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69" name="Oval 7"/>
            <p:cNvSpPr>
              <a:spLocks noChangeArrowheads="1"/>
            </p:cNvSpPr>
            <p:nvPr/>
          </p:nvSpPr>
          <p:spPr bwMode="auto">
            <a:xfrm>
              <a:off x="2743200" y="3247897"/>
              <a:ext cx="255587" cy="244475"/>
            </a:xfrm>
            <a:prstGeom prst="ellipse">
              <a:avLst/>
            </a:prstGeom>
            <a:solidFill>
              <a:schemeClr val="tx1">
                <a:lumMod val="65000"/>
                <a:lumOff val="35000"/>
              </a:schemeClr>
            </a:solidFill>
            <a:ln w="9525">
              <a:solidFill>
                <a:schemeClr val="tx1">
                  <a:lumMod val="65000"/>
                  <a:lumOff val="35000"/>
                </a:schemeClr>
              </a:solidFill>
              <a:round/>
            </a:ln>
          </p:spPr>
          <p:txBody>
            <a:bodyPr vert="horz" wrap="square" lIns="91440" tIns="45720" rIns="91440" bIns="45720" numCol="1" anchor="t" anchorCtr="0" compatLnSpc="1"/>
            <a:lstStyle/>
            <a:p>
              <a:endParaRPr lang="en-US">
                <a:solidFill>
                  <a:schemeClr val="tx1">
                    <a:lumMod val="75000"/>
                    <a:lumOff val="25000"/>
                  </a:schemeClr>
                </a:solidFill>
              </a:endParaRPr>
            </a:p>
          </p:txBody>
        </p:sp>
      </p:grpSp>
      <p:grpSp>
        <p:nvGrpSpPr>
          <p:cNvPr id="18" name="Group 15"/>
          <p:cNvGrpSpPr/>
          <p:nvPr/>
        </p:nvGrpSpPr>
        <p:grpSpPr>
          <a:xfrm>
            <a:off x="6104758" y="3527908"/>
            <a:ext cx="235743" cy="240505"/>
            <a:chOff x="3321050" y="3130422"/>
            <a:chExt cx="471487" cy="481012"/>
          </a:xfrm>
          <a:solidFill>
            <a:schemeClr val="bg1"/>
          </a:solidFill>
        </p:grpSpPr>
        <p:sp>
          <p:nvSpPr>
            <p:cNvPr id="66" name="Oval 6"/>
            <p:cNvSpPr>
              <a:spLocks noChangeArrowheads="1"/>
            </p:cNvSpPr>
            <p:nvPr/>
          </p:nvSpPr>
          <p:spPr bwMode="auto">
            <a:xfrm>
              <a:off x="3321050" y="3130422"/>
              <a:ext cx="471487" cy="481012"/>
            </a:xfrm>
            <a:prstGeom prst="ellipse">
              <a:avLst/>
            </a:prstGeom>
            <a:solidFill>
              <a:schemeClr val="tx1">
                <a:lumMod val="65000"/>
                <a:lumOff val="35000"/>
              </a:schemeClr>
            </a:solidFill>
            <a:ln>
              <a:no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67" name="Oval 7"/>
            <p:cNvSpPr>
              <a:spLocks noChangeArrowheads="1"/>
            </p:cNvSpPr>
            <p:nvPr/>
          </p:nvSpPr>
          <p:spPr bwMode="auto">
            <a:xfrm>
              <a:off x="3429000" y="3247897"/>
              <a:ext cx="255587" cy="244475"/>
            </a:xfrm>
            <a:prstGeom prst="ellipse">
              <a:avLst/>
            </a:prstGeom>
            <a:solidFill>
              <a:schemeClr val="tx1">
                <a:lumMod val="65000"/>
                <a:lumOff val="35000"/>
              </a:schemeClr>
            </a:solidFill>
            <a:ln w="9525">
              <a:solidFill>
                <a:schemeClr val="tx1">
                  <a:lumMod val="65000"/>
                  <a:lumOff val="35000"/>
                </a:schemeClr>
              </a:solidFill>
              <a:round/>
            </a:ln>
          </p:spPr>
          <p:txBody>
            <a:bodyPr vert="horz" wrap="square" lIns="91440" tIns="45720" rIns="91440" bIns="45720" numCol="1" anchor="t" anchorCtr="0" compatLnSpc="1"/>
            <a:lstStyle/>
            <a:p>
              <a:endParaRPr lang="en-US">
                <a:solidFill>
                  <a:schemeClr val="tx1">
                    <a:lumMod val="75000"/>
                    <a:lumOff val="25000"/>
                  </a:schemeClr>
                </a:solidFill>
              </a:endParaRPr>
            </a:p>
          </p:txBody>
        </p:sp>
      </p:grpSp>
      <p:grpSp>
        <p:nvGrpSpPr>
          <p:cNvPr id="19" name="Group 16"/>
          <p:cNvGrpSpPr/>
          <p:nvPr/>
        </p:nvGrpSpPr>
        <p:grpSpPr>
          <a:xfrm>
            <a:off x="7203473" y="3527908"/>
            <a:ext cx="235743" cy="240505"/>
            <a:chOff x="3962400" y="3130422"/>
            <a:chExt cx="471487" cy="481012"/>
          </a:xfrm>
          <a:solidFill>
            <a:schemeClr val="bg1"/>
          </a:solidFill>
        </p:grpSpPr>
        <p:sp>
          <p:nvSpPr>
            <p:cNvPr id="64" name="Oval 6"/>
            <p:cNvSpPr>
              <a:spLocks noChangeArrowheads="1"/>
            </p:cNvSpPr>
            <p:nvPr/>
          </p:nvSpPr>
          <p:spPr bwMode="auto">
            <a:xfrm>
              <a:off x="3962400" y="3130422"/>
              <a:ext cx="471487" cy="481012"/>
            </a:xfrm>
            <a:prstGeom prst="ellipse">
              <a:avLst/>
            </a:prstGeom>
            <a:solidFill>
              <a:schemeClr val="tx1">
                <a:lumMod val="65000"/>
                <a:lumOff val="35000"/>
              </a:schemeClr>
            </a:solidFill>
            <a:ln>
              <a:no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65" name="Oval 7"/>
            <p:cNvSpPr>
              <a:spLocks noChangeArrowheads="1"/>
            </p:cNvSpPr>
            <p:nvPr/>
          </p:nvSpPr>
          <p:spPr bwMode="auto">
            <a:xfrm>
              <a:off x="4070350" y="3247897"/>
              <a:ext cx="255587" cy="244475"/>
            </a:xfrm>
            <a:prstGeom prst="ellipse">
              <a:avLst/>
            </a:prstGeom>
            <a:solidFill>
              <a:schemeClr val="tx1">
                <a:lumMod val="65000"/>
                <a:lumOff val="35000"/>
              </a:schemeClr>
            </a:solidFill>
            <a:ln w="9525">
              <a:solidFill>
                <a:schemeClr val="tx1">
                  <a:lumMod val="65000"/>
                  <a:lumOff val="35000"/>
                </a:schemeClr>
              </a:solidFill>
              <a:round/>
            </a:ln>
          </p:spPr>
          <p:txBody>
            <a:bodyPr vert="horz" wrap="square" lIns="91440" tIns="45720" rIns="91440" bIns="45720" numCol="1" anchor="t" anchorCtr="0" compatLnSpc="1"/>
            <a:lstStyle/>
            <a:p>
              <a:endParaRPr lang="en-US">
                <a:solidFill>
                  <a:schemeClr val="tx1">
                    <a:lumMod val="75000"/>
                    <a:lumOff val="25000"/>
                  </a:schemeClr>
                </a:solidFill>
              </a:endParaRPr>
            </a:p>
          </p:txBody>
        </p:sp>
      </p:grpSp>
      <p:grpSp>
        <p:nvGrpSpPr>
          <p:cNvPr id="20" name="Group 17"/>
          <p:cNvGrpSpPr/>
          <p:nvPr/>
        </p:nvGrpSpPr>
        <p:grpSpPr>
          <a:xfrm>
            <a:off x="9036641" y="3522847"/>
            <a:ext cx="245664" cy="250627"/>
            <a:chOff x="4551220" y="3130422"/>
            <a:chExt cx="471487" cy="481012"/>
          </a:xfrm>
          <a:solidFill>
            <a:schemeClr val="bg1"/>
          </a:solidFill>
        </p:grpSpPr>
        <p:sp>
          <p:nvSpPr>
            <p:cNvPr id="62" name="Oval 6"/>
            <p:cNvSpPr>
              <a:spLocks noChangeArrowheads="1"/>
            </p:cNvSpPr>
            <p:nvPr/>
          </p:nvSpPr>
          <p:spPr bwMode="auto">
            <a:xfrm>
              <a:off x="4551220" y="3130422"/>
              <a:ext cx="471487" cy="481012"/>
            </a:xfrm>
            <a:prstGeom prst="ellipse">
              <a:avLst/>
            </a:prstGeom>
            <a:solidFill>
              <a:schemeClr val="tx1">
                <a:lumMod val="65000"/>
                <a:lumOff val="35000"/>
              </a:schemeClr>
            </a:solidFill>
            <a:ln>
              <a:no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63" name="Oval 7"/>
            <p:cNvSpPr>
              <a:spLocks noChangeArrowheads="1"/>
            </p:cNvSpPr>
            <p:nvPr/>
          </p:nvSpPr>
          <p:spPr bwMode="auto">
            <a:xfrm>
              <a:off x="4659170" y="3247897"/>
              <a:ext cx="255587" cy="244475"/>
            </a:xfrm>
            <a:prstGeom prst="ellipse">
              <a:avLst/>
            </a:prstGeom>
            <a:solidFill>
              <a:schemeClr val="tx1">
                <a:lumMod val="65000"/>
                <a:lumOff val="35000"/>
              </a:schemeClr>
            </a:solidFill>
            <a:ln w="9525">
              <a:solidFill>
                <a:schemeClr val="tx1">
                  <a:lumMod val="65000"/>
                  <a:lumOff val="35000"/>
                </a:schemeClr>
              </a:solidFill>
              <a:round/>
            </a:ln>
          </p:spPr>
          <p:txBody>
            <a:bodyPr vert="horz" wrap="square" lIns="91440" tIns="45720" rIns="91440" bIns="45720" numCol="1" anchor="t" anchorCtr="0" compatLnSpc="1"/>
            <a:lstStyle/>
            <a:p>
              <a:endParaRPr lang="en-US">
                <a:solidFill>
                  <a:schemeClr val="tx1">
                    <a:lumMod val="75000"/>
                    <a:lumOff val="25000"/>
                  </a:schemeClr>
                </a:solidFill>
              </a:endParaRPr>
            </a:p>
          </p:txBody>
        </p:sp>
      </p:grpSp>
      <p:grpSp>
        <p:nvGrpSpPr>
          <p:cNvPr id="21" name="Group 18"/>
          <p:cNvGrpSpPr/>
          <p:nvPr/>
        </p:nvGrpSpPr>
        <p:grpSpPr>
          <a:xfrm>
            <a:off x="7934030" y="3527908"/>
            <a:ext cx="235743" cy="240505"/>
            <a:chOff x="5181600" y="3130422"/>
            <a:chExt cx="471487" cy="481012"/>
          </a:xfrm>
          <a:solidFill>
            <a:schemeClr val="bg1"/>
          </a:solidFill>
        </p:grpSpPr>
        <p:sp>
          <p:nvSpPr>
            <p:cNvPr id="60" name="Oval 6"/>
            <p:cNvSpPr>
              <a:spLocks noChangeArrowheads="1"/>
            </p:cNvSpPr>
            <p:nvPr/>
          </p:nvSpPr>
          <p:spPr bwMode="auto">
            <a:xfrm>
              <a:off x="5181600" y="3130422"/>
              <a:ext cx="471487" cy="481012"/>
            </a:xfrm>
            <a:prstGeom prst="ellipse">
              <a:avLst/>
            </a:prstGeom>
            <a:solidFill>
              <a:schemeClr val="tx1">
                <a:lumMod val="65000"/>
                <a:lumOff val="35000"/>
              </a:schemeClr>
            </a:solidFill>
            <a:ln>
              <a:no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61" name="Oval 7"/>
            <p:cNvSpPr>
              <a:spLocks noChangeArrowheads="1"/>
            </p:cNvSpPr>
            <p:nvPr/>
          </p:nvSpPr>
          <p:spPr bwMode="auto">
            <a:xfrm>
              <a:off x="5289550" y="3247897"/>
              <a:ext cx="255587" cy="244475"/>
            </a:xfrm>
            <a:prstGeom prst="ellipse">
              <a:avLst/>
            </a:prstGeom>
            <a:solidFill>
              <a:schemeClr val="tx1">
                <a:lumMod val="65000"/>
                <a:lumOff val="35000"/>
              </a:schemeClr>
            </a:solidFill>
            <a:ln w="9525">
              <a:solidFill>
                <a:schemeClr val="tx1">
                  <a:lumMod val="65000"/>
                  <a:lumOff val="35000"/>
                </a:schemeClr>
              </a:solidFill>
              <a:round/>
            </a:ln>
          </p:spPr>
          <p:txBody>
            <a:bodyPr vert="horz" wrap="square" lIns="91440" tIns="45720" rIns="91440" bIns="45720" numCol="1" anchor="t" anchorCtr="0" compatLnSpc="1"/>
            <a:lstStyle/>
            <a:p>
              <a:endParaRPr lang="en-US">
                <a:solidFill>
                  <a:schemeClr val="tx1">
                    <a:lumMod val="75000"/>
                    <a:lumOff val="25000"/>
                  </a:schemeClr>
                </a:solidFill>
              </a:endParaRPr>
            </a:p>
          </p:txBody>
        </p:sp>
      </p:grpSp>
      <p:grpSp>
        <p:nvGrpSpPr>
          <p:cNvPr id="22" name="Group 58"/>
          <p:cNvGrpSpPr/>
          <p:nvPr/>
        </p:nvGrpSpPr>
        <p:grpSpPr>
          <a:xfrm>
            <a:off x="5293447" y="3527908"/>
            <a:ext cx="235743" cy="240505"/>
            <a:chOff x="5181600" y="3130422"/>
            <a:chExt cx="471487" cy="481012"/>
          </a:xfrm>
          <a:solidFill>
            <a:schemeClr val="bg1"/>
          </a:solidFill>
        </p:grpSpPr>
        <p:sp>
          <p:nvSpPr>
            <p:cNvPr id="58" name="Oval 6"/>
            <p:cNvSpPr>
              <a:spLocks noChangeArrowheads="1"/>
            </p:cNvSpPr>
            <p:nvPr/>
          </p:nvSpPr>
          <p:spPr bwMode="auto">
            <a:xfrm>
              <a:off x="5181600" y="3130422"/>
              <a:ext cx="471487" cy="481012"/>
            </a:xfrm>
            <a:prstGeom prst="ellipse">
              <a:avLst/>
            </a:prstGeom>
            <a:solidFill>
              <a:schemeClr val="tx1">
                <a:lumMod val="65000"/>
                <a:lumOff val="35000"/>
              </a:schemeClr>
            </a:solidFill>
            <a:ln>
              <a:no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59" name="Oval 7"/>
            <p:cNvSpPr>
              <a:spLocks noChangeArrowheads="1"/>
            </p:cNvSpPr>
            <p:nvPr/>
          </p:nvSpPr>
          <p:spPr bwMode="auto">
            <a:xfrm>
              <a:off x="5289550" y="3247897"/>
              <a:ext cx="255587" cy="244475"/>
            </a:xfrm>
            <a:prstGeom prst="ellipse">
              <a:avLst/>
            </a:prstGeom>
            <a:solidFill>
              <a:schemeClr val="tx1">
                <a:lumMod val="65000"/>
                <a:lumOff val="35000"/>
              </a:schemeClr>
            </a:solidFill>
            <a:ln w="9525">
              <a:solidFill>
                <a:schemeClr val="tx1">
                  <a:lumMod val="65000"/>
                  <a:lumOff val="35000"/>
                </a:schemeClr>
              </a:solidFill>
              <a:round/>
            </a:ln>
          </p:spPr>
          <p:txBody>
            <a:bodyPr vert="horz" wrap="square" lIns="91440" tIns="45720" rIns="91440" bIns="45720" numCol="1" anchor="t" anchorCtr="0" compatLnSpc="1"/>
            <a:lstStyle/>
            <a:p>
              <a:endParaRPr lang="en-US">
                <a:solidFill>
                  <a:schemeClr val="tx1">
                    <a:lumMod val="75000"/>
                    <a:lumOff val="25000"/>
                  </a:schemeClr>
                </a:solidFill>
              </a:endParaRPr>
            </a:p>
          </p:txBody>
        </p:sp>
      </p:grpSp>
      <p:grpSp>
        <p:nvGrpSpPr>
          <p:cNvPr id="23" name="Group 61"/>
          <p:cNvGrpSpPr/>
          <p:nvPr/>
        </p:nvGrpSpPr>
        <p:grpSpPr>
          <a:xfrm>
            <a:off x="3420613" y="3527908"/>
            <a:ext cx="235743" cy="240505"/>
            <a:chOff x="3962400" y="3130422"/>
            <a:chExt cx="471487" cy="481012"/>
          </a:xfrm>
          <a:solidFill>
            <a:schemeClr val="bg1"/>
          </a:solidFill>
        </p:grpSpPr>
        <p:sp>
          <p:nvSpPr>
            <p:cNvPr id="56" name="Oval 6"/>
            <p:cNvSpPr>
              <a:spLocks noChangeArrowheads="1"/>
            </p:cNvSpPr>
            <p:nvPr/>
          </p:nvSpPr>
          <p:spPr bwMode="auto">
            <a:xfrm>
              <a:off x="3962400" y="3130422"/>
              <a:ext cx="471487" cy="481012"/>
            </a:xfrm>
            <a:prstGeom prst="ellipse">
              <a:avLst/>
            </a:prstGeom>
            <a:solidFill>
              <a:schemeClr val="tx1">
                <a:lumMod val="65000"/>
                <a:lumOff val="35000"/>
              </a:schemeClr>
            </a:solidFill>
            <a:ln>
              <a:no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57" name="Oval 7"/>
            <p:cNvSpPr>
              <a:spLocks noChangeArrowheads="1"/>
            </p:cNvSpPr>
            <p:nvPr/>
          </p:nvSpPr>
          <p:spPr bwMode="auto">
            <a:xfrm>
              <a:off x="4070350" y="3247897"/>
              <a:ext cx="255587" cy="244475"/>
            </a:xfrm>
            <a:prstGeom prst="ellipse">
              <a:avLst/>
            </a:prstGeom>
            <a:solidFill>
              <a:schemeClr val="tx1">
                <a:lumMod val="65000"/>
                <a:lumOff val="35000"/>
              </a:schemeClr>
            </a:solidFill>
            <a:ln w="9525">
              <a:solidFill>
                <a:schemeClr val="tx1">
                  <a:lumMod val="65000"/>
                  <a:lumOff val="35000"/>
                </a:schemeClr>
              </a:solidFill>
              <a:round/>
            </a:ln>
          </p:spPr>
          <p:txBody>
            <a:bodyPr vert="horz" wrap="square" lIns="91440" tIns="45720" rIns="91440" bIns="45720" numCol="1" anchor="t" anchorCtr="0" compatLnSpc="1"/>
            <a:lstStyle/>
            <a:p>
              <a:endParaRPr lang="en-US">
                <a:solidFill>
                  <a:schemeClr val="tx1">
                    <a:lumMod val="75000"/>
                    <a:lumOff val="25000"/>
                  </a:schemeClr>
                </a:solidFill>
              </a:endParaRPr>
            </a:p>
          </p:txBody>
        </p:sp>
      </p:grpSp>
      <p:cxnSp>
        <p:nvCxnSpPr>
          <p:cNvPr id="24" name="Elbow Connector 20"/>
          <p:cNvCxnSpPr/>
          <p:nvPr/>
        </p:nvCxnSpPr>
        <p:spPr>
          <a:xfrm rot="16200000" flipH="1">
            <a:off x="1847939" y="2891254"/>
            <a:ext cx="895606" cy="332240"/>
          </a:xfrm>
          <a:prstGeom prst="bentConnector3">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5" name="Elbow Connector 68"/>
          <p:cNvCxnSpPr>
            <a:stCxn id="44" idx="4"/>
          </p:cNvCxnSpPr>
          <p:nvPr/>
        </p:nvCxnSpPr>
        <p:spPr>
          <a:xfrm rot="16200000" flipH="1">
            <a:off x="3691125" y="2929707"/>
            <a:ext cx="965446" cy="325173"/>
          </a:xfrm>
          <a:prstGeom prst="bentConnector3">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6" name="Elbow Connector 74"/>
          <p:cNvCxnSpPr/>
          <p:nvPr/>
        </p:nvCxnSpPr>
        <p:spPr>
          <a:xfrm rot="5400000" flipH="1" flipV="1">
            <a:off x="2910450" y="4088519"/>
            <a:ext cx="965446" cy="325173"/>
          </a:xfrm>
          <a:prstGeom prst="bentConnector3">
            <a:avLst>
              <a:gd name="adj1" fmla="val 48899"/>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7" name="Elbow Connector 76"/>
          <p:cNvCxnSpPr/>
          <p:nvPr/>
        </p:nvCxnSpPr>
        <p:spPr>
          <a:xfrm rot="5400000" flipH="1" flipV="1">
            <a:off x="4766009" y="4088520"/>
            <a:ext cx="965446" cy="325173"/>
          </a:xfrm>
          <a:prstGeom prst="bentConnector3">
            <a:avLst>
              <a:gd name="adj1" fmla="val 48899"/>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8" name="Elbow Connector 77"/>
          <p:cNvCxnSpPr/>
          <p:nvPr/>
        </p:nvCxnSpPr>
        <p:spPr>
          <a:xfrm rot="5400000" flipH="1" flipV="1">
            <a:off x="6669642" y="4088520"/>
            <a:ext cx="965446" cy="325173"/>
          </a:xfrm>
          <a:prstGeom prst="bentConnector3">
            <a:avLst>
              <a:gd name="adj1" fmla="val 48899"/>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9" name="Elbow Connector 78"/>
          <p:cNvCxnSpPr/>
          <p:nvPr/>
        </p:nvCxnSpPr>
        <p:spPr>
          <a:xfrm rot="5400000" flipH="1" flipV="1">
            <a:off x="8496369" y="4088520"/>
            <a:ext cx="965446" cy="325173"/>
          </a:xfrm>
          <a:prstGeom prst="bentConnector3">
            <a:avLst>
              <a:gd name="adj1" fmla="val 48899"/>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0" name="Oval 6"/>
          <p:cNvSpPr>
            <a:spLocks noChangeArrowheads="1"/>
          </p:cNvSpPr>
          <p:nvPr/>
        </p:nvSpPr>
        <p:spPr bwMode="auto">
          <a:xfrm>
            <a:off x="5484462" y="1832177"/>
            <a:ext cx="762000" cy="777394"/>
          </a:xfrm>
          <a:prstGeom prst="ellipse">
            <a:avLst/>
          </a:prstGeom>
          <a:no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31" name="Freeform 70"/>
          <p:cNvSpPr>
            <a:spLocks noEditPoints="1"/>
          </p:cNvSpPr>
          <p:nvPr/>
        </p:nvSpPr>
        <p:spPr bwMode="auto">
          <a:xfrm>
            <a:off x="5749432" y="2037285"/>
            <a:ext cx="261872" cy="424656"/>
          </a:xfrm>
          <a:custGeom>
            <a:avLst/>
            <a:gdLst>
              <a:gd name="T0" fmla="*/ 160 w 163"/>
              <a:gd name="T1" fmla="*/ 113 h 263"/>
              <a:gd name="T2" fmla="*/ 142 w 163"/>
              <a:gd name="T3" fmla="*/ 113 h 263"/>
              <a:gd name="T4" fmla="*/ 142 w 163"/>
              <a:gd name="T5" fmla="*/ 140 h 263"/>
              <a:gd name="T6" fmla="*/ 81 w 163"/>
              <a:gd name="T7" fmla="*/ 190 h 263"/>
              <a:gd name="T8" fmla="*/ 20 w 163"/>
              <a:gd name="T9" fmla="*/ 140 h 263"/>
              <a:gd name="T10" fmla="*/ 20 w 163"/>
              <a:gd name="T11" fmla="*/ 113 h 263"/>
              <a:gd name="T12" fmla="*/ 2 w 163"/>
              <a:gd name="T13" fmla="*/ 113 h 263"/>
              <a:gd name="T14" fmla="*/ 0 w 163"/>
              <a:gd name="T15" fmla="*/ 120 h 263"/>
              <a:gd name="T16" fmla="*/ 2 w 163"/>
              <a:gd name="T17" fmla="*/ 126 h 263"/>
              <a:gd name="T18" fmla="*/ 9 w 163"/>
              <a:gd name="T19" fmla="*/ 126 h 263"/>
              <a:gd name="T20" fmla="*/ 9 w 163"/>
              <a:gd name="T21" fmla="*/ 140 h 263"/>
              <a:gd name="T22" fmla="*/ 59 w 163"/>
              <a:gd name="T23" fmla="*/ 198 h 263"/>
              <a:gd name="T24" fmla="*/ 59 w 163"/>
              <a:gd name="T25" fmla="*/ 212 h 263"/>
              <a:gd name="T26" fmla="*/ 74 w 163"/>
              <a:gd name="T27" fmla="*/ 215 h 263"/>
              <a:gd name="T28" fmla="*/ 74 w 163"/>
              <a:gd name="T29" fmla="*/ 229 h 263"/>
              <a:gd name="T30" fmla="*/ 16 w 163"/>
              <a:gd name="T31" fmla="*/ 243 h 263"/>
              <a:gd name="T32" fmla="*/ 16 w 163"/>
              <a:gd name="T33" fmla="*/ 249 h 263"/>
              <a:gd name="T34" fmla="*/ 81 w 163"/>
              <a:gd name="T35" fmla="*/ 263 h 263"/>
              <a:gd name="T36" fmla="*/ 145 w 163"/>
              <a:gd name="T37" fmla="*/ 249 h 263"/>
              <a:gd name="T38" fmla="*/ 145 w 163"/>
              <a:gd name="T39" fmla="*/ 243 h 263"/>
              <a:gd name="T40" fmla="*/ 88 w 163"/>
              <a:gd name="T41" fmla="*/ 229 h 263"/>
              <a:gd name="T42" fmla="*/ 88 w 163"/>
              <a:gd name="T43" fmla="*/ 215 h 263"/>
              <a:gd name="T44" fmla="*/ 102 w 163"/>
              <a:gd name="T45" fmla="*/ 212 h 263"/>
              <a:gd name="T46" fmla="*/ 102 w 163"/>
              <a:gd name="T47" fmla="*/ 198 h 263"/>
              <a:gd name="T48" fmla="*/ 153 w 163"/>
              <a:gd name="T49" fmla="*/ 140 h 263"/>
              <a:gd name="T50" fmla="*/ 153 w 163"/>
              <a:gd name="T51" fmla="*/ 126 h 263"/>
              <a:gd name="T52" fmla="*/ 160 w 163"/>
              <a:gd name="T53" fmla="*/ 126 h 263"/>
              <a:gd name="T54" fmla="*/ 163 w 163"/>
              <a:gd name="T55" fmla="*/ 120 h 263"/>
              <a:gd name="T56" fmla="*/ 160 w 163"/>
              <a:gd name="T57" fmla="*/ 113 h 263"/>
              <a:gd name="T58" fmla="*/ 81 w 163"/>
              <a:gd name="T59" fmla="*/ 172 h 263"/>
              <a:gd name="T60" fmla="*/ 124 w 163"/>
              <a:gd name="T61" fmla="*/ 144 h 263"/>
              <a:gd name="T62" fmla="*/ 124 w 163"/>
              <a:gd name="T63" fmla="*/ 28 h 263"/>
              <a:gd name="T64" fmla="*/ 81 w 163"/>
              <a:gd name="T65" fmla="*/ 0 h 263"/>
              <a:gd name="T66" fmla="*/ 38 w 163"/>
              <a:gd name="T67" fmla="*/ 28 h 263"/>
              <a:gd name="T68" fmla="*/ 38 w 163"/>
              <a:gd name="T69" fmla="*/ 144 h 263"/>
              <a:gd name="T70" fmla="*/ 81 w 163"/>
              <a:gd name="T71" fmla="*/ 17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263">
                <a:moveTo>
                  <a:pt x="160" y="113"/>
                </a:moveTo>
                <a:cubicBezTo>
                  <a:pt x="142" y="113"/>
                  <a:pt x="142" y="113"/>
                  <a:pt x="142" y="113"/>
                </a:cubicBezTo>
                <a:cubicBezTo>
                  <a:pt x="142" y="140"/>
                  <a:pt x="142" y="140"/>
                  <a:pt x="142" y="140"/>
                </a:cubicBezTo>
                <a:cubicBezTo>
                  <a:pt x="142" y="174"/>
                  <a:pt x="114" y="190"/>
                  <a:pt x="81" y="190"/>
                </a:cubicBezTo>
                <a:cubicBezTo>
                  <a:pt x="47" y="190"/>
                  <a:pt x="20" y="174"/>
                  <a:pt x="20" y="140"/>
                </a:cubicBezTo>
                <a:cubicBezTo>
                  <a:pt x="20" y="113"/>
                  <a:pt x="20" y="113"/>
                  <a:pt x="20" y="113"/>
                </a:cubicBezTo>
                <a:cubicBezTo>
                  <a:pt x="2" y="113"/>
                  <a:pt x="2" y="113"/>
                  <a:pt x="2" y="113"/>
                </a:cubicBezTo>
                <a:cubicBezTo>
                  <a:pt x="2" y="113"/>
                  <a:pt x="0" y="116"/>
                  <a:pt x="0" y="120"/>
                </a:cubicBezTo>
                <a:cubicBezTo>
                  <a:pt x="0" y="124"/>
                  <a:pt x="2" y="126"/>
                  <a:pt x="2" y="126"/>
                </a:cubicBezTo>
                <a:cubicBezTo>
                  <a:pt x="9" y="126"/>
                  <a:pt x="9" y="126"/>
                  <a:pt x="9" y="126"/>
                </a:cubicBezTo>
                <a:cubicBezTo>
                  <a:pt x="9" y="140"/>
                  <a:pt x="9" y="140"/>
                  <a:pt x="9" y="140"/>
                </a:cubicBezTo>
                <a:cubicBezTo>
                  <a:pt x="9" y="170"/>
                  <a:pt x="25" y="190"/>
                  <a:pt x="59" y="198"/>
                </a:cubicBezTo>
                <a:cubicBezTo>
                  <a:pt x="59" y="212"/>
                  <a:pt x="59" y="212"/>
                  <a:pt x="59" y="212"/>
                </a:cubicBezTo>
                <a:cubicBezTo>
                  <a:pt x="59" y="212"/>
                  <a:pt x="64" y="214"/>
                  <a:pt x="74" y="215"/>
                </a:cubicBezTo>
                <a:cubicBezTo>
                  <a:pt x="74" y="229"/>
                  <a:pt x="74" y="229"/>
                  <a:pt x="74" y="229"/>
                </a:cubicBezTo>
                <a:cubicBezTo>
                  <a:pt x="38" y="231"/>
                  <a:pt x="16" y="237"/>
                  <a:pt x="16" y="243"/>
                </a:cubicBezTo>
                <a:cubicBezTo>
                  <a:pt x="16" y="249"/>
                  <a:pt x="16" y="249"/>
                  <a:pt x="16" y="249"/>
                </a:cubicBezTo>
                <a:cubicBezTo>
                  <a:pt x="16" y="257"/>
                  <a:pt x="45" y="263"/>
                  <a:pt x="81" y="263"/>
                </a:cubicBezTo>
                <a:cubicBezTo>
                  <a:pt x="116" y="263"/>
                  <a:pt x="145" y="257"/>
                  <a:pt x="145" y="249"/>
                </a:cubicBezTo>
                <a:cubicBezTo>
                  <a:pt x="145" y="243"/>
                  <a:pt x="145" y="243"/>
                  <a:pt x="145" y="243"/>
                </a:cubicBezTo>
                <a:cubicBezTo>
                  <a:pt x="145" y="237"/>
                  <a:pt x="124" y="231"/>
                  <a:pt x="88" y="229"/>
                </a:cubicBezTo>
                <a:cubicBezTo>
                  <a:pt x="88" y="215"/>
                  <a:pt x="88" y="215"/>
                  <a:pt x="88" y="215"/>
                </a:cubicBezTo>
                <a:cubicBezTo>
                  <a:pt x="98" y="214"/>
                  <a:pt x="102" y="212"/>
                  <a:pt x="102" y="212"/>
                </a:cubicBezTo>
                <a:cubicBezTo>
                  <a:pt x="102" y="198"/>
                  <a:pt x="102" y="198"/>
                  <a:pt x="102" y="198"/>
                </a:cubicBezTo>
                <a:cubicBezTo>
                  <a:pt x="136" y="189"/>
                  <a:pt x="153" y="169"/>
                  <a:pt x="153" y="140"/>
                </a:cubicBezTo>
                <a:cubicBezTo>
                  <a:pt x="153" y="126"/>
                  <a:pt x="153" y="126"/>
                  <a:pt x="153" y="126"/>
                </a:cubicBezTo>
                <a:cubicBezTo>
                  <a:pt x="160" y="126"/>
                  <a:pt x="160" y="126"/>
                  <a:pt x="160" y="126"/>
                </a:cubicBezTo>
                <a:cubicBezTo>
                  <a:pt x="160" y="126"/>
                  <a:pt x="163" y="124"/>
                  <a:pt x="163" y="120"/>
                </a:cubicBezTo>
                <a:cubicBezTo>
                  <a:pt x="163" y="116"/>
                  <a:pt x="160" y="113"/>
                  <a:pt x="160" y="113"/>
                </a:cubicBezTo>
                <a:close/>
                <a:moveTo>
                  <a:pt x="81" y="172"/>
                </a:moveTo>
                <a:cubicBezTo>
                  <a:pt x="105" y="172"/>
                  <a:pt x="124" y="159"/>
                  <a:pt x="124" y="144"/>
                </a:cubicBezTo>
                <a:cubicBezTo>
                  <a:pt x="124" y="28"/>
                  <a:pt x="124" y="28"/>
                  <a:pt x="124" y="28"/>
                </a:cubicBezTo>
                <a:cubicBezTo>
                  <a:pt x="124" y="13"/>
                  <a:pt x="105" y="0"/>
                  <a:pt x="81" y="0"/>
                </a:cubicBezTo>
                <a:cubicBezTo>
                  <a:pt x="57" y="0"/>
                  <a:pt x="38" y="13"/>
                  <a:pt x="38" y="28"/>
                </a:cubicBezTo>
                <a:cubicBezTo>
                  <a:pt x="38" y="144"/>
                  <a:pt x="38" y="144"/>
                  <a:pt x="38" y="144"/>
                </a:cubicBezTo>
                <a:cubicBezTo>
                  <a:pt x="38" y="159"/>
                  <a:pt x="57" y="172"/>
                  <a:pt x="81" y="172"/>
                </a:cubicBezTo>
                <a:close/>
              </a:path>
            </a:pathLst>
          </a:custGeom>
          <a:solidFill>
            <a:schemeClr val="tx1">
              <a:lumMod val="65000"/>
              <a:lumOff val="35000"/>
            </a:schemeClr>
          </a:solid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32" name="Oval 6"/>
          <p:cNvSpPr>
            <a:spLocks noChangeArrowheads="1"/>
          </p:cNvSpPr>
          <p:nvPr/>
        </p:nvSpPr>
        <p:spPr bwMode="auto">
          <a:xfrm>
            <a:off x="7338662" y="1832177"/>
            <a:ext cx="762000" cy="777394"/>
          </a:xfrm>
          <a:prstGeom prst="ellipse">
            <a:avLst/>
          </a:prstGeom>
          <a:no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33" name="Freeform 228"/>
          <p:cNvSpPr/>
          <p:nvPr/>
        </p:nvSpPr>
        <p:spPr bwMode="auto">
          <a:xfrm>
            <a:off x="7554992" y="2039618"/>
            <a:ext cx="329340" cy="362511"/>
          </a:xfrm>
          <a:custGeom>
            <a:avLst/>
            <a:gdLst>
              <a:gd name="T0" fmla="*/ 102 w 204"/>
              <a:gd name="T1" fmla="*/ 42 h 224"/>
              <a:gd name="T2" fmla="*/ 150 w 204"/>
              <a:gd name="T3" fmla="*/ 1 h 224"/>
              <a:gd name="T4" fmla="*/ 188 w 204"/>
              <a:gd name="T5" fmla="*/ 20 h 224"/>
              <a:gd name="T6" fmla="*/ 204 w 204"/>
              <a:gd name="T7" fmla="*/ 58 h 224"/>
              <a:gd name="T8" fmla="*/ 188 w 204"/>
              <a:gd name="T9" fmla="*/ 117 h 224"/>
              <a:gd name="T10" fmla="*/ 150 w 204"/>
              <a:gd name="T11" fmla="*/ 173 h 224"/>
              <a:gd name="T12" fmla="*/ 101 w 204"/>
              <a:gd name="T13" fmla="*/ 224 h 224"/>
              <a:gd name="T14" fmla="*/ 55 w 204"/>
              <a:gd name="T15" fmla="*/ 175 h 224"/>
              <a:gd name="T16" fmla="*/ 16 w 204"/>
              <a:gd name="T17" fmla="*/ 119 h 224"/>
              <a:gd name="T18" fmla="*/ 0 w 204"/>
              <a:gd name="T19" fmla="*/ 63 h 224"/>
              <a:gd name="T20" fmla="*/ 15 w 204"/>
              <a:gd name="T21" fmla="*/ 21 h 224"/>
              <a:gd name="T22" fmla="*/ 53 w 204"/>
              <a:gd name="T23" fmla="*/ 0 h 224"/>
              <a:gd name="T24" fmla="*/ 102 w 204"/>
              <a:gd name="T25" fmla="*/ 4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4" h="224">
                <a:moveTo>
                  <a:pt x="102" y="42"/>
                </a:moveTo>
                <a:cubicBezTo>
                  <a:pt x="111" y="21"/>
                  <a:pt x="127" y="1"/>
                  <a:pt x="150" y="1"/>
                </a:cubicBezTo>
                <a:cubicBezTo>
                  <a:pt x="164" y="1"/>
                  <a:pt x="176" y="7"/>
                  <a:pt x="188" y="20"/>
                </a:cubicBezTo>
                <a:cubicBezTo>
                  <a:pt x="198" y="33"/>
                  <a:pt x="204" y="45"/>
                  <a:pt x="204" y="58"/>
                </a:cubicBezTo>
                <a:cubicBezTo>
                  <a:pt x="204" y="77"/>
                  <a:pt x="199" y="96"/>
                  <a:pt x="188" y="117"/>
                </a:cubicBezTo>
                <a:cubicBezTo>
                  <a:pt x="180" y="135"/>
                  <a:pt x="167" y="153"/>
                  <a:pt x="150" y="173"/>
                </a:cubicBezTo>
                <a:cubicBezTo>
                  <a:pt x="138" y="188"/>
                  <a:pt x="121" y="205"/>
                  <a:pt x="101" y="224"/>
                </a:cubicBezTo>
                <a:cubicBezTo>
                  <a:pt x="84" y="207"/>
                  <a:pt x="69" y="191"/>
                  <a:pt x="55" y="175"/>
                </a:cubicBezTo>
                <a:cubicBezTo>
                  <a:pt x="39" y="155"/>
                  <a:pt x="26" y="136"/>
                  <a:pt x="16" y="119"/>
                </a:cubicBezTo>
                <a:cubicBezTo>
                  <a:pt x="6" y="98"/>
                  <a:pt x="0" y="80"/>
                  <a:pt x="0" y="63"/>
                </a:cubicBezTo>
                <a:cubicBezTo>
                  <a:pt x="0" y="48"/>
                  <a:pt x="5" y="34"/>
                  <a:pt x="15" y="21"/>
                </a:cubicBezTo>
                <a:cubicBezTo>
                  <a:pt x="25" y="7"/>
                  <a:pt x="38" y="0"/>
                  <a:pt x="53" y="0"/>
                </a:cubicBezTo>
                <a:cubicBezTo>
                  <a:pt x="77" y="0"/>
                  <a:pt x="93" y="20"/>
                  <a:pt x="102" y="42"/>
                </a:cubicBezTo>
                <a:close/>
              </a:path>
            </a:pathLst>
          </a:custGeom>
          <a:solidFill>
            <a:schemeClr val="tx1">
              <a:lumMod val="65000"/>
              <a:lumOff val="35000"/>
            </a:schemeClr>
          </a:solid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34" name="Oval 6"/>
          <p:cNvSpPr>
            <a:spLocks noChangeArrowheads="1"/>
          </p:cNvSpPr>
          <p:nvPr/>
        </p:nvSpPr>
        <p:spPr bwMode="auto">
          <a:xfrm>
            <a:off x="2850945" y="4727777"/>
            <a:ext cx="762000" cy="777394"/>
          </a:xfrm>
          <a:prstGeom prst="ellipse">
            <a:avLst/>
          </a:prstGeom>
          <a:no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35" name="Freeform 46"/>
          <p:cNvSpPr>
            <a:spLocks noEditPoints="1"/>
          </p:cNvSpPr>
          <p:nvPr/>
        </p:nvSpPr>
        <p:spPr bwMode="auto">
          <a:xfrm>
            <a:off x="3028019" y="4943843"/>
            <a:ext cx="405134" cy="345262"/>
          </a:xfrm>
          <a:custGeom>
            <a:avLst/>
            <a:gdLst>
              <a:gd name="T0" fmla="*/ 0 w 298"/>
              <a:gd name="T1" fmla="*/ 70 h 253"/>
              <a:gd name="T2" fmla="*/ 29 w 298"/>
              <a:gd name="T3" fmla="*/ 106 h 253"/>
              <a:gd name="T4" fmla="*/ 149 w 298"/>
              <a:gd name="T5" fmla="*/ 64 h 253"/>
              <a:gd name="T6" fmla="*/ 269 w 298"/>
              <a:gd name="T7" fmla="*/ 106 h 253"/>
              <a:gd name="T8" fmla="*/ 298 w 298"/>
              <a:gd name="T9" fmla="*/ 70 h 253"/>
              <a:gd name="T10" fmla="*/ 0 w 298"/>
              <a:gd name="T11" fmla="*/ 70 h 253"/>
              <a:gd name="T12" fmla="*/ 111 w 298"/>
              <a:gd name="T13" fmla="*/ 206 h 253"/>
              <a:gd name="T14" fmla="*/ 149 w 298"/>
              <a:gd name="T15" fmla="*/ 253 h 253"/>
              <a:gd name="T16" fmla="*/ 187 w 298"/>
              <a:gd name="T17" fmla="*/ 206 h 253"/>
              <a:gd name="T18" fmla="*/ 149 w 298"/>
              <a:gd name="T19" fmla="*/ 191 h 253"/>
              <a:gd name="T20" fmla="*/ 111 w 298"/>
              <a:gd name="T21" fmla="*/ 206 h 253"/>
              <a:gd name="T22" fmla="*/ 72 w 298"/>
              <a:gd name="T23" fmla="*/ 160 h 253"/>
              <a:gd name="T24" fmla="*/ 104 w 298"/>
              <a:gd name="T25" fmla="*/ 197 h 253"/>
              <a:gd name="T26" fmla="*/ 149 w 298"/>
              <a:gd name="T27" fmla="*/ 180 h 253"/>
              <a:gd name="T28" fmla="*/ 194 w 298"/>
              <a:gd name="T29" fmla="*/ 197 h 253"/>
              <a:gd name="T30" fmla="*/ 226 w 298"/>
              <a:gd name="T31" fmla="*/ 160 h 253"/>
              <a:gd name="T32" fmla="*/ 149 w 298"/>
              <a:gd name="T33" fmla="*/ 132 h 253"/>
              <a:gd name="T34" fmla="*/ 72 w 298"/>
              <a:gd name="T35" fmla="*/ 160 h 253"/>
              <a:gd name="T36" fmla="*/ 36 w 298"/>
              <a:gd name="T37" fmla="*/ 115 h 253"/>
              <a:gd name="T38" fmla="*/ 65 w 298"/>
              <a:gd name="T39" fmla="*/ 151 h 253"/>
              <a:gd name="T40" fmla="*/ 149 w 298"/>
              <a:gd name="T41" fmla="*/ 121 h 253"/>
              <a:gd name="T42" fmla="*/ 233 w 298"/>
              <a:gd name="T43" fmla="*/ 151 h 253"/>
              <a:gd name="T44" fmla="*/ 262 w 298"/>
              <a:gd name="T45" fmla="*/ 115 h 253"/>
              <a:gd name="T46" fmla="*/ 149 w 298"/>
              <a:gd name="T47" fmla="*/ 75 h 253"/>
              <a:gd name="T48" fmla="*/ 36 w 298"/>
              <a:gd name="T49" fmla="*/ 115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8" h="253">
                <a:moveTo>
                  <a:pt x="0" y="70"/>
                </a:moveTo>
                <a:cubicBezTo>
                  <a:pt x="29" y="106"/>
                  <a:pt x="29" y="106"/>
                  <a:pt x="29" y="106"/>
                </a:cubicBezTo>
                <a:cubicBezTo>
                  <a:pt x="62" y="80"/>
                  <a:pt x="103" y="64"/>
                  <a:pt x="149" y="64"/>
                </a:cubicBezTo>
                <a:cubicBezTo>
                  <a:pt x="194" y="64"/>
                  <a:pt x="236" y="80"/>
                  <a:pt x="269" y="106"/>
                </a:cubicBezTo>
                <a:cubicBezTo>
                  <a:pt x="298" y="70"/>
                  <a:pt x="298" y="70"/>
                  <a:pt x="298" y="70"/>
                </a:cubicBezTo>
                <a:cubicBezTo>
                  <a:pt x="212" y="0"/>
                  <a:pt x="86" y="0"/>
                  <a:pt x="0" y="70"/>
                </a:cubicBezTo>
                <a:close/>
                <a:moveTo>
                  <a:pt x="111" y="206"/>
                </a:moveTo>
                <a:cubicBezTo>
                  <a:pt x="149" y="253"/>
                  <a:pt x="149" y="253"/>
                  <a:pt x="149" y="253"/>
                </a:cubicBezTo>
                <a:cubicBezTo>
                  <a:pt x="187" y="206"/>
                  <a:pt x="187" y="206"/>
                  <a:pt x="187" y="206"/>
                </a:cubicBezTo>
                <a:cubicBezTo>
                  <a:pt x="177" y="197"/>
                  <a:pt x="164" y="191"/>
                  <a:pt x="149" y="191"/>
                </a:cubicBezTo>
                <a:cubicBezTo>
                  <a:pt x="134" y="191"/>
                  <a:pt x="121" y="197"/>
                  <a:pt x="111" y="206"/>
                </a:cubicBezTo>
                <a:close/>
                <a:moveTo>
                  <a:pt x="72" y="160"/>
                </a:moveTo>
                <a:cubicBezTo>
                  <a:pt x="104" y="197"/>
                  <a:pt x="104" y="197"/>
                  <a:pt x="104" y="197"/>
                </a:cubicBezTo>
                <a:cubicBezTo>
                  <a:pt x="116" y="187"/>
                  <a:pt x="132" y="180"/>
                  <a:pt x="149" y="180"/>
                </a:cubicBezTo>
                <a:cubicBezTo>
                  <a:pt x="166" y="180"/>
                  <a:pt x="182" y="187"/>
                  <a:pt x="194" y="197"/>
                </a:cubicBezTo>
                <a:cubicBezTo>
                  <a:pt x="226" y="160"/>
                  <a:pt x="226" y="160"/>
                  <a:pt x="226" y="160"/>
                </a:cubicBezTo>
                <a:cubicBezTo>
                  <a:pt x="205" y="143"/>
                  <a:pt x="178" y="132"/>
                  <a:pt x="149" y="132"/>
                </a:cubicBezTo>
                <a:cubicBezTo>
                  <a:pt x="120" y="132"/>
                  <a:pt x="93" y="143"/>
                  <a:pt x="72" y="160"/>
                </a:cubicBezTo>
                <a:close/>
                <a:moveTo>
                  <a:pt x="36" y="115"/>
                </a:moveTo>
                <a:cubicBezTo>
                  <a:pt x="65" y="151"/>
                  <a:pt x="65" y="151"/>
                  <a:pt x="65" y="151"/>
                </a:cubicBezTo>
                <a:cubicBezTo>
                  <a:pt x="88" y="132"/>
                  <a:pt x="117" y="121"/>
                  <a:pt x="149" y="121"/>
                </a:cubicBezTo>
                <a:cubicBezTo>
                  <a:pt x="181" y="121"/>
                  <a:pt x="210" y="132"/>
                  <a:pt x="233" y="151"/>
                </a:cubicBezTo>
                <a:cubicBezTo>
                  <a:pt x="262" y="115"/>
                  <a:pt x="262" y="115"/>
                  <a:pt x="262" y="115"/>
                </a:cubicBezTo>
                <a:cubicBezTo>
                  <a:pt x="231" y="90"/>
                  <a:pt x="192" y="75"/>
                  <a:pt x="149" y="75"/>
                </a:cubicBezTo>
                <a:cubicBezTo>
                  <a:pt x="106" y="75"/>
                  <a:pt x="67" y="90"/>
                  <a:pt x="36" y="115"/>
                </a:cubicBezTo>
                <a:close/>
              </a:path>
            </a:pathLst>
          </a:custGeom>
          <a:solidFill>
            <a:schemeClr val="tx1">
              <a:lumMod val="65000"/>
              <a:lumOff val="35000"/>
            </a:schemeClr>
          </a:solid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36" name="Oval 6"/>
          <p:cNvSpPr>
            <a:spLocks noChangeArrowheads="1"/>
          </p:cNvSpPr>
          <p:nvPr/>
        </p:nvSpPr>
        <p:spPr bwMode="auto">
          <a:xfrm>
            <a:off x="4705145" y="4727777"/>
            <a:ext cx="762000" cy="777394"/>
          </a:xfrm>
          <a:prstGeom prst="ellipse">
            <a:avLst/>
          </a:prstGeom>
          <a:no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37" name="Freeform 85"/>
          <p:cNvSpPr/>
          <p:nvPr/>
        </p:nvSpPr>
        <p:spPr bwMode="auto">
          <a:xfrm>
            <a:off x="4959658" y="4928602"/>
            <a:ext cx="360503" cy="360503"/>
          </a:xfrm>
          <a:custGeom>
            <a:avLst/>
            <a:gdLst>
              <a:gd name="T0" fmla="*/ 71 w 253"/>
              <a:gd name="T1" fmla="*/ 171 h 253"/>
              <a:gd name="T2" fmla="*/ 38 w 253"/>
              <a:gd name="T3" fmla="*/ 99 h 253"/>
              <a:gd name="T4" fmla="*/ 47 w 253"/>
              <a:gd name="T5" fmla="*/ 90 h 253"/>
              <a:gd name="T6" fmla="*/ 99 w 253"/>
              <a:gd name="T7" fmla="*/ 107 h 253"/>
              <a:gd name="T8" fmla="*/ 152 w 253"/>
              <a:gd name="T9" fmla="*/ 54 h 253"/>
              <a:gd name="T10" fmla="*/ 137 w 253"/>
              <a:gd name="T11" fmla="*/ 18 h 253"/>
              <a:gd name="T12" fmla="*/ 148 w 253"/>
              <a:gd name="T13" fmla="*/ 7 h 253"/>
              <a:gd name="T14" fmla="*/ 210 w 253"/>
              <a:gd name="T15" fmla="*/ 43 h 253"/>
              <a:gd name="T16" fmla="*/ 246 w 253"/>
              <a:gd name="T17" fmla="*/ 105 h 253"/>
              <a:gd name="T18" fmla="*/ 235 w 253"/>
              <a:gd name="T19" fmla="*/ 116 h 253"/>
              <a:gd name="T20" fmla="*/ 199 w 253"/>
              <a:gd name="T21" fmla="*/ 101 h 253"/>
              <a:gd name="T22" fmla="*/ 146 w 253"/>
              <a:gd name="T23" fmla="*/ 154 h 253"/>
              <a:gd name="T24" fmla="*/ 163 w 253"/>
              <a:gd name="T25" fmla="*/ 206 h 253"/>
              <a:gd name="T26" fmla="*/ 154 w 253"/>
              <a:gd name="T27" fmla="*/ 215 h 253"/>
              <a:gd name="T28" fmla="*/ 82 w 253"/>
              <a:gd name="T29" fmla="*/ 182 h 253"/>
              <a:gd name="T30" fmla="*/ 52 w 253"/>
              <a:gd name="T31" fmla="*/ 212 h 253"/>
              <a:gd name="T32" fmla="*/ 4 w 253"/>
              <a:gd name="T33" fmla="*/ 253 h 253"/>
              <a:gd name="T34" fmla="*/ 0 w 253"/>
              <a:gd name="T35" fmla="*/ 249 h 253"/>
              <a:gd name="T36" fmla="*/ 41 w 253"/>
              <a:gd name="T37" fmla="*/ 201 h 253"/>
              <a:gd name="T38" fmla="*/ 71 w 253"/>
              <a:gd name="T39" fmla="*/ 171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3" h="253">
                <a:moveTo>
                  <a:pt x="71" y="171"/>
                </a:moveTo>
                <a:cubicBezTo>
                  <a:pt x="43" y="140"/>
                  <a:pt x="28" y="109"/>
                  <a:pt x="38" y="99"/>
                </a:cubicBezTo>
                <a:cubicBezTo>
                  <a:pt x="47" y="90"/>
                  <a:pt x="47" y="90"/>
                  <a:pt x="47" y="90"/>
                </a:cubicBezTo>
                <a:cubicBezTo>
                  <a:pt x="55" y="82"/>
                  <a:pt x="76" y="90"/>
                  <a:pt x="99" y="107"/>
                </a:cubicBezTo>
                <a:cubicBezTo>
                  <a:pt x="152" y="54"/>
                  <a:pt x="152" y="54"/>
                  <a:pt x="152" y="54"/>
                </a:cubicBezTo>
                <a:cubicBezTo>
                  <a:pt x="138" y="37"/>
                  <a:pt x="132" y="22"/>
                  <a:pt x="137" y="18"/>
                </a:cubicBezTo>
                <a:cubicBezTo>
                  <a:pt x="148" y="7"/>
                  <a:pt x="148" y="7"/>
                  <a:pt x="148" y="7"/>
                </a:cubicBezTo>
                <a:cubicBezTo>
                  <a:pt x="155" y="0"/>
                  <a:pt x="182" y="16"/>
                  <a:pt x="210" y="43"/>
                </a:cubicBezTo>
                <a:cubicBezTo>
                  <a:pt x="237" y="71"/>
                  <a:pt x="253" y="98"/>
                  <a:pt x="246" y="105"/>
                </a:cubicBezTo>
                <a:cubicBezTo>
                  <a:pt x="235" y="116"/>
                  <a:pt x="235" y="116"/>
                  <a:pt x="235" y="116"/>
                </a:cubicBezTo>
                <a:cubicBezTo>
                  <a:pt x="231" y="121"/>
                  <a:pt x="216" y="115"/>
                  <a:pt x="199" y="101"/>
                </a:cubicBezTo>
                <a:cubicBezTo>
                  <a:pt x="146" y="154"/>
                  <a:pt x="146" y="154"/>
                  <a:pt x="146" y="154"/>
                </a:cubicBezTo>
                <a:cubicBezTo>
                  <a:pt x="163" y="177"/>
                  <a:pt x="171" y="198"/>
                  <a:pt x="163" y="206"/>
                </a:cubicBezTo>
                <a:cubicBezTo>
                  <a:pt x="154" y="215"/>
                  <a:pt x="154" y="215"/>
                  <a:pt x="154" y="215"/>
                </a:cubicBezTo>
                <a:cubicBezTo>
                  <a:pt x="144" y="225"/>
                  <a:pt x="113" y="210"/>
                  <a:pt x="82" y="182"/>
                </a:cubicBezTo>
                <a:cubicBezTo>
                  <a:pt x="52" y="212"/>
                  <a:pt x="52" y="212"/>
                  <a:pt x="52" y="212"/>
                </a:cubicBezTo>
                <a:cubicBezTo>
                  <a:pt x="4" y="253"/>
                  <a:pt x="4" y="253"/>
                  <a:pt x="4" y="253"/>
                </a:cubicBezTo>
                <a:cubicBezTo>
                  <a:pt x="0" y="249"/>
                  <a:pt x="0" y="249"/>
                  <a:pt x="0" y="249"/>
                </a:cubicBezTo>
                <a:cubicBezTo>
                  <a:pt x="41" y="201"/>
                  <a:pt x="41" y="201"/>
                  <a:pt x="41" y="201"/>
                </a:cubicBezTo>
                <a:lnTo>
                  <a:pt x="71" y="171"/>
                </a:lnTo>
                <a:close/>
              </a:path>
            </a:pathLst>
          </a:custGeom>
          <a:solidFill>
            <a:schemeClr val="tx1">
              <a:lumMod val="65000"/>
              <a:lumOff val="35000"/>
            </a:schemeClr>
          </a:solid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38" name="Oval 6"/>
          <p:cNvSpPr>
            <a:spLocks noChangeArrowheads="1"/>
          </p:cNvSpPr>
          <p:nvPr/>
        </p:nvSpPr>
        <p:spPr bwMode="auto">
          <a:xfrm>
            <a:off x="6559345" y="4727777"/>
            <a:ext cx="762000" cy="777394"/>
          </a:xfrm>
          <a:prstGeom prst="ellipse">
            <a:avLst/>
          </a:prstGeom>
          <a:no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39" name="Freeform 82"/>
          <p:cNvSpPr>
            <a:spLocks noEditPoints="1"/>
          </p:cNvSpPr>
          <p:nvPr/>
        </p:nvSpPr>
        <p:spPr bwMode="auto">
          <a:xfrm>
            <a:off x="6783749" y="4943843"/>
            <a:ext cx="356883" cy="356883"/>
          </a:xfrm>
          <a:custGeom>
            <a:avLst/>
            <a:gdLst>
              <a:gd name="T0" fmla="*/ 254 w 258"/>
              <a:gd name="T1" fmla="*/ 196 h 258"/>
              <a:gd name="T2" fmla="*/ 253 w 258"/>
              <a:gd name="T3" fmla="*/ 195 h 258"/>
              <a:gd name="T4" fmla="*/ 253 w 258"/>
              <a:gd name="T5" fmla="*/ 195 h 258"/>
              <a:gd name="T6" fmla="*/ 199 w 258"/>
              <a:gd name="T7" fmla="*/ 156 h 258"/>
              <a:gd name="T8" fmla="*/ 198 w 258"/>
              <a:gd name="T9" fmla="*/ 156 h 258"/>
              <a:gd name="T10" fmla="*/ 186 w 258"/>
              <a:gd name="T11" fmla="*/ 157 h 258"/>
              <a:gd name="T12" fmla="*/ 185 w 258"/>
              <a:gd name="T13" fmla="*/ 158 h 258"/>
              <a:gd name="T14" fmla="*/ 185 w 258"/>
              <a:gd name="T15" fmla="*/ 158 h 258"/>
              <a:gd name="T16" fmla="*/ 178 w 258"/>
              <a:gd name="T17" fmla="*/ 169 h 258"/>
              <a:gd name="T18" fmla="*/ 165 w 258"/>
              <a:gd name="T19" fmla="*/ 197 h 258"/>
              <a:gd name="T20" fmla="*/ 102 w 258"/>
              <a:gd name="T21" fmla="*/ 156 h 258"/>
              <a:gd name="T22" fmla="*/ 61 w 258"/>
              <a:gd name="T23" fmla="*/ 93 h 258"/>
              <a:gd name="T24" fmla="*/ 89 w 258"/>
              <a:gd name="T25" fmla="*/ 80 h 258"/>
              <a:gd name="T26" fmla="*/ 100 w 258"/>
              <a:gd name="T27" fmla="*/ 73 h 258"/>
              <a:gd name="T28" fmla="*/ 100 w 258"/>
              <a:gd name="T29" fmla="*/ 73 h 258"/>
              <a:gd name="T30" fmla="*/ 100 w 258"/>
              <a:gd name="T31" fmla="*/ 72 h 258"/>
              <a:gd name="T32" fmla="*/ 101 w 258"/>
              <a:gd name="T33" fmla="*/ 72 h 258"/>
              <a:gd name="T34" fmla="*/ 102 w 258"/>
              <a:gd name="T35" fmla="*/ 60 h 258"/>
              <a:gd name="T36" fmla="*/ 102 w 258"/>
              <a:gd name="T37" fmla="*/ 59 h 258"/>
              <a:gd name="T38" fmla="*/ 63 w 258"/>
              <a:gd name="T39" fmla="*/ 5 h 258"/>
              <a:gd name="T40" fmla="*/ 63 w 258"/>
              <a:gd name="T41" fmla="*/ 5 h 258"/>
              <a:gd name="T42" fmla="*/ 62 w 258"/>
              <a:gd name="T43" fmla="*/ 4 h 258"/>
              <a:gd name="T44" fmla="*/ 50 w 258"/>
              <a:gd name="T45" fmla="*/ 3 h 258"/>
              <a:gd name="T46" fmla="*/ 3 w 258"/>
              <a:gd name="T47" fmla="*/ 64 h 258"/>
              <a:gd name="T48" fmla="*/ 75 w 258"/>
              <a:gd name="T49" fmla="*/ 183 h 258"/>
              <a:gd name="T50" fmla="*/ 194 w 258"/>
              <a:gd name="T51" fmla="*/ 255 h 258"/>
              <a:gd name="T52" fmla="*/ 255 w 258"/>
              <a:gd name="T53" fmla="*/ 208 h 258"/>
              <a:gd name="T54" fmla="*/ 254 w 258"/>
              <a:gd name="T55" fmla="*/ 196 h 258"/>
              <a:gd name="T56" fmla="*/ 231 w 258"/>
              <a:gd name="T57" fmla="*/ 120 h 258"/>
              <a:gd name="T58" fmla="*/ 244 w 258"/>
              <a:gd name="T59" fmla="*/ 117 h 258"/>
              <a:gd name="T60" fmla="*/ 203 w 258"/>
              <a:gd name="T61" fmla="*/ 55 h 258"/>
              <a:gd name="T62" fmla="*/ 141 w 258"/>
              <a:gd name="T63" fmla="*/ 14 h 258"/>
              <a:gd name="T64" fmla="*/ 138 w 258"/>
              <a:gd name="T65" fmla="*/ 27 h 258"/>
              <a:gd name="T66" fmla="*/ 194 w 258"/>
              <a:gd name="T67" fmla="*/ 64 h 258"/>
              <a:gd name="T68" fmla="*/ 231 w 258"/>
              <a:gd name="T69" fmla="*/ 120 h 258"/>
              <a:gd name="T70" fmla="*/ 149 w 258"/>
              <a:gd name="T71" fmla="*/ 52 h 258"/>
              <a:gd name="T72" fmla="*/ 144 w 258"/>
              <a:gd name="T73" fmla="*/ 65 h 258"/>
              <a:gd name="T74" fmla="*/ 175 w 258"/>
              <a:gd name="T75" fmla="*/ 84 h 258"/>
              <a:gd name="T76" fmla="*/ 194 w 258"/>
              <a:gd name="T77" fmla="*/ 115 h 258"/>
              <a:gd name="T78" fmla="*/ 205 w 258"/>
              <a:gd name="T79" fmla="*/ 110 h 258"/>
              <a:gd name="T80" fmla="*/ 183 w 258"/>
              <a:gd name="T81" fmla="*/ 75 h 258"/>
              <a:gd name="T82" fmla="*/ 149 w 258"/>
              <a:gd name="T83" fmla="*/ 52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8" h="258">
                <a:moveTo>
                  <a:pt x="254" y="196"/>
                </a:moveTo>
                <a:cubicBezTo>
                  <a:pt x="254" y="195"/>
                  <a:pt x="253" y="195"/>
                  <a:pt x="253" y="195"/>
                </a:cubicBezTo>
                <a:cubicBezTo>
                  <a:pt x="253" y="195"/>
                  <a:pt x="253" y="195"/>
                  <a:pt x="253" y="195"/>
                </a:cubicBezTo>
                <a:cubicBezTo>
                  <a:pt x="199" y="156"/>
                  <a:pt x="199" y="156"/>
                  <a:pt x="199" y="156"/>
                </a:cubicBezTo>
                <a:cubicBezTo>
                  <a:pt x="198" y="156"/>
                  <a:pt x="198" y="156"/>
                  <a:pt x="198" y="156"/>
                </a:cubicBezTo>
                <a:cubicBezTo>
                  <a:pt x="195" y="153"/>
                  <a:pt x="190" y="153"/>
                  <a:pt x="186" y="157"/>
                </a:cubicBezTo>
                <a:cubicBezTo>
                  <a:pt x="186" y="157"/>
                  <a:pt x="186" y="157"/>
                  <a:pt x="185" y="158"/>
                </a:cubicBezTo>
                <a:cubicBezTo>
                  <a:pt x="185" y="158"/>
                  <a:pt x="185" y="158"/>
                  <a:pt x="185" y="158"/>
                </a:cubicBezTo>
                <a:cubicBezTo>
                  <a:pt x="181" y="164"/>
                  <a:pt x="181" y="164"/>
                  <a:pt x="178" y="169"/>
                </a:cubicBezTo>
                <a:cubicBezTo>
                  <a:pt x="174" y="175"/>
                  <a:pt x="169" y="185"/>
                  <a:pt x="165" y="197"/>
                </a:cubicBezTo>
                <a:cubicBezTo>
                  <a:pt x="149" y="195"/>
                  <a:pt x="127" y="181"/>
                  <a:pt x="102" y="156"/>
                </a:cubicBezTo>
                <a:cubicBezTo>
                  <a:pt x="77" y="131"/>
                  <a:pt x="63" y="109"/>
                  <a:pt x="61" y="93"/>
                </a:cubicBezTo>
                <a:cubicBezTo>
                  <a:pt x="73" y="89"/>
                  <a:pt x="83" y="84"/>
                  <a:pt x="89" y="80"/>
                </a:cubicBezTo>
                <a:cubicBezTo>
                  <a:pt x="94" y="77"/>
                  <a:pt x="94" y="77"/>
                  <a:pt x="100" y="73"/>
                </a:cubicBezTo>
                <a:cubicBezTo>
                  <a:pt x="100" y="73"/>
                  <a:pt x="100" y="73"/>
                  <a:pt x="100" y="73"/>
                </a:cubicBezTo>
                <a:cubicBezTo>
                  <a:pt x="100" y="72"/>
                  <a:pt x="100" y="72"/>
                  <a:pt x="100" y="72"/>
                </a:cubicBezTo>
                <a:cubicBezTo>
                  <a:pt x="101" y="72"/>
                  <a:pt x="101" y="72"/>
                  <a:pt x="101" y="72"/>
                </a:cubicBezTo>
                <a:cubicBezTo>
                  <a:pt x="105" y="68"/>
                  <a:pt x="105" y="63"/>
                  <a:pt x="102" y="60"/>
                </a:cubicBezTo>
                <a:cubicBezTo>
                  <a:pt x="102" y="59"/>
                  <a:pt x="102" y="59"/>
                  <a:pt x="102" y="59"/>
                </a:cubicBezTo>
                <a:cubicBezTo>
                  <a:pt x="63" y="5"/>
                  <a:pt x="63" y="5"/>
                  <a:pt x="63" y="5"/>
                </a:cubicBezTo>
                <a:cubicBezTo>
                  <a:pt x="63" y="5"/>
                  <a:pt x="63" y="5"/>
                  <a:pt x="63" y="5"/>
                </a:cubicBezTo>
                <a:cubicBezTo>
                  <a:pt x="63" y="4"/>
                  <a:pt x="63" y="4"/>
                  <a:pt x="62" y="4"/>
                </a:cubicBezTo>
                <a:cubicBezTo>
                  <a:pt x="59" y="0"/>
                  <a:pt x="54" y="0"/>
                  <a:pt x="50" y="3"/>
                </a:cubicBezTo>
                <a:cubicBezTo>
                  <a:pt x="24" y="21"/>
                  <a:pt x="0" y="40"/>
                  <a:pt x="3" y="64"/>
                </a:cubicBezTo>
                <a:cubicBezTo>
                  <a:pt x="7" y="89"/>
                  <a:pt x="37" y="144"/>
                  <a:pt x="75" y="183"/>
                </a:cubicBezTo>
                <a:cubicBezTo>
                  <a:pt x="114" y="221"/>
                  <a:pt x="169" y="251"/>
                  <a:pt x="194" y="255"/>
                </a:cubicBezTo>
                <a:cubicBezTo>
                  <a:pt x="218" y="258"/>
                  <a:pt x="237" y="234"/>
                  <a:pt x="255" y="208"/>
                </a:cubicBezTo>
                <a:cubicBezTo>
                  <a:pt x="258" y="204"/>
                  <a:pt x="258" y="199"/>
                  <a:pt x="254" y="196"/>
                </a:cubicBezTo>
                <a:close/>
                <a:moveTo>
                  <a:pt x="231" y="120"/>
                </a:moveTo>
                <a:cubicBezTo>
                  <a:pt x="244" y="117"/>
                  <a:pt x="244" y="117"/>
                  <a:pt x="244" y="117"/>
                </a:cubicBezTo>
                <a:cubicBezTo>
                  <a:pt x="234" y="94"/>
                  <a:pt x="220" y="73"/>
                  <a:pt x="203" y="55"/>
                </a:cubicBezTo>
                <a:cubicBezTo>
                  <a:pt x="185" y="38"/>
                  <a:pt x="164" y="24"/>
                  <a:pt x="141" y="14"/>
                </a:cubicBezTo>
                <a:cubicBezTo>
                  <a:pt x="138" y="27"/>
                  <a:pt x="138" y="27"/>
                  <a:pt x="138" y="27"/>
                </a:cubicBezTo>
                <a:cubicBezTo>
                  <a:pt x="159" y="35"/>
                  <a:pt x="178" y="48"/>
                  <a:pt x="194" y="64"/>
                </a:cubicBezTo>
                <a:cubicBezTo>
                  <a:pt x="210" y="80"/>
                  <a:pt x="223" y="99"/>
                  <a:pt x="231" y="120"/>
                </a:cubicBezTo>
                <a:close/>
                <a:moveTo>
                  <a:pt x="149" y="52"/>
                </a:moveTo>
                <a:cubicBezTo>
                  <a:pt x="144" y="65"/>
                  <a:pt x="144" y="65"/>
                  <a:pt x="144" y="65"/>
                </a:cubicBezTo>
                <a:cubicBezTo>
                  <a:pt x="155" y="70"/>
                  <a:pt x="166" y="76"/>
                  <a:pt x="175" y="84"/>
                </a:cubicBezTo>
                <a:cubicBezTo>
                  <a:pt x="183" y="93"/>
                  <a:pt x="190" y="104"/>
                  <a:pt x="194" y="115"/>
                </a:cubicBezTo>
                <a:cubicBezTo>
                  <a:pt x="205" y="110"/>
                  <a:pt x="205" y="110"/>
                  <a:pt x="205" y="110"/>
                </a:cubicBezTo>
                <a:cubicBezTo>
                  <a:pt x="200" y="97"/>
                  <a:pt x="193" y="85"/>
                  <a:pt x="183" y="75"/>
                </a:cubicBezTo>
                <a:cubicBezTo>
                  <a:pt x="174" y="65"/>
                  <a:pt x="162" y="58"/>
                  <a:pt x="149" y="52"/>
                </a:cubicBezTo>
                <a:close/>
              </a:path>
            </a:pathLst>
          </a:custGeom>
          <a:solidFill>
            <a:schemeClr val="tx1">
              <a:lumMod val="65000"/>
              <a:lumOff val="35000"/>
            </a:schemeClr>
          </a:solid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40" name="Oval 6"/>
          <p:cNvSpPr>
            <a:spLocks noChangeArrowheads="1"/>
          </p:cNvSpPr>
          <p:nvPr/>
        </p:nvSpPr>
        <p:spPr bwMode="auto">
          <a:xfrm>
            <a:off x="8413545" y="4727777"/>
            <a:ext cx="762000" cy="777394"/>
          </a:xfrm>
          <a:prstGeom prst="ellipse">
            <a:avLst/>
          </a:prstGeom>
          <a:no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41" name="Freeform 80"/>
          <p:cNvSpPr>
            <a:spLocks noEditPoints="1"/>
          </p:cNvSpPr>
          <p:nvPr/>
        </p:nvSpPr>
        <p:spPr bwMode="auto">
          <a:xfrm>
            <a:off x="8635795" y="4928602"/>
            <a:ext cx="317500" cy="353226"/>
          </a:xfrm>
          <a:custGeom>
            <a:avLst/>
            <a:gdLst>
              <a:gd name="T0" fmla="*/ 177 w 294"/>
              <a:gd name="T1" fmla="*/ 136 h 294"/>
              <a:gd name="T2" fmla="*/ 187 w 294"/>
              <a:gd name="T3" fmla="*/ 93 h 294"/>
              <a:gd name="T4" fmla="*/ 93 w 294"/>
              <a:gd name="T5" fmla="*/ 0 h 294"/>
              <a:gd name="T6" fmla="*/ 0 w 294"/>
              <a:gd name="T7" fmla="*/ 93 h 294"/>
              <a:gd name="T8" fmla="*/ 93 w 294"/>
              <a:gd name="T9" fmla="*/ 187 h 294"/>
              <a:gd name="T10" fmla="*/ 136 w 294"/>
              <a:gd name="T11" fmla="*/ 177 h 294"/>
              <a:gd name="T12" fmla="*/ 187 w 294"/>
              <a:gd name="T13" fmla="*/ 227 h 294"/>
              <a:gd name="T14" fmla="*/ 214 w 294"/>
              <a:gd name="T15" fmla="*/ 227 h 294"/>
              <a:gd name="T16" fmla="*/ 214 w 294"/>
              <a:gd name="T17" fmla="*/ 254 h 294"/>
              <a:gd name="T18" fmla="*/ 241 w 294"/>
              <a:gd name="T19" fmla="*/ 254 h 294"/>
              <a:gd name="T20" fmla="*/ 241 w 294"/>
              <a:gd name="T21" fmla="*/ 281 h 294"/>
              <a:gd name="T22" fmla="*/ 254 w 294"/>
              <a:gd name="T23" fmla="*/ 294 h 294"/>
              <a:gd name="T24" fmla="*/ 294 w 294"/>
              <a:gd name="T25" fmla="*/ 294 h 294"/>
              <a:gd name="T26" fmla="*/ 294 w 294"/>
              <a:gd name="T27" fmla="*/ 254 h 294"/>
              <a:gd name="T28" fmla="*/ 177 w 294"/>
              <a:gd name="T29" fmla="*/ 136 h 294"/>
              <a:gd name="T30" fmla="*/ 67 w 294"/>
              <a:gd name="T31" fmla="*/ 93 h 294"/>
              <a:gd name="T32" fmla="*/ 40 w 294"/>
              <a:gd name="T33" fmla="*/ 67 h 294"/>
              <a:gd name="T34" fmla="*/ 67 w 294"/>
              <a:gd name="T35" fmla="*/ 40 h 294"/>
              <a:gd name="T36" fmla="*/ 93 w 294"/>
              <a:gd name="T37" fmla="*/ 67 h 294"/>
              <a:gd name="T38" fmla="*/ 67 w 294"/>
              <a:gd name="T39" fmla="*/ 93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4" h="294">
                <a:moveTo>
                  <a:pt x="177" y="136"/>
                </a:moveTo>
                <a:cubicBezTo>
                  <a:pt x="183" y="124"/>
                  <a:pt x="187" y="109"/>
                  <a:pt x="187" y="93"/>
                </a:cubicBezTo>
                <a:cubicBezTo>
                  <a:pt x="187" y="42"/>
                  <a:pt x="145" y="0"/>
                  <a:pt x="93" y="0"/>
                </a:cubicBezTo>
                <a:cubicBezTo>
                  <a:pt x="42" y="0"/>
                  <a:pt x="0" y="42"/>
                  <a:pt x="0" y="93"/>
                </a:cubicBezTo>
                <a:cubicBezTo>
                  <a:pt x="0" y="145"/>
                  <a:pt x="42" y="187"/>
                  <a:pt x="93" y="187"/>
                </a:cubicBezTo>
                <a:cubicBezTo>
                  <a:pt x="109" y="187"/>
                  <a:pt x="124" y="183"/>
                  <a:pt x="136" y="177"/>
                </a:cubicBezTo>
                <a:cubicBezTo>
                  <a:pt x="187" y="227"/>
                  <a:pt x="187" y="227"/>
                  <a:pt x="187" y="227"/>
                </a:cubicBezTo>
                <a:cubicBezTo>
                  <a:pt x="214" y="227"/>
                  <a:pt x="214" y="227"/>
                  <a:pt x="214" y="227"/>
                </a:cubicBezTo>
                <a:cubicBezTo>
                  <a:pt x="214" y="227"/>
                  <a:pt x="214" y="254"/>
                  <a:pt x="214" y="254"/>
                </a:cubicBezTo>
                <a:cubicBezTo>
                  <a:pt x="241" y="254"/>
                  <a:pt x="241" y="254"/>
                  <a:pt x="241" y="254"/>
                </a:cubicBezTo>
                <a:cubicBezTo>
                  <a:pt x="241" y="281"/>
                  <a:pt x="241" y="281"/>
                  <a:pt x="241" y="281"/>
                </a:cubicBezTo>
                <a:cubicBezTo>
                  <a:pt x="254" y="294"/>
                  <a:pt x="254" y="294"/>
                  <a:pt x="254" y="294"/>
                </a:cubicBezTo>
                <a:cubicBezTo>
                  <a:pt x="294" y="294"/>
                  <a:pt x="294" y="294"/>
                  <a:pt x="294" y="294"/>
                </a:cubicBezTo>
                <a:cubicBezTo>
                  <a:pt x="294" y="254"/>
                  <a:pt x="294" y="254"/>
                  <a:pt x="294" y="254"/>
                </a:cubicBezTo>
                <a:lnTo>
                  <a:pt x="177" y="136"/>
                </a:lnTo>
                <a:close/>
                <a:moveTo>
                  <a:pt x="67" y="93"/>
                </a:moveTo>
                <a:cubicBezTo>
                  <a:pt x="52" y="93"/>
                  <a:pt x="40" y="81"/>
                  <a:pt x="40" y="67"/>
                </a:cubicBezTo>
                <a:cubicBezTo>
                  <a:pt x="40" y="52"/>
                  <a:pt x="52" y="40"/>
                  <a:pt x="67" y="40"/>
                </a:cubicBezTo>
                <a:cubicBezTo>
                  <a:pt x="81" y="40"/>
                  <a:pt x="93" y="52"/>
                  <a:pt x="93" y="67"/>
                </a:cubicBezTo>
                <a:cubicBezTo>
                  <a:pt x="93" y="81"/>
                  <a:pt x="81" y="93"/>
                  <a:pt x="67" y="93"/>
                </a:cubicBezTo>
                <a:close/>
              </a:path>
            </a:pathLst>
          </a:custGeom>
          <a:solidFill>
            <a:schemeClr val="tx1">
              <a:lumMod val="65000"/>
              <a:lumOff val="35000"/>
            </a:schemeClr>
          </a:solid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42" name="Oval 6"/>
          <p:cNvSpPr>
            <a:spLocks noChangeArrowheads="1"/>
          </p:cNvSpPr>
          <p:nvPr/>
        </p:nvSpPr>
        <p:spPr bwMode="auto">
          <a:xfrm>
            <a:off x="1776062" y="1832177"/>
            <a:ext cx="762000" cy="777394"/>
          </a:xfrm>
          <a:prstGeom prst="ellipse">
            <a:avLst/>
          </a:prstGeom>
          <a:no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grpSp>
        <p:nvGrpSpPr>
          <p:cNvPr id="43" name="Group 9225"/>
          <p:cNvGrpSpPr/>
          <p:nvPr/>
        </p:nvGrpSpPr>
        <p:grpSpPr>
          <a:xfrm>
            <a:off x="1900227" y="1979806"/>
            <a:ext cx="458788" cy="403225"/>
            <a:chOff x="282108" y="1617048"/>
            <a:chExt cx="458788" cy="403225"/>
          </a:xfrm>
          <a:solidFill>
            <a:schemeClr val="tx1">
              <a:lumMod val="65000"/>
              <a:lumOff val="35000"/>
            </a:schemeClr>
          </a:solidFill>
        </p:grpSpPr>
        <p:sp>
          <p:nvSpPr>
            <p:cNvPr id="54" name="Freeform 14"/>
            <p:cNvSpPr/>
            <p:nvPr/>
          </p:nvSpPr>
          <p:spPr bwMode="auto">
            <a:xfrm>
              <a:off x="339258" y="1698010"/>
              <a:ext cx="333375" cy="322263"/>
            </a:xfrm>
            <a:custGeom>
              <a:avLst/>
              <a:gdLst>
                <a:gd name="T0" fmla="*/ 109 w 210"/>
                <a:gd name="T1" fmla="*/ 0 h 203"/>
                <a:gd name="T2" fmla="*/ 51 w 210"/>
                <a:gd name="T3" fmla="*/ 43 h 203"/>
                <a:gd name="T4" fmla="*/ 0 w 210"/>
                <a:gd name="T5" fmla="*/ 80 h 203"/>
                <a:gd name="T6" fmla="*/ 0 w 210"/>
                <a:gd name="T7" fmla="*/ 203 h 203"/>
                <a:gd name="T8" fmla="*/ 73 w 210"/>
                <a:gd name="T9" fmla="*/ 203 h 203"/>
                <a:gd name="T10" fmla="*/ 73 w 210"/>
                <a:gd name="T11" fmla="*/ 101 h 203"/>
                <a:gd name="T12" fmla="*/ 138 w 210"/>
                <a:gd name="T13" fmla="*/ 101 h 203"/>
                <a:gd name="T14" fmla="*/ 138 w 210"/>
                <a:gd name="T15" fmla="*/ 203 h 203"/>
                <a:gd name="T16" fmla="*/ 210 w 210"/>
                <a:gd name="T17" fmla="*/ 203 h 203"/>
                <a:gd name="T18" fmla="*/ 210 w 210"/>
                <a:gd name="T19" fmla="*/ 80 h 203"/>
                <a:gd name="T20" fmla="*/ 159 w 210"/>
                <a:gd name="T21" fmla="*/ 43 h 203"/>
                <a:gd name="T22" fmla="*/ 109 w 210"/>
                <a:gd name="T23"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203">
                  <a:moveTo>
                    <a:pt x="109" y="0"/>
                  </a:moveTo>
                  <a:lnTo>
                    <a:pt x="51" y="43"/>
                  </a:lnTo>
                  <a:lnTo>
                    <a:pt x="0" y="80"/>
                  </a:lnTo>
                  <a:lnTo>
                    <a:pt x="0" y="203"/>
                  </a:lnTo>
                  <a:lnTo>
                    <a:pt x="73" y="203"/>
                  </a:lnTo>
                  <a:lnTo>
                    <a:pt x="73" y="101"/>
                  </a:lnTo>
                  <a:lnTo>
                    <a:pt x="138" y="101"/>
                  </a:lnTo>
                  <a:lnTo>
                    <a:pt x="138" y="203"/>
                  </a:lnTo>
                  <a:lnTo>
                    <a:pt x="210" y="203"/>
                  </a:lnTo>
                  <a:lnTo>
                    <a:pt x="210" y="80"/>
                  </a:lnTo>
                  <a:lnTo>
                    <a:pt x="159" y="43"/>
                  </a:lnTo>
                  <a:lnTo>
                    <a:pt x="109" y="0"/>
                  </a:lnTo>
                  <a:close/>
                </a:path>
              </a:pathLst>
            </a:custGeom>
            <a:grpFill/>
            <a:ln w="9525">
              <a:solidFill>
                <a:schemeClr val="tx1">
                  <a:lumMod val="65000"/>
                  <a:lumOff val="35000"/>
                </a:schemeClr>
              </a:solidFill>
              <a:round/>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55" name="Freeform 15"/>
            <p:cNvSpPr/>
            <p:nvPr/>
          </p:nvSpPr>
          <p:spPr bwMode="auto">
            <a:xfrm>
              <a:off x="282108" y="1617048"/>
              <a:ext cx="458788" cy="219075"/>
            </a:xfrm>
            <a:custGeom>
              <a:avLst/>
              <a:gdLst>
                <a:gd name="T0" fmla="*/ 232 w 289"/>
                <a:gd name="T1" fmla="*/ 73 h 138"/>
                <a:gd name="T2" fmla="*/ 232 w 289"/>
                <a:gd name="T3" fmla="*/ 14 h 138"/>
                <a:gd name="T4" fmla="*/ 188 w 289"/>
                <a:gd name="T5" fmla="*/ 14 h 138"/>
                <a:gd name="T6" fmla="*/ 188 w 289"/>
                <a:gd name="T7" fmla="*/ 43 h 138"/>
                <a:gd name="T8" fmla="*/ 159 w 289"/>
                <a:gd name="T9" fmla="*/ 14 h 138"/>
                <a:gd name="T10" fmla="*/ 145 w 289"/>
                <a:gd name="T11" fmla="*/ 0 h 138"/>
                <a:gd name="T12" fmla="*/ 123 w 289"/>
                <a:gd name="T13" fmla="*/ 14 h 138"/>
                <a:gd name="T14" fmla="*/ 0 w 289"/>
                <a:gd name="T15" fmla="*/ 116 h 138"/>
                <a:gd name="T16" fmla="*/ 15 w 289"/>
                <a:gd name="T17" fmla="*/ 138 h 138"/>
                <a:gd name="T18" fmla="*/ 145 w 289"/>
                <a:gd name="T19" fmla="*/ 29 h 138"/>
                <a:gd name="T20" fmla="*/ 275 w 289"/>
                <a:gd name="T21" fmla="*/ 138 h 138"/>
                <a:gd name="T22" fmla="*/ 289 w 289"/>
                <a:gd name="T23" fmla="*/ 116 h 138"/>
                <a:gd name="T24" fmla="*/ 232 w 289"/>
                <a:gd name="T25" fmla="*/ 73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9" h="138">
                  <a:moveTo>
                    <a:pt x="232" y="73"/>
                  </a:moveTo>
                  <a:lnTo>
                    <a:pt x="232" y="14"/>
                  </a:lnTo>
                  <a:lnTo>
                    <a:pt x="188" y="14"/>
                  </a:lnTo>
                  <a:lnTo>
                    <a:pt x="188" y="43"/>
                  </a:lnTo>
                  <a:lnTo>
                    <a:pt x="159" y="14"/>
                  </a:lnTo>
                  <a:lnTo>
                    <a:pt x="145" y="0"/>
                  </a:lnTo>
                  <a:lnTo>
                    <a:pt x="123" y="14"/>
                  </a:lnTo>
                  <a:lnTo>
                    <a:pt x="0" y="116"/>
                  </a:lnTo>
                  <a:lnTo>
                    <a:pt x="15" y="138"/>
                  </a:lnTo>
                  <a:lnTo>
                    <a:pt x="145" y="29"/>
                  </a:lnTo>
                  <a:lnTo>
                    <a:pt x="275" y="138"/>
                  </a:lnTo>
                  <a:lnTo>
                    <a:pt x="289" y="116"/>
                  </a:lnTo>
                  <a:lnTo>
                    <a:pt x="232" y="73"/>
                  </a:lnTo>
                  <a:close/>
                </a:path>
              </a:pathLst>
            </a:custGeom>
            <a:grpFill/>
            <a:ln w="9525">
              <a:solidFill>
                <a:schemeClr val="tx1">
                  <a:lumMod val="65000"/>
                  <a:lumOff val="35000"/>
                </a:schemeClr>
              </a:solidFill>
              <a:round/>
            </a:ln>
          </p:spPr>
          <p:txBody>
            <a:bodyPr vert="horz" wrap="square" lIns="91440" tIns="45720" rIns="91440" bIns="45720" numCol="1" anchor="t" anchorCtr="0" compatLnSpc="1"/>
            <a:lstStyle/>
            <a:p>
              <a:endParaRPr lang="en-US">
                <a:solidFill>
                  <a:schemeClr val="tx1">
                    <a:lumMod val="75000"/>
                    <a:lumOff val="25000"/>
                  </a:schemeClr>
                </a:solidFill>
              </a:endParaRPr>
            </a:p>
          </p:txBody>
        </p:sp>
      </p:grpSp>
      <p:sp>
        <p:nvSpPr>
          <p:cNvPr id="44" name="Oval 6"/>
          <p:cNvSpPr>
            <a:spLocks noChangeArrowheads="1"/>
          </p:cNvSpPr>
          <p:nvPr/>
        </p:nvSpPr>
        <p:spPr bwMode="auto">
          <a:xfrm>
            <a:off x="3630262" y="1832177"/>
            <a:ext cx="762000" cy="777394"/>
          </a:xfrm>
          <a:prstGeom prst="ellipse">
            <a:avLst/>
          </a:prstGeom>
          <a:no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45" name="Freeform 151"/>
          <p:cNvSpPr>
            <a:spLocks noEditPoints="1"/>
          </p:cNvSpPr>
          <p:nvPr/>
        </p:nvSpPr>
        <p:spPr bwMode="auto">
          <a:xfrm>
            <a:off x="3809211" y="2058284"/>
            <a:ext cx="404099" cy="323279"/>
          </a:xfrm>
          <a:custGeom>
            <a:avLst/>
            <a:gdLst>
              <a:gd name="T0" fmla="*/ 95 w 286"/>
              <a:gd name="T1" fmla="*/ 163 h 228"/>
              <a:gd name="T2" fmla="*/ 161 w 286"/>
              <a:gd name="T3" fmla="*/ 97 h 228"/>
              <a:gd name="T4" fmla="*/ 95 w 286"/>
              <a:gd name="T5" fmla="*/ 31 h 228"/>
              <a:gd name="T6" fmla="*/ 29 w 286"/>
              <a:gd name="T7" fmla="*/ 97 h 228"/>
              <a:gd name="T8" fmla="*/ 95 w 286"/>
              <a:gd name="T9" fmla="*/ 163 h 228"/>
              <a:gd name="T10" fmla="*/ 145 w 286"/>
              <a:gd name="T11" fmla="*/ 116 h 228"/>
              <a:gd name="T12" fmla="*/ 98 w 286"/>
              <a:gd name="T13" fmla="*/ 149 h 228"/>
              <a:gd name="T14" fmla="*/ 51 w 286"/>
              <a:gd name="T15" fmla="*/ 116 h 228"/>
              <a:gd name="T16" fmla="*/ 145 w 286"/>
              <a:gd name="T17" fmla="*/ 116 h 228"/>
              <a:gd name="T18" fmla="*/ 135 w 286"/>
              <a:gd name="T19" fmla="*/ 171 h 228"/>
              <a:gd name="T20" fmla="*/ 95 w 286"/>
              <a:gd name="T21" fmla="*/ 181 h 228"/>
              <a:gd name="T22" fmla="*/ 55 w 286"/>
              <a:gd name="T23" fmla="*/ 171 h 228"/>
              <a:gd name="T24" fmla="*/ 0 w 286"/>
              <a:gd name="T25" fmla="*/ 228 h 228"/>
              <a:gd name="T26" fmla="*/ 190 w 286"/>
              <a:gd name="T27" fmla="*/ 228 h 228"/>
              <a:gd name="T28" fmla="*/ 135 w 286"/>
              <a:gd name="T29" fmla="*/ 171 h 228"/>
              <a:gd name="T30" fmla="*/ 174 w 286"/>
              <a:gd name="T31" fmla="*/ 86 h 228"/>
              <a:gd name="T32" fmla="*/ 241 w 286"/>
              <a:gd name="T33" fmla="*/ 86 h 228"/>
              <a:gd name="T34" fmla="*/ 194 w 286"/>
              <a:gd name="T35" fmla="*/ 118 h 228"/>
              <a:gd name="T36" fmla="*/ 173 w 286"/>
              <a:gd name="T37" fmla="*/ 113 h 228"/>
              <a:gd name="T38" fmla="*/ 168 w 286"/>
              <a:gd name="T39" fmla="*/ 128 h 228"/>
              <a:gd name="T40" fmla="*/ 191 w 286"/>
              <a:gd name="T41" fmla="*/ 132 h 228"/>
              <a:gd name="T42" fmla="*/ 257 w 286"/>
              <a:gd name="T43" fmla="*/ 66 h 228"/>
              <a:gd name="T44" fmla="*/ 191 w 286"/>
              <a:gd name="T45" fmla="*/ 0 h 228"/>
              <a:gd name="T46" fmla="*/ 136 w 286"/>
              <a:gd name="T47" fmla="*/ 29 h 228"/>
              <a:gd name="T48" fmla="*/ 174 w 286"/>
              <a:gd name="T49" fmla="*/ 86 h 228"/>
              <a:gd name="T50" fmla="*/ 231 w 286"/>
              <a:gd name="T51" fmla="*/ 140 h 228"/>
              <a:gd name="T52" fmla="*/ 191 w 286"/>
              <a:gd name="T53" fmla="*/ 150 h 228"/>
              <a:gd name="T54" fmla="*/ 159 w 286"/>
              <a:gd name="T55" fmla="*/ 144 h 228"/>
              <a:gd name="T56" fmla="*/ 144 w 286"/>
              <a:gd name="T57" fmla="*/ 160 h 228"/>
              <a:gd name="T58" fmla="*/ 192 w 286"/>
              <a:gd name="T59" fmla="*/ 197 h 228"/>
              <a:gd name="T60" fmla="*/ 286 w 286"/>
              <a:gd name="T61" fmla="*/ 197 h 228"/>
              <a:gd name="T62" fmla="*/ 231 w 286"/>
              <a:gd name="T63" fmla="*/ 14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6" h="228">
                <a:moveTo>
                  <a:pt x="95" y="163"/>
                </a:moveTo>
                <a:cubicBezTo>
                  <a:pt x="132" y="163"/>
                  <a:pt x="161" y="133"/>
                  <a:pt x="161" y="97"/>
                </a:cubicBezTo>
                <a:cubicBezTo>
                  <a:pt x="161" y="60"/>
                  <a:pt x="132" y="31"/>
                  <a:pt x="95" y="31"/>
                </a:cubicBezTo>
                <a:cubicBezTo>
                  <a:pt x="59" y="31"/>
                  <a:pt x="29" y="60"/>
                  <a:pt x="29" y="97"/>
                </a:cubicBezTo>
                <a:cubicBezTo>
                  <a:pt x="29" y="133"/>
                  <a:pt x="59" y="163"/>
                  <a:pt x="95" y="163"/>
                </a:cubicBezTo>
                <a:close/>
                <a:moveTo>
                  <a:pt x="145" y="116"/>
                </a:moveTo>
                <a:cubicBezTo>
                  <a:pt x="135" y="136"/>
                  <a:pt x="118" y="149"/>
                  <a:pt x="98" y="149"/>
                </a:cubicBezTo>
                <a:cubicBezTo>
                  <a:pt x="79" y="149"/>
                  <a:pt x="61" y="136"/>
                  <a:pt x="51" y="116"/>
                </a:cubicBezTo>
                <a:lnTo>
                  <a:pt x="145" y="116"/>
                </a:lnTo>
                <a:close/>
                <a:moveTo>
                  <a:pt x="135" y="171"/>
                </a:moveTo>
                <a:cubicBezTo>
                  <a:pt x="123" y="178"/>
                  <a:pt x="109" y="181"/>
                  <a:pt x="95" y="181"/>
                </a:cubicBezTo>
                <a:cubicBezTo>
                  <a:pt x="81" y="181"/>
                  <a:pt x="67" y="178"/>
                  <a:pt x="55" y="171"/>
                </a:cubicBezTo>
                <a:cubicBezTo>
                  <a:pt x="30" y="178"/>
                  <a:pt x="9" y="194"/>
                  <a:pt x="0" y="228"/>
                </a:cubicBezTo>
                <a:cubicBezTo>
                  <a:pt x="190" y="228"/>
                  <a:pt x="190" y="228"/>
                  <a:pt x="190" y="228"/>
                </a:cubicBezTo>
                <a:cubicBezTo>
                  <a:pt x="181" y="194"/>
                  <a:pt x="161" y="178"/>
                  <a:pt x="135" y="171"/>
                </a:cubicBezTo>
                <a:close/>
                <a:moveTo>
                  <a:pt x="174" y="86"/>
                </a:moveTo>
                <a:cubicBezTo>
                  <a:pt x="241" y="86"/>
                  <a:pt x="241" y="86"/>
                  <a:pt x="241" y="86"/>
                </a:cubicBezTo>
                <a:cubicBezTo>
                  <a:pt x="231" y="105"/>
                  <a:pt x="214" y="118"/>
                  <a:pt x="194" y="118"/>
                </a:cubicBezTo>
                <a:cubicBezTo>
                  <a:pt x="187" y="118"/>
                  <a:pt x="180" y="116"/>
                  <a:pt x="173" y="113"/>
                </a:cubicBezTo>
                <a:cubicBezTo>
                  <a:pt x="172" y="118"/>
                  <a:pt x="170" y="123"/>
                  <a:pt x="168" y="128"/>
                </a:cubicBezTo>
                <a:cubicBezTo>
                  <a:pt x="175" y="130"/>
                  <a:pt x="183" y="132"/>
                  <a:pt x="191" y="132"/>
                </a:cubicBezTo>
                <a:cubicBezTo>
                  <a:pt x="227" y="132"/>
                  <a:pt x="257" y="102"/>
                  <a:pt x="257" y="66"/>
                </a:cubicBezTo>
                <a:cubicBezTo>
                  <a:pt x="257" y="29"/>
                  <a:pt x="227" y="0"/>
                  <a:pt x="191" y="0"/>
                </a:cubicBezTo>
                <a:cubicBezTo>
                  <a:pt x="168" y="0"/>
                  <a:pt x="148" y="11"/>
                  <a:pt x="136" y="29"/>
                </a:cubicBezTo>
                <a:cubicBezTo>
                  <a:pt x="156" y="41"/>
                  <a:pt x="171" y="61"/>
                  <a:pt x="174" y="86"/>
                </a:cubicBezTo>
                <a:close/>
                <a:moveTo>
                  <a:pt x="231" y="140"/>
                </a:moveTo>
                <a:cubicBezTo>
                  <a:pt x="219" y="147"/>
                  <a:pt x="205" y="150"/>
                  <a:pt x="191" y="150"/>
                </a:cubicBezTo>
                <a:cubicBezTo>
                  <a:pt x="180" y="150"/>
                  <a:pt x="169" y="148"/>
                  <a:pt x="159" y="144"/>
                </a:cubicBezTo>
                <a:cubicBezTo>
                  <a:pt x="155" y="150"/>
                  <a:pt x="150" y="155"/>
                  <a:pt x="144" y="160"/>
                </a:cubicBezTo>
                <a:cubicBezTo>
                  <a:pt x="165" y="166"/>
                  <a:pt x="181" y="179"/>
                  <a:pt x="192" y="197"/>
                </a:cubicBezTo>
                <a:cubicBezTo>
                  <a:pt x="286" y="197"/>
                  <a:pt x="286" y="197"/>
                  <a:pt x="286" y="197"/>
                </a:cubicBezTo>
                <a:cubicBezTo>
                  <a:pt x="277" y="163"/>
                  <a:pt x="256" y="147"/>
                  <a:pt x="231" y="140"/>
                </a:cubicBezTo>
                <a:close/>
              </a:path>
            </a:pathLst>
          </a:custGeom>
          <a:solidFill>
            <a:schemeClr val="tx1">
              <a:lumMod val="65000"/>
              <a:lumOff val="35000"/>
            </a:schemeClr>
          </a:solidFill>
          <a:ln>
            <a:solidFill>
              <a:schemeClr val="tx1">
                <a:lumMod val="65000"/>
                <a:lumOff val="35000"/>
              </a:schemeClr>
            </a:solid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46" name="文本框 45"/>
          <p:cNvSpPr txBox="1"/>
          <p:nvPr/>
        </p:nvSpPr>
        <p:spPr>
          <a:xfrm>
            <a:off x="2445521" y="2457704"/>
            <a:ext cx="1318370" cy="553085"/>
          </a:xfrm>
          <a:prstGeom prst="rect">
            <a:avLst/>
          </a:prstGeom>
          <a:noFill/>
        </p:spPr>
        <p:txBody>
          <a:bodyPr wrap="square" rtlCol="0">
            <a:spAutoFit/>
          </a:bodyPr>
          <a:lstStyle/>
          <a:p>
            <a:pPr algn="just">
              <a:lnSpc>
                <a:spcPct val="125000"/>
              </a:lnSpc>
            </a:pPr>
            <a:r>
              <a:rPr lang="en-US" altLang="zh-CN" sz="1200" b="1" smtClean="0">
                <a:solidFill>
                  <a:schemeClr val="tx1">
                    <a:lumMod val="95000"/>
                    <a:lumOff val="5000"/>
                  </a:schemeClr>
                </a:solidFill>
                <a:latin typeface="+mj-lt"/>
                <a:ea typeface="+mj-ea"/>
                <a:cs typeface="+mj-cs"/>
                <a:sym typeface="+mn-ea"/>
              </a:rPr>
              <a:t>Tittle</a:t>
            </a:r>
            <a:r>
              <a:rPr lang="zh-CN" altLang="en-US" sz="1200" b="1" dirty="0">
                <a:solidFill>
                  <a:schemeClr val="tx1">
                    <a:lumMod val="95000"/>
                    <a:lumOff val="5000"/>
                  </a:schemeClr>
                </a:solidFill>
                <a:latin typeface="微软雅黑" panose="020B0503020204020204" charset="-122"/>
                <a:ea typeface="微软雅黑" panose="020B0503020204020204" charset="-122"/>
              </a:rPr>
              <a:t>标题</a:t>
            </a:r>
            <a:endParaRPr lang="zh-CN" altLang="en-US" sz="1200" b="1" dirty="0">
              <a:solidFill>
                <a:schemeClr val="tx1">
                  <a:lumMod val="95000"/>
                  <a:lumOff val="5000"/>
                </a:schemeClr>
              </a:solidFill>
              <a:latin typeface="微软雅黑" panose="020B0503020204020204" charset="-122"/>
              <a:ea typeface="微软雅黑" panose="020B0503020204020204" charset="-122"/>
            </a:endParaRPr>
          </a:p>
          <a:p>
            <a:pPr algn="just">
              <a:lnSpc>
                <a:spcPct val="125000"/>
              </a:lnSpc>
            </a:pPr>
            <a:r>
              <a:rPr lang="zh-CN" altLang="en-US" sz="1200" b="1" dirty="0">
                <a:solidFill>
                  <a:schemeClr val="tx1">
                    <a:lumMod val="95000"/>
                    <a:lumOff val="5000"/>
                  </a:schemeClr>
                </a:solidFill>
                <a:latin typeface="微软雅黑" panose="020B0503020204020204" charset="-122"/>
                <a:ea typeface="微软雅黑" panose="020B0503020204020204" charset="-122"/>
              </a:rPr>
              <a:t>关键词排名</a:t>
            </a:r>
            <a:endParaRPr lang="zh-CN" altLang="en-US" sz="1200" b="1" dirty="0">
              <a:solidFill>
                <a:schemeClr val="tx1">
                  <a:lumMod val="95000"/>
                  <a:lumOff val="5000"/>
                </a:schemeClr>
              </a:solidFill>
              <a:latin typeface="微软雅黑" panose="020B0503020204020204" charset="-122"/>
              <a:ea typeface="微软雅黑" panose="020B0503020204020204" charset="-122"/>
            </a:endParaRPr>
          </a:p>
        </p:txBody>
      </p:sp>
      <p:sp>
        <p:nvSpPr>
          <p:cNvPr id="47" name="文本框 46"/>
          <p:cNvSpPr txBox="1"/>
          <p:nvPr/>
        </p:nvSpPr>
        <p:spPr>
          <a:xfrm>
            <a:off x="4335855" y="2457704"/>
            <a:ext cx="1318370" cy="553085"/>
          </a:xfrm>
          <a:prstGeom prst="rect">
            <a:avLst/>
          </a:prstGeom>
          <a:noFill/>
        </p:spPr>
        <p:txBody>
          <a:bodyPr wrap="square" rtlCol="0">
            <a:spAutoFit/>
          </a:bodyPr>
          <a:lstStyle/>
          <a:p>
            <a:pPr algn="just">
              <a:lnSpc>
                <a:spcPct val="125000"/>
              </a:lnSpc>
            </a:pPr>
            <a:r>
              <a:rPr lang="en-US" altLang="zh-CN" sz="1200" b="1" dirty="0">
                <a:solidFill>
                  <a:schemeClr val="tx1">
                    <a:lumMod val="95000"/>
                    <a:lumOff val="5000"/>
                  </a:schemeClr>
                </a:solidFill>
                <a:latin typeface="微软雅黑" panose="020B0503020204020204" charset="-122"/>
                <a:ea typeface="微软雅黑" panose="020B0503020204020204" charset="-122"/>
                <a:sym typeface="+mn-ea"/>
              </a:rPr>
              <a:t>Pic</a:t>
            </a:r>
            <a:r>
              <a:rPr lang="zh-CN" altLang="en-US" sz="1200" b="1" dirty="0">
                <a:solidFill>
                  <a:srgbClr val="7030A0"/>
                </a:solidFill>
                <a:latin typeface="微软雅黑" panose="020B0503020204020204" charset="-122"/>
                <a:ea typeface="微软雅黑" panose="020B0503020204020204" charset="-122"/>
                <a:sym typeface="+mn-ea"/>
              </a:rPr>
              <a:t>主图</a:t>
            </a:r>
            <a:endParaRPr lang="zh-CN" altLang="en-US" sz="1200" b="1" dirty="0">
              <a:solidFill>
                <a:srgbClr val="7030A0"/>
              </a:solidFill>
              <a:latin typeface="微软雅黑" panose="020B0503020204020204" charset="-122"/>
              <a:ea typeface="微软雅黑" panose="020B0503020204020204" charset="-122"/>
              <a:sym typeface="+mn-ea"/>
            </a:endParaRPr>
          </a:p>
          <a:p>
            <a:pPr algn="just">
              <a:lnSpc>
                <a:spcPct val="125000"/>
              </a:lnSpc>
            </a:pPr>
            <a:r>
              <a:rPr lang="zh-CN" altLang="en-US" sz="1200" b="1" dirty="0">
                <a:solidFill>
                  <a:schemeClr val="tx1">
                    <a:lumMod val="95000"/>
                    <a:lumOff val="5000"/>
                  </a:schemeClr>
                </a:solidFill>
                <a:latin typeface="微软雅黑" panose="020B0503020204020204" charset="-122"/>
                <a:ea typeface="微软雅黑" panose="020B0503020204020204" charset="-122"/>
                <a:sym typeface="+mn-ea"/>
              </a:rPr>
              <a:t>Sale Price价格</a:t>
            </a:r>
            <a:endParaRPr lang="zh-CN" altLang="en-US" sz="1200" b="1" dirty="0">
              <a:solidFill>
                <a:schemeClr val="tx1">
                  <a:lumMod val="95000"/>
                  <a:lumOff val="5000"/>
                </a:schemeClr>
              </a:solidFill>
              <a:latin typeface="微软雅黑" panose="020B0503020204020204" charset="-122"/>
              <a:ea typeface="微软雅黑" panose="020B0503020204020204" charset="-122"/>
              <a:sym typeface="+mn-ea"/>
            </a:endParaRPr>
          </a:p>
        </p:txBody>
      </p:sp>
      <p:sp>
        <p:nvSpPr>
          <p:cNvPr id="48" name="文本框 47"/>
          <p:cNvSpPr txBox="1"/>
          <p:nvPr/>
        </p:nvSpPr>
        <p:spPr>
          <a:xfrm>
            <a:off x="6222365" y="2461895"/>
            <a:ext cx="1557020" cy="553085"/>
          </a:xfrm>
          <a:prstGeom prst="rect">
            <a:avLst/>
          </a:prstGeom>
          <a:noFill/>
        </p:spPr>
        <p:txBody>
          <a:bodyPr wrap="square" rtlCol="0">
            <a:spAutoFit/>
          </a:bodyPr>
          <a:lstStyle/>
          <a:p>
            <a:pPr algn="just">
              <a:lnSpc>
                <a:spcPct val="125000"/>
              </a:lnSpc>
            </a:pPr>
            <a:r>
              <a:rPr lang="en-US" altLang="zh-CN" sz="1200" b="1" dirty="0">
                <a:solidFill>
                  <a:schemeClr val="tx1">
                    <a:lumMod val="95000"/>
                    <a:lumOff val="5000"/>
                  </a:schemeClr>
                </a:solidFill>
                <a:latin typeface="微软雅黑" panose="020B0503020204020204" charset="-122"/>
                <a:ea typeface="微软雅黑" panose="020B0503020204020204" charset="-122"/>
              </a:rPr>
              <a:t>Prime</a:t>
            </a:r>
            <a:endParaRPr lang="en-US" altLang="zh-CN" sz="1200" b="1" dirty="0">
              <a:solidFill>
                <a:schemeClr val="tx1">
                  <a:lumMod val="95000"/>
                  <a:lumOff val="5000"/>
                </a:schemeClr>
              </a:solidFill>
              <a:latin typeface="微软雅黑" panose="020B0503020204020204" charset="-122"/>
              <a:ea typeface="微软雅黑" panose="020B0503020204020204" charset="-122"/>
            </a:endParaRPr>
          </a:p>
          <a:p>
            <a:pPr algn="just">
              <a:lnSpc>
                <a:spcPct val="125000"/>
              </a:lnSpc>
            </a:pPr>
            <a:r>
              <a:rPr lang="en-US" altLang="zh-CN" sz="1200" b="1" dirty="0">
                <a:solidFill>
                  <a:schemeClr val="tx1">
                    <a:lumMod val="95000"/>
                    <a:lumOff val="5000"/>
                  </a:schemeClr>
                </a:solidFill>
                <a:latin typeface="微软雅黑" panose="020B0503020204020204" charset="-122"/>
                <a:ea typeface="微软雅黑" panose="020B0503020204020204" charset="-122"/>
              </a:rPr>
              <a:t>Review</a:t>
            </a:r>
            <a:r>
              <a:rPr lang="zh-CN" altLang="en-US" sz="1200" b="1" dirty="0">
                <a:solidFill>
                  <a:schemeClr val="tx1">
                    <a:lumMod val="95000"/>
                    <a:lumOff val="5000"/>
                  </a:schemeClr>
                </a:solidFill>
                <a:latin typeface="微软雅黑" panose="020B0503020204020204" charset="-122"/>
                <a:ea typeface="微软雅黑" panose="020B0503020204020204" charset="-122"/>
              </a:rPr>
              <a:t>评论数量</a:t>
            </a:r>
            <a:endParaRPr lang="zh-CN" altLang="en-US" sz="1200" b="1" dirty="0">
              <a:solidFill>
                <a:schemeClr val="tx1">
                  <a:lumMod val="95000"/>
                  <a:lumOff val="5000"/>
                </a:schemeClr>
              </a:solidFill>
              <a:latin typeface="微软雅黑" panose="020B0503020204020204" charset="-122"/>
              <a:ea typeface="微软雅黑" panose="020B0503020204020204" charset="-122"/>
            </a:endParaRPr>
          </a:p>
        </p:txBody>
      </p:sp>
      <p:sp>
        <p:nvSpPr>
          <p:cNvPr id="49" name="文本框 48"/>
          <p:cNvSpPr txBox="1"/>
          <p:nvPr/>
        </p:nvSpPr>
        <p:spPr>
          <a:xfrm>
            <a:off x="8116523" y="2457704"/>
            <a:ext cx="1318370" cy="553085"/>
          </a:xfrm>
          <a:prstGeom prst="rect">
            <a:avLst/>
          </a:prstGeom>
          <a:noFill/>
        </p:spPr>
        <p:txBody>
          <a:bodyPr wrap="square" rtlCol="0">
            <a:spAutoFit/>
          </a:bodyPr>
          <a:lstStyle/>
          <a:p>
            <a:pPr algn="just">
              <a:lnSpc>
                <a:spcPct val="125000"/>
              </a:lnSpc>
            </a:pPr>
            <a:r>
              <a:rPr lang="en-US" altLang="zh-CN" sz="1200" b="1" dirty="0">
                <a:solidFill>
                  <a:schemeClr val="tx1">
                    <a:lumMod val="95000"/>
                    <a:lumOff val="5000"/>
                  </a:schemeClr>
                </a:solidFill>
                <a:latin typeface="微软雅黑" panose="020B0503020204020204" charset="-122"/>
                <a:ea typeface="微软雅黑" panose="020B0503020204020204" charset="-122"/>
                <a:sym typeface="+mn-ea"/>
              </a:rPr>
              <a:t>S</a:t>
            </a:r>
            <a:r>
              <a:rPr lang="zh-CN" altLang="en-US" sz="1200" b="1" dirty="0">
                <a:solidFill>
                  <a:schemeClr val="tx1">
                    <a:lumMod val="95000"/>
                    <a:lumOff val="5000"/>
                  </a:schemeClr>
                </a:solidFill>
                <a:latin typeface="微软雅黑" panose="020B0503020204020204" charset="-122"/>
                <a:ea typeface="微软雅黑" panose="020B0503020204020204" charset="-122"/>
                <a:sym typeface="+mn-ea"/>
              </a:rPr>
              <a:t>tars评分</a:t>
            </a:r>
            <a:endParaRPr lang="zh-CN" altLang="en-US" sz="1200" b="1" dirty="0">
              <a:solidFill>
                <a:schemeClr val="tx1">
                  <a:lumMod val="95000"/>
                  <a:lumOff val="5000"/>
                </a:schemeClr>
              </a:solidFill>
              <a:latin typeface="微软雅黑" panose="020B0503020204020204" charset="-122"/>
              <a:ea typeface="微软雅黑" panose="020B0503020204020204" charset="-122"/>
              <a:sym typeface="+mn-ea"/>
            </a:endParaRPr>
          </a:p>
          <a:p>
            <a:pPr algn="just">
              <a:lnSpc>
                <a:spcPct val="125000"/>
              </a:lnSpc>
            </a:pPr>
            <a:r>
              <a:rPr lang="zh-CN" altLang="en-US" sz="1200" b="1" dirty="0">
                <a:solidFill>
                  <a:schemeClr val="tx1">
                    <a:lumMod val="95000"/>
                    <a:lumOff val="5000"/>
                  </a:schemeClr>
                </a:solidFill>
                <a:latin typeface="微软雅黑" panose="020B0503020204020204" charset="-122"/>
                <a:ea typeface="微软雅黑" panose="020B0503020204020204" charset="-122"/>
              </a:rPr>
              <a:t>市场对手</a:t>
            </a:r>
            <a:endParaRPr lang="zh-CN" altLang="en-US" sz="1200" b="1" dirty="0">
              <a:solidFill>
                <a:schemeClr val="tx1">
                  <a:lumMod val="95000"/>
                  <a:lumOff val="5000"/>
                </a:schemeClr>
              </a:solidFill>
              <a:latin typeface="微软雅黑" panose="020B0503020204020204" charset="-122"/>
              <a:ea typeface="微软雅黑" panose="020B0503020204020204" charset="-122"/>
            </a:endParaRPr>
          </a:p>
        </p:txBody>
      </p:sp>
      <p:sp>
        <p:nvSpPr>
          <p:cNvPr id="50" name="文本框 49"/>
          <p:cNvSpPr txBox="1"/>
          <p:nvPr/>
        </p:nvSpPr>
        <p:spPr>
          <a:xfrm>
            <a:off x="3591701" y="4171652"/>
            <a:ext cx="1318370" cy="553085"/>
          </a:xfrm>
          <a:prstGeom prst="rect">
            <a:avLst/>
          </a:prstGeom>
          <a:noFill/>
        </p:spPr>
        <p:txBody>
          <a:bodyPr wrap="square" rtlCol="0">
            <a:spAutoFit/>
          </a:bodyPr>
          <a:lstStyle/>
          <a:p>
            <a:pPr algn="just">
              <a:lnSpc>
                <a:spcPct val="125000"/>
              </a:lnSpc>
            </a:pPr>
            <a:r>
              <a:rPr lang="zh-CN" altLang="en-US" sz="1200" b="1" dirty="0">
                <a:solidFill>
                  <a:schemeClr val="tx1">
                    <a:lumMod val="85000"/>
                    <a:lumOff val="15000"/>
                  </a:schemeClr>
                </a:solidFill>
                <a:latin typeface="微软雅黑" panose="020B0503020204020204" charset="-122"/>
                <a:ea typeface="微软雅黑" panose="020B0503020204020204" charset="-122"/>
              </a:rPr>
              <a:t>图片逻辑</a:t>
            </a:r>
            <a:endParaRPr lang="zh-CN" altLang="en-US" sz="1200" b="1" dirty="0">
              <a:solidFill>
                <a:schemeClr val="tx1">
                  <a:lumMod val="85000"/>
                  <a:lumOff val="15000"/>
                </a:schemeClr>
              </a:solidFill>
              <a:latin typeface="微软雅黑" panose="020B0503020204020204" charset="-122"/>
              <a:ea typeface="微软雅黑" panose="020B0503020204020204" charset="-122"/>
            </a:endParaRPr>
          </a:p>
          <a:p>
            <a:pPr algn="just">
              <a:lnSpc>
                <a:spcPct val="125000"/>
              </a:lnSpc>
            </a:pPr>
            <a:r>
              <a:rPr lang="zh-CN" altLang="en-US" sz="1200" b="1" dirty="0">
                <a:solidFill>
                  <a:schemeClr val="tx1">
                    <a:lumMod val="85000"/>
                    <a:lumOff val="15000"/>
                  </a:schemeClr>
                </a:solidFill>
                <a:latin typeface="微软雅黑" panose="020B0503020204020204" charset="-122"/>
                <a:ea typeface="微软雅黑" panose="020B0503020204020204" charset="-122"/>
              </a:rPr>
              <a:t>标题重点</a:t>
            </a:r>
            <a:endParaRPr lang="zh-CN" altLang="en-US" sz="1200" b="1" dirty="0">
              <a:solidFill>
                <a:schemeClr val="tx1">
                  <a:lumMod val="85000"/>
                  <a:lumOff val="15000"/>
                </a:schemeClr>
              </a:solidFill>
              <a:latin typeface="微软雅黑" panose="020B0503020204020204" charset="-122"/>
              <a:ea typeface="微软雅黑" panose="020B0503020204020204" charset="-122"/>
            </a:endParaRPr>
          </a:p>
        </p:txBody>
      </p:sp>
      <p:sp>
        <p:nvSpPr>
          <p:cNvPr id="51" name="文本框 50"/>
          <p:cNvSpPr txBox="1"/>
          <p:nvPr/>
        </p:nvSpPr>
        <p:spPr>
          <a:xfrm>
            <a:off x="5440045" y="4171950"/>
            <a:ext cx="1453515" cy="553085"/>
          </a:xfrm>
          <a:prstGeom prst="rect">
            <a:avLst/>
          </a:prstGeom>
          <a:noFill/>
        </p:spPr>
        <p:txBody>
          <a:bodyPr wrap="square" rtlCol="0">
            <a:spAutoFit/>
          </a:bodyPr>
          <a:lstStyle/>
          <a:p>
            <a:pPr algn="just">
              <a:lnSpc>
                <a:spcPct val="125000"/>
              </a:lnSpc>
            </a:pPr>
            <a:r>
              <a:rPr lang="en-US" altLang="zh-CN" sz="1200" b="1" dirty="0">
                <a:solidFill>
                  <a:schemeClr val="tx1">
                    <a:lumMod val="85000"/>
                    <a:lumOff val="15000"/>
                  </a:schemeClr>
                </a:solidFill>
                <a:latin typeface="微软雅黑" panose="020B0503020204020204" charset="-122"/>
                <a:ea typeface="微软雅黑" panose="020B0503020204020204" charset="-122"/>
              </a:rPr>
              <a:t>Pro</a:t>
            </a:r>
            <a:r>
              <a:rPr lang="zh-CN" altLang="en-US" sz="1200" b="1" dirty="0">
                <a:solidFill>
                  <a:schemeClr val="tx1">
                    <a:lumMod val="85000"/>
                    <a:lumOff val="15000"/>
                  </a:schemeClr>
                </a:solidFill>
                <a:latin typeface="微软雅黑" panose="020B0503020204020204" charset="-122"/>
                <a:ea typeface="微软雅黑" panose="020B0503020204020204" charset="-122"/>
              </a:rPr>
              <a:t>价格优惠</a:t>
            </a:r>
            <a:endParaRPr lang="zh-CN" altLang="en-US" sz="1200" b="1" dirty="0">
              <a:solidFill>
                <a:schemeClr val="tx1">
                  <a:lumMod val="85000"/>
                  <a:lumOff val="15000"/>
                </a:schemeClr>
              </a:solidFill>
              <a:latin typeface="微软雅黑" panose="020B0503020204020204" charset="-122"/>
              <a:ea typeface="微软雅黑" panose="020B0503020204020204" charset="-122"/>
            </a:endParaRPr>
          </a:p>
          <a:p>
            <a:pPr algn="just">
              <a:lnSpc>
                <a:spcPct val="125000"/>
              </a:lnSpc>
            </a:pPr>
            <a:r>
              <a:rPr lang="zh-CN" altLang="en-US" sz="1200" b="1" dirty="0" smtClean="0">
                <a:solidFill>
                  <a:schemeClr val="tx1">
                    <a:lumMod val="85000"/>
                    <a:lumOff val="15000"/>
                  </a:schemeClr>
                </a:solidFill>
                <a:sym typeface="+mn-ea"/>
              </a:rPr>
              <a:t>Bullet Point五特性</a:t>
            </a:r>
            <a:endParaRPr lang="zh-CN" altLang="en-US" sz="1200" b="1" dirty="0" smtClean="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52" name="文本框 51"/>
          <p:cNvSpPr txBox="1"/>
          <p:nvPr/>
        </p:nvSpPr>
        <p:spPr>
          <a:xfrm>
            <a:off x="7330440" y="4171950"/>
            <a:ext cx="1412240" cy="553085"/>
          </a:xfrm>
          <a:prstGeom prst="rect">
            <a:avLst/>
          </a:prstGeom>
          <a:noFill/>
        </p:spPr>
        <p:txBody>
          <a:bodyPr wrap="square" rtlCol="0">
            <a:spAutoFit/>
          </a:bodyPr>
          <a:lstStyle/>
          <a:p>
            <a:pPr algn="just">
              <a:lnSpc>
                <a:spcPct val="125000"/>
              </a:lnSpc>
            </a:pPr>
            <a:r>
              <a:rPr lang="en-US" altLang="zh-CN" sz="1200" b="1" smtClean="0">
                <a:solidFill>
                  <a:schemeClr val="tx1">
                    <a:lumMod val="95000"/>
                    <a:lumOff val="5000"/>
                  </a:schemeClr>
                </a:solidFill>
                <a:latin typeface="+mj-lt"/>
                <a:ea typeface="+mj-ea"/>
                <a:cs typeface="+mj-cs"/>
                <a:sym typeface="+mn-ea"/>
              </a:rPr>
              <a:t>Description</a:t>
            </a:r>
            <a:r>
              <a:rPr lang="zh-CN" altLang="en-US" sz="1200" b="1" dirty="0">
                <a:solidFill>
                  <a:schemeClr val="tx1">
                    <a:lumMod val="95000"/>
                    <a:lumOff val="5000"/>
                  </a:schemeClr>
                </a:solidFill>
                <a:latin typeface="微软雅黑" panose="020B0503020204020204" charset="-122"/>
                <a:ea typeface="微软雅黑" panose="020B0503020204020204" charset="-122"/>
              </a:rPr>
              <a:t>描述</a:t>
            </a:r>
            <a:endParaRPr lang="zh-CN" altLang="en-US" sz="1200" b="1" dirty="0">
              <a:solidFill>
                <a:schemeClr val="tx1">
                  <a:lumMod val="95000"/>
                  <a:lumOff val="5000"/>
                </a:schemeClr>
              </a:solidFill>
              <a:latin typeface="微软雅黑" panose="020B0503020204020204" charset="-122"/>
              <a:ea typeface="微软雅黑" panose="020B0503020204020204" charset="-122"/>
            </a:endParaRPr>
          </a:p>
          <a:p>
            <a:pPr algn="just">
              <a:lnSpc>
                <a:spcPct val="125000"/>
              </a:lnSpc>
            </a:pPr>
            <a:r>
              <a:rPr lang="en-US" altLang="zh-CN" sz="1200" b="1" smtClean="0">
                <a:solidFill>
                  <a:srgbClr val="FF0000"/>
                </a:solidFill>
                <a:latin typeface="+mj-lt"/>
                <a:ea typeface="+mj-ea"/>
                <a:cs typeface="+mj-cs"/>
                <a:sym typeface="+mn-ea"/>
              </a:rPr>
              <a:t>Q&amp;A</a:t>
            </a:r>
            <a:r>
              <a:rPr lang="zh-CN" altLang="en-US" sz="1200" b="1" dirty="0">
                <a:solidFill>
                  <a:schemeClr val="tx1">
                    <a:lumMod val="95000"/>
                    <a:lumOff val="5000"/>
                  </a:schemeClr>
                </a:solidFill>
                <a:latin typeface="微软雅黑" panose="020B0503020204020204" charset="-122"/>
                <a:ea typeface="微软雅黑" panose="020B0503020204020204" charset="-122"/>
              </a:rPr>
              <a:t>问答</a:t>
            </a:r>
            <a:endParaRPr lang="zh-CN" altLang="en-US" sz="1200" b="1" dirty="0">
              <a:solidFill>
                <a:schemeClr val="tx1">
                  <a:lumMod val="95000"/>
                  <a:lumOff val="5000"/>
                </a:schemeClr>
              </a:solidFill>
              <a:latin typeface="微软雅黑" panose="020B0503020204020204" charset="-122"/>
              <a:ea typeface="微软雅黑" panose="020B0503020204020204" charset="-122"/>
            </a:endParaRPr>
          </a:p>
        </p:txBody>
      </p:sp>
      <p:sp>
        <p:nvSpPr>
          <p:cNvPr id="53" name="文本框 52"/>
          <p:cNvSpPr txBox="1"/>
          <p:nvPr/>
        </p:nvSpPr>
        <p:spPr>
          <a:xfrm>
            <a:off x="9163092" y="4171652"/>
            <a:ext cx="1318370" cy="553085"/>
          </a:xfrm>
          <a:prstGeom prst="rect">
            <a:avLst/>
          </a:prstGeom>
          <a:noFill/>
        </p:spPr>
        <p:txBody>
          <a:bodyPr wrap="square" rtlCol="0">
            <a:spAutoFit/>
          </a:bodyPr>
          <a:lstStyle/>
          <a:p>
            <a:pPr algn="just">
              <a:lnSpc>
                <a:spcPct val="125000"/>
              </a:lnSpc>
            </a:pPr>
            <a:r>
              <a:rPr lang="en-US" altLang="zh-CN" sz="1200" b="1" dirty="0">
                <a:solidFill>
                  <a:schemeClr val="tx1">
                    <a:lumMod val="95000"/>
                    <a:lumOff val="5000"/>
                  </a:schemeClr>
                </a:solidFill>
                <a:latin typeface="微软雅黑" panose="020B0503020204020204" charset="-122"/>
                <a:ea typeface="微软雅黑" panose="020B0503020204020204" charset="-122"/>
              </a:rPr>
              <a:t>A+</a:t>
            </a:r>
            <a:r>
              <a:rPr lang="zh-CN" altLang="en-US" sz="1200" b="1" dirty="0">
                <a:solidFill>
                  <a:schemeClr val="tx1">
                    <a:lumMod val="95000"/>
                    <a:lumOff val="5000"/>
                  </a:schemeClr>
                </a:solidFill>
                <a:latin typeface="微软雅黑" panose="020B0503020204020204" charset="-122"/>
                <a:ea typeface="微软雅黑" panose="020B0503020204020204" charset="-122"/>
              </a:rPr>
              <a:t>页面</a:t>
            </a:r>
            <a:endParaRPr lang="zh-CN" altLang="en-US" sz="1200" b="1" dirty="0">
              <a:solidFill>
                <a:schemeClr val="tx1">
                  <a:lumMod val="95000"/>
                  <a:lumOff val="5000"/>
                </a:schemeClr>
              </a:solidFill>
              <a:latin typeface="微软雅黑" panose="020B0503020204020204" charset="-122"/>
              <a:ea typeface="微软雅黑" panose="020B0503020204020204" charset="-122"/>
            </a:endParaRPr>
          </a:p>
          <a:p>
            <a:pPr algn="just">
              <a:lnSpc>
                <a:spcPct val="125000"/>
              </a:lnSpc>
            </a:pPr>
            <a:r>
              <a:rPr lang="zh-CN" altLang="en-US" sz="1200" b="1" dirty="0">
                <a:solidFill>
                  <a:schemeClr val="tx1">
                    <a:lumMod val="95000"/>
                    <a:lumOff val="5000"/>
                  </a:schemeClr>
                </a:solidFill>
                <a:latin typeface="微软雅黑" panose="020B0503020204020204" charset="-122"/>
                <a:ea typeface="微软雅黑" panose="020B0503020204020204" charset="-122"/>
              </a:rPr>
              <a:t>评论质量</a:t>
            </a:r>
            <a:endParaRPr lang="zh-CN" altLang="en-US" sz="1200" b="1" dirty="0">
              <a:solidFill>
                <a:schemeClr val="tx1">
                  <a:lumMod val="95000"/>
                  <a:lumOff val="5000"/>
                </a:schemeClr>
              </a:solidFill>
              <a:latin typeface="微软雅黑" panose="020B0503020204020204" charset="-122"/>
              <a:ea typeface="微软雅黑" panose="020B0503020204020204" charset="-122"/>
            </a:endParaRPr>
          </a:p>
        </p:txBody>
      </p:sp>
      <p:sp>
        <p:nvSpPr>
          <p:cNvPr id="2" name="矩形 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3" name="文本框 2"/>
          <p:cNvSpPr txBox="1"/>
          <p:nvPr/>
        </p:nvSpPr>
        <p:spPr>
          <a:xfrm>
            <a:off x="288925" y="2248535"/>
            <a:ext cx="1318260" cy="360680"/>
          </a:xfrm>
          <a:prstGeom prst="rect">
            <a:avLst/>
          </a:prstGeom>
          <a:noFill/>
        </p:spPr>
        <p:txBody>
          <a:bodyPr wrap="square" rtlCol="0">
            <a:spAutoFit/>
          </a:bodyPr>
          <a:p>
            <a:pPr algn="just">
              <a:lnSpc>
                <a:spcPct val="125000"/>
              </a:lnSpc>
            </a:pPr>
            <a:r>
              <a:rPr lang="zh-CN" altLang="en-US" sz="1400" b="1" dirty="0">
                <a:solidFill>
                  <a:schemeClr val="tx1">
                    <a:lumMod val="75000"/>
                    <a:lumOff val="25000"/>
                  </a:schemeClr>
                </a:solidFill>
                <a:latin typeface="微软雅黑" panose="020B0503020204020204" charset="-122"/>
                <a:ea typeface="微软雅黑" panose="020B0503020204020204" charset="-122"/>
              </a:rPr>
              <a:t>点击率</a:t>
            </a:r>
            <a:r>
              <a:rPr lang="en-US" altLang="zh-CN" sz="1400" b="1">
                <a:solidFill>
                  <a:srgbClr val="FF0000"/>
                </a:solidFill>
                <a:sym typeface="+mn-ea"/>
              </a:rPr>
              <a:t>CTR</a:t>
            </a:r>
            <a:endParaRPr lang="zh-CN" altLang="en-US" sz="1400" b="1" dirty="0">
              <a:solidFill>
                <a:schemeClr val="tx1">
                  <a:lumMod val="75000"/>
                  <a:lumOff val="25000"/>
                </a:schemeClr>
              </a:solidFill>
              <a:latin typeface="微软雅黑" panose="020B0503020204020204" charset="-122"/>
              <a:ea typeface="微软雅黑" panose="020B0503020204020204" charset="-122"/>
            </a:endParaRPr>
          </a:p>
        </p:txBody>
      </p:sp>
      <p:sp>
        <p:nvSpPr>
          <p:cNvPr id="10" name="文本框 9"/>
          <p:cNvSpPr txBox="1"/>
          <p:nvPr/>
        </p:nvSpPr>
        <p:spPr>
          <a:xfrm>
            <a:off x="289061" y="3811524"/>
            <a:ext cx="1318370" cy="360680"/>
          </a:xfrm>
          <a:prstGeom prst="rect">
            <a:avLst/>
          </a:prstGeom>
          <a:noFill/>
        </p:spPr>
        <p:txBody>
          <a:bodyPr wrap="square" rtlCol="0">
            <a:spAutoFit/>
          </a:bodyPr>
          <a:p>
            <a:pPr algn="just">
              <a:lnSpc>
                <a:spcPct val="125000"/>
              </a:lnSpc>
            </a:pPr>
            <a:r>
              <a:rPr lang="zh-CN" altLang="en-US" sz="1400" b="1" dirty="0">
                <a:solidFill>
                  <a:schemeClr val="tx1">
                    <a:lumMod val="75000"/>
                    <a:lumOff val="25000"/>
                  </a:schemeClr>
                </a:solidFill>
                <a:latin typeface="微软雅黑" panose="020B0503020204020204" charset="-122"/>
                <a:ea typeface="微软雅黑" panose="020B0503020204020204" charset="-122"/>
              </a:rPr>
              <a:t>转化率</a:t>
            </a:r>
            <a:r>
              <a:rPr lang="en-US" altLang="zh-CN" sz="1400" b="1" dirty="0">
                <a:solidFill>
                  <a:schemeClr val="tx1">
                    <a:lumMod val="75000"/>
                    <a:lumOff val="25000"/>
                  </a:schemeClr>
                </a:solidFill>
                <a:latin typeface="微软雅黑" panose="020B0503020204020204" charset="-122"/>
                <a:ea typeface="微软雅黑" panose="020B0503020204020204" charset="-122"/>
              </a:rPr>
              <a:t>Acos</a:t>
            </a:r>
            <a:endParaRPr lang="en-US" altLang="zh-CN" sz="1400" b="1" dirty="0">
              <a:solidFill>
                <a:schemeClr val="tx1">
                  <a:lumMod val="75000"/>
                  <a:lumOff val="25000"/>
                </a:schemeClr>
              </a:solidFill>
              <a:latin typeface="微软雅黑" panose="020B0503020204020204" charset="-122"/>
              <a:ea typeface="微软雅黑" panose="020B0503020204020204" charset="-122"/>
            </a:endParaRPr>
          </a:p>
        </p:txBody>
      </p:sp>
      <p:sp>
        <p:nvSpPr>
          <p:cNvPr id="72" name="文本框 71"/>
          <p:cNvSpPr txBox="1"/>
          <p:nvPr/>
        </p:nvSpPr>
        <p:spPr>
          <a:xfrm>
            <a:off x="4320540" y="1097280"/>
            <a:ext cx="2820035" cy="368300"/>
          </a:xfrm>
          <a:prstGeom prst="rect">
            <a:avLst/>
          </a:prstGeom>
          <a:noFill/>
        </p:spPr>
        <p:txBody>
          <a:bodyPr wrap="none" rtlCol="0">
            <a:spAutoFit/>
          </a:bodyPr>
          <a:p>
            <a:pPr algn="l"/>
            <a:r>
              <a:rPr lang="zh-CN" altLang="en-US" b="1" dirty="0" smtClean="0">
                <a:solidFill>
                  <a:schemeClr val="tx1">
                    <a:lumMod val="85000"/>
                    <a:lumOff val="15000"/>
                  </a:schemeClr>
                </a:solidFill>
                <a:latin typeface="微软雅黑" panose="020B0503020204020204" charset="-122"/>
                <a:ea typeface="微软雅黑" panose="020B0503020204020204" charset="-122"/>
                <a:sym typeface="+mn-ea"/>
              </a:rPr>
              <a:t>曝光量 </a:t>
            </a:r>
            <a:r>
              <a:rPr lang="en-US" altLang="zh-CN" b="1" dirty="0" smtClean="0">
                <a:solidFill>
                  <a:schemeClr val="tx1">
                    <a:lumMod val="85000"/>
                    <a:lumOff val="15000"/>
                  </a:schemeClr>
                </a:solidFill>
                <a:latin typeface="微软雅黑" panose="020B0503020204020204" charset="-122"/>
                <a:ea typeface="微软雅黑" panose="020B0503020204020204" charset="-122"/>
                <a:sym typeface="+mn-ea"/>
              </a:rPr>
              <a:t>x </a:t>
            </a:r>
            <a:r>
              <a:rPr lang="zh-CN" altLang="en-US" b="1" dirty="0" smtClean="0">
                <a:solidFill>
                  <a:schemeClr val="tx1">
                    <a:lumMod val="85000"/>
                    <a:lumOff val="15000"/>
                  </a:schemeClr>
                </a:solidFill>
                <a:latin typeface="微软雅黑" panose="020B0503020204020204" charset="-122"/>
                <a:ea typeface="微软雅黑" panose="020B0503020204020204" charset="-122"/>
                <a:sym typeface="+mn-ea"/>
              </a:rPr>
              <a:t>点击率 </a:t>
            </a:r>
            <a:r>
              <a:rPr lang="en-US" altLang="zh-CN" b="1" dirty="0" smtClean="0">
                <a:solidFill>
                  <a:schemeClr val="tx1">
                    <a:lumMod val="85000"/>
                    <a:lumOff val="15000"/>
                  </a:schemeClr>
                </a:solidFill>
                <a:latin typeface="微软雅黑" panose="020B0503020204020204" charset="-122"/>
                <a:ea typeface="微软雅黑" panose="020B0503020204020204" charset="-122"/>
                <a:sym typeface="+mn-ea"/>
              </a:rPr>
              <a:t>= </a:t>
            </a:r>
            <a:r>
              <a:rPr lang="zh-CN" altLang="en-US" b="1" dirty="0" smtClean="0">
                <a:solidFill>
                  <a:schemeClr val="tx1">
                    <a:lumMod val="85000"/>
                    <a:lumOff val="15000"/>
                  </a:schemeClr>
                </a:solidFill>
                <a:latin typeface="微软雅黑" panose="020B0503020204020204" charset="-122"/>
                <a:ea typeface="微软雅黑" panose="020B0503020204020204" charset="-122"/>
                <a:sym typeface="+mn-ea"/>
              </a:rPr>
              <a:t>点击量</a:t>
            </a:r>
            <a:endParaRPr lang="zh-CN" altLang="en-US" b="1" dirty="0" smtClean="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73" name="文本框 72"/>
          <p:cNvSpPr txBox="1"/>
          <p:nvPr/>
        </p:nvSpPr>
        <p:spPr>
          <a:xfrm>
            <a:off x="4756785" y="5749290"/>
            <a:ext cx="2820035" cy="368300"/>
          </a:xfrm>
          <a:prstGeom prst="rect">
            <a:avLst/>
          </a:prstGeom>
          <a:noFill/>
        </p:spPr>
        <p:txBody>
          <a:bodyPr wrap="none" rtlCol="0">
            <a:spAutoFit/>
          </a:bodyPr>
          <a:p>
            <a:pPr algn="l"/>
            <a:r>
              <a:rPr lang="zh-CN" altLang="en-US" b="1" dirty="0" smtClean="0">
                <a:solidFill>
                  <a:schemeClr val="tx1">
                    <a:lumMod val="85000"/>
                    <a:lumOff val="15000"/>
                  </a:schemeClr>
                </a:solidFill>
                <a:latin typeface="微软雅黑" panose="020B0503020204020204" charset="-122"/>
                <a:ea typeface="微软雅黑" panose="020B0503020204020204" charset="-122"/>
                <a:sym typeface="+mn-ea"/>
              </a:rPr>
              <a:t>点击量 </a:t>
            </a:r>
            <a:r>
              <a:rPr lang="en-US" altLang="zh-CN" b="1" dirty="0" smtClean="0">
                <a:solidFill>
                  <a:schemeClr val="tx1">
                    <a:lumMod val="85000"/>
                    <a:lumOff val="15000"/>
                  </a:schemeClr>
                </a:solidFill>
                <a:latin typeface="微软雅黑" panose="020B0503020204020204" charset="-122"/>
                <a:ea typeface="微软雅黑" panose="020B0503020204020204" charset="-122"/>
                <a:sym typeface="+mn-ea"/>
              </a:rPr>
              <a:t>x </a:t>
            </a:r>
            <a:r>
              <a:rPr lang="zh-CN" altLang="en-US" b="1" dirty="0" smtClean="0">
                <a:solidFill>
                  <a:schemeClr val="tx1">
                    <a:lumMod val="85000"/>
                    <a:lumOff val="15000"/>
                  </a:schemeClr>
                </a:solidFill>
                <a:latin typeface="微软雅黑" panose="020B0503020204020204" charset="-122"/>
                <a:ea typeface="微软雅黑" panose="020B0503020204020204" charset="-122"/>
                <a:sym typeface="+mn-ea"/>
              </a:rPr>
              <a:t>转化率 </a:t>
            </a:r>
            <a:r>
              <a:rPr lang="en-US" altLang="zh-CN" b="1" dirty="0" smtClean="0">
                <a:solidFill>
                  <a:schemeClr val="tx1">
                    <a:lumMod val="85000"/>
                    <a:lumOff val="15000"/>
                  </a:schemeClr>
                </a:solidFill>
                <a:latin typeface="微软雅黑" panose="020B0503020204020204" charset="-122"/>
                <a:ea typeface="微软雅黑" panose="020B0503020204020204" charset="-122"/>
                <a:sym typeface="+mn-ea"/>
              </a:rPr>
              <a:t>= </a:t>
            </a:r>
            <a:r>
              <a:rPr lang="zh-CN" altLang="en-US" b="1" dirty="0" smtClean="0">
                <a:solidFill>
                  <a:schemeClr val="tx1">
                    <a:lumMod val="85000"/>
                    <a:lumOff val="15000"/>
                  </a:schemeClr>
                </a:solidFill>
                <a:latin typeface="微软雅黑" panose="020B0503020204020204" charset="-122"/>
                <a:ea typeface="微软雅黑" panose="020B0503020204020204" charset="-122"/>
                <a:sym typeface="+mn-ea"/>
              </a:rPr>
              <a:t>订单数</a:t>
            </a:r>
            <a:endParaRPr lang="zh-CN" altLang="en-US" b="1" dirty="0" smtClean="0">
              <a:solidFill>
                <a:schemeClr val="tx1">
                  <a:lumMod val="85000"/>
                  <a:lumOff val="15000"/>
                </a:schemeClr>
              </a:solidFill>
              <a:latin typeface="微软雅黑" panose="020B0503020204020204" charset="-122"/>
              <a:ea typeface="微软雅黑" panose="020B0503020204020204" charset="-122"/>
              <a:sym typeface="+mn-ea"/>
            </a:endParaRPr>
          </a:p>
        </p:txBody>
      </p:sp>
      <p:pic>
        <p:nvPicPr>
          <p:cNvPr id="74" name="图片 73" descr="F@QK[9HS_0EJ5V9A2$$8GMF"/>
          <p:cNvPicPr>
            <a:picLocks noChangeAspect="1"/>
          </p:cNvPicPr>
          <p:nvPr/>
        </p:nvPicPr>
        <p:blipFill>
          <a:blip r:embed="rId1"/>
          <a:stretch>
            <a:fillRect/>
          </a:stretch>
        </p:blipFill>
        <p:spPr>
          <a:xfrm>
            <a:off x="6783705" y="2545080"/>
            <a:ext cx="495300" cy="167640"/>
          </a:xfrm>
          <a:prstGeom prst="rect">
            <a:avLst/>
          </a:prstGeom>
        </p:spPr>
      </p:pic>
      <p:sp>
        <p:nvSpPr>
          <p:cNvPr id="75" name="文本框 74"/>
          <p:cNvSpPr txBox="1"/>
          <p:nvPr/>
        </p:nvSpPr>
        <p:spPr>
          <a:xfrm>
            <a:off x="161290" y="4817110"/>
            <a:ext cx="2867025" cy="1599565"/>
          </a:xfrm>
          <a:prstGeom prst="rect">
            <a:avLst/>
          </a:prstGeom>
          <a:noFill/>
        </p:spPr>
        <p:txBody>
          <a:bodyPr wrap="square" rtlCol="0" anchor="t">
            <a:spAutoFit/>
          </a:bodyPr>
          <a:p>
            <a:r>
              <a:rPr lang="en-US" altLang="zh-CN" sz="1400">
                <a:solidFill>
                  <a:schemeClr val="tx1">
                    <a:lumMod val="75000"/>
                    <a:lumOff val="25000"/>
                  </a:schemeClr>
                </a:solidFill>
                <a:sym typeface="+mn-ea"/>
              </a:rPr>
              <a:t>ACOS=Spends/Sales=</a:t>
            </a:r>
            <a:endParaRPr lang="en-US" altLang="zh-CN" sz="1400">
              <a:solidFill>
                <a:schemeClr val="tx1">
                  <a:lumMod val="75000"/>
                  <a:lumOff val="25000"/>
                </a:schemeClr>
              </a:solidFill>
              <a:sym typeface="+mn-ea"/>
            </a:endParaRPr>
          </a:p>
          <a:p>
            <a:r>
              <a:rPr lang="en-US" altLang="zh-CN" sz="1400">
                <a:solidFill>
                  <a:schemeClr val="tx1">
                    <a:lumMod val="75000"/>
                    <a:lumOff val="25000"/>
                  </a:schemeClr>
                </a:solidFill>
                <a:sym typeface="+mn-ea"/>
              </a:rPr>
              <a:t>(Bid x Clicks)/(Price x N)</a:t>
            </a:r>
            <a:br>
              <a:rPr lang="en-US" altLang="zh-CN" sz="1400">
                <a:solidFill>
                  <a:schemeClr val="tx1">
                    <a:lumMod val="75000"/>
                    <a:lumOff val="25000"/>
                  </a:schemeClr>
                </a:solidFill>
                <a:sym typeface="+mn-ea"/>
              </a:rPr>
            </a:br>
            <a:r>
              <a:rPr lang="en-US" altLang="zh-CN" sz="1400">
                <a:solidFill>
                  <a:schemeClr val="tx1">
                    <a:lumMod val="75000"/>
                    <a:lumOff val="25000"/>
                  </a:schemeClr>
                </a:solidFill>
                <a:sym typeface="+mn-ea"/>
              </a:rPr>
              <a:t>Bid值</a:t>
            </a:r>
            <a:r>
              <a:rPr lang="zh-CN" altLang="zh-CN" sz="1400">
                <a:solidFill>
                  <a:schemeClr val="tx1">
                    <a:lumMod val="75000"/>
                    <a:lumOff val="25000"/>
                  </a:schemeClr>
                </a:solidFill>
                <a:sym typeface="+mn-ea"/>
              </a:rPr>
              <a:t>范围</a:t>
            </a:r>
            <a:r>
              <a:rPr lang="en-US" altLang="zh-CN" sz="1400">
                <a:solidFill>
                  <a:schemeClr val="tx1">
                    <a:lumMod val="75000"/>
                    <a:lumOff val="25000"/>
                  </a:schemeClr>
                </a:solidFill>
                <a:sym typeface="+mn-ea"/>
              </a:rPr>
              <a:t>有限，</a:t>
            </a:r>
            <a:r>
              <a:rPr lang="zh-CN" altLang="en-US" sz="1400">
                <a:solidFill>
                  <a:schemeClr val="tx1">
                    <a:lumMod val="75000"/>
                    <a:lumOff val="25000"/>
                  </a:schemeClr>
                </a:solidFill>
                <a:sym typeface="+mn-ea"/>
              </a:rPr>
              <a:t>但</a:t>
            </a:r>
            <a:r>
              <a:rPr lang="en-US" altLang="zh-CN" sz="1400">
                <a:solidFill>
                  <a:schemeClr val="tx1">
                    <a:lumMod val="75000"/>
                    <a:lumOff val="25000"/>
                  </a:schemeClr>
                </a:solidFill>
                <a:sym typeface="+mn-ea"/>
              </a:rPr>
              <a:t>Price</a:t>
            </a:r>
            <a:endParaRPr lang="en-US" altLang="zh-CN" sz="1400">
              <a:solidFill>
                <a:schemeClr val="tx1">
                  <a:lumMod val="75000"/>
                  <a:lumOff val="25000"/>
                </a:schemeClr>
              </a:solidFill>
              <a:sym typeface="+mn-ea"/>
            </a:endParaRPr>
          </a:p>
          <a:p>
            <a:r>
              <a:rPr lang="en-US" altLang="zh-CN" sz="1400">
                <a:solidFill>
                  <a:schemeClr val="tx1">
                    <a:lumMod val="75000"/>
                    <a:lumOff val="25000"/>
                  </a:schemeClr>
                </a:solidFill>
                <a:sym typeface="+mn-ea"/>
              </a:rPr>
              <a:t>和N的乘积范围却很大，</a:t>
            </a:r>
            <a:endParaRPr lang="en-US" altLang="zh-CN" sz="1400">
              <a:solidFill>
                <a:schemeClr val="tx1">
                  <a:lumMod val="75000"/>
                  <a:lumOff val="25000"/>
                </a:schemeClr>
              </a:solidFill>
              <a:sym typeface="+mn-ea"/>
            </a:endParaRPr>
          </a:p>
          <a:p>
            <a:r>
              <a:rPr lang="en-US" altLang="zh-CN" sz="1400">
                <a:solidFill>
                  <a:schemeClr val="tx1">
                    <a:lumMod val="75000"/>
                    <a:lumOff val="25000"/>
                  </a:schemeClr>
                </a:solidFill>
                <a:sym typeface="+mn-ea"/>
              </a:rPr>
              <a:t>在Bid,Clicks,N均不变的情况下，</a:t>
            </a:r>
            <a:endParaRPr lang="en-US" altLang="zh-CN" sz="1400">
              <a:solidFill>
                <a:schemeClr val="tx1">
                  <a:lumMod val="75000"/>
                  <a:lumOff val="25000"/>
                </a:schemeClr>
              </a:solidFill>
              <a:sym typeface="+mn-ea"/>
            </a:endParaRPr>
          </a:p>
          <a:p>
            <a:r>
              <a:rPr lang="en-US" altLang="zh-CN" sz="1400">
                <a:solidFill>
                  <a:schemeClr val="tx1">
                    <a:lumMod val="75000"/>
                    <a:lumOff val="25000"/>
                  </a:schemeClr>
                </a:solidFill>
                <a:sym typeface="+mn-ea"/>
              </a:rPr>
              <a:t>Price的高低其实决定了ACOS的</a:t>
            </a:r>
            <a:r>
              <a:rPr lang="zh-CN" altLang="zh-CN" sz="1400">
                <a:solidFill>
                  <a:schemeClr val="tx1">
                    <a:lumMod val="75000"/>
                    <a:lumOff val="25000"/>
                  </a:schemeClr>
                </a:solidFill>
                <a:sym typeface="+mn-ea"/>
              </a:rPr>
              <a:t>高低</a:t>
            </a:r>
            <a:r>
              <a:rPr lang="en-US" altLang="zh-CN" sz="1400">
                <a:solidFill>
                  <a:schemeClr val="tx1">
                    <a:lumMod val="75000"/>
                    <a:lumOff val="25000"/>
                  </a:schemeClr>
                </a:solidFill>
                <a:sym typeface="+mn-ea"/>
              </a:rPr>
              <a:t>。</a:t>
            </a:r>
            <a:endParaRPr lang="en-US" altLang="zh-CN" sz="1400">
              <a:solidFill>
                <a:schemeClr val="tx1">
                  <a:lumMod val="75000"/>
                  <a:lumOff val="25000"/>
                </a:schemeClr>
              </a:solidFill>
              <a:sym typeface="+mn-ea"/>
            </a:endParaRPr>
          </a:p>
        </p:txBody>
      </p:sp>
      <p:sp>
        <p:nvSpPr>
          <p:cNvPr id="76" name="文本框 75"/>
          <p:cNvSpPr txBox="1"/>
          <p:nvPr/>
        </p:nvSpPr>
        <p:spPr>
          <a:xfrm>
            <a:off x="76200" y="2724150"/>
            <a:ext cx="1969135" cy="798830"/>
          </a:xfrm>
          <a:prstGeom prst="rect">
            <a:avLst/>
          </a:prstGeom>
          <a:noFill/>
        </p:spPr>
        <p:txBody>
          <a:bodyPr wrap="square" rtlCol="0" anchor="t">
            <a:spAutoFit/>
          </a:bodyPr>
          <a:p>
            <a:r>
              <a:rPr lang="zh-CN" altLang="en-US" sz="1400">
                <a:sym typeface="+mn-ea"/>
              </a:rPr>
              <a:t>CTR=Clicks/Impression</a:t>
            </a:r>
            <a:br>
              <a:rPr lang="zh-CN" altLang="en-US" sz="1400">
                <a:sym typeface="+mn-ea"/>
              </a:rPr>
            </a:br>
            <a:r>
              <a:rPr lang="zh-CN" altLang="en-US" sz="1400">
                <a:sym typeface="+mn-ea"/>
              </a:rPr>
              <a:t>CTR越高越有利于</a:t>
            </a:r>
            <a:r>
              <a:rPr lang="en-US" altLang="zh-CN" sz="1400">
                <a:sym typeface="+mn-ea"/>
              </a:rPr>
              <a:t>listing</a:t>
            </a:r>
            <a:r>
              <a:rPr lang="zh-CN" altLang="en-US" sz="1400">
                <a:sym typeface="+mn-ea"/>
              </a:rPr>
              <a:t>的转化</a:t>
            </a:r>
            <a:r>
              <a:rPr lang="zh-CN" altLang="en-US">
                <a:sym typeface="+mn-ea"/>
              </a:rPr>
              <a:t>。</a:t>
            </a:r>
            <a:endParaRPr lang="zh-CN" altLang="en-US"/>
          </a:p>
        </p:txBody>
      </p:sp>
      <p:sp>
        <p:nvSpPr>
          <p:cNvPr id="12" name="文本框 11"/>
          <p:cNvSpPr txBox="1"/>
          <p:nvPr/>
        </p:nvSpPr>
        <p:spPr>
          <a:xfrm>
            <a:off x="857885" y="283210"/>
            <a:ext cx="3382010" cy="583565"/>
          </a:xfrm>
          <a:prstGeom prst="rect">
            <a:avLst/>
          </a:prstGeom>
          <a:noFill/>
        </p:spPr>
        <p:txBody>
          <a:bodyPr wrap="none" rtlCol="0">
            <a:spAutoFit/>
          </a:bodyPr>
          <a:p>
            <a:pPr algn="l"/>
            <a:r>
              <a:rPr lang="zh-CN" altLang="en-US" sz="3200" b="1" dirty="0">
                <a:solidFill>
                  <a:schemeClr val="tx1">
                    <a:lumMod val="95000"/>
                    <a:lumOff val="5000"/>
                  </a:schemeClr>
                </a:solidFill>
                <a:latin typeface="微软雅黑" panose="020B0503020204020204" charset="-122"/>
                <a:ea typeface="微软雅黑" panose="020B0503020204020204" charset="-122"/>
                <a:sym typeface="+mn-ea"/>
              </a:rPr>
              <a:t>终极目标</a:t>
            </a:r>
            <a:r>
              <a:rPr lang="en-US" altLang="zh-CN" sz="3200" b="1" dirty="0">
                <a:solidFill>
                  <a:schemeClr val="tx1">
                    <a:lumMod val="95000"/>
                    <a:lumOff val="5000"/>
                  </a:schemeClr>
                </a:solidFill>
                <a:latin typeface="微软雅黑" panose="020B0503020204020204" charset="-122"/>
                <a:ea typeface="微软雅黑" panose="020B0503020204020204" charset="-122"/>
                <a:sym typeface="+mn-ea"/>
              </a:rPr>
              <a:t>--</a:t>
            </a:r>
            <a:r>
              <a:rPr lang="zh-CN" altLang="en-US" sz="3200" b="1" dirty="0">
                <a:solidFill>
                  <a:srgbClr val="C00000"/>
                </a:solidFill>
                <a:latin typeface="微软雅黑" panose="020B0503020204020204" charset="-122"/>
                <a:ea typeface="微软雅黑" panose="020B0503020204020204" charset="-122"/>
                <a:sym typeface="+mn-ea"/>
              </a:rPr>
              <a:t>订单量</a:t>
            </a:r>
            <a:endParaRPr lang="zh-CN" altLang="en-US" sz="3200" b="1" dirty="0">
              <a:solidFill>
                <a:srgbClr val="C00000"/>
              </a:solidFill>
              <a:latin typeface="微软雅黑" panose="020B0503020204020204" charset="-122"/>
              <a:ea typeface="微软雅黑" panose="020B0503020204020204" charset="-122"/>
              <a:sym typeface="+mn-ea"/>
            </a:endParaRPr>
          </a:p>
        </p:txBody>
      </p:sp>
      <p:sp>
        <p:nvSpPr>
          <p:cNvPr id="13" name="矩形 12"/>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Tree>
  </p:cSld>
  <p:clrMapOvr>
    <a:masterClrMapping/>
  </p:clrMapOvr>
  <p:transition spd="med">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8"/>
          <p:cNvSpPr>
            <a:spLocks noChangeArrowheads="1"/>
          </p:cNvSpPr>
          <p:nvPr/>
        </p:nvSpPr>
        <p:spPr bwMode="auto">
          <a:xfrm>
            <a:off x="4376014" y="2998913"/>
            <a:ext cx="272288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0"/>
              </a:spcBef>
              <a:buFont typeface="Arial" panose="020B0604020202020204" pitchFamily="34" charset="0"/>
              <a:buNone/>
            </a:pPr>
            <a:r>
              <a:rPr lang="zh-CN" altLang="en-US" sz="5000" b="1" dirty="0">
                <a:solidFill>
                  <a:schemeClr val="accent1"/>
                </a:solidFill>
                <a:latin typeface="Impact" panose="020B0806030902050204" pitchFamily="34" charset="0"/>
                <a:ea typeface="微软雅黑" panose="020B0503020204020204" charset="-122"/>
                <a:sym typeface="方正大黑简体" pitchFamily="65" charset="-122"/>
              </a:rPr>
              <a:t>团队指标</a:t>
            </a:r>
            <a:endParaRPr lang="zh-CN" altLang="en-US" sz="5000" b="1" dirty="0">
              <a:solidFill>
                <a:schemeClr val="accent1"/>
              </a:solidFill>
              <a:latin typeface="Impact" panose="020B0806030902050204" pitchFamily="34" charset="0"/>
              <a:ea typeface="微软雅黑" panose="020B0503020204020204" charset="-122"/>
              <a:sym typeface="方正大黑简体" pitchFamily="65" charset="-122"/>
            </a:endParaRPr>
          </a:p>
        </p:txBody>
      </p:sp>
      <p:sp>
        <p:nvSpPr>
          <p:cNvPr id="4" name="前言"/>
          <p:cNvSpPr>
            <a:spLocks noChangeArrowheads="1"/>
          </p:cNvSpPr>
          <p:nvPr/>
        </p:nvSpPr>
        <p:spPr bwMode="auto">
          <a:xfrm>
            <a:off x="7232449" y="3571148"/>
            <a:ext cx="16052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spcBef>
                <a:spcPct val="0"/>
              </a:spcBef>
              <a:buNone/>
            </a:pPr>
            <a:r>
              <a:rPr lang="zh-CN" altLang="en-US" sz="2800" dirty="0">
                <a:solidFill>
                  <a:schemeClr val="bg1">
                    <a:lumMod val="50000"/>
                  </a:schemeClr>
                </a:solidFill>
                <a:latin typeface="Impact" panose="020B0806030902050204" pitchFamily="34" charset="0"/>
              </a:rPr>
              <a:t>竞争意识</a:t>
            </a:r>
            <a:endParaRPr lang="zh-CN" altLang="en-US" sz="2800" dirty="0">
              <a:solidFill>
                <a:schemeClr val="bg1">
                  <a:lumMod val="50000"/>
                </a:schemeClr>
              </a:solidFill>
              <a:latin typeface="Impact" panose="020B0806030902050204" pitchFamily="34" charset="0"/>
            </a:endParaRPr>
          </a:p>
        </p:txBody>
      </p:sp>
      <p:sp>
        <p:nvSpPr>
          <p:cNvPr id="5" name="标题层"/>
          <p:cNvSpPr txBox="1"/>
          <p:nvPr/>
        </p:nvSpPr>
        <p:spPr bwMode="auto">
          <a:xfrm>
            <a:off x="1620254" y="2440205"/>
            <a:ext cx="2621247" cy="1967230"/>
          </a:xfrm>
          <a:prstGeom prst="rect">
            <a:avLst/>
          </a:prstGeom>
          <a:noFill/>
          <a:effectLst/>
        </p:spPr>
        <p:txBody>
          <a:bodyPr wrap="square" lIns="121908" tIns="60954" rIns="121908" bIns="60954">
            <a:spAutoFit/>
          </a:bodyPr>
          <a:lstStyle/>
          <a:p>
            <a:pPr algn="r" defTabSz="1218565">
              <a:defRPr/>
            </a:pPr>
            <a:r>
              <a:rPr lang="en-US" altLang="zh-CN" sz="12000" kern="0" dirty="0">
                <a:solidFill>
                  <a:schemeClr val="tx2"/>
                </a:solidFill>
                <a:latin typeface="Impact" panose="020B0806030902050204" pitchFamily="34" charset="0"/>
                <a:ea typeface="微软雅黑" panose="020B0503020204020204" charset="-122"/>
                <a:cs typeface="Arial" panose="020B0604020202020204" pitchFamily="34" charset="0"/>
              </a:rPr>
              <a:t>0</a:t>
            </a:r>
            <a:r>
              <a:rPr lang="en-US" altLang="zh-CN" sz="12000" kern="0" dirty="0" smtClean="0">
                <a:solidFill>
                  <a:schemeClr val="bg2"/>
                </a:solidFill>
                <a:latin typeface="Impact" panose="020B0806030902050204" pitchFamily="34" charset="0"/>
                <a:ea typeface="微软雅黑" panose="020B0503020204020204" charset="-122"/>
                <a:cs typeface="Arial" panose="020B0604020202020204" pitchFamily="34" charset="0"/>
                <a:sym typeface="+mn-ea"/>
              </a:rPr>
              <a:t>3</a:t>
            </a:r>
            <a:endParaRPr lang="zh-CN" altLang="en-US" sz="12000" kern="0" dirty="0">
              <a:solidFill>
                <a:schemeClr val="bg2"/>
              </a:solidFill>
              <a:latin typeface="Impact" panose="020B0806030902050204" pitchFamily="34" charset="0"/>
              <a:ea typeface="微软雅黑" panose="020B0503020204020204" charset="-122"/>
              <a:cs typeface="Arial" panose="020B0604020202020204" pitchFamily="34" charset="0"/>
            </a:endParaRPr>
          </a:p>
        </p:txBody>
      </p:sp>
      <p:sp>
        <p:nvSpPr>
          <p:cNvPr id="2" name="矩形 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25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400" fill="hold"/>
                                        <p:tgtEl>
                                          <p:spTgt spid="5"/>
                                        </p:tgtEl>
                                        <p:attrNameLst>
                                          <p:attrName>ppt_x</p:attrName>
                                        </p:attrNameLst>
                                      </p:cBhvr>
                                      <p:tavLst>
                                        <p:tav tm="0">
                                          <p:val>
                                            <p:strVal val="0-#ppt_w/2"/>
                                          </p:val>
                                        </p:tav>
                                        <p:tav tm="100000">
                                          <p:val>
                                            <p:strVal val="#ppt_x"/>
                                          </p:val>
                                        </p:tav>
                                      </p:tavLst>
                                    </p:anim>
                                    <p:anim calcmode="lin" valueType="num">
                                      <p:cBhvr additive="base">
                                        <p:cTn id="8" dur="4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1+#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 Placeholder 32"/>
          <p:cNvSpPr txBox="1"/>
          <p:nvPr/>
        </p:nvSpPr>
        <p:spPr>
          <a:xfrm>
            <a:off x="6810375" y="4475480"/>
            <a:ext cx="2060575" cy="1624965"/>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l">
              <a:lnSpc>
                <a:spcPct val="150000"/>
              </a:lnSpc>
              <a:buNone/>
            </a:pPr>
            <a:r>
              <a:rPr lang="en-US" sz="1200">
                <a:solidFill>
                  <a:schemeClr val="tx1">
                    <a:lumMod val="95000"/>
                    <a:lumOff val="5000"/>
                  </a:schemeClr>
                </a:solidFill>
                <a:latin typeface="锐字云字库魏体1.0" panose="02010604000000000000" charset="-122"/>
                <a:ea typeface="锐字云字库魏体1.0" panose="02010604000000000000" charset="-122"/>
                <a:sym typeface="+mn-ea"/>
              </a:rPr>
              <a:t>1.</a:t>
            </a:r>
            <a:r>
              <a:rPr lang="zh-CN" altLang="en-US" sz="1200">
                <a:solidFill>
                  <a:schemeClr val="tx1">
                    <a:lumMod val="95000"/>
                    <a:lumOff val="5000"/>
                  </a:schemeClr>
                </a:solidFill>
                <a:latin typeface="锐字云字库魏体1.0" panose="02010604000000000000" charset="-122"/>
                <a:ea typeface="锐字云字库魏体1.0" panose="02010604000000000000" charset="-122"/>
                <a:sym typeface="+mn-ea"/>
              </a:rPr>
              <a:t>查看产品出单，同比出单</a:t>
            </a:r>
            <a:endParaRPr lang="zh-CN" altLang="en-US" sz="1200">
              <a:solidFill>
                <a:schemeClr val="tx1">
                  <a:lumMod val="95000"/>
                  <a:lumOff val="5000"/>
                </a:schemeClr>
              </a:solidFill>
              <a:latin typeface="锐字云字库魏体1.0" panose="02010604000000000000" charset="-122"/>
              <a:ea typeface="锐字云字库魏体1.0" panose="02010604000000000000" charset="-122"/>
              <a:sym typeface="+mn-ea"/>
            </a:endParaRPr>
          </a:p>
          <a:p>
            <a:pPr marL="0" indent="0" algn="l">
              <a:lnSpc>
                <a:spcPct val="150000"/>
              </a:lnSpc>
              <a:buNone/>
            </a:pPr>
            <a:r>
              <a:rPr lang="en-US" altLang="zh-CN" sz="1200">
                <a:solidFill>
                  <a:schemeClr val="tx1">
                    <a:lumMod val="95000"/>
                    <a:lumOff val="5000"/>
                  </a:schemeClr>
                </a:solidFill>
                <a:latin typeface="锐字云字库魏体1.0" panose="02010604000000000000" charset="-122"/>
                <a:ea typeface="锐字云字库魏体1.0" panose="02010604000000000000" charset="-122"/>
                <a:sym typeface="+mn-ea"/>
              </a:rPr>
              <a:t>2.</a:t>
            </a:r>
            <a:r>
              <a:rPr lang="zh-CN" altLang="en-US" sz="1200">
                <a:solidFill>
                  <a:schemeClr val="tx1">
                    <a:lumMod val="95000"/>
                    <a:lumOff val="5000"/>
                  </a:schemeClr>
                </a:solidFill>
                <a:latin typeface="锐字云字库魏体1.0" panose="02010604000000000000" charset="-122"/>
                <a:ea typeface="锐字云字库魏体1.0" panose="02010604000000000000" charset="-122"/>
                <a:sym typeface="+mn-ea"/>
              </a:rPr>
              <a:t>找原因</a:t>
            </a:r>
            <a:endParaRPr lang="zh-CN" altLang="en-US" sz="1200">
              <a:solidFill>
                <a:schemeClr val="tx1">
                  <a:lumMod val="95000"/>
                  <a:lumOff val="5000"/>
                </a:schemeClr>
              </a:solidFill>
              <a:latin typeface="锐字云字库魏体1.0" panose="02010604000000000000" charset="-122"/>
              <a:ea typeface="锐字云字库魏体1.0" panose="02010604000000000000" charset="-122"/>
              <a:sym typeface="+mn-ea"/>
            </a:endParaRPr>
          </a:p>
          <a:p>
            <a:pPr marL="0" indent="0" algn="l">
              <a:lnSpc>
                <a:spcPct val="150000"/>
              </a:lnSpc>
              <a:buNone/>
            </a:pPr>
            <a:r>
              <a:rPr lang="en-US" altLang="zh-CN" sz="1200">
                <a:solidFill>
                  <a:schemeClr val="tx1">
                    <a:lumMod val="95000"/>
                    <a:lumOff val="5000"/>
                  </a:schemeClr>
                </a:solidFill>
                <a:latin typeface="锐字云字库魏体1.0" panose="02010604000000000000" charset="-122"/>
                <a:ea typeface="锐字云字库魏体1.0" panose="02010604000000000000" charset="-122"/>
                <a:sym typeface="+mn-ea"/>
              </a:rPr>
              <a:t>3.</a:t>
            </a:r>
            <a:r>
              <a:rPr lang="zh-CN" altLang="en-US" sz="1200">
                <a:solidFill>
                  <a:schemeClr val="tx1">
                    <a:lumMod val="95000"/>
                    <a:lumOff val="5000"/>
                  </a:schemeClr>
                </a:solidFill>
                <a:latin typeface="锐字云字库魏体1.0" panose="02010604000000000000" charset="-122"/>
                <a:ea typeface="锐字云字库魏体1.0" panose="02010604000000000000" charset="-122"/>
                <a:sym typeface="+mn-ea"/>
              </a:rPr>
              <a:t>给到解决方案</a:t>
            </a:r>
            <a:endParaRPr lang="zh-CN" altLang="en-US" sz="1200">
              <a:solidFill>
                <a:schemeClr val="tx1">
                  <a:lumMod val="95000"/>
                  <a:lumOff val="5000"/>
                </a:schemeClr>
              </a:solidFill>
              <a:latin typeface="锐字云字库魏体1.0" panose="02010604000000000000" charset="-122"/>
              <a:ea typeface="锐字云字库魏体1.0" panose="02010604000000000000" charset="-122"/>
              <a:sym typeface="+mn-ea"/>
            </a:endParaRPr>
          </a:p>
          <a:p>
            <a:pPr marL="0" indent="0" algn="l">
              <a:lnSpc>
                <a:spcPct val="150000"/>
              </a:lnSpc>
              <a:buNone/>
            </a:pPr>
            <a:r>
              <a:rPr lang="en-US" altLang="zh-CN" sz="1200">
                <a:solidFill>
                  <a:schemeClr val="tx1">
                    <a:lumMod val="95000"/>
                    <a:lumOff val="5000"/>
                  </a:schemeClr>
                </a:solidFill>
                <a:latin typeface="锐字云字库魏体1.0" panose="02010604000000000000" charset="-122"/>
                <a:ea typeface="锐字云字库魏体1.0" panose="02010604000000000000" charset="-122"/>
                <a:sym typeface="+mn-ea"/>
              </a:rPr>
              <a:t>4.</a:t>
            </a:r>
            <a:r>
              <a:rPr lang="zh-CN" altLang="en-US" sz="1200">
                <a:solidFill>
                  <a:schemeClr val="tx1">
                    <a:lumMod val="95000"/>
                    <a:lumOff val="5000"/>
                  </a:schemeClr>
                </a:solidFill>
                <a:latin typeface="锐字云字库魏体1.0" panose="02010604000000000000" charset="-122"/>
                <a:ea typeface="锐字云字库魏体1.0" panose="02010604000000000000" charset="-122"/>
                <a:sym typeface="+mn-ea"/>
              </a:rPr>
              <a:t>写直评</a:t>
            </a:r>
            <a:r>
              <a:rPr lang="en-US" altLang="zh-CN" sz="1200">
                <a:solidFill>
                  <a:schemeClr val="tx1">
                    <a:lumMod val="95000"/>
                    <a:lumOff val="5000"/>
                  </a:schemeClr>
                </a:solidFill>
                <a:latin typeface="锐字云字库魏体1.0" panose="02010604000000000000" charset="-122"/>
                <a:ea typeface="锐字云字库魏体1.0" panose="02010604000000000000" charset="-122"/>
                <a:sym typeface="+mn-ea"/>
              </a:rPr>
              <a:t>(</a:t>
            </a:r>
            <a:r>
              <a:rPr lang="zh-CN" altLang="en-US" sz="1200">
                <a:solidFill>
                  <a:schemeClr val="tx1">
                    <a:lumMod val="95000"/>
                    <a:lumOff val="5000"/>
                  </a:schemeClr>
                </a:solidFill>
                <a:latin typeface="锐字云字库魏体1.0" panose="02010604000000000000" charset="-122"/>
                <a:ea typeface="锐字云字库魏体1.0" panose="02010604000000000000" charset="-122"/>
                <a:sym typeface="+mn-ea"/>
              </a:rPr>
              <a:t>与产品实际功能相符，真实使用过的体验感受</a:t>
            </a:r>
            <a:r>
              <a:rPr lang="en-US" altLang="zh-CN" sz="1200">
                <a:solidFill>
                  <a:schemeClr val="tx1">
                    <a:lumMod val="95000"/>
                    <a:lumOff val="5000"/>
                  </a:schemeClr>
                </a:solidFill>
                <a:latin typeface="锐字云字库魏体1.0" panose="02010604000000000000" charset="-122"/>
                <a:ea typeface="锐字云字库魏体1.0" panose="02010604000000000000" charset="-122"/>
                <a:sym typeface="+mn-ea"/>
              </a:rPr>
              <a:t>)</a:t>
            </a:r>
            <a:endParaRPr lang="en-US" altLang="zh-CN" sz="1200" dirty="0">
              <a:solidFill>
                <a:schemeClr val="tx1">
                  <a:lumMod val="95000"/>
                  <a:lumOff val="5000"/>
                </a:schemeClr>
              </a:solidFill>
              <a:latin typeface="锐字云字库魏体1.0" panose="02010604000000000000" charset="-122"/>
              <a:ea typeface="锐字云字库魏体1.0" panose="02010604000000000000" charset="-122"/>
              <a:cs typeface="+mn-ea"/>
              <a:sym typeface="+mn-ea"/>
            </a:endParaRPr>
          </a:p>
        </p:txBody>
      </p:sp>
      <p:grpSp>
        <p:nvGrpSpPr>
          <p:cNvPr id="40" name="Group 39"/>
          <p:cNvGrpSpPr/>
          <p:nvPr/>
        </p:nvGrpSpPr>
        <p:grpSpPr>
          <a:xfrm>
            <a:off x="6509316" y="1773660"/>
            <a:ext cx="1865517" cy="1865760"/>
            <a:chOff x="1447864" y="1680671"/>
            <a:chExt cx="1256032" cy="1256032"/>
          </a:xfrm>
        </p:grpSpPr>
        <p:sp>
          <p:nvSpPr>
            <p:cNvPr id="52" name="Donut 51"/>
            <p:cNvSpPr/>
            <p:nvPr/>
          </p:nvSpPr>
          <p:spPr>
            <a:xfrm>
              <a:off x="1447864" y="1680671"/>
              <a:ext cx="1256032" cy="1256032"/>
            </a:xfrm>
            <a:prstGeom prst="donut">
              <a:avLst>
                <a:gd name="adj" fmla="val 11686"/>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latin typeface="+mn-ea"/>
                <a:cs typeface="+mn-ea"/>
              </a:endParaRPr>
            </a:p>
          </p:txBody>
        </p:sp>
        <p:sp>
          <p:nvSpPr>
            <p:cNvPr id="53" name="Block Arc 52"/>
            <p:cNvSpPr/>
            <p:nvPr/>
          </p:nvSpPr>
          <p:spPr>
            <a:xfrm>
              <a:off x="1447864" y="1680671"/>
              <a:ext cx="1256032" cy="1256032"/>
            </a:xfrm>
            <a:prstGeom prst="blockArc">
              <a:avLst>
                <a:gd name="adj1" fmla="val 16162069"/>
                <a:gd name="adj2" fmla="val 3793687"/>
                <a:gd name="adj3" fmla="val 11689"/>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latin typeface="+mn-ea"/>
                <a:cs typeface="+mn-ea"/>
              </a:endParaRPr>
            </a:p>
          </p:txBody>
        </p:sp>
      </p:grpSp>
      <p:sp>
        <p:nvSpPr>
          <p:cNvPr id="41" name="Rounded Rectangle 40"/>
          <p:cNvSpPr/>
          <p:nvPr/>
        </p:nvSpPr>
        <p:spPr>
          <a:xfrm>
            <a:off x="6810690" y="3806172"/>
            <a:ext cx="1269835" cy="486297"/>
          </a:xfrm>
          <a:prstGeom prst="roundRect">
            <a:avLst>
              <a:gd name="adj" fmla="val 50000"/>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200" spc="200" dirty="0">
                <a:latin typeface="+mn-ea"/>
                <a:cs typeface="+mn-ea"/>
              </a:rPr>
              <a:t>同比出单</a:t>
            </a:r>
            <a:endParaRPr lang="zh-CN" altLang="en-US" sz="1200" spc="200" dirty="0">
              <a:latin typeface="+mn-ea"/>
              <a:cs typeface="+mn-ea"/>
            </a:endParaRPr>
          </a:p>
        </p:txBody>
      </p:sp>
      <p:sp>
        <p:nvSpPr>
          <p:cNvPr id="42" name="Rectangle 41"/>
          <p:cNvSpPr/>
          <p:nvPr/>
        </p:nvSpPr>
        <p:spPr>
          <a:xfrm>
            <a:off x="6935134" y="2395805"/>
            <a:ext cx="1020445" cy="583565"/>
          </a:xfrm>
          <a:prstGeom prst="rect">
            <a:avLst/>
          </a:prstGeom>
        </p:spPr>
        <p:txBody>
          <a:bodyPr wrap="none">
            <a:spAutoFit/>
          </a:bodyPr>
          <a:lstStyle/>
          <a:p>
            <a:pPr algn="ctr"/>
            <a:r>
              <a:rPr lang="en-US" altLang="en-AU" sz="3200" dirty="0">
                <a:solidFill>
                  <a:schemeClr val="accent5"/>
                </a:solidFill>
                <a:latin typeface="+mn-ea"/>
                <a:cs typeface="+mn-ea"/>
              </a:rPr>
              <a:t>20</a:t>
            </a:r>
            <a:r>
              <a:rPr lang="en-AU" sz="3200" dirty="0">
                <a:solidFill>
                  <a:schemeClr val="accent5"/>
                </a:solidFill>
                <a:latin typeface="+mn-ea"/>
                <a:cs typeface="+mn-ea"/>
              </a:rPr>
              <a:t>%</a:t>
            </a:r>
            <a:endParaRPr lang="en-US" sz="3200" dirty="0">
              <a:solidFill>
                <a:schemeClr val="accent5"/>
              </a:solidFill>
              <a:latin typeface="+mn-ea"/>
              <a:cs typeface="+mn-ea"/>
            </a:endParaRPr>
          </a:p>
        </p:txBody>
      </p:sp>
      <p:sp>
        <p:nvSpPr>
          <p:cNvPr id="44" name="Text Placeholder 32"/>
          <p:cNvSpPr txBox="1"/>
          <p:nvPr/>
        </p:nvSpPr>
        <p:spPr>
          <a:xfrm>
            <a:off x="9474200" y="4475480"/>
            <a:ext cx="2865120" cy="2297430"/>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l">
              <a:lnSpc>
                <a:spcPct val="150000"/>
              </a:lnSpc>
              <a:buNone/>
            </a:pPr>
            <a:r>
              <a:rPr lang="en-US" sz="1200">
                <a:latin typeface="锐字云字库魏体1.0" panose="02010604000000000000" charset="-122"/>
                <a:ea typeface="锐字云字库魏体1.0" panose="02010604000000000000" charset="-122"/>
                <a:sym typeface="+mn-ea"/>
              </a:rPr>
              <a:t>1.CPC</a:t>
            </a:r>
            <a:r>
              <a:rPr lang="zh-CN" altLang="en-US" sz="1200">
                <a:latin typeface="锐字云字库魏体1.0" panose="02010604000000000000" charset="-122"/>
                <a:ea typeface="锐字云字库魏体1.0" panose="02010604000000000000" charset="-122"/>
                <a:sym typeface="+mn-ea"/>
              </a:rPr>
              <a:t>优化</a:t>
            </a:r>
            <a:endParaRPr lang="zh-CN" altLang="en-US" sz="1200">
              <a:solidFill>
                <a:schemeClr val="tx1"/>
              </a:solidFill>
              <a:latin typeface="锐字云字库魏体1.0" panose="02010604000000000000" charset="-122"/>
              <a:ea typeface="锐字云字库魏体1.0" panose="02010604000000000000" charset="-122"/>
              <a:sym typeface="+mn-ea"/>
            </a:endParaRPr>
          </a:p>
          <a:p>
            <a:pPr marL="0" indent="0" algn="l">
              <a:lnSpc>
                <a:spcPct val="150000"/>
              </a:lnSpc>
              <a:buNone/>
            </a:pPr>
            <a:r>
              <a:rPr lang="en-US" sz="1200">
                <a:latin typeface="锐字云字库魏体1.0" panose="02010604000000000000" charset="-122"/>
                <a:ea typeface="锐字云字库魏体1.0" panose="02010604000000000000" charset="-122"/>
                <a:sym typeface="+mn-ea"/>
              </a:rPr>
              <a:t>2.</a:t>
            </a:r>
            <a:r>
              <a:rPr lang="zh-CN" altLang="en-US" sz="1200">
                <a:latin typeface="锐字云字库魏体1.0" panose="02010604000000000000" charset="-122"/>
                <a:ea typeface="锐字云字库魏体1.0" panose="02010604000000000000" charset="-122"/>
                <a:sym typeface="+mn-ea"/>
              </a:rPr>
              <a:t>刷单测评</a:t>
            </a:r>
            <a:endParaRPr lang="zh-CN" altLang="en-US" sz="1200">
              <a:solidFill>
                <a:schemeClr val="tx1"/>
              </a:solidFill>
              <a:latin typeface="锐字云字库魏体1.0" panose="02010604000000000000" charset="-122"/>
              <a:ea typeface="锐字云字库魏体1.0" panose="02010604000000000000" charset="-122"/>
              <a:sym typeface="+mn-ea"/>
            </a:endParaRPr>
          </a:p>
          <a:p>
            <a:pPr marL="0" indent="0" algn="l">
              <a:lnSpc>
                <a:spcPct val="150000"/>
              </a:lnSpc>
              <a:buNone/>
            </a:pPr>
            <a:r>
              <a:rPr lang="en-US" altLang="zh-CN" sz="1200">
                <a:latin typeface="锐字云字库魏体1.0" panose="02010604000000000000" charset="-122"/>
                <a:ea typeface="锐字云字库魏体1.0" panose="02010604000000000000" charset="-122"/>
                <a:sym typeface="+mn-ea"/>
              </a:rPr>
              <a:t>3.</a:t>
            </a:r>
            <a:r>
              <a:rPr lang="zh-CN" altLang="en-US" sz="1200">
                <a:latin typeface="锐字云字库魏体1.0" panose="02010604000000000000" charset="-122"/>
                <a:ea typeface="锐字云字库魏体1.0" panose="02010604000000000000" charset="-122"/>
                <a:sym typeface="+mn-ea"/>
              </a:rPr>
              <a:t>总结客户反馈，数据给到供应商改善</a:t>
            </a:r>
            <a:endParaRPr lang="zh-CN" altLang="en-US" sz="1200">
              <a:latin typeface="锐字云字库魏体1.0" panose="02010604000000000000" charset="-122"/>
              <a:ea typeface="锐字云字库魏体1.0" panose="02010604000000000000" charset="-122"/>
              <a:sym typeface="+mn-ea"/>
            </a:endParaRPr>
          </a:p>
          <a:p>
            <a:pPr marL="0" indent="0" algn="l">
              <a:lnSpc>
                <a:spcPct val="150000"/>
              </a:lnSpc>
              <a:buNone/>
            </a:pPr>
            <a:r>
              <a:rPr lang="en-US" altLang="zh-CN" sz="1000" b="1">
                <a:latin typeface="锐字云字库魏体1.0" panose="02010604000000000000" charset="-122"/>
                <a:ea typeface="锐字云字库魏体1.0" panose="02010604000000000000" charset="-122"/>
                <a:sym typeface="+mn-ea"/>
              </a:rPr>
              <a:t>4.</a:t>
            </a:r>
            <a:r>
              <a:rPr lang="zh-CN" altLang="en-US" sz="1000" b="1">
                <a:latin typeface="锐字云字库魏体1.0" panose="02010604000000000000" charset="-122"/>
                <a:ea typeface="锐字云字库魏体1.0" panose="02010604000000000000" charset="-122"/>
                <a:sym typeface="+mn-ea"/>
              </a:rPr>
              <a:t>优化</a:t>
            </a:r>
            <a:r>
              <a:rPr lang="en-US" altLang="zh-CN" sz="1000" b="1">
                <a:latin typeface="锐字云字库魏体1.0" panose="02010604000000000000" charset="-122"/>
                <a:ea typeface="锐字云字库魏体1.0" panose="02010604000000000000" charset="-122"/>
                <a:sym typeface="+mn-ea"/>
              </a:rPr>
              <a:t>Lsting,</a:t>
            </a:r>
            <a:r>
              <a:rPr lang="zh-CN" altLang="en-US" sz="1000" b="1">
                <a:latin typeface="锐字云字库魏体1.0" panose="02010604000000000000" charset="-122"/>
                <a:ea typeface="锐字云字库魏体1.0" panose="02010604000000000000" charset="-122"/>
                <a:sym typeface="+mn-ea"/>
              </a:rPr>
              <a:t>关键词</a:t>
            </a:r>
            <a:endParaRPr lang="zh-CN" altLang="en-US" sz="1000" b="1">
              <a:solidFill>
                <a:schemeClr val="tx1"/>
              </a:solidFill>
              <a:latin typeface="锐字云字库魏体1.0" panose="02010604000000000000" charset="-122"/>
              <a:ea typeface="锐字云字库魏体1.0" panose="02010604000000000000" charset="-122"/>
              <a:sym typeface="+mn-ea"/>
            </a:endParaRPr>
          </a:p>
          <a:p>
            <a:pPr marL="0" indent="0" algn="l">
              <a:lnSpc>
                <a:spcPct val="150000"/>
              </a:lnSpc>
              <a:buNone/>
            </a:pPr>
            <a:r>
              <a:rPr lang="en-US" altLang="zh-CN" sz="1000" b="1">
                <a:latin typeface="锐字云字库魏体1.0" panose="02010604000000000000" charset="-122"/>
                <a:ea typeface="锐字云字库魏体1.0" panose="02010604000000000000" charset="-122"/>
                <a:sym typeface="+mn-ea"/>
              </a:rPr>
              <a:t>5.</a:t>
            </a:r>
            <a:r>
              <a:rPr lang="zh-CN" altLang="en-US" sz="1000" b="1">
                <a:latin typeface="锐字云字库魏体1.0" panose="02010604000000000000" charset="-122"/>
                <a:ea typeface="锐字云字库魏体1.0" panose="02010604000000000000" charset="-122"/>
                <a:sym typeface="+mn-ea"/>
              </a:rPr>
              <a:t>分析产品利润</a:t>
            </a:r>
            <a:endParaRPr lang="zh-CN" altLang="en-US" sz="1000" b="1">
              <a:solidFill>
                <a:schemeClr val="tx1"/>
              </a:solidFill>
              <a:latin typeface="锐字云字库魏体1.0" panose="02010604000000000000" charset="-122"/>
              <a:ea typeface="锐字云字库魏体1.0" panose="02010604000000000000" charset="-122"/>
              <a:sym typeface="+mn-ea"/>
            </a:endParaRPr>
          </a:p>
          <a:p>
            <a:pPr marL="0" indent="0" algn="l">
              <a:lnSpc>
                <a:spcPct val="150000"/>
              </a:lnSpc>
              <a:buNone/>
            </a:pPr>
            <a:r>
              <a:rPr lang="en-US" altLang="zh-CN" sz="1000" b="1">
                <a:latin typeface="锐字云字库魏体1.0" panose="02010604000000000000" charset="-122"/>
                <a:ea typeface="锐字云字库魏体1.0" panose="02010604000000000000" charset="-122"/>
                <a:sym typeface="+mn-ea"/>
              </a:rPr>
              <a:t>6.</a:t>
            </a:r>
            <a:r>
              <a:rPr lang="zh-CN" altLang="en-US" sz="1000" b="1">
                <a:latin typeface="锐字云字库魏体1.0" panose="02010604000000000000" charset="-122"/>
                <a:ea typeface="锐字云字库魏体1.0" panose="02010604000000000000" charset="-122"/>
                <a:sym typeface="+mn-ea"/>
              </a:rPr>
              <a:t>是否有秒杀推荐</a:t>
            </a:r>
            <a:endParaRPr lang="zh-CN" altLang="en-US" sz="1000" b="1">
              <a:latin typeface="锐字云字库魏体1.0" panose="02010604000000000000" charset="-122"/>
              <a:ea typeface="锐字云字库魏体1.0" panose="02010604000000000000" charset="-122"/>
              <a:sym typeface="+mn-ea"/>
            </a:endParaRPr>
          </a:p>
          <a:p>
            <a:pPr marL="0" indent="0" algn="l">
              <a:lnSpc>
                <a:spcPct val="150000"/>
              </a:lnSpc>
              <a:buNone/>
            </a:pPr>
            <a:r>
              <a:rPr lang="en-US" altLang="zh-CN" sz="1000" b="1">
                <a:latin typeface="锐字云字库魏体1.0" panose="02010604000000000000" charset="-122"/>
                <a:ea typeface="锐字云字库魏体1.0" panose="02010604000000000000" charset="-122"/>
                <a:sym typeface="+mn-ea"/>
              </a:rPr>
              <a:t>7.</a:t>
            </a:r>
            <a:r>
              <a:rPr lang="zh-CN" altLang="en-US" sz="1000" b="1">
                <a:latin typeface="锐字云字库魏体1.0" panose="02010604000000000000" charset="-122"/>
                <a:ea typeface="锐字云字库魏体1.0" panose="02010604000000000000" charset="-122"/>
                <a:sym typeface="+mn-ea"/>
              </a:rPr>
              <a:t>考虑是否备货</a:t>
            </a:r>
            <a:endParaRPr lang="en-US" altLang="zh-CN" sz="1000" b="1" dirty="0">
              <a:solidFill>
                <a:srgbClr val="7F7F7F"/>
              </a:solidFill>
              <a:latin typeface="+mn-ea"/>
              <a:cs typeface="+mn-ea"/>
            </a:endParaRPr>
          </a:p>
        </p:txBody>
      </p:sp>
      <p:grpSp>
        <p:nvGrpSpPr>
          <p:cNvPr id="46" name="Group 45"/>
          <p:cNvGrpSpPr/>
          <p:nvPr/>
        </p:nvGrpSpPr>
        <p:grpSpPr>
          <a:xfrm>
            <a:off x="9173058" y="1773660"/>
            <a:ext cx="1865517" cy="1865760"/>
            <a:chOff x="1447864" y="1680671"/>
            <a:chExt cx="1256032" cy="1256032"/>
          </a:xfrm>
        </p:grpSpPr>
        <p:sp>
          <p:nvSpPr>
            <p:cNvPr id="49" name="Donut 48"/>
            <p:cNvSpPr/>
            <p:nvPr/>
          </p:nvSpPr>
          <p:spPr>
            <a:xfrm>
              <a:off x="1447864" y="1680671"/>
              <a:ext cx="1256032" cy="1256032"/>
            </a:xfrm>
            <a:prstGeom prst="donut">
              <a:avLst>
                <a:gd name="adj" fmla="val 11686"/>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latin typeface="+mn-ea"/>
                <a:cs typeface="+mn-ea"/>
              </a:endParaRPr>
            </a:p>
          </p:txBody>
        </p:sp>
        <p:sp>
          <p:nvSpPr>
            <p:cNvPr id="50" name="Block Arc 49"/>
            <p:cNvSpPr/>
            <p:nvPr/>
          </p:nvSpPr>
          <p:spPr>
            <a:xfrm>
              <a:off x="1447864" y="1680671"/>
              <a:ext cx="1256032" cy="1256032"/>
            </a:xfrm>
            <a:prstGeom prst="blockArc">
              <a:avLst>
                <a:gd name="adj1" fmla="val 16162069"/>
                <a:gd name="adj2" fmla="val 9513426"/>
                <a:gd name="adj3" fmla="val 11542"/>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latin typeface="+mn-ea"/>
                <a:cs typeface="+mn-ea"/>
              </a:endParaRPr>
            </a:p>
          </p:txBody>
        </p:sp>
      </p:grpSp>
      <p:sp>
        <p:nvSpPr>
          <p:cNvPr id="47" name="Rounded Rectangle 46"/>
          <p:cNvSpPr/>
          <p:nvPr/>
        </p:nvSpPr>
        <p:spPr>
          <a:xfrm>
            <a:off x="9474432" y="3806172"/>
            <a:ext cx="1269835" cy="486297"/>
          </a:xfrm>
          <a:prstGeom prst="roundRect">
            <a:avLst>
              <a:gd name="adj" fmla="val 50000"/>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200" spc="200" dirty="0">
                <a:latin typeface="+mn-ea"/>
                <a:cs typeface="+mn-ea"/>
              </a:rPr>
              <a:t>产品发布</a:t>
            </a:r>
            <a:endParaRPr lang="en-US" sz="1200" spc="200" dirty="0">
              <a:latin typeface="+mn-ea"/>
              <a:cs typeface="+mn-ea"/>
            </a:endParaRPr>
          </a:p>
        </p:txBody>
      </p:sp>
      <p:sp>
        <p:nvSpPr>
          <p:cNvPr id="48" name="Rectangle 47"/>
          <p:cNvSpPr/>
          <p:nvPr/>
        </p:nvSpPr>
        <p:spPr>
          <a:xfrm>
            <a:off x="9598877" y="2395805"/>
            <a:ext cx="1020445" cy="583565"/>
          </a:xfrm>
          <a:prstGeom prst="rect">
            <a:avLst/>
          </a:prstGeom>
        </p:spPr>
        <p:txBody>
          <a:bodyPr wrap="none">
            <a:spAutoFit/>
          </a:bodyPr>
          <a:lstStyle/>
          <a:p>
            <a:pPr algn="ctr"/>
            <a:r>
              <a:rPr lang="en-US" altLang="en-AU" sz="3200" dirty="0">
                <a:solidFill>
                  <a:schemeClr val="accent6"/>
                </a:solidFill>
                <a:latin typeface="+mn-ea"/>
                <a:cs typeface="+mn-ea"/>
              </a:rPr>
              <a:t>55</a:t>
            </a:r>
            <a:r>
              <a:rPr lang="en-AU" sz="3200" dirty="0">
                <a:solidFill>
                  <a:schemeClr val="accent6"/>
                </a:solidFill>
                <a:latin typeface="+mn-ea"/>
                <a:cs typeface="+mn-ea"/>
              </a:rPr>
              <a:t>%</a:t>
            </a:r>
            <a:endParaRPr lang="en-US" sz="3200" dirty="0">
              <a:solidFill>
                <a:schemeClr val="accent6"/>
              </a:solidFill>
              <a:latin typeface="+mn-ea"/>
              <a:cs typeface="+mn-ea"/>
            </a:endParaRPr>
          </a:p>
        </p:txBody>
      </p:sp>
      <p:sp>
        <p:nvSpPr>
          <p:cNvPr id="51" name="Text Placeholder 32"/>
          <p:cNvSpPr txBox="1"/>
          <p:nvPr/>
        </p:nvSpPr>
        <p:spPr>
          <a:xfrm>
            <a:off x="1445260" y="4458970"/>
            <a:ext cx="2060575" cy="2222500"/>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en-US" sz="1200">
                <a:latin typeface="锐字云字库魏体1.0" panose="02010604000000000000" charset="-122"/>
                <a:ea typeface="锐字云字库魏体1.0" panose="02010604000000000000" charset="-122"/>
                <a:sym typeface="+mn-ea"/>
              </a:rPr>
              <a:t>1.</a:t>
            </a:r>
            <a:r>
              <a:rPr lang="zh-CN" altLang="en-US" sz="1200">
                <a:latin typeface="锐字云字库魏体1.0" panose="02010604000000000000" charset="-122"/>
                <a:ea typeface="锐字云字库魏体1.0" panose="02010604000000000000" charset="-122"/>
                <a:sym typeface="+mn-ea"/>
              </a:rPr>
              <a:t>客户问题处理回复邮件</a:t>
            </a:r>
            <a:endParaRPr lang="zh-CN" altLang="en-US" sz="1200" dirty="0">
              <a:solidFill>
                <a:schemeClr val="tx1">
                  <a:lumMod val="85000"/>
                  <a:lumOff val="15000"/>
                </a:schemeClr>
              </a:solidFill>
              <a:latin typeface="+mn-ea"/>
              <a:cs typeface="+mn-ea"/>
              <a:sym typeface="+mn-ea"/>
            </a:endParaRPr>
          </a:p>
          <a:p>
            <a:pPr marL="0" indent="0">
              <a:lnSpc>
                <a:spcPct val="150000"/>
              </a:lnSpc>
              <a:buNone/>
            </a:pPr>
            <a:r>
              <a:rPr lang="en-US" altLang="zh-CN" sz="1200">
                <a:latin typeface="锐字云字库魏体1.0" panose="02010604000000000000" charset="-122"/>
                <a:ea typeface="锐字云字库魏体1.0" panose="02010604000000000000" charset="-122"/>
                <a:sym typeface="+mn-ea"/>
              </a:rPr>
              <a:t>2.</a:t>
            </a:r>
            <a:r>
              <a:rPr lang="zh-CN" altLang="en-US" sz="1200">
                <a:latin typeface="锐字云字库魏体1.0" panose="02010604000000000000" charset="-122"/>
                <a:ea typeface="锐字云字库魏体1.0" panose="02010604000000000000" charset="-122"/>
                <a:sym typeface="+mn-ea"/>
              </a:rPr>
              <a:t>业绩通知</a:t>
            </a:r>
            <a:endParaRPr lang="zh-CN" altLang="en-US" sz="1200">
              <a:latin typeface="锐字云字库魏体1.0" panose="02010604000000000000" charset="-122"/>
              <a:ea typeface="锐字云字库魏体1.0" panose="02010604000000000000" charset="-122"/>
              <a:sym typeface="+mn-ea"/>
            </a:endParaRPr>
          </a:p>
          <a:p>
            <a:pPr marL="0" indent="0">
              <a:lnSpc>
                <a:spcPct val="150000"/>
              </a:lnSpc>
              <a:buNone/>
            </a:pPr>
            <a:r>
              <a:rPr lang="en-US" altLang="zh-CN" sz="1200">
                <a:latin typeface="锐字云字库魏体1.0" panose="02010604000000000000" charset="-122"/>
                <a:ea typeface="锐字云字库魏体1.0" panose="02010604000000000000" charset="-122"/>
                <a:sym typeface="+mn-ea"/>
              </a:rPr>
              <a:t>3.</a:t>
            </a:r>
            <a:r>
              <a:rPr lang="zh-CN" altLang="en-US" sz="1200">
                <a:latin typeface="锐字云字库魏体1.0" panose="02010604000000000000" charset="-122"/>
                <a:ea typeface="锐字云字库魏体1.0" panose="02010604000000000000" charset="-122"/>
                <a:sym typeface="+mn-ea"/>
              </a:rPr>
              <a:t>退货请求</a:t>
            </a:r>
            <a:endParaRPr lang="zh-CN" altLang="en-US" sz="1200">
              <a:latin typeface="锐字云字库魏体1.0" panose="02010604000000000000" charset="-122"/>
              <a:ea typeface="锐字云字库魏体1.0" panose="02010604000000000000" charset="-122"/>
              <a:sym typeface="+mn-ea"/>
            </a:endParaRPr>
          </a:p>
          <a:p>
            <a:pPr marL="0" indent="0">
              <a:lnSpc>
                <a:spcPct val="150000"/>
              </a:lnSpc>
              <a:buNone/>
            </a:pPr>
            <a:r>
              <a:rPr lang="en-US" altLang="zh-CN" sz="1200">
                <a:latin typeface="锐字云字库魏体1.0" panose="02010604000000000000" charset="-122"/>
                <a:ea typeface="锐字云字库魏体1.0" panose="02010604000000000000" charset="-122"/>
                <a:sym typeface="+mn-ea"/>
              </a:rPr>
              <a:t>4.</a:t>
            </a:r>
            <a:r>
              <a:rPr lang="zh-CN" altLang="en-US" sz="1200">
                <a:latin typeface="锐字云字库魏体1.0" panose="02010604000000000000" charset="-122"/>
                <a:ea typeface="锐字云字库魏体1.0" panose="02010604000000000000" charset="-122"/>
                <a:sym typeface="+mn-ea"/>
              </a:rPr>
              <a:t>未发货订单</a:t>
            </a:r>
            <a:endParaRPr lang="zh-CN" altLang="en-US" sz="1200">
              <a:solidFill>
                <a:schemeClr val="tx1"/>
              </a:solidFill>
              <a:latin typeface="锐字云字库魏体1.0" panose="02010604000000000000" charset="-122"/>
              <a:ea typeface="锐字云字库魏体1.0" panose="02010604000000000000" charset="-122"/>
              <a:sym typeface="+mn-ea"/>
            </a:endParaRPr>
          </a:p>
          <a:p>
            <a:pPr marL="0" indent="0">
              <a:lnSpc>
                <a:spcPct val="150000"/>
              </a:lnSpc>
              <a:buNone/>
            </a:pPr>
            <a:r>
              <a:rPr lang="en-US" altLang="zh-CN" sz="1200">
                <a:latin typeface="锐字云字库魏体1.0" panose="02010604000000000000" charset="-122"/>
                <a:ea typeface="锐字云字库魏体1.0" panose="02010604000000000000" charset="-122"/>
                <a:sym typeface="+mn-ea"/>
              </a:rPr>
              <a:t>5.AtoZ,</a:t>
            </a:r>
            <a:r>
              <a:rPr lang="zh-CN" altLang="en-US" sz="1200">
                <a:latin typeface="锐字云字库魏体1.0" panose="02010604000000000000" charset="-122"/>
                <a:ea typeface="锐字云字库魏体1.0" panose="02010604000000000000" charset="-122"/>
                <a:sym typeface="+mn-ea"/>
              </a:rPr>
              <a:t>跟售处理</a:t>
            </a:r>
            <a:endParaRPr lang="zh-CN" altLang="en-US" sz="1200" dirty="0">
              <a:solidFill>
                <a:schemeClr val="tx1">
                  <a:lumMod val="85000"/>
                  <a:lumOff val="15000"/>
                </a:schemeClr>
              </a:solidFill>
              <a:latin typeface="+mn-ea"/>
              <a:cs typeface="+mn-ea"/>
              <a:sym typeface="+mn-ea"/>
            </a:endParaRPr>
          </a:p>
        </p:txBody>
      </p:sp>
      <p:grpSp>
        <p:nvGrpSpPr>
          <p:cNvPr id="5" name="Group 4"/>
          <p:cNvGrpSpPr/>
          <p:nvPr/>
        </p:nvGrpSpPr>
        <p:grpSpPr>
          <a:xfrm>
            <a:off x="1143646" y="1773660"/>
            <a:ext cx="1865517" cy="1865760"/>
            <a:chOff x="1447864" y="1680671"/>
            <a:chExt cx="1256032" cy="1256032"/>
          </a:xfrm>
        </p:grpSpPr>
        <p:sp>
          <p:nvSpPr>
            <p:cNvPr id="3" name="Donut 2"/>
            <p:cNvSpPr/>
            <p:nvPr/>
          </p:nvSpPr>
          <p:spPr>
            <a:xfrm>
              <a:off x="1447864" y="1680671"/>
              <a:ext cx="1256032" cy="1256032"/>
            </a:xfrm>
            <a:prstGeom prst="donut">
              <a:avLst>
                <a:gd name="adj" fmla="val 11686"/>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latin typeface="+mn-ea"/>
                <a:cs typeface="+mn-ea"/>
              </a:endParaRPr>
            </a:p>
          </p:txBody>
        </p:sp>
        <p:sp>
          <p:nvSpPr>
            <p:cNvPr id="2" name="Block Arc 1"/>
            <p:cNvSpPr/>
            <p:nvPr/>
          </p:nvSpPr>
          <p:spPr>
            <a:xfrm>
              <a:off x="1447864" y="1680671"/>
              <a:ext cx="1256032" cy="1256032"/>
            </a:xfrm>
            <a:prstGeom prst="blockArc">
              <a:avLst>
                <a:gd name="adj1" fmla="val 16162069"/>
                <a:gd name="adj2" fmla="val 0"/>
                <a:gd name="adj3" fmla="val 11812"/>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latin typeface="+mn-ea"/>
                <a:cs typeface="+mn-ea"/>
              </a:endParaRPr>
            </a:p>
          </p:txBody>
        </p:sp>
      </p:grpSp>
      <p:sp>
        <p:nvSpPr>
          <p:cNvPr id="6" name="Rounded Rectangle 5"/>
          <p:cNvSpPr/>
          <p:nvPr/>
        </p:nvSpPr>
        <p:spPr>
          <a:xfrm>
            <a:off x="1445020" y="3806172"/>
            <a:ext cx="1269835" cy="486297"/>
          </a:xfrm>
          <a:prstGeom prst="roundRect">
            <a:avLst>
              <a:gd name="adj" fmla="val 50000"/>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sz="1200" b="1">
                <a:solidFill>
                  <a:schemeClr val="bg1"/>
                </a:solidFill>
                <a:latin typeface="锐字云字库魏体1.0" panose="02010604000000000000" charset="-122"/>
                <a:ea typeface="锐字云字库魏体1.0" panose="02010604000000000000" charset="-122"/>
                <a:sym typeface="+mn-ea"/>
              </a:rPr>
              <a:t>店铺客户问题</a:t>
            </a:r>
            <a:endParaRPr lang="zh-CN" altLang="en-AU" sz="1200" b="1" spc="200" dirty="0">
              <a:solidFill>
                <a:schemeClr val="bg1"/>
              </a:solidFill>
              <a:latin typeface="锐字云字库魏体1.0" panose="02010604000000000000" charset="-122"/>
              <a:ea typeface="锐字云字库魏体1.0" panose="02010604000000000000" charset="-122"/>
              <a:cs typeface="+mn-ea"/>
              <a:sym typeface="+mn-ea"/>
            </a:endParaRPr>
          </a:p>
        </p:txBody>
      </p:sp>
      <p:sp>
        <p:nvSpPr>
          <p:cNvPr id="7" name="Rectangle 6"/>
          <p:cNvSpPr/>
          <p:nvPr/>
        </p:nvSpPr>
        <p:spPr>
          <a:xfrm>
            <a:off x="1569465" y="2395805"/>
            <a:ext cx="1020445" cy="583565"/>
          </a:xfrm>
          <a:prstGeom prst="rect">
            <a:avLst/>
          </a:prstGeom>
        </p:spPr>
        <p:txBody>
          <a:bodyPr wrap="none">
            <a:spAutoFit/>
          </a:bodyPr>
          <a:lstStyle/>
          <a:p>
            <a:pPr algn="ctr"/>
            <a:r>
              <a:rPr lang="en-AU" sz="3200" dirty="0">
                <a:solidFill>
                  <a:schemeClr val="accent1"/>
                </a:solidFill>
                <a:latin typeface="+mn-ea"/>
                <a:cs typeface="+mn-ea"/>
              </a:rPr>
              <a:t>2</a:t>
            </a:r>
            <a:r>
              <a:rPr lang="en-US" altLang="en-AU" sz="3200" dirty="0">
                <a:solidFill>
                  <a:schemeClr val="accent1"/>
                </a:solidFill>
                <a:latin typeface="+mn-ea"/>
                <a:cs typeface="+mn-ea"/>
              </a:rPr>
              <a:t>0</a:t>
            </a:r>
            <a:r>
              <a:rPr lang="en-AU" sz="3200" dirty="0">
                <a:solidFill>
                  <a:schemeClr val="accent1"/>
                </a:solidFill>
                <a:latin typeface="+mn-ea"/>
                <a:cs typeface="+mn-ea"/>
              </a:rPr>
              <a:t>%</a:t>
            </a:r>
            <a:endParaRPr lang="en-US" sz="3200" dirty="0">
              <a:solidFill>
                <a:schemeClr val="accent1"/>
              </a:solidFill>
              <a:latin typeface="+mn-ea"/>
              <a:cs typeface="+mn-ea"/>
            </a:endParaRPr>
          </a:p>
        </p:txBody>
      </p:sp>
      <p:sp>
        <p:nvSpPr>
          <p:cNvPr id="30" name="Text Placeholder 32"/>
          <p:cNvSpPr txBox="1"/>
          <p:nvPr/>
        </p:nvSpPr>
        <p:spPr>
          <a:xfrm>
            <a:off x="4102735" y="4458970"/>
            <a:ext cx="2060575" cy="1902460"/>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l">
              <a:lnSpc>
                <a:spcPct val="150000"/>
              </a:lnSpc>
              <a:buNone/>
            </a:pPr>
            <a:r>
              <a:rPr lang="en-US" altLang="zh-CN" sz="1200">
                <a:latin typeface="锐字云字库魏体1.0" panose="02010604000000000000" charset="-122"/>
                <a:ea typeface="锐字云字库魏体1.0" panose="02010604000000000000" charset="-122"/>
                <a:sym typeface="+mn-ea"/>
              </a:rPr>
              <a:t>1.</a:t>
            </a:r>
            <a:r>
              <a:rPr lang="zh-CN" altLang="en-US" sz="1200">
                <a:latin typeface="锐字云字库魏体1.0" panose="02010604000000000000" charset="-122"/>
                <a:ea typeface="锐字云字库魏体1.0" panose="02010604000000000000" charset="-122"/>
                <a:sym typeface="+mn-ea"/>
              </a:rPr>
              <a:t>检查</a:t>
            </a:r>
            <a:r>
              <a:rPr lang="en-US" altLang="zh-CN" sz="1200">
                <a:latin typeface="锐字云字库魏体1.0" panose="02010604000000000000" charset="-122"/>
                <a:ea typeface="锐字云字库魏体1.0" panose="02010604000000000000" charset="-122"/>
                <a:sym typeface="+mn-ea"/>
              </a:rPr>
              <a:t>listing</a:t>
            </a:r>
            <a:r>
              <a:rPr lang="zh-CN" altLang="en-US" sz="1200">
                <a:latin typeface="锐字云字库魏体1.0" panose="02010604000000000000" charset="-122"/>
                <a:ea typeface="锐字云字库魏体1.0" panose="02010604000000000000" charset="-122"/>
                <a:sym typeface="+mn-ea"/>
              </a:rPr>
              <a:t>是否有</a:t>
            </a:r>
            <a:r>
              <a:rPr lang="en-US" altLang="zh-CN" sz="1200">
                <a:latin typeface="锐字云字库魏体1.0" panose="02010604000000000000" charset="-122"/>
                <a:ea typeface="锐字云字库魏体1.0" panose="02010604000000000000" charset="-122"/>
                <a:sym typeface="+mn-ea"/>
              </a:rPr>
              <a:t>buybox</a:t>
            </a:r>
            <a:endParaRPr lang="en-US" altLang="zh-CN" sz="1200">
              <a:solidFill>
                <a:schemeClr val="tx1"/>
              </a:solidFill>
              <a:latin typeface="锐字云字库魏体1.0" panose="02010604000000000000" charset="-122"/>
              <a:ea typeface="锐字云字库魏体1.0" panose="02010604000000000000" charset="-122"/>
              <a:sym typeface="+mn-ea"/>
            </a:endParaRPr>
          </a:p>
          <a:p>
            <a:pPr marL="0" indent="0" algn="l">
              <a:lnSpc>
                <a:spcPct val="150000"/>
              </a:lnSpc>
              <a:buNone/>
            </a:pPr>
            <a:r>
              <a:rPr lang="en-US" altLang="zh-CN" sz="1200">
                <a:latin typeface="锐字云字库魏体1.0" panose="02010604000000000000" charset="-122"/>
                <a:ea typeface="锐字云字库魏体1.0" panose="02010604000000000000" charset="-122"/>
                <a:sym typeface="+mn-ea"/>
              </a:rPr>
              <a:t>2.</a:t>
            </a:r>
            <a:r>
              <a:rPr lang="zh-CN" altLang="en-US" sz="1200">
                <a:latin typeface="锐字云字库魏体1.0" panose="02010604000000000000" charset="-122"/>
                <a:ea typeface="锐字云字库魏体1.0" panose="02010604000000000000" charset="-122"/>
                <a:sym typeface="+mn-ea"/>
              </a:rPr>
              <a:t>是否有跟售</a:t>
            </a:r>
            <a:endParaRPr lang="zh-CN" altLang="en-US" sz="1200">
              <a:solidFill>
                <a:schemeClr val="tx1"/>
              </a:solidFill>
              <a:latin typeface="锐字云字库魏体1.0" panose="02010604000000000000" charset="-122"/>
              <a:ea typeface="锐字云字库魏体1.0" panose="02010604000000000000" charset="-122"/>
              <a:sym typeface="+mn-ea"/>
            </a:endParaRPr>
          </a:p>
          <a:p>
            <a:pPr marL="0" indent="0" algn="l">
              <a:lnSpc>
                <a:spcPct val="150000"/>
              </a:lnSpc>
              <a:buNone/>
            </a:pPr>
            <a:r>
              <a:rPr lang="en-US" altLang="zh-CN" sz="1200">
                <a:latin typeface="锐字云字库魏体1.0" panose="02010604000000000000" charset="-122"/>
                <a:ea typeface="锐字云字库魏体1.0" panose="02010604000000000000" charset="-122"/>
                <a:sym typeface="+mn-ea"/>
              </a:rPr>
              <a:t>3.</a:t>
            </a:r>
            <a:r>
              <a:rPr lang="zh-CN" altLang="en-US" sz="1200">
                <a:latin typeface="锐字云字库魏体1.0" panose="02010604000000000000" charset="-122"/>
                <a:ea typeface="锐字云字库魏体1.0" panose="02010604000000000000" charset="-122"/>
                <a:sym typeface="+mn-ea"/>
              </a:rPr>
              <a:t>是否有新的差评</a:t>
            </a:r>
            <a:endParaRPr lang="zh-CN" altLang="en-US" sz="1200">
              <a:solidFill>
                <a:schemeClr val="tx1"/>
              </a:solidFill>
              <a:latin typeface="锐字云字库魏体1.0" panose="02010604000000000000" charset="-122"/>
              <a:ea typeface="锐字云字库魏体1.0" panose="02010604000000000000" charset="-122"/>
              <a:sym typeface="+mn-ea"/>
            </a:endParaRPr>
          </a:p>
          <a:p>
            <a:pPr marL="0" indent="0" algn="l">
              <a:lnSpc>
                <a:spcPct val="150000"/>
              </a:lnSpc>
              <a:buNone/>
            </a:pPr>
            <a:r>
              <a:rPr lang="en-US" altLang="zh-CN" sz="1200">
                <a:latin typeface="锐字云字库魏体1.0" panose="02010604000000000000" charset="-122"/>
                <a:ea typeface="锐字云字库魏体1.0" panose="02010604000000000000" charset="-122"/>
                <a:sym typeface="+mn-ea"/>
              </a:rPr>
              <a:t>4.</a:t>
            </a:r>
            <a:r>
              <a:rPr lang="zh-CN" altLang="en-US" sz="1200">
                <a:latin typeface="锐字云字库魏体1.0" panose="02010604000000000000" charset="-122"/>
                <a:ea typeface="锐字云字库魏体1.0" panose="02010604000000000000" charset="-122"/>
                <a:sym typeface="+mn-ea"/>
              </a:rPr>
              <a:t>是否有客户问答没有回复</a:t>
            </a:r>
            <a:endParaRPr lang="zh-CN" altLang="en-US" sz="1200">
              <a:solidFill>
                <a:schemeClr val="tx1"/>
              </a:solidFill>
              <a:latin typeface="锐字云字库魏体1.0" panose="02010604000000000000" charset="-122"/>
              <a:ea typeface="锐字云字库魏体1.0" panose="02010604000000000000" charset="-122"/>
              <a:sym typeface="+mn-ea"/>
            </a:endParaRPr>
          </a:p>
          <a:p>
            <a:pPr marL="0" indent="0" algn="l">
              <a:lnSpc>
                <a:spcPct val="150000"/>
              </a:lnSpc>
              <a:buNone/>
            </a:pPr>
            <a:r>
              <a:rPr lang="en-US" altLang="zh-CN" sz="1200">
                <a:latin typeface="锐字云字库魏体1.0" panose="02010604000000000000" charset="-122"/>
                <a:ea typeface="锐字云字库魏体1.0" panose="02010604000000000000" charset="-122"/>
                <a:sym typeface="+mn-ea"/>
              </a:rPr>
              <a:t>5.</a:t>
            </a:r>
            <a:r>
              <a:rPr lang="zh-CN" altLang="en-US" sz="1200">
                <a:latin typeface="锐字云字库魏体1.0" panose="02010604000000000000" charset="-122"/>
                <a:ea typeface="锐字云字库魏体1.0" panose="02010604000000000000" charset="-122"/>
                <a:sym typeface="+mn-ea"/>
              </a:rPr>
              <a:t>排名是否降了</a:t>
            </a:r>
            <a:endParaRPr lang="en-US" altLang="zh-CN" sz="1200" dirty="0">
              <a:solidFill>
                <a:srgbClr val="7F7F7F"/>
              </a:solidFill>
              <a:latin typeface="+mn-ea"/>
              <a:cs typeface="+mn-ea"/>
            </a:endParaRPr>
          </a:p>
        </p:txBody>
      </p:sp>
      <p:grpSp>
        <p:nvGrpSpPr>
          <p:cNvPr id="32" name="Group 31"/>
          <p:cNvGrpSpPr/>
          <p:nvPr/>
        </p:nvGrpSpPr>
        <p:grpSpPr>
          <a:xfrm>
            <a:off x="3807389" y="1773660"/>
            <a:ext cx="1865517" cy="1865760"/>
            <a:chOff x="1447864" y="1680671"/>
            <a:chExt cx="1256032" cy="1256032"/>
          </a:xfrm>
        </p:grpSpPr>
        <p:sp>
          <p:nvSpPr>
            <p:cNvPr id="33" name="Donut 32"/>
            <p:cNvSpPr/>
            <p:nvPr/>
          </p:nvSpPr>
          <p:spPr>
            <a:xfrm>
              <a:off x="1447864" y="1680671"/>
              <a:ext cx="1256032" cy="1256032"/>
            </a:xfrm>
            <a:prstGeom prst="donut">
              <a:avLst>
                <a:gd name="adj" fmla="val 11686"/>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latin typeface="+mn-ea"/>
                <a:cs typeface="+mn-ea"/>
              </a:endParaRPr>
            </a:p>
          </p:txBody>
        </p:sp>
        <p:sp>
          <p:nvSpPr>
            <p:cNvPr id="34" name="Block Arc 33"/>
            <p:cNvSpPr/>
            <p:nvPr/>
          </p:nvSpPr>
          <p:spPr>
            <a:xfrm>
              <a:off x="1447864" y="1680671"/>
              <a:ext cx="1256032" cy="1256032"/>
            </a:xfrm>
            <a:prstGeom prst="blockArc">
              <a:avLst>
                <a:gd name="adj1" fmla="val 16162069"/>
                <a:gd name="adj2" fmla="val 9513426"/>
                <a:gd name="adj3" fmla="val 11542"/>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latin typeface="+mn-ea"/>
                <a:cs typeface="+mn-ea"/>
              </a:endParaRPr>
            </a:p>
          </p:txBody>
        </p:sp>
      </p:grpSp>
      <p:sp>
        <p:nvSpPr>
          <p:cNvPr id="35" name="Rounded Rectangle 34"/>
          <p:cNvSpPr/>
          <p:nvPr/>
        </p:nvSpPr>
        <p:spPr>
          <a:xfrm>
            <a:off x="4103048" y="3806172"/>
            <a:ext cx="1269835" cy="486297"/>
          </a:xfrm>
          <a:prstGeom prst="roundRect">
            <a:avLst>
              <a:gd name="adj" fmla="val 50000"/>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200" b="1">
                <a:solidFill>
                  <a:schemeClr val="bg1"/>
                </a:solidFill>
                <a:latin typeface="锐字云字库魏体1.0" panose="02010604000000000000" charset="-122"/>
                <a:ea typeface="锐字云字库魏体1.0" panose="02010604000000000000" charset="-122"/>
                <a:sym typeface="+mn-ea"/>
              </a:rPr>
              <a:t>Listing</a:t>
            </a:r>
            <a:r>
              <a:rPr lang="zh-CN" altLang="en-US" sz="1200" b="1">
                <a:solidFill>
                  <a:schemeClr val="bg1"/>
                </a:solidFill>
                <a:latin typeface="锐字云字库魏体1.0" panose="02010604000000000000" charset="-122"/>
                <a:ea typeface="锐字云字库魏体1.0" panose="02010604000000000000" charset="-122"/>
                <a:sym typeface="+mn-ea"/>
              </a:rPr>
              <a:t>状态</a:t>
            </a:r>
            <a:endParaRPr lang="zh-CN" altLang="en-US" sz="1200" b="1" spc="200" dirty="0">
              <a:solidFill>
                <a:schemeClr val="bg1"/>
              </a:solidFill>
              <a:latin typeface="锐字云字库魏体1.0" panose="02010604000000000000" charset="-122"/>
              <a:ea typeface="锐字云字库魏体1.0" panose="02010604000000000000" charset="-122"/>
              <a:cs typeface="+mn-ea"/>
              <a:sym typeface="+mn-ea"/>
            </a:endParaRPr>
          </a:p>
        </p:txBody>
      </p:sp>
      <p:sp>
        <p:nvSpPr>
          <p:cNvPr id="36" name="Rectangle 35"/>
          <p:cNvSpPr/>
          <p:nvPr/>
        </p:nvSpPr>
        <p:spPr>
          <a:xfrm>
            <a:off x="4233207" y="2395805"/>
            <a:ext cx="1020445" cy="583565"/>
          </a:xfrm>
          <a:prstGeom prst="rect">
            <a:avLst/>
          </a:prstGeom>
        </p:spPr>
        <p:txBody>
          <a:bodyPr wrap="none">
            <a:spAutoFit/>
          </a:bodyPr>
          <a:lstStyle/>
          <a:p>
            <a:pPr algn="ctr"/>
            <a:r>
              <a:rPr lang="en-US" altLang="en-AU" sz="3200" dirty="0">
                <a:solidFill>
                  <a:srgbClr val="7F7F7F"/>
                </a:solidFill>
                <a:latin typeface="+mn-ea"/>
                <a:cs typeface="+mn-ea"/>
              </a:rPr>
              <a:t>15</a:t>
            </a:r>
            <a:r>
              <a:rPr lang="en-AU" sz="3200" dirty="0">
                <a:solidFill>
                  <a:srgbClr val="7F7F7F"/>
                </a:solidFill>
                <a:latin typeface="+mn-ea"/>
                <a:cs typeface="+mn-ea"/>
              </a:rPr>
              <a:t>%</a:t>
            </a:r>
            <a:endParaRPr lang="en-US" sz="3200" dirty="0">
              <a:solidFill>
                <a:srgbClr val="7F7F7F"/>
              </a:solidFill>
              <a:latin typeface="+mn-ea"/>
              <a:cs typeface="+mn-ea"/>
            </a:endParaRPr>
          </a:p>
        </p:txBody>
      </p:sp>
      <p:sp>
        <p:nvSpPr>
          <p:cNvPr id="45" name="矩形 44"/>
          <p:cNvSpPr/>
          <p:nvPr/>
        </p:nvSpPr>
        <p:spPr>
          <a:xfrm>
            <a:off x="1618755" y="451080"/>
            <a:ext cx="3840480" cy="506730"/>
          </a:xfrm>
          <a:prstGeom prst="rect">
            <a:avLst/>
          </a:prstGeom>
        </p:spPr>
        <p:txBody>
          <a:bodyPr wrap="none">
            <a:spAutoFit/>
          </a:bodyPr>
          <a:p>
            <a:pPr algn="l">
              <a:lnSpc>
                <a:spcPct val="150000"/>
              </a:lnSpc>
            </a:pPr>
            <a:r>
              <a:rPr lang="zh-CN" altLang="en-US" b="1" dirty="0">
                <a:solidFill>
                  <a:schemeClr val="tx1">
                    <a:lumMod val="95000"/>
                    <a:lumOff val="5000"/>
                  </a:schemeClr>
                </a:solidFill>
                <a:latin typeface="微软雅黑" panose="020B0503020204020204" charset="-122"/>
                <a:ea typeface="微软雅黑" panose="020B0503020204020204" charset="-122"/>
              </a:rPr>
              <a:t>合格的销售员应该具备哪些素质要求</a:t>
            </a:r>
            <a:endParaRPr lang="zh-CN" altLang="en-US" b="1" dirty="0">
              <a:solidFill>
                <a:schemeClr val="tx1">
                  <a:lumMod val="95000"/>
                  <a:lumOff val="5000"/>
                </a:schemeClr>
              </a:solidFill>
              <a:latin typeface="微软雅黑" panose="020B0503020204020204" charset="-122"/>
              <a:ea typeface="微软雅黑" panose="020B0503020204020204" charset="-122"/>
            </a:endParaRPr>
          </a:p>
        </p:txBody>
      </p:sp>
      <p:sp>
        <p:nvSpPr>
          <p:cNvPr id="4" name="矩形 3"/>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grpSp>
        <p:nvGrpSpPr>
          <p:cNvPr id="8" name="组合 7"/>
          <p:cNvGrpSpPr/>
          <p:nvPr/>
        </p:nvGrpSpPr>
        <p:grpSpPr>
          <a:xfrm>
            <a:off x="820965" y="0"/>
            <a:ext cx="717550" cy="1097304"/>
            <a:chOff x="4704555" y="313131"/>
            <a:chExt cx="2782888" cy="4255695"/>
          </a:xfrm>
        </p:grpSpPr>
        <p:sp>
          <p:nvSpPr>
            <p:cNvPr id="10" name="流程图: 决策 5"/>
            <p:cNvSpPr/>
            <p:nvPr/>
          </p:nvSpPr>
          <p:spPr>
            <a:xfrm>
              <a:off x="4704555" y="313131"/>
              <a:ext cx="2782888" cy="425569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11" name="流程图: 决策 6"/>
            <p:cNvSpPr/>
            <p:nvPr/>
          </p:nvSpPr>
          <p:spPr>
            <a:xfrm>
              <a:off x="4934127" y="2015510"/>
              <a:ext cx="2323745" cy="2323745"/>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grpSp>
      <p:sp>
        <p:nvSpPr>
          <p:cNvPr id="12" name="文本框 11"/>
          <p:cNvSpPr txBox="1"/>
          <p:nvPr/>
        </p:nvSpPr>
        <p:spPr>
          <a:xfrm>
            <a:off x="733564" y="451148"/>
            <a:ext cx="950408" cy="583565"/>
          </a:xfrm>
          <a:prstGeom prst="rect">
            <a:avLst/>
          </a:prstGeom>
          <a:noFill/>
        </p:spPr>
        <p:txBody>
          <a:bodyPr wrap="square" rtlCol="0">
            <a:spAutoFit/>
          </a:bodyPr>
          <a:p>
            <a:pPr algn="ctr"/>
            <a:r>
              <a:rPr lang="en-US" altLang="zh-CN" sz="3200" b="1" dirty="0" smtClean="0">
                <a:ln w="28575">
                  <a:noFill/>
                </a:ln>
                <a:latin typeface="微软雅黑" panose="020B0503020204020204" charset="-122"/>
                <a:ea typeface="微软雅黑" panose="020B0503020204020204" charset="-122"/>
              </a:rPr>
              <a:t>01</a:t>
            </a:r>
            <a:endParaRPr lang="zh-CN" altLang="en-US" sz="4800" b="1" dirty="0">
              <a:ln w="28575">
                <a:noFill/>
              </a:ln>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fade">
                                      <p:cBhvr>
                                        <p:cTn id="18" dur="500"/>
                                        <p:tgtEl>
                                          <p:spTgt spid="51"/>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p:cTn id="29" dur="500" fill="hold"/>
                                        <p:tgtEl>
                                          <p:spTgt spid="32"/>
                                        </p:tgtEl>
                                        <p:attrNameLst>
                                          <p:attrName>ppt_w</p:attrName>
                                        </p:attrNameLst>
                                      </p:cBhvr>
                                      <p:tavLst>
                                        <p:tav tm="0">
                                          <p:val>
                                            <p:fltVal val="0"/>
                                          </p:val>
                                        </p:tav>
                                        <p:tav tm="100000">
                                          <p:val>
                                            <p:strVal val="#ppt_w"/>
                                          </p:val>
                                        </p:tav>
                                      </p:tavLst>
                                    </p:anim>
                                    <p:anim calcmode="lin" valueType="num">
                                      <p:cBhvr>
                                        <p:cTn id="30" dur="500" fill="hold"/>
                                        <p:tgtEl>
                                          <p:spTgt spid="32"/>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500"/>
                                        <p:tgtEl>
                                          <p:spTgt spid="3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500"/>
                                        <p:tgtEl>
                                          <p:spTgt spid="30"/>
                                        </p:tgtEl>
                                      </p:cBhvr>
                                    </p:animEffect>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grpId="0" nodeType="clickEffect">
                                  <p:stCondLst>
                                    <p:cond delay="0"/>
                                  </p:stCondLst>
                                  <p:childTnLst>
                                    <p:set>
                                      <p:cBhvr>
                                        <p:cTn id="44" dur="1" fill="hold">
                                          <p:stCondLst>
                                            <p:cond delay="0"/>
                                          </p:stCondLst>
                                        </p:cTn>
                                        <p:tgtEl>
                                          <p:spTgt spid="35"/>
                                        </p:tgtEl>
                                        <p:attrNameLst>
                                          <p:attrName>style.visibility</p:attrName>
                                        </p:attrNameLst>
                                      </p:cBhvr>
                                      <p:to>
                                        <p:strVal val="visible"/>
                                      </p:to>
                                    </p:set>
                                    <p:anim calcmode="lin" valueType="num">
                                      <p:cBhvr>
                                        <p:cTn id="45" dur="500" fill="hold"/>
                                        <p:tgtEl>
                                          <p:spTgt spid="35"/>
                                        </p:tgtEl>
                                        <p:attrNameLst>
                                          <p:attrName>ppt_w</p:attrName>
                                        </p:attrNameLst>
                                      </p:cBhvr>
                                      <p:tavLst>
                                        <p:tav tm="0">
                                          <p:val>
                                            <p:fltVal val="0"/>
                                          </p:val>
                                        </p:tav>
                                        <p:tav tm="100000">
                                          <p:val>
                                            <p:strVal val="#ppt_w"/>
                                          </p:val>
                                        </p:tav>
                                      </p:tavLst>
                                    </p:anim>
                                    <p:anim calcmode="lin" valueType="num">
                                      <p:cBhvr>
                                        <p:cTn id="46" dur="500" fill="hold"/>
                                        <p:tgtEl>
                                          <p:spTgt spid="35"/>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3" presetClass="entr" presetSubtype="16" fill="hold" nodeType="clickEffect">
                                  <p:stCondLst>
                                    <p:cond delay="0"/>
                                  </p:stCondLst>
                                  <p:childTnLst>
                                    <p:set>
                                      <p:cBhvr>
                                        <p:cTn id="50" dur="1" fill="hold">
                                          <p:stCondLst>
                                            <p:cond delay="0"/>
                                          </p:stCondLst>
                                        </p:cTn>
                                        <p:tgtEl>
                                          <p:spTgt spid="40"/>
                                        </p:tgtEl>
                                        <p:attrNameLst>
                                          <p:attrName>style.visibility</p:attrName>
                                        </p:attrNameLst>
                                      </p:cBhvr>
                                      <p:to>
                                        <p:strVal val="visible"/>
                                      </p:to>
                                    </p:set>
                                    <p:anim calcmode="lin" valueType="num">
                                      <p:cBhvr>
                                        <p:cTn id="51" dur="500" fill="hold"/>
                                        <p:tgtEl>
                                          <p:spTgt spid="40"/>
                                        </p:tgtEl>
                                        <p:attrNameLst>
                                          <p:attrName>ppt_w</p:attrName>
                                        </p:attrNameLst>
                                      </p:cBhvr>
                                      <p:tavLst>
                                        <p:tav tm="0">
                                          <p:val>
                                            <p:fltVal val="0"/>
                                          </p:val>
                                        </p:tav>
                                        <p:tav tm="100000">
                                          <p:val>
                                            <p:strVal val="#ppt_w"/>
                                          </p:val>
                                        </p:tav>
                                      </p:tavLst>
                                    </p:anim>
                                    <p:anim calcmode="lin" valueType="num">
                                      <p:cBhvr>
                                        <p:cTn id="52" dur="500" fill="hold"/>
                                        <p:tgtEl>
                                          <p:spTgt spid="40"/>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5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8"/>
                                        </p:tgtEl>
                                        <p:attrNameLst>
                                          <p:attrName>style.visibility</p:attrName>
                                        </p:attrNameLst>
                                      </p:cBhvr>
                                      <p:to>
                                        <p:strVal val="visible"/>
                                      </p:to>
                                    </p:set>
                                    <p:animEffect transition="in" filter="fade">
                                      <p:cBhvr>
                                        <p:cTn id="62" dur="500"/>
                                        <p:tgtEl>
                                          <p:spTgt spid="38"/>
                                        </p:tgtEl>
                                      </p:cBhvr>
                                    </p:animEffect>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grpId="0" nodeType="clickEffect">
                                  <p:stCondLst>
                                    <p:cond delay="0"/>
                                  </p:stCondLst>
                                  <p:childTnLst>
                                    <p:set>
                                      <p:cBhvr>
                                        <p:cTn id="66" dur="1" fill="hold">
                                          <p:stCondLst>
                                            <p:cond delay="0"/>
                                          </p:stCondLst>
                                        </p:cTn>
                                        <p:tgtEl>
                                          <p:spTgt spid="41"/>
                                        </p:tgtEl>
                                        <p:attrNameLst>
                                          <p:attrName>style.visibility</p:attrName>
                                        </p:attrNameLst>
                                      </p:cBhvr>
                                      <p:to>
                                        <p:strVal val="visible"/>
                                      </p:to>
                                    </p:set>
                                    <p:anim calcmode="lin" valueType="num">
                                      <p:cBhvr>
                                        <p:cTn id="67" dur="500" fill="hold"/>
                                        <p:tgtEl>
                                          <p:spTgt spid="41"/>
                                        </p:tgtEl>
                                        <p:attrNameLst>
                                          <p:attrName>ppt_w</p:attrName>
                                        </p:attrNameLst>
                                      </p:cBhvr>
                                      <p:tavLst>
                                        <p:tav tm="0">
                                          <p:val>
                                            <p:fltVal val="0"/>
                                          </p:val>
                                        </p:tav>
                                        <p:tav tm="100000">
                                          <p:val>
                                            <p:strVal val="#ppt_w"/>
                                          </p:val>
                                        </p:tav>
                                      </p:tavLst>
                                    </p:anim>
                                    <p:anim calcmode="lin" valueType="num">
                                      <p:cBhvr>
                                        <p:cTn id="68" dur="500" fill="hold"/>
                                        <p:tgtEl>
                                          <p:spTgt spid="41"/>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3" presetClass="entr" presetSubtype="16" fill="hold" nodeType="clickEffect">
                                  <p:stCondLst>
                                    <p:cond delay="0"/>
                                  </p:stCondLst>
                                  <p:childTnLst>
                                    <p:set>
                                      <p:cBhvr>
                                        <p:cTn id="72" dur="1" fill="hold">
                                          <p:stCondLst>
                                            <p:cond delay="0"/>
                                          </p:stCondLst>
                                        </p:cTn>
                                        <p:tgtEl>
                                          <p:spTgt spid="46"/>
                                        </p:tgtEl>
                                        <p:attrNameLst>
                                          <p:attrName>style.visibility</p:attrName>
                                        </p:attrNameLst>
                                      </p:cBhvr>
                                      <p:to>
                                        <p:strVal val="visible"/>
                                      </p:to>
                                    </p:set>
                                    <p:anim calcmode="lin" valueType="num">
                                      <p:cBhvr>
                                        <p:cTn id="73" dur="500" fill="hold"/>
                                        <p:tgtEl>
                                          <p:spTgt spid="46"/>
                                        </p:tgtEl>
                                        <p:attrNameLst>
                                          <p:attrName>ppt_w</p:attrName>
                                        </p:attrNameLst>
                                      </p:cBhvr>
                                      <p:tavLst>
                                        <p:tav tm="0">
                                          <p:val>
                                            <p:fltVal val="0"/>
                                          </p:val>
                                        </p:tav>
                                        <p:tav tm="100000">
                                          <p:val>
                                            <p:strVal val="#ppt_w"/>
                                          </p:val>
                                        </p:tav>
                                      </p:tavLst>
                                    </p:anim>
                                    <p:anim calcmode="lin" valueType="num">
                                      <p:cBhvr>
                                        <p:cTn id="74" dur="500" fill="hold"/>
                                        <p:tgtEl>
                                          <p:spTgt spid="46"/>
                                        </p:tgtEl>
                                        <p:attrNameLst>
                                          <p:attrName>ppt_h</p:attrName>
                                        </p:attrNameLst>
                                      </p:cBhvr>
                                      <p:tavLst>
                                        <p:tav tm="0">
                                          <p:val>
                                            <p:fltVal val="0"/>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48"/>
                                        </p:tgtEl>
                                        <p:attrNameLst>
                                          <p:attrName>style.visibility</p:attrName>
                                        </p:attrNameLst>
                                      </p:cBhvr>
                                      <p:to>
                                        <p:strVal val="visible"/>
                                      </p:to>
                                    </p:set>
                                    <p:animEffect transition="in" filter="fade">
                                      <p:cBhvr>
                                        <p:cTn id="79" dur="500"/>
                                        <p:tgtEl>
                                          <p:spTgt spid="48"/>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500"/>
                                        <p:tgtEl>
                                          <p:spTgt spid="44"/>
                                        </p:tgtEl>
                                      </p:cBhvr>
                                    </p:animEffect>
                                  </p:childTnLst>
                                </p:cTn>
                              </p:par>
                            </p:childTnLst>
                          </p:cTn>
                        </p:par>
                      </p:childTnLst>
                    </p:cTn>
                  </p:par>
                  <p:par>
                    <p:cTn id="85" fill="hold">
                      <p:stCondLst>
                        <p:cond delay="indefinite"/>
                      </p:stCondLst>
                      <p:childTnLst>
                        <p:par>
                          <p:cTn id="86" fill="hold">
                            <p:stCondLst>
                              <p:cond delay="0"/>
                            </p:stCondLst>
                            <p:childTnLst>
                              <p:par>
                                <p:cTn id="87" presetID="23" presetClass="entr" presetSubtype="16" fill="hold" grpId="0" nodeType="clickEffect">
                                  <p:stCondLst>
                                    <p:cond delay="0"/>
                                  </p:stCondLst>
                                  <p:childTnLst>
                                    <p:set>
                                      <p:cBhvr>
                                        <p:cTn id="88" dur="1" fill="hold">
                                          <p:stCondLst>
                                            <p:cond delay="0"/>
                                          </p:stCondLst>
                                        </p:cTn>
                                        <p:tgtEl>
                                          <p:spTgt spid="47"/>
                                        </p:tgtEl>
                                        <p:attrNameLst>
                                          <p:attrName>style.visibility</p:attrName>
                                        </p:attrNameLst>
                                      </p:cBhvr>
                                      <p:to>
                                        <p:strVal val="visible"/>
                                      </p:to>
                                    </p:set>
                                    <p:anim calcmode="lin" valueType="num">
                                      <p:cBhvr>
                                        <p:cTn id="89" dur="500" fill="hold"/>
                                        <p:tgtEl>
                                          <p:spTgt spid="47"/>
                                        </p:tgtEl>
                                        <p:attrNameLst>
                                          <p:attrName>ppt_w</p:attrName>
                                        </p:attrNameLst>
                                      </p:cBhvr>
                                      <p:tavLst>
                                        <p:tav tm="0">
                                          <p:val>
                                            <p:fltVal val="0"/>
                                          </p:val>
                                        </p:tav>
                                        <p:tav tm="100000">
                                          <p:val>
                                            <p:strVal val="#ppt_w"/>
                                          </p:val>
                                        </p:tav>
                                      </p:tavLst>
                                    </p:anim>
                                    <p:anim calcmode="lin" valueType="num">
                                      <p:cBhvr>
                                        <p:cTn id="90" dur="500" fill="hold"/>
                                        <p:tgtEl>
                                          <p:spTgt spid="4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1" grpId="0" bldLvl="0" animBg="1"/>
      <p:bldP spid="42" grpId="0"/>
      <p:bldP spid="44" grpId="0"/>
      <p:bldP spid="47" grpId="0" bldLvl="0" animBg="1"/>
      <p:bldP spid="48" grpId="0"/>
      <p:bldP spid="51" grpId="0"/>
      <p:bldP spid="6" grpId="0" bldLvl="0" animBg="1"/>
      <p:bldP spid="7" grpId="0"/>
      <p:bldP spid="30" grpId="0"/>
      <p:bldP spid="35" grpId="0" bldLvl="0" animBg="1"/>
      <p:bldP spid="3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139"/>
          <p:cNvSpPr/>
          <p:nvPr/>
        </p:nvSpPr>
        <p:spPr bwMode="auto">
          <a:xfrm>
            <a:off x="7287361" y="2154809"/>
            <a:ext cx="356381" cy="269930"/>
          </a:xfrm>
          <a:custGeom>
            <a:avLst/>
            <a:gdLst>
              <a:gd name="T0" fmla="*/ 143 w 165"/>
              <a:gd name="T1" fmla="*/ 19 h 125"/>
              <a:gd name="T2" fmla="*/ 34 w 165"/>
              <a:gd name="T3" fmla="*/ 19 h 125"/>
              <a:gd name="T4" fmla="*/ 30 w 165"/>
              <a:gd name="T5" fmla="*/ 5 h 125"/>
              <a:gd name="T6" fmla="*/ 29 w 165"/>
              <a:gd name="T7" fmla="*/ 4 h 125"/>
              <a:gd name="T8" fmla="*/ 29 w 165"/>
              <a:gd name="T9" fmla="*/ 4 h 125"/>
              <a:gd name="T10" fmla="*/ 28 w 165"/>
              <a:gd name="T11" fmla="*/ 3 h 125"/>
              <a:gd name="T12" fmla="*/ 28 w 165"/>
              <a:gd name="T13" fmla="*/ 2 h 125"/>
              <a:gd name="T14" fmla="*/ 28 w 165"/>
              <a:gd name="T15" fmla="*/ 2 h 125"/>
              <a:gd name="T16" fmla="*/ 27 w 165"/>
              <a:gd name="T17" fmla="*/ 1 h 125"/>
              <a:gd name="T18" fmla="*/ 27 w 165"/>
              <a:gd name="T19" fmla="*/ 1 h 125"/>
              <a:gd name="T20" fmla="*/ 22 w 165"/>
              <a:gd name="T21" fmla="*/ 0 h 125"/>
              <a:gd name="T22" fmla="*/ 7 w 165"/>
              <a:gd name="T23" fmla="*/ 2 h 125"/>
              <a:gd name="T24" fmla="*/ 0 w 165"/>
              <a:gd name="T25" fmla="*/ 9 h 125"/>
              <a:gd name="T26" fmla="*/ 7 w 165"/>
              <a:gd name="T27" fmla="*/ 15 h 125"/>
              <a:gd name="T28" fmla="*/ 18 w 165"/>
              <a:gd name="T29" fmla="*/ 14 h 125"/>
              <a:gd name="T30" fmla="*/ 45 w 165"/>
              <a:gd name="T31" fmla="*/ 99 h 125"/>
              <a:gd name="T32" fmla="*/ 42 w 165"/>
              <a:gd name="T33" fmla="*/ 109 h 125"/>
              <a:gd name="T34" fmla="*/ 58 w 165"/>
              <a:gd name="T35" fmla="*/ 125 h 125"/>
              <a:gd name="T36" fmla="*/ 73 w 165"/>
              <a:gd name="T37" fmla="*/ 116 h 125"/>
              <a:gd name="T38" fmla="*/ 94 w 165"/>
              <a:gd name="T39" fmla="*/ 116 h 125"/>
              <a:gd name="T40" fmla="*/ 109 w 165"/>
              <a:gd name="T41" fmla="*/ 125 h 125"/>
              <a:gd name="T42" fmla="*/ 125 w 165"/>
              <a:gd name="T43" fmla="*/ 109 h 125"/>
              <a:gd name="T44" fmla="*/ 109 w 165"/>
              <a:gd name="T45" fmla="*/ 93 h 125"/>
              <a:gd name="T46" fmla="*/ 94 w 165"/>
              <a:gd name="T47" fmla="*/ 102 h 125"/>
              <a:gd name="T48" fmla="*/ 73 w 165"/>
              <a:gd name="T49" fmla="*/ 102 h 125"/>
              <a:gd name="T50" fmla="*/ 58 w 165"/>
              <a:gd name="T51" fmla="*/ 93 h 125"/>
              <a:gd name="T52" fmla="*/ 58 w 165"/>
              <a:gd name="T53" fmla="*/ 93 h 125"/>
              <a:gd name="T54" fmla="*/ 55 w 165"/>
              <a:gd name="T55" fmla="*/ 83 h 125"/>
              <a:gd name="T56" fmla="*/ 125 w 165"/>
              <a:gd name="T57" fmla="*/ 83 h 125"/>
              <a:gd name="T58" fmla="*/ 139 w 165"/>
              <a:gd name="T59" fmla="*/ 68 h 125"/>
              <a:gd name="T60" fmla="*/ 158 w 165"/>
              <a:gd name="T61" fmla="*/ 34 h 125"/>
              <a:gd name="T62" fmla="*/ 143 w 165"/>
              <a:gd name="T63" fmla="*/ 1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5" h="125">
                <a:moveTo>
                  <a:pt x="143" y="19"/>
                </a:moveTo>
                <a:cubicBezTo>
                  <a:pt x="34" y="19"/>
                  <a:pt x="34" y="19"/>
                  <a:pt x="34" y="19"/>
                </a:cubicBezTo>
                <a:cubicBezTo>
                  <a:pt x="30" y="5"/>
                  <a:pt x="30" y="5"/>
                  <a:pt x="30" y="5"/>
                </a:cubicBezTo>
                <a:cubicBezTo>
                  <a:pt x="30" y="5"/>
                  <a:pt x="29" y="4"/>
                  <a:pt x="29" y="4"/>
                </a:cubicBezTo>
                <a:cubicBezTo>
                  <a:pt x="29" y="4"/>
                  <a:pt x="29" y="4"/>
                  <a:pt x="29" y="4"/>
                </a:cubicBezTo>
                <a:cubicBezTo>
                  <a:pt x="29" y="3"/>
                  <a:pt x="29" y="3"/>
                  <a:pt x="28" y="3"/>
                </a:cubicBezTo>
                <a:cubicBezTo>
                  <a:pt x="28" y="2"/>
                  <a:pt x="28" y="2"/>
                  <a:pt x="28" y="2"/>
                </a:cubicBezTo>
                <a:cubicBezTo>
                  <a:pt x="28" y="2"/>
                  <a:pt x="28" y="2"/>
                  <a:pt x="28" y="2"/>
                </a:cubicBezTo>
                <a:cubicBezTo>
                  <a:pt x="27" y="2"/>
                  <a:pt x="27" y="1"/>
                  <a:pt x="27" y="1"/>
                </a:cubicBezTo>
                <a:cubicBezTo>
                  <a:pt x="27" y="1"/>
                  <a:pt x="27" y="1"/>
                  <a:pt x="27" y="1"/>
                </a:cubicBezTo>
                <a:cubicBezTo>
                  <a:pt x="25" y="0"/>
                  <a:pt x="24" y="0"/>
                  <a:pt x="22" y="0"/>
                </a:cubicBezTo>
                <a:cubicBezTo>
                  <a:pt x="7" y="2"/>
                  <a:pt x="7" y="2"/>
                  <a:pt x="7" y="2"/>
                </a:cubicBezTo>
                <a:cubicBezTo>
                  <a:pt x="3" y="2"/>
                  <a:pt x="0" y="5"/>
                  <a:pt x="0" y="9"/>
                </a:cubicBezTo>
                <a:cubicBezTo>
                  <a:pt x="1" y="12"/>
                  <a:pt x="4" y="15"/>
                  <a:pt x="7" y="15"/>
                </a:cubicBezTo>
                <a:cubicBezTo>
                  <a:pt x="18" y="14"/>
                  <a:pt x="18" y="14"/>
                  <a:pt x="18" y="14"/>
                </a:cubicBezTo>
                <a:cubicBezTo>
                  <a:pt x="45" y="99"/>
                  <a:pt x="45" y="99"/>
                  <a:pt x="45" y="99"/>
                </a:cubicBezTo>
                <a:cubicBezTo>
                  <a:pt x="43" y="101"/>
                  <a:pt x="42" y="105"/>
                  <a:pt x="42" y="109"/>
                </a:cubicBezTo>
                <a:cubicBezTo>
                  <a:pt x="42" y="118"/>
                  <a:pt x="49" y="125"/>
                  <a:pt x="58" y="125"/>
                </a:cubicBezTo>
                <a:cubicBezTo>
                  <a:pt x="64" y="125"/>
                  <a:pt x="70" y="121"/>
                  <a:pt x="73" y="116"/>
                </a:cubicBezTo>
                <a:cubicBezTo>
                  <a:pt x="94" y="116"/>
                  <a:pt x="94" y="116"/>
                  <a:pt x="94" y="116"/>
                </a:cubicBezTo>
                <a:cubicBezTo>
                  <a:pt x="97" y="121"/>
                  <a:pt x="103" y="125"/>
                  <a:pt x="109" y="125"/>
                </a:cubicBezTo>
                <a:cubicBezTo>
                  <a:pt x="118" y="125"/>
                  <a:pt x="125" y="118"/>
                  <a:pt x="125" y="109"/>
                </a:cubicBezTo>
                <a:cubicBezTo>
                  <a:pt x="125" y="100"/>
                  <a:pt x="118" y="93"/>
                  <a:pt x="109" y="93"/>
                </a:cubicBezTo>
                <a:cubicBezTo>
                  <a:pt x="103" y="93"/>
                  <a:pt x="97" y="97"/>
                  <a:pt x="94" y="102"/>
                </a:cubicBezTo>
                <a:cubicBezTo>
                  <a:pt x="73" y="102"/>
                  <a:pt x="73" y="102"/>
                  <a:pt x="73" y="102"/>
                </a:cubicBezTo>
                <a:cubicBezTo>
                  <a:pt x="70" y="97"/>
                  <a:pt x="64" y="93"/>
                  <a:pt x="58" y="93"/>
                </a:cubicBezTo>
                <a:cubicBezTo>
                  <a:pt x="58" y="93"/>
                  <a:pt x="58" y="93"/>
                  <a:pt x="58" y="93"/>
                </a:cubicBezTo>
                <a:cubicBezTo>
                  <a:pt x="55" y="83"/>
                  <a:pt x="55" y="83"/>
                  <a:pt x="55" y="83"/>
                </a:cubicBezTo>
                <a:cubicBezTo>
                  <a:pt x="125" y="83"/>
                  <a:pt x="125" y="83"/>
                  <a:pt x="125" y="83"/>
                </a:cubicBezTo>
                <a:cubicBezTo>
                  <a:pt x="133" y="83"/>
                  <a:pt x="134" y="77"/>
                  <a:pt x="139" y="68"/>
                </a:cubicBezTo>
                <a:cubicBezTo>
                  <a:pt x="158" y="34"/>
                  <a:pt x="158" y="34"/>
                  <a:pt x="158" y="34"/>
                </a:cubicBezTo>
                <a:cubicBezTo>
                  <a:pt x="165" y="20"/>
                  <a:pt x="151" y="19"/>
                  <a:pt x="143" y="1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40" name="组合 39"/>
          <p:cNvGrpSpPr/>
          <p:nvPr/>
        </p:nvGrpSpPr>
        <p:grpSpPr>
          <a:xfrm>
            <a:off x="8660188" y="3451637"/>
            <a:ext cx="307174" cy="307212"/>
            <a:chOff x="11121822" y="1145785"/>
            <a:chExt cx="307214" cy="307212"/>
          </a:xfrm>
          <a:solidFill>
            <a:schemeClr val="bg1"/>
          </a:solidFill>
        </p:grpSpPr>
        <p:sp>
          <p:nvSpPr>
            <p:cNvPr id="42" name="Freeform 140"/>
            <p:cNvSpPr>
              <a:spLocks noEditPoints="1"/>
            </p:cNvSpPr>
            <p:nvPr/>
          </p:nvSpPr>
          <p:spPr bwMode="auto">
            <a:xfrm>
              <a:off x="11121822" y="1211403"/>
              <a:ext cx="241594" cy="241594"/>
            </a:xfrm>
            <a:custGeom>
              <a:avLst/>
              <a:gdLst>
                <a:gd name="T0" fmla="*/ 103 w 112"/>
                <a:gd name="T1" fmla="*/ 47 h 112"/>
                <a:gd name="T2" fmla="*/ 106 w 112"/>
                <a:gd name="T3" fmla="*/ 36 h 112"/>
                <a:gd name="T4" fmla="*/ 102 w 112"/>
                <a:gd name="T5" fmla="*/ 22 h 112"/>
                <a:gd name="T6" fmla="*/ 92 w 112"/>
                <a:gd name="T7" fmla="*/ 25 h 112"/>
                <a:gd name="T8" fmla="*/ 90 w 112"/>
                <a:gd name="T9" fmla="*/ 14 h 112"/>
                <a:gd name="T10" fmla="*/ 79 w 112"/>
                <a:gd name="T11" fmla="*/ 4 h 112"/>
                <a:gd name="T12" fmla="*/ 71 w 112"/>
                <a:gd name="T13" fmla="*/ 11 h 112"/>
                <a:gd name="T14" fmla="*/ 64 w 112"/>
                <a:gd name="T15" fmla="*/ 3 h 112"/>
                <a:gd name="T16" fmla="*/ 50 w 112"/>
                <a:gd name="T17" fmla="*/ 0 h 112"/>
                <a:gd name="T18" fmla="*/ 47 w 112"/>
                <a:gd name="T19" fmla="*/ 10 h 112"/>
                <a:gd name="T20" fmla="*/ 37 w 112"/>
                <a:gd name="T21" fmla="*/ 6 h 112"/>
                <a:gd name="T22" fmla="*/ 23 w 112"/>
                <a:gd name="T23" fmla="*/ 11 h 112"/>
                <a:gd name="T24" fmla="*/ 25 w 112"/>
                <a:gd name="T25" fmla="*/ 20 h 112"/>
                <a:gd name="T26" fmla="*/ 14 w 112"/>
                <a:gd name="T27" fmla="*/ 22 h 112"/>
                <a:gd name="T28" fmla="*/ 5 w 112"/>
                <a:gd name="T29" fmla="*/ 33 h 112"/>
                <a:gd name="T30" fmla="*/ 12 w 112"/>
                <a:gd name="T31" fmla="*/ 41 h 112"/>
                <a:gd name="T32" fmla="*/ 3 w 112"/>
                <a:gd name="T33" fmla="*/ 48 h 112"/>
                <a:gd name="T34" fmla="*/ 0 w 112"/>
                <a:gd name="T35" fmla="*/ 62 h 112"/>
                <a:gd name="T36" fmla="*/ 10 w 112"/>
                <a:gd name="T37" fmla="*/ 65 h 112"/>
                <a:gd name="T38" fmla="*/ 6 w 112"/>
                <a:gd name="T39" fmla="*/ 75 h 112"/>
                <a:gd name="T40" fmla="*/ 11 w 112"/>
                <a:gd name="T41" fmla="*/ 89 h 112"/>
                <a:gd name="T42" fmla="*/ 21 w 112"/>
                <a:gd name="T43" fmla="*/ 87 h 112"/>
                <a:gd name="T44" fmla="*/ 23 w 112"/>
                <a:gd name="T45" fmla="*/ 98 h 112"/>
                <a:gd name="T46" fmla="*/ 34 w 112"/>
                <a:gd name="T47" fmla="*/ 108 h 112"/>
                <a:gd name="T48" fmla="*/ 41 w 112"/>
                <a:gd name="T49" fmla="*/ 101 h 112"/>
                <a:gd name="T50" fmla="*/ 48 w 112"/>
                <a:gd name="T51" fmla="*/ 109 h 112"/>
                <a:gd name="T52" fmla="*/ 63 w 112"/>
                <a:gd name="T53" fmla="*/ 112 h 112"/>
                <a:gd name="T54" fmla="*/ 66 w 112"/>
                <a:gd name="T55" fmla="*/ 102 h 112"/>
                <a:gd name="T56" fmla="*/ 76 w 112"/>
                <a:gd name="T57" fmla="*/ 106 h 112"/>
                <a:gd name="T58" fmla="*/ 90 w 112"/>
                <a:gd name="T59" fmla="*/ 101 h 112"/>
                <a:gd name="T60" fmla="*/ 88 w 112"/>
                <a:gd name="T61" fmla="*/ 91 h 112"/>
                <a:gd name="T62" fmla="*/ 98 w 112"/>
                <a:gd name="T63" fmla="*/ 89 h 112"/>
                <a:gd name="T64" fmla="*/ 108 w 112"/>
                <a:gd name="T65" fmla="*/ 78 h 112"/>
                <a:gd name="T66" fmla="*/ 101 w 112"/>
                <a:gd name="T67" fmla="*/ 71 h 112"/>
                <a:gd name="T68" fmla="*/ 110 w 112"/>
                <a:gd name="T69" fmla="*/ 64 h 112"/>
                <a:gd name="T70" fmla="*/ 112 w 112"/>
                <a:gd name="T71" fmla="*/ 49 h 112"/>
                <a:gd name="T72" fmla="*/ 56 w 112"/>
                <a:gd name="T73" fmla="*/ 86 h 112"/>
                <a:gd name="T74" fmla="*/ 56 w 112"/>
                <a:gd name="T75" fmla="*/ 26 h 112"/>
                <a:gd name="T76" fmla="*/ 56 w 112"/>
                <a:gd name="T7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 h="112">
                  <a:moveTo>
                    <a:pt x="110" y="47"/>
                  </a:moveTo>
                  <a:cubicBezTo>
                    <a:pt x="103" y="47"/>
                    <a:pt x="103" y="47"/>
                    <a:pt x="103" y="47"/>
                  </a:cubicBezTo>
                  <a:cubicBezTo>
                    <a:pt x="102" y="44"/>
                    <a:pt x="101" y="42"/>
                    <a:pt x="101" y="39"/>
                  </a:cubicBezTo>
                  <a:cubicBezTo>
                    <a:pt x="106" y="36"/>
                    <a:pt x="106" y="36"/>
                    <a:pt x="106" y="36"/>
                  </a:cubicBezTo>
                  <a:cubicBezTo>
                    <a:pt x="108" y="35"/>
                    <a:pt x="108" y="34"/>
                    <a:pt x="107" y="32"/>
                  </a:cubicBezTo>
                  <a:cubicBezTo>
                    <a:pt x="102" y="22"/>
                    <a:pt x="102" y="22"/>
                    <a:pt x="102" y="22"/>
                  </a:cubicBezTo>
                  <a:cubicBezTo>
                    <a:pt x="101" y="21"/>
                    <a:pt x="99" y="20"/>
                    <a:pt x="98" y="21"/>
                  </a:cubicBezTo>
                  <a:cubicBezTo>
                    <a:pt x="92" y="25"/>
                    <a:pt x="92" y="25"/>
                    <a:pt x="92" y="25"/>
                  </a:cubicBezTo>
                  <a:cubicBezTo>
                    <a:pt x="90" y="23"/>
                    <a:pt x="88" y="21"/>
                    <a:pt x="87" y="20"/>
                  </a:cubicBezTo>
                  <a:cubicBezTo>
                    <a:pt x="90" y="14"/>
                    <a:pt x="90" y="14"/>
                    <a:pt x="90" y="14"/>
                  </a:cubicBezTo>
                  <a:cubicBezTo>
                    <a:pt x="91" y="12"/>
                    <a:pt x="90" y="11"/>
                    <a:pt x="89" y="10"/>
                  </a:cubicBezTo>
                  <a:cubicBezTo>
                    <a:pt x="79" y="4"/>
                    <a:pt x="79" y="4"/>
                    <a:pt x="79" y="4"/>
                  </a:cubicBezTo>
                  <a:cubicBezTo>
                    <a:pt x="77" y="3"/>
                    <a:pt x="76" y="4"/>
                    <a:pt x="75" y="5"/>
                  </a:cubicBezTo>
                  <a:cubicBezTo>
                    <a:pt x="71" y="11"/>
                    <a:pt x="71" y="11"/>
                    <a:pt x="71" y="11"/>
                  </a:cubicBezTo>
                  <a:cubicBezTo>
                    <a:pt x="69" y="10"/>
                    <a:pt x="67" y="10"/>
                    <a:pt x="64" y="9"/>
                  </a:cubicBezTo>
                  <a:cubicBezTo>
                    <a:pt x="64" y="3"/>
                    <a:pt x="64" y="3"/>
                    <a:pt x="64" y="3"/>
                  </a:cubicBezTo>
                  <a:cubicBezTo>
                    <a:pt x="64" y="1"/>
                    <a:pt x="63" y="0"/>
                    <a:pt x="61" y="0"/>
                  </a:cubicBezTo>
                  <a:cubicBezTo>
                    <a:pt x="50" y="0"/>
                    <a:pt x="50" y="0"/>
                    <a:pt x="50" y="0"/>
                  </a:cubicBezTo>
                  <a:cubicBezTo>
                    <a:pt x="48" y="0"/>
                    <a:pt x="47" y="1"/>
                    <a:pt x="47" y="3"/>
                  </a:cubicBezTo>
                  <a:cubicBezTo>
                    <a:pt x="47" y="10"/>
                    <a:pt x="47" y="10"/>
                    <a:pt x="47" y="10"/>
                  </a:cubicBezTo>
                  <a:cubicBezTo>
                    <a:pt x="45" y="10"/>
                    <a:pt x="42" y="11"/>
                    <a:pt x="40" y="12"/>
                  </a:cubicBezTo>
                  <a:cubicBezTo>
                    <a:pt x="37" y="6"/>
                    <a:pt x="37" y="6"/>
                    <a:pt x="37" y="6"/>
                  </a:cubicBezTo>
                  <a:cubicBezTo>
                    <a:pt x="36" y="4"/>
                    <a:pt x="34" y="4"/>
                    <a:pt x="33" y="5"/>
                  </a:cubicBezTo>
                  <a:cubicBezTo>
                    <a:pt x="23" y="11"/>
                    <a:pt x="23" y="11"/>
                    <a:pt x="23" y="11"/>
                  </a:cubicBezTo>
                  <a:cubicBezTo>
                    <a:pt x="21" y="11"/>
                    <a:pt x="21" y="13"/>
                    <a:pt x="22" y="14"/>
                  </a:cubicBezTo>
                  <a:cubicBezTo>
                    <a:pt x="25" y="20"/>
                    <a:pt x="25" y="20"/>
                    <a:pt x="25" y="20"/>
                  </a:cubicBezTo>
                  <a:cubicBezTo>
                    <a:pt x="23" y="22"/>
                    <a:pt x="22" y="24"/>
                    <a:pt x="20" y="26"/>
                  </a:cubicBezTo>
                  <a:cubicBezTo>
                    <a:pt x="14" y="22"/>
                    <a:pt x="14" y="22"/>
                    <a:pt x="14" y="22"/>
                  </a:cubicBezTo>
                  <a:cubicBezTo>
                    <a:pt x="13" y="22"/>
                    <a:pt x="11" y="22"/>
                    <a:pt x="10" y="23"/>
                  </a:cubicBezTo>
                  <a:cubicBezTo>
                    <a:pt x="5" y="33"/>
                    <a:pt x="5" y="33"/>
                    <a:pt x="5" y="33"/>
                  </a:cubicBezTo>
                  <a:cubicBezTo>
                    <a:pt x="4" y="35"/>
                    <a:pt x="4" y="36"/>
                    <a:pt x="6" y="37"/>
                  </a:cubicBezTo>
                  <a:cubicBezTo>
                    <a:pt x="12" y="41"/>
                    <a:pt x="12" y="41"/>
                    <a:pt x="12" y="41"/>
                  </a:cubicBezTo>
                  <a:cubicBezTo>
                    <a:pt x="11" y="43"/>
                    <a:pt x="10" y="45"/>
                    <a:pt x="10" y="48"/>
                  </a:cubicBezTo>
                  <a:cubicBezTo>
                    <a:pt x="3" y="48"/>
                    <a:pt x="3" y="48"/>
                    <a:pt x="3" y="48"/>
                  </a:cubicBezTo>
                  <a:cubicBezTo>
                    <a:pt x="2" y="48"/>
                    <a:pt x="0" y="49"/>
                    <a:pt x="0" y="51"/>
                  </a:cubicBezTo>
                  <a:cubicBezTo>
                    <a:pt x="0" y="62"/>
                    <a:pt x="0" y="62"/>
                    <a:pt x="0" y="62"/>
                  </a:cubicBezTo>
                  <a:cubicBezTo>
                    <a:pt x="0" y="64"/>
                    <a:pt x="2" y="65"/>
                    <a:pt x="3" y="65"/>
                  </a:cubicBezTo>
                  <a:cubicBezTo>
                    <a:pt x="10" y="65"/>
                    <a:pt x="10" y="65"/>
                    <a:pt x="10" y="65"/>
                  </a:cubicBezTo>
                  <a:cubicBezTo>
                    <a:pt x="11" y="68"/>
                    <a:pt x="11" y="70"/>
                    <a:pt x="12" y="72"/>
                  </a:cubicBezTo>
                  <a:cubicBezTo>
                    <a:pt x="6" y="75"/>
                    <a:pt x="6" y="75"/>
                    <a:pt x="6" y="75"/>
                  </a:cubicBezTo>
                  <a:cubicBezTo>
                    <a:pt x="5" y="76"/>
                    <a:pt x="5" y="78"/>
                    <a:pt x="5" y="79"/>
                  </a:cubicBezTo>
                  <a:cubicBezTo>
                    <a:pt x="11" y="89"/>
                    <a:pt x="11" y="89"/>
                    <a:pt x="11" y="89"/>
                  </a:cubicBezTo>
                  <a:cubicBezTo>
                    <a:pt x="12" y="91"/>
                    <a:pt x="14" y="91"/>
                    <a:pt x="15" y="90"/>
                  </a:cubicBezTo>
                  <a:cubicBezTo>
                    <a:pt x="21" y="87"/>
                    <a:pt x="21" y="87"/>
                    <a:pt x="21" y="87"/>
                  </a:cubicBezTo>
                  <a:cubicBezTo>
                    <a:pt x="23" y="89"/>
                    <a:pt x="24" y="91"/>
                    <a:pt x="26" y="92"/>
                  </a:cubicBezTo>
                  <a:cubicBezTo>
                    <a:pt x="23" y="98"/>
                    <a:pt x="23" y="98"/>
                    <a:pt x="23" y="98"/>
                  </a:cubicBezTo>
                  <a:cubicBezTo>
                    <a:pt x="22" y="99"/>
                    <a:pt x="23" y="101"/>
                    <a:pt x="24" y="102"/>
                  </a:cubicBezTo>
                  <a:cubicBezTo>
                    <a:pt x="34" y="108"/>
                    <a:pt x="34" y="108"/>
                    <a:pt x="34" y="108"/>
                  </a:cubicBezTo>
                  <a:cubicBezTo>
                    <a:pt x="35" y="108"/>
                    <a:pt x="37" y="108"/>
                    <a:pt x="38" y="106"/>
                  </a:cubicBezTo>
                  <a:cubicBezTo>
                    <a:pt x="41" y="101"/>
                    <a:pt x="41" y="101"/>
                    <a:pt x="41" y="101"/>
                  </a:cubicBezTo>
                  <a:cubicBezTo>
                    <a:pt x="44" y="101"/>
                    <a:pt x="46" y="102"/>
                    <a:pt x="48" y="102"/>
                  </a:cubicBezTo>
                  <a:cubicBezTo>
                    <a:pt x="48" y="109"/>
                    <a:pt x="48" y="109"/>
                    <a:pt x="48" y="109"/>
                  </a:cubicBezTo>
                  <a:cubicBezTo>
                    <a:pt x="48" y="111"/>
                    <a:pt x="50" y="112"/>
                    <a:pt x="51" y="112"/>
                  </a:cubicBezTo>
                  <a:cubicBezTo>
                    <a:pt x="63" y="112"/>
                    <a:pt x="63" y="112"/>
                    <a:pt x="63" y="112"/>
                  </a:cubicBezTo>
                  <a:cubicBezTo>
                    <a:pt x="64" y="112"/>
                    <a:pt x="66" y="111"/>
                    <a:pt x="66" y="109"/>
                  </a:cubicBezTo>
                  <a:cubicBezTo>
                    <a:pt x="66" y="102"/>
                    <a:pt x="66" y="102"/>
                    <a:pt x="66" y="102"/>
                  </a:cubicBezTo>
                  <a:cubicBezTo>
                    <a:pt x="68" y="102"/>
                    <a:pt x="70" y="101"/>
                    <a:pt x="73" y="100"/>
                  </a:cubicBezTo>
                  <a:cubicBezTo>
                    <a:pt x="76" y="106"/>
                    <a:pt x="76" y="106"/>
                    <a:pt x="76" y="106"/>
                  </a:cubicBezTo>
                  <a:cubicBezTo>
                    <a:pt x="77" y="107"/>
                    <a:pt x="79" y="108"/>
                    <a:pt x="80" y="107"/>
                  </a:cubicBezTo>
                  <a:cubicBezTo>
                    <a:pt x="90" y="101"/>
                    <a:pt x="90" y="101"/>
                    <a:pt x="90" y="101"/>
                  </a:cubicBezTo>
                  <a:cubicBezTo>
                    <a:pt x="91" y="100"/>
                    <a:pt x="92" y="99"/>
                    <a:pt x="91" y="97"/>
                  </a:cubicBezTo>
                  <a:cubicBezTo>
                    <a:pt x="88" y="91"/>
                    <a:pt x="88" y="91"/>
                    <a:pt x="88" y="91"/>
                  </a:cubicBezTo>
                  <a:cubicBezTo>
                    <a:pt x="89" y="90"/>
                    <a:pt x="91" y="88"/>
                    <a:pt x="93" y="86"/>
                  </a:cubicBezTo>
                  <a:cubicBezTo>
                    <a:pt x="98" y="89"/>
                    <a:pt x="98" y="89"/>
                    <a:pt x="98" y="89"/>
                  </a:cubicBezTo>
                  <a:cubicBezTo>
                    <a:pt x="100" y="90"/>
                    <a:pt x="102" y="90"/>
                    <a:pt x="102" y="88"/>
                  </a:cubicBezTo>
                  <a:cubicBezTo>
                    <a:pt x="108" y="78"/>
                    <a:pt x="108" y="78"/>
                    <a:pt x="108" y="78"/>
                  </a:cubicBezTo>
                  <a:cubicBezTo>
                    <a:pt x="109" y="77"/>
                    <a:pt x="108" y="75"/>
                    <a:pt x="107" y="74"/>
                  </a:cubicBezTo>
                  <a:cubicBezTo>
                    <a:pt x="101" y="71"/>
                    <a:pt x="101" y="71"/>
                    <a:pt x="101" y="71"/>
                  </a:cubicBezTo>
                  <a:cubicBezTo>
                    <a:pt x="102" y="69"/>
                    <a:pt x="102" y="66"/>
                    <a:pt x="103" y="64"/>
                  </a:cubicBezTo>
                  <a:cubicBezTo>
                    <a:pt x="110" y="64"/>
                    <a:pt x="110" y="64"/>
                    <a:pt x="110" y="64"/>
                  </a:cubicBezTo>
                  <a:cubicBezTo>
                    <a:pt x="111" y="64"/>
                    <a:pt x="112" y="63"/>
                    <a:pt x="112" y="61"/>
                  </a:cubicBezTo>
                  <a:cubicBezTo>
                    <a:pt x="112" y="49"/>
                    <a:pt x="112" y="49"/>
                    <a:pt x="112" y="49"/>
                  </a:cubicBezTo>
                  <a:cubicBezTo>
                    <a:pt x="112" y="48"/>
                    <a:pt x="111" y="47"/>
                    <a:pt x="110" y="47"/>
                  </a:cubicBezTo>
                  <a:close/>
                  <a:moveTo>
                    <a:pt x="56" y="86"/>
                  </a:moveTo>
                  <a:cubicBezTo>
                    <a:pt x="40" y="86"/>
                    <a:pt x="26" y="72"/>
                    <a:pt x="26" y="56"/>
                  </a:cubicBezTo>
                  <a:cubicBezTo>
                    <a:pt x="26" y="39"/>
                    <a:pt x="40" y="26"/>
                    <a:pt x="56" y="26"/>
                  </a:cubicBezTo>
                  <a:cubicBezTo>
                    <a:pt x="73" y="26"/>
                    <a:pt x="86" y="39"/>
                    <a:pt x="86" y="56"/>
                  </a:cubicBezTo>
                  <a:cubicBezTo>
                    <a:pt x="86" y="72"/>
                    <a:pt x="73" y="86"/>
                    <a:pt x="56" y="8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44" name="Freeform 141"/>
            <p:cNvSpPr>
              <a:spLocks noEditPoints="1"/>
            </p:cNvSpPr>
            <p:nvPr/>
          </p:nvSpPr>
          <p:spPr bwMode="auto">
            <a:xfrm>
              <a:off x="11317186" y="1145785"/>
              <a:ext cx="111850" cy="113341"/>
            </a:xfrm>
            <a:custGeom>
              <a:avLst/>
              <a:gdLst>
                <a:gd name="T0" fmla="*/ 48 w 52"/>
                <a:gd name="T1" fmla="*/ 23 h 52"/>
                <a:gd name="T2" fmla="*/ 50 w 52"/>
                <a:gd name="T3" fmla="*/ 17 h 52"/>
                <a:gd name="T4" fmla="*/ 48 w 52"/>
                <a:gd name="T5" fmla="*/ 11 h 52"/>
                <a:gd name="T6" fmla="*/ 44 w 52"/>
                <a:gd name="T7" fmla="*/ 12 h 52"/>
                <a:gd name="T8" fmla="*/ 42 w 52"/>
                <a:gd name="T9" fmla="*/ 6 h 52"/>
                <a:gd name="T10" fmla="*/ 38 w 52"/>
                <a:gd name="T11" fmla="*/ 2 h 52"/>
                <a:gd name="T12" fmla="*/ 34 w 52"/>
                <a:gd name="T13" fmla="*/ 5 h 52"/>
                <a:gd name="T14" fmla="*/ 30 w 52"/>
                <a:gd name="T15" fmla="*/ 1 h 52"/>
                <a:gd name="T16" fmla="*/ 24 w 52"/>
                <a:gd name="T17" fmla="*/ 0 h 52"/>
                <a:gd name="T18" fmla="*/ 23 w 52"/>
                <a:gd name="T19" fmla="*/ 4 h 52"/>
                <a:gd name="T20" fmla="*/ 17 w 52"/>
                <a:gd name="T21" fmla="*/ 2 h 52"/>
                <a:gd name="T22" fmla="*/ 11 w 52"/>
                <a:gd name="T23" fmla="*/ 4 h 52"/>
                <a:gd name="T24" fmla="*/ 12 w 52"/>
                <a:gd name="T25" fmla="*/ 8 h 52"/>
                <a:gd name="T26" fmla="*/ 6 w 52"/>
                <a:gd name="T27" fmla="*/ 10 h 52"/>
                <a:gd name="T28" fmla="*/ 2 w 52"/>
                <a:gd name="T29" fmla="*/ 14 h 52"/>
                <a:gd name="T30" fmla="*/ 6 w 52"/>
                <a:gd name="T31" fmla="*/ 18 h 52"/>
                <a:gd name="T32" fmla="*/ 1 w 52"/>
                <a:gd name="T33" fmla="*/ 22 h 52"/>
                <a:gd name="T34" fmla="*/ 0 w 52"/>
                <a:gd name="T35" fmla="*/ 28 h 52"/>
                <a:gd name="T36" fmla="*/ 4 w 52"/>
                <a:gd name="T37" fmla="*/ 29 h 52"/>
                <a:gd name="T38" fmla="*/ 2 w 52"/>
                <a:gd name="T39" fmla="*/ 35 h 52"/>
                <a:gd name="T40" fmla="*/ 4 w 52"/>
                <a:gd name="T41" fmla="*/ 41 h 52"/>
                <a:gd name="T42" fmla="*/ 9 w 52"/>
                <a:gd name="T43" fmla="*/ 40 h 52"/>
                <a:gd name="T44" fmla="*/ 10 w 52"/>
                <a:gd name="T45" fmla="*/ 46 h 52"/>
                <a:gd name="T46" fmla="*/ 15 w 52"/>
                <a:gd name="T47" fmla="*/ 50 h 52"/>
                <a:gd name="T48" fmla="*/ 18 w 52"/>
                <a:gd name="T49" fmla="*/ 47 h 52"/>
                <a:gd name="T50" fmla="*/ 22 w 52"/>
                <a:gd name="T51" fmla="*/ 51 h 52"/>
                <a:gd name="T52" fmla="*/ 28 w 52"/>
                <a:gd name="T53" fmla="*/ 52 h 52"/>
                <a:gd name="T54" fmla="*/ 29 w 52"/>
                <a:gd name="T55" fmla="*/ 48 h 52"/>
                <a:gd name="T56" fmla="*/ 35 w 52"/>
                <a:gd name="T57" fmla="*/ 50 h 52"/>
                <a:gd name="T58" fmla="*/ 41 w 52"/>
                <a:gd name="T59" fmla="*/ 48 h 52"/>
                <a:gd name="T60" fmla="*/ 40 w 52"/>
                <a:gd name="T61" fmla="*/ 43 h 52"/>
                <a:gd name="T62" fmla="*/ 46 w 52"/>
                <a:gd name="T63" fmla="*/ 42 h 52"/>
                <a:gd name="T64" fmla="*/ 50 w 52"/>
                <a:gd name="T65" fmla="*/ 37 h 52"/>
                <a:gd name="T66" fmla="*/ 47 w 52"/>
                <a:gd name="T67" fmla="*/ 34 h 52"/>
                <a:gd name="T68" fmla="*/ 51 w 52"/>
                <a:gd name="T69" fmla="*/ 30 h 52"/>
                <a:gd name="T70" fmla="*/ 52 w 52"/>
                <a:gd name="T71" fmla="*/ 24 h 52"/>
                <a:gd name="T72" fmla="*/ 26 w 52"/>
                <a:gd name="T73" fmla="*/ 40 h 52"/>
                <a:gd name="T74" fmla="*/ 26 w 52"/>
                <a:gd name="T75" fmla="*/ 12 h 52"/>
                <a:gd name="T76" fmla="*/ 26 w 52"/>
                <a:gd name="T77" fmla="*/ 4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2" h="52">
                  <a:moveTo>
                    <a:pt x="51" y="23"/>
                  </a:moveTo>
                  <a:cubicBezTo>
                    <a:pt x="48" y="23"/>
                    <a:pt x="48" y="23"/>
                    <a:pt x="48" y="23"/>
                  </a:cubicBezTo>
                  <a:cubicBezTo>
                    <a:pt x="48" y="21"/>
                    <a:pt x="48" y="20"/>
                    <a:pt x="47" y="18"/>
                  </a:cubicBezTo>
                  <a:cubicBezTo>
                    <a:pt x="50" y="17"/>
                    <a:pt x="50" y="17"/>
                    <a:pt x="50" y="17"/>
                  </a:cubicBezTo>
                  <a:cubicBezTo>
                    <a:pt x="50" y="16"/>
                    <a:pt x="51" y="16"/>
                    <a:pt x="50" y="15"/>
                  </a:cubicBezTo>
                  <a:cubicBezTo>
                    <a:pt x="48" y="11"/>
                    <a:pt x="48" y="11"/>
                    <a:pt x="48" y="11"/>
                  </a:cubicBezTo>
                  <a:cubicBezTo>
                    <a:pt x="48" y="10"/>
                    <a:pt x="47" y="10"/>
                    <a:pt x="46" y="11"/>
                  </a:cubicBezTo>
                  <a:cubicBezTo>
                    <a:pt x="44" y="12"/>
                    <a:pt x="44" y="12"/>
                    <a:pt x="44" y="12"/>
                  </a:cubicBezTo>
                  <a:cubicBezTo>
                    <a:pt x="43" y="11"/>
                    <a:pt x="42" y="10"/>
                    <a:pt x="40" y="9"/>
                  </a:cubicBezTo>
                  <a:cubicBezTo>
                    <a:pt x="42" y="6"/>
                    <a:pt x="42" y="6"/>
                    <a:pt x="42" y="6"/>
                  </a:cubicBezTo>
                  <a:cubicBezTo>
                    <a:pt x="42" y="6"/>
                    <a:pt x="42" y="5"/>
                    <a:pt x="42" y="4"/>
                  </a:cubicBezTo>
                  <a:cubicBezTo>
                    <a:pt x="38" y="2"/>
                    <a:pt x="38" y="2"/>
                    <a:pt x="38" y="2"/>
                  </a:cubicBezTo>
                  <a:cubicBezTo>
                    <a:pt x="37" y="2"/>
                    <a:pt x="36" y="2"/>
                    <a:pt x="36" y="3"/>
                  </a:cubicBezTo>
                  <a:cubicBezTo>
                    <a:pt x="34" y="5"/>
                    <a:pt x="34" y="5"/>
                    <a:pt x="34" y="5"/>
                  </a:cubicBezTo>
                  <a:cubicBezTo>
                    <a:pt x="33" y="5"/>
                    <a:pt x="32" y="4"/>
                    <a:pt x="30" y="4"/>
                  </a:cubicBezTo>
                  <a:cubicBezTo>
                    <a:pt x="30" y="1"/>
                    <a:pt x="30" y="1"/>
                    <a:pt x="30" y="1"/>
                  </a:cubicBezTo>
                  <a:cubicBezTo>
                    <a:pt x="30" y="0"/>
                    <a:pt x="29" y="0"/>
                    <a:pt x="29" y="0"/>
                  </a:cubicBezTo>
                  <a:cubicBezTo>
                    <a:pt x="24" y="0"/>
                    <a:pt x="24" y="0"/>
                    <a:pt x="24" y="0"/>
                  </a:cubicBezTo>
                  <a:cubicBezTo>
                    <a:pt x="24" y="0"/>
                    <a:pt x="23" y="0"/>
                    <a:pt x="23" y="1"/>
                  </a:cubicBezTo>
                  <a:cubicBezTo>
                    <a:pt x="23" y="4"/>
                    <a:pt x="23" y="4"/>
                    <a:pt x="23" y="4"/>
                  </a:cubicBezTo>
                  <a:cubicBezTo>
                    <a:pt x="21" y="4"/>
                    <a:pt x="20" y="5"/>
                    <a:pt x="19" y="5"/>
                  </a:cubicBezTo>
                  <a:cubicBezTo>
                    <a:pt x="17" y="2"/>
                    <a:pt x="17" y="2"/>
                    <a:pt x="17" y="2"/>
                  </a:cubicBezTo>
                  <a:cubicBezTo>
                    <a:pt x="17" y="2"/>
                    <a:pt x="16" y="1"/>
                    <a:pt x="15" y="2"/>
                  </a:cubicBezTo>
                  <a:cubicBezTo>
                    <a:pt x="11" y="4"/>
                    <a:pt x="11" y="4"/>
                    <a:pt x="11" y="4"/>
                  </a:cubicBezTo>
                  <a:cubicBezTo>
                    <a:pt x="11" y="4"/>
                    <a:pt x="11" y="5"/>
                    <a:pt x="11" y="6"/>
                  </a:cubicBezTo>
                  <a:cubicBezTo>
                    <a:pt x="12" y="8"/>
                    <a:pt x="12" y="8"/>
                    <a:pt x="12" y="8"/>
                  </a:cubicBezTo>
                  <a:cubicBezTo>
                    <a:pt x="11" y="9"/>
                    <a:pt x="10" y="10"/>
                    <a:pt x="9" y="12"/>
                  </a:cubicBezTo>
                  <a:cubicBezTo>
                    <a:pt x="6" y="10"/>
                    <a:pt x="6" y="10"/>
                    <a:pt x="6" y="10"/>
                  </a:cubicBezTo>
                  <a:cubicBezTo>
                    <a:pt x="6" y="10"/>
                    <a:pt x="5" y="10"/>
                    <a:pt x="5" y="10"/>
                  </a:cubicBezTo>
                  <a:cubicBezTo>
                    <a:pt x="2" y="14"/>
                    <a:pt x="2" y="14"/>
                    <a:pt x="2" y="14"/>
                  </a:cubicBezTo>
                  <a:cubicBezTo>
                    <a:pt x="2" y="15"/>
                    <a:pt x="2" y="16"/>
                    <a:pt x="3" y="16"/>
                  </a:cubicBezTo>
                  <a:cubicBezTo>
                    <a:pt x="6" y="18"/>
                    <a:pt x="6" y="18"/>
                    <a:pt x="6" y="18"/>
                  </a:cubicBezTo>
                  <a:cubicBezTo>
                    <a:pt x="5" y="19"/>
                    <a:pt x="5" y="21"/>
                    <a:pt x="4" y="22"/>
                  </a:cubicBezTo>
                  <a:cubicBezTo>
                    <a:pt x="1" y="22"/>
                    <a:pt x="1" y="22"/>
                    <a:pt x="1" y="22"/>
                  </a:cubicBezTo>
                  <a:cubicBezTo>
                    <a:pt x="0" y="22"/>
                    <a:pt x="0" y="23"/>
                    <a:pt x="0" y="23"/>
                  </a:cubicBezTo>
                  <a:cubicBezTo>
                    <a:pt x="0" y="28"/>
                    <a:pt x="0" y="28"/>
                    <a:pt x="0" y="28"/>
                  </a:cubicBezTo>
                  <a:cubicBezTo>
                    <a:pt x="0" y="29"/>
                    <a:pt x="0" y="29"/>
                    <a:pt x="1" y="29"/>
                  </a:cubicBezTo>
                  <a:cubicBezTo>
                    <a:pt x="4" y="29"/>
                    <a:pt x="4" y="29"/>
                    <a:pt x="4" y="29"/>
                  </a:cubicBezTo>
                  <a:cubicBezTo>
                    <a:pt x="4" y="31"/>
                    <a:pt x="5" y="32"/>
                    <a:pt x="5" y="34"/>
                  </a:cubicBezTo>
                  <a:cubicBezTo>
                    <a:pt x="2" y="35"/>
                    <a:pt x="2" y="35"/>
                    <a:pt x="2" y="35"/>
                  </a:cubicBezTo>
                  <a:cubicBezTo>
                    <a:pt x="2" y="36"/>
                    <a:pt x="2" y="36"/>
                    <a:pt x="2" y="37"/>
                  </a:cubicBezTo>
                  <a:cubicBezTo>
                    <a:pt x="4" y="41"/>
                    <a:pt x="4" y="41"/>
                    <a:pt x="4" y="41"/>
                  </a:cubicBezTo>
                  <a:cubicBezTo>
                    <a:pt x="5" y="41"/>
                    <a:pt x="5" y="42"/>
                    <a:pt x="6" y="41"/>
                  </a:cubicBezTo>
                  <a:cubicBezTo>
                    <a:pt x="9" y="40"/>
                    <a:pt x="9" y="40"/>
                    <a:pt x="9" y="40"/>
                  </a:cubicBezTo>
                  <a:cubicBezTo>
                    <a:pt x="10" y="41"/>
                    <a:pt x="11" y="42"/>
                    <a:pt x="12" y="43"/>
                  </a:cubicBezTo>
                  <a:cubicBezTo>
                    <a:pt x="10" y="46"/>
                    <a:pt x="10" y="46"/>
                    <a:pt x="10" y="46"/>
                  </a:cubicBezTo>
                  <a:cubicBezTo>
                    <a:pt x="10" y="46"/>
                    <a:pt x="10" y="47"/>
                    <a:pt x="11" y="47"/>
                  </a:cubicBezTo>
                  <a:cubicBezTo>
                    <a:pt x="15" y="50"/>
                    <a:pt x="15" y="50"/>
                    <a:pt x="15" y="50"/>
                  </a:cubicBezTo>
                  <a:cubicBezTo>
                    <a:pt x="15" y="50"/>
                    <a:pt x="16" y="50"/>
                    <a:pt x="16" y="49"/>
                  </a:cubicBezTo>
                  <a:cubicBezTo>
                    <a:pt x="18" y="47"/>
                    <a:pt x="18" y="47"/>
                    <a:pt x="18" y="47"/>
                  </a:cubicBezTo>
                  <a:cubicBezTo>
                    <a:pt x="19" y="47"/>
                    <a:pt x="21" y="48"/>
                    <a:pt x="22" y="48"/>
                  </a:cubicBezTo>
                  <a:cubicBezTo>
                    <a:pt x="22" y="51"/>
                    <a:pt x="22" y="51"/>
                    <a:pt x="22" y="51"/>
                  </a:cubicBezTo>
                  <a:cubicBezTo>
                    <a:pt x="22" y="52"/>
                    <a:pt x="23" y="52"/>
                    <a:pt x="24" y="52"/>
                  </a:cubicBezTo>
                  <a:cubicBezTo>
                    <a:pt x="28" y="52"/>
                    <a:pt x="28" y="52"/>
                    <a:pt x="28" y="52"/>
                  </a:cubicBezTo>
                  <a:cubicBezTo>
                    <a:pt x="29" y="52"/>
                    <a:pt x="29" y="52"/>
                    <a:pt x="29" y="51"/>
                  </a:cubicBezTo>
                  <a:cubicBezTo>
                    <a:pt x="29" y="48"/>
                    <a:pt x="29" y="48"/>
                    <a:pt x="29" y="48"/>
                  </a:cubicBezTo>
                  <a:cubicBezTo>
                    <a:pt x="31" y="48"/>
                    <a:pt x="32" y="47"/>
                    <a:pt x="34" y="47"/>
                  </a:cubicBezTo>
                  <a:cubicBezTo>
                    <a:pt x="35" y="50"/>
                    <a:pt x="35" y="50"/>
                    <a:pt x="35" y="50"/>
                  </a:cubicBezTo>
                  <a:cubicBezTo>
                    <a:pt x="36" y="50"/>
                    <a:pt x="36" y="50"/>
                    <a:pt x="37" y="50"/>
                  </a:cubicBezTo>
                  <a:cubicBezTo>
                    <a:pt x="41" y="48"/>
                    <a:pt x="41" y="48"/>
                    <a:pt x="41" y="48"/>
                  </a:cubicBezTo>
                  <a:cubicBezTo>
                    <a:pt x="42" y="47"/>
                    <a:pt x="42" y="47"/>
                    <a:pt x="41" y="46"/>
                  </a:cubicBezTo>
                  <a:cubicBezTo>
                    <a:pt x="40" y="43"/>
                    <a:pt x="40" y="43"/>
                    <a:pt x="40" y="43"/>
                  </a:cubicBezTo>
                  <a:cubicBezTo>
                    <a:pt x="41" y="42"/>
                    <a:pt x="42" y="41"/>
                    <a:pt x="43" y="40"/>
                  </a:cubicBezTo>
                  <a:cubicBezTo>
                    <a:pt x="46" y="42"/>
                    <a:pt x="46" y="42"/>
                    <a:pt x="46" y="42"/>
                  </a:cubicBezTo>
                  <a:cubicBezTo>
                    <a:pt x="47" y="42"/>
                    <a:pt x="47" y="42"/>
                    <a:pt x="48" y="41"/>
                  </a:cubicBezTo>
                  <a:cubicBezTo>
                    <a:pt x="50" y="37"/>
                    <a:pt x="50" y="37"/>
                    <a:pt x="50" y="37"/>
                  </a:cubicBezTo>
                  <a:cubicBezTo>
                    <a:pt x="50" y="37"/>
                    <a:pt x="50" y="36"/>
                    <a:pt x="50" y="36"/>
                  </a:cubicBezTo>
                  <a:cubicBezTo>
                    <a:pt x="47" y="34"/>
                    <a:pt x="47" y="34"/>
                    <a:pt x="47" y="34"/>
                  </a:cubicBezTo>
                  <a:cubicBezTo>
                    <a:pt x="47" y="33"/>
                    <a:pt x="48" y="31"/>
                    <a:pt x="48" y="30"/>
                  </a:cubicBezTo>
                  <a:cubicBezTo>
                    <a:pt x="51" y="30"/>
                    <a:pt x="51" y="30"/>
                    <a:pt x="51" y="30"/>
                  </a:cubicBezTo>
                  <a:cubicBezTo>
                    <a:pt x="52" y="30"/>
                    <a:pt x="52" y="29"/>
                    <a:pt x="52" y="29"/>
                  </a:cubicBezTo>
                  <a:cubicBezTo>
                    <a:pt x="52" y="24"/>
                    <a:pt x="52" y="24"/>
                    <a:pt x="52" y="24"/>
                  </a:cubicBezTo>
                  <a:cubicBezTo>
                    <a:pt x="52" y="23"/>
                    <a:pt x="52" y="23"/>
                    <a:pt x="51" y="23"/>
                  </a:cubicBezTo>
                  <a:close/>
                  <a:moveTo>
                    <a:pt x="26" y="40"/>
                  </a:moveTo>
                  <a:cubicBezTo>
                    <a:pt x="18" y="40"/>
                    <a:pt x="12" y="34"/>
                    <a:pt x="12" y="26"/>
                  </a:cubicBezTo>
                  <a:cubicBezTo>
                    <a:pt x="12" y="18"/>
                    <a:pt x="18" y="12"/>
                    <a:pt x="26" y="12"/>
                  </a:cubicBezTo>
                  <a:cubicBezTo>
                    <a:pt x="34" y="12"/>
                    <a:pt x="40" y="18"/>
                    <a:pt x="40" y="26"/>
                  </a:cubicBezTo>
                  <a:cubicBezTo>
                    <a:pt x="40" y="34"/>
                    <a:pt x="34" y="40"/>
                    <a:pt x="26"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grpSp>
      <p:sp>
        <p:nvSpPr>
          <p:cNvPr id="46" name="Freeform 142"/>
          <p:cNvSpPr/>
          <p:nvPr/>
        </p:nvSpPr>
        <p:spPr bwMode="auto">
          <a:xfrm>
            <a:off x="5944715" y="3528116"/>
            <a:ext cx="292261" cy="238612"/>
          </a:xfrm>
          <a:custGeom>
            <a:avLst/>
            <a:gdLst>
              <a:gd name="T0" fmla="*/ 135 w 135"/>
              <a:gd name="T1" fmla="*/ 49 h 110"/>
              <a:gd name="T2" fmla="*/ 68 w 135"/>
              <a:gd name="T3" fmla="*/ 0 h 110"/>
              <a:gd name="T4" fmla="*/ 0 w 135"/>
              <a:gd name="T5" fmla="*/ 49 h 110"/>
              <a:gd name="T6" fmla="*/ 68 w 135"/>
              <a:gd name="T7" fmla="*/ 99 h 110"/>
              <a:gd name="T8" fmla="*/ 93 w 135"/>
              <a:gd name="T9" fmla="*/ 96 h 110"/>
              <a:gd name="T10" fmla="*/ 121 w 135"/>
              <a:gd name="T11" fmla="*/ 110 h 110"/>
              <a:gd name="T12" fmla="*/ 113 w 135"/>
              <a:gd name="T13" fmla="*/ 86 h 110"/>
              <a:gd name="T14" fmla="*/ 135 w 135"/>
              <a:gd name="T15" fmla="*/ 49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10">
                <a:moveTo>
                  <a:pt x="135" y="49"/>
                </a:moveTo>
                <a:cubicBezTo>
                  <a:pt x="135" y="22"/>
                  <a:pt x="105" y="0"/>
                  <a:pt x="68" y="0"/>
                </a:cubicBezTo>
                <a:cubicBezTo>
                  <a:pt x="30" y="0"/>
                  <a:pt x="0" y="22"/>
                  <a:pt x="0" y="49"/>
                </a:cubicBezTo>
                <a:cubicBezTo>
                  <a:pt x="0" y="77"/>
                  <a:pt x="30" y="99"/>
                  <a:pt x="68" y="99"/>
                </a:cubicBezTo>
                <a:cubicBezTo>
                  <a:pt x="76" y="99"/>
                  <a:pt x="85" y="98"/>
                  <a:pt x="93" y="96"/>
                </a:cubicBezTo>
                <a:cubicBezTo>
                  <a:pt x="95" y="95"/>
                  <a:pt x="121" y="110"/>
                  <a:pt x="121" y="110"/>
                </a:cubicBezTo>
                <a:cubicBezTo>
                  <a:pt x="113" y="86"/>
                  <a:pt x="113" y="86"/>
                  <a:pt x="113" y="86"/>
                </a:cubicBezTo>
                <a:cubicBezTo>
                  <a:pt x="126" y="77"/>
                  <a:pt x="135" y="64"/>
                  <a:pt x="135" y="4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pic>
        <p:nvPicPr>
          <p:cNvPr id="5" name="图片 4"/>
          <p:cNvPicPr>
            <a:picLocks noChangeAspect="1"/>
          </p:cNvPicPr>
          <p:nvPr/>
        </p:nvPicPr>
        <p:blipFill>
          <a:blip r:embed="rId1"/>
          <a:stretch>
            <a:fillRect/>
          </a:stretch>
        </p:blipFill>
        <p:spPr>
          <a:xfrm>
            <a:off x="243205" y="708660"/>
            <a:ext cx="9003665" cy="6118225"/>
          </a:xfrm>
          <a:prstGeom prst="rect">
            <a:avLst/>
          </a:prstGeom>
        </p:spPr>
      </p:pic>
      <p:sp>
        <p:nvSpPr>
          <p:cNvPr id="6" name="对角圆角矩形 5"/>
          <p:cNvSpPr/>
          <p:nvPr/>
        </p:nvSpPr>
        <p:spPr>
          <a:xfrm flipV="1">
            <a:off x="9352915" y="1169035"/>
            <a:ext cx="2787015" cy="551815"/>
          </a:xfrm>
          <a:prstGeom prst="round2DiagRect">
            <a:avLst>
              <a:gd name="adj1" fmla="val 50000"/>
              <a:gd name="adj2"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7" name="文本框 6"/>
          <p:cNvSpPr txBox="1"/>
          <p:nvPr/>
        </p:nvSpPr>
        <p:spPr>
          <a:xfrm>
            <a:off x="9403715" y="1260475"/>
            <a:ext cx="2787650" cy="368300"/>
          </a:xfrm>
          <a:prstGeom prst="rect">
            <a:avLst/>
          </a:prstGeom>
          <a:noFill/>
        </p:spPr>
        <p:txBody>
          <a:bodyPr wrap="square" rtlCol="0">
            <a:spAutoFit/>
          </a:bodyPr>
          <a:p>
            <a:r>
              <a:rPr lang="en-US" altLang="zh-CN">
                <a:solidFill>
                  <a:schemeClr val="bg1"/>
                </a:solidFill>
              </a:rPr>
              <a:t>25%</a:t>
            </a:r>
            <a:r>
              <a:rPr lang="zh-CN" altLang="en-US">
                <a:solidFill>
                  <a:schemeClr val="bg1"/>
                </a:solidFill>
              </a:rPr>
              <a:t>的精力处理店铺问题</a:t>
            </a:r>
            <a:endParaRPr lang="zh-CN" altLang="en-US">
              <a:solidFill>
                <a:schemeClr val="bg1"/>
              </a:solidFill>
            </a:endParaRPr>
          </a:p>
        </p:txBody>
      </p:sp>
      <p:sp>
        <p:nvSpPr>
          <p:cNvPr id="8" name="对角圆角矩形 7"/>
          <p:cNvSpPr/>
          <p:nvPr/>
        </p:nvSpPr>
        <p:spPr>
          <a:xfrm flipV="1">
            <a:off x="9352915" y="2737485"/>
            <a:ext cx="2787015" cy="551815"/>
          </a:xfrm>
          <a:prstGeom prst="round2DiagRect">
            <a:avLst>
              <a:gd name="adj1" fmla="val 50000"/>
              <a:gd name="adj2"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9" name="文本框 8"/>
          <p:cNvSpPr txBox="1"/>
          <p:nvPr/>
        </p:nvSpPr>
        <p:spPr>
          <a:xfrm>
            <a:off x="9403715" y="2828925"/>
            <a:ext cx="2787650" cy="368300"/>
          </a:xfrm>
          <a:prstGeom prst="rect">
            <a:avLst/>
          </a:prstGeom>
          <a:noFill/>
        </p:spPr>
        <p:txBody>
          <a:bodyPr wrap="square" rtlCol="0">
            <a:spAutoFit/>
          </a:bodyPr>
          <a:p>
            <a:r>
              <a:rPr lang="en-US" altLang="zh-CN">
                <a:solidFill>
                  <a:schemeClr val="bg1"/>
                </a:solidFill>
              </a:rPr>
              <a:t>20%</a:t>
            </a:r>
            <a:r>
              <a:rPr lang="zh-CN" altLang="en-US">
                <a:solidFill>
                  <a:schemeClr val="bg1"/>
                </a:solidFill>
              </a:rPr>
              <a:t>的精力处理订单</a:t>
            </a:r>
            <a:endParaRPr lang="zh-CN" altLang="en-US">
              <a:solidFill>
                <a:schemeClr val="bg1"/>
              </a:solidFill>
            </a:endParaRPr>
          </a:p>
        </p:txBody>
      </p:sp>
      <p:sp>
        <p:nvSpPr>
          <p:cNvPr id="10" name="对角圆角矩形 9"/>
          <p:cNvSpPr/>
          <p:nvPr/>
        </p:nvSpPr>
        <p:spPr>
          <a:xfrm flipV="1">
            <a:off x="9352915" y="4306570"/>
            <a:ext cx="2787015" cy="551815"/>
          </a:xfrm>
          <a:prstGeom prst="round2DiagRect">
            <a:avLst>
              <a:gd name="adj1" fmla="val 50000"/>
              <a:gd name="adj2"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11" name="文本框 10"/>
          <p:cNvSpPr txBox="1"/>
          <p:nvPr/>
        </p:nvSpPr>
        <p:spPr>
          <a:xfrm>
            <a:off x="9403715" y="4398010"/>
            <a:ext cx="2787650" cy="368300"/>
          </a:xfrm>
          <a:prstGeom prst="rect">
            <a:avLst/>
          </a:prstGeom>
          <a:noFill/>
        </p:spPr>
        <p:txBody>
          <a:bodyPr wrap="square" rtlCol="0">
            <a:spAutoFit/>
          </a:bodyPr>
          <a:p>
            <a:r>
              <a:rPr lang="en-US" altLang="zh-CN">
                <a:solidFill>
                  <a:schemeClr val="bg1"/>
                </a:solidFill>
              </a:rPr>
              <a:t>35%</a:t>
            </a:r>
            <a:r>
              <a:rPr lang="zh-CN" altLang="en-US">
                <a:solidFill>
                  <a:schemeClr val="bg1"/>
                </a:solidFill>
              </a:rPr>
              <a:t>的精力  刷单测评</a:t>
            </a:r>
            <a:endParaRPr lang="zh-CN" altLang="en-US">
              <a:solidFill>
                <a:schemeClr val="bg1"/>
              </a:solidFill>
            </a:endParaRPr>
          </a:p>
        </p:txBody>
      </p:sp>
      <p:sp>
        <p:nvSpPr>
          <p:cNvPr id="12" name="对角圆角矩形 11"/>
          <p:cNvSpPr/>
          <p:nvPr/>
        </p:nvSpPr>
        <p:spPr>
          <a:xfrm flipV="1">
            <a:off x="9352915" y="5921375"/>
            <a:ext cx="2787015" cy="551815"/>
          </a:xfrm>
          <a:prstGeom prst="round2DiagRect">
            <a:avLst>
              <a:gd name="adj1" fmla="val 50000"/>
              <a:gd name="adj2"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13" name="文本框 12"/>
          <p:cNvSpPr txBox="1"/>
          <p:nvPr/>
        </p:nvSpPr>
        <p:spPr>
          <a:xfrm>
            <a:off x="9403715" y="6012815"/>
            <a:ext cx="2787650" cy="368300"/>
          </a:xfrm>
          <a:prstGeom prst="rect">
            <a:avLst/>
          </a:prstGeom>
          <a:noFill/>
        </p:spPr>
        <p:txBody>
          <a:bodyPr wrap="square" rtlCol="0">
            <a:spAutoFit/>
          </a:bodyPr>
          <a:p>
            <a:r>
              <a:rPr lang="en-US" altLang="zh-CN">
                <a:solidFill>
                  <a:schemeClr val="bg1"/>
                </a:solidFill>
              </a:rPr>
              <a:t>40%</a:t>
            </a:r>
            <a:r>
              <a:rPr lang="zh-CN" altLang="en-US">
                <a:solidFill>
                  <a:schemeClr val="bg1"/>
                </a:solidFill>
              </a:rPr>
              <a:t>的精力 数据  优化</a:t>
            </a:r>
            <a:endParaRPr lang="zh-CN" altLang="en-US">
              <a:solidFill>
                <a:schemeClr val="bg1"/>
              </a:solidFill>
            </a:endParaRPr>
          </a:p>
        </p:txBody>
      </p:sp>
      <p:sp>
        <p:nvSpPr>
          <p:cNvPr id="45" name="矩形 44"/>
          <p:cNvSpPr/>
          <p:nvPr/>
        </p:nvSpPr>
        <p:spPr>
          <a:xfrm>
            <a:off x="1684160" y="295505"/>
            <a:ext cx="1783080" cy="506730"/>
          </a:xfrm>
          <a:prstGeom prst="rect">
            <a:avLst/>
          </a:prstGeom>
        </p:spPr>
        <p:txBody>
          <a:bodyPr wrap="none">
            <a:spAutoFit/>
          </a:bodyPr>
          <a:p>
            <a:pPr algn="l">
              <a:lnSpc>
                <a:spcPct val="150000"/>
              </a:lnSpc>
            </a:pPr>
            <a:r>
              <a:rPr lang="zh-CN" altLang="en-US" b="1" dirty="0">
                <a:solidFill>
                  <a:schemeClr val="tx1">
                    <a:lumMod val="95000"/>
                    <a:lumOff val="5000"/>
                  </a:schemeClr>
                </a:solidFill>
                <a:latin typeface="微软雅黑" panose="020B0503020204020204" charset="-122"/>
                <a:ea typeface="微软雅黑" panose="020B0503020204020204" charset="-122"/>
              </a:rPr>
              <a:t>销售员工作安排</a:t>
            </a:r>
            <a:endParaRPr lang="zh-CN" altLang="en-US" b="1" dirty="0">
              <a:solidFill>
                <a:schemeClr val="tx1">
                  <a:lumMod val="95000"/>
                  <a:lumOff val="5000"/>
                </a:schemeClr>
              </a:solidFill>
              <a:latin typeface="微软雅黑" panose="020B0503020204020204" charset="-122"/>
              <a:ea typeface="微软雅黑" panose="020B0503020204020204" charset="-122"/>
            </a:endParaRPr>
          </a:p>
        </p:txBody>
      </p:sp>
      <p:sp>
        <p:nvSpPr>
          <p:cNvPr id="4" name="矩形 3"/>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grpSp>
        <p:nvGrpSpPr>
          <p:cNvPr id="3" name="组合 2"/>
          <p:cNvGrpSpPr/>
          <p:nvPr/>
        </p:nvGrpSpPr>
        <p:grpSpPr>
          <a:xfrm>
            <a:off x="820965" y="0"/>
            <a:ext cx="717550" cy="1097304"/>
            <a:chOff x="4704555" y="313131"/>
            <a:chExt cx="2782888" cy="4255695"/>
          </a:xfrm>
        </p:grpSpPr>
        <p:sp>
          <p:nvSpPr>
            <p:cNvPr id="14" name="流程图: 决策 5"/>
            <p:cNvSpPr/>
            <p:nvPr/>
          </p:nvSpPr>
          <p:spPr>
            <a:xfrm>
              <a:off x="4704555" y="313131"/>
              <a:ext cx="2782888" cy="425569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15" name="流程图: 决策 6"/>
            <p:cNvSpPr/>
            <p:nvPr/>
          </p:nvSpPr>
          <p:spPr>
            <a:xfrm>
              <a:off x="4934127" y="2015510"/>
              <a:ext cx="2323745" cy="2323745"/>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grpSp>
      <p:sp>
        <p:nvSpPr>
          <p:cNvPr id="16" name="文本框 15"/>
          <p:cNvSpPr txBox="1"/>
          <p:nvPr/>
        </p:nvSpPr>
        <p:spPr>
          <a:xfrm>
            <a:off x="733564" y="451148"/>
            <a:ext cx="950408" cy="583565"/>
          </a:xfrm>
          <a:prstGeom prst="rect">
            <a:avLst/>
          </a:prstGeom>
          <a:noFill/>
        </p:spPr>
        <p:txBody>
          <a:bodyPr wrap="square" rtlCol="0">
            <a:spAutoFit/>
          </a:bodyPr>
          <a:p>
            <a:pPr algn="ctr"/>
            <a:r>
              <a:rPr lang="en-US" altLang="zh-CN" sz="3200" b="1" dirty="0" smtClean="0">
                <a:ln w="28575">
                  <a:noFill/>
                </a:ln>
                <a:latin typeface="微软雅黑" panose="020B0503020204020204" charset="-122"/>
                <a:ea typeface="微软雅黑" panose="020B0503020204020204" charset="-122"/>
              </a:rPr>
              <a:t>02</a:t>
            </a:r>
            <a:endParaRPr lang="zh-CN" altLang="en-US" sz="4800" b="1" dirty="0">
              <a:ln w="28575">
                <a:noFill/>
              </a:ln>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10" grpId="0" bldLvl="0" animBg="1"/>
      <p:bldP spid="12"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139"/>
          <p:cNvSpPr/>
          <p:nvPr/>
        </p:nvSpPr>
        <p:spPr bwMode="auto">
          <a:xfrm>
            <a:off x="7287361" y="2154809"/>
            <a:ext cx="356381" cy="269930"/>
          </a:xfrm>
          <a:custGeom>
            <a:avLst/>
            <a:gdLst>
              <a:gd name="T0" fmla="*/ 143 w 165"/>
              <a:gd name="T1" fmla="*/ 19 h 125"/>
              <a:gd name="T2" fmla="*/ 34 w 165"/>
              <a:gd name="T3" fmla="*/ 19 h 125"/>
              <a:gd name="T4" fmla="*/ 30 w 165"/>
              <a:gd name="T5" fmla="*/ 5 h 125"/>
              <a:gd name="T6" fmla="*/ 29 w 165"/>
              <a:gd name="T7" fmla="*/ 4 h 125"/>
              <a:gd name="T8" fmla="*/ 29 w 165"/>
              <a:gd name="T9" fmla="*/ 4 h 125"/>
              <a:gd name="T10" fmla="*/ 28 w 165"/>
              <a:gd name="T11" fmla="*/ 3 h 125"/>
              <a:gd name="T12" fmla="*/ 28 w 165"/>
              <a:gd name="T13" fmla="*/ 2 h 125"/>
              <a:gd name="T14" fmla="*/ 28 w 165"/>
              <a:gd name="T15" fmla="*/ 2 h 125"/>
              <a:gd name="T16" fmla="*/ 27 w 165"/>
              <a:gd name="T17" fmla="*/ 1 h 125"/>
              <a:gd name="T18" fmla="*/ 27 w 165"/>
              <a:gd name="T19" fmla="*/ 1 h 125"/>
              <a:gd name="T20" fmla="*/ 22 w 165"/>
              <a:gd name="T21" fmla="*/ 0 h 125"/>
              <a:gd name="T22" fmla="*/ 7 w 165"/>
              <a:gd name="T23" fmla="*/ 2 h 125"/>
              <a:gd name="T24" fmla="*/ 0 w 165"/>
              <a:gd name="T25" fmla="*/ 9 h 125"/>
              <a:gd name="T26" fmla="*/ 7 w 165"/>
              <a:gd name="T27" fmla="*/ 15 h 125"/>
              <a:gd name="T28" fmla="*/ 18 w 165"/>
              <a:gd name="T29" fmla="*/ 14 h 125"/>
              <a:gd name="T30" fmla="*/ 45 w 165"/>
              <a:gd name="T31" fmla="*/ 99 h 125"/>
              <a:gd name="T32" fmla="*/ 42 w 165"/>
              <a:gd name="T33" fmla="*/ 109 h 125"/>
              <a:gd name="T34" fmla="*/ 58 w 165"/>
              <a:gd name="T35" fmla="*/ 125 h 125"/>
              <a:gd name="T36" fmla="*/ 73 w 165"/>
              <a:gd name="T37" fmla="*/ 116 h 125"/>
              <a:gd name="T38" fmla="*/ 94 w 165"/>
              <a:gd name="T39" fmla="*/ 116 h 125"/>
              <a:gd name="T40" fmla="*/ 109 w 165"/>
              <a:gd name="T41" fmla="*/ 125 h 125"/>
              <a:gd name="T42" fmla="*/ 125 w 165"/>
              <a:gd name="T43" fmla="*/ 109 h 125"/>
              <a:gd name="T44" fmla="*/ 109 w 165"/>
              <a:gd name="T45" fmla="*/ 93 h 125"/>
              <a:gd name="T46" fmla="*/ 94 w 165"/>
              <a:gd name="T47" fmla="*/ 102 h 125"/>
              <a:gd name="T48" fmla="*/ 73 w 165"/>
              <a:gd name="T49" fmla="*/ 102 h 125"/>
              <a:gd name="T50" fmla="*/ 58 w 165"/>
              <a:gd name="T51" fmla="*/ 93 h 125"/>
              <a:gd name="T52" fmla="*/ 58 w 165"/>
              <a:gd name="T53" fmla="*/ 93 h 125"/>
              <a:gd name="T54" fmla="*/ 55 w 165"/>
              <a:gd name="T55" fmla="*/ 83 h 125"/>
              <a:gd name="T56" fmla="*/ 125 w 165"/>
              <a:gd name="T57" fmla="*/ 83 h 125"/>
              <a:gd name="T58" fmla="*/ 139 w 165"/>
              <a:gd name="T59" fmla="*/ 68 h 125"/>
              <a:gd name="T60" fmla="*/ 158 w 165"/>
              <a:gd name="T61" fmla="*/ 34 h 125"/>
              <a:gd name="T62" fmla="*/ 143 w 165"/>
              <a:gd name="T63" fmla="*/ 1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5" h="125">
                <a:moveTo>
                  <a:pt x="143" y="19"/>
                </a:moveTo>
                <a:cubicBezTo>
                  <a:pt x="34" y="19"/>
                  <a:pt x="34" y="19"/>
                  <a:pt x="34" y="19"/>
                </a:cubicBezTo>
                <a:cubicBezTo>
                  <a:pt x="30" y="5"/>
                  <a:pt x="30" y="5"/>
                  <a:pt x="30" y="5"/>
                </a:cubicBezTo>
                <a:cubicBezTo>
                  <a:pt x="30" y="5"/>
                  <a:pt x="29" y="4"/>
                  <a:pt x="29" y="4"/>
                </a:cubicBezTo>
                <a:cubicBezTo>
                  <a:pt x="29" y="4"/>
                  <a:pt x="29" y="4"/>
                  <a:pt x="29" y="4"/>
                </a:cubicBezTo>
                <a:cubicBezTo>
                  <a:pt x="29" y="3"/>
                  <a:pt x="29" y="3"/>
                  <a:pt x="28" y="3"/>
                </a:cubicBezTo>
                <a:cubicBezTo>
                  <a:pt x="28" y="2"/>
                  <a:pt x="28" y="2"/>
                  <a:pt x="28" y="2"/>
                </a:cubicBezTo>
                <a:cubicBezTo>
                  <a:pt x="28" y="2"/>
                  <a:pt x="28" y="2"/>
                  <a:pt x="28" y="2"/>
                </a:cubicBezTo>
                <a:cubicBezTo>
                  <a:pt x="27" y="2"/>
                  <a:pt x="27" y="1"/>
                  <a:pt x="27" y="1"/>
                </a:cubicBezTo>
                <a:cubicBezTo>
                  <a:pt x="27" y="1"/>
                  <a:pt x="27" y="1"/>
                  <a:pt x="27" y="1"/>
                </a:cubicBezTo>
                <a:cubicBezTo>
                  <a:pt x="25" y="0"/>
                  <a:pt x="24" y="0"/>
                  <a:pt x="22" y="0"/>
                </a:cubicBezTo>
                <a:cubicBezTo>
                  <a:pt x="7" y="2"/>
                  <a:pt x="7" y="2"/>
                  <a:pt x="7" y="2"/>
                </a:cubicBezTo>
                <a:cubicBezTo>
                  <a:pt x="3" y="2"/>
                  <a:pt x="0" y="5"/>
                  <a:pt x="0" y="9"/>
                </a:cubicBezTo>
                <a:cubicBezTo>
                  <a:pt x="1" y="12"/>
                  <a:pt x="4" y="15"/>
                  <a:pt x="7" y="15"/>
                </a:cubicBezTo>
                <a:cubicBezTo>
                  <a:pt x="18" y="14"/>
                  <a:pt x="18" y="14"/>
                  <a:pt x="18" y="14"/>
                </a:cubicBezTo>
                <a:cubicBezTo>
                  <a:pt x="45" y="99"/>
                  <a:pt x="45" y="99"/>
                  <a:pt x="45" y="99"/>
                </a:cubicBezTo>
                <a:cubicBezTo>
                  <a:pt x="43" y="101"/>
                  <a:pt x="42" y="105"/>
                  <a:pt x="42" y="109"/>
                </a:cubicBezTo>
                <a:cubicBezTo>
                  <a:pt x="42" y="118"/>
                  <a:pt x="49" y="125"/>
                  <a:pt x="58" y="125"/>
                </a:cubicBezTo>
                <a:cubicBezTo>
                  <a:pt x="64" y="125"/>
                  <a:pt x="70" y="121"/>
                  <a:pt x="73" y="116"/>
                </a:cubicBezTo>
                <a:cubicBezTo>
                  <a:pt x="94" y="116"/>
                  <a:pt x="94" y="116"/>
                  <a:pt x="94" y="116"/>
                </a:cubicBezTo>
                <a:cubicBezTo>
                  <a:pt x="97" y="121"/>
                  <a:pt x="103" y="125"/>
                  <a:pt x="109" y="125"/>
                </a:cubicBezTo>
                <a:cubicBezTo>
                  <a:pt x="118" y="125"/>
                  <a:pt x="125" y="118"/>
                  <a:pt x="125" y="109"/>
                </a:cubicBezTo>
                <a:cubicBezTo>
                  <a:pt x="125" y="100"/>
                  <a:pt x="118" y="93"/>
                  <a:pt x="109" y="93"/>
                </a:cubicBezTo>
                <a:cubicBezTo>
                  <a:pt x="103" y="93"/>
                  <a:pt x="97" y="97"/>
                  <a:pt x="94" y="102"/>
                </a:cubicBezTo>
                <a:cubicBezTo>
                  <a:pt x="73" y="102"/>
                  <a:pt x="73" y="102"/>
                  <a:pt x="73" y="102"/>
                </a:cubicBezTo>
                <a:cubicBezTo>
                  <a:pt x="70" y="97"/>
                  <a:pt x="64" y="93"/>
                  <a:pt x="58" y="93"/>
                </a:cubicBezTo>
                <a:cubicBezTo>
                  <a:pt x="58" y="93"/>
                  <a:pt x="58" y="93"/>
                  <a:pt x="58" y="93"/>
                </a:cubicBezTo>
                <a:cubicBezTo>
                  <a:pt x="55" y="83"/>
                  <a:pt x="55" y="83"/>
                  <a:pt x="55" y="83"/>
                </a:cubicBezTo>
                <a:cubicBezTo>
                  <a:pt x="125" y="83"/>
                  <a:pt x="125" y="83"/>
                  <a:pt x="125" y="83"/>
                </a:cubicBezTo>
                <a:cubicBezTo>
                  <a:pt x="133" y="83"/>
                  <a:pt x="134" y="77"/>
                  <a:pt x="139" y="68"/>
                </a:cubicBezTo>
                <a:cubicBezTo>
                  <a:pt x="158" y="34"/>
                  <a:pt x="158" y="34"/>
                  <a:pt x="158" y="34"/>
                </a:cubicBezTo>
                <a:cubicBezTo>
                  <a:pt x="165" y="20"/>
                  <a:pt x="151" y="19"/>
                  <a:pt x="143" y="1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40" name="组合 39"/>
          <p:cNvGrpSpPr/>
          <p:nvPr/>
        </p:nvGrpSpPr>
        <p:grpSpPr>
          <a:xfrm>
            <a:off x="8660188" y="3451637"/>
            <a:ext cx="307174" cy="307212"/>
            <a:chOff x="11121822" y="1145785"/>
            <a:chExt cx="307214" cy="307212"/>
          </a:xfrm>
          <a:solidFill>
            <a:schemeClr val="bg1"/>
          </a:solidFill>
        </p:grpSpPr>
        <p:sp>
          <p:nvSpPr>
            <p:cNvPr id="42" name="Freeform 140"/>
            <p:cNvSpPr>
              <a:spLocks noEditPoints="1"/>
            </p:cNvSpPr>
            <p:nvPr/>
          </p:nvSpPr>
          <p:spPr bwMode="auto">
            <a:xfrm>
              <a:off x="11121822" y="1211403"/>
              <a:ext cx="241594" cy="241594"/>
            </a:xfrm>
            <a:custGeom>
              <a:avLst/>
              <a:gdLst>
                <a:gd name="T0" fmla="*/ 103 w 112"/>
                <a:gd name="T1" fmla="*/ 47 h 112"/>
                <a:gd name="T2" fmla="*/ 106 w 112"/>
                <a:gd name="T3" fmla="*/ 36 h 112"/>
                <a:gd name="T4" fmla="*/ 102 w 112"/>
                <a:gd name="T5" fmla="*/ 22 h 112"/>
                <a:gd name="T6" fmla="*/ 92 w 112"/>
                <a:gd name="T7" fmla="*/ 25 h 112"/>
                <a:gd name="T8" fmla="*/ 90 w 112"/>
                <a:gd name="T9" fmla="*/ 14 h 112"/>
                <a:gd name="T10" fmla="*/ 79 w 112"/>
                <a:gd name="T11" fmla="*/ 4 h 112"/>
                <a:gd name="T12" fmla="*/ 71 w 112"/>
                <a:gd name="T13" fmla="*/ 11 h 112"/>
                <a:gd name="T14" fmla="*/ 64 w 112"/>
                <a:gd name="T15" fmla="*/ 3 h 112"/>
                <a:gd name="T16" fmla="*/ 50 w 112"/>
                <a:gd name="T17" fmla="*/ 0 h 112"/>
                <a:gd name="T18" fmla="*/ 47 w 112"/>
                <a:gd name="T19" fmla="*/ 10 h 112"/>
                <a:gd name="T20" fmla="*/ 37 w 112"/>
                <a:gd name="T21" fmla="*/ 6 h 112"/>
                <a:gd name="T22" fmla="*/ 23 w 112"/>
                <a:gd name="T23" fmla="*/ 11 h 112"/>
                <a:gd name="T24" fmla="*/ 25 w 112"/>
                <a:gd name="T25" fmla="*/ 20 h 112"/>
                <a:gd name="T26" fmla="*/ 14 w 112"/>
                <a:gd name="T27" fmla="*/ 22 h 112"/>
                <a:gd name="T28" fmla="*/ 5 w 112"/>
                <a:gd name="T29" fmla="*/ 33 h 112"/>
                <a:gd name="T30" fmla="*/ 12 w 112"/>
                <a:gd name="T31" fmla="*/ 41 h 112"/>
                <a:gd name="T32" fmla="*/ 3 w 112"/>
                <a:gd name="T33" fmla="*/ 48 h 112"/>
                <a:gd name="T34" fmla="*/ 0 w 112"/>
                <a:gd name="T35" fmla="*/ 62 h 112"/>
                <a:gd name="T36" fmla="*/ 10 w 112"/>
                <a:gd name="T37" fmla="*/ 65 h 112"/>
                <a:gd name="T38" fmla="*/ 6 w 112"/>
                <a:gd name="T39" fmla="*/ 75 h 112"/>
                <a:gd name="T40" fmla="*/ 11 w 112"/>
                <a:gd name="T41" fmla="*/ 89 h 112"/>
                <a:gd name="T42" fmla="*/ 21 w 112"/>
                <a:gd name="T43" fmla="*/ 87 h 112"/>
                <a:gd name="T44" fmla="*/ 23 w 112"/>
                <a:gd name="T45" fmla="*/ 98 h 112"/>
                <a:gd name="T46" fmla="*/ 34 w 112"/>
                <a:gd name="T47" fmla="*/ 108 h 112"/>
                <a:gd name="T48" fmla="*/ 41 w 112"/>
                <a:gd name="T49" fmla="*/ 101 h 112"/>
                <a:gd name="T50" fmla="*/ 48 w 112"/>
                <a:gd name="T51" fmla="*/ 109 h 112"/>
                <a:gd name="T52" fmla="*/ 63 w 112"/>
                <a:gd name="T53" fmla="*/ 112 h 112"/>
                <a:gd name="T54" fmla="*/ 66 w 112"/>
                <a:gd name="T55" fmla="*/ 102 h 112"/>
                <a:gd name="T56" fmla="*/ 76 w 112"/>
                <a:gd name="T57" fmla="*/ 106 h 112"/>
                <a:gd name="T58" fmla="*/ 90 w 112"/>
                <a:gd name="T59" fmla="*/ 101 h 112"/>
                <a:gd name="T60" fmla="*/ 88 w 112"/>
                <a:gd name="T61" fmla="*/ 91 h 112"/>
                <a:gd name="T62" fmla="*/ 98 w 112"/>
                <a:gd name="T63" fmla="*/ 89 h 112"/>
                <a:gd name="T64" fmla="*/ 108 w 112"/>
                <a:gd name="T65" fmla="*/ 78 h 112"/>
                <a:gd name="T66" fmla="*/ 101 w 112"/>
                <a:gd name="T67" fmla="*/ 71 h 112"/>
                <a:gd name="T68" fmla="*/ 110 w 112"/>
                <a:gd name="T69" fmla="*/ 64 h 112"/>
                <a:gd name="T70" fmla="*/ 112 w 112"/>
                <a:gd name="T71" fmla="*/ 49 h 112"/>
                <a:gd name="T72" fmla="*/ 56 w 112"/>
                <a:gd name="T73" fmla="*/ 86 h 112"/>
                <a:gd name="T74" fmla="*/ 56 w 112"/>
                <a:gd name="T75" fmla="*/ 26 h 112"/>
                <a:gd name="T76" fmla="*/ 56 w 112"/>
                <a:gd name="T7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 h="112">
                  <a:moveTo>
                    <a:pt x="110" y="47"/>
                  </a:moveTo>
                  <a:cubicBezTo>
                    <a:pt x="103" y="47"/>
                    <a:pt x="103" y="47"/>
                    <a:pt x="103" y="47"/>
                  </a:cubicBezTo>
                  <a:cubicBezTo>
                    <a:pt x="102" y="44"/>
                    <a:pt x="101" y="42"/>
                    <a:pt x="101" y="39"/>
                  </a:cubicBezTo>
                  <a:cubicBezTo>
                    <a:pt x="106" y="36"/>
                    <a:pt x="106" y="36"/>
                    <a:pt x="106" y="36"/>
                  </a:cubicBezTo>
                  <a:cubicBezTo>
                    <a:pt x="108" y="35"/>
                    <a:pt x="108" y="34"/>
                    <a:pt x="107" y="32"/>
                  </a:cubicBezTo>
                  <a:cubicBezTo>
                    <a:pt x="102" y="22"/>
                    <a:pt x="102" y="22"/>
                    <a:pt x="102" y="22"/>
                  </a:cubicBezTo>
                  <a:cubicBezTo>
                    <a:pt x="101" y="21"/>
                    <a:pt x="99" y="20"/>
                    <a:pt x="98" y="21"/>
                  </a:cubicBezTo>
                  <a:cubicBezTo>
                    <a:pt x="92" y="25"/>
                    <a:pt x="92" y="25"/>
                    <a:pt x="92" y="25"/>
                  </a:cubicBezTo>
                  <a:cubicBezTo>
                    <a:pt x="90" y="23"/>
                    <a:pt x="88" y="21"/>
                    <a:pt x="87" y="20"/>
                  </a:cubicBezTo>
                  <a:cubicBezTo>
                    <a:pt x="90" y="14"/>
                    <a:pt x="90" y="14"/>
                    <a:pt x="90" y="14"/>
                  </a:cubicBezTo>
                  <a:cubicBezTo>
                    <a:pt x="91" y="12"/>
                    <a:pt x="90" y="11"/>
                    <a:pt x="89" y="10"/>
                  </a:cubicBezTo>
                  <a:cubicBezTo>
                    <a:pt x="79" y="4"/>
                    <a:pt x="79" y="4"/>
                    <a:pt x="79" y="4"/>
                  </a:cubicBezTo>
                  <a:cubicBezTo>
                    <a:pt x="77" y="3"/>
                    <a:pt x="76" y="4"/>
                    <a:pt x="75" y="5"/>
                  </a:cubicBezTo>
                  <a:cubicBezTo>
                    <a:pt x="71" y="11"/>
                    <a:pt x="71" y="11"/>
                    <a:pt x="71" y="11"/>
                  </a:cubicBezTo>
                  <a:cubicBezTo>
                    <a:pt x="69" y="10"/>
                    <a:pt x="67" y="10"/>
                    <a:pt x="64" y="9"/>
                  </a:cubicBezTo>
                  <a:cubicBezTo>
                    <a:pt x="64" y="3"/>
                    <a:pt x="64" y="3"/>
                    <a:pt x="64" y="3"/>
                  </a:cubicBezTo>
                  <a:cubicBezTo>
                    <a:pt x="64" y="1"/>
                    <a:pt x="63" y="0"/>
                    <a:pt x="61" y="0"/>
                  </a:cubicBezTo>
                  <a:cubicBezTo>
                    <a:pt x="50" y="0"/>
                    <a:pt x="50" y="0"/>
                    <a:pt x="50" y="0"/>
                  </a:cubicBezTo>
                  <a:cubicBezTo>
                    <a:pt x="48" y="0"/>
                    <a:pt x="47" y="1"/>
                    <a:pt x="47" y="3"/>
                  </a:cubicBezTo>
                  <a:cubicBezTo>
                    <a:pt x="47" y="10"/>
                    <a:pt x="47" y="10"/>
                    <a:pt x="47" y="10"/>
                  </a:cubicBezTo>
                  <a:cubicBezTo>
                    <a:pt x="45" y="10"/>
                    <a:pt x="42" y="11"/>
                    <a:pt x="40" y="12"/>
                  </a:cubicBezTo>
                  <a:cubicBezTo>
                    <a:pt x="37" y="6"/>
                    <a:pt x="37" y="6"/>
                    <a:pt x="37" y="6"/>
                  </a:cubicBezTo>
                  <a:cubicBezTo>
                    <a:pt x="36" y="4"/>
                    <a:pt x="34" y="4"/>
                    <a:pt x="33" y="5"/>
                  </a:cubicBezTo>
                  <a:cubicBezTo>
                    <a:pt x="23" y="11"/>
                    <a:pt x="23" y="11"/>
                    <a:pt x="23" y="11"/>
                  </a:cubicBezTo>
                  <a:cubicBezTo>
                    <a:pt x="21" y="11"/>
                    <a:pt x="21" y="13"/>
                    <a:pt x="22" y="14"/>
                  </a:cubicBezTo>
                  <a:cubicBezTo>
                    <a:pt x="25" y="20"/>
                    <a:pt x="25" y="20"/>
                    <a:pt x="25" y="20"/>
                  </a:cubicBezTo>
                  <a:cubicBezTo>
                    <a:pt x="23" y="22"/>
                    <a:pt x="22" y="24"/>
                    <a:pt x="20" y="26"/>
                  </a:cubicBezTo>
                  <a:cubicBezTo>
                    <a:pt x="14" y="22"/>
                    <a:pt x="14" y="22"/>
                    <a:pt x="14" y="22"/>
                  </a:cubicBezTo>
                  <a:cubicBezTo>
                    <a:pt x="13" y="22"/>
                    <a:pt x="11" y="22"/>
                    <a:pt x="10" y="23"/>
                  </a:cubicBezTo>
                  <a:cubicBezTo>
                    <a:pt x="5" y="33"/>
                    <a:pt x="5" y="33"/>
                    <a:pt x="5" y="33"/>
                  </a:cubicBezTo>
                  <a:cubicBezTo>
                    <a:pt x="4" y="35"/>
                    <a:pt x="4" y="36"/>
                    <a:pt x="6" y="37"/>
                  </a:cubicBezTo>
                  <a:cubicBezTo>
                    <a:pt x="12" y="41"/>
                    <a:pt x="12" y="41"/>
                    <a:pt x="12" y="41"/>
                  </a:cubicBezTo>
                  <a:cubicBezTo>
                    <a:pt x="11" y="43"/>
                    <a:pt x="10" y="45"/>
                    <a:pt x="10" y="48"/>
                  </a:cubicBezTo>
                  <a:cubicBezTo>
                    <a:pt x="3" y="48"/>
                    <a:pt x="3" y="48"/>
                    <a:pt x="3" y="48"/>
                  </a:cubicBezTo>
                  <a:cubicBezTo>
                    <a:pt x="2" y="48"/>
                    <a:pt x="0" y="49"/>
                    <a:pt x="0" y="51"/>
                  </a:cubicBezTo>
                  <a:cubicBezTo>
                    <a:pt x="0" y="62"/>
                    <a:pt x="0" y="62"/>
                    <a:pt x="0" y="62"/>
                  </a:cubicBezTo>
                  <a:cubicBezTo>
                    <a:pt x="0" y="64"/>
                    <a:pt x="2" y="65"/>
                    <a:pt x="3" y="65"/>
                  </a:cubicBezTo>
                  <a:cubicBezTo>
                    <a:pt x="10" y="65"/>
                    <a:pt x="10" y="65"/>
                    <a:pt x="10" y="65"/>
                  </a:cubicBezTo>
                  <a:cubicBezTo>
                    <a:pt x="11" y="68"/>
                    <a:pt x="11" y="70"/>
                    <a:pt x="12" y="72"/>
                  </a:cubicBezTo>
                  <a:cubicBezTo>
                    <a:pt x="6" y="75"/>
                    <a:pt x="6" y="75"/>
                    <a:pt x="6" y="75"/>
                  </a:cubicBezTo>
                  <a:cubicBezTo>
                    <a:pt x="5" y="76"/>
                    <a:pt x="5" y="78"/>
                    <a:pt x="5" y="79"/>
                  </a:cubicBezTo>
                  <a:cubicBezTo>
                    <a:pt x="11" y="89"/>
                    <a:pt x="11" y="89"/>
                    <a:pt x="11" y="89"/>
                  </a:cubicBezTo>
                  <a:cubicBezTo>
                    <a:pt x="12" y="91"/>
                    <a:pt x="14" y="91"/>
                    <a:pt x="15" y="90"/>
                  </a:cubicBezTo>
                  <a:cubicBezTo>
                    <a:pt x="21" y="87"/>
                    <a:pt x="21" y="87"/>
                    <a:pt x="21" y="87"/>
                  </a:cubicBezTo>
                  <a:cubicBezTo>
                    <a:pt x="23" y="89"/>
                    <a:pt x="24" y="91"/>
                    <a:pt x="26" y="92"/>
                  </a:cubicBezTo>
                  <a:cubicBezTo>
                    <a:pt x="23" y="98"/>
                    <a:pt x="23" y="98"/>
                    <a:pt x="23" y="98"/>
                  </a:cubicBezTo>
                  <a:cubicBezTo>
                    <a:pt x="22" y="99"/>
                    <a:pt x="23" y="101"/>
                    <a:pt x="24" y="102"/>
                  </a:cubicBezTo>
                  <a:cubicBezTo>
                    <a:pt x="34" y="108"/>
                    <a:pt x="34" y="108"/>
                    <a:pt x="34" y="108"/>
                  </a:cubicBezTo>
                  <a:cubicBezTo>
                    <a:pt x="35" y="108"/>
                    <a:pt x="37" y="108"/>
                    <a:pt x="38" y="106"/>
                  </a:cubicBezTo>
                  <a:cubicBezTo>
                    <a:pt x="41" y="101"/>
                    <a:pt x="41" y="101"/>
                    <a:pt x="41" y="101"/>
                  </a:cubicBezTo>
                  <a:cubicBezTo>
                    <a:pt x="44" y="101"/>
                    <a:pt x="46" y="102"/>
                    <a:pt x="48" y="102"/>
                  </a:cubicBezTo>
                  <a:cubicBezTo>
                    <a:pt x="48" y="109"/>
                    <a:pt x="48" y="109"/>
                    <a:pt x="48" y="109"/>
                  </a:cubicBezTo>
                  <a:cubicBezTo>
                    <a:pt x="48" y="111"/>
                    <a:pt x="50" y="112"/>
                    <a:pt x="51" y="112"/>
                  </a:cubicBezTo>
                  <a:cubicBezTo>
                    <a:pt x="63" y="112"/>
                    <a:pt x="63" y="112"/>
                    <a:pt x="63" y="112"/>
                  </a:cubicBezTo>
                  <a:cubicBezTo>
                    <a:pt x="64" y="112"/>
                    <a:pt x="66" y="111"/>
                    <a:pt x="66" y="109"/>
                  </a:cubicBezTo>
                  <a:cubicBezTo>
                    <a:pt x="66" y="102"/>
                    <a:pt x="66" y="102"/>
                    <a:pt x="66" y="102"/>
                  </a:cubicBezTo>
                  <a:cubicBezTo>
                    <a:pt x="68" y="102"/>
                    <a:pt x="70" y="101"/>
                    <a:pt x="73" y="100"/>
                  </a:cubicBezTo>
                  <a:cubicBezTo>
                    <a:pt x="76" y="106"/>
                    <a:pt x="76" y="106"/>
                    <a:pt x="76" y="106"/>
                  </a:cubicBezTo>
                  <a:cubicBezTo>
                    <a:pt x="77" y="107"/>
                    <a:pt x="79" y="108"/>
                    <a:pt x="80" y="107"/>
                  </a:cubicBezTo>
                  <a:cubicBezTo>
                    <a:pt x="90" y="101"/>
                    <a:pt x="90" y="101"/>
                    <a:pt x="90" y="101"/>
                  </a:cubicBezTo>
                  <a:cubicBezTo>
                    <a:pt x="91" y="100"/>
                    <a:pt x="92" y="99"/>
                    <a:pt x="91" y="97"/>
                  </a:cubicBezTo>
                  <a:cubicBezTo>
                    <a:pt x="88" y="91"/>
                    <a:pt x="88" y="91"/>
                    <a:pt x="88" y="91"/>
                  </a:cubicBezTo>
                  <a:cubicBezTo>
                    <a:pt x="89" y="90"/>
                    <a:pt x="91" y="88"/>
                    <a:pt x="93" y="86"/>
                  </a:cubicBezTo>
                  <a:cubicBezTo>
                    <a:pt x="98" y="89"/>
                    <a:pt x="98" y="89"/>
                    <a:pt x="98" y="89"/>
                  </a:cubicBezTo>
                  <a:cubicBezTo>
                    <a:pt x="100" y="90"/>
                    <a:pt x="102" y="90"/>
                    <a:pt x="102" y="88"/>
                  </a:cubicBezTo>
                  <a:cubicBezTo>
                    <a:pt x="108" y="78"/>
                    <a:pt x="108" y="78"/>
                    <a:pt x="108" y="78"/>
                  </a:cubicBezTo>
                  <a:cubicBezTo>
                    <a:pt x="109" y="77"/>
                    <a:pt x="108" y="75"/>
                    <a:pt x="107" y="74"/>
                  </a:cubicBezTo>
                  <a:cubicBezTo>
                    <a:pt x="101" y="71"/>
                    <a:pt x="101" y="71"/>
                    <a:pt x="101" y="71"/>
                  </a:cubicBezTo>
                  <a:cubicBezTo>
                    <a:pt x="102" y="69"/>
                    <a:pt x="102" y="66"/>
                    <a:pt x="103" y="64"/>
                  </a:cubicBezTo>
                  <a:cubicBezTo>
                    <a:pt x="110" y="64"/>
                    <a:pt x="110" y="64"/>
                    <a:pt x="110" y="64"/>
                  </a:cubicBezTo>
                  <a:cubicBezTo>
                    <a:pt x="111" y="64"/>
                    <a:pt x="112" y="63"/>
                    <a:pt x="112" y="61"/>
                  </a:cubicBezTo>
                  <a:cubicBezTo>
                    <a:pt x="112" y="49"/>
                    <a:pt x="112" y="49"/>
                    <a:pt x="112" y="49"/>
                  </a:cubicBezTo>
                  <a:cubicBezTo>
                    <a:pt x="112" y="48"/>
                    <a:pt x="111" y="47"/>
                    <a:pt x="110" y="47"/>
                  </a:cubicBezTo>
                  <a:close/>
                  <a:moveTo>
                    <a:pt x="56" y="86"/>
                  </a:moveTo>
                  <a:cubicBezTo>
                    <a:pt x="40" y="86"/>
                    <a:pt x="26" y="72"/>
                    <a:pt x="26" y="56"/>
                  </a:cubicBezTo>
                  <a:cubicBezTo>
                    <a:pt x="26" y="39"/>
                    <a:pt x="40" y="26"/>
                    <a:pt x="56" y="26"/>
                  </a:cubicBezTo>
                  <a:cubicBezTo>
                    <a:pt x="73" y="26"/>
                    <a:pt x="86" y="39"/>
                    <a:pt x="86" y="56"/>
                  </a:cubicBezTo>
                  <a:cubicBezTo>
                    <a:pt x="86" y="72"/>
                    <a:pt x="73" y="86"/>
                    <a:pt x="56" y="8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44" name="Freeform 141"/>
            <p:cNvSpPr>
              <a:spLocks noEditPoints="1"/>
            </p:cNvSpPr>
            <p:nvPr/>
          </p:nvSpPr>
          <p:spPr bwMode="auto">
            <a:xfrm>
              <a:off x="11317186" y="1145785"/>
              <a:ext cx="111850" cy="113341"/>
            </a:xfrm>
            <a:custGeom>
              <a:avLst/>
              <a:gdLst>
                <a:gd name="T0" fmla="*/ 48 w 52"/>
                <a:gd name="T1" fmla="*/ 23 h 52"/>
                <a:gd name="T2" fmla="*/ 50 w 52"/>
                <a:gd name="T3" fmla="*/ 17 h 52"/>
                <a:gd name="T4" fmla="*/ 48 w 52"/>
                <a:gd name="T5" fmla="*/ 11 h 52"/>
                <a:gd name="T6" fmla="*/ 44 w 52"/>
                <a:gd name="T7" fmla="*/ 12 h 52"/>
                <a:gd name="T8" fmla="*/ 42 w 52"/>
                <a:gd name="T9" fmla="*/ 6 h 52"/>
                <a:gd name="T10" fmla="*/ 38 w 52"/>
                <a:gd name="T11" fmla="*/ 2 h 52"/>
                <a:gd name="T12" fmla="*/ 34 w 52"/>
                <a:gd name="T13" fmla="*/ 5 h 52"/>
                <a:gd name="T14" fmla="*/ 30 w 52"/>
                <a:gd name="T15" fmla="*/ 1 h 52"/>
                <a:gd name="T16" fmla="*/ 24 w 52"/>
                <a:gd name="T17" fmla="*/ 0 h 52"/>
                <a:gd name="T18" fmla="*/ 23 w 52"/>
                <a:gd name="T19" fmla="*/ 4 h 52"/>
                <a:gd name="T20" fmla="*/ 17 w 52"/>
                <a:gd name="T21" fmla="*/ 2 h 52"/>
                <a:gd name="T22" fmla="*/ 11 w 52"/>
                <a:gd name="T23" fmla="*/ 4 h 52"/>
                <a:gd name="T24" fmla="*/ 12 w 52"/>
                <a:gd name="T25" fmla="*/ 8 h 52"/>
                <a:gd name="T26" fmla="*/ 6 w 52"/>
                <a:gd name="T27" fmla="*/ 10 h 52"/>
                <a:gd name="T28" fmla="*/ 2 w 52"/>
                <a:gd name="T29" fmla="*/ 14 h 52"/>
                <a:gd name="T30" fmla="*/ 6 w 52"/>
                <a:gd name="T31" fmla="*/ 18 h 52"/>
                <a:gd name="T32" fmla="*/ 1 w 52"/>
                <a:gd name="T33" fmla="*/ 22 h 52"/>
                <a:gd name="T34" fmla="*/ 0 w 52"/>
                <a:gd name="T35" fmla="*/ 28 h 52"/>
                <a:gd name="T36" fmla="*/ 4 w 52"/>
                <a:gd name="T37" fmla="*/ 29 h 52"/>
                <a:gd name="T38" fmla="*/ 2 w 52"/>
                <a:gd name="T39" fmla="*/ 35 h 52"/>
                <a:gd name="T40" fmla="*/ 4 w 52"/>
                <a:gd name="T41" fmla="*/ 41 h 52"/>
                <a:gd name="T42" fmla="*/ 9 w 52"/>
                <a:gd name="T43" fmla="*/ 40 h 52"/>
                <a:gd name="T44" fmla="*/ 10 w 52"/>
                <a:gd name="T45" fmla="*/ 46 h 52"/>
                <a:gd name="T46" fmla="*/ 15 w 52"/>
                <a:gd name="T47" fmla="*/ 50 h 52"/>
                <a:gd name="T48" fmla="*/ 18 w 52"/>
                <a:gd name="T49" fmla="*/ 47 h 52"/>
                <a:gd name="T50" fmla="*/ 22 w 52"/>
                <a:gd name="T51" fmla="*/ 51 h 52"/>
                <a:gd name="T52" fmla="*/ 28 w 52"/>
                <a:gd name="T53" fmla="*/ 52 h 52"/>
                <a:gd name="T54" fmla="*/ 29 w 52"/>
                <a:gd name="T55" fmla="*/ 48 h 52"/>
                <a:gd name="T56" fmla="*/ 35 w 52"/>
                <a:gd name="T57" fmla="*/ 50 h 52"/>
                <a:gd name="T58" fmla="*/ 41 w 52"/>
                <a:gd name="T59" fmla="*/ 48 h 52"/>
                <a:gd name="T60" fmla="*/ 40 w 52"/>
                <a:gd name="T61" fmla="*/ 43 h 52"/>
                <a:gd name="T62" fmla="*/ 46 w 52"/>
                <a:gd name="T63" fmla="*/ 42 h 52"/>
                <a:gd name="T64" fmla="*/ 50 w 52"/>
                <a:gd name="T65" fmla="*/ 37 h 52"/>
                <a:gd name="T66" fmla="*/ 47 w 52"/>
                <a:gd name="T67" fmla="*/ 34 h 52"/>
                <a:gd name="T68" fmla="*/ 51 w 52"/>
                <a:gd name="T69" fmla="*/ 30 h 52"/>
                <a:gd name="T70" fmla="*/ 52 w 52"/>
                <a:gd name="T71" fmla="*/ 24 h 52"/>
                <a:gd name="T72" fmla="*/ 26 w 52"/>
                <a:gd name="T73" fmla="*/ 40 h 52"/>
                <a:gd name="T74" fmla="*/ 26 w 52"/>
                <a:gd name="T75" fmla="*/ 12 h 52"/>
                <a:gd name="T76" fmla="*/ 26 w 52"/>
                <a:gd name="T77" fmla="*/ 4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2" h="52">
                  <a:moveTo>
                    <a:pt x="51" y="23"/>
                  </a:moveTo>
                  <a:cubicBezTo>
                    <a:pt x="48" y="23"/>
                    <a:pt x="48" y="23"/>
                    <a:pt x="48" y="23"/>
                  </a:cubicBezTo>
                  <a:cubicBezTo>
                    <a:pt x="48" y="21"/>
                    <a:pt x="48" y="20"/>
                    <a:pt x="47" y="18"/>
                  </a:cubicBezTo>
                  <a:cubicBezTo>
                    <a:pt x="50" y="17"/>
                    <a:pt x="50" y="17"/>
                    <a:pt x="50" y="17"/>
                  </a:cubicBezTo>
                  <a:cubicBezTo>
                    <a:pt x="50" y="16"/>
                    <a:pt x="51" y="16"/>
                    <a:pt x="50" y="15"/>
                  </a:cubicBezTo>
                  <a:cubicBezTo>
                    <a:pt x="48" y="11"/>
                    <a:pt x="48" y="11"/>
                    <a:pt x="48" y="11"/>
                  </a:cubicBezTo>
                  <a:cubicBezTo>
                    <a:pt x="48" y="10"/>
                    <a:pt x="47" y="10"/>
                    <a:pt x="46" y="11"/>
                  </a:cubicBezTo>
                  <a:cubicBezTo>
                    <a:pt x="44" y="12"/>
                    <a:pt x="44" y="12"/>
                    <a:pt x="44" y="12"/>
                  </a:cubicBezTo>
                  <a:cubicBezTo>
                    <a:pt x="43" y="11"/>
                    <a:pt x="42" y="10"/>
                    <a:pt x="40" y="9"/>
                  </a:cubicBezTo>
                  <a:cubicBezTo>
                    <a:pt x="42" y="6"/>
                    <a:pt x="42" y="6"/>
                    <a:pt x="42" y="6"/>
                  </a:cubicBezTo>
                  <a:cubicBezTo>
                    <a:pt x="42" y="6"/>
                    <a:pt x="42" y="5"/>
                    <a:pt x="42" y="4"/>
                  </a:cubicBezTo>
                  <a:cubicBezTo>
                    <a:pt x="38" y="2"/>
                    <a:pt x="38" y="2"/>
                    <a:pt x="38" y="2"/>
                  </a:cubicBezTo>
                  <a:cubicBezTo>
                    <a:pt x="37" y="2"/>
                    <a:pt x="36" y="2"/>
                    <a:pt x="36" y="3"/>
                  </a:cubicBezTo>
                  <a:cubicBezTo>
                    <a:pt x="34" y="5"/>
                    <a:pt x="34" y="5"/>
                    <a:pt x="34" y="5"/>
                  </a:cubicBezTo>
                  <a:cubicBezTo>
                    <a:pt x="33" y="5"/>
                    <a:pt x="32" y="4"/>
                    <a:pt x="30" y="4"/>
                  </a:cubicBezTo>
                  <a:cubicBezTo>
                    <a:pt x="30" y="1"/>
                    <a:pt x="30" y="1"/>
                    <a:pt x="30" y="1"/>
                  </a:cubicBezTo>
                  <a:cubicBezTo>
                    <a:pt x="30" y="0"/>
                    <a:pt x="29" y="0"/>
                    <a:pt x="29" y="0"/>
                  </a:cubicBezTo>
                  <a:cubicBezTo>
                    <a:pt x="24" y="0"/>
                    <a:pt x="24" y="0"/>
                    <a:pt x="24" y="0"/>
                  </a:cubicBezTo>
                  <a:cubicBezTo>
                    <a:pt x="24" y="0"/>
                    <a:pt x="23" y="0"/>
                    <a:pt x="23" y="1"/>
                  </a:cubicBezTo>
                  <a:cubicBezTo>
                    <a:pt x="23" y="4"/>
                    <a:pt x="23" y="4"/>
                    <a:pt x="23" y="4"/>
                  </a:cubicBezTo>
                  <a:cubicBezTo>
                    <a:pt x="21" y="4"/>
                    <a:pt x="20" y="5"/>
                    <a:pt x="19" y="5"/>
                  </a:cubicBezTo>
                  <a:cubicBezTo>
                    <a:pt x="17" y="2"/>
                    <a:pt x="17" y="2"/>
                    <a:pt x="17" y="2"/>
                  </a:cubicBezTo>
                  <a:cubicBezTo>
                    <a:pt x="17" y="2"/>
                    <a:pt x="16" y="1"/>
                    <a:pt x="15" y="2"/>
                  </a:cubicBezTo>
                  <a:cubicBezTo>
                    <a:pt x="11" y="4"/>
                    <a:pt x="11" y="4"/>
                    <a:pt x="11" y="4"/>
                  </a:cubicBezTo>
                  <a:cubicBezTo>
                    <a:pt x="11" y="4"/>
                    <a:pt x="11" y="5"/>
                    <a:pt x="11" y="6"/>
                  </a:cubicBezTo>
                  <a:cubicBezTo>
                    <a:pt x="12" y="8"/>
                    <a:pt x="12" y="8"/>
                    <a:pt x="12" y="8"/>
                  </a:cubicBezTo>
                  <a:cubicBezTo>
                    <a:pt x="11" y="9"/>
                    <a:pt x="10" y="10"/>
                    <a:pt x="9" y="12"/>
                  </a:cubicBezTo>
                  <a:cubicBezTo>
                    <a:pt x="6" y="10"/>
                    <a:pt x="6" y="10"/>
                    <a:pt x="6" y="10"/>
                  </a:cubicBezTo>
                  <a:cubicBezTo>
                    <a:pt x="6" y="10"/>
                    <a:pt x="5" y="10"/>
                    <a:pt x="5" y="10"/>
                  </a:cubicBezTo>
                  <a:cubicBezTo>
                    <a:pt x="2" y="14"/>
                    <a:pt x="2" y="14"/>
                    <a:pt x="2" y="14"/>
                  </a:cubicBezTo>
                  <a:cubicBezTo>
                    <a:pt x="2" y="15"/>
                    <a:pt x="2" y="16"/>
                    <a:pt x="3" y="16"/>
                  </a:cubicBezTo>
                  <a:cubicBezTo>
                    <a:pt x="6" y="18"/>
                    <a:pt x="6" y="18"/>
                    <a:pt x="6" y="18"/>
                  </a:cubicBezTo>
                  <a:cubicBezTo>
                    <a:pt x="5" y="19"/>
                    <a:pt x="5" y="21"/>
                    <a:pt x="4" y="22"/>
                  </a:cubicBezTo>
                  <a:cubicBezTo>
                    <a:pt x="1" y="22"/>
                    <a:pt x="1" y="22"/>
                    <a:pt x="1" y="22"/>
                  </a:cubicBezTo>
                  <a:cubicBezTo>
                    <a:pt x="0" y="22"/>
                    <a:pt x="0" y="23"/>
                    <a:pt x="0" y="23"/>
                  </a:cubicBezTo>
                  <a:cubicBezTo>
                    <a:pt x="0" y="28"/>
                    <a:pt x="0" y="28"/>
                    <a:pt x="0" y="28"/>
                  </a:cubicBezTo>
                  <a:cubicBezTo>
                    <a:pt x="0" y="29"/>
                    <a:pt x="0" y="29"/>
                    <a:pt x="1" y="29"/>
                  </a:cubicBezTo>
                  <a:cubicBezTo>
                    <a:pt x="4" y="29"/>
                    <a:pt x="4" y="29"/>
                    <a:pt x="4" y="29"/>
                  </a:cubicBezTo>
                  <a:cubicBezTo>
                    <a:pt x="4" y="31"/>
                    <a:pt x="5" y="32"/>
                    <a:pt x="5" y="34"/>
                  </a:cubicBezTo>
                  <a:cubicBezTo>
                    <a:pt x="2" y="35"/>
                    <a:pt x="2" y="35"/>
                    <a:pt x="2" y="35"/>
                  </a:cubicBezTo>
                  <a:cubicBezTo>
                    <a:pt x="2" y="36"/>
                    <a:pt x="2" y="36"/>
                    <a:pt x="2" y="37"/>
                  </a:cubicBezTo>
                  <a:cubicBezTo>
                    <a:pt x="4" y="41"/>
                    <a:pt x="4" y="41"/>
                    <a:pt x="4" y="41"/>
                  </a:cubicBezTo>
                  <a:cubicBezTo>
                    <a:pt x="5" y="41"/>
                    <a:pt x="5" y="42"/>
                    <a:pt x="6" y="41"/>
                  </a:cubicBezTo>
                  <a:cubicBezTo>
                    <a:pt x="9" y="40"/>
                    <a:pt x="9" y="40"/>
                    <a:pt x="9" y="40"/>
                  </a:cubicBezTo>
                  <a:cubicBezTo>
                    <a:pt x="10" y="41"/>
                    <a:pt x="11" y="42"/>
                    <a:pt x="12" y="43"/>
                  </a:cubicBezTo>
                  <a:cubicBezTo>
                    <a:pt x="10" y="46"/>
                    <a:pt x="10" y="46"/>
                    <a:pt x="10" y="46"/>
                  </a:cubicBezTo>
                  <a:cubicBezTo>
                    <a:pt x="10" y="46"/>
                    <a:pt x="10" y="47"/>
                    <a:pt x="11" y="47"/>
                  </a:cubicBezTo>
                  <a:cubicBezTo>
                    <a:pt x="15" y="50"/>
                    <a:pt x="15" y="50"/>
                    <a:pt x="15" y="50"/>
                  </a:cubicBezTo>
                  <a:cubicBezTo>
                    <a:pt x="15" y="50"/>
                    <a:pt x="16" y="50"/>
                    <a:pt x="16" y="49"/>
                  </a:cubicBezTo>
                  <a:cubicBezTo>
                    <a:pt x="18" y="47"/>
                    <a:pt x="18" y="47"/>
                    <a:pt x="18" y="47"/>
                  </a:cubicBezTo>
                  <a:cubicBezTo>
                    <a:pt x="19" y="47"/>
                    <a:pt x="21" y="48"/>
                    <a:pt x="22" y="48"/>
                  </a:cubicBezTo>
                  <a:cubicBezTo>
                    <a:pt x="22" y="51"/>
                    <a:pt x="22" y="51"/>
                    <a:pt x="22" y="51"/>
                  </a:cubicBezTo>
                  <a:cubicBezTo>
                    <a:pt x="22" y="52"/>
                    <a:pt x="23" y="52"/>
                    <a:pt x="24" y="52"/>
                  </a:cubicBezTo>
                  <a:cubicBezTo>
                    <a:pt x="28" y="52"/>
                    <a:pt x="28" y="52"/>
                    <a:pt x="28" y="52"/>
                  </a:cubicBezTo>
                  <a:cubicBezTo>
                    <a:pt x="29" y="52"/>
                    <a:pt x="29" y="52"/>
                    <a:pt x="29" y="51"/>
                  </a:cubicBezTo>
                  <a:cubicBezTo>
                    <a:pt x="29" y="48"/>
                    <a:pt x="29" y="48"/>
                    <a:pt x="29" y="48"/>
                  </a:cubicBezTo>
                  <a:cubicBezTo>
                    <a:pt x="31" y="48"/>
                    <a:pt x="32" y="47"/>
                    <a:pt x="34" y="47"/>
                  </a:cubicBezTo>
                  <a:cubicBezTo>
                    <a:pt x="35" y="50"/>
                    <a:pt x="35" y="50"/>
                    <a:pt x="35" y="50"/>
                  </a:cubicBezTo>
                  <a:cubicBezTo>
                    <a:pt x="36" y="50"/>
                    <a:pt x="36" y="50"/>
                    <a:pt x="37" y="50"/>
                  </a:cubicBezTo>
                  <a:cubicBezTo>
                    <a:pt x="41" y="48"/>
                    <a:pt x="41" y="48"/>
                    <a:pt x="41" y="48"/>
                  </a:cubicBezTo>
                  <a:cubicBezTo>
                    <a:pt x="42" y="47"/>
                    <a:pt x="42" y="47"/>
                    <a:pt x="41" y="46"/>
                  </a:cubicBezTo>
                  <a:cubicBezTo>
                    <a:pt x="40" y="43"/>
                    <a:pt x="40" y="43"/>
                    <a:pt x="40" y="43"/>
                  </a:cubicBezTo>
                  <a:cubicBezTo>
                    <a:pt x="41" y="42"/>
                    <a:pt x="42" y="41"/>
                    <a:pt x="43" y="40"/>
                  </a:cubicBezTo>
                  <a:cubicBezTo>
                    <a:pt x="46" y="42"/>
                    <a:pt x="46" y="42"/>
                    <a:pt x="46" y="42"/>
                  </a:cubicBezTo>
                  <a:cubicBezTo>
                    <a:pt x="47" y="42"/>
                    <a:pt x="47" y="42"/>
                    <a:pt x="48" y="41"/>
                  </a:cubicBezTo>
                  <a:cubicBezTo>
                    <a:pt x="50" y="37"/>
                    <a:pt x="50" y="37"/>
                    <a:pt x="50" y="37"/>
                  </a:cubicBezTo>
                  <a:cubicBezTo>
                    <a:pt x="50" y="37"/>
                    <a:pt x="50" y="36"/>
                    <a:pt x="50" y="36"/>
                  </a:cubicBezTo>
                  <a:cubicBezTo>
                    <a:pt x="47" y="34"/>
                    <a:pt x="47" y="34"/>
                    <a:pt x="47" y="34"/>
                  </a:cubicBezTo>
                  <a:cubicBezTo>
                    <a:pt x="47" y="33"/>
                    <a:pt x="48" y="31"/>
                    <a:pt x="48" y="30"/>
                  </a:cubicBezTo>
                  <a:cubicBezTo>
                    <a:pt x="51" y="30"/>
                    <a:pt x="51" y="30"/>
                    <a:pt x="51" y="30"/>
                  </a:cubicBezTo>
                  <a:cubicBezTo>
                    <a:pt x="52" y="30"/>
                    <a:pt x="52" y="29"/>
                    <a:pt x="52" y="29"/>
                  </a:cubicBezTo>
                  <a:cubicBezTo>
                    <a:pt x="52" y="24"/>
                    <a:pt x="52" y="24"/>
                    <a:pt x="52" y="24"/>
                  </a:cubicBezTo>
                  <a:cubicBezTo>
                    <a:pt x="52" y="23"/>
                    <a:pt x="52" y="23"/>
                    <a:pt x="51" y="23"/>
                  </a:cubicBezTo>
                  <a:close/>
                  <a:moveTo>
                    <a:pt x="26" y="40"/>
                  </a:moveTo>
                  <a:cubicBezTo>
                    <a:pt x="18" y="40"/>
                    <a:pt x="12" y="34"/>
                    <a:pt x="12" y="26"/>
                  </a:cubicBezTo>
                  <a:cubicBezTo>
                    <a:pt x="12" y="18"/>
                    <a:pt x="18" y="12"/>
                    <a:pt x="26" y="12"/>
                  </a:cubicBezTo>
                  <a:cubicBezTo>
                    <a:pt x="34" y="12"/>
                    <a:pt x="40" y="18"/>
                    <a:pt x="40" y="26"/>
                  </a:cubicBezTo>
                  <a:cubicBezTo>
                    <a:pt x="40" y="34"/>
                    <a:pt x="34" y="40"/>
                    <a:pt x="26"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grpSp>
      <p:sp>
        <p:nvSpPr>
          <p:cNvPr id="46" name="Freeform 142"/>
          <p:cNvSpPr/>
          <p:nvPr/>
        </p:nvSpPr>
        <p:spPr bwMode="auto">
          <a:xfrm>
            <a:off x="5944715" y="3528116"/>
            <a:ext cx="292261" cy="238612"/>
          </a:xfrm>
          <a:custGeom>
            <a:avLst/>
            <a:gdLst>
              <a:gd name="T0" fmla="*/ 135 w 135"/>
              <a:gd name="T1" fmla="*/ 49 h 110"/>
              <a:gd name="T2" fmla="*/ 68 w 135"/>
              <a:gd name="T3" fmla="*/ 0 h 110"/>
              <a:gd name="T4" fmla="*/ 0 w 135"/>
              <a:gd name="T5" fmla="*/ 49 h 110"/>
              <a:gd name="T6" fmla="*/ 68 w 135"/>
              <a:gd name="T7" fmla="*/ 99 h 110"/>
              <a:gd name="T8" fmla="*/ 93 w 135"/>
              <a:gd name="T9" fmla="*/ 96 h 110"/>
              <a:gd name="T10" fmla="*/ 121 w 135"/>
              <a:gd name="T11" fmla="*/ 110 h 110"/>
              <a:gd name="T12" fmla="*/ 113 w 135"/>
              <a:gd name="T13" fmla="*/ 86 h 110"/>
              <a:gd name="T14" fmla="*/ 135 w 135"/>
              <a:gd name="T15" fmla="*/ 49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10">
                <a:moveTo>
                  <a:pt x="135" y="49"/>
                </a:moveTo>
                <a:cubicBezTo>
                  <a:pt x="135" y="22"/>
                  <a:pt x="105" y="0"/>
                  <a:pt x="68" y="0"/>
                </a:cubicBezTo>
                <a:cubicBezTo>
                  <a:pt x="30" y="0"/>
                  <a:pt x="0" y="22"/>
                  <a:pt x="0" y="49"/>
                </a:cubicBezTo>
                <a:cubicBezTo>
                  <a:pt x="0" y="77"/>
                  <a:pt x="30" y="99"/>
                  <a:pt x="68" y="99"/>
                </a:cubicBezTo>
                <a:cubicBezTo>
                  <a:pt x="76" y="99"/>
                  <a:pt x="85" y="98"/>
                  <a:pt x="93" y="96"/>
                </a:cubicBezTo>
                <a:cubicBezTo>
                  <a:pt x="95" y="95"/>
                  <a:pt x="121" y="110"/>
                  <a:pt x="121" y="110"/>
                </a:cubicBezTo>
                <a:cubicBezTo>
                  <a:pt x="113" y="86"/>
                  <a:pt x="113" y="86"/>
                  <a:pt x="113" y="86"/>
                </a:cubicBezTo>
                <a:cubicBezTo>
                  <a:pt x="126" y="77"/>
                  <a:pt x="135" y="64"/>
                  <a:pt x="135" y="4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20" name="对角圆角矩形 19"/>
          <p:cNvSpPr/>
          <p:nvPr/>
        </p:nvSpPr>
        <p:spPr>
          <a:xfrm flipV="1">
            <a:off x="3161665" y="1119505"/>
            <a:ext cx="2589530" cy="551815"/>
          </a:xfrm>
          <a:prstGeom prst="round2DiagRect">
            <a:avLst>
              <a:gd name="adj1" fmla="val 50000"/>
              <a:gd name="adj2"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3" name="文本框 2"/>
          <p:cNvSpPr txBox="1"/>
          <p:nvPr/>
        </p:nvSpPr>
        <p:spPr>
          <a:xfrm>
            <a:off x="3552190" y="1210310"/>
            <a:ext cx="1807845" cy="368300"/>
          </a:xfrm>
          <a:prstGeom prst="rect">
            <a:avLst/>
          </a:prstGeom>
          <a:noFill/>
        </p:spPr>
        <p:txBody>
          <a:bodyPr wrap="square" rtlCol="0">
            <a:spAutoFit/>
          </a:bodyPr>
          <a:p>
            <a:pPr algn="ctr"/>
            <a:r>
              <a:rPr lang="zh-CN" altLang="en-US" b="1">
                <a:solidFill>
                  <a:schemeClr val="bg1"/>
                </a:solidFill>
              </a:rPr>
              <a:t>排名</a:t>
            </a:r>
            <a:endParaRPr lang="zh-CN" altLang="en-US" b="1">
              <a:solidFill>
                <a:schemeClr val="bg1"/>
              </a:solidFill>
            </a:endParaRPr>
          </a:p>
        </p:txBody>
      </p:sp>
      <p:sp>
        <p:nvSpPr>
          <p:cNvPr id="23" name="对角圆角矩形 22"/>
          <p:cNvSpPr/>
          <p:nvPr/>
        </p:nvSpPr>
        <p:spPr>
          <a:xfrm flipV="1">
            <a:off x="6840220" y="1118235"/>
            <a:ext cx="2589530" cy="551815"/>
          </a:xfrm>
          <a:prstGeom prst="round2DiagRect">
            <a:avLst>
              <a:gd name="adj1" fmla="val 50000"/>
              <a:gd name="adj2" fmla="val 0"/>
            </a:avLst>
          </a:prstGeom>
          <a:solidFill>
            <a:schemeClr val="bg1"/>
          </a:solidFill>
          <a:ln>
            <a:solidFill>
              <a:srgbClr val="C00000"/>
            </a:solidFill>
          </a:ln>
          <a:extLst>
            <a:ext uri="{909E8E84-426E-40DD-AFC4-6F175D3DCCD1}">
              <a14:hiddenFill xmlns:a14="http://schemas.microsoft.com/office/drawing/2010/main">
                <a:solidFill>
                  <a:schemeClr val="tx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22561" name="PA_淘宝店chenying0907 33"/>
          <p:cNvSpPr>
            <a:spLocks noChangeArrowheads="1"/>
          </p:cNvSpPr>
          <p:nvPr>
            <p:custDataLst>
              <p:tags r:id="rId1"/>
            </p:custDataLst>
          </p:nvPr>
        </p:nvSpPr>
        <p:spPr bwMode="auto">
          <a:xfrm>
            <a:off x="7222490" y="1210310"/>
            <a:ext cx="1824990" cy="33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ctr">
              <a:lnSpc>
                <a:spcPct val="120000"/>
              </a:lnSpc>
              <a:buFont typeface="Arial" panose="020B0604020202020204" pitchFamily="34" charset="0"/>
              <a:buNone/>
            </a:pPr>
            <a:r>
              <a:rPr lang="zh-CN" altLang="zh-CN" b="1">
                <a:solidFill>
                  <a:srgbClr val="C00000"/>
                </a:solidFill>
                <a:latin typeface="锐字云字库魏体1.0" panose="02010604000000000000" charset="-122"/>
                <a:ea typeface="锐字云字库魏体1.0" panose="02010604000000000000" charset="-122"/>
                <a:sym typeface="+mn-ea"/>
              </a:rPr>
              <a:t>评论</a:t>
            </a:r>
            <a:endParaRPr lang="zh-CN" altLang="zh-CN" b="1">
              <a:solidFill>
                <a:srgbClr val="C00000"/>
              </a:solidFill>
              <a:latin typeface="锐字云字库魏体1.0" panose="02010604000000000000" charset="-122"/>
              <a:ea typeface="锐字云字库魏体1.0" panose="02010604000000000000" charset="-122"/>
              <a:sym typeface="+mn-ea"/>
            </a:endParaRPr>
          </a:p>
        </p:txBody>
      </p:sp>
      <p:sp>
        <p:nvSpPr>
          <p:cNvPr id="5" name="矩形 4"/>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grpSp>
        <p:nvGrpSpPr>
          <p:cNvPr id="6" name="组合 5"/>
          <p:cNvGrpSpPr/>
          <p:nvPr/>
        </p:nvGrpSpPr>
        <p:grpSpPr>
          <a:xfrm>
            <a:off x="820965" y="0"/>
            <a:ext cx="717550" cy="1097304"/>
            <a:chOff x="4704555" y="313131"/>
            <a:chExt cx="2782888" cy="4255695"/>
          </a:xfrm>
        </p:grpSpPr>
        <p:sp>
          <p:nvSpPr>
            <p:cNvPr id="14" name="流程图: 决策 5"/>
            <p:cNvSpPr/>
            <p:nvPr/>
          </p:nvSpPr>
          <p:spPr>
            <a:xfrm>
              <a:off x="4704555" y="313131"/>
              <a:ext cx="2782888" cy="425569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15" name="流程图: 决策 6"/>
            <p:cNvSpPr/>
            <p:nvPr/>
          </p:nvSpPr>
          <p:spPr>
            <a:xfrm>
              <a:off x="4934127" y="2015510"/>
              <a:ext cx="2323745" cy="2323745"/>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grpSp>
      <p:sp>
        <p:nvSpPr>
          <p:cNvPr id="16" name="文本框 15"/>
          <p:cNvSpPr txBox="1"/>
          <p:nvPr/>
        </p:nvSpPr>
        <p:spPr>
          <a:xfrm>
            <a:off x="733564" y="451148"/>
            <a:ext cx="950408" cy="583565"/>
          </a:xfrm>
          <a:prstGeom prst="rect">
            <a:avLst/>
          </a:prstGeom>
          <a:noFill/>
        </p:spPr>
        <p:txBody>
          <a:bodyPr wrap="square" rtlCol="0">
            <a:spAutoFit/>
          </a:bodyPr>
          <a:p>
            <a:pPr algn="ctr"/>
            <a:r>
              <a:rPr lang="en-US" altLang="zh-CN" sz="3200" b="1" dirty="0" smtClean="0">
                <a:ln w="28575">
                  <a:noFill/>
                </a:ln>
                <a:latin typeface="微软雅黑" panose="020B0503020204020204" charset="-122"/>
                <a:ea typeface="微软雅黑" panose="020B0503020204020204" charset="-122"/>
              </a:rPr>
              <a:t>03</a:t>
            </a:r>
            <a:endParaRPr lang="zh-CN" altLang="en-US" sz="4800" b="1" dirty="0">
              <a:ln w="28575">
                <a:noFill/>
              </a:ln>
              <a:latin typeface="微软雅黑" panose="020B0503020204020204" charset="-122"/>
              <a:ea typeface="微软雅黑" panose="020B0503020204020204" charset="-122"/>
            </a:endParaRPr>
          </a:p>
        </p:txBody>
      </p:sp>
      <p:sp>
        <p:nvSpPr>
          <p:cNvPr id="45" name="矩形 44"/>
          <p:cNvSpPr/>
          <p:nvPr/>
        </p:nvSpPr>
        <p:spPr>
          <a:xfrm>
            <a:off x="1618755" y="451080"/>
            <a:ext cx="1097280" cy="506730"/>
          </a:xfrm>
          <a:prstGeom prst="rect">
            <a:avLst/>
          </a:prstGeom>
        </p:spPr>
        <p:txBody>
          <a:bodyPr wrap="none">
            <a:spAutoFit/>
          </a:bodyPr>
          <a:p>
            <a:pPr algn="l">
              <a:lnSpc>
                <a:spcPct val="150000"/>
              </a:lnSpc>
            </a:pPr>
            <a:r>
              <a:rPr lang="zh-CN" altLang="en-US" b="1" dirty="0">
                <a:solidFill>
                  <a:schemeClr val="tx1">
                    <a:lumMod val="95000"/>
                    <a:lumOff val="5000"/>
                  </a:schemeClr>
                </a:solidFill>
                <a:latin typeface="微软雅黑" panose="020B0503020204020204" charset="-122"/>
                <a:ea typeface="微软雅黑" panose="020B0503020204020204" charset="-122"/>
              </a:rPr>
              <a:t>新品记录</a:t>
            </a:r>
            <a:endParaRPr lang="zh-CN" altLang="en-US" b="1" dirty="0">
              <a:solidFill>
                <a:schemeClr val="tx1">
                  <a:lumMod val="95000"/>
                  <a:lumOff val="5000"/>
                </a:schemeClr>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22860" y="2143125"/>
            <a:ext cx="12238355" cy="25711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par>
                                <p:cTn id="12" presetID="10" presetClass="entr" presetSubtype="0" fill="hold" grpId="0" nodeType="withEffect">
                                  <p:stCondLst>
                                    <p:cond delay="1800"/>
                                  </p:stCondLst>
                                  <p:childTnLst>
                                    <p:set>
                                      <p:cBhvr>
                                        <p:cTn id="13" dur="1" fill="hold">
                                          <p:stCondLst>
                                            <p:cond delay="0"/>
                                          </p:stCondLst>
                                        </p:cTn>
                                        <p:tgtEl>
                                          <p:spTgt spid="22561"/>
                                        </p:tgtEl>
                                        <p:attrNameLst>
                                          <p:attrName>style.visibility</p:attrName>
                                        </p:attrNameLst>
                                      </p:cBhvr>
                                      <p:to>
                                        <p:strVal val="visible"/>
                                      </p:to>
                                    </p:set>
                                    <p:animEffect transition="in" filter="fade">
                                      <p:cBhvr>
                                        <p:cTn id="14" dur="500"/>
                                        <p:tgtEl>
                                          <p:spTgt spid="22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3" grpId="0" bldLvl="0" animBg="1"/>
      <p:bldP spid="2256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23"/>
          <p:cNvSpPr/>
          <p:nvPr/>
        </p:nvSpPr>
        <p:spPr bwMode="auto">
          <a:xfrm>
            <a:off x="2617955" y="3844643"/>
            <a:ext cx="1520627" cy="1528763"/>
          </a:xfrm>
          <a:custGeom>
            <a:avLst/>
            <a:gdLst>
              <a:gd name="T0" fmla="*/ 958 w 958"/>
              <a:gd name="T1" fmla="*/ 287 h 963"/>
              <a:gd name="T2" fmla="*/ 283 w 958"/>
              <a:gd name="T3" fmla="*/ 963 h 963"/>
              <a:gd name="T4" fmla="*/ 0 w 958"/>
              <a:gd name="T5" fmla="*/ 676 h 963"/>
              <a:gd name="T6" fmla="*/ 672 w 958"/>
              <a:gd name="T7" fmla="*/ 0 h 963"/>
              <a:gd name="T8" fmla="*/ 958 w 958"/>
              <a:gd name="T9" fmla="*/ 287 h 963"/>
            </a:gdLst>
            <a:ahLst/>
            <a:cxnLst>
              <a:cxn ang="0">
                <a:pos x="T0" y="T1"/>
              </a:cxn>
              <a:cxn ang="0">
                <a:pos x="T2" y="T3"/>
              </a:cxn>
              <a:cxn ang="0">
                <a:pos x="T4" y="T5"/>
              </a:cxn>
              <a:cxn ang="0">
                <a:pos x="T6" y="T7"/>
              </a:cxn>
              <a:cxn ang="0">
                <a:pos x="T8" y="T9"/>
              </a:cxn>
            </a:cxnLst>
            <a:rect l="0" t="0" r="r" b="b"/>
            <a:pathLst>
              <a:path w="958" h="963">
                <a:moveTo>
                  <a:pt x="958" y="287"/>
                </a:moveTo>
                <a:lnTo>
                  <a:pt x="283" y="963"/>
                </a:lnTo>
                <a:lnTo>
                  <a:pt x="0" y="676"/>
                </a:lnTo>
                <a:lnTo>
                  <a:pt x="672" y="0"/>
                </a:lnTo>
                <a:lnTo>
                  <a:pt x="958" y="287"/>
                </a:lnTo>
                <a:close/>
              </a:path>
            </a:pathLst>
          </a:custGeom>
          <a:solidFill>
            <a:schemeClr val="bg1">
              <a:lumMod val="50000"/>
              <a:alpha val="15000"/>
            </a:schemeClr>
          </a:solidFill>
          <a:ln>
            <a:noFill/>
          </a:ln>
        </p:spPr>
        <p:txBody>
          <a:bodyPr vert="horz" wrap="square" lIns="91440" tIns="45720" rIns="91440" bIns="45720" numCol="1" anchor="ctr" anchorCtr="0" compatLnSpc="1"/>
          <a:lstStyle/>
          <a:p>
            <a:pPr algn="ctr"/>
            <a:endParaRPr lang="en-US" sz="1405">
              <a:latin typeface="+mn-ea"/>
              <a:cs typeface="+mn-ea"/>
            </a:endParaRPr>
          </a:p>
        </p:txBody>
      </p:sp>
      <p:sp>
        <p:nvSpPr>
          <p:cNvPr id="22" name="Freeform 24"/>
          <p:cNvSpPr/>
          <p:nvPr/>
        </p:nvSpPr>
        <p:spPr bwMode="auto">
          <a:xfrm>
            <a:off x="9036968" y="1701515"/>
            <a:ext cx="1526976" cy="1524000"/>
          </a:xfrm>
          <a:custGeom>
            <a:avLst/>
            <a:gdLst>
              <a:gd name="T0" fmla="*/ 962 w 962"/>
              <a:gd name="T1" fmla="*/ 284 h 960"/>
              <a:gd name="T2" fmla="*/ 287 w 962"/>
              <a:gd name="T3" fmla="*/ 960 h 960"/>
              <a:gd name="T4" fmla="*/ 0 w 962"/>
              <a:gd name="T5" fmla="*/ 677 h 960"/>
              <a:gd name="T6" fmla="*/ 675 w 962"/>
              <a:gd name="T7" fmla="*/ 0 h 960"/>
              <a:gd name="T8" fmla="*/ 962 w 962"/>
              <a:gd name="T9" fmla="*/ 284 h 960"/>
            </a:gdLst>
            <a:ahLst/>
            <a:cxnLst>
              <a:cxn ang="0">
                <a:pos x="T0" y="T1"/>
              </a:cxn>
              <a:cxn ang="0">
                <a:pos x="T2" y="T3"/>
              </a:cxn>
              <a:cxn ang="0">
                <a:pos x="T4" y="T5"/>
              </a:cxn>
              <a:cxn ang="0">
                <a:pos x="T6" y="T7"/>
              </a:cxn>
              <a:cxn ang="0">
                <a:pos x="T8" y="T9"/>
              </a:cxn>
            </a:cxnLst>
            <a:rect l="0" t="0" r="r" b="b"/>
            <a:pathLst>
              <a:path w="962" h="960">
                <a:moveTo>
                  <a:pt x="962" y="284"/>
                </a:moveTo>
                <a:lnTo>
                  <a:pt x="287" y="960"/>
                </a:lnTo>
                <a:lnTo>
                  <a:pt x="0" y="677"/>
                </a:lnTo>
                <a:lnTo>
                  <a:pt x="675" y="0"/>
                </a:lnTo>
                <a:lnTo>
                  <a:pt x="962" y="284"/>
                </a:lnTo>
                <a:close/>
              </a:path>
            </a:pathLst>
          </a:custGeom>
          <a:solidFill>
            <a:schemeClr val="bg1">
              <a:lumMod val="50000"/>
              <a:alpha val="15000"/>
            </a:schemeClr>
          </a:solidFill>
          <a:ln>
            <a:noFill/>
          </a:ln>
        </p:spPr>
        <p:txBody>
          <a:bodyPr vert="horz" wrap="square" lIns="91440" tIns="45720" rIns="91440" bIns="45720" numCol="1" anchor="ctr" anchorCtr="0" compatLnSpc="1"/>
          <a:lstStyle/>
          <a:p>
            <a:pPr algn="ctr"/>
            <a:endParaRPr lang="en-US" sz="1405">
              <a:latin typeface="+mn-ea"/>
              <a:cs typeface="+mn-ea"/>
            </a:endParaRPr>
          </a:p>
        </p:txBody>
      </p:sp>
      <p:sp>
        <p:nvSpPr>
          <p:cNvPr id="23" name="Freeform 25"/>
          <p:cNvSpPr/>
          <p:nvPr/>
        </p:nvSpPr>
        <p:spPr bwMode="auto">
          <a:xfrm>
            <a:off x="5827461" y="2776253"/>
            <a:ext cx="1522215" cy="1524000"/>
          </a:xfrm>
          <a:custGeom>
            <a:avLst/>
            <a:gdLst>
              <a:gd name="T0" fmla="*/ 959 w 959"/>
              <a:gd name="T1" fmla="*/ 283 h 960"/>
              <a:gd name="T2" fmla="*/ 286 w 959"/>
              <a:gd name="T3" fmla="*/ 960 h 960"/>
              <a:gd name="T4" fmla="*/ 0 w 959"/>
              <a:gd name="T5" fmla="*/ 673 h 960"/>
              <a:gd name="T6" fmla="*/ 675 w 959"/>
              <a:gd name="T7" fmla="*/ 0 h 960"/>
              <a:gd name="T8" fmla="*/ 959 w 959"/>
              <a:gd name="T9" fmla="*/ 283 h 960"/>
            </a:gdLst>
            <a:ahLst/>
            <a:cxnLst>
              <a:cxn ang="0">
                <a:pos x="T0" y="T1"/>
              </a:cxn>
              <a:cxn ang="0">
                <a:pos x="T2" y="T3"/>
              </a:cxn>
              <a:cxn ang="0">
                <a:pos x="T4" y="T5"/>
              </a:cxn>
              <a:cxn ang="0">
                <a:pos x="T6" y="T7"/>
              </a:cxn>
              <a:cxn ang="0">
                <a:pos x="T8" y="T9"/>
              </a:cxn>
            </a:cxnLst>
            <a:rect l="0" t="0" r="r" b="b"/>
            <a:pathLst>
              <a:path w="959" h="960">
                <a:moveTo>
                  <a:pt x="959" y="283"/>
                </a:moveTo>
                <a:lnTo>
                  <a:pt x="286" y="960"/>
                </a:lnTo>
                <a:lnTo>
                  <a:pt x="0" y="673"/>
                </a:lnTo>
                <a:lnTo>
                  <a:pt x="675" y="0"/>
                </a:lnTo>
                <a:lnTo>
                  <a:pt x="959" y="283"/>
                </a:lnTo>
                <a:close/>
              </a:path>
            </a:pathLst>
          </a:custGeom>
          <a:solidFill>
            <a:schemeClr val="bg1">
              <a:lumMod val="75000"/>
              <a:alpha val="15000"/>
            </a:schemeClr>
          </a:solidFill>
          <a:ln>
            <a:noFill/>
          </a:ln>
        </p:spPr>
        <p:txBody>
          <a:bodyPr vert="horz" wrap="square" lIns="91440" tIns="45720" rIns="91440" bIns="45720" numCol="1" anchor="ctr" anchorCtr="0" compatLnSpc="1"/>
          <a:lstStyle/>
          <a:p>
            <a:pPr algn="ctr"/>
            <a:endParaRPr lang="en-US" sz="1405">
              <a:latin typeface="+mn-ea"/>
              <a:cs typeface="+mn-ea"/>
            </a:endParaRPr>
          </a:p>
        </p:txBody>
      </p:sp>
      <p:sp>
        <p:nvSpPr>
          <p:cNvPr id="24" name="Freeform 26"/>
          <p:cNvSpPr/>
          <p:nvPr/>
        </p:nvSpPr>
        <p:spPr bwMode="auto">
          <a:xfrm>
            <a:off x="4756038" y="2776253"/>
            <a:ext cx="1525389" cy="1524000"/>
          </a:xfrm>
          <a:custGeom>
            <a:avLst/>
            <a:gdLst>
              <a:gd name="T0" fmla="*/ 286 w 961"/>
              <a:gd name="T1" fmla="*/ 0 h 960"/>
              <a:gd name="T2" fmla="*/ 961 w 961"/>
              <a:gd name="T3" fmla="*/ 673 h 960"/>
              <a:gd name="T4" fmla="*/ 675 w 961"/>
              <a:gd name="T5" fmla="*/ 960 h 960"/>
              <a:gd name="T6" fmla="*/ 0 w 961"/>
              <a:gd name="T7" fmla="*/ 283 h 960"/>
              <a:gd name="T8" fmla="*/ 286 w 961"/>
              <a:gd name="T9" fmla="*/ 0 h 960"/>
            </a:gdLst>
            <a:ahLst/>
            <a:cxnLst>
              <a:cxn ang="0">
                <a:pos x="T0" y="T1"/>
              </a:cxn>
              <a:cxn ang="0">
                <a:pos x="T2" y="T3"/>
              </a:cxn>
              <a:cxn ang="0">
                <a:pos x="T4" y="T5"/>
              </a:cxn>
              <a:cxn ang="0">
                <a:pos x="T6" y="T7"/>
              </a:cxn>
              <a:cxn ang="0">
                <a:pos x="T8" y="T9"/>
              </a:cxn>
            </a:cxnLst>
            <a:rect l="0" t="0" r="r" b="b"/>
            <a:pathLst>
              <a:path w="961" h="960">
                <a:moveTo>
                  <a:pt x="286" y="0"/>
                </a:moveTo>
                <a:lnTo>
                  <a:pt x="961" y="673"/>
                </a:lnTo>
                <a:lnTo>
                  <a:pt x="675" y="960"/>
                </a:lnTo>
                <a:lnTo>
                  <a:pt x="0" y="283"/>
                </a:lnTo>
                <a:lnTo>
                  <a:pt x="286" y="0"/>
                </a:lnTo>
                <a:close/>
              </a:path>
            </a:pathLst>
          </a:custGeom>
          <a:solidFill>
            <a:schemeClr val="bg1">
              <a:lumMod val="50000"/>
              <a:alpha val="15000"/>
            </a:schemeClr>
          </a:solidFill>
          <a:ln>
            <a:noFill/>
          </a:ln>
        </p:spPr>
        <p:txBody>
          <a:bodyPr vert="horz" wrap="square" lIns="91440" tIns="45720" rIns="91440" bIns="45720" numCol="1" anchor="ctr" anchorCtr="0" compatLnSpc="1"/>
          <a:lstStyle/>
          <a:p>
            <a:pPr algn="ctr"/>
            <a:endParaRPr lang="en-US" sz="1405">
              <a:latin typeface="+mn-ea"/>
              <a:cs typeface="+mn-ea"/>
            </a:endParaRPr>
          </a:p>
        </p:txBody>
      </p:sp>
      <p:sp>
        <p:nvSpPr>
          <p:cNvPr id="25" name="Freeform 27"/>
          <p:cNvSpPr/>
          <p:nvPr/>
        </p:nvSpPr>
        <p:spPr bwMode="auto">
          <a:xfrm>
            <a:off x="7965545" y="2776253"/>
            <a:ext cx="1526976" cy="1524000"/>
          </a:xfrm>
          <a:custGeom>
            <a:avLst/>
            <a:gdLst>
              <a:gd name="T0" fmla="*/ 962 w 962"/>
              <a:gd name="T1" fmla="*/ 283 h 960"/>
              <a:gd name="T2" fmla="*/ 287 w 962"/>
              <a:gd name="T3" fmla="*/ 960 h 960"/>
              <a:gd name="T4" fmla="*/ 0 w 962"/>
              <a:gd name="T5" fmla="*/ 673 h 960"/>
              <a:gd name="T6" fmla="*/ 675 w 962"/>
              <a:gd name="T7" fmla="*/ 0 h 960"/>
              <a:gd name="T8" fmla="*/ 962 w 962"/>
              <a:gd name="T9" fmla="*/ 283 h 960"/>
            </a:gdLst>
            <a:ahLst/>
            <a:cxnLst>
              <a:cxn ang="0">
                <a:pos x="T0" y="T1"/>
              </a:cxn>
              <a:cxn ang="0">
                <a:pos x="T2" y="T3"/>
              </a:cxn>
              <a:cxn ang="0">
                <a:pos x="T4" y="T5"/>
              </a:cxn>
              <a:cxn ang="0">
                <a:pos x="T6" y="T7"/>
              </a:cxn>
              <a:cxn ang="0">
                <a:pos x="T8" y="T9"/>
              </a:cxn>
            </a:cxnLst>
            <a:rect l="0" t="0" r="r" b="b"/>
            <a:pathLst>
              <a:path w="962" h="960">
                <a:moveTo>
                  <a:pt x="962" y="283"/>
                </a:moveTo>
                <a:lnTo>
                  <a:pt x="287" y="960"/>
                </a:lnTo>
                <a:lnTo>
                  <a:pt x="0" y="673"/>
                </a:lnTo>
                <a:lnTo>
                  <a:pt x="675" y="0"/>
                </a:lnTo>
                <a:lnTo>
                  <a:pt x="962" y="283"/>
                </a:lnTo>
                <a:close/>
              </a:path>
            </a:pathLst>
          </a:custGeom>
          <a:solidFill>
            <a:schemeClr val="bg1">
              <a:lumMod val="75000"/>
              <a:alpha val="15000"/>
            </a:schemeClr>
          </a:solidFill>
          <a:ln>
            <a:noFill/>
          </a:ln>
        </p:spPr>
        <p:txBody>
          <a:bodyPr vert="horz" wrap="square" lIns="91440" tIns="45720" rIns="91440" bIns="45720" numCol="1" anchor="ctr" anchorCtr="0" compatLnSpc="1"/>
          <a:lstStyle/>
          <a:p>
            <a:pPr algn="ctr"/>
            <a:endParaRPr lang="en-US" sz="1405">
              <a:latin typeface="+mn-ea"/>
              <a:cs typeface="+mn-ea"/>
            </a:endParaRPr>
          </a:p>
        </p:txBody>
      </p:sp>
      <p:sp>
        <p:nvSpPr>
          <p:cNvPr id="26" name="Freeform 28"/>
          <p:cNvSpPr/>
          <p:nvPr/>
        </p:nvSpPr>
        <p:spPr bwMode="auto">
          <a:xfrm>
            <a:off x="6898884" y="2776253"/>
            <a:ext cx="1522215" cy="1524000"/>
          </a:xfrm>
          <a:custGeom>
            <a:avLst/>
            <a:gdLst>
              <a:gd name="T0" fmla="*/ 284 w 959"/>
              <a:gd name="T1" fmla="*/ 0 h 960"/>
              <a:gd name="T2" fmla="*/ 959 w 959"/>
              <a:gd name="T3" fmla="*/ 673 h 960"/>
              <a:gd name="T4" fmla="*/ 672 w 959"/>
              <a:gd name="T5" fmla="*/ 960 h 960"/>
              <a:gd name="T6" fmla="*/ 0 w 959"/>
              <a:gd name="T7" fmla="*/ 283 h 960"/>
              <a:gd name="T8" fmla="*/ 284 w 959"/>
              <a:gd name="T9" fmla="*/ 0 h 960"/>
            </a:gdLst>
            <a:ahLst/>
            <a:cxnLst>
              <a:cxn ang="0">
                <a:pos x="T0" y="T1"/>
              </a:cxn>
              <a:cxn ang="0">
                <a:pos x="T2" y="T3"/>
              </a:cxn>
              <a:cxn ang="0">
                <a:pos x="T4" y="T5"/>
              </a:cxn>
              <a:cxn ang="0">
                <a:pos x="T6" y="T7"/>
              </a:cxn>
              <a:cxn ang="0">
                <a:pos x="T8" y="T9"/>
              </a:cxn>
            </a:cxnLst>
            <a:rect l="0" t="0" r="r" b="b"/>
            <a:pathLst>
              <a:path w="959" h="960">
                <a:moveTo>
                  <a:pt x="284" y="0"/>
                </a:moveTo>
                <a:lnTo>
                  <a:pt x="959" y="673"/>
                </a:lnTo>
                <a:lnTo>
                  <a:pt x="672" y="960"/>
                </a:lnTo>
                <a:lnTo>
                  <a:pt x="0" y="283"/>
                </a:lnTo>
                <a:lnTo>
                  <a:pt x="284" y="0"/>
                </a:lnTo>
                <a:close/>
              </a:path>
            </a:pathLst>
          </a:custGeom>
          <a:solidFill>
            <a:schemeClr val="bg1">
              <a:lumMod val="50000"/>
              <a:alpha val="15000"/>
            </a:schemeClr>
          </a:solidFill>
          <a:ln>
            <a:noFill/>
          </a:ln>
        </p:spPr>
        <p:txBody>
          <a:bodyPr vert="horz" wrap="square" lIns="91440" tIns="45720" rIns="91440" bIns="45720" numCol="1" anchor="ctr" anchorCtr="0" compatLnSpc="1"/>
          <a:lstStyle/>
          <a:p>
            <a:pPr algn="ctr"/>
            <a:endParaRPr lang="en-US" sz="1405">
              <a:latin typeface="+mn-ea"/>
              <a:cs typeface="+mn-ea"/>
            </a:endParaRPr>
          </a:p>
        </p:txBody>
      </p:sp>
      <p:sp>
        <p:nvSpPr>
          <p:cNvPr id="27" name="Freeform 29"/>
          <p:cNvSpPr/>
          <p:nvPr/>
        </p:nvSpPr>
        <p:spPr bwMode="auto">
          <a:xfrm>
            <a:off x="3684615" y="2776253"/>
            <a:ext cx="1525389" cy="1524000"/>
          </a:xfrm>
          <a:custGeom>
            <a:avLst/>
            <a:gdLst>
              <a:gd name="T0" fmla="*/ 961 w 961"/>
              <a:gd name="T1" fmla="*/ 283 h 960"/>
              <a:gd name="T2" fmla="*/ 286 w 961"/>
              <a:gd name="T3" fmla="*/ 960 h 960"/>
              <a:gd name="T4" fmla="*/ 0 w 961"/>
              <a:gd name="T5" fmla="*/ 673 h 960"/>
              <a:gd name="T6" fmla="*/ 675 w 961"/>
              <a:gd name="T7" fmla="*/ 0 h 960"/>
              <a:gd name="T8" fmla="*/ 961 w 961"/>
              <a:gd name="T9" fmla="*/ 283 h 960"/>
            </a:gdLst>
            <a:ahLst/>
            <a:cxnLst>
              <a:cxn ang="0">
                <a:pos x="T0" y="T1"/>
              </a:cxn>
              <a:cxn ang="0">
                <a:pos x="T2" y="T3"/>
              </a:cxn>
              <a:cxn ang="0">
                <a:pos x="T4" y="T5"/>
              </a:cxn>
              <a:cxn ang="0">
                <a:pos x="T6" y="T7"/>
              </a:cxn>
              <a:cxn ang="0">
                <a:pos x="T8" y="T9"/>
              </a:cxn>
            </a:cxnLst>
            <a:rect l="0" t="0" r="r" b="b"/>
            <a:pathLst>
              <a:path w="961" h="960">
                <a:moveTo>
                  <a:pt x="961" y="283"/>
                </a:moveTo>
                <a:lnTo>
                  <a:pt x="286" y="960"/>
                </a:lnTo>
                <a:lnTo>
                  <a:pt x="0" y="673"/>
                </a:lnTo>
                <a:lnTo>
                  <a:pt x="675" y="0"/>
                </a:lnTo>
                <a:lnTo>
                  <a:pt x="961" y="283"/>
                </a:lnTo>
                <a:close/>
              </a:path>
            </a:pathLst>
          </a:custGeom>
          <a:solidFill>
            <a:schemeClr val="bg1">
              <a:lumMod val="75000"/>
              <a:alpha val="15000"/>
            </a:schemeClr>
          </a:solidFill>
          <a:ln>
            <a:noFill/>
          </a:ln>
        </p:spPr>
        <p:txBody>
          <a:bodyPr vert="horz" wrap="square" lIns="91440" tIns="45720" rIns="91440" bIns="45720" numCol="1" anchor="ctr" anchorCtr="0" compatLnSpc="1"/>
          <a:lstStyle/>
          <a:p>
            <a:pPr algn="ctr"/>
            <a:endParaRPr lang="en-US" sz="1405">
              <a:latin typeface="+mn-ea"/>
              <a:cs typeface="+mn-ea"/>
            </a:endParaRPr>
          </a:p>
        </p:txBody>
      </p:sp>
      <p:sp>
        <p:nvSpPr>
          <p:cNvPr id="28" name="Freeform 30"/>
          <p:cNvSpPr/>
          <p:nvPr/>
        </p:nvSpPr>
        <p:spPr bwMode="auto">
          <a:xfrm>
            <a:off x="1544942" y="3844643"/>
            <a:ext cx="1522215" cy="1528763"/>
          </a:xfrm>
          <a:custGeom>
            <a:avLst/>
            <a:gdLst>
              <a:gd name="T0" fmla="*/ 287 w 959"/>
              <a:gd name="T1" fmla="*/ 0 h 963"/>
              <a:gd name="T2" fmla="*/ 959 w 959"/>
              <a:gd name="T3" fmla="*/ 676 h 963"/>
              <a:gd name="T4" fmla="*/ 676 w 959"/>
              <a:gd name="T5" fmla="*/ 963 h 963"/>
              <a:gd name="T6" fmla="*/ 0 w 959"/>
              <a:gd name="T7" fmla="*/ 287 h 963"/>
              <a:gd name="T8" fmla="*/ 287 w 959"/>
              <a:gd name="T9" fmla="*/ 0 h 963"/>
            </a:gdLst>
            <a:ahLst/>
            <a:cxnLst>
              <a:cxn ang="0">
                <a:pos x="T0" y="T1"/>
              </a:cxn>
              <a:cxn ang="0">
                <a:pos x="T2" y="T3"/>
              </a:cxn>
              <a:cxn ang="0">
                <a:pos x="T4" y="T5"/>
              </a:cxn>
              <a:cxn ang="0">
                <a:pos x="T6" y="T7"/>
              </a:cxn>
              <a:cxn ang="0">
                <a:pos x="T8" y="T9"/>
              </a:cxn>
            </a:cxnLst>
            <a:rect l="0" t="0" r="r" b="b"/>
            <a:pathLst>
              <a:path w="959" h="963">
                <a:moveTo>
                  <a:pt x="287" y="0"/>
                </a:moveTo>
                <a:lnTo>
                  <a:pt x="959" y="676"/>
                </a:lnTo>
                <a:lnTo>
                  <a:pt x="676" y="963"/>
                </a:lnTo>
                <a:lnTo>
                  <a:pt x="0" y="287"/>
                </a:lnTo>
                <a:lnTo>
                  <a:pt x="287" y="0"/>
                </a:lnTo>
                <a:close/>
              </a:path>
            </a:pathLst>
          </a:custGeom>
          <a:solidFill>
            <a:schemeClr val="bg1">
              <a:lumMod val="75000"/>
              <a:alpha val="15000"/>
            </a:schemeClr>
          </a:solidFill>
          <a:ln>
            <a:noFill/>
          </a:ln>
        </p:spPr>
        <p:txBody>
          <a:bodyPr vert="horz" wrap="square" lIns="91440" tIns="45720" rIns="91440" bIns="45720" numCol="1" anchor="ctr" anchorCtr="0" compatLnSpc="1"/>
          <a:lstStyle/>
          <a:p>
            <a:pPr algn="ctr"/>
            <a:endParaRPr lang="en-US" sz="1405">
              <a:latin typeface="+mn-ea"/>
              <a:cs typeface="+mn-ea"/>
            </a:endParaRPr>
          </a:p>
        </p:txBody>
      </p:sp>
      <p:sp>
        <p:nvSpPr>
          <p:cNvPr id="29" name="Freeform 31"/>
          <p:cNvSpPr/>
          <p:nvPr/>
        </p:nvSpPr>
        <p:spPr bwMode="auto">
          <a:xfrm>
            <a:off x="1421136" y="3720819"/>
            <a:ext cx="703171" cy="703263"/>
          </a:xfrm>
          <a:custGeom>
            <a:avLst/>
            <a:gdLst>
              <a:gd name="T0" fmla="*/ 135 w 164"/>
              <a:gd name="T1" fmla="*/ 29 h 164"/>
              <a:gd name="T2" fmla="*/ 135 w 164"/>
              <a:gd name="T3" fmla="*/ 135 h 164"/>
              <a:gd name="T4" fmla="*/ 29 w 164"/>
              <a:gd name="T5" fmla="*/ 135 h 164"/>
              <a:gd name="T6" fmla="*/ 29 w 164"/>
              <a:gd name="T7" fmla="*/ 29 h 164"/>
              <a:gd name="T8" fmla="*/ 135 w 164"/>
              <a:gd name="T9" fmla="*/ 29 h 164"/>
            </a:gdLst>
            <a:ahLst/>
            <a:cxnLst>
              <a:cxn ang="0">
                <a:pos x="T0" y="T1"/>
              </a:cxn>
              <a:cxn ang="0">
                <a:pos x="T2" y="T3"/>
              </a:cxn>
              <a:cxn ang="0">
                <a:pos x="T4" y="T5"/>
              </a:cxn>
              <a:cxn ang="0">
                <a:pos x="T6" y="T7"/>
              </a:cxn>
              <a:cxn ang="0">
                <a:pos x="T8" y="T9"/>
              </a:cxn>
            </a:cxnLst>
            <a:rect l="0" t="0" r="r" b="b"/>
            <a:pathLst>
              <a:path w="164" h="164">
                <a:moveTo>
                  <a:pt x="135" y="29"/>
                </a:moveTo>
                <a:cubicBezTo>
                  <a:pt x="164" y="58"/>
                  <a:pt x="164" y="106"/>
                  <a:pt x="135" y="135"/>
                </a:cubicBezTo>
                <a:cubicBezTo>
                  <a:pt x="105" y="164"/>
                  <a:pt x="58" y="164"/>
                  <a:pt x="29" y="135"/>
                </a:cubicBezTo>
                <a:cubicBezTo>
                  <a:pt x="0" y="106"/>
                  <a:pt x="0" y="58"/>
                  <a:pt x="29" y="29"/>
                </a:cubicBezTo>
                <a:cubicBezTo>
                  <a:pt x="58" y="0"/>
                  <a:pt x="105" y="0"/>
                  <a:pt x="135" y="29"/>
                </a:cubicBezTo>
                <a:close/>
              </a:path>
            </a:pathLst>
          </a:custGeom>
          <a:solidFill>
            <a:schemeClr val="accent1"/>
          </a:solidFill>
          <a:ln>
            <a:noFill/>
          </a:ln>
        </p:spPr>
        <p:txBody>
          <a:bodyPr vert="horz" wrap="square" lIns="91440" tIns="45720" rIns="91440" bIns="45720" numCol="1" anchor="ctr" anchorCtr="0" compatLnSpc="1"/>
          <a:lstStyle/>
          <a:p>
            <a:pPr algn="ctr"/>
            <a:endParaRPr lang="en-US" sz="1600" dirty="0">
              <a:solidFill>
                <a:srgbClr val="FFFFFF"/>
              </a:solidFill>
              <a:latin typeface="+mn-ea"/>
              <a:cs typeface="+mn-ea"/>
            </a:endParaRPr>
          </a:p>
        </p:txBody>
      </p:sp>
      <p:sp>
        <p:nvSpPr>
          <p:cNvPr id="30" name="Freeform 32"/>
          <p:cNvSpPr/>
          <p:nvPr/>
        </p:nvSpPr>
        <p:spPr bwMode="auto">
          <a:xfrm>
            <a:off x="2492558" y="4793968"/>
            <a:ext cx="698409" cy="703263"/>
          </a:xfrm>
          <a:custGeom>
            <a:avLst/>
            <a:gdLst>
              <a:gd name="T0" fmla="*/ 134 w 163"/>
              <a:gd name="T1" fmla="*/ 29 h 164"/>
              <a:gd name="T2" fmla="*/ 134 w 163"/>
              <a:gd name="T3" fmla="*/ 135 h 164"/>
              <a:gd name="T4" fmla="*/ 29 w 163"/>
              <a:gd name="T5" fmla="*/ 135 h 164"/>
              <a:gd name="T6" fmla="*/ 29 w 163"/>
              <a:gd name="T7" fmla="*/ 29 h 164"/>
              <a:gd name="T8" fmla="*/ 134 w 163"/>
              <a:gd name="T9" fmla="*/ 29 h 164"/>
            </a:gdLst>
            <a:ahLst/>
            <a:cxnLst>
              <a:cxn ang="0">
                <a:pos x="T0" y="T1"/>
              </a:cxn>
              <a:cxn ang="0">
                <a:pos x="T2" y="T3"/>
              </a:cxn>
              <a:cxn ang="0">
                <a:pos x="T4" y="T5"/>
              </a:cxn>
              <a:cxn ang="0">
                <a:pos x="T6" y="T7"/>
              </a:cxn>
              <a:cxn ang="0">
                <a:pos x="T8" y="T9"/>
              </a:cxn>
            </a:cxnLst>
            <a:rect l="0" t="0" r="r" b="b"/>
            <a:pathLst>
              <a:path w="163" h="164">
                <a:moveTo>
                  <a:pt x="134" y="29"/>
                </a:moveTo>
                <a:cubicBezTo>
                  <a:pt x="163" y="58"/>
                  <a:pt x="163" y="105"/>
                  <a:pt x="134" y="135"/>
                </a:cubicBezTo>
                <a:cubicBezTo>
                  <a:pt x="105" y="164"/>
                  <a:pt x="58" y="164"/>
                  <a:pt x="29" y="135"/>
                </a:cubicBezTo>
                <a:cubicBezTo>
                  <a:pt x="0" y="105"/>
                  <a:pt x="0" y="58"/>
                  <a:pt x="29" y="29"/>
                </a:cubicBezTo>
                <a:cubicBezTo>
                  <a:pt x="58" y="0"/>
                  <a:pt x="105" y="0"/>
                  <a:pt x="134" y="29"/>
                </a:cubicBezTo>
                <a:close/>
              </a:path>
            </a:pathLst>
          </a:custGeom>
          <a:solidFill>
            <a:schemeClr val="accent3"/>
          </a:solidFill>
          <a:ln>
            <a:noFill/>
          </a:ln>
        </p:spPr>
        <p:txBody>
          <a:bodyPr vert="horz" wrap="square" lIns="91440" tIns="45720" rIns="91440" bIns="45720" numCol="1" anchor="ctr" anchorCtr="0" compatLnSpc="1"/>
          <a:lstStyle/>
          <a:p>
            <a:pPr lvl="0" algn="ctr"/>
            <a:endParaRPr lang="en-US" sz="1600" dirty="0">
              <a:solidFill>
                <a:srgbClr val="FFFFFF"/>
              </a:solidFill>
              <a:latin typeface="+mn-ea"/>
              <a:cs typeface="+mn-ea"/>
            </a:endParaRPr>
          </a:p>
        </p:txBody>
      </p:sp>
      <p:sp>
        <p:nvSpPr>
          <p:cNvPr id="31" name="Freeform 33"/>
          <p:cNvSpPr/>
          <p:nvPr/>
        </p:nvSpPr>
        <p:spPr bwMode="auto">
          <a:xfrm>
            <a:off x="3560804" y="3720819"/>
            <a:ext cx="701584" cy="703263"/>
          </a:xfrm>
          <a:custGeom>
            <a:avLst/>
            <a:gdLst>
              <a:gd name="T0" fmla="*/ 135 w 164"/>
              <a:gd name="T1" fmla="*/ 135 h 164"/>
              <a:gd name="T2" fmla="*/ 29 w 164"/>
              <a:gd name="T3" fmla="*/ 135 h 164"/>
              <a:gd name="T4" fmla="*/ 29 w 164"/>
              <a:gd name="T5" fmla="*/ 29 h 164"/>
              <a:gd name="T6" fmla="*/ 135 w 164"/>
              <a:gd name="T7" fmla="*/ 29 h 164"/>
              <a:gd name="T8" fmla="*/ 135 w 164"/>
              <a:gd name="T9" fmla="*/ 135 h 164"/>
            </a:gdLst>
            <a:ahLst/>
            <a:cxnLst>
              <a:cxn ang="0">
                <a:pos x="T0" y="T1"/>
              </a:cxn>
              <a:cxn ang="0">
                <a:pos x="T2" y="T3"/>
              </a:cxn>
              <a:cxn ang="0">
                <a:pos x="T4" y="T5"/>
              </a:cxn>
              <a:cxn ang="0">
                <a:pos x="T6" y="T7"/>
              </a:cxn>
              <a:cxn ang="0">
                <a:pos x="T8" y="T9"/>
              </a:cxn>
            </a:cxnLst>
            <a:rect l="0" t="0" r="r" b="b"/>
            <a:pathLst>
              <a:path w="164" h="164">
                <a:moveTo>
                  <a:pt x="135" y="135"/>
                </a:moveTo>
                <a:cubicBezTo>
                  <a:pt x="106" y="164"/>
                  <a:pt x="59" y="164"/>
                  <a:pt x="29" y="135"/>
                </a:cubicBezTo>
                <a:cubicBezTo>
                  <a:pt x="0" y="106"/>
                  <a:pt x="0" y="58"/>
                  <a:pt x="29" y="29"/>
                </a:cubicBezTo>
                <a:cubicBezTo>
                  <a:pt x="59" y="0"/>
                  <a:pt x="106" y="0"/>
                  <a:pt x="135" y="29"/>
                </a:cubicBezTo>
                <a:cubicBezTo>
                  <a:pt x="164" y="58"/>
                  <a:pt x="164" y="106"/>
                  <a:pt x="135" y="135"/>
                </a:cubicBezTo>
                <a:close/>
              </a:path>
            </a:pathLst>
          </a:custGeom>
          <a:solidFill>
            <a:schemeClr val="accent5"/>
          </a:solidFill>
          <a:ln>
            <a:noFill/>
          </a:ln>
        </p:spPr>
        <p:txBody>
          <a:bodyPr vert="horz" wrap="square" lIns="91440" tIns="45720" rIns="91440" bIns="45720" numCol="1" anchor="ctr" anchorCtr="0" compatLnSpc="1"/>
          <a:lstStyle/>
          <a:p>
            <a:pPr algn="ctr"/>
            <a:endParaRPr lang="en-US" sz="1600" dirty="0">
              <a:solidFill>
                <a:srgbClr val="FFFFFF"/>
              </a:solidFill>
              <a:latin typeface="+mn-ea"/>
              <a:cs typeface="+mn-ea"/>
            </a:endParaRPr>
          </a:p>
        </p:txBody>
      </p:sp>
      <p:sp>
        <p:nvSpPr>
          <p:cNvPr id="32" name="Freeform 34"/>
          <p:cNvSpPr/>
          <p:nvPr/>
        </p:nvSpPr>
        <p:spPr bwMode="auto">
          <a:xfrm>
            <a:off x="8913160" y="2646079"/>
            <a:ext cx="703171" cy="704851"/>
          </a:xfrm>
          <a:custGeom>
            <a:avLst/>
            <a:gdLst>
              <a:gd name="T0" fmla="*/ 135 w 164"/>
              <a:gd name="T1" fmla="*/ 30 h 164"/>
              <a:gd name="T2" fmla="*/ 135 w 164"/>
              <a:gd name="T3" fmla="*/ 135 h 164"/>
              <a:gd name="T4" fmla="*/ 29 w 164"/>
              <a:gd name="T5" fmla="*/ 135 h 164"/>
              <a:gd name="T6" fmla="*/ 29 w 164"/>
              <a:gd name="T7" fmla="*/ 30 h 164"/>
              <a:gd name="T8" fmla="*/ 135 w 164"/>
              <a:gd name="T9" fmla="*/ 30 h 164"/>
            </a:gdLst>
            <a:ahLst/>
            <a:cxnLst>
              <a:cxn ang="0">
                <a:pos x="T0" y="T1"/>
              </a:cxn>
              <a:cxn ang="0">
                <a:pos x="T2" y="T3"/>
              </a:cxn>
              <a:cxn ang="0">
                <a:pos x="T4" y="T5"/>
              </a:cxn>
              <a:cxn ang="0">
                <a:pos x="T6" y="T7"/>
              </a:cxn>
              <a:cxn ang="0">
                <a:pos x="T8" y="T9"/>
              </a:cxn>
            </a:cxnLst>
            <a:rect l="0" t="0" r="r" b="b"/>
            <a:pathLst>
              <a:path w="164" h="164">
                <a:moveTo>
                  <a:pt x="135" y="30"/>
                </a:moveTo>
                <a:cubicBezTo>
                  <a:pt x="164" y="59"/>
                  <a:pt x="164" y="106"/>
                  <a:pt x="135" y="135"/>
                </a:cubicBezTo>
                <a:cubicBezTo>
                  <a:pt x="106" y="164"/>
                  <a:pt x="58" y="164"/>
                  <a:pt x="29" y="135"/>
                </a:cubicBezTo>
                <a:cubicBezTo>
                  <a:pt x="0" y="106"/>
                  <a:pt x="0" y="59"/>
                  <a:pt x="29" y="30"/>
                </a:cubicBezTo>
                <a:cubicBezTo>
                  <a:pt x="58" y="0"/>
                  <a:pt x="106" y="0"/>
                  <a:pt x="135" y="30"/>
                </a:cubicBezTo>
                <a:close/>
              </a:path>
            </a:pathLst>
          </a:custGeom>
          <a:solidFill>
            <a:schemeClr val="accent6"/>
          </a:solidFill>
          <a:ln>
            <a:noFill/>
          </a:ln>
        </p:spPr>
        <p:txBody>
          <a:bodyPr vert="horz" wrap="square" lIns="91440" tIns="45720" rIns="91440" bIns="45720" numCol="1" anchor="ctr" anchorCtr="0" compatLnSpc="1"/>
          <a:lstStyle/>
          <a:p>
            <a:pPr algn="ctr"/>
            <a:endParaRPr lang="en-US" sz="1600" dirty="0">
              <a:solidFill>
                <a:srgbClr val="FFFFFF"/>
              </a:solidFill>
              <a:latin typeface="+mn-ea"/>
              <a:cs typeface="+mn-ea"/>
            </a:endParaRPr>
          </a:p>
        </p:txBody>
      </p:sp>
      <p:sp>
        <p:nvSpPr>
          <p:cNvPr id="33" name="Freeform 35"/>
          <p:cNvSpPr/>
          <p:nvPr/>
        </p:nvSpPr>
        <p:spPr bwMode="auto">
          <a:xfrm>
            <a:off x="9984583" y="1577691"/>
            <a:ext cx="703171" cy="704851"/>
          </a:xfrm>
          <a:custGeom>
            <a:avLst/>
            <a:gdLst>
              <a:gd name="T0" fmla="*/ 135 w 164"/>
              <a:gd name="T1" fmla="*/ 29 h 164"/>
              <a:gd name="T2" fmla="*/ 135 w 164"/>
              <a:gd name="T3" fmla="*/ 134 h 164"/>
              <a:gd name="T4" fmla="*/ 29 w 164"/>
              <a:gd name="T5" fmla="*/ 134 h 164"/>
              <a:gd name="T6" fmla="*/ 29 w 164"/>
              <a:gd name="T7" fmla="*/ 29 h 164"/>
              <a:gd name="T8" fmla="*/ 135 w 164"/>
              <a:gd name="T9" fmla="*/ 29 h 164"/>
            </a:gdLst>
            <a:ahLst/>
            <a:cxnLst>
              <a:cxn ang="0">
                <a:pos x="T0" y="T1"/>
              </a:cxn>
              <a:cxn ang="0">
                <a:pos x="T2" y="T3"/>
              </a:cxn>
              <a:cxn ang="0">
                <a:pos x="T4" y="T5"/>
              </a:cxn>
              <a:cxn ang="0">
                <a:pos x="T6" y="T7"/>
              </a:cxn>
              <a:cxn ang="0">
                <a:pos x="T8" y="T9"/>
              </a:cxn>
            </a:cxnLst>
            <a:rect l="0" t="0" r="r" b="b"/>
            <a:pathLst>
              <a:path w="164" h="164">
                <a:moveTo>
                  <a:pt x="135" y="29"/>
                </a:moveTo>
                <a:cubicBezTo>
                  <a:pt x="164" y="58"/>
                  <a:pt x="164" y="105"/>
                  <a:pt x="135" y="134"/>
                </a:cubicBezTo>
                <a:cubicBezTo>
                  <a:pt x="105" y="164"/>
                  <a:pt x="58" y="164"/>
                  <a:pt x="29" y="134"/>
                </a:cubicBezTo>
                <a:cubicBezTo>
                  <a:pt x="0" y="105"/>
                  <a:pt x="0" y="58"/>
                  <a:pt x="29" y="29"/>
                </a:cubicBezTo>
                <a:cubicBezTo>
                  <a:pt x="58" y="0"/>
                  <a:pt x="105" y="0"/>
                  <a:pt x="135" y="29"/>
                </a:cubicBezTo>
                <a:close/>
              </a:path>
            </a:pathLst>
          </a:custGeom>
          <a:solidFill>
            <a:schemeClr val="accent1"/>
          </a:solidFill>
          <a:ln>
            <a:noFill/>
          </a:ln>
        </p:spPr>
        <p:txBody>
          <a:bodyPr vert="horz" wrap="square" lIns="91440" tIns="45720" rIns="91440" bIns="45720" numCol="1" anchor="ctr" anchorCtr="0" compatLnSpc="1"/>
          <a:lstStyle/>
          <a:p>
            <a:pPr algn="ctr"/>
            <a:endParaRPr lang="en-US" sz="1600" dirty="0">
              <a:solidFill>
                <a:srgbClr val="FFFFFF"/>
              </a:solidFill>
              <a:latin typeface="+mn-ea"/>
              <a:cs typeface="+mn-ea"/>
            </a:endParaRPr>
          </a:p>
        </p:txBody>
      </p:sp>
      <p:sp>
        <p:nvSpPr>
          <p:cNvPr id="38" name="Freeform 36"/>
          <p:cNvSpPr/>
          <p:nvPr/>
        </p:nvSpPr>
        <p:spPr bwMode="auto">
          <a:xfrm>
            <a:off x="4632228" y="2646079"/>
            <a:ext cx="701584" cy="704851"/>
          </a:xfrm>
          <a:custGeom>
            <a:avLst/>
            <a:gdLst>
              <a:gd name="T0" fmla="*/ 135 w 164"/>
              <a:gd name="T1" fmla="*/ 135 h 164"/>
              <a:gd name="T2" fmla="*/ 29 w 164"/>
              <a:gd name="T3" fmla="*/ 135 h 164"/>
              <a:gd name="T4" fmla="*/ 29 w 164"/>
              <a:gd name="T5" fmla="*/ 30 h 164"/>
              <a:gd name="T6" fmla="*/ 135 w 164"/>
              <a:gd name="T7" fmla="*/ 30 h 164"/>
              <a:gd name="T8" fmla="*/ 135 w 164"/>
              <a:gd name="T9" fmla="*/ 135 h 164"/>
            </a:gdLst>
            <a:ahLst/>
            <a:cxnLst>
              <a:cxn ang="0">
                <a:pos x="T0" y="T1"/>
              </a:cxn>
              <a:cxn ang="0">
                <a:pos x="T2" y="T3"/>
              </a:cxn>
              <a:cxn ang="0">
                <a:pos x="T4" y="T5"/>
              </a:cxn>
              <a:cxn ang="0">
                <a:pos x="T6" y="T7"/>
              </a:cxn>
              <a:cxn ang="0">
                <a:pos x="T8" y="T9"/>
              </a:cxn>
            </a:cxnLst>
            <a:rect l="0" t="0" r="r" b="b"/>
            <a:pathLst>
              <a:path w="164" h="164">
                <a:moveTo>
                  <a:pt x="135" y="135"/>
                </a:moveTo>
                <a:cubicBezTo>
                  <a:pt x="106" y="164"/>
                  <a:pt x="58" y="164"/>
                  <a:pt x="29" y="135"/>
                </a:cubicBezTo>
                <a:cubicBezTo>
                  <a:pt x="0" y="106"/>
                  <a:pt x="0" y="59"/>
                  <a:pt x="29" y="30"/>
                </a:cubicBezTo>
                <a:cubicBezTo>
                  <a:pt x="58" y="0"/>
                  <a:pt x="106" y="0"/>
                  <a:pt x="135" y="30"/>
                </a:cubicBezTo>
                <a:cubicBezTo>
                  <a:pt x="164" y="59"/>
                  <a:pt x="164" y="106"/>
                  <a:pt x="135" y="135"/>
                </a:cubicBezTo>
                <a:close/>
              </a:path>
            </a:pathLst>
          </a:custGeom>
          <a:solidFill>
            <a:schemeClr val="accent6"/>
          </a:solidFill>
          <a:ln>
            <a:noFill/>
          </a:ln>
        </p:spPr>
        <p:txBody>
          <a:bodyPr vert="horz" wrap="square" lIns="91440" tIns="45720" rIns="91440" bIns="45720" numCol="1" anchor="ctr" anchorCtr="0" compatLnSpc="1"/>
          <a:lstStyle/>
          <a:p>
            <a:pPr algn="ctr"/>
            <a:endParaRPr lang="en-US" sz="1405" dirty="0">
              <a:solidFill>
                <a:schemeClr val="bg1"/>
              </a:solidFill>
              <a:latin typeface="+mn-ea"/>
              <a:cs typeface="+mn-ea"/>
            </a:endParaRPr>
          </a:p>
        </p:txBody>
      </p:sp>
      <p:sp>
        <p:nvSpPr>
          <p:cNvPr id="41" name="Freeform 37"/>
          <p:cNvSpPr/>
          <p:nvPr/>
        </p:nvSpPr>
        <p:spPr bwMode="auto">
          <a:xfrm>
            <a:off x="5703652" y="3720819"/>
            <a:ext cx="703171" cy="703263"/>
          </a:xfrm>
          <a:custGeom>
            <a:avLst/>
            <a:gdLst>
              <a:gd name="T0" fmla="*/ 135 w 164"/>
              <a:gd name="T1" fmla="*/ 135 h 164"/>
              <a:gd name="T2" fmla="*/ 29 w 164"/>
              <a:gd name="T3" fmla="*/ 135 h 164"/>
              <a:gd name="T4" fmla="*/ 29 w 164"/>
              <a:gd name="T5" fmla="*/ 29 h 164"/>
              <a:gd name="T6" fmla="*/ 135 w 164"/>
              <a:gd name="T7" fmla="*/ 29 h 164"/>
              <a:gd name="T8" fmla="*/ 135 w 164"/>
              <a:gd name="T9" fmla="*/ 135 h 164"/>
            </a:gdLst>
            <a:ahLst/>
            <a:cxnLst>
              <a:cxn ang="0">
                <a:pos x="T0" y="T1"/>
              </a:cxn>
              <a:cxn ang="0">
                <a:pos x="T2" y="T3"/>
              </a:cxn>
              <a:cxn ang="0">
                <a:pos x="T4" y="T5"/>
              </a:cxn>
              <a:cxn ang="0">
                <a:pos x="T6" y="T7"/>
              </a:cxn>
              <a:cxn ang="0">
                <a:pos x="T8" y="T9"/>
              </a:cxn>
            </a:cxnLst>
            <a:rect l="0" t="0" r="r" b="b"/>
            <a:pathLst>
              <a:path w="164" h="164">
                <a:moveTo>
                  <a:pt x="135" y="135"/>
                </a:moveTo>
                <a:cubicBezTo>
                  <a:pt x="105" y="164"/>
                  <a:pt x="58" y="164"/>
                  <a:pt x="29" y="135"/>
                </a:cubicBezTo>
                <a:cubicBezTo>
                  <a:pt x="0" y="106"/>
                  <a:pt x="0" y="58"/>
                  <a:pt x="29" y="29"/>
                </a:cubicBezTo>
                <a:cubicBezTo>
                  <a:pt x="58" y="0"/>
                  <a:pt x="105" y="0"/>
                  <a:pt x="135" y="29"/>
                </a:cubicBezTo>
                <a:cubicBezTo>
                  <a:pt x="164" y="58"/>
                  <a:pt x="164" y="106"/>
                  <a:pt x="135" y="135"/>
                </a:cubicBezTo>
                <a:close/>
              </a:path>
            </a:pathLst>
          </a:custGeom>
          <a:solidFill>
            <a:schemeClr val="accent1"/>
          </a:solidFill>
          <a:ln>
            <a:noFill/>
          </a:ln>
        </p:spPr>
        <p:txBody>
          <a:bodyPr vert="horz" wrap="square" lIns="91440" tIns="45720" rIns="91440" bIns="45720" numCol="1" anchor="ctr" anchorCtr="0" compatLnSpc="1"/>
          <a:lstStyle/>
          <a:p>
            <a:pPr algn="ctr"/>
            <a:endParaRPr lang="en-US" sz="1600" dirty="0">
              <a:solidFill>
                <a:srgbClr val="FFFFFF"/>
              </a:solidFill>
              <a:latin typeface="+mn-ea"/>
              <a:cs typeface="+mn-ea"/>
            </a:endParaRPr>
          </a:p>
        </p:txBody>
      </p:sp>
      <p:sp>
        <p:nvSpPr>
          <p:cNvPr id="43" name="Freeform 38"/>
          <p:cNvSpPr/>
          <p:nvPr/>
        </p:nvSpPr>
        <p:spPr bwMode="auto">
          <a:xfrm>
            <a:off x="6775075" y="2646079"/>
            <a:ext cx="698409" cy="704851"/>
          </a:xfrm>
          <a:custGeom>
            <a:avLst/>
            <a:gdLst>
              <a:gd name="T0" fmla="*/ 134 w 163"/>
              <a:gd name="T1" fmla="*/ 135 h 164"/>
              <a:gd name="T2" fmla="*/ 29 w 163"/>
              <a:gd name="T3" fmla="*/ 135 h 164"/>
              <a:gd name="T4" fmla="*/ 29 w 163"/>
              <a:gd name="T5" fmla="*/ 30 h 164"/>
              <a:gd name="T6" fmla="*/ 134 w 163"/>
              <a:gd name="T7" fmla="*/ 30 h 164"/>
              <a:gd name="T8" fmla="*/ 134 w 163"/>
              <a:gd name="T9" fmla="*/ 135 h 164"/>
            </a:gdLst>
            <a:ahLst/>
            <a:cxnLst>
              <a:cxn ang="0">
                <a:pos x="T0" y="T1"/>
              </a:cxn>
              <a:cxn ang="0">
                <a:pos x="T2" y="T3"/>
              </a:cxn>
              <a:cxn ang="0">
                <a:pos x="T4" y="T5"/>
              </a:cxn>
              <a:cxn ang="0">
                <a:pos x="T6" y="T7"/>
              </a:cxn>
              <a:cxn ang="0">
                <a:pos x="T8" y="T9"/>
              </a:cxn>
            </a:cxnLst>
            <a:rect l="0" t="0" r="r" b="b"/>
            <a:pathLst>
              <a:path w="163" h="164">
                <a:moveTo>
                  <a:pt x="134" y="135"/>
                </a:moveTo>
                <a:cubicBezTo>
                  <a:pt x="105" y="164"/>
                  <a:pt x="58" y="164"/>
                  <a:pt x="29" y="135"/>
                </a:cubicBezTo>
                <a:cubicBezTo>
                  <a:pt x="0" y="106"/>
                  <a:pt x="0" y="59"/>
                  <a:pt x="29" y="30"/>
                </a:cubicBezTo>
                <a:cubicBezTo>
                  <a:pt x="58" y="0"/>
                  <a:pt x="105" y="0"/>
                  <a:pt x="134" y="30"/>
                </a:cubicBezTo>
                <a:cubicBezTo>
                  <a:pt x="163" y="59"/>
                  <a:pt x="163" y="106"/>
                  <a:pt x="134" y="135"/>
                </a:cubicBezTo>
                <a:close/>
              </a:path>
            </a:pathLst>
          </a:custGeom>
          <a:solidFill>
            <a:schemeClr val="accent3"/>
          </a:solidFill>
          <a:ln>
            <a:noFill/>
          </a:ln>
        </p:spPr>
        <p:txBody>
          <a:bodyPr vert="horz" wrap="square" lIns="91440" tIns="45720" rIns="91440" bIns="45720" numCol="1" anchor="ctr" anchorCtr="0" compatLnSpc="1"/>
          <a:lstStyle/>
          <a:p>
            <a:pPr algn="ctr"/>
            <a:endParaRPr lang="en-AU" sz="1400" dirty="0">
              <a:solidFill>
                <a:schemeClr val="bg1"/>
              </a:solidFill>
              <a:latin typeface="+mn-ea"/>
              <a:cs typeface="+mn-ea"/>
            </a:endParaRPr>
          </a:p>
        </p:txBody>
      </p:sp>
      <p:sp>
        <p:nvSpPr>
          <p:cNvPr id="45" name="Freeform 39"/>
          <p:cNvSpPr/>
          <p:nvPr/>
        </p:nvSpPr>
        <p:spPr bwMode="auto">
          <a:xfrm>
            <a:off x="7841737" y="3720819"/>
            <a:ext cx="703171" cy="703263"/>
          </a:xfrm>
          <a:custGeom>
            <a:avLst/>
            <a:gdLst>
              <a:gd name="T0" fmla="*/ 135 w 164"/>
              <a:gd name="T1" fmla="*/ 29 h 164"/>
              <a:gd name="T2" fmla="*/ 135 w 164"/>
              <a:gd name="T3" fmla="*/ 135 h 164"/>
              <a:gd name="T4" fmla="*/ 29 w 164"/>
              <a:gd name="T5" fmla="*/ 135 h 164"/>
              <a:gd name="T6" fmla="*/ 29 w 164"/>
              <a:gd name="T7" fmla="*/ 29 h 164"/>
              <a:gd name="T8" fmla="*/ 135 w 164"/>
              <a:gd name="T9" fmla="*/ 29 h 164"/>
            </a:gdLst>
            <a:ahLst/>
            <a:cxnLst>
              <a:cxn ang="0">
                <a:pos x="T0" y="T1"/>
              </a:cxn>
              <a:cxn ang="0">
                <a:pos x="T2" y="T3"/>
              </a:cxn>
              <a:cxn ang="0">
                <a:pos x="T4" y="T5"/>
              </a:cxn>
              <a:cxn ang="0">
                <a:pos x="T6" y="T7"/>
              </a:cxn>
              <a:cxn ang="0">
                <a:pos x="T8" y="T9"/>
              </a:cxn>
            </a:cxnLst>
            <a:rect l="0" t="0" r="r" b="b"/>
            <a:pathLst>
              <a:path w="164" h="164">
                <a:moveTo>
                  <a:pt x="135" y="29"/>
                </a:moveTo>
                <a:cubicBezTo>
                  <a:pt x="164" y="58"/>
                  <a:pt x="164" y="106"/>
                  <a:pt x="135" y="135"/>
                </a:cubicBezTo>
                <a:cubicBezTo>
                  <a:pt x="106" y="164"/>
                  <a:pt x="59" y="164"/>
                  <a:pt x="29" y="135"/>
                </a:cubicBezTo>
                <a:cubicBezTo>
                  <a:pt x="0" y="106"/>
                  <a:pt x="0" y="58"/>
                  <a:pt x="29" y="29"/>
                </a:cubicBezTo>
                <a:cubicBezTo>
                  <a:pt x="59" y="0"/>
                  <a:pt x="106" y="0"/>
                  <a:pt x="135" y="29"/>
                </a:cubicBezTo>
                <a:close/>
              </a:path>
            </a:pathLst>
          </a:custGeom>
          <a:solidFill>
            <a:schemeClr val="accent5"/>
          </a:solidFill>
          <a:ln>
            <a:noFill/>
          </a:ln>
        </p:spPr>
        <p:txBody>
          <a:bodyPr vert="horz" wrap="square" lIns="91440" tIns="45720" rIns="91440" bIns="45720" numCol="1" anchor="ctr" anchorCtr="0" compatLnSpc="1"/>
          <a:lstStyle/>
          <a:p>
            <a:pPr algn="ctr"/>
            <a:endParaRPr lang="en-AU" sz="1400" dirty="0">
              <a:solidFill>
                <a:srgbClr val="FFFFFF"/>
              </a:solidFill>
              <a:latin typeface="+mn-ea"/>
              <a:cs typeface="+mn-ea"/>
            </a:endParaRPr>
          </a:p>
        </p:txBody>
      </p:sp>
      <p:sp>
        <p:nvSpPr>
          <p:cNvPr id="47" name="TextBox 46"/>
          <p:cNvSpPr txBox="1"/>
          <p:nvPr/>
        </p:nvSpPr>
        <p:spPr>
          <a:xfrm flipH="1">
            <a:off x="4492254" y="2306900"/>
            <a:ext cx="981528" cy="215265"/>
          </a:xfrm>
          <a:prstGeom prst="rect">
            <a:avLst/>
          </a:prstGeom>
          <a:noFill/>
        </p:spPr>
        <p:txBody>
          <a:bodyPr wrap="square" lIns="0" tIns="0" rIns="0" bIns="0" rtlCol="0" anchor="ctr">
            <a:spAutoFit/>
          </a:bodyPr>
          <a:lstStyle/>
          <a:p>
            <a:pPr algn="ctr"/>
            <a:r>
              <a:rPr lang="zh-CN" altLang="en-AU" sz="1400" b="1" dirty="0">
                <a:solidFill>
                  <a:schemeClr val="accent6"/>
                </a:solidFill>
                <a:latin typeface="+mn-ea"/>
                <a:cs typeface="+mn-ea"/>
              </a:rPr>
              <a:t>排名</a:t>
            </a:r>
            <a:endParaRPr lang="zh-CN" altLang="en-AU" sz="1400" b="1" dirty="0">
              <a:solidFill>
                <a:schemeClr val="accent6"/>
              </a:solidFill>
              <a:latin typeface="+mn-ea"/>
              <a:cs typeface="+mn-ea"/>
            </a:endParaRPr>
          </a:p>
        </p:txBody>
      </p:sp>
      <p:sp>
        <p:nvSpPr>
          <p:cNvPr id="49" name="TextBox 48"/>
          <p:cNvSpPr txBox="1"/>
          <p:nvPr/>
        </p:nvSpPr>
        <p:spPr>
          <a:xfrm flipH="1">
            <a:off x="5564471" y="4568921"/>
            <a:ext cx="981528" cy="215265"/>
          </a:xfrm>
          <a:prstGeom prst="rect">
            <a:avLst/>
          </a:prstGeom>
          <a:noFill/>
        </p:spPr>
        <p:txBody>
          <a:bodyPr wrap="square" lIns="0" tIns="0" rIns="0" bIns="0" rtlCol="0" anchor="ctr">
            <a:spAutoFit/>
          </a:bodyPr>
          <a:lstStyle/>
          <a:p>
            <a:pPr algn="ctr"/>
            <a:r>
              <a:rPr lang="zh-CN" altLang="en-AU" sz="1400" b="1" dirty="0">
                <a:solidFill>
                  <a:schemeClr val="accent1"/>
                </a:solidFill>
                <a:latin typeface="+mn-ea"/>
                <a:cs typeface="+mn-ea"/>
              </a:rPr>
              <a:t>增长</a:t>
            </a:r>
            <a:endParaRPr lang="zh-CN" altLang="en-AU" sz="1400" b="1" dirty="0">
              <a:solidFill>
                <a:schemeClr val="accent1"/>
              </a:solidFill>
              <a:latin typeface="+mn-ea"/>
              <a:cs typeface="+mn-ea"/>
            </a:endParaRPr>
          </a:p>
        </p:txBody>
      </p:sp>
      <p:sp>
        <p:nvSpPr>
          <p:cNvPr id="50" name="TextBox 49"/>
          <p:cNvSpPr txBox="1"/>
          <p:nvPr/>
        </p:nvSpPr>
        <p:spPr>
          <a:xfrm flipH="1">
            <a:off x="2350996" y="5635721"/>
            <a:ext cx="981528" cy="215265"/>
          </a:xfrm>
          <a:prstGeom prst="rect">
            <a:avLst/>
          </a:prstGeom>
          <a:noFill/>
        </p:spPr>
        <p:txBody>
          <a:bodyPr wrap="square" lIns="0" tIns="0" rIns="0" bIns="0" rtlCol="0" anchor="ctr">
            <a:spAutoFit/>
          </a:bodyPr>
          <a:lstStyle/>
          <a:p>
            <a:pPr algn="ctr"/>
            <a:r>
              <a:rPr lang="zh-CN" altLang="en-AU" sz="1400" b="1" dirty="0">
                <a:solidFill>
                  <a:srgbClr val="7F7F7F"/>
                </a:solidFill>
                <a:latin typeface="+mn-ea"/>
                <a:cs typeface="+mn-ea"/>
              </a:rPr>
              <a:t>评分</a:t>
            </a:r>
            <a:endParaRPr lang="zh-CN" altLang="en-AU" sz="1400" b="1" dirty="0">
              <a:solidFill>
                <a:srgbClr val="7F7F7F"/>
              </a:solidFill>
              <a:latin typeface="+mn-ea"/>
              <a:cs typeface="+mn-ea"/>
            </a:endParaRPr>
          </a:p>
        </p:txBody>
      </p:sp>
      <p:sp>
        <p:nvSpPr>
          <p:cNvPr id="51" name="TextBox 50"/>
          <p:cNvSpPr txBox="1"/>
          <p:nvPr/>
        </p:nvSpPr>
        <p:spPr>
          <a:xfrm flipH="1">
            <a:off x="1281954" y="3399644"/>
            <a:ext cx="981528" cy="215265"/>
          </a:xfrm>
          <a:prstGeom prst="rect">
            <a:avLst/>
          </a:prstGeom>
          <a:noFill/>
        </p:spPr>
        <p:txBody>
          <a:bodyPr wrap="square" lIns="0" tIns="0" rIns="0" bIns="0" rtlCol="0" anchor="ctr">
            <a:spAutoFit/>
          </a:bodyPr>
          <a:lstStyle/>
          <a:p>
            <a:pPr algn="ctr"/>
            <a:r>
              <a:rPr lang="zh-CN" altLang="en-AU" sz="1400" b="1" dirty="0">
                <a:solidFill>
                  <a:schemeClr val="accent1"/>
                </a:solidFill>
                <a:latin typeface="+mn-ea"/>
                <a:cs typeface="+mn-ea"/>
              </a:rPr>
              <a:t>评论</a:t>
            </a:r>
            <a:endParaRPr lang="zh-CN" altLang="en-AU" sz="1400" b="1" dirty="0">
              <a:solidFill>
                <a:schemeClr val="accent1"/>
              </a:solidFill>
              <a:latin typeface="+mn-ea"/>
              <a:cs typeface="+mn-ea"/>
            </a:endParaRPr>
          </a:p>
        </p:txBody>
      </p:sp>
      <p:sp>
        <p:nvSpPr>
          <p:cNvPr id="56" name="TextBox 55"/>
          <p:cNvSpPr txBox="1"/>
          <p:nvPr/>
        </p:nvSpPr>
        <p:spPr>
          <a:xfrm flipH="1">
            <a:off x="6633514" y="2292321"/>
            <a:ext cx="981528" cy="215265"/>
          </a:xfrm>
          <a:prstGeom prst="rect">
            <a:avLst/>
          </a:prstGeom>
          <a:noFill/>
        </p:spPr>
        <p:txBody>
          <a:bodyPr wrap="square" lIns="0" tIns="0" rIns="0" bIns="0" rtlCol="0" anchor="ctr">
            <a:spAutoFit/>
          </a:bodyPr>
          <a:lstStyle/>
          <a:p>
            <a:pPr algn="ctr"/>
            <a:r>
              <a:rPr lang="zh-CN" altLang="en-AU" sz="1400" b="1" dirty="0">
                <a:solidFill>
                  <a:srgbClr val="7F7F7F"/>
                </a:solidFill>
                <a:latin typeface="+mn-ea"/>
                <a:cs typeface="+mn-ea"/>
              </a:rPr>
              <a:t>调整</a:t>
            </a:r>
            <a:endParaRPr lang="zh-CN" altLang="en-AU" sz="1400" b="1" dirty="0">
              <a:solidFill>
                <a:srgbClr val="7F7F7F"/>
              </a:solidFill>
              <a:latin typeface="+mn-ea"/>
              <a:cs typeface="+mn-ea"/>
            </a:endParaRPr>
          </a:p>
        </p:txBody>
      </p:sp>
      <p:sp>
        <p:nvSpPr>
          <p:cNvPr id="57" name="TextBox 56"/>
          <p:cNvSpPr txBox="1"/>
          <p:nvPr/>
        </p:nvSpPr>
        <p:spPr>
          <a:xfrm flipH="1">
            <a:off x="7702555" y="4568921"/>
            <a:ext cx="981528" cy="215265"/>
          </a:xfrm>
          <a:prstGeom prst="rect">
            <a:avLst/>
          </a:prstGeom>
          <a:noFill/>
        </p:spPr>
        <p:txBody>
          <a:bodyPr wrap="square" lIns="0" tIns="0" rIns="0" bIns="0" rtlCol="0" anchor="ctr">
            <a:spAutoFit/>
          </a:bodyPr>
          <a:lstStyle/>
          <a:p>
            <a:pPr algn="ctr"/>
            <a:r>
              <a:rPr lang="zh-CN" altLang="en-AU" sz="1400" b="1" dirty="0">
                <a:solidFill>
                  <a:srgbClr val="262626"/>
                </a:solidFill>
                <a:latin typeface="+mn-ea"/>
                <a:cs typeface="+mn-ea"/>
              </a:rPr>
              <a:t>差评</a:t>
            </a:r>
            <a:endParaRPr lang="zh-CN" altLang="en-AU" sz="1400" b="1" dirty="0">
              <a:solidFill>
                <a:srgbClr val="262626"/>
              </a:solidFill>
              <a:latin typeface="+mn-ea"/>
              <a:cs typeface="+mn-ea"/>
            </a:endParaRPr>
          </a:p>
        </p:txBody>
      </p:sp>
      <p:sp>
        <p:nvSpPr>
          <p:cNvPr id="58" name="TextBox 57"/>
          <p:cNvSpPr txBox="1"/>
          <p:nvPr/>
        </p:nvSpPr>
        <p:spPr>
          <a:xfrm flipH="1">
            <a:off x="9696416" y="3184200"/>
            <a:ext cx="981528" cy="215265"/>
          </a:xfrm>
          <a:prstGeom prst="rect">
            <a:avLst/>
          </a:prstGeom>
          <a:noFill/>
        </p:spPr>
        <p:txBody>
          <a:bodyPr wrap="square" lIns="0" tIns="0" rIns="0" bIns="0" rtlCol="0" anchor="ctr">
            <a:spAutoFit/>
          </a:bodyPr>
          <a:lstStyle/>
          <a:p>
            <a:r>
              <a:rPr lang="zh-CN" altLang="en-AU" sz="1400" b="1" dirty="0">
                <a:solidFill>
                  <a:schemeClr val="accent6"/>
                </a:solidFill>
                <a:latin typeface="+mn-ea"/>
                <a:cs typeface="+mn-ea"/>
              </a:rPr>
              <a:t>秒杀</a:t>
            </a:r>
            <a:endParaRPr lang="zh-CN" altLang="en-AU" sz="1400" b="1" dirty="0">
              <a:solidFill>
                <a:schemeClr val="accent6"/>
              </a:solidFill>
              <a:latin typeface="+mn-ea"/>
              <a:cs typeface="+mn-ea"/>
            </a:endParaRPr>
          </a:p>
        </p:txBody>
      </p:sp>
      <p:sp>
        <p:nvSpPr>
          <p:cNvPr id="59" name="TextBox 58"/>
          <p:cNvSpPr txBox="1"/>
          <p:nvPr/>
        </p:nvSpPr>
        <p:spPr>
          <a:xfrm flipH="1">
            <a:off x="9845401" y="1226745"/>
            <a:ext cx="981528" cy="215265"/>
          </a:xfrm>
          <a:prstGeom prst="rect">
            <a:avLst/>
          </a:prstGeom>
          <a:noFill/>
        </p:spPr>
        <p:txBody>
          <a:bodyPr wrap="square" lIns="0" tIns="0" rIns="0" bIns="0" rtlCol="0" anchor="ctr">
            <a:spAutoFit/>
          </a:bodyPr>
          <a:lstStyle/>
          <a:p>
            <a:pPr algn="ctr"/>
            <a:r>
              <a:rPr lang="zh-CN" altLang="en-AU" sz="1400" b="1" dirty="0">
                <a:solidFill>
                  <a:schemeClr val="accent1"/>
                </a:solidFill>
                <a:latin typeface="+mn-ea"/>
                <a:cs typeface="+mn-ea"/>
              </a:rPr>
              <a:t>维护</a:t>
            </a:r>
            <a:endParaRPr lang="zh-CN" altLang="en-AU" sz="1400" b="1" dirty="0">
              <a:solidFill>
                <a:schemeClr val="accent1"/>
              </a:solidFill>
              <a:latin typeface="+mn-ea"/>
              <a:cs typeface="+mn-ea"/>
            </a:endParaRPr>
          </a:p>
        </p:txBody>
      </p:sp>
      <p:sp>
        <p:nvSpPr>
          <p:cNvPr id="60" name="TextBox 59"/>
          <p:cNvSpPr txBox="1"/>
          <p:nvPr/>
        </p:nvSpPr>
        <p:spPr>
          <a:xfrm flipH="1">
            <a:off x="4352283" y="4220263"/>
            <a:ext cx="981528" cy="215265"/>
          </a:xfrm>
          <a:prstGeom prst="rect">
            <a:avLst/>
          </a:prstGeom>
          <a:noFill/>
        </p:spPr>
        <p:txBody>
          <a:bodyPr wrap="square" lIns="0" tIns="0" rIns="0" bIns="0" rtlCol="0" anchor="ctr">
            <a:spAutoFit/>
          </a:bodyPr>
          <a:lstStyle/>
          <a:p>
            <a:r>
              <a:rPr lang="zh-CN" altLang="en-AU" sz="1400" b="1" dirty="0">
                <a:solidFill>
                  <a:srgbClr val="262626"/>
                </a:solidFill>
                <a:latin typeface="+mn-ea"/>
                <a:cs typeface="+mn-ea"/>
              </a:rPr>
              <a:t>出单</a:t>
            </a:r>
            <a:endParaRPr lang="zh-CN" altLang="en-AU" sz="1400" b="1" dirty="0">
              <a:solidFill>
                <a:srgbClr val="262626"/>
              </a:solidFill>
              <a:latin typeface="+mn-ea"/>
              <a:cs typeface="+mn-ea"/>
            </a:endParaRPr>
          </a:p>
        </p:txBody>
      </p:sp>
      <p:sp>
        <p:nvSpPr>
          <p:cNvPr id="61" name="Text Placeholder 32"/>
          <p:cNvSpPr txBox="1"/>
          <p:nvPr/>
        </p:nvSpPr>
        <p:spPr>
          <a:xfrm>
            <a:off x="2310765" y="2319020"/>
            <a:ext cx="1250315" cy="412750"/>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spcBef>
                <a:spcPts val="0"/>
              </a:spcBef>
              <a:buNone/>
            </a:pPr>
            <a:r>
              <a:rPr lang="zh-CN" altLang="en-US" sz="900" dirty="0">
                <a:solidFill>
                  <a:schemeClr val="tx1">
                    <a:lumMod val="95000"/>
                    <a:lumOff val="5000"/>
                  </a:schemeClr>
                </a:solidFill>
                <a:latin typeface="+mn-ea"/>
                <a:cs typeface="+mn-ea"/>
              </a:rPr>
              <a:t>前期做</a:t>
            </a:r>
            <a:r>
              <a:rPr lang="en-US" altLang="zh-CN" sz="900" dirty="0">
                <a:solidFill>
                  <a:schemeClr val="tx1">
                    <a:lumMod val="95000"/>
                    <a:lumOff val="5000"/>
                  </a:schemeClr>
                </a:solidFill>
                <a:latin typeface="+mn-ea"/>
                <a:cs typeface="+mn-ea"/>
              </a:rPr>
              <a:t>Listing</a:t>
            </a:r>
            <a:endParaRPr lang="en-US" altLang="zh-CN" sz="900" dirty="0">
              <a:solidFill>
                <a:schemeClr val="tx1">
                  <a:lumMod val="95000"/>
                  <a:lumOff val="5000"/>
                </a:schemeClr>
              </a:solidFill>
              <a:latin typeface="+mn-ea"/>
              <a:cs typeface="+mn-ea"/>
            </a:endParaRPr>
          </a:p>
          <a:p>
            <a:pPr marL="0" indent="0">
              <a:lnSpc>
                <a:spcPct val="130000"/>
              </a:lnSpc>
              <a:spcBef>
                <a:spcPts val="0"/>
              </a:spcBef>
              <a:buNone/>
            </a:pPr>
            <a:r>
              <a:rPr lang="zh-CN" altLang="en-US" sz="900" dirty="0">
                <a:solidFill>
                  <a:schemeClr val="tx1">
                    <a:lumMod val="95000"/>
                    <a:lumOff val="5000"/>
                  </a:schemeClr>
                </a:solidFill>
                <a:latin typeface="+mn-ea"/>
                <a:cs typeface="+mn-ea"/>
              </a:rPr>
              <a:t>后期才是做产品</a:t>
            </a:r>
            <a:endParaRPr lang="zh-CN" altLang="en-US" sz="900" dirty="0">
              <a:solidFill>
                <a:schemeClr val="tx1">
                  <a:lumMod val="95000"/>
                  <a:lumOff val="5000"/>
                </a:schemeClr>
              </a:solidFill>
              <a:latin typeface="+mn-ea"/>
              <a:cs typeface="+mn-ea"/>
            </a:endParaRPr>
          </a:p>
        </p:txBody>
      </p:sp>
      <p:sp>
        <p:nvSpPr>
          <p:cNvPr id="62" name="Arc 61"/>
          <p:cNvSpPr/>
          <p:nvPr/>
        </p:nvSpPr>
        <p:spPr>
          <a:xfrm rot="10800000">
            <a:off x="2856082" y="2257770"/>
            <a:ext cx="1302338" cy="1302508"/>
          </a:xfrm>
          <a:prstGeom prst="arc">
            <a:avLst>
              <a:gd name="adj1" fmla="val 17014246"/>
              <a:gd name="adj2" fmla="val 745915"/>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d-ID" sz="1405">
              <a:solidFill>
                <a:schemeClr val="bg2"/>
              </a:solidFill>
              <a:latin typeface="+mn-ea"/>
              <a:cs typeface="+mn-ea"/>
            </a:endParaRPr>
          </a:p>
        </p:txBody>
      </p:sp>
      <p:sp>
        <p:nvSpPr>
          <p:cNvPr id="63" name="Text Placeholder 32"/>
          <p:cNvSpPr txBox="1"/>
          <p:nvPr/>
        </p:nvSpPr>
        <p:spPr>
          <a:xfrm flipH="1">
            <a:off x="9175449" y="4622379"/>
            <a:ext cx="1250012" cy="442195"/>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spcBef>
                <a:spcPts val="0"/>
              </a:spcBef>
              <a:buNone/>
            </a:pPr>
            <a:r>
              <a:rPr lang="zh-CN" altLang="en-US" sz="900" dirty="0">
                <a:solidFill>
                  <a:srgbClr val="7F7F7F"/>
                </a:solidFill>
                <a:latin typeface="+mn-ea"/>
                <a:cs typeface="+mn-ea"/>
              </a:rPr>
              <a:t>单击此处添加副标题或详细文本描述</a:t>
            </a:r>
            <a:endParaRPr lang="en-US" sz="900" dirty="0">
              <a:solidFill>
                <a:srgbClr val="7F7F7F"/>
              </a:solidFill>
              <a:latin typeface="+mn-ea"/>
              <a:cs typeface="+mn-ea"/>
            </a:endParaRPr>
          </a:p>
        </p:txBody>
      </p:sp>
      <p:sp>
        <p:nvSpPr>
          <p:cNvPr id="64" name="Arc 63"/>
          <p:cNvSpPr/>
          <p:nvPr/>
        </p:nvSpPr>
        <p:spPr>
          <a:xfrm rot="18160781">
            <a:off x="8339387" y="4238467"/>
            <a:ext cx="1302508" cy="1302338"/>
          </a:xfrm>
          <a:prstGeom prst="arc">
            <a:avLst>
              <a:gd name="adj1" fmla="val 18771647"/>
              <a:gd name="adj2" fmla="val 745915"/>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d-ID" sz="1405">
              <a:solidFill>
                <a:schemeClr val="bg2"/>
              </a:solidFill>
              <a:latin typeface="+mn-ea"/>
              <a:cs typeface="+mn-ea"/>
            </a:endParaRPr>
          </a:p>
        </p:txBody>
      </p:sp>
      <p:sp>
        <p:nvSpPr>
          <p:cNvPr id="65" name="Text Placeholder 32"/>
          <p:cNvSpPr txBox="1"/>
          <p:nvPr/>
        </p:nvSpPr>
        <p:spPr>
          <a:xfrm>
            <a:off x="5210175" y="5228590"/>
            <a:ext cx="1250315" cy="628650"/>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spcBef>
                <a:spcPts val="0"/>
              </a:spcBef>
              <a:buNone/>
            </a:pPr>
            <a:r>
              <a:rPr lang="zh-CN" altLang="en-US" sz="900" dirty="0">
                <a:solidFill>
                  <a:schemeClr val="tx1">
                    <a:lumMod val="95000"/>
                    <a:lumOff val="5000"/>
                  </a:schemeClr>
                </a:solidFill>
                <a:latin typeface="+mn-ea"/>
                <a:cs typeface="+mn-ea"/>
              </a:rPr>
              <a:t>对手的价格，利润空间</a:t>
            </a:r>
            <a:endParaRPr lang="zh-CN" altLang="en-US" sz="900" dirty="0">
              <a:solidFill>
                <a:schemeClr val="tx1">
                  <a:lumMod val="95000"/>
                  <a:lumOff val="5000"/>
                </a:schemeClr>
              </a:solidFill>
              <a:latin typeface="+mn-ea"/>
              <a:cs typeface="+mn-ea"/>
            </a:endParaRPr>
          </a:p>
          <a:p>
            <a:pPr marL="0" indent="0">
              <a:lnSpc>
                <a:spcPct val="130000"/>
              </a:lnSpc>
              <a:spcBef>
                <a:spcPts val="0"/>
              </a:spcBef>
              <a:buNone/>
            </a:pPr>
            <a:r>
              <a:rPr lang="en-US" altLang="zh-CN" sz="900" dirty="0">
                <a:solidFill>
                  <a:schemeClr val="tx1">
                    <a:lumMod val="95000"/>
                    <a:lumOff val="5000"/>
                  </a:schemeClr>
                </a:solidFill>
                <a:latin typeface="+mn-ea"/>
                <a:cs typeface="+mn-ea"/>
              </a:rPr>
              <a:t>CPC</a:t>
            </a:r>
            <a:r>
              <a:rPr lang="zh-CN" altLang="en-US" sz="900" dirty="0">
                <a:solidFill>
                  <a:schemeClr val="tx1">
                    <a:lumMod val="95000"/>
                    <a:lumOff val="5000"/>
                  </a:schemeClr>
                </a:solidFill>
                <a:latin typeface="+mn-ea"/>
                <a:cs typeface="+mn-ea"/>
              </a:rPr>
              <a:t>关键词排名</a:t>
            </a:r>
            <a:endParaRPr lang="zh-CN" altLang="en-US" sz="900" dirty="0">
              <a:solidFill>
                <a:schemeClr val="tx1">
                  <a:lumMod val="95000"/>
                  <a:lumOff val="5000"/>
                </a:schemeClr>
              </a:solidFill>
              <a:latin typeface="+mn-ea"/>
              <a:cs typeface="+mn-ea"/>
            </a:endParaRPr>
          </a:p>
          <a:p>
            <a:pPr marL="0" indent="0">
              <a:lnSpc>
                <a:spcPct val="130000"/>
              </a:lnSpc>
              <a:spcBef>
                <a:spcPts val="0"/>
              </a:spcBef>
              <a:buNone/>
            </a:pPr>
            <a:r>
              <a:rPr lang="zh-CN" altLang="en-US" sz="900" dirty="0">
                <a:solidFill>
                  <a:schemeClr val="tx1">
                    <a:lumMod val="95000"/>
                    <a:lumOff val="5000"/>
                  </a:schemeClr>
                </a:solidFill>
                <a:latin typeface="+mn-ea"/>
                <a:cs typeface="+mn-ea"/>
              </a:rPr>
              <a:t>是否有做促销</a:t>
            </a:r>
            <a:endParaRPr lang="zh-CN" altLang="en-US" sz="900" dirty="0">
              <a:solidFill>
                <a:schemeClr val="tx1">
                  <a:lumMod val="95000"/>
                  <a:lumOff val="5000"/>
                </a:schemeClr>
              </a:solidFill>
              <a:latin typeface="+mn-ea"/>
              <a:cs typeface="+mn-ea"/>
            </a:endParaRPr>
          </a:p>
        </p:txBody>
      </p:sp>
      <p:sp>
        <p:nvSpPr>
          <p:cNvPr id="66" name="Arc 65"/>
          <p:cNvSpPr/>
          <p:nvPr/>
        </p:nvSpPr>
        <p:spPr>
          <a:xfrm rot="17100000" flipH="1">
            <a:off x="4532458" y="4081964"/>
            <a:ext cx="1302508" cy="1302338"/>
          </a:xfrm>
          <a:prstGeom prst="arc">
            <a:avLst>
              <a:gd name="adj1" fmla="val 17014246"/>
              <a:gd name="adj2" fmla="val 745915"/>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d-ID" sz="1405">
              <a:solidFill>
                <a:schemeClr val="bg2"/>
              </a:solidFill>
              <a:latin typeface="+mn-ea"/>
              <a:cs typeface="+mn-ea"/>
            </a:endParaRPr>
          </a:p>
        </p:txBody>
      </p:sp>
      <p:sp>
        <p:nvSpPr>
          <p:cNvPr id="39" name="Freeform 139"/>
          <p:cNvSpPr/>
          <p:nvPr/>
        </p:nvSpPr>
        <p:spPr bwMode="auto">
          <a:xfrm>
            <a:off x="7278409" y="2462108"/>
            <a:ext cx="356381" cy="269930"/>
          </a:xfrm>
          <a:custGeom>
            <a:avLst/>
            <a:gdLst>
              <a:gd name="T0" fmla="*/ 143 w 165"/>
              <a:gd name="T1" fmla="*/ 19 h 125"/>
              <a:gd name="T2" fmla="*/ 34 w 165"/>
              <a:gd name="T3" fmla="*/ 19 h 125"/>
              <a:gd name="T4" fmla="*/ 30 w 165"/>
              <a:gd name="T5" fmla="*/ 5 h 125"/>
              <a:gd name="T6" fmla="*/ 29 w 165"/>
              <a:gd name="T7" fmla="*/ 4 h 125"/>
              <a:gd name="T8" fmla="*/ 29 w 165"/>
              <a:gd name="T9" fmla="*/ 4 h 125"/>
              <a:gd name="T10" fmla="*/ 28 w 165"/>
              <a:gd name="T11" fmla="*/ 3 h 125"/>
              <a:gd name="T12" fmla="*/ 28 w 165"/>
              <a:gd name="T13" fmla="*/ 2 h 125"/>
              <a:gd name="T14" fmla="*/ 28 w 165"/>
              <a:gd name="T15" fmla="*/ 2 h 125"/>
              <a:gd name="T16" fmla="*/ 27 w 165"/>
              <a:gd name="T17" fmla="*/ 1 h 125"/>
              <a:gd name="T18" fmla="*/ 27 w 165"/>
              <a:gd name="T19" fmla="*/ 1 h 125"/>
              <a:gd name="T20" fmla="*/ 22 w 165"/>
              <a:gd name="T21" fmla="*/ 0 h 125"/>
              <a:gd name="T22" fmla="*/ 7 w 165"/>
              <a:gd name="T23" fmla="*/ 2 h 125"/>
              <a:gd name="T24" fmla="*/ 0 w 165"/>
              <a:gd name="T25" fmla="*/ 9 h 125"/>
              <a:gd name="T26" fmla="*/ 7 w 165"/>
              <a:gd name="T27" fmla="*/ 15 h 125"/>
              <a:gd name="T28" fmla="*/ 18 w 165"/>
              <a:gd name="T29" fmla="*/ 14 h 125"/>
              <a:gd name="T30" fmla="*/ 45 w 165"/>
              <a:gd name="T31" fmla="*/ 99 h 125"/>
              <a:gd name="T32" fmla="*/ 42 w 165"/>
              <a:gd name="T33" fmla="*/ 109 h 125"/>
              <a:gd name="T34" fmla="*/ 58 w 165"/>
              <a:gd name="T35" fmla="*/ 125 h 125"/>
              <a:gd name="T36" fmla="*/ 73 w 165"/>
              <a:gd name="T37" fmla="*/ 116 h 125"/>
              <a:gd name="T38" fmla="*/ 94 w 165"/>
              <a:gd name="T39" fmla="*/ 116 h 125"/>
              <a:gd name="T40" fmla="*/ 109 w 165"/>
              <a:gd name="T41" fmla="*/ 125 h 125"/>
              <a:gd name="T42" fmla="*/ 125 w 165"/>
              <a:gd name="T43" fmla="*/ 109 h 125"/>
              <a:gd name="T44" fmla="*/ 109 w 165"/>
              <a:gd name="T45" fmla="*/ 93 h 125"/>
              <a:gd name="T46" fmla="*/ 94 w 165"/>
              <a:gd name="T47" fmla="*/ 102 h 125"/>
              <a:gd name="T48" fmla="*/ 73 w 165"/>
              <a:gd name="T49" fmla="*/ 102 h 125"/>
              <a:gd name="T50" fmla="*/ 58 w 165"/>
              <a:gd name="T51" fmla="*/ 93 h 125"/>
              <a:gd name="T52" fmla="*/ 58 w 165"/>
              <a:gd name="T53" fmla="*/ 93 h 125"/>
              <a:gd name="T54" fmla="*/ 55 w 165"/>
              <a:gd name="T55" fmla="*/ 83 h 125"/>
              <a:gd name="T56" fmla="*/ 125 w 165"/>
              <a:gd name="T57" fmla="*/ 83 h 125"/>
              <a:gd name="T58" fmla="*/ 139 w 165"/>
              <a:gd name="T59" fmla="*/ 68 h 125"/>
              <a:gd name="T60" fmla="*/ 158 w 165"/>
              <a:gd name="T61" fmla="*/ 34 h 125"/>
              <a:gd name="T62" fmla="*/ 143 w 165"/>
              <a:gd name="T63" fmla="*/ 1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5" h="125">
                <a:moveTo>
                  <a:pt x="143" y="19"/>
                </a:moveTo>
                <a:cubicBezTo>
                  <a:pt x="34" y="19"/>
                  <a:pt x="34" y="19"/>
                  <a:pt x="34" y="19"/>
                </a:cubicBezTo>
                <a:cubicBezTo>
                  <a:pt x="30" y="5"/>
                  <a:pt x="30" y="5"/>
                  <a:pt x="30" y="5"/>
                </a:cubicBezTo>
                <a:cubicBezTo>
                  <a:pt x="30" y="5"/>
                  <a:pt x="29" y="4"/>
                  <a:pt x="29" y="4"/>
                </a:cubicBezTo>
                <a:cubicBezTo>
                  <a:pt x="29" y="4"/>
                  <a:pt x="29" y="4"/>
                  <a:pt x="29" y="4"/>
                </a:cubicBezTo>
                <a:cubicBezTo>
                  <a:pt x="29" y="3"/>
                  <a:pt x="29" y="3"/>
                  <a:pt x="28" y="3"/>
                </a:cubicBezTo>
                <a:cubicBezTo>
                  <a:pt x="28" y="2"/>
                  <a:pt x="28" y="2"/>
                  <a:pt x="28" y="2"/>
                </a:cubicBezTo>
                <a:cubicBezTo>
                  <a:pt x="28" y="2"/>
                  <a:pt x="28" y="2"/>
                  <a:pt x="28" y="2"/>
                </a:cubicBezTo>
                <a:cubicBezTo>
                  <a:pt x="27" y="2"/>
                  <a:pt x="27" y="1"/>
                  <a:pt x="27" y="1"/>
                </a:cubicBezTo>
                <a:cubicBezTo>
                  <a:pt x="27" y="1"/>
                  <a:pt x="27" y="1"/>
                  <a:pt x="27" y="1"/>
                </a:cubicBezTo>
                <a:cubicBezTo>
                  <a:pt x="25" y="0"/>
                  <a:pt x="24" y="0"/>
                  <a:pt x="22" y="0"/>
                </a:cubicBezTo>
                <a:cubicBezTo>
                  <a:pt x="7" y="2"/>
                  <a:pt x="7" y="2"/>
                  <a:pt x="7" y="2"/>
                </a:cubicBezTo>
                <a:cubicBezTo>
                  <a:pt x="3" y="2"/>
                  <a:pt x="0" y="5"/>
                  <a:pt x="0" y="9"/>
                </a:cubicBezTo>
                <a:cubicBezTo>
                  <a:pt x="1" y="12"/>
                  <a:pt x="4" y="15"/>
                  <a:pt x="7" y="15"/>
                </a:cubicBezTo>
                <a:cubicBezTo>
                  <a:pt x="18" y="14"/>
                  <a:pt x="18" y="14"/>
                  <a:pt x="18" y="14"/>
                </a:cubicBezTo>
                <a:cubicBezTo>
                  <a:pt x="45" y="99"/>
                  <a:pt x="45" y="99"/>
                  <a:pt x="45" y="99"/>
                </a:cubicBezTo>
                <a:cubicBezTo>
                  <a:pt x="43" y="101"/>
                  <a:pt x="42" y="105"/>
                  <a:pt x="42" y="109"/>
                </a:cubicBezTo>
                <a:cubicBezTo>
                  <a:pt x="42" y="118"/>
                  <a:pt x="49" y="125"/>
                  <a:pt x="58" y="125"/>
                </a:cubicBezTo>
                <a:cubicBezTo>
                  <a:pt x="64" y="125"/>
                  <a:pt x="70" y="121"/>
                  <a:pt x="73" y="116"/>
                </a:cubicBezTo>
                <a:cubicBezTo>
                  <a:pt x="94" y="116"/>
                  <a:pt x="94" y="116"/>
                  <a:pt x="94" y="116"/>
                </a:cubicBezTo>
                <a:cubicBezTo>
                  <a:pt x="97" y="121"/>
                  <a:pt x="103" y="125"/>
                  <a:pt x="109" y="125"/>
                </a:cubicBezTo>
                <a:cubicBezTo>
                  <a:pt x="118" y="125"/>
                  <a:pt x="125" y="118"/>
                  <a:pt x="125" y="109"/>
                </a:cubicBezTo>
                <a:cubicBezTo>
                  <a:pt x="125" y="100"/>
                  <a:pt x="118" y="93"/>
                  <a:pt x="109" y="93"/>
                </a:cubicBezTo>
                <a:cubicBezTo>
                  <a:pt x="103" y="93"/>
                  <a:pt x="97" y="97"/>
                  <a:pt x="94" y="102"/>
                </a:cubicBezTo>
                <a:cubicBezTo>
                  <a:pt x="73" y="102"/>
                  <a:pt x="73" y="102"/>
                  <a:pt x="73" y="102"/>
                </a:cubicBezTo>
                <a:cubicBezTo>
                  <a:pt x="70" y="97"/>
                  <a:pt x="64" y="93"/>
                  <a:pt x="58" y="93"/>
                </a:cubicBezTo>
                <a:cubicBezTo>
                  <a:pt x="58" y="93"/>
                  <a:pt x="58" y="93"/>
                  <a:pt x="58" y="93"/>
                </a:cubicBezTo>
                <a:cubicBezTo>
                  <a:pt x="55" y="83"/>
                  <a:pt x="55" y="83"/>
                  <a:pt x="55" y="83"/>
                </a:cubicBezTo>
                <a:cubicBezTo>
                  <a:pt x="125" y="83"/>
                  <a:pt x="125" y="83"/>
                  <a:pt x="125" y="83"/>
                </a:cubicBezTo>
                <a:cubicBezTo>
                  <a:pt x="133" y="83"/>
                  <a:pt x="134" y="77"/>
                  <a:pt x="139" y="68"/>
                </a:cubicBezTo>
                <a:cubicBezTo>
                  <a:pt x="158" y="34"/>
                  <a:pt x="158" y="34"/>
                  <a:pt x="158" y="34"/>
                </a:cubicBezTo>
                <a:cubicBezTo>
                  <a:pt x="165" y="20"/>
                  <a:pt x="151" y="19"/>
                  <a:pt x="143" y="1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40" name="组合 39"/>
          <p:cNvGrpSpPr/>
          <p:nvPr/>
        </p:nvGrpSpPr>
        <p:grpSpPr>
          <a:xfrm>
            <a:off x="6970691" y="2824718"/>
            <a:ext cx="307174" cy="307212"/>
            <a:chOff x="11121822" y="1145785"/>
            <a:chExt cx="307214" cy="307212"/>
          </a:xfrm>
          <a:solidFill>
            <a:schemeClr val="bg1"/>
          </a:solidFill>
        </p:grpSpPr>
        <p:sp>
          <p:nvSpPr>
            <p:cNvPr id="42" name="Freeform 140"/>
            <p:cNvSpPr>
              <a:spLocks noEditPoints="1"/>
            </p:cNvSpPr>
            <p:nvPr/>
          </p:nvSpPr>
          <p:spPr bwMode="auto">
            <a:xfrm>
              <a:off x="11121822" y="1211403"/>
              <a:ext cx="241594" cy="241594"/>
            </a:xfrm>
            <a:custGeom>
              <a:avLst/>
              <a:gdLst>
                <a:gd name="T0" fmla="*/ 103 w 112"/>
                <a:gd name="T1" fmla="*/ 47 h 112"/>
                <a:gd name="T2" fmla="*/ 106 w 112"/>
                <a:gd name="T3" fmla="*/ 36 h 112"/>
                <a:gd name="T4" fmla="*/ 102 w 112"/>
                <a:gd name="T5" fmla="*/ 22 h 112"/>
                <a:gd name="T6" fmla="*/ 92 w 112"/>
                <a:gd name="T7" fmla="*/ 25 h 112"/>
                <a:gd name="T8" fmla="*/ 90 w 112"/>
                <a:gd name="T9" fmla="*/ 14 h 112"/>
                <a:gd name="T10" fmla="*/ 79 w 112"/>
                <a:gd name="T11" fmla="*/ 4 h 112"/>
                <a:gd name="T12" fmla="*/ 71 w 112"/>
                <a:gd name="T13" fmla="*/ 11 h 112"/>
                <a:gd name="T14" fmla="*/ 64 w 112"/>
                <a:gd name="T15" fmla="*/ 3 h 112"/>
                <a:gd name="T16" fmla="*/ 50 w 112"/>
                <a:gd name="T17" fmla="*/ 0 h 112"/>
                <a:gd name="T18" fmla="*/ 47 w 112"/>
                <a:gd name="T19" fmla="*/ 10 h 112"/>
                <a:gd name="T20" fmla="*/ 37 w 112"/>
                <a:gd name="T21" fmla="*/ 6 h 112"/>
                <a:gd name="T22" fmla="*/ 23 w 112"/>
                <a:gd name="T23" fmla="*/ 11 h 112"/>
                <a:gd name="T24" fmla="*/ 25 w 112"/>
                <a:gd name="T25" fmla="*/ 20 h 112"/>
                <a:gd name="T26" fmla="*/ 14 w 112"/>
                <a:gd name="T27" fmla="*/ 22 h 112"/>
                <a:gd name="T28" fmla="*/ 5 w 112"/>
                <a:gd name="T29" fmla="*/ 33 h 112"/>
                <a:gd name="T30" fmla="*/ 12 w 112"/>
                <a:gd name="T31" fmla="*/ 41 h 112"/>
                <a:gd name="T32" fmla="*/ 3 w 112"/>
                <a:gd name="T33" fmla="*/ 48 h 112"/>
                <a:gd name="T34" fmla="*/ 0 w 112"/>
                <a:gd name="T35" fmla="*/ 62 h 112"/>
                <a:gd name="T36" fmla="*/ 10 w 112"/>
                <a:gd name="T37" fmla="*/ 65 h 112"/>
                <a:gd name="T38" fmla="*/ 6 w 112"/>
                <a:gd name="T39" fmla="*/ 75 h 112"/>
                <a:gd name="T40" fmla="*/ 11 w 112"/>
                <a:gd name="T41" fmla="*/ 89 h 112"/>
                <a:gd name="T42" fmla="*/ 21 w 112"/>
                <a:gd name="T43" fmla="*/ 87 h 112"/>
                <a:gd name="T44" fmla="*/ 23 w 112"/>
                <a:gd name="T45" fmla="*/ 98 h 112"/>
                <a:gd name="T46" fmla="*/ 34 w 112"/>
                <a:gd name="T47" fmla="*/ 108 h 112"/>
                <a:gd name="T48" fmla="*/ 41 w 112"/>
                <a:gd name="T49" fmla="*/ 101 h 112"/>
                <a:gd name="T50" fmla="*/ 48 w 112"/>
                <a:gd name="T51" fmla="*/ 109 h 112"/>
                <a:gd name="T52" fmla="*/ 63 w 112"/>
                <a:gd name="T53" fmla="*/ 112 h 112"/>
                <a:gd name="T54" fmla="*/ 66 w 112"/>
                <a:gd name="T55" fmla="*/ 102 h 112"/>
                <a:gd name="T56" fmla="*/ 76 w 112"/>
                <a:gd name="T57" fmla="*/ 106 h 112"/>
                <a:gd name="T58" fmla="*/ 90 w 112"/>
                <a:gd name="T59" fmla="*/ 101 h 112"/>
                <a:gd name="T60" fmla="*/ 88 w 112"/>
                <a:gd name="T61" fmla="*/ 91 h 112"/>
                <a:gd name="T62" fmla="*/ 98 w 112"/>
                <a:gd name="T63" fmla="*/ 89 h 112"/>
                <a:gd name="T64" fmla="*/ 108 w 112"/>
                <a:gd name="T65" fmla="*/ 78 h 112"/>
                <a:gd name="T66" fmla="*/ 101 w 112"/>
                <a:gd name="T67" fmla="*/ 71 h 112"/>
                <a:gd name="T68" fmla="*/ 110 w 112"/>
                <a:gd name="T69" fmla="*/ 64 h 112"/>
                <a:gd name="T70" fmla="*/ 112 w 112"/>
                <a:gd name="T71" fmla="*/ 49 h 112"/>
                <a:gd name="T72" fmla="*/ 56 w 112"/>
                <a:gd name="T73" fmla="*/ 86 h 112"/>
                <a:gd name="T74" fmla="*/ 56 w 112"/>
                <a:gd name="T75" fmla="*/ 26 h 112"/>
                <a:gd name="T76" fmla="*/ 56 w 112"/>
                <a:gd name="T7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 h="112">
                  <a:moveTo>
                    <a:pt x="110" y="47"/>
                  </a:moveTo>
                  <a:cubicBezTo>
                    <a:pt x="103" y="47"/>
                    <a:pt x="103" y="47"/>
                    <a:pt x="103" y="47"/>
                  </a:cubicBezTo>
                  <a:cubicBezTo>
                    <a:pt x="102" y="44"/>
                    <a:pt x="101" y="42"/>
                    <a:pt x="101" y="39"/>
                  </a:cubicBezTo>
                  <a:cubicBezTo>
                    <a:pt x="106" y="36"/>
                    <a:pt x="106" y="36"/>
                    <a:pt x="106" y="36"/>
                  </a:cubicBezTo>
                  <a:cubicBezTo>
                    <a:pt x="108" y="35"/>
                    <a:pt x="108" y="34"/>
                    <a:pt x="107" y="32"/>
                  </a:cubicBezTo>
                  <a:cubicBezTo>
                    <a:pt x="102" y="22"/>
                    <a:pt x="102" y="22"/>
                    <a:pt x="102" y="22"/>
                  </a:cubicBezTo>
                  <a:cubicBezTo>
                    <a:pt x="101" y="21"/>
                    <a:pt x="99" y="20"/>
                    <a:pt x="98" y="21"/>
                  </a:cubicBezTo>
                  <a:cubicBezTo>
                    <a:pt x="92" y="25"/>
                    <a:pt x="92" y="25"/>
                    <a:pt x="92" y="25"/>
                  </a:cubicBezTo>
                  <a:cubicBezTo>
                    <a:pt x="90" y="23"/>
                    <a:pt x="88" y="21"/>
                    <a:pt x="87" y="20"/>
                  </a:cubicBezTo>
                  <a:cubicBezTo>
                    <a:pt x="90" y="14"/>
                    <a:pt x="90" y="14"/>
                    <a:pt x="90" y="14"/>
                  </a:cubicBezTo>
                  <a:cubicBezTo>
                    <a:pt x="91" y="12"/>
                    <a:pt x="90" y="11"/>
                    <a:pt x="89" y="10"/>
                  </a:cubicBezTo>
                  <a:cubicBezTo>
                    <a:pt x="79" y="4"/>
                    <a:pt x="79" y="4"/>
                    <a:pt x="79" y="4"/>
                  </a:cubicBezTo>
                  <a:cubicBezTo>
                    <a:pt x="77" y="3"/>
                    <a:pt x="76" y="4"/>
                    <a:pt x="75" y="5"/>
                  </a:cubicBezTo>
                  <a:cubicBezTo>
                    <a:pt x="71" y="11"/>
                    <a:pt x="71" y="11"/>
                    <a:pt x="71" y="11"/>
                  </a:cubicBezTo>
                  <a:cubicBezTo>
                    <a:pt x="69" y="10"/>
                    <a:pt x="67" y="10"/>
                    <a:pt x="64" y="9"/>
                  </a:cubicBezTo>
                  <a:cubicBezTo>
                    <a:pt x="64" y="3"/>
                    <a:pt x="64" y="3"/>
                    <a:pt x="64" y="3"/>
                  </a:cubicBezTo>
                  <a:cubicBezTo>
                    <a:pt x="64" y="1"/>
                    <a:pt x="63" y="0"/>
                    <a:pt x="61" y="0"/>
                  </a:cubicBezTo>
                  <a:cubicBezTo>
                    <a:pt x="50" y="0"/>
                    <a:pt x="50" y="0"/>
                    <a:pt x="50" y="0"/>
                  </a:cubicBezTo>
                  <a:cubicBezTo>
                    <a:pt x="48" y="0"/>
                    <a:pt x="47" y="1"/>
                    <a:pt x="47" y="3"/>
                  </a:cubicBezTo>
                  <a:cubicBezTo>
                    <a:pt x="47" y="10"/>
                    <a:pt x="47" y="10"/>
                    <a:pt x="47" y="10"/>
                  </a:cubicBezTo>
                  <a:cubicBezTo>
                    <a:pt x="45" y="10"/>
                    <a:pt x="42" y="11"/>
                    <a:pt x="40" y="12"/>
                  </a:cubicBezTo>
                  <a:cubicBezTo>
                    <a:pt x="37" y="6"/>
                    <a:pt x="37" y="6"/>
                    <a:pt x="37" y="6"/>
                  </a:cubicBezTo>
                  <a:cubicBezTo>
                    <a:pt x="36" y="4"/>
                    <a:pt x="34" y="4"/>
                    <a:pt x="33" y="5"/>
                  </a:cubicBezTo>
                  <a:cubicBezTo>
                    <a:pt x="23" y="11"/>
                    <a:pt x="23" y="11"/>
                    <a:pt x="23" y="11"/>
                  </a:cubicBezTo>
                  <a:cubicBezTo>
                    <a:pt x="21" y="11"/>
                    <a:pt x="21" y="13"/>
                    <a:pt x="22" y="14"/>
                  </a:cubicBezTo>
                  <a:cubicBezTo>
                    <a:pt x="25" y="20"/>
                    <a:pt x="25" y="20"/>
                    <a:pt x="25" y="20"/>
                  </a:cubicBezTo>
                  <a:cubicBezTo>
                    <a:pt x="23" y="22"/>
                    <a:pt x="22" y="24"/>
                    <a:pt x="20" y="26"/>
                  </a:cubicBezTo>
                  <a:cubicBezTo>
                    <a:pt x="14" y="22"/>
                    <a:pt x="14" y="22"/>
                    <a:pt x="14" y="22"/>
                  </a:cubicBezTo>
                  <a:cubicBezTo>
                    <a:pt x="13" y="22"/>
                    <a:pt x="11" y="22"/>
                    <a:pt x="10" y="23"/>
                  </a:cubicBezTo>
                  <a:cubicBezTo>
                    <a:pt x="5" y="33"/>
                    <a:pt x="5" y="33"/>
                    <a:pt x="5" y="33"/>
                  </a:cubicBezTo>
                  <a:cubicBezTo>
                    <a:pt x="4" y="35"/>
                    <a:pt x="4" y="36"/>
                    <a:pt x="6" y="37"/>
                  </a:cubicBezTo>
                  <a:cubicBezTo>
                    <a:pt x="12" y="41"/>
                    <a:pt x="12" y="41"/>
                    <a:pt x="12" y="41"/>
                  </a:cubicBezTo>
                  <a:cubicBezTo>
                    <a:pt x="11" y="43"/>
                    <a:pt x="10" y="45"/>
                    <a:pt x="10" y="48"/>
                  </a:cubicBezTo>
                  <a:cubicBezTo>
                    <a:pt x="3" y="48"/>
                    <a:pt x="3" y="48"/>
                    <a:pt x="3" y="48"/>
                  </a:cubicBezTo>
                  <a:cubicBezTo>
                    <a:pt x="2" y="48"/>
                    <a:pt x="0" y="49"/>
                    <a:pt x="0" y="51"/>
                  </a:cubicBezTo>
                  <a:cubicBezTo>
                    <a:pt x="0" y="62"/>
                    <a:pt x="0" y="62"/>
                    <a:pt x="0" y="62"/>
                  </a:cubicBezTo>
                  <a:cubicBezTo>
                    <a:pt x="0" y="64"/>
                    <a:pt x="2" y="65"/>
                    <a:pt x="3" y="65"/>
                  </a:cubicBezTo>
                  <a:cubicBezTo>
                    <a:pt x="10" y="65"/>
                    <a:pt x="10" y="65"/>
                    <a:pt x="10" y="65"/>
                  </a:cubicBezTo>
                  <a:cubicBezTo>
                    <a:pt x="11" y="68"/>
                    <a:pt x="11" y="70"/>
                    <a:pt x="12" y="72"/>
                  </a:cubicBezTo>
                  <a:cubicBezTo>
                    <a:pt x="6" y="75"/>
                    <a:pt x="6" y="75"/>
                    <a:pt x="6" y="75"/>
                  </a:cubicBezTo>
                  <a:cubicBezTo>
                    <a:pt x="5" y="76"/>
                    <a:pt x="5" y="78"/>
                    <a:pt x="5" y="79"/>
                  </a:cubicBezTo>
                  <a:cubicBezTo>
                    <a:pt x="11" y="89"/>
                    <a:pt x="11" y="89"/>
                    <a:pt x="11" y="89"/>
                  </a:cubicBezTo>
                  <a:cubicBezTo>
                    <a:pt x="12" y="91"/>
                    <a:pt x="14" y="91"/>
                    <a:pt x="15" y="90"/>
                  </a:cubicBezTo>
                  <a:cubicBezTo>
                    <a:pt x="21" y="87"/>
                    <a:pt x="21" y="87"/>
                    <a:pt x="21" y="87"/>
                  </a:cubicBezTo>
                  <a:cubicBezTo>
                    <a:pt x="23" y="89"/>
                    <a:pt x="24" y="91"/>
                    <a:pt x="26" y="92"/>
                  </a:cubicBezTo>
                  <a:cubicBezTo>
                    <a:pt x="23" y="98"/>
                    <a:pt x="23" y="98"/>
                    <a:pt x="23" y="98"/>
                  </a:cubicBezTo>
                  <a:cubicBezTo>
                    <a:pt x="22" y="99"/>
                    <a:pt x="23" y="101"/>
                    <a:pt x="24" y="102"/>
                  </a:cubicBezTo>
                  <a:cubicBezTo>
                    <a:pt x="34" y="108"/>
                    <a:pt x="34" y="108"/>
                    <a:pt x="34" y="108"/>
                  </a:cubicBezTo>
                  <a:cubicBezTo>
                    <a:pt x="35" y="108"/>
                    <a:pt x="37" y="108"/>
                    <a:pt x="38" y="106"/>
                  </a:cubicBezTo>
                  <a:cubicBezTo>
                    <a:pt x="41" y="101"/>
                    <a:pt x="41" y="101"/>
                    <a:pt x="41" y="101"/>
                  </a:cubicBezTo>
                  <a:cubicBezTo>
                    <a:pt x="44" y="101"/>
                    <a:pt x="46" y="102"/>
                    <a:pt x="48" y="102"/>
                  </a:cubicBezTo>
                  <a:cubicBezTo>
                    <a:pt x="48" y="109"/>
                    <a:pt x="48" y="109"/>
                    <a:pt x="48" y="109"/>
                  </a:cubicBezTo>
                  <a:cubicBezTo>
                    <a:pt x="48" y="111"/>
                    <a:pt x="50" y="112"/>
                    <a:pt x="51" y="112"/>
                  </a:cubicBezTo>
                  <a:cubicBezTo>
                    <a:pt x="63" y="112"/>
                    <a:pt x="63" y="112"/>
                    <a:pt x="63" y="112"/>
                  </a:cubicBezTo>
                  <a:cubicBezTo>
                    <a:pt x="64" y="112"/>
                    <a:pt x="66" y="111"/>
                    <a:pt x="66" y="109"/>
                  </a:cubicBezTo>
                  <a:cubicBezTo>
                    <a:pt x="66" y="102"/>
                    <a:pt x="66" y="102"/>
                    <a:pt x="66" y="102"/>
                  </a:cubicBezTo>
                  <a:cubicBezTo>
                    <a:pt x="68" y="102"/>
                    <a:pt x="70" y="101"/>
                    <a:pt x="73" y="100"/>
                  </a:cubicBezTo>
                  <a:cubicBezTo>
                    <a:pt x="76" y="106"/>
                    <a:pt x="76" y="106"/>
                    <a:pt x="76" y="106"/>
                  </a:cubicBezTo>
                  <a:cubicBezTo>
                    <a:pt x="77" y="107"/>
                    <a:pt x="79" y="108"/>
                    <a:pt x="80" y="107"/>
                  </a:cubicBezTo>
                  <a:cubicBezTo>
                    <a:pt x="90" y="101"/>
                    <a:pt x="90" y="101"/>
                    <a:pt x="90" y="101"/>
                  </a:cubicBezTo>
                  <a:cubicBezTo>
                    <a:pt x="91" y="100"/>
                    <a:pt x="92" y="99"/>
                    <a:pt x="91" y="97"/>
                  </a:cubicBezTo>
                  <a:cubicBezTo>
                    <a:pt x="88" y="91"/>
                    <a:pt x="88" y="91"/>
                    <a:pt x="88" y="91"/>
                  </a:cubicBezTo>
                  <a:cubicBezTo>
                    <a:pt x="89" y="90"/>
                    <a:pt x="91" y="88"/>
                    <a:pt x="93" y="86"/>
                  </a:cubicBezTo>
                  <a:cubicBezTo>
                    <a:pt x="98" y="89"/>
                    <a:pt x="98" y="89"/>
                    <a:pt x="98" y="89"/>
                  </a:cubicBezTo>
                  <a:cubicBezTo>
                    <a:pt x="100" y="90"/>
                    <a:pt x="102" y="90"/>
                    <a:pt x="102" y="88"/>
                  </a:cubicBezTo>
                  <a:cubicBezTo>
                    <a:pt x="108" y="78"/>
                    <a:pt x="108" y="78"/>
                    <a:pt x="108" y="78"/>
                  </a:cubicBezTo>
                  <a:cubicBezTo>
                    <a:pt x="109" y="77"/>
                    <a:pt x="108" y="75"/>
                    <a:pt x="107" y="74"/>
                  </a:cubicBezTo>
                  <a:cubicBezTo>
                    <a:pt x="101" y="71"/>
                    <a:pt x="101" y="71"/>
                    <a:pt x="101" y="71"/>
                  </a:cubicBezTo>
                  <a:cubicBezTo>
                    <a:pt x="102" y="69"/>
                    <a:pt x="102" y="66"/>
                    <a:pt x="103" y="64"/>
                  </a:cubicBezTo>
                  <a:cubicBezTo>
                    <a:pt x="110" y="64"/>
                    <a:pt x="110" y="64"/>
                    <a:pt x="110" y="64"/>
                  </a:cubicBezTo>
                  <a:cubicBezTo>
                    <a:pt x="111" y="64"/>
                    <a:pt x="112" y="63"/>
                    <a:pt x="112" y="61"/>
                  </a:cubicBezTo>
                  <a:cubicBezTo>
                    <a:pt x="112" y="49"/>
                    <a:pt x="112" y="49"/>
                    <a:pt x="112" y="49"/>
                  </a:cubicBezTo>
                  <a:cubicBezTo>
                    <a:pt x="112" y="48"/>
                    <a:pt x="111" y="47"/>
                    <a:pt x="110" y="47"/>
                  </a:cubicBezTo>
                  <a:close/>
                  <a:moveTo>
                    <a:pt x="56" y="86"/>
                  </a:moveTo>
                  <a:cubicBezTo>
                    <a:pt x="40" y="86"/>
                    <a:pt x="26" y="72"/>
                    <a:pt x="26" y="56"/>
                  </a:cubicBezTo>
                  <a:cubicBezTo>
                    <a:pt x="26" y="39"/>
                    <a:pt x="40" y="26"/>
                    <a:pt x="56" y="26"/>
                  </a:cubicBezTo>
                  <a:cubicBezTo>
                    <a:pt x="73" y="26"/>
                    <a:pt x="86" y="39"/>
                    <a:pt x="86" y="56"/>
                  </a:cubicBezTo>
                  <a:cubicBezTo>
                    <a:pt x="86" y="72"/>
                    <a:pt x="73" y="86"/>
                    <a:pt x="56" y="8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44" name="Freeform 141"/>
            <p:cNvSpPr>
              <a:spLocks noEditPoints="1"/>
            </p:cNvSpPr>
            <p:nvPr/>
          </p:nvSpPr>
          <p:spPr bwMode="auto">
            <a:xfrm>
              <a:off x="11317186" y="1145785"/>
              <a:ext cx="111850" cy="113341"/>
            </a:xfrm>
            <a:custGeom>
              <a:avLst/>
              <a:gdLst>
                <a:gd name="T0" fmla="*/ 48 w 52"/>
                <a:gd name="T1" fmla="*/ 23 h 52"/>
                <a:gd name="T2" fmla="*/ 50 w 52"/>
                <a:gd name="T3" fmla="*/ 17 h 52"/>
                <a:gd name="T4" fmla="*/ 48 w 52"/>
                <a:gd name="T5" fmla="*/ 11 h 52"/>
                <a:gd name="T6" fmla="*/ 44 w 52"/>
                <a:gd name="T7" fmla="*/ 12 h 52"/>
                <a:gd name="T8" fmla="*/ 42 w 52"/>
                <a:gd name="T9" fmla="*/ 6 h 52"/>
                <a:gd name="T10" fmla="*/ 38 w 52"/>
                <a:gd name="T11" fmla="*/ 2 h 52"/>
                <a:gd name="T12" fmla="*/ 34 w 52"/>
                <a:gd name="T13" fmla="*/ 5 h 52"/>
                <a:gd name="T14" fmla="*/ 30 w 52"/>
                <a:gd name="T15" fmla="*/ 1 h 52"/>
                <a:gd name="T16" fmla="*/ 24 w 52"/>
                <a:gd name="T17" fmla="*/ 0 h 52"/>
                <a:gd name="T18" fmla="*/ 23 w 52"/>
                <a:gd name="T19" fmla="*/ 4 h 52"/>
                <a:gd name="T20" fmla="*/ 17 w 52"/>
                <a:gd name="T21" fmla="*/ 2 h 52"/>
                <a:gd name="T22" fmla="*/ 11 w 52"/>
                <a:gd name="T23" fmla="*/ 4 h 52"/>
                <a:gd name="T24" fmla="*/ 12 w 52"/>
                <a:gd name="T25" fmla="*/ 8 h 52"/>
                <a:gd name="T26" fmla="*/ 6 w 52"/>
                <a:gd name="T27" fmla="*/ 10 h 52"/>
                <a:gd name="T28" fmla="*/ 2 w 52"/>
                <a:gd name="T29" fmla="*/ 14 h 52"/>
                <a:gd name="T30" fmla="*/ 6 w 52"/>
                <a:gd name="T31" fmla="*/ 18 h 52"/>
                <a:gd name="T32" fmla="*/ 1 w 52"/>
                <a:gd name="T33" fmla="*/ 22 h 52"/>
                <a:gd name="T34" fmla="*/ 0 w 52"/>
                <a:gd name="T35" fmla="*/ 28 h 52"/>
                <a:gd name="T36" fmla="*/ 4 w 52"/>
                <a:gd name="T37" fmla="*/ 29 h 52"/>
                <a:gd name="T38" fmla="*/ 2 w 52"/>
                <a:gd name="T39" fmla="*/ 35 h 52"/>
                <a:gd name="T40" fmla="*/ 4 w 52"/>
                <a:gd name="T41" fmla="*/ 41 h 52"/>
                <a:gd name="T42" fmla="*/ 9 w 52"/>
                <a:gd name="T43" fmla="*/ 40 h 52"/>
                <a:gd name="T44" fmla="*/ 10 w 52"/>
                <a:gd name="T45" fmla="*/ 46 h 52"/>
                <a:gd name="T46" fmla="*/ 15 w 52"/>
                <a:gd name="T47" fmla="*/ 50 h 52"/>
                <a:gd name="T48" fmla="*/ 18 w 52"/>
                <a:gd name="T49" fmla="*/ 47 h 52"/>
                <a:gd name="T50" fmla="*/ 22 w 52"/>
                <a:gd name="T51" fmla="*/ 51 h 52"/>
                <a:gd name="T52" fmla="*/ 28 w 52"/>
                <a:gd name="T53" fmla="*/ 52 h 52"/>
                <a:gd name="T54" fmla="*/ 29 w 52"/>
                <a:gd name="T55" fmla="*/ 48 h 52"/>
                <a:gd name="T56" fmla="*/ 35 w 52"/>
                <a:gd name="T57" fmla="*/ 50 h 52"/>
                <a:gd name="T58" fmla="*/ 41 w 52"/>
                <a:gd name="T59" fmla="*/ 48 h 52"/>
                <a:gd name="T60" fmla="*/ 40 w 52"/>
                <a:gd name="T61" fmla="*/ 43 h 52"/>
                <a:gd name="T62" fmla="*/ 46 w 52"/>
                <a:gd name="T63" fmla="*/ 42 h 52"/>
                <a:gd name="T64" fmla="*/ 50 w 52"/>
                <a:gd name="T65" fmla="*/ 37 h 52"/>
                <a:gd name="T66" fmla="*/ 47 w 52"/>
                <a:gd name="T67" fmla="*/ 34 h 52"/>
                <a:gd name="T68" fmla="*/ 51 w 52"/>
                <a:gd name="T69" fmla="*/ 30 h 52"/>
                <a:gd name="T70" fmla="*/ 52 w 52"/>
                <a:gd name="T71" fmla="*/ 24 h 52"/>
                <a:gd name="T72" fmla="*/ 26 w 52"/>
                <a:gd name="T73" fmla="*/ 40 h 52"/>
                <a:gd name="T74" fmla="*/ 26 w 52"/>
                <a:gd name="T75" fmla="*/ 12 h 52"/>
                <a:gd name="T76" fmla="*/ 26 w 52"/>
                <a:gd name="T77" fmla="*/ 4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2" h="52">
                  <a:moveTo>
                    <a:pt x="51" y="23"/>
                  </a:moveTo>
                  <a:cubicBezTo>
                    <a:pt x="48" y="23"/>
                    <a:pt x="48" y="23"/>
                    <a:pt x="48" y="23"/>
                  </a:cubicBezTo>
                  <a:cubicBezTo>
                    <a:pt x="48" y="21"/>
                    <a:pt x="48" y="20"/>
                    <a:pt x="47" y="18"/>
                  </a:cubicBezTo>
                  <a:cubicBezTo>
                    <a:pt x="50" y="17"/>
                    <a:pt x="50" y="17"/>
                    <a:pt x="50" y="17"/>
                  </a:cubicBezTo>
                  <a:cubicBezTo>
                    <a:pt x="50" y="16"/>
                    <a:pt x="51" y="16"/>
                    <a:pt x="50" y="15"/>
                  </a:cubicBezTo>
                  <a:cubicBezTo>
                    <a:pt x="48" y="11"/>
                    <a:pt x="48" y="11"/>
                    <a:pt x="48" y="11"/>
                  </a:cubicBezTo>
                  <a:cubicBezTo>
                    <a:pt x="48" y="10"/>
                    <a:pt x="47" y="10"/>
                    <a:pt x="46" y="11"/>
                  </a:cubicBezTo>
                  <a:cubicBezTo>
                    <a:pt x="44" y="12"/>
                    <a:pt x="44" y="12"/>
                    <a:pt x="44" y="12"/>
                  </a:cubicBezTo>
                  <a:cubicBezTo>
                    <a:pt x="43" y="11"/>
                    <a:pt x="42" y="10"/>
                    <a:pt x="40" y="9"/>
                  </a:cubicBezTo>
                  <a:cubicBezTo>
                    <a:pt x="42" y="6"/>
                    <a:pt x="42" y="6"/>
                    <a:pt x="42" y="6"/>
                  </a:cubicBezTo>
                  <a:cubicBezTo>
                    <a:pt x="42" y="6"/>
                    <a:pt x="42" y="5"/>
                    <a:pt x="42" y="4"/>
                  </a:cubicBezTo>
                  <a:cubicBezTo>
                    <a:pt x="38" y="2"/>
                    <a:pt x="38" y="2"/>
                    <a:pt x="38" y="2"/>
                  </a:cubicBezTo>
                  <a:cubicBezTo>
                    <a:pt x="37" y="2"/>
                    <a:pt x="36" y="2"/>
                    <a:pt x="36" y="3"/>
                  </a:cubicBezTo>
                  <a:cubicBezTo>
                    <a:pt x="34" y="5"/>
                    <a:pt x="34" y="5"/>
                    <a:pt x="34" y="5"/>
                  </a:cubicBezTo>
                  <a:cubicBezTo>
                    <a:pt x="33" y="5"/>
                    <a:pt x="32" y="4"/>
                    <a:pt x="30" y="4"/>
                  </a:cubicBezTo>
                  <a:cubicBezTo>
                    <a:pt x="30" y="1"/>
                    <a:pt x="30" y="1"/>
                    <a:pt x="30" y="1"/>
                  </a:cubicBezTo>
                  <a:cubicBezTo>
                    <a:pt x="30" y="0"/>
                    <a:pt x="29" y="0"/>
                    <a:pt x="29" y="0"/>
                  </a:cubicBezTo>
                  <a:cubicBezTo>
                    <a:pt x="24" y="0"/>
                    <a:pt x="24" y="0"/>
                    <a:pt x="24" y="0"/>
                  </a:cubicBezTo>
                  <a:cubicBezTo>
                    <a:pt x="24" y="0"/>
                    <a:pt x="23" y="0"/>
                    <a:pt x="23" y="1"/>
                  </a:cubicBezTo>
                  <a:cubicBezTo>
                    <a:pt x="23" y="4"/>
                    <a:pt x="23" y="4"/>
                    <a:pt x="23" y="4"/>
                  </a:cubicBezTo>
                  <a:cubicBezTo>
                    <a:pt x="21" y="4"/>
                    <a:pt x="20" y="5"/>
                    <a:pt x="19" y="5"/>
                  </a:cubicBezTo>
                  <a:cubicBezTo>
                    <a:pt x="17" y="2"/>
                    <a:pt x="17" y="2"/>
                    <a:pt x="17" y="2"/>
                  </a:cubicBezTo>
                  <a:cubicBezTo>
                    <a:pt x="17" y="2"/>
                    <a:pt x="16" y="1"/>
                    <a:pt x="15" y="2"/>
                  </a:cubicBezTo>
                  <a:cubicBezTo>
                    <a:pt x="11" y="4"/>
                    <a:pt x="11" y="4"/>
                    <a:pt x="11" y="4"/>
                  </a:cubicBezTo>
                  <a:cubicBezTo>
                    <a:pt x="11" y="4"/>
                    <a:pt x="11" y="5"/>
                    <a:pt x="11" y="6"/>
                  </a:cubicBezTo>
                  <a:cubicBezTo>
                    <a:pt x="12" y="8"/>
                    <a:pt x="12" y="8"/>
                    <a:pt x="12" y="8"/>
                  </a:cubicBezTo>
                  <a:cubicBezTo>
                    <a:pt x="11" y="9"/>
                    <a:pt x="10" y="10"/>
                    <a:pt x="9" y="12"/>
                  </a:cubicBezTo>
                  <a:cubicBezTo>
                    <a:pt x="6" y="10"/>
                    <a:pt x="6" y="10"/>
                    <a:pt x="6" y="10"/>
                  </a:cubicBezTo>
                  <a:cubicBezTo>
                    <a:pt x="6" y="10"/>
                    <a:pt x="5" y="10"/>
                    <a:pt x="5" y="10"/>
                  </a:cubicBezTo>
                  <a:cubicBezTo>
                    <a:pt x="2" y="14"/>
                    <a:pt x="2" y="14"/>
                    <a:pt x="2" y="14"/>
                  </a:cubicBezTo>
                  <a:cubicBezTo>
                    <a:pt x="2" y="15"/>
                    <a:pt x="2" y="16"/>
                    <a:pt x="3" y="16"/>
                  </a:cubicBezTo>
                  <a:cubicBezTo>
                    <a:pt x="6" y="18"/>
                    <a:pt x="6" y="18"/>
                    <a:pt x="6" y="18"/>
                  </a:cubicBezTo>
                  <a:cubicBezTo>
                    <a:pt x="5" y="19"/>
                    <a:pt x="5" y="21"/>
                    <a:pt x="4" y="22"/>
                  </a:cubicBezTo>
                  <a:cubicBezTo>
                    <a:pt x="1" y="22"/>
                    <a:pt x="1" y="22"/>
                    <a:pt x="1" y="22"/>
                  </a:cubicBezTo>
                  <a:cubicBezTo>
                    <a:pt x="0" y="22"/>
                    <a:pt x="0" y="23"/>
                    <a:pt x="0" y="23"/>
                  </a:cubicBezTo>
                  <a:cubicBezTo>
                    <a:pt x="0" y="28"/>
                    <a:pt x="0" y="28"/>
                    <a:pt x="0" y="28"/>
                  </a:cubicBezTo>
                  <a:cubicBezTo>
                    <a:pt x="0" y="29"/>
                    <a:pt x="0" y="29"/>
                    <a:pt x="1" y="29"/>
                  </a:cubicBezTo>
                  <a:cubicBezTo>
                    <a:pt x="4" y="29"/>
                    <a:pt x="4" y="29"/>
                    <a:pt x="4" y="29"/>
                  </a:cubicBezTo>
                  <a:cubicBezTo>
                    <a:pt x="4" y="31"/>
                    <a:pt x="5" y="32"/>
                    <a:pt x="5" y="34"/>
                  </a:cubicBezTo>
                  <a:cubicBezTo>
                    <a:pt x="2" y="35"/>
                    <a:pt x="2" y="35"/>
                    <a:pt x="2" y="35"/>
                  </a:cubicBezTo>
                  <a:cubicBezTo>
                    <a:pt x="2" y="36"/>
                    <a:pt x="2" y="36"/>
                    <a:pt x="2" y="37"/>
                  </a:cubicBezTo>
                  <a:cubicBezTo>
                    <a:pt x="4" y="41"/>
                    <a:pt x="4" y="41"/>
                    <a:pt x="4" y="41"/>
                  </a:cubicBezTo>
                  <a:cubicBezTo>
                    <a:pt x="5" y="41"/>
                    <a:pt x="5" y="42"/>
                    <a:pt x="6" y="41"/>
                  </a:cubicBezTo>
                  <a:cubicBezTo>
                    <a:pt x="9" y="40"/>
                    <a:pt x="9" y="40"/>
                    <a:pt x="9" y="40"/>
                  </a:cubicBezTo>
                  <a:cubicBezTo>
                    <a:pt x="10" y="41"/>
                    <a:pt x="11" y="42"/>
                    <a:pt x="12" y="43"/>
                  </a:cubicBezTo>
                  <a:cubicBezTo>
                    <a:pt x="10" y="46"/>
                    <a:pt x="10" y="46"/>
                    <a:pt x="10" y="46"/>
                  </a:cubicBezTo>
                  <a:cubicBezTo>
                    <a:pt x="10" y="46"/>
                    <a:pt x="10" y="47"/>
                    <a:pt x="11" y="47"/>
                  </a:cubicBezTo>
                  <a:cubicBezTo>
                    <a:pt x="15" y="50"/>
                    <a:pt x="15" y="50"/>
                    <a:pt x="15" y="50"/>
                  </a:cubicBezTo>
                  <a:cubicBezTo>
                    <a:pt x="15" y="50"/>
                    <a:pt x="16" y="50"/>
                    <a:pt x="16" y="49"/>
                  </a:cubicBezTo>
                  <a:cubicBezTo>
                    <a:pt x="18" y="47"/>
                    <a:pt x="18" y="47"/>
                    <a:pt x="18" y="47"/>
                  </a:cubicBezTo>
                  <a:cubicBezTo>
                    <a:pt x="19" y="47"/>
                    <a:pt x="21" y="48"/>
                    <a:pt x="22" y="48"/>
                  </a:cubicBezTo>
                  <a:cubicBezTo>
                    <a:pt x="22" y="51"/>
                    <a:pt x="22" y="51"/>
                    <a:pt x="22" y="51"/>
                  </a:cubicBezTo>
                  <a:cubicBezTo>
                    <a:pt x="22" y="52"/>
                    <a:pt x="23" y="52"/>
                    <a:pt x="24" y="52"/>
                  </a:cubicBezTo>
                  <a:cubicBezTo>
                    <a:pt x="28" y="52"/>
                    <a:pt x="28" y="52"/>
                    <a:pt x="28" y="52"/>
                  </a:cubicBezTo>
                  <a:cubicBezTo>
                    <a:pt x="29" y="52"/>
                    <a:pt x="29" y="52"/>
                    <a:pt x="29" y="51"/>
                  </a:cubicBezTo>
                  <a:cubicBezTo>
                    <a:pt x="29" y="48"/>
                    <a:pt x="29" y="48"/>
                    <a:pt x="29" y="48"/>
                  </a:cubicBezTo>
                  <a:cubicBezTo>
                    <a:pt x="31" y="48"/>
                    <a:pt x="32" y="47"/>
                    <a:pt x="34" y="47"/>
                  </a:cubicBezTo>
                  <a:cubicBezTo>
                    <a:pt x="35" y="50"/>
                    <a:pt x="35" y="50"/>
                    <a:pt x="35" y="50"/>
                  </a:cubicBezTo>
                  <a:cubicBezTo>
                    <a:pt x="36" y="50"/>
                    <a:pt x="36" y="50"/>
                    <a:pt x="37" y="50"/>
                  </a:cubicBezTo>
                  <a:cubicBezTo>
                    <a:pt x="41" y="48"/>
                    <a:pt x="41" y="48"/>
                    <a:pt x="41" y="48"/>
                  </a:cubicBezTo>
                  <a:cubicBezTo>
                    <a:pt x="42" y="47"/>
                    <a:pt x="42" y="47"/>
                    <a:pt x="41" y="46"/>
                  </a:cubicBezTo>
                  <a:cubicBezTo>
                    <a:pt x="40" y="43"/>
                    <a:pt x="40" y="43"/>
                    <a:pt x="40" y="43"/>
                  </a:cubicBezTo>
                  <a:cubicBezTo>
                    <a:pt x="41" y="42"/>
                    <a:pt x="42" y="41"/>
                    <a:pt x="43" y="40"/>
                  </a:cubicBezTo>
                  <a:cubicBezTo>
                    <a:pt x="46" y="42"/>
                    <a:pt x="46" y="42"/>
                    <a:pt x="46" y="42"/>
                  </a:cubicBezTo>
                  <a:cubicBezTo>
                    <a:pt x="47" y="42"/>
                    <a:pt x="47" y="42"/>
                    <a:pt x="48" y="41"/>
                  </a:cubicBezTo>
                  <a:cubicBezTo>
                    <a:pt x="50" y="37"/>
                    <a:pt x="50" y="37"/>
                    <a:pt x="50" y="37"/>
                  </a:cubicBezTo>
                  <a:cubicBezTo>
                    <a:pt x="50" y="37"/>
                    <a:pt x="50" y="36"/>
                    <a:pt x="50" y="36"/>
                  </a:cubicBezTo>
                  <a:cubicBezTo>
                    <a:pt x="47" y="34"/>
                    <a:pt x="47" y="34"/>
                    <a:pt x="47" y="34"/>
                  </a:cubicBezTo>
                  <a:cubicBezTo>
                    <a:pt x="47" y="33"/>
                    <a:pt x="48" y="31"/>
                    <a:pt x="48" y="30"/>
                  </a:cubicBezTo>
                  <a:cubicBezTo>
                    <a:pt x="51" y="30"/>
                    <a:pt x="51" y="30"/>
                    <a:pt x="51" y="30"/>
                  </a:cubicBezTo>
                  <a:cubicBezTo>
                    <a:pt x="52" y="30"/>
                    <a:pt x="52" y="29"/>
                    <a:pt x="52" y="29"/>
                  </a:cubicBezTo>
                  <a:cubicBezTo>
                    <a:pt x="52" y="24"/>
                    <a:pt x="52" y="24"/>
                    <a:pt x="52" y="24"/>
                  </a:cubicBezTo>
                  <a:cubicBezTo>
                    <a:pt x="52" y="23"/>
                    <a:pt x="52" y="23"/>
                    <a:pt x="51" y="23"/>
                  </a:cubicBezTo>
                  <a:close/>
                  <a:moveTo>
                    <a:pt x="26" y="40"/>
                  </a:moveTo>
                  <a:cubicBezTo>
                    <a:pt x="18" y="40"/>
                    <a:pt x="12" y="34"/>
                    <a:pt x="12" y="26"/>
                  </a:cubicBezTo>
                  <a:cubicBezTo>
                    <a:pt x="12" y="18"/>
                    <a:pt x="18" y="12"/>
                    <a:pt x="26" y="12"/>
                  </a:cubicBezTo>
                  <a:cubicBezTo>
                    <a:pt x="34" y="12"/>
                    <a:pt x="40" y="18"/>
                    <a:pt x="40" y="26"/>
                  </a:cubicBezTo>
                  <a:cubicBezTo>
                    <a:pt x="40" y="34"/>
                    <a:pt x="34" y="40"/>
                    <a:pt x="26"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grpSp>
      <p:sp>
        <p:nvSpPr>
          <p:cNvPr id="46" name="Freeform 142"/>
          <p:cNvSpPr/>
          <p:nvPr/>
        </p:nvSpPr>
        <p:spPr bwMode="auto">
          <a:xfrm>
            <a:off x="4834110" y="2893318"/>
            <a:ext cx="292261" cy="238612"/>
          </a:xfrm>
          <a:custGeom>
            <a:avLst/>
            <a:gdLst>
              <a:gd name="T0" fmla="*/ 135 w 135"/>
              <a:gd name="T1" fmla="*/ 49 h 110"/>
              <a:gd name="T2" fmla="*/ 68 w 135"/>
              <a:gd name="T3" fmla="*/ 0 h 110"/>
              <a:gd name="T4" fmla="*/ 0 w 135"/>
              <a:gd name="T5" fmla="*/ 49 h 110"/>
              <a:gd name="T6" fmla="*/ 68 w 135"/>
              <a:gd name="T7" fmla="*/ 99 h 110"/>
              <a:gd name="T8" fmla="*/ 93 w 135"/>
              <a:gd name="T9" fmla="*/ 96 h 110"/>
              <a:gd name="T10" fmla="*/ 121 w 135"/>
              <a:gd name="T11" fmla="*/ 110 h 110"/>
              <a:gd name="T12" fmla="*/ 113 w 135"/>
              <a:gd name="T13" fmla="*/ 86 h 110"/>
              <a:gd name="T14" fmla="*/ 135 w 135"/>
              <a:gd name="T15" fmla="*/ 49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10">
                <a:moveTo>
                  <a:pt x="135" y="49"/>
                </a:moveTo>
                <a:cubicBezTo>
                  <a:pt x="135" y="22"/>
                  <a:pt x="105" y="0"/>
                  <a:pt x="68" y="0"/>
                </a:cubicBezTo>
                <a:cubicBezTo>
                  <a:pt x="30" y="0"/>
                  <a:pt x="0" y="22"/>
                  <a:pt x="0" y="49"/>
                </a:cubicBezTo>
                <a:cubicBezTo>
                  <a:pt x="0" y="77"/>
                  <a:pt x="30" y="99"/>
                  <a:pt x="68" y="99"/>
                </a:cubicBezTo>
                <a:cubicBezTo>
                  <a:pt x="76" y="99"/>
                  <a:pt x="85" y="98"/>
                  <a:pt x="93" y="96"/>
                </a:cubicBezTo>
                <a:cubicBezTo>
                  <a:pt x="95" y="95"/>
                  <a:pt x="121" y="110"/>
                  <a:pt x="121" y="110"/>
                </a:cubicBezTo>
                <a:cubicBezTo>
                  <a:pt x="113" y="86"/>
                  <a:pt x="113" y="86"/>
                  <a:pt x="113" y="86"/>
                </a:cubicBezTo>
                <a:cubicBezTo>
                  <a:pt x="126" y="77"/>
                  <a:pt x="135" y="64"/>
                  <a:pt x="135" y="4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48" name="Freeform 149"/>
          <p:cNvSpPr/>
          <p:nvPr/>
        </p:nvSpPr>
        <p:spPr bwMode="auto">
          <a:xfrm>
            <a:off x="3758009" y="3941672"/>
            <a:ext cx="307172" cy="301247"/>
          </a:xfrm>
          <a:custGeom>
            <a:avLst/>
            <a:gdLst>
              <a:gd name="T0" fmla="*/ 133 w 142"/>
              <a:gd name="T1" fmla="*/ 95 h 139"/>
              <a:gd name="T2" fmla="*/ 106 w 142"/>
              <a:gd name="T3" fmla="*/ 89 h 139"/>
              <a:gd name="T4" fmla="*/ 83 w 142"/>
              <a:gd name="T5" fmla="*/ 67 h 139"/>
              <a:gd name="T6" fmla="*/ 111 w 142"/>
              <a:gd name="T7" fmla="*/ 39 h 139"/>
              <a:gd name="T8" fmla="*/ 119 w 142"/>
              <a:gd name="T9" fmla="*/ 38 h 139"/>
              <a:gd name="T10" fmla="*/ 133 w 142"/>
              <a:gd name="T11" fmla="*/ 16 h 139"/>
              <a:gd name="T12" fmla="*/ 125 w 142"/>
              <a:gd name="T13" fmla="*/ 9 h 139"/>
              <a:gd name="T14" fmla="*/ 104 w 142"/>
              <a:gd name="T15" fmla="*/ 23 h 139"/>
              <a:gd name="T16" fmla="*/ 103 w 142"/>
              <a:gd name="T17" fmla="*/ 30 h 139"/>
              <a:gd name="T18" fmla="*/ 75 w 142"/>
              <a:gd name="T19" fmla="*/ 58 h 139"/>
              <a:gd name="T20" fmla="*/ 51 w 142"/>
              <a:gd name="T21" fmla="*/ 34 h 139"/>
              <a:gd name="T22" fmla="*/ 45 w 142"/>
              <a:gd name="T23" fmla="*/ 7 h 139"/>
              <a:gd name="T24" fmla="*/ 29 w 142"/>
              <a:gd name="T25" fmla="*/ 0 h 139"/>
              <a:gd name="T26" fmla="*/ 39 w 142"/>
              <a:gd name="T27" fmla="*/ 10 h 139"/>
              <a:gd name="T28" fmla="*/ 35 w 142"/>
              <a:gd name="T29" fmla="*/ 27 h 139"/>
              <a:gd name="T30" fmla="*/ 18 w 142"/>
              <a:gd name="T31" fmla="*/ 32 h 139"/>
              <a:gd name="T32" fmla="*/ 3 w 142"/>
              <a:gd name="T33" fmla="*/ 17 h 139"/>
              <a:gd name="T34" fmla="*/ 9 w 142"/>
              <a:gd name="T35" fmla="*/ 43 h 139"/>
              <a:gd name="T36" fmla="*/ 37 w 142"/>
              <a:gd name="T37" fmla="*/ 48 h 139"/>
              <a:gd name="T38" fmla="*/ 58 w 142"/>
              <a:gd name="T39" fmla="*/ 70 h 139"/>
              <a:gd name="T40" fmla="*/ 12 w 142"/>
              <a:gd name="T41" fmla="*/ 115 h 139"/>
              <a:gd name="T42" fmla="*/ 12 w 142"/>
              <a:gd name="T43" fmla="*/ 129 h 139"/>
              <a:gd name="T44" fmla="*/ 13 w 142"/>
              <a:gd name="T45" fmla="*/ 130 h 139"/>
              <a:gd name="T46" fmla="*/ 26 w 142"/>
              <a:gd name="T47" fmla="*/ 130 h 139"/>
              <a:gd name="T48" fmla="*/ 72 w 142"/>
              <a:gd name="T49" fmla="*/ 84 h 139"/>
              <a:gd name="T50" fmla="*/ 92 w 142"/>
              <a:gd name="T51" fmla="*/ 103 h 139"/>
              <a:gd name="T52" fmla="*/ 97 w 142"/>
              <a:gd name="T53" fmla="*/ 131 h 139"/>
              <a:gd name="T54" fmla="*/ 119 w 142"/>
              <a:gd name="T55" fmla="*/ 138 h 139"/>
              <a:gd name="T56" fmla="*/ 105 w 142"/>
              <a:gd name="T57" fmla="*/ 124 h 139"/>
              <a:gd name="T58" fmla="*/ 109 w 142"/>
              <a:gd name="T59" fmla="*/ 110 h 139"/>
              <a:gd name="T60" fmla="*/ 123 w 142"/>
              <a:gd name="T61" fmla="*/ 106 h 139"/>
              <a:gd name="T62" fmla="*/ 139 w 142"/>
              <a:gd name="T63" fmla="*/ 122 h 139"/>
              <a:gd name="T64" fmla="*/ 133 w 142"/>
              <a:gd name="T65" fmla="*/ 9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2" h="139">
                <a:moveTo>
                  <a:pt x="133" y="95"/>
                </a:moveTo>
                <a:cubicBezTo>
                  <a:pt x="126" y="87"/>
                  <a:pt x="115" y="86"/>
                  <a:pt x="106" y="89"/>
                </a:cubicBezTo>
                <a:cubicBezTo>
                  <a:pt x="83" y="67"/>
                  <a:pt x="83" y="67"/>
                  <a:pt x="83" y="67"/>
                </a:cubicBezTo>
                <a:cubicBezTo>
                  <a:pt x="111" y="39"/>
                  <a:pt x="111" y="39"/>
                  <a:pt x="111" y="39"/>
                </a:cubicBezTo>
                <a:cubicBezTo>
                  <a:pt x="119" y="38"/>
                  <a:pt x="119" y="38"/>
                  <a:pt x="119" y="38"/>
                </a:cubicBezTo>
                <a:cubicBezTo>
                  <a:pt x="133" y="16"/>
                  <a:pt x="133" y="16"/>
                  <a:pt x="133" y="16"/>
                </a:cubicBezTo>
                <a:cubicBezTo>
                  <a:pt x="125" y="9"/>
                  <a:pt x="125" y="9"/>
                  <a:pt x="125" y="9"/>
                </a:cubicBezTo>
                <a:cubicBezTo>
                  <a:pt x="104" y="23"/>
                  <a:pt x="104" y="23"/>
                  <a:pt x="104" y="23"/>
                </a:cubicBezTo>
                <a:cubicBezTo>
                  <a:pt x="103" y="30"/>
                  <a:pt x="103" y="30"/>
                  <a:pt x="103" y="30"/>
                </a:cubicBezTo>
                <a:cubicBezTo>
                  <a:pt x="75" y="58"/>
                  <a:pt x="75" y="58"/>
                  <a:pt x="75" y="58"/>
                </a:cubicBezTo>
                <a:cubicBezTo>
                  <a:pt x="51" y="34"/>
                  <a:pt x="51" y="34"/>
                  <a:pt x="51" y="34"/>
                </a:cubicBezTo>
                <a:cubicBezTo>
                  <a:pt x="54" y="25"/>
                  <a:pt x="52" y="14"/>
                  <a:pt x="45" y="7"/>
                </a:cubicBezTo>
                <a:cubicBezTo>
                  <a:pt x="41" y="2"/>
                  <a:pt x="35" y="0"/>
                  <a:pt x="29" y="0"/>
                </a:cubicBezTo>
                <a:cubicBezTo>
                  <a:pt x="39" y="10"/>
                  <a:pt x="39" y="10"/>
                  <a:pt x="39" y="10"/>
                </a:cubicBezTo>
                <a:cubicBezTo>
                  <a:pt x="35" y="27"/>
                  <a:pt x="35" y="27"/>
                  <a:pt x="35" y="27"/>
                </a:cubicBezTo>
                <a:cubicBezTo>
                  <a:pt x="18" y="32"/>
                  <a:pt x="18" y="32"/>
                  <a:pt x="18" y="32"/>
                </a:cubicBezTo>
                <a:cubicBezTo>
                  <a:pt x="3" y="17"/>
                  <a:pt x="3" y="17"/>
                  <a:pt x="3" y="17"/>
                </a:cubicBezTo>
                <a:cubicBezTo>
                  <a:pt x="0" y="26"/>
                  <a:pt x="3" y="36"/>
                  <a:pt x="9" y="43"/>
                </a:cubicBezTo>
                <a:cubicBezTo>
                  <a:pt x="17" y="50"/>
                  <a:pt x="28" y="52"/>
                  <a:pt x="37" y="48"/>
                </a:cubicBezTo>
                <a:cubicBezTo>
                  <a:pt x="58" y="70"/>
                  <a:pt x="58" y="70"/>
                  <a:pt x="58" y="70"/>
                </a:cubicBezTo>
                <a:cubicBezTo>
                  <a:pt x="12" y="115"/>
                  <a:pt x="12" y="115"/>
                  <a:pt x="12" y="115"/>
                </a:cubicBezTo>
                <a:cubicBezTo>
                  <a:pt x="9" y="119"/>
                  <a:pt x="9" y="125"/>
                  <a:pt x="12" y="129"/>
                </a:cubicBezTo>
                <a:cubicBezTo>
                  <a:pt x="13" y="130"/>
                  <a:pt x="13" y="130"/>
                  <a:pt x="13" y="130"/>
                </a:cubicBezTo>
                <a:cubicBezTo>
                  <a:pt x="17" y="133"/>
                  <a:pt x="23" y="133"/>
                  <a:pt x="26" y="130"/>
                </a:cubicBezTo>
                <a:cubicBezTo>
                  <a:pt x="72" y="84"/>
                  <a:pt x="72" y="84"/>
                  <a:pt x="72" y="84"/>
                </a:cubicBezTo>
                <a:cubicBezTo>
                  <a:pt x="92" y="103"/>
                  <a:pt x="92" y="103"/>
                  <a:pt x="92" y="103"/>
                </a:cubicBezTo>
                <a:cubicBezTo>
                  <a:pt x="88" y="112"/>
                  <a:pt x="90" y="123"/>
                  <a:pt x="97" y="131"/>
                </a:cubicBezTo>
                <a:cubicBezTo>
                  <a:pt x="103" y="136"/>
                  <a:pt x="111" y="139"/>
                  <a:pt x="119" y="138"/>
                </a:cubicBezTo>
                <a:cubicBezTo>
                  <a:pt x="105" y="124"/>
                  <a:pt x="105" y="124"/>
                  <a:pt x="105" y="124"/>
                </a:cubicBezTo>
                <a:cubicBezTo>
                  <a:pt x="109" y="110"/>
                  <a:pt x="109" y="110"/>
                  <a:pt x="109" y="110"/>
                </a:cubicBezTo>
                <a:cubicBezTo>
                  <a:pt x="123" y="106"/>
                  <a:pt x="123" y="106"/>
                  <a:pt x="123" y="106"/>
                </a:cubicBezTo>
                <a:cubicBezTo>
                  <a:pt x="139" y="122"/>
                  <a:pt x="139" y="122"/>
                  <a:pt x="139" y="122"/>
                </a:cubicBezTo>
                <a:cubicBezTo>
                  <a:pt x="142" y="113"/>
                  <a:pt x="140" y="102"/>
                  <a:pt x="133" y="9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52" name="组合 51"/>
          <p:cNvGrpSpPr/>
          <p:nvPr/>
        </p:nvGrpSpPr>
        <p:grpSpPr>
          <a:xfrm>
            <a:off x="5887310" y="3975512"/>
            <a:ext cx="311646" cy="193872"/>
            <a:chOff x="8292784" y="1202455"/>
            <a:chExt cx="311687" cy="193872"/>
          </a:xfrm>
        </p:grpSpPr>
        <p:sp>
          <p:nvSpPr>
            <p:cNvPr id="53" name="Freeform 151"/>
            <p:cNvSpPr/>
            <p:nvPr/>
          </p:nvSpPr>
          <p:spPr bwMode="auto">
            <a:xfrm>
              <a:off x="8297258" y="1202455"/>
              <a:ext cx="299756" cy="123780"/>
            </a:xfrm>
            <a:custGeom>
              <a:avLst/>
              <a:gdLst>
                <a:gd name="T0" fmla="*/ 135 w 139"/>
                <a:gd name="T1" fmla="*/ 0 h 57"/>
                <a:gd name="T2" fmla="*/ 4 w 139"/>
                <a:gd name="T3" fmla="*/ 0 h 57"/>
                <a:gd name="T4" fmla="*/ 0 w 139"/>
                <a:gd name="T5" fmla="*/ 1 h 57"/>
                <a:gd name="T6" fmla="*/ 65 w 139"/>
                <a:gd name="T7" fmla="*/ 55 h 57"/>
                <a:gd name="T8" fmla="*/ 74 w 139"/>
                <a:gd name="T9" fmla="*/ 55 h 57"/>
                <a:gd name="T10" fmla="*/ 139 w 139"/>
                <a:gd name="T11" fmla="*/ 1 h 57"/>
                <a:gd name="T12" fmla="*/ 135 w 13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139" h="57">
                  <a:moveTo>
                    <a:pt x="135" y="0"/>
                  </a:moveTo>
                  <a:cubicBezTo>
                    <a:pt x="4" y="0"/>
                    <a:pt x="4" y="0"/>
                    <a:pt x="4" y="0"/>
                  </a:cubicBezTo>
                  <a:cubicBezTo>
                    <a:pt x="3" y="0"/>
                    <a:pt x="1" y="0"/>
                    <a:pt x="0" y="1"/>
                  </a:cubicBezTo>
                  <a:cubicBezTo>
                    <a:pt x="65" y="55"/>
                    <a:pt x="65" y="55"/>
                    <a:pt x="65" y="55"/>
                  </a:cubicBezTo>
                  <a:cubicBezTo>
                    <a:pt x="68" y="57"/>
                    <a:pt x="72" y="57"/>
                    <a:pt x="74" y="55"/>
                  </a:cubicBezTo>
                  <a:cubicBezTo>
                    <a:pt x="139" y="1"/>
                    <a:pt x="139" y="1"/>
                    <a:pt x="139" y="1"/>
                  </a:cubicBezTo>
                  <a:cubicBezTo>
                    <a:pt x="138" y="0"/>
                    <a:pt x="137" y="0"/>
                    <a:pt x="135" y="0"/>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54" name="Freeform 152"/>
            <p:cNvSpPr>
              <a:spLocks noEditPoints="1"/>
            </p:cNvSpPr>
            <p:nvPr/>
          </p:nvSpPr>
          <p:spPr bwMode="auto">
            <a:xfrm>
              <a:off x="8292784" y="1221842"/>
              <a:ext cx="311687" cy="174485"/>
            </a:xfrm>
            <a:custGeom>
              <a:avLst/>
              <a:gdLst>
                <a:gd name="T0" fmla="*/ 77 w 144"/>
                <a:gd name="T1" fmla="*/ 55 h 81"/>
                <a:gd name="T2" fmla="*/ 67 w 144"/>
                <a:gd name="T3" fmla="*/ 55 h 81"/>
                <a:gd name="T4" fmla="*/ 0 w 144"/>
                <a:gd name="T5" fmla="*/ 0 h 81"/>
                <a:gd name="T6" fmla="*/ 0 w 144"/>
                <a:gd name="T7" fmla="*/ 74 h 81"/>
                <a:gd name="T8" fmla="*/ 6 w 144"/>
                <a:gd name="T9" fmla="*/ 81 h 81"/>
                <a:gd name="T10" fmla="*/ 137 w 144"/>
                <a:gd name="T11" fmla="*/ 81 h 81"/>
                <a:gd name="T12" fmla="*/ 144 w 144"/>
                <a:gd name="T13" fmla="*/ 74 h 81"/>
                <a:gd name="T14" fmla="*/ 144 w 144"/>
                <a:gd name="T15" fmla="*/ 0 h 81"/>
                <a:gd name="T16" fmla="*/ 77 w 144"/>
                <a:gd name="T17" fmla="*/ 55 h 81"/>
                <a:gd name="T18" fmla="*/ 41 w 144"/>
                <a:gd name="T19" fmla="*/ 45 h 81"/>
                <a:gd name="T20" fmla="*/ 10 w 144"/>
                <a:gd name="T21" fmla="*/ 75 h 81"/>
                <a:gd name="T22" fmla="*/ 8 w 144"/>
                <a:gd name="T23" fmla="*/ 76 h 81"/>
                <a:gd name="T24" fmla="*/ 6 w 144"/>
                <a:gd name="T25" fmla="*/ 75 h 81"/>
                <a:gd name="T26" fmla="*/ 6 w 144"/>
                <a:gd name="T27" fmla="*/ 71 h 81"/>
                <a:gd name="T28" fmla="*/ 37 w 144"/>
                <a:gd name="T29" fmla="*/ 41 h 81"/>
                <a:gd name="T30" fmla="*/ 41 w 144"/>
                <a:gd name="T31" fmla="*/ 41 h 81"/>
                <a:gd name="T32" fmla="*/ 41 w 144"/>
                <a:gd name="T33" fmla="*/ 45 h 81"/>
                <a:gd name="T34" fmla="*/ 138 w 144"/>
                <a:gd name="T35" fmla="*/ 75 h 81"/>
                <a:gd name="T36" fmla="*/ 136 w 144"/>
                <a:gd name="T37" fmla="*/ 76 h 81"/>
                <a:gd name="T38" fmla="*/ 134 w 144"/>
                <a:gd name="T39" fmla="*/ 75 h 81"/>
                <a:gd name="T40" fmla="*/ 102 w 144"/>
                <a:gd name="T41" fmla="*/ 45 h 81"/>
                <a:gd name="T42" fmla="*/ 102 w 144"/>
                <a:gd name="T43" fmla="*/ 41 h 81"/>
                <a:gd name="T44" fmla="*/ 106 w 144"/>
                <a:gd name="T45" fmla="*/ 41 h 81"/>
                <a:gd name="T46" fmla="*/ 138 w 144"/>
                <a:gd name="T47" fmla="*/ 71 h 81"/>
                <a:gd name="T48" fmla="*/ 138 w 144"/>
                <a:gd name="T49" fmla="*/ 7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4" h="81">
                  <a:moveTo>
                    <a:pt x="77" y="55"/>
                  </a:moveTo>
                  <a:cubicBezTo>
                    <a:pt x="74" y="57"/>
                    <a:pt x="69" y="57"/>
                    <a:pt x="67" y="55"/>
                  </a:cubicBezTo>
                  <a:cubicBezTo>
                    <a:pt x="0" y="0"/>
                    <a:pt x="0" y="0"/>
                    <a:pt x="0" y="0"/>
                  </a:cubicBezTo>
                  <a:cubicBezTo>
                    <a:pt x="0" y="74"/>
                    <a:pt x="0" y="74"/>
                    <a:pt x="0" y="74"/>
                  </a:cubicBezTo>
                  <a:cubicBezTo>
                    <a:pt x="0" y="78"/>
                    <a:pt x="3" y="81"/>
                    <a:pt x="6" y="81"/>
                  </a:cubicBezTo>
                  <a:cubicBezTo>
                    <a:pt x="137" y="81"/>
                    <a:pt x="137" y="81"/>
                    <a:pt x="137" y="81"/>
                  </a:cubicBezTo>
                  <a:cubicBezTo>
                    <a:pt x="141" y="81"/>
                    <a:pt x="144" y="78"/>
                    <a:pt x="144" y="74"/>
                  </a:cubicBezTo>
                  <a:cubicBezTo>
                    <a:pt x="144" y="0"/>
                    <a:pt x="144" y="0"/>
                    <a:pt x="144" y="0"/>
                  </a:cubicBezTo>
                  <a:lnTo>
                    <a:pt x="77" y="55"/>
                  </a:lnTo>
                  <a:close/>
                  <a:moveTo>
                    <a:pt x="41" y="45"/>
                  </a:moveTo>
                  <a:cubicBezTo>
                    <a:pt x="10" y="75"/>
                    <a:pt x="10" y="75"/>
                    <a:pt x="10" y="75"/>
                  </a:cubicBezTo>
                  <a:cubicBezTo>
                    <a:pt x="9" y="75"/>
                    <a:pt x="8" y="76"/>
                    <a:pt x="8" y="76"/>
                  </a:cubicBezTo>
                  <a:cubicBezTo>
                    <a:pt x="7" y="76"/>
                    <a:pt x="6" y="75"/>
                    <a:pt x="6" y="75"/>
                  </a:cubicBezTo>
                  <a:cubicBezTo>
                    <a:pt x="5" y="74"/>
                    <a:pt x="5" y="72"/>
                    <a:pt x="6" y="71"/>
                  </a:cubicBezTo>
                  <a:cubicBezTo>
                    <a:pt x="37" y="41"/>
                    <a:pt x="37" y="41"/>
                    <a:pt x="37" y="41"/>
                  </a:cubicBezTo>
                  <a:cubicBezTo>
                    <a:pt x="38" y="40"/>
                    <a:pt x="40" y="40"/>
                    <a:pt x="41" y="41"/>
                  </a:cubicBezTo>
                  <a:cubicBezTo>
                    <a:pt x="42" y="42"/>
                    <a:pt x="42" y="44"/>
                    <a:pt x="41" y="45"/>
                  </a:cubicBezTo>
                  <a:close/>
                  <a:moveTo>
                    <a:pt x="138" y="75"/>
                  </a:moveTo>
                  <a:cubicBezTo>
                    <a:pt x="137" y="75"/>
                    <a:pt x="136" y="76"/>
                    <a:pt x="136" y="76"/>
                  </a:cubicBezTo>
                  <a:cubicBezTo>
                    <a:pt x="135" y="76"/>
                    <a:pt x="134" y="75"/>
                    <a:pt x="134" y="75"/>
                  </a:cubicBezTo>
                  <a:cubicBezTo>
                    <a:pt x="102" y="45"/>
                    <a:pt x="102" y="45"/>
                    <a:pt x="102" y="45"/>
                  </a:cubicBezTo>
                  <a:cubicBezTo>
                    <a:pt x="101" y="44"/>
                    <a:pt x="101" y="42"/>
                    <a:pt x="102" y="41"/>
                  </a:cubicBezTo>
                  <a:cubicBezTo>
                    <a:pt x="103" y="40"/>
                    <a:pt x="105" y="40"/>
                    <a:pt x="106" y="41"/>
                  </a:cubicBezTo>
                  <a:cubicBezTo>
                    <a:pt x="138" y="71"/>
                    <a:pt x="138" y="71"/>
                    <a:pt x="138" y="71"/>
                  </a:cubicBezTo>
                  <a:cubicBezTo>
                    <a:pt x="139" y="72"/>
                    <a:pt x="139" y="74"/>
                    <a:pt x="138" y="7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sp>
        <p:nvSpPr>
          <p:cNvPr id="55" name="Freeform 116"/>
          <p:cNvSpPr>
            <a:spLocks noEditPoints="1"/>
          </p:cNvSpPr>
          <p:nvPr/>
        </p:nvSpPr>
        <p:spPr bwMode="auto">
          <a:xfrm>
            <a:off x="2679698" y="4986973"/>
            <a:ext cx="329540" cy="290808"/>
          </a:xfrm>
          <a:custGeom>
            <a:avLst/>
            <a:gdLst>
              <a:gd name="T0" fmla="*/ 209 w 221"/>
              <a:gd name="T1" fmla="*/ 95 h 195"/>
              <a:gd name="T2" fmla="*/ 209 w 221"/>
              <a:gd name="T3" fmla="*/ 82 h 195"/>
              <a:gd name="T4" fmla="*/ 221 w 221"/>
              <a:gd name="T5" fmla="*/ 82 h 195"/>
              <a:gd name="T6" fmla="*/ 221 w 221"/>
              <a:gd name="T7" fmla="*/ 74 h 195"/>
              <a:gd name="T8" fmla="*/ 110 w 221"/>
              <a:gd name="T9" fmla="*/ 0 h 195"/>
              <a:gd name="T10" fmla="*/ 0 w 221"/>
              <a:gd name="T11" fmla="*/ 74 h 195"/>
              <a:gd name="T12" fmla="*/ 0 w 221"/>
              <a:gd name="T13" fmla="*/ 82 h 195"/>
              <a:gd name="T14" fmla="*/ 10 w 221"/>
              <a:gd name="T15" fmla="*/ 82 h 195"/>
              <a:gd name="T16" fmla="*/ 10 w 221"/>
              <a:gd name="T17" fmla="*/ 95 h 195"/>
              <a:gd name="T18" fmla="*/ 23 w 221"/>
              <a:gd name="T19" fmla="*/ 95 h 195"/>
              <a:gd name="T20" fmla="*/ 23 w 221"/>
              <a:gd name="T21" fmla="*/ 166 h 195"/>
              <a:gd name="T22" fmla="*/ 10 w 221"/>
              <a:gd name="T23" fmla="*/ 166 h 195"/>
              <a:gd name="T24" fmla="*/ 10 w 221"/>
              <a:gd name="T25" fmla="*/ 179 h 195"/>
              <a:gd name="T26" fmla="*/ 0 w 221"/>
              <a:gd name="T27" fmla="*/ 179 h 195"/>
              <a:gd name="T28" fmla="*/ 0 w 221"/>
              <a:gd name="T29" fmla="*/ 195 h 195"/>
              <a:gd name="T30" fmla="*/ 221 w 221"/>
              <a:gd name="T31" fmla="*/ 195 h 195"/>
              <a:gd name="T32" fmla="*/ 221 w 221"/>
              <a:gd name="T33" fmla="*/ 179 h 195"/>
              <a:gd name="T34" fmla="*/ 209 w 221"/>
              <a:gd name="T35" fmla="*/ 179 h 195"/>
              <a:gd name="T36" fmla="*/ 209 w 221"/>
              <a:gd name="T37" fmla="*/ 166 h 195"/>
              <a:gd name="T38" fmla="*/ 197 w 221"/>
              <a:gd name="T39" fmla="*/ 166 h 195"/>
              <a:gd name="T40" fmla="*/ 197 w 221"/>
              <a:gd name="T41" fmla="*/ 95 h 195"/>
              <a:gd name="T42" fmla="*/ 209 w 221"/>
              <a:gd name="T43" fmla="*/ 95 h 195"/>
              <a:gd name="T44" fmla="*/ 73 w 221"/>
              <a:gd name="T45" fmla="*/ 166 h 195"/>
              <a:gd name="T46" fmla="*/ 49 w 221"/>
              <a:gd name="T47" fmla="*/ 166 h 195"/>
              <a:gd name="T48" fmla="*/ 49 w 221"/>
              <a:gd name="T49" fmla="*/ 95 h 195"/>
              <a:gd name="T50" fmla="*/ 73 w 221"/>
              <a:gd name="T51" fmla="*/ 95 h 195"/>
              <a:gd name="T52" fmla="*/ 73 w 221"/>
              <a:gd name="T53" fmla="*/ 166 h 195"/>
              <a:gd name="T54" fmla="*/ 122 w 221"/>
              <a:gd name="T55" fmla="*/ 166 h 195"/>
              <a:gd name="T56" fmla="*/ 99 w 221"/>
              <a:gd name="T57" fmla="*/ 166 h 195"/>
              <a:gd name="T58" fmla="*/ 99 w 221"/>
              <a:gd name="T59" fmla="*/ 95 h 195"/>
              <a:gd name="T60" fmla="*/ 122 w 221"/>
              <a:gd name="T61" fmla="*/ 95 h 195"/>
              <a:gd name="T62" fmla="*/ 122 w 221"/>
              <a:gd name="T63" fmla="*/ 166 h 195"/>
              <a:gd name="T64" fmla="*/ 171 w 221"/>
              <a:gd name="T65" fmla="*/ 166 h 195"/>
              <a:gd name="T66" fmla="*/ 148 w 221"/>
              <a:gd name="T67" fmla="*/ 166 h 195"/>
              <a:gd name="T68" fmla="*/ 148 w 221"/>
              <a:gd name="T69" fmla="*/ 95 h 195"/>
              <a:gd name="T70" fmla="*/ 171 w 221"/>
              <a:gd name="T71" fmla="*/ 95 h 195"/>
              <a:gd name="T72" fmla="*/ 171 w 221"/>
              <a:gd name="T73" fmla="*/ 166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1" h="195">
                <a:moveTo>
                  <a:pt x="209" y="95"/>
                </a:moveTo>
                <a:lnTo>
                  <a:pt x="209" y="82"/>
                </a:lnTo>
                <a:lnTo>
                  <a:pt x="221" y="82"/>
                </a:lnTo>
                <a:lnTo>
                  <a:pt x="221" y="74"/>
                </a:lnTo>
                <a:lnTo>
                  <a:pt x="110" y="0"/>
                </a:lnTo>
                <a:lnTo>
                  <a:pt x="0" y="74"/>
                </a:lnTo>
                <a:lnTo>
                  <a:pt x="0" y="82"/>
                </a:lnTo>
                <a:lnTo>
                  <a:pt x="10" y="82"/>
                </a:lnTo>
                <a:lnTo>
                  <a:pt x="10" y="95"/>
                </a:lnTo>
                <a:lnTo>
                  <a:pt x="23" y="95"/>
                </a:lnTo>
                <a:lnTo>
                  <a:pt x="23" y="166"/>
                </a:lnTo>
                <a:lnTo>
                  <a:pt x="10" y="166"/>
                </a:lnTo>
                <a:lnTo>
                  <a:pt x="10" y="179"/>
                </a:lnTo>
                <a:lnTo>
                  <a:pt x="0" y="179"/>
                </a:lnTo>
                <a:lnTo>
                  <a:pt x="0" y="195"/>
                </a:lnTo>
                <a:lnTo>
                  <a:pt x="221" y="195"/>
                </a:lnTo>
                <a:lnTo>
                  <a:pt x="221" y="179"/>
                </a:lnTo>
                <a:lnTo>
                  <a:pt x="209" y="179"/>
                </a:lnTo>
                <a:lnTo>
                  <a:pt x="209" y="166"/>
                </a:lnTo>
                <a:lnTo>
                  <a:pt x="197" y="166"/>
                </a:lnTo>
                <a:lnTo>
                  <a:pt x="197" y="95"/>
                </a:lnTo>
                <a:lnTo>
                  <a:pt x="209" y="95"/>
                </a:lnTo>
                <a:close/>
                <a:moveTo>
                  <a:pt x="73" y="166"/>
                </a:moveTo>
                <a:lnTo>
                  <a:pt x="49" y="166"/>
                </a:lnTo>
                <a:lnTo>
                  <a:pt x="49" y="95"/>
                </a:lnTo>
                <a:lnTo>
                  <a:pt x="73" y="95"/>
                </a:lnTo>
                <a:lnTo>
                  <a:pt x="73" y="166"/>
                </a:lnTo>
                <a:close/>
                <a:moveTo>
                  <a:pt x="122" y="166"/>
                </a:moveTo>
                <a:lnTo>
                  <a:pt x="99" y="166"/>
                </a:lnTo>
                <a:lnTo>
                  <a:pt x="99" y="95"/>
                </a:lnTo>
                <a:lnTo>
                  <a:pt x="122" y="95"/>
                </a:lnTo>
                <a:lnTo>
                  <a:pt x="122" y="166"/>
                </a:lnTo>
                <a:close/>
                <a:moveTo>
                  <a:pt x="171" y="166"/>
                </a:moveTo>
                <a:lnTo>
                  <a:pt x="148" y="166"/>
                </a:lnTo>
                <a:lnTo>
                  <a:pt x="148" y="95"/>
                </a:lnTo>
                <a:lnTo>
                  <a:pt x="171" y="95"/>
                </a:lnTo>
                <a:lnTo>
                  <a:pt x="171" y="166"/>
                </a:ln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67" name="Freeform 150"/>
          <p:cNvSpPr>
            <a:spLocks noEditPoints="1"/>
          </p:cNvSpPr>
          <p:nvPr/>
        </p:nvSpPr>
        <p:spPr bwMode="auto">
          <a:xfrm>
            <a:off x="1640940" y="3900749"/>
            <a:ext cx="269895" cy="347479"/>
          </a:xfrm>
          <a:custGeom>
            <a:avLst/>
            <a:gdLst>
              <a:gd name="T0" fmla="*/ 62 w 125"/>
              <a:gd name="T1" fmla="*/ 0 h 160"/>
              <a:gd name="T2" fmla="*/ 0 w 125"/>
              <a:gd name="T3" fmla="*/ 63 h 160"/>
              <a:gd name="T4" fmla="*/ 62 w 125"/>
              <a:gd name="T5" fmla="*/ 160 h 160"/>
              <a:gd name="T6" fmla="*/ 125 w 125"/>
              <a:gd name="T7" fmla="*/ 63 h 160"/>
              <a:gd name="T8" fmla="*/ 62 w 125"/>
              <a:gd name="T9" fmla="*/ 0 h 160"/>
              <a:gd name="T10" fmla="*/ 62 w 125"/>
              <a:gd name="T11" fmla="*/ 105 h 160"/>
              <a:gd name="T12" fmla="*/ 17 w 125"/>
              <a:gd name="T13" fmla="*/ 61 h 160"/>
              <a:gd name="T14" fmla="*/ 62 w 125"/>
              <a:gd name="T15" fmla="*/ 18 h 160"/>
              <a:gd name="T16" fmla="*/ 107 w 125"/>
              <a:gd name="T17" fmla="*/ 61 h 160"/>
              <a:gd name="T18" fmla="*/ 62 w 125"/>
              <a:gd name="T19" fmla="*/ 105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 h="160">
                <a:moveTo>
                  <a:pt x="62" y="0"/>
                </a:moveTo>
                <a:cubicBezTo>
                  <a:pt x="28" y="0"/>
                  <a:pt x="0" y="28"/>
                  <a:pt x="0" y="63"/>
                </a:cubicBezTo>
                <a:cubicBezTo>
                  <a:pt x="0" y="97"/>
                  <a:pt x="48" y="160"/>
                  <a:pt x="62" y="160"/>
                </a:cubicBezTo>
                <a:cubicBezTo>
                  <a:pt x="79" y="160"/>
                  <a:pt x="125" y="97"/>
                  <a:pt x="125" y="63"/>
                </a:cubicBezTo>
                <a:cubicBezTo>
                  <a:pt x="125" y="28"/>
                  <a:pt x="97" y="0"/>
                  <a:pt x="62" y="0"/>
                </a:cubicBezTo>
                <a:close/>
                <a:moveTo>
                  <a:pt x="62" y="105"/>
                </a:moveTo>
                <a:cubicBezTo>
                  <a:pt x="37" y="105"/>
                  <a:pt x="17" y="86"/>
                  <a:pt x="17" y="61"/>
                </a:cubicBezTo>
                <a:cubicBezTo>
                  <a:pt x="17" y="37"/>
                  <a:pt x="37" y="18"/>
                  <a:pt x="62" y="18"/>
                </a:cubicBezTo>
                <a:cubicBezTo>
                  <a:pt x="87" y="18"/>
                  <a:pt x="107" y="37"/>
                  <a:pt x="107" y="61"/>
                </a:cubicBezTo>
                <a:cubicBezTo>
                  <a:pt x="107" y="86"/>
                  <a:pt x="87" y="105"/>
                  <a:pt x="62" y="10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68" name="组合 67"/>
          <p:cNvGrpSpPr/>
          <p:nvPr/>
        </p:nvGrpSpPr>
        <p:grpSpPr>
          <a:xfrm>
            <a:off x="7995642" y="3941672"/>
            <a:ext cx="402605" cy="331075"/>
            <a:chOff x="5108575" y="3992563"/>
            <a:chExt cx="428625" cy="352426"/>
          </a:xfrm>
          <a:solidFill>
            <a:schemeClr val="bg1"/>
          </a:solidFill>
        </p:grpSpPr>
        <p:sp>
          <p:nvSpPr>
            <p:cNvPr id="69" name="Freeform 223"/>
            <p:cNvSpPr/>
            <p:nvPr/>
          </p:nvSpPr>
          <p:spPr bwMode="auto">
            <a:xfrm>
              <a:off x="5108575" y="3998913"/>
              <a:ext cx="201613" cy="106363"/>
            </a:xfrm>
            <a:custGeom>
              <a:avLst/>
              <a:gdLst>
                <a:gd name="T0" fmla="*/ 127 w 127"/>
                <a:gd name="T1" fmla="*/ 30 h 67"/>
                <a:gd name="T2" fmla="*/ 93 w 127"/>
                <a:gd name="T3" fmla="*/ 0 h 67"/>
                <a:gd name="T4" fmla="*/ 0 w 127"/>
                <a:gd name="T5" fmla="*/ 36 h 67"/>
                <a:gd name="T6" fmla="*/ 35 w 127"/>
                <a:gd name="T7" fmla="*/ 67 h 67"/>
                <a:gd name="T8" fmla="*/ 127 w 127"/>
                <a:gd name="T9" fmla="*/ 30 h 67"/>
              </a:gdLst>
              <a:ahLst/>
              <a:cxnLst>
                <a:cxn ang="0">
                  <a:pos x="T0" y="T1"/>
                </a:cxn>
                <a:cxn ang="0">
                  <a:pos x="T2" y="T3"/>
                </a:cxn>
                <a:cxn ang="0">
                  <a:pos x="T4" y="T5"/>
                </a:cxn>
                <a:cxn ang="0">
                  <a:pos x="T6" y="T7"/>
                </a:cxn>
                <a:cxn ang="0">
                  <a:pos x="T8" y="T9"/>
                </a:cxn>
              </a:cxnLst>
              <a:rect l="0" t="0" r="r" b="b"/>
              <a:pathLst>
                <a:path w="127" h="67">
                  <a:moveTo>
                    <a:pt x="127" y="30"/>
                  </a:moveTo>
                  <a:lnTo>
                    <a:pt x="93" y="0"/>
                  </a:lnTo>
                  <a:lnTo>
                    <a:pt x="0" y="36"/>
                  </a:lnTo>
                  <a:lnTo>
                    <a:pt x="35" y="67"/>
                  </a:lnTo>
                  <a:lnTo>
                    <a:pt x="12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70" name="Freeform 224"/>
            <p:cNvSpPr/>
            <p:nvPr/>
          </p:nvSpPr>
          <p:spPr bwMode="auto">
            <a:xfrm>
              <a:off x="5324475" y="4168776"/>
              <a:ext cx="147638" cy="176213"/>
            </a:xfrm>
            <a:custGeom>
              <a:avLst/>
              <a:gdLst>
                <a:gd name="T0" fmla="*/ 0 w 93"/>
                <a:gd name="T1" fmla="*/ 0 h 111"/>
                <a:gd name="T2" fmla="*/ 0 w 93"/>
                <a:gd name="T3" fmla="*/ 111 h 111"/>
                <a:gd name="T4" fmla="*/ 93 w 93"/>
                <a:gd name="T5" fmla="*/ 73 h 111"/>
                <a:gd name="T6" fmla="*/ 93 w 93"/>
                <a:gd name="T7" fmla="*/ 15 h 111"/>
                <a:gd name="T8" fmla="*/ 41 w 93"/>
                <a:gd name="T9" fmla="*/ 37 h 111"/>
                <a:gd name="T10" fmla="*/ 0 w 93"/>
                <a:gd name="T11" fmla="*/ 0 h 111"/>
              </a:gdLst>
              <a:ahLst/>
              <a:cxnLst>
                <a:cxn ang="0">
                  <a:pos x="T0" y="T1"/>
                </a:cxn>
                <a:cxn ang="0">
                  <a:pos x="T2" y="T3"/>
                </a:cxn>
                <a:cxn ang="0">
                  <a:pos x="T4" y="T5"/>
                </a:cxn>
                <a:cxn ang="0">
                  <a:pos x="T6" y="T7"/>
                </a:cxn>
                <a:cxn ang="0">
                  <a:pos x="T8" y="T9"/>
                </a:cxn>
                <a:cxn ang="0">
                  <a:pos x="T10" y="T11"/>
                </a:cxn>
              </a:cxnLst>
              <a:rect l="0" t="0" r="r" b="b"/>
              <a:pathLst>
                <a:path w="93" h="111">
                  <a:moveTo>
                    <a:pt x="0" y="0"/>
                  </a:moveTo>
                  <a:lnTo>
                    <a:pt x="0" y="111"/>
                  </a:lnTo>
                  <a:lnTo>
                    <a:pt x="93" y="73"/>
                  </a:lnTo>
                  <a:lnTo>
                    <a:pt x="93" y="15"/>
                  </a:lnTo>
                  <a:lnTo>
                    <a:pt x="41" y="37"/>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71" name="Freeform 225"/>
            <p:cNvSpPr/>
            <p:nvPr/>
          </p:nvSpPr>
          <p:spPr bwMode="auto">
            <a:xfrm>
              <a:off x="5334000" y="4110038"/>
              <a:ext cx="203200" cy="104775"/>
            </a:xfrm>
            <a:custGeom>
              <a:avLst/>
              <a:gdLst>
                <a:gd name="T0" fmla="*/ 0 w 128"/>
                <a:gd name="T1" fmla="*/ 36 h 66"/>
                <a:gd name="T2" fmla="*/ 36 w 128"/>
                <a:gd name="T3" fmla="*/ 66 h 66"/>
                <a:gd name="T4" fmla="*/ 128 w 128"/>
                <a:gd name="T5" fmla="*/ 29 h 66"/>
                <a:gd name="T6" fmla="*/ 93 w 128"/>
                <a:gd name="T7" fmla="*/ 0 h 66"/>
                <a:gd name="T8" fmla="*/ 0 w 128"/>
                <a:gd name="T9" fmla="*/ 36 h 66"/>
              </a:gdLst>
              <a:ahLst/>
              <a:cxnLst>
                <a:cxn ang="0">
                  <a:pos x="T0" y="T1"/>
                </a:cxn>
                <a:cxn ang="0">
                  <a:pos x="T2" y="T3"/>
                </a:cxn>
                <a:cxn ang="0">
                  <a:pos x="T4" y="T5"/>
                </a:cxn>
                <a:cxn ang="0">
                  <a:pos x="T6" y="T7"/>
                </a:cxn>
                <a:cxn ang="0">
                  <a:pos x="T8" y="T9"/>
                </a:cxn>
              </a:cxnLst>
              <a:rect l="0" t="0" r="r" b="b"/>
              <a:pathLst>
                <a:path w="128" h="66">
                  <a:moveTo>
                    <a:pt x="0" y="36"/>
                  </a:moveTo>
                  <a:lnTo>
                    <a:pt x="36" y="66"/>
                  </a:lnTo>
                  <a:lnTo>
                    <a:pt x="128" y="29"/>
                  </a:lnTo>
                  <a:lnTo>
                    <a:pt x="93" y="0"/>
                  </a:lnTo>
                  <a:lnTo>
                    <a:pt x="0"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72" name="Freeform 226"/>
            <p:cNvSpPr/>
            <p:nvPr/>
          </p:nvSpPr>
          <p:spPr bwMode="auto">
            <a:xfrm>
              <a:off x="5319713" y="3992563"/>
              <a:ext cx="203200" cy="109538"/>
            </a:xfrm>
            <a:custGeom>
              <a:avLst/>
              <a:gdLst>
                <a:gd name="T0" fmla="*/ 128 w 128"/>
                <a:gd name="T1" fmla="*/ 36 h 69"/>
                <a:gd name="T2" fmla="*/ 35 w 128"/>
                <a:gd name="T3" fmla="*/ 0 h 69"/>
                <a:gd name="T4" fmla="*/ 0 w 128"/>
                <a:gd name="T5" fmla="*/ 32 h 69"/>
                <a:gd name="T6" fmla="*/ 93 w 128"/>
                <a:gd name="T7" fmla="*/ 69 h 69"/>
                <a:gd name="T8" fmla="*/ 128 w 128"/>
                <a:gd name="T9" fmla="*/ 36 h 69"/>
              </a:gdLst>
              <a:ahLst/>
              <a:cxnLst>
                <a:cxn ang="0">
                  <a:pos x="T0" y="T1"/>
                </a:cxn>
                <a:cxn ang="0">
                  <a:pos x="T2" y="T3"/>
                </a:cxn>
                <a:cxn ang="0">
                  <a:pos x="T4" y="T5"/>
                </a:cxn>
                <a:cxn ang="0">
                  <a:pos x="T6" y="T7"/>
                </a:cxn>
                <a:cxn ang="0">
                  <a:pos x="T8" y="T9"/>
                </a:cxn>
              </a:cxnLst>
              <a:rect l="0" t="0" r="r" b="b"/>
              <a:pathLst>
                <a:path w="128" h="69">
                  <a:moveTo>
                    <a:pt x="128" y="36"/>
                  </a:moveTo>
                  <a:lnTo>
                    <a:pt x="35" y="0"/>
                  </a:lnTo>
                  <a:lnTo>
                    <a:pt x="0" y="32"/>
                  </a:lnTo>
                  <a:lnTo>
                    <a:pt x="93" y="69"/>
                  </a:lnTo>
                  <a:lnTo>
                    <a:pt x="128"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73" name="Freeform 227"/>
            <p:cNvSpPr/>
            <p:nvPr/>
          </p:nvSpPr>
          <p:spPr bwMode="auto">
            <a:xfrm>
              <a:off x="5165725" y="4181476"/>
              <a:ext cx="147638" cy="163513"/>
            </a:xfrm>
            <a:custGeom>
              <a:avLst/>
              <a:gdLst>
                <a:gd name="T0" fmla="*/ 0 w 93"/>
                <a:gd name="T1" fmla="*/ 11 h 103"/>
                <a:gd name="T2" fmla="*/ 0 w 93"/>
                <a:gd name="T3" fmla="*/ 65 h 103"/>
                <a:gd name="T4" fmla="*/ 93 w 93"/>
                <a:gd name="T5" fmla="*/ 103 h 103"/>
                <a:gd name="T6" fmla="*/ 93 w 93"/>
                <a:gd name="T7" fmla="*/ 0 h 103"/>
                <a:gd name="T8" fmla="*/ 57 w 93"/>
                <a:gd name="T9" fmla="*/ 34 h 103"/>
                <a:gd name="T10" fmla="*/ 0 w 93"/>
                <a:gd name="T11" fmla="*/ 11 h 103"/>
              </a:gdLst>
              <a:ahLst/>
              <a:cxnLst>
                <a:cxn ang="0">
                  <a:pos x="T0" y="T1"/>
                </a:cxn>
                <a:cxn ang="0">
                  <a:pos x="T2" y="T3"/>
                </a:cxn>
                <a:cxn ang="0">
                  <a:pos x="T4" y="T5"/>
                </a:cxn>
                <a:cxn ang="0">
                  <a:pos x="T6" y="T7"/>
                </a:cxn>
                <a:cxn ang="0">
                  <a:pos x="T8" y="T9"/>
                </a:cxn>
                <a:cxn ang="0">
                  <a:pos x="T10" y="T11"/>
                </a:cxn>
              </a:cxnLst>
              <a:rect l="0" t="0" r="r" b="b"/>
              <a:pathLst>
                <a:path w="93" h="103">
                  <a:moveTo>
                    <a:pt x="0" y="11"/>
                  </a:moveTo>
                  <a:lnTo>
                    <a:pt x="0" y="65"/>
                  </a:lnTo>
                  <a:lnTo>
                    <a:pt x="93" y="103"/>
                  </a:lnTo>
                  <a:lnTo>
                    <a:pt x="93" y="0"/>
                  </a:lnTo>
                  <a:lnTo>
                    <a:pt x="57" y="34"/>
                  </a:ln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74" name="Freeform 228"/>
            <p:cNvSpPr/>
            <p:nvPr/>
          </p:nvSpPr>
          <p:spPr bwMode="auto">
            <a:xfrm>
              <a:off x="5108575" y="4114801"/>
              <a:ext cx="200025" cy="109538"/>
            </a:xfrm>
            <a:custGeom>
              <a:avLst/>
              <a:gdLst>
                <a:gd name="T0" fmla="*/ 126 w 126"/>
                <a:gd name="T1" fmla="*/ 36 h 69"/>
                <a:gd name="T2" fmla="*/ 33 w 126"/>
                <a:gd name="T3" fmla="*/ 0 h 69"/>
                <a:gd name="T4" fmla="*/ 0 w 126"/>
                <a:gd name="T5" fmla="*/ 31 h 69"/>
                <a:gd name="T6" fmla="*/ 91 w 126"/>
                <a:gd name="T7" fmla="*/ 69 h 69"/>
                <a:gd name="T8" fmla="*/ 126 w 126"/>
                <a:gd name="T9" fmla="*/ 36 h 69"/>
              </a:gdLst>
              <a:ahLst/>
              <a:cxnLst>
                <a:cxn ang="0">
                  <a:pos x="T0" y="T1"/>
                </a:cxn>
                <a:cxn ang="0">
                  <a:pos x="T2" y="T3"/>
                </a:cxn>
                <a:cxn ang="0">
                  <a:pos x="T4" y="T5"/>
                </a:cxn>
                <a:cxn ang="0">
                  <a:pos x="T6" y="T7"/>
                </a:cxn>
                <a:cxn ang="0">
                  <a:pos x="T8" y="T9"/>
                </a:cxn>
              </a:cxnLst>
              <a:rect l="0" t="0" r="r" b="b"/>
              <a:pathLst>
                <a:path w="126" h="69">
                  <a:moveTo>
                    <a:pt x="126" y="36"/>
                  </a:moveTo>
                  <a:lnTo>
                    <a:pt x="33" y="0"/>
                  </a:lnTo>
                  <a:lnTo>
                    <a:pt x="0" y="31"/>
                  </a:lnTo>
                  <a:lnTo>
                    <a:pt x="91" y="69"/>
                  </a:lnTo>
                  <a:lnTo>
                    <a:pt x="126"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grpSp>
      <p:sp>
        <p:nvSpPr>
          <p:cNvPr id="75" name="Freeform 313"/>
          <p:cNvSpPr>
            <a:spLocks noEditPoints="1"/>
          </p:cNvSpPr>
          <p:nvPr/>
        </p:nvSpPr>
        <p:spPr bwMode="auto">
          <a:xfrm>
            <a:off x="10271890" y="1764449"/>
            <a:ext cx="137184" cy="310195"/>
          </a:xfrm>
          <a:custGeom>
            <a:avLst/>
            <a:gdLst>
              <a:gd name="T0" fmla="*/ 61 w 63"/>
              <a:gd name="T1" fmla="*/ 128 h 143"/>
              <a:gd name="T2" fmla="*/ 59 w 63"/>
              <a:gd name="T3" fmla="*/ 136 h 143"/>
              <a:gd name="T4" fmla="*/ 45 w 63"/>
              <a:gd name="T5" fmla="*/ 141 h 143"/>
              <a:gd name="T6" fmla="*/ 32 w 63"/>
              <a:gd name="T7" fmla="*/ 143 h 143"/>
              <a:gd name="T8" fmla="*/ 15 w 63"/>
              <a:gd name="T9" fmla="*/ 138 h 143"/>
              <a:gd name="T10" fmla="*/ 9 w 63"/>
              <a:gd name="T11" fmla="*/ 124 h 143"/>
              <a:gd name="T12" fmla="*/ 10 w 63"/>
              <a:gd name="T13" fmla="*/ 118 h 143"/>
              <a:gd name="T14" fmla="*/ 11 w 63"/>
              <a:gd name="T15" fmla="*/ 110 h 143"/>
              <a:gd name="T16" fmla="*/ 19 w 63"/>
              <a:gd name="T17" fmla="*/ 84 h 143"/>
              <a:gd name="T18" fmla="*/ 20 w 63"/>
              <a:gd name="T19" fmla="*/ 76 h 143"/>
              <a:gd name="T20" fmla="*/ 21 w 63"/>
              <a:gd name="T21" fmla="*/ 70 h 143"/>
              <a:gd name="T22" fmla="*/ 19 w 63"/>
              <a:gd name="T23" fmla="*/ 63 h 143"/>
              <a:gd name="T24" fmla="*/ 11 w 63"/>
              <a:gd name="T25" fmla="*/ 61 h 143"/>
              <a:gd name="T26" fmla="*/ 5 w 63"/>
              <a:gd name="T27" fmla="*/ 62 h 143"/>
              <a:gd name="T28" fmla="*/ 0 w 63"/>
              <a:gd name="T29" fmla="*/ 64 h 143"/>
              <a:gd name="T30" fmla="*/ 2 w 63"/>
              <a:gd name="T31" fmla="*/ 56 h 143"/>
              <a:gd name="T32" fmla="*/ 16 w 63"/>
              <a:gd name="T33" fmla="*/ 50 h 143"/>
              <a:gd name="T34" fmla="*/ 29 w 63"/>
              <a:gd name="T35" fmla="*/ 48 h 143"/>
              <a:gd name="T36" fmla="*/ 45 w 63"/>
              <a:gd name="T37" fmla="*/ 53 h 143"/>
              <a:gd name="T38" fmla="*/ 51 w 63"/>
              <a:gd name="T39" fmla="*/ 67 h 143"/>
              <a:gd name="T40" fmla="*/ 51 w 63"/>
              <a:gd name="T41" fmla="*/ 73 h 143"/>
              <a:gd name="T42" fmla="*/ 49 w 63"/>
              <a:gd name="T43" fmla="*/ 81 h 143"/>
              <a:gd name="T44" fmla="*/ 42 w 63"/>
              <a:gd name="T45" fmla="*/ 108 h 143"/>
              <a:gd name="T46" fmla="*/ 40 w 63"/>
              <a:gd name="T47" fmla="*/ 115 h 143"/>
              <a:gd name="T48" fmla="*/ 39 w 63"/>
              <a:gd name="T49" fmla="*/ 121 h 143"/>
              <a:gd name="T50" fmla="*/ 42 w 63"/>
              <a:gd name="T51" fmla="*/ 128 h 143"/>
              <a:gd name="T52" fmla="*/ 50 w 63"/>
              <a:gd name="T53" fmla="*/ 130 h 143"/>
              <a:gd name="T54" fmla="*/ 56 w 63"/>
              <a:gd name="T55" fmla="*/ 129 h 143"/>
              <a:gd name="T56" fmla="*/ 61 w 63"/>
              <a:gd name="T57" fmla="*/ 128 h 143"/>
              <a:gd name="T58" fmla="*/ 63 w 63"/>
              <a:gd name="T59" fmla="*/ 16 h 143"/>
              <a:gd name="T60" fmla="*/ 58 w 63"/>
              <a:gd name="T61" fmla="*/ 28 h 143"/>
              <a:gd name="T62" fmla="*/ 45 w 63"/>
              <a:gd name="T63" fmla="*/ 33 h 143"/>
              <a:gd name="T64" fmla="*/ 32 w 63"/>
              <a:gd name="T65" fmla="*/ 28 h 143"/>
              <a:gd name="T66" fmla="*/ 27 w 63"/>
              <a:gd name="T67" fmla="*/ 16 h 143"/>
              <a:gd name="T68" fmla="*/ 32 w 63"/>
              <a:gd name="T69" fmla="*/ 5 h 143"/>
              <a:gd name="T70" fmla="*/ 45 w 63"/>
              <a:gd name="T71" fmla="*/ 0 h 143"/>
              <a:gd name="T72" fmla="*/ 58 w 63"/>
              <a:gd name="T73" fmla="*/ 5 h 143"/>
              <a:gd name="T74" fmla="*/ 63 w 63"/>
              <a:gd name="T75" fmla="*/ 16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3" h="143">
                <a:moveTo>
                  <a:pt x="61" y="128"/>
                </a:moveTo>
                <a:cubicBezTo>
                  <a:pt x="59" y="136"/>
                  <a:pt x="59" y="136"/>
                  <a:pt x="59" y="136"/>
                </a:cubicBezTo>
                <a:cubicBezTo>
                  <a:pt x="53" y="138"/>
                  <a:pt x="48" y="140"/>
                  <a:pt x="45" y="141"/>
                </a:cubicBezTo>
                <a:cubicBezTo>
                  <a:pt x="41" y="143"/>
                  <a:pt x="37" y="143"/>
                  <a:pt x="32" y="143"/>
                </a:cubicBezTo>
                <a:cubicBezTo>
                  <a:pt x="25" y="143"/>
                  <a:pt x="19" y="141"/>
                  <a:pt x="15" y="138"/>
                </a:cubicBezTo>
                <a:cubicBezTo>
                  <a:pt x="11" y="134"/>
                  <a:pt x="9" y="130"/>
                  <a:pt x="9" y="124"/>
                </a:cubicBezTo>
                <a:cubicBezTo>
                  <a:pt x="9" y="122"/>
                  <a:pt x="9" y="120"/>
                  <a:pt x="10" y="118"/>
                </a:cubicBezTo>
                <a:cubicBezTo>
                  <a:pt x="10" y="116"/>
                  <a:pt x="10" y="113"/>
                  <a:pt x="11" y="110"/>
                </a:cubicBezTo>
                <a:cubicBezTo>
                  <a:pt x="19" y="84"/>
                  <a:pt x="19" y="84"/>
                  <a:pt x="19" y="84"/>
                </a:cubicBezTo>
                <a:cubicBezTo>
                  <a:pt x="19" y="81"/>
                  <a:pt x="20" y="79"/>
                  <a:pt x="20" y="76"/>
                </a:cubicBezTo>
                <a:cubicBezTo>
                  <a:pt x="21" y="74"/>
                  <a:pt x="21" y="72"/>
                  <a:pt x="21" y="70"/>
                </a:cubicBezTo>
                <a:cubicBezTo>
                  <a:pt x="21" y="67"/>
                  <a:pt x="20" y="64"/>
                  <a:pt x="19" y="63"/>
                </a:cubicBezTo>
                <a:cubicBezTo>
                  <a:pt x="17" y="62"/>
                  <a:pt x="15" y="61"/>
                  <a:pt x="11" y="61"/>
                </a:cubicBezTo>
                <a:cubicBezTo>
                  <a:pt x="9" y="61"/>
                  <a:pt x="7" y="61"/>
                  <a:pt x="5" y="62"/>
                </a:cubicBezTo>
                <a:cubicBezTo>
                  <a:pt x="3" y="63"/>
                  <a:pt x="1" y="63"/>
                  <a:pt x="0" y="64"/>
                </a:cubicBezTo>
                <a:cubicBezTo>
                  <a:pt x="2" y="56"/>
                  <a:pt x="2" y="56"/>
                  <a:pt x="2" y="56"/>
                </a:cubicBezTo>
                <a:cubicBezTo>
                  <a:pt x="7" y="54"/>
                  <a:pt x="11" y="52"/>
                  <a:pt x="16" y="50"/>
                </a:cubicBezTo>
                <a:cubicBezTo>
                  <a:pt x="20" y="49"/>
                  <a:pt x="25" y="48"/>
                  <a:pt x="29" y="48"/>
                </a:cubicBezTo>
                <a:cubicBezTo>
                  <a:pt x="36" y="48"/>
                  <a:pt x="41" y="50"/>
                  <a:pt x="45" y="53"/>
                </a:cubicBezTo>
                <a:cubicBezTo>
                  <a:pt x="49" y="57"/>
                  <a:pt x="51" y="61"/>
                  <a:pt x="51" y="67"/>
                </a:cubicBezTo>
                <a:cubicBezTo>
                  <a:pt x="51" y="68"/>
                  <a:pt x="51" y="70"/>
                  <a:pt x="51" y="73"/>
                </a:cubicBezTo>
                <a:cubicBezTo>
                  <a:pt x="50" y="76"/>
                  <a:pt x="50" y="79"/>
                  <a:pt x="49" y="81"/>
                </a:cubicBezTo>
                <a:cubicBezTo>
                  <a:pt x="42" y="108"/>
                  <a:pt x="42" y="108"/>
                  <a:pt x="42" y="108"/>
                </a:cubicBezTo>
                <a:cubicBezTo>
                  <a:pt x="41" y="110"/>
                  <a:pt x="41" y="112"/>
                  <a:pt x="40" y="115"/>
                </a:cubicBezTo>
                <a:cubicBezTo>
                  <a:pt x="40" y="118"/>
                  <a:pt x="39" y="120"/>
                  <a:pt x="39" y="121"/>
                </a:cubicBezTo>
                <a:cubicBezTo>
                  <a:pt x="39" y="125"/>
                  <a:pt x="40" y="127"/>
                  <a:pt x="42" y="128"/>
                </a:cubicBezTo>
                <a:cubicBezTo>
                  <a:pt x="43" y="130"/>
                  <a:pt x="46" y="130"/>
                  <a:pt x="50" y="130"/>
                </a:cubicBezTo>
                <a:cubicBezTo>
                  <a:pt x="52" y="130"/>
                  <a:pt x="54" y="130"/>
                  <a:pt x="56" y="129"/>
                </a:cubicBezTo>
                <a:cubicBezTo>
                  <a:pt x="58" y="129"/>
                  <a:pt x="60" y="128"/>
                  <a:pt x="61" y="128"/>
                </a:cubicBezTo>
                <a:close/>
                <a:moveTo>
                  <a:pt x="63" y="16"/>
                </a:moveTo>
                <a:cubicBezTo>
                  <a:pt x="63" y="21"/>
                  <a:pt x="61" y="25"/>
                  <a:pt x="58" y="28"/>
                </a:cubicBezTo>
                <a:cubicBezTo>
                  <a:pt x="54" y="31"/>
                  <a:pt x="50" y="33"/>
                  <a:pt x="45" y="33"/>
                </a:cubicBezTo>
                <a:cubicBezTo>
                  <a:pt x="40" y="33"/>
                  <a:pt x="36" y="31"/>
                  <a:pt x="32" y="28"/>
                </a:cubicBezTo>
                <a:cubicBezTo>
                  <a:pt x="29" y="25"/>
                  <a:pt x="27" y="21"/>
                  <a:pt x="27" y="16"/>
                </a:cubicBezTo>
                <a:cubicBezTo>
                  <a:pt x="27" y="12"/>
                  <a:pt x="29" y="8"/>
                  <a:pt x="32" y="5"/>
                </a:cubicBezTo>
                <a:cubicBezTo>
                  <a:pt x="36" y="1"/>
                  <a:pt x="40" y="0"/>
                  <a:pt x="45" y="0"/>
                </a:cubicBezTo>
                <a:cubicBezTo>
                  <a:pt x="50" y="0"/>
                  <a:pt x="54" y="1"/>
                  <a:pt x="58" y="5"/>
                </a:cubicBezTo>
                <a:cubicBezTo>
                  <a:pt x="61" y="8"/>
                  <a:pt x="63" y="12"/>
                  <a:pt x="63" y="16"/>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77" name="组合 76"/>
          <p:cNvGrpSpPr/>
          <p:nvPr/>
        </p:nvGrpSpPr>
        <p:grpSpPr>
          <a:xfrm>
            <a:off x="9134817" y="2839676"/>
            <a:ext cx="286297" cy="317652"/>
            <a:chOff x="11127788" y="6101450"/>
            <a:chExt cx="286334" cy="317652"/>
          </a:xfrm>
          <a:solidFill>
            <a:schemeClr val="bg1"/>
          </a:solidFill>
        </p:grpSpPr>
        <p:sp>
          <p:nvSpPr>
            <p:cNvPr id="78" name="Freeform 314"/>
            <p:cNvSpPr/>
            <p:nvPr/>
          </p:nvSpPr>
          <p:spPr bwMode="auto">
            <a:xfrm>
              <a:off x="11203846" y="6101450"/>
              <a:ext cx="71583" cy="125271"/>
            </a:xfrm>
            <a:custGeom>
              <a:avLst/>
              <a:gdLst>
                <a:gd name="T0" fmla="*/ 0 w 33"/>
                <a:gd name="T1" fmla="*/ 2 h 58"/>
                <a:gd name="T2" fmla="*/ 7 w 33"/>
                <a:gd name="T3" fmla="*/ 1 h 58"/>
                <a:gd name="T4" fmla="*/ 24 w 33"/>
                <a:gd name="T5" fmla="*/ 22 h 58"/>
                <a:gd name="T6" fmla="*/ 28 w 33"/>
                <a:gd name="T7" fmla="*/ 57 h 58"/>
                <a:gd name="T8" fmla="*/ 21 w 33"/>
                <a:gd name="T9" fmla="*/ 58 h 58"/>
                <a:gd name="T10" fmla="*/ 0 w 33"/>
                <a:gd name="T11" fmla="*/ 2 h 58"/>
              </a:gdLst>
              <a:ahLst/>
              <a:cxnLst>
                <a:cxn ang="0">
                  <a:pos x="T0" y="T1"/>
                </a:cxn>
                <a:cxn ang="0">
                  <a:pos x="T2" y="T3"/>
                </a:cxn>
                <a:cxn ang="0">
                  <a:pos x="T4" y="T5"/>
                </a:cxn>
                <a:cxn ang="0">
                  <a:pos x="T6" y="T7"/>
                </a:cxn>
                <a:cxn ang="0">
                  <a:pos x="T8" y="T9"/>
                </a:cxn>
                <a:cxn ang="0">
                  <a:pos x="T10" y="T11"/>
                </a:cxn>
              </a:cxnLst>
              <a:rect l="0" t="0" r="r" b="b"/>
              <a:pathLst>
                <a:path w="33" h="58">
                  <a:moveTo>
                    <a:pt x="0" y="2"/>
                  </a:moveTo>
                  <a:cubicBezTo>
                    <a:pt x="0" y="2"/>
                    <a:pt x="2" y="1"/>
                    <a:pt x="7" y="1"/>
                  </a:cubicBezTo>
                  <a:cubicBezTo>
                    <a:pt x="12" y="1"/>
                    <a:pt x="14" y="0"/>
                    <a:pt x="24" y="22"/>
                  </a:cubicBezTo>
                  <a:cubicBezTo>
                    <a:pt x="33" y="42"/>
                    <a:pt x="29" y="56"/>
                    <a:pt x="28" y="57"/>
                  </a:cubicBezTo>
                  <a:cubicBezTo>
                    <a:pt x="24" y="58"/>
                    <a:pt x="21" y="58"/>
                    <a:pt x="21" y="58"/>
                  </a:cubicBezTo>
                  <a:cubicBezTo>
                    <a:pt x="21" y="58"/>
                    <a:pt x="25" y="23"/>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79" name="Freeform 315"/>
            <p:cNvSpPr/>
            <p:nvPr/>
          </p:nvSpPr>
          <p:spPr bwMode="auto">
            <a:xfrm>
              <a:off x="11127788" y="6107415"/>
              <a:ext cx="268438" cy="311687"/>
            </a:xfrm>
            <a:custGeom>
              <a:avLst/>
              <a:gdLst>
                <a:gd name="T0" fmla="*/ 79 w 124"/>
                <a:gd name="T1" fmla="*/ 101 h 144"/>
                <a:gd name="T2" fmla="*/ 74 w 124"/>
                <a:gd name="T3" fmla="*/ 102 h 144"/>
                <a:gd name="T4" fmla="*/ 57 w 124"/>
                <a:gd name="T5" fmla="*/ 85 h 144"/>
                <a:gd name="T6" fmla="*/ 42 w 124"/>
                <a:gd name="T7" fmla="*/ 61 h 144"/>
                <a:gd name="T8" fmla="*/ 52 w 124"/>
                <a:gd name="T9" fmla="*/ 55 h 144"/>
                <a:gd name="T10" fmla="*/ 31 w 124"/>
                <a:gd name="T11" fmla="*/ 0 h 144"/>
                <a:gd name="T12" fmla="*/ 28 w 124"/>
                <a:gd name="T13" fmla="*/ 1 h 144"/>
                <a:gd name="T14" fmla="*/ 7 w 124"/>
                <a:gd name="T15" fmla="*/ 26 h 144"/>
                <a:gd name="T16" fmla="*/ 26 w 124"/>
                <a:gd name="T17" fmla="*/ 90 h 144"/>
                <a:gd name="T18" fmla="*/ 37 w 124"/>
                <a:gd name="T19" fmla="*/ 104 h 144"/>
                <a:gd name="T20" fmla="*/ 40 w 124"/>
                <a:gd name="T21" fmla="*/ 107 h 144"/>
                <a:gd name="T22" fmla="*/ 101 w 124"/>
                <a:gd name="T23" fmla="*/ 143 h 144"/>
                <a:gd name="T24" fmla="*/ 124 w 124"/>
                <a:gd name="T25" fmla="*/ 133 h 144"/>
                <a:gd name="T26" fmla="*/ 79 w 124"/>
                <a:gd name="T27" fmla="*/ 10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4" h="144">
                  <a:moveTo>
                    <a:pt x="79" y="101"/>
                  </a:moveTo>
                  <a:cubicBezTo>
                    <a:pt x="78" y="101"/>
                    <a:pt x="77" y="102"/>
                    <a:pt x="74" y="102"/>
                  </a:cubicBezTo>
                  <a:cubicBezTo>
                    <a:pt x="71" y="101"/>
                    <a:pt x="63" y="92"/>
                    <a:pt x="57" y="85"/>
                  </a:cubicBezTo>
                  <a:cubicBezTo>
                    <a:pt x="52" y="79"/>
                    <a:pt x="41" y="65"/>
                    <a:pt x="42" y="61"/>
                  </a:cubicBezTo>
                  <a:cubicBezTo>
                    <a:pt x="43" y="54"/>
                    <a:pt x="48" y="56"/>
                    <a:pt x="52" y="55"/>
                  </a:cubicBezTo>
                  <a:cubicBezTo>
                    <a:pt x="52" y="47"/>
                    <a:pt x="52" y="20"/>
                    <a:pt x="31" y="0"/>
                  </a:cubicBezTo>
                  <a:cubicBezTo>
                    <a:pt x="30" y="0"/>
                    <a:pt x="29" y="1"/>
                    <a:pt x="28" y="1"/>
                  </a:cubicBezTo>
                  <a:cubicBezTo>
                    <a:pt x="20" y="7"/>
                    <a:pt x="11" y="13"/>
                    <a:pt x="7" y="26"/>
                  </a:cubicBezTo>
                  <a:cubicBezTo>
                    <a:pt x="4" y="36"/>
                    <a:pt x="0" y="52"/>
                    <a:pt x="26" y="90"/>
                  </a:cubicBezTo>
                  <a:cubicBezTo>
                    <a:pt x="29" y="94"/>
                    <a:pt x="32" y="99"/>
                    <a:pt x="37" y="104"/>
                  </a:cubicBezTo>
                  <a:cubicBezTo>
                    <a:pt x="38" y="105"/>
                    <a:pt x="39" y="106"/>
                    <a:pt x="40" y="107"/>
                  </a:cubicBezTo>
                  <a:cubicBezTo>
                    <a:pt x="73" y="144"/>
                    <a:pt x="90" y="143"/>
                    <a:pt x="101" y="143"/>
                  </a:cubicBezTo>
                  <a:cubicBezTo>
                    <a:pt x="111" y="142"/>
                    <a:pt x="118" y="138"/>
                    <a:pt x="124" y="133"/>
                  </a:cubicBezTo>
                  <a:cubicBezTo>
                    <a:pt x="117" y="126"/>
                    <a:pt x="99" y="108"/>
                    <a:pt x="79"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80" name="Freeform 316"/>
            <p:cNvSpPr/>
            <p:nvPr/>
          </p:nvSpPr>
          <p:spPr bwMode="auto">
            <a:xfrm>
              <a:off x="11303764" y="6304269"/>
              <a:ext cx="110358" cy="85006"/>
            </a:xfrm>
            <a:custGeom>
              <a:avLst/>
              <a:gdLst>
                <a:gd name="T0" fmla="*/ 50 w 51"/>
                <a:gd name="T1" fmla="*/ 31 h 39"/>
                <a:gd name="T2" fmla="*/ 1 w 51"/>
                <a:gd name="T3" fmla="*/ 1 h 39"/>
                <a:gd name="T4" fmla="*/ 0 w 51"/>
                <a:gd name="T5" fmla="*/ 6 h 39"/>
                <a:gd name="T6" fmla="*/ 17 w 51"/>
                <a:gd name="T7" fmla="*/ 15 h 39"/>
                <a:gd name="T8" fmla="*/ 47 w 51"/>
                <a:gd name="T9" fmla="*/ 39 h 39"/>
                <a:gd name="T10" fmla="*/ 48 w 51"/>
                <a:gd name="T11" fmla="*/ 37 h 39"/>
                <a:gd name="T12" fmla="*/ 50 w 51"/>
                <a:gd name="T13" fmla="*/ 31 h 39"/>
              </a:gdLst>
              <a:ahLst/>
              <a:cxnLst>
                <a:cxn ang="0">
                  <a:pos x="T0" y="T1"/>
                </a:cxn>
                <a:cxn ang="0">
                  <a:pos x="T2" y="T3"/>
                </a:cxn>
                <a:cxn ang="0">
                  <a:pos x="T4" y="T5"/>
                </a:cxn>
                <a:cxn ang="0">
                  <a:pos x="T6" y="T7"/>
                </a:cxn>
                <a:cxn ang="0">
                  <a:pos x="T8" y="T9"/>
                </a:cxn>
                <a:cxn ang="0">
                  <a:pos x="T10" y="T11"/>
                </a:cxn>
                <a:cxn ang="0">
                  <a:pos x="T12" y="T13"/>
                </a:cxn>
              </a:cxnLst>
              <a:rect l="0" t="0" r="r" b="b"/>
              <a:pathLst>
                <a:path w="51" h="39">
                  <a:moveTo>
                    <a:pt x="50" y="31"/>
                  </a:moveTo>
                  <a:cubicBezTo>
                    <a:pt x="28" y="1"/>
                    <a:pt x="2" y="0"/>
                    <a:pt x="1" y="1"/>
                  </a:cubicBezTo>
                  <a:cubicBezTo>
                    <a:pt x="0" y="3"/>
                    <a:pt x="0" y="4"/>
                    <a:pt x="0" y="6"/>
                  </a:cubicBezTo>
                  <a:cubicBezTo>
                    <a:pt x="3" y="7"/>
                    <a:pt x="8" y="10"/>
                    <a:pt x="17" y="15"/>
                  </a:cubicBezTo>
                  <a:cubicBezTo>
                    <a:pt x="34" y="25"/>
                    <a:pt x="43" y="34"/>
                    <a:pt x="47" y="39"/>
                  </a:cubicBezTo>
                  <a:cubicBezTo>
                    <a:pt x="47" y="38"/>
                    <a:pt x="48" y="38"/>
                    <a:pt x="48" y="37"/>
                  </a:cubicBezTo>
                  <a:cubicBezTo>
                    <a:pt x="51" y="35"/>
                    <a:pt x="51" y="32"/>
                    <a:pt x="50"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grpSp>
      <p:sp>
        <p:nvSpPr>
          <p:cNvPr id="3" name="矩形 2"/>
          <p:cNvSpPr/>
          <p:nvPr/>
        </p:nvSpPr>
        <p:spPr>
          <a:xfrm>
            <a:off x="1684160" y="531725"/>
            <a:ext cx="1097280" cy="506730"/>
          </a:xfrm>
          <a:prstGeom prst="rect">
            <a:avLst/>
          </a:prstGeom>
        </p:spPr>
        <p:txBody>
          <a:bodyPr wrap="none">
            <a:spAutoFit/>
          </a:bodyPr>
          <a:p>
            <a:pPr algn="l">
              <a:lnSpc>
                <a:spcPct val="150000"/>
              </a:lnSpc>
            </a:pPr>
            <a:r>
              <a:rPr lang="zh-CN" altLang="en-US" b="1" dirty="0">
                <a:solidFill>
                  <a:schemeClr val="tx1">
                    <a:lumMod val="95000"/>
                    <a:lumOff val="5000"/>
                  </a:schemeClr>
                </a:solidFill>
                <a:latin typeface="微软雅黑" panose="020B0503020204020204" charset="-122"/>
                <a:ea typeface="微软雅黑" panose="020B0503020204020204" charset="-122"/>
              </a:rPr>
              <a:t>观察市场</a:t>
            </a:r>
            <a:endParaRPr lang="zh-CN" altLang="en-US" b="1" dirty="0">
              <a:solidFill>
                <a:schemeClr val="tx1">
                  <a:lumMod val="95000"/>
                  <a:lumOff val="5000"/>
                </a:schemeClr>
              </a:solidFill>
              <a:latin typeface="微软雅黑" panose="020B0503020204020204" charset="-122"/>
              <a:ea typeface="微软雅黑" panose="020B0503020204020204" charset="-122"/>
            </a:endParaRPr>
          </a:p>
        </p:txBody>
      </p:sp>
      <p:sp>
        <p:nvSpPr>
          <p:cNvPr id="4" name="矩形 3"/>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grpSp>
        <p:nvGrpSpPr>
          <p:cNvPr id="6" name="组合 5"/>
          <p:cNvGrpSpPr/>
          <p:nvPr/>
        </p:nvGrpSpPr>
        <p:grpSpPr>
          <a:xfrm>
            <a:off x="820965" y="0"/>
            <a:ext cx="717550" cy="1097304"/>
            <a:chOff x="4704555" y="313131"/>
            <a:chExt cx="2782888" cy="4255695"/>
          </a:xfrm>
        </p:grpSpPr>
        <p:sp>
          <p:nvSpPr>
            <p:cNvPr id="14" name="流程图: 决策 5"/>
            <p:cNvSpPr/>
            <p:nvPr/>
          </p:nvSpPr>
          <p:spPr>
            <a:xfrm>
              <a:off x="4704555" y="313131"/>
              <a:ext cx="2782888" cy="425569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15" name="流程图: 决策 6"/>
            <p:cNvSpPr/>
            <p:nvPr/>
          </p:nvSpPr>
          <p:spPr>
            <a:xfrm>
              <a:off x="4934127" y="2015510"/>
              <a:ext cx="2323745" cy="2323745"/>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grpSp>
      <p:sp>
        <p:nvSpPr>
          <p:cNvPr id="16" name="文本框 15"/>
          <p:cNvSpPr txBox="1"/>
          <p:nvPr/>
        </p:nvSpPr>
        <p:spPr>
          <a:xfrm>
            <a:off x="733564" y="451148"/>
            <a:ext cx="950408" cy="583565"/>
          </a:xfrm>
          <a:prstGeom prst="rect">
            <a:avLst/>
          </a:prstGeom>
          <a:noFill/>
        </p:spPr>
        <p:txBody>
          <a:bodyPr wrap="square" rtlCol="0">
            <a:spAutoFit/>
          </a:bodyPr>
          <a:p>
            <a:pPr algn="ctr"/>
            <a:r>
              <a:rPr lang="en-US" altLang="zh-CN" sz="3200" b="1" dirty="0" smtClean="0">
                <a:ln w="28575">
                  <a:noFill/>
                </a:ln>
                <a:latin typeface="微软雅黑" panose="020B0503020204020204" charset="-122"/>
                <a:ea typeface="微软雅黑" panose="020B0503020204020204" charset="-122"/>
              </a:rPr>
              <a:t>04</a:t>
            </a:r>
            <a:endParaRPr lang="zh-CN" altLang="en-US" sz="4800" b="1" dirty="0">
              <a:ln w="28575">
                <a:noFill/>
              </a:ln>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heel(1)">
                                      <p:cBhvr>
                                        <p:cTn id="7" dur="10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fade">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heel(1)">
                                      <p:cBhvr>
                                        <p:cTn id="22" dur="10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500"/>
                                        <p:tgtEl>
                                          <p:spTgt spid="5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heel(1)">
                                      <p:cBhvr>
                                        <p:cTn id="37" dur="10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fade">
                                      <p:cBhvr>
                                        <p:cTn id="42" dur="500"/>
                                        <p:tgtEl>
                                          <p:spTgt spid="6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wheel(1)">
                                      <p:cBhvr>
                                        <p:cTn id="52" dur="10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fade">
                                      <p:cBhvr>
                                        <p:cTn id="57" dur="500"/>
                                        <p:tgtEl>
                                          <p:spTgt spid="4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21" presetClass="entr" presetSubtype="1" fill="hold" grpId="0" nodeType="click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wheel(1)">
                                      <p:cBhvr>
                                        <p:cTn id="67" dur="1000"/>
                                        <p:tgtEl>
                                          <p:spTgt spid="41"/>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9"/>
                                        </p:tgtEl>
                                        <p:attrNameLst>
                                          <p:attrName>style.visibility</p:attrName>
                                        </p:attrNameLst>
                                      </p:cBhvr>
                                      <p:to>
                                        <p:strVal val="visible"/>
                                      </p:to>
                                    </p:set>
                                    <p:animEffect transition="in" filter="fade">
                                      <p:cBhvr>
                                        <p:cTn id="72" dur="500"/>
                                        <p:tgtEl>
                                          <p:spTgt spid="4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childTnLst>
                          </p:cTn>
                        </p:par>
                      </p:childTnLst>
                    </p:cTn>
                  </p:par>
                  <p:par>
                    <p:cTn id="78" fill="hold">
                      <p:stCondLst>
                        <p:cond delay="indefinite"/>
                      </p:stCondLst>
                      <p:childTnLst>
                        <p:par>
                          <p:cTn id="79" fill="hold">
                            <p:stCondLst>
                              <p:cond delay="0"/>
                            </p:stCondLst>
                            <p:childTnLst>
                              <p:par>
                                <p:cTn id="80" presetID="21" presetClass="entr" presetSubtype="1" fill="hold" grpId="0" nodeType="click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wheel(1)">
                                      <p:cBhvr>
                                        <p:cTn id="82" dur="1000"/>
                                        <p:tgtEl>
                                          <p:spTgt spid="4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6"/>
                                        </p:tgtEl>
                                        <p:attrNameLst>
                                          <p:attrName>style.visibility</p:attrName>
                                        </p:attrNameLst>
                                      </p:cBhvr>
                                      <p:to>
                                        <p:strVal val="visible"/>
                                      </p:to>
                                    </p:set>
                                    <p:animEffect transition="in" filter="fade">
                                      <p:cBhvr>
                                        <p:cTn id="87" dur="500"/>
                                        <p:tgtEl>
                                          <p:spTgt spid="56"/>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fade">
                                      <p:cBhvr>
                                        <p:cTn id="92" dur="500"/>
                                        <p:tgtEl>
                                          <p:spTgt spid="26"/>
                                        </p:tgtEl>
                                      </p:cBhvr>
                                    </p:animEffect>
                                  </p:childTnLst>
                                </p:cTn>
                              </p:par>
                            </p:childTnLst>
                          </p:cTn>
                        </p:par>
                      </p:childTnLst>
                    </p:cTn>
                  </p:par>
                  <p:par>
                    <p:cTn id="93" fill="hold">
                      <p:stCondLst>
                        <p:cond delay="indefinite"/>
                      </p:stCondLst>
                      <p:childTnLst>
                        <p:par>
                          <p:cTn id="94" fill="hold">
                            <p:stCondLst>
                              <p:cond delay="0"/>
                            </p:stCondLst>
                            <p:childTnLst>
                              <p:par>
                                <p:cTn id="95" presetID="21" presetClass="entr" presetSubtype="1" fill="hold" grpId="0" nodeType="clickEffect">
                                  <p:stCondLst>
                                    <p:cond delay="0"/>
                                  </p:stCondLst>
                                  <p:childTnLst>
                                    <p:set>
                                      <p:cBhvr>
                                        <p:cTn id="96" dur="1" fill="hold">
                                          <p:stCondLst>
                                            <p:cond delay="0"/>
                                          </p:stCondLst>
                                        </p:cTn>
                                        <p:tgtEl>
                                          <p:spTgt spid="45"/>
                                        </p:tgtEl>
                                        <p:attrNameLst>
                                          <p:attrName>style.visibility</p:attrName>
                                        </p:attrNameLst>
                                      </p:cBhvr>
                                      <p:to>
                                        <p:strVal val="visible"/>
                                      </p:to>
                                    </p:set>
                                    <p:animEffect transition="in" filter="wheel(1)">
                                      <p:cBhvr>
                                        <p:cTn id="97" dur="1000"/>
                                        <p:tgtEl>
                                          <p:spTgt spid="45"/>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57"/>
                                        </p:tgtEl>
                                        <p:attrNameLst>
                                          <p:attrName>style.visibility</p:attrName>
                                        </p:attrNameLst>
                                      </p:cBhvr>
                                      <p:to>
                                        <p:strVal val="visible"/>
                                      </p:to>
                                    </p:set>
                                    <p:animEffect transition="in" filter="fade">
                                      <p:cBhvr>
                                        <p:cTn id="102" dur="500"/>
                                        <p:tgtEl>
                                          <p:spTgt spid="57"/>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25"/>
                                        </p:tgtEl>
                                        <p:attrNameLst>
                                          <p:attrName>style.visibility</p:attrName>
                                        </p:attrNameLst>
                                      </p:cBhvr>
                                      <p:to>
                                        <p:strVal val="visible"/>
                                      </p:to>
                                    </p:set>
                                    <p:animEffect transition="in" filter="fade">
                                      <p:cBhvr>
                                        <p:cTn id="107" dur="500"/>
                                        <p:tgtEl>
                                          <p:spTgt spid="25"/>
                                        </p:tgtEl>
                                      </p:cBhvr>
                                    </p:animEffect>
                                  </p:childTnLst>
                                </p:cTn>
                              </p:par>
                            </p:childTnLst>
                          </p:cTn>
                        </p:par>
                      </p:childTnLst>
                    </p:cTn>
                  </p:par>
                  <p:par>
                    <p:cTn id="108" fill="hold">
                      <p:stCondLst>
                        <p:cond delay="indefinite"/>
                      </p:stCondLst>
                      <p:childTnLst>
                        <p:par>
                          <p:cTn id="109" fill="hold">
                            <p:stCondLst>
                              <p:cond delay="0"/>
                            </p:stCondLst>
                            <p:childTnLst>
                              <p:par>
                                <p:cTn id="110" presetID="21" presetClass="entr" presetSubtype="1" fill="hold" grpId="0" nodeType="clickEffect">
                                  <p:stCondLst>
                                    <p:cond delay="0"/>
                                  </p:stCondLst>
                                  <p:childTnLst>
                                    <p:set>
                                      <p:cBhvr>
                                        <p:cTn id="111" dur="1" fill="hold">
                                          <p:stCondLst>
                                            <p:cond delay="0"/>
                                          </p:stCondLst>
                                        </p:cTn>
                                        <p:tgtEl>
                                          <p:spTgt spid="32"/>
                                        </p:tgtEl>
                                        <p:attrNameLst>
                                          <p:attrName>style.visibility</p:attrName>
                                        </p:attrNameLst>
                                      </p:cBhvr>
                                      <p:to>
                                        <p:strVal val="visible"/>
                                      </p:to>
                                    </p:set>
                                    <p:animEffect transition="in" filter="wheel(1)">
                                      <p:cBhvr>
                                        <p:cTn id="112" dur="1000"/>
                                        <p:tgtEl>
                                          <p:spTgt spid="32"/>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58"/>
                                        </p:tgtEl>
                                        <p:attrNameLst>
                                          <p:attrName>style.visibility</p:attrName>
                                        </p:attrNameLst>
                                      </p:cBhvr>
                                      <p:to>
                                        <p:strVal val="visible"/>
                                      </p:to>
                                    </p:set>
                                    <p:animEffect transition="in" filter="fade">
                                      <p:cBhvr>
                                        <p:cTn id="117" dur="500"/>
                                        <p:tgtEl>
                                          <p:spTgt spid="58"/>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22"/>
                                        </p:tgtEl>
                                        <p:attrNameLst>
                                          <p:attrName>style.visibility</p:attrName>
                                        </p:attrNameLst>
                                      </p:cBhvr>
                                      <p:to>
                                        <p:strVal val="visible"/>
                                      </p:to>
                                    </p:set>
                                    <p:animEffect transition="in" filter="fade">
                                      <p:cBhvr>
                                        <p:cTn id="122" dur="500"/>
                                        <p:tgtEl>
                                          <p:spTgt spid="22"/>
                                        </p:tgtEl>
                                      </p:cBhvr>
                                    </p:animEffect>
                                  </p:childTnLst>
                                </p:cTn>
                              </p:par>
                            </p:childTnLst>
                          </p:cTn>
                        </p:par>
                      </p:childTnLst>
                    </p:cTn>
                  </p:par>
                  <p:par>
                    <p:cTn id="123" fill="hold">
                      <p:stCondLst>
                        <p:cond delay="indefinite"/>
                      </p:stCondLst>
                      <p:childTnLst>
                        <p:par>
                          <p:cTn id="124" fill="hold">
                            <p:stCondLst>
                              <p:cond delay="0"/>
                            </p:stCondLst>
                            <p:childTnLst>
                              <p:par>
                                <p:cTn id="125" presetID="21" presetClass="entr" presetSubtype="1" fill="hold" grpId="0" nodeType="clickEffect">
                                  <p:stCondLst>
                                    <p:cond delay="0"/>
                                  </p:stCondLst>
                                  <p:childTnLst>
                                    <p:set>
                                      <p:cBhvr>
                                        <p:cTn id="126" dur="1" fill="hold">
                                          <p:stCondLst>
                                            <p:cond delay="0"/>
                                          </p:stCondLst>
                                        </p:cTn>
                                        <p:tgtEl>
                                          <p:spTgt spid="33"/>
                                        </p:tgtEl>
                                        <p:attrNameLst>
                                          <p:attrName>style.visibility</p:attrName>
                                        </p:attrNameLst>
                                      </p:cBhvr>
                                      <p:to>
                                        <p:strVal val="visible"/>
                                      </p:to>
                                    </p:set>
                                    <p:animEffect transition="in" filter="wheel(1)">
                                      <p:cBhvr>
                                        <p:cTn id="127" dur="1000"/>
                                        <p:tgtEl>
                                          <p:spTgt spid="33"/>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59"/>
                                        </p:tgtEl>
                                        <p:attrNameLst>
                                          <p:attrName>style.visibility</p:attrName>
                                        </p:attrNameLst>
                                      </p:cBhvr>
                                      <p:to>
                                        <p:strVal val="visible"/>
                                      </p:to>
                                    </p:set>
                                    <p:animEffect transition="in" filter="fade">
                                      <p:cBhvr>
                                        <p:cTn id="132" dur="500"/>
                                        <p:tgtEl>
                                          <p:spTgt spid="59"/>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62"/>
                                        </p:tgtEl>
                                        <p:attrNameLst>
                                          <p:attrName>style.visibility</p:attrName>
                                        </p:attrNameLst>
                                      </p:cBhvr>
                                      <p:to>
                                        <p:strVal val="visible"/>
                                      </p:to>
                                    </p:set>
                                    <p:animEffect transition="in" filter="fade">
                                      <p:cBhvr>
                                        <p:cTn id="137" dur="500"/>
                                        <p:tgtEl>
                                          <p:spTgt spid="62"/>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61"/>
                                        </p:tgtEl>
                                        <p:attrNameLst>
                                          <p:attrName>style.visibility</p:attrName>
                                        </p:attrNameLst>
                                      </p:cBhvr>
                                      <p:to>
                                        <p:strVal val="visible"/>
                                      </p:to>
                                    </p:set>
                                    <p:animEffect transition="in" filter="fade">
                                      <p:cBhvr>
                                        <p:cTn id="140" dur="500"/>
                                        <p:tgtEl>
                                          <p:spTgt spid="61"/>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65"/>
                                        </p:tgtEl>
                                        <p:attrNameLst>
                                          <p:attrName>style.visibility</p:attrName>
                                        </p:attrNameLst>
                                      </p:cBhvr>
                                      <p:to>
                                        <p:strVal val="visible"/>
                                      </p:to>
                                    </p:set>
                                    <p:animEffect transition="in" filter="fade">
                                      <p:cBhvr>
                                        <p:cTn id="145" dur="500"/>
                                        <p:tgtEl>
                                          <p:spTgt spid="65"/>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66"/>
                                        </p:tgtEl>
                                        <p:attrNameLst>
                                          <p:attrName>style.visibility</p:attrName>
                                        </p:attrNameLst>
                                      </p:cBhvr>
                                      <p:to>
                                        <p:strVal val="visible"/>
                                      </p:to>
                                    </p:set>
                                    <p:animEffect transition="in" filter="fade">
                                      <p:cBhvr>
                                        <p:cTn id="148" dur="500"/>
                                        <p:tgtEl>
                                          <p:spTgt spid="66"/>
                                        </p:tgtEl>
                                      </p:cBhvr>
                                    </p:animEffect>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63"/>
                                        </p:tgtEl>
                                        <p:attrNameLst>
                                          <p:attrName>style.visibility</p:attrName>
                                        </p:attrNameLst>
                                      </p:cBhvr>
                                      <p:to>
                                        <p:strVal val="visible"/>
                                      </p:to>
                                    </p:set>
                                    <p:animEffect transition="in" filter="fade">
                                      <p:cBhvr>
                                        <p:cTn id="153" dur="500"/>
                                        <p:tgtEl>
                                          <p:spTgt spid="63"/>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64"/>
                                        </p:tgtEl>
                                        <p:attrNameLst>
                                          <p:attrName>style.visibility</p:attrName>
                                        </p:attrNameLst>
                                      </p:cBhvr>
                                      <p:to>
                                        <p:strVal val="visible"/>
                                      </p:to>
                                    </p:set>
                                    <p:animEffect transition="in" filter="fade">
                                      <p:cBhvr>
                                        <p:cTn id="156"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2" grpId="0" bldLvl="0" animBg="1"/>
      <p:bldP spid="23" grpId="0" bldLvl="0" animBg="1"/>
      <p:bldP spid="24" grpId="0" bldLvl="0" animBg="1"/>
      <p:bldP spid="25" grpId="0" bldLvl="0" animBg="1"/>
      <p:bldP spid="26" grpId="0" bldLvl="0" animBg="1"/>
      <p:bldP spid="27" grpId="0" bldLvl="0" animBg="1"/>
      <p:bldP spid="28" grpId="0" bldLvl="0" animBg="1"/>
      <p:bldP spid="29" grpId="0" bldLvl="0" animBg="1"/>
      <p:bldP spid="30" grpId="0" bldLvl="0" animBg="1"/>
      <p:bldP spid="31" grpId="0" bldLvl="0" animBg="1"/>
      <p:bldP spid="32" grpId="0" bldLvl="0" animBg="1"/>
      <p:bldP spid="33" grpId="0" bldLvl="0" animBg="1"/>
      <p:bldP spid="38" grpId="0" bldLvl="0" animBg="1"/>
      <p:bldP spid="41" grpId="0" bldLvl="0" animBg="1"/>
      <p:bldP spid="43" grpId="0" bldLvl="0" animBg="1"/>
      <p:bldP spid="45" grpId="0" bldLvl="0" animBg="1"/>
      <p:bldP spid="47" grpId="0"/>
      <p:bldP spid="49" grpId="0"/>
      <p:bldP spid="50" grpId="0"/>
      <p:bldP spid="51" grpId="0"/>
      <p:bldP spid="56" grpId="0"/>
      <p:bldP spid="57" grpId="0"/>
      <p:bldP spid="58" grpId="0"/>
      <p:bldP spid="59" grpId="0"/>
      <p:bldP spid="60" grpId="0"/>
      <p:bldP spid="61" grpId="0"/>
      <p:bldP spid="62" grpId="0" bldLvl="0" animBg="1"/>
      <p:bldP spid="63" grpId="0"/>
      <p:bldP spid="64" grpId="0" bldLvl="0" animBg="1"/>
      <p:bldP spid="65" grpId="0"/>
      <p:bldP spid="66"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139"/>
          <p:cNvSpPr/>
          <p:nvPr/>
        </p:nvSpPr>
        <p:spPr bwMode="auto">
          <a:xfrm>
            <a:off x="7287361" y="2154809"/>
            <a:ext cx="356381" cy="269930"/>
          </a:xfrm>
          <a:custGeom>
            <a:avLst/>
            <a:gdLst>
              <a:gd name="T0" fmla="*/ 143 w 165"/>
              <a:gd name="T1" fmla="*/ 19 h 125"/>
              <a:gd name="T2" fmla="*/ 34 w 165"/>
              <a:gd name="T3" fmla="*/ 19 h 125"/>
              <a:gd name="T4" fmla="*/ 30 w 165"/>
              <a:gd name="T5" fmla="*/ 5 h 125"/>
              <a:gd name="T6" fmla="*/ 29 w 165"/>
              <a:gd name="T7" fmla="*/ 4 h 125"/>
              <a:gd name="T8" fmla="*/ 29 w 165"/>
              <a:gd name="T9" fmla="*/ 4 h 125"/>
              <a:gd name="T10" fmla="*/ 28 w 165"/>
              <a:gd name="T11" fmla="*/ 3 h 125"/>
              <a:gd name="T12" fmla="*/ 28 w 165"/>
              <a:gd name="T13" fmla="*/ 2 h 125"/>
              <a:gd name="T14" fmla="*/ 28 w 165"/>
              <a:gd name="T15" fmla="*/ 2 h 125"/>
              <a:gd name="T16" fmla="*/ 27 w 165"/>
              <a:gd name="T17" fmla="*/ 1 h 125"/>
              <a:gd name="T18" fmla="*/ 27 w 165"/>
              <a:gd name="T19" fmla="*/ 1 h 125"/>
              <a:gd name="T20" fmla="*/ 22 w 165"/>
              <a:gd name="T21" fmla="*/ 0 h 125"/>
              <a:gd name="T22" fmla="*/ 7 w 165"/>
              <a:gd name="T23" fmla="*/ 2 h 125"/>
              <a:gd name="T24" fmla="*/ 0 w 165"/>
              <a:gd name="T25" fmla="*/ 9 h 125"/>
              <a:gd name="T26" fmla="*/ 7 w 165"/>
              <a:gd name="T27" fmla="*/ 15 h 125"/>
              <a:gd name="T28" fmla="*/ 18 w 165"/>
              <a:gd name="T29" fmla="*/ 14 h 125"/>
              <a:gd name="T30" fmla="*/ 45 w 165"/>
              <a:gd name="T31" fmla="*/ 99 h 125"/>
              <a:gd name="T32" fmla="*/ 42 w 165"/>
              <a:gd name="T33" fmla="*/ 109 h 125"/>
              <a:gd name="T34" fmla="*/ 58 w 165"/>
              <a:gd name="T35" fmla="*/ 125 h 125"/>
              <a:gd name="T36" fmla="*/ 73 w 165"/>
              <a:gd name="T37" fmla="*/ 116 h 125"/>
              <a:gd name="T38" fmla="*/ 94 w 165"/>
              <a:gd name="T39" fmla="*/ 116 h 125"/>
              <a:gd name="T40" fmla="*/ 109 w 165"/>
              <a:gd name="T41" fmla="*/ 125 h 125"/>
              <a:gd name="T42" fmla="*/ 125 w 165"/>
              <a:gd name="T43" fmla="*/ 109 h 125"/>
              <a:gd name="T44" fmla="*/ 109 w 165"/>
              <a:gd name="T45" fmla="*/ 93 h 125"/>
              <a:gd name="T46" fmla="*/ 94 w 165"/>
              <a:gd name="T47" fmla="*/ 102 h 125"/>
              <a:gd name="T48" fmla="*/ 73 w 165"/>
              <a:gd name="T49" fmla="*/ 102 h 125"/>
              <a:gd name="T50" fmla="*/ 58 w 165"/>
              <a:gd name="T51" fmla="*/ 93 h 125"/>
              <a:gd name="T52" fmla="*/ 58 w 165"/>
              <a:gd name="T53" fmla="*/ 93 h 125"/>
              <a:gd name="T54" fmla="*/ 55 w 165"/>
              <a:gd name="T55" fmla="*/ 83 h 125"/>
              <a:gd name="T56" fmla="*/ 125 w 165"/>
              <a:gd name="T57" fmla="*/ 83 h 125"/>
              <a:gd name="T58" fmla="*/ 139 w 165"/>
              <a:gd name="T59" fmla="*/ 68 h 125"/>
              <a:gd name="T60" fmla="*/ 158 w 165"/>
              <a:gd name="T61" fmla="*/ 34 h 125"/>
              <a:gd name="T62" fmla="*/ 143 w 165"/>
              <a:gd name="T63" fmla="*/ 1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5" h="125">
                <a:moveTo>
                  <a:pt x="143" y="19"/>
                </a:moveTo>
                <a:cubicBezTo>
                  <a:pt x="34" y="19"/>
                  <a:pt x="34" y="19"/>
                  <a:pt x="34" y="19"/>
                </a:cubicBezTo>
                <a:cubicBezTo>
                  <a:pt x="30" y="5"/>
                  <a:pt x="30" y="5"/>
                  <a:pt x="30" y="5"/>
                </a:cubicBezTo>
                <a:cubicBezTo>
                  <a:pt x="30" y="5"/>
                  <a:pt x="29" y="4"/>
                  <a:pt x="29" y="4"/>
                </a:cubicBezTo>
                <a:cubicBezTo>
                  <a:pt x="29" y="4"/>
                  <a:pt x="29" y="4"/>
                  <a:pt x="29" y="4"/>
                </a:cubicBezTo>
                <a:cubicBezTo>
                  <a:pt x="29" y="3"/>
                  <a:pt x="29" y="3"/>
                  <a:pt x="28" y="3"/>
                </a:cubicBezTo>
                <a:cubicBezTo>
                  <a:pt x="28" y="2"/>
                  <a:pt x="28" y="2"/>
                  <a:pt x="28" y="2"/>
                </a:cubicBezTo>
                <a:cubicBezTo>
                  <a:pt x="28" y="2"/>
                  <a:pt x="28" y="2"/>
                  <a:pt x="28" y="2"/>
                </a:cubicBezTo>
                <a:cubicBezTo>
                  <a:pt x="27" y="2"/>
                  <a:pt x="27" y="1"/>
                  <a:pt x="27" y="1"/>
                </a:cubicBezTo>
                <a:cubicBezTo>
                  <a:pt x="27" y="1"/>
                  <a:pt x="27" y="1"/>
                  <a:pt x="27" y="1"/>
                </a:cubicBezTo>
                <a:cubicBezTo>
                  <a:pt x="25" y="0"/>
                  <a:pt x="24" y="0"/>
                  <a:pt x="22" y="0"/>
                </a:cubicBezTo>
                <a:cubicBezTo>
                  <a:pt x="7" y="2"/>
                  <a:pt x="7" y="2"/>
                  <a:pt x="7" y="2"/>
                </a:cubicBezTo>
                <a:cubicBezTo>
                  <a:pt x="3" y="2"/>
                  <a:pt x="0" y="5"/>
                  <a:pt x="0" y="9"/>
                </a:cubicBezTo>
                <a:cubicBezTo>
                  <a:pt x="1" y="12"/>
                  <a:pt x="4" y="15"/>
                  <a:pt x="7" y="15"/>
                </a:cubicBezTo>
                <a:cubicBezTo>
                  <a:pt x="18" y="14"/>
                  <a:pt x="18" y="14"/>
                  <a:pt x="18" y="14"/>
                </a:cubicBezTo>
                <a:cubicBezTo>
                  <a:pt x="45" y="99"/>
                  <a:pt x="45" y="99"/>
                  <a:pt x="45" y="99"/>
                </a:cubicBezTo>
                <a:cubicBezTo>
                  <a:pt x="43" y="101"/>
                  <a:pt x="42" y="105"/>
                  <a:pt x="42" y="109"/>
                </a:cubicBezTo>
                <a:cubicBezTo>
                  <a:pt x="42" y="118"/>
                  <a:pt x="49" y="125"/>
                  <a:pt x="58" y="125"/>
                </a:cubicBezTo>
                <a:cubicBezTo>
                  <a:pt x="64" y="125"/>
                  <a:pt x="70" y="121"/>
                  <a:pt x="73" y="116"/>
                </a:cubicBezTo>
                <a:cubicBezTo>
                  <a:pt x="94" y="116"/>
                  <a:pt x="94" y="116"/>
                  <a:pt x="94" y="116"/>
                </a:cubicBezTo>
                <a:cubicBezTo>
                  <a:pt x="97" y="121"/>
                  <a:pt x="103" y="125"/>
                  <a:pt x="109" y="125"/>
                </a:cubicBezTo>
                <a:cubicBezTo>
                  <a:pt x="118" y="125"/>
                  <a:pt x="125" y="118"/>
                  <a:pt x="125" y="109"/>
                </a:cubicBezTo>
                <a:cubicBezTo>
                  <a:pt x="125" y="100"/>
                  <a:pt x="118" y="93"/>
                  <a:pt x="109" y="93"/>
                </a:cubicBezTo>
                <a:cubicBezTo>
                  <a:pt x="103" y="93"/>
                  <a:pt x="97" y="97"/>
                  <a:pt x="94" y="102"/>
                </a:cubicBezTo>
                <a:cubicBezTo>
                  <a:pt x="73" y="102"/>
                  <a:pt x="73" y="102"/>
                  <a:pt x="73" y="102"/>
                </a:cubicBezTo>
                <a:cubicBezTo>
                  <a:pt x="70" y="97"/>
                  <a:pt x="64" y="93"/>
                  <a:pt x="58" y="93"/>
                </a:cubicBezTo>
                <a:cubicBezTo>
                  <a:pt x="58" y="93"/>
                  <a:pt x="58" y="93"/>
                  <a:pt x="58" y="93"/>
                </a:cubicBezTo>
                <a:cubicBezTo>
                  <a:pt x="55" y="83"/>
                  <a:pt x="55" y="83"/>
                  <a:pt x="55" y="83"/>
                </a:cubicBezTo>
                <a:cubicBezTo>
                  <a:pt x="125" y="83"/>
                  <a:pt x="125" y="83"/>
                  <a:pt x="125" y="83"/>
                </a:cubicBezTo>
                <a:cubicBezTo>
                  <a:pt x="133" y="83"/>
                  <a:pt x="134" y="77"/>
                  <a:pt x="139" y="68"/>
                </a:cubicBezTo>
                <a:cubicBezTo>
                  <a:pt x="158" y="34"/>
                  <a:pt x="158" y="34"/>
                  <a:pt x="158" y="34"/>
                </a:cubicBezTo>
                <a:cubicBezTo>
                  <a:pt x="165" y="20"/>
                  <a:pt x="151" y="19"/>
                  <a:pt x="143" y="1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40" name="组合 39"/>
          <p:cNvGrpSpPr/>
          <p:nvPr/>
        </p:nvGrpSpPr>
        <p:grpSpPr>
          <a:xfrm>
            <a:off x="8660188" y="3451637"/>
            <a:ext cx="307174" cy="307212"/>
            <a:chOff x="11121822" y="1145785"/>
            <a:chExt cx="307214" cy="307212"/>
          </a:xfrm>
          <a:solidFill>
            <a:schemeClr val="bg1"/>
          </a:solidFill>
        </p:grpSpPr>
        <p:sp>
          <p:nvSpPr>
            <p:cNvPr id="42" name="Freeform 140"/>
            <p:cNvSpPr>
              <a:spLocks noEditPoints="1"/>
            </p:cNvSpPr>
            <p:nvPr/>
          </p:nvSpPr>
          <p:spPr bwMode="auto">
            <a:xfrm>
              <a:off x="11121822" y="1211403"/>
              <a:ext cx="241594" cy="241594"/>
            </a:xfrm>
            <a:custGeom>
              <a:avLst/>
              <a:gdLst>
                <a:gd name="T0" fmla="*/ 103 w 112"/>
                <a:gd name="T1" fmla="*/ 47 h 112"/>
                <a:gd name="T2" fmla="*/ 106 w 112"/>
                <a:gd name="T3" fmla="*/ 36 h 112"/>
                <a:gd name="T4" fmla="*/ 102 w 112"/>
                <a:gd name="T5" fmla="*/ 22 h 112"/>
                <a:gd name="T6" fmla="*/ 92 w 112"/>
                <a:gd name="T7" fmla="*/ 25 h 112"/>
                <a:gd name="T8" fmla="*/ 90 w 112"/>
                <a:gd name="T9" fmla="*/ 14 h 112"/>
                <a:gd name="T10" fmla="*/ 79 w 112"/>
                <a:gd name="T11" fmla="*/ 4 h 112"/>
                <a:gd name="T12" fmla="*/ 71 w 112"/>
                <a:gd name="T13" fmla="*/ 11 h 112"/>
                <a:gd name="T14" fmla="*/ 64 w 112"/>
                <a:gd name="T15" fmla="*/ 3 h 112"/>
                <a:gd name="T16" fmla="*/ 50 w 112"/>
                <a:gd name="T17" fmla="*/ 0 h 112"/>
                <a:gd name="T18" fmla="*/ 47 w 112"/>
                <a:gd name="T19" fmla="*/ 10 h 112"/>
                <a:gd name="T20" fmla="*/ 37 w 112"/>
                <a:gd name="T21" fmla="*/ 6 h 112"/>
                <a:gd name="T22" fmla="*/ 23 w 112"/>
                <a:gd name="T23" fmla="*/ 11 h 112"/>
                <a:gd name="T24" fmla="*/ 25 w 112"/>
                <a:gd name="T25" fmla="*/ 20 h 112"/>
                <a:gd name="T26" fmla="*/ 14 w 112"/>
                <a:gd name="T27" fmla="*/ 22 h 112"/>
                <a:gd name="T28" fmla="*/ 5 w 112"/>
                <a:gd name="T29" fmla="*/ 33 h 112"/>
                <a:gd name="T30" fmla="*/ 12 w 112"/>
                <a:gd name="T31" fmla="*/ 41 h 112"/>
                <a:gd name="T32" fmla="*/ 3 w 112"/>
                <a:gd name="T33" fmla="*/ 48 h 112"/>
                <a:gd name="T34" fmla="*/ 0 w 112"/>
                <a:gd name="T35" fmla="*/ 62 h 112"/>
                <a:gd name="T36" fmla="*/ 10 w 112"/>
                <a:gd name="T37" fmla="*/ 65 h 112"/>
                <a:gd name="T38" fmla="*/ 6 w 112"/>
                <a:gd name="T39" fmla="*/ 75 h 112"/>
                <a:gd name="T40" fmla="*/ 11 w 112"/>
                <a:gd name="T41" fmla="*/ 89 h 112"/>
                <a:gd name="T42" fmla="*/ 21 w 112"/>
                <a:gd name="T43" fmla="*/ 87 h 112"/>
                <a:gd name="T44" fmla="*/ 23 w 112"/>
                <a:gd name="T45" fmla="*/ 98 h 112"/>
                <a:gd name="T46" fmla="*/ 34 w 112"/>
                <a:gd name="T47" fmla="*/ 108 h 112"/>
                <a:gd name="T48" fmla="*/ 41 w 112"/>
                <a:gd name="T49" fmla="*/ 101 h 112"/>
                <a:gd name="T50" fmla="*/ 48 w 112"/>
                <a:gd name="T51" fmla="*/ 109 h 112"/>
                <a:gd name="T52" fmla="*/ 63 w 112"/>
                <a:gd name="T53" fmla="*/ 112 h 112"/>
                <a:gd name="T54" fmla="*/ 66 w 112"/>
                <a:gd name="T55" fmla="*/ 102 h 112"/>
                <a:gd name="T56" fmla="*/ 76 w 112"/>
                <a:gd name="T57" fmla="*/ 106 h 112"/>
                <a:gd name="T58" fmla="*/ 90 w 112"/>
                <a:gd name="T59" fmla="*/ 101 h 112"/>
                <a:gd name="T60" fmla="*/ 88 w 112"/>
                <a:gd name="T61" fmla="*/ 91 h 112"/>
                <a:gd name="T62" fmla="*/ 98 w 112"/>
                <a:gd name="T63" fmla="*/ 89 h 112"/>
                <a:gd name="T64" fmla="*/ 108 w 112"/>
                <a:gd name="T65" fmla="*/ 78 h 112"/>
                <a:gd name="T66" fmla="*/ 101 w 112"/>
                <a:gd name="T67" fmla="*/ 71 h 112"/>
                <a:gd name="T68" fmla="*/ 110 w 112"/>
                <a:gd name="T69" fmla="*/ 64 h 112"/>
                <a:gd name="T70" fmla="*/ 112 w 112"/>
                <a:gd name="T71" fmla="*/ 49 h 112"/>
                <a:gd name="T72" fmla="*/ 56 w 112"/>
                <a:gd name="T73" fmla="*/ 86 h 112"/>
                <a:gd name="T74" fmla="*/ 56 w 112"/>
                <a:gd name="T75" fmla="*/ 26 h 112"/>
                <a:gd name="T76" fmla="*/ 56 w 112"/>
                <a:gd name="T7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 h="112">
                  <a:moveTo>
                    <a:pt x="110" y="47"/>
                  </a:moveTo>
                  <a:cubicBezTo>
                    <a:pt x="103" y="47"/>
                    <a:pt x="103" y="47"/>
                    <a:pt x="103" y="47"/>
                  </a:cubicBezTo>
                  <a:cubicBezTo>
                    <a:pt x="102" y="44"/>
                    <a:pt x="101" y="42"/>
                    <a:pt x="101" y="39"/>
                  </a:cubicBezTo>
                  <a:cubicBezTo>
                    <a:pt x="106" y="36"/>
                    <a:pt x="106" y="36"/>
                    <a:pt x="106" y="36"/>
                  </a:cubicBezTo>
                  <a:cubicBezTo>
                    <a:pt x="108" y="35"/>
                    <a:pt x="108" y="34"/>
                    <a:pt x="107" y="32"/>
                  </a:cubicBezTo>
                  <a:cubicBezTo>
                    <a:pt x="102" y="22"/>
                    <a:pt x="102" y="22"/>
                    <a:pt x="102" y="22"/>
                  </a:cubicBezTo>
                  <a:cubicBezTo>
                    <a:pt x="101" y="21"/>
                    <a:pt x="99" y="20"/>
                    <a:pt x="98" y="21"/>
                  </a:cubicBezTo>
                  <a:cubicBezTo>
                    <a:pt x="92" y="25"/>
                    <a:pt x="92" y="25"/>
                    <a:pt x="92" y="25"/>
                  </a:cubicBezTo>
                  <a:cubicBezTo>
                    <a:pt x="90" y="23"/>
                    <a:pt x="88" y="21"/>
                    <a:pt x="87" y="20"/>
                  </a:cubicBezTo>
                  <a:cubicBezTo>
                    <a:pt x="90" y="14"/>
                    <a:pt x="90" y="14"/>
                    <a:pt x="90" y="14"/>
                  </a:cubicBezTo>
                  <a:cubicBezTo>
                    <a:pt x="91" y="12"/>
                    <a:pt x="90" y="11"/>
                    <a:pt x="89" y="10"/>
                  </a:cubicBezTo>
                  <a:cubicBezTo>
                    <a:pt x="79" y="4"/>
                    <a:pt x="79" y="4"/>
                    <a:pt x="79" y="4"/>
                  </a:cubicBezTo>
                  <a:cubicBezTo>
                    <a:pt x="77" y="3"/>
                    <a:pt x="76" y="4"/>
                    <a:pt x="75" y="5"/>
                  </a:cubicBezTo>
                  <a:cubicBezTo>
                    <a:pt x="71" y="11"/>
                    <a:pt x="71" y="11"/>
                    <a:pt x="71" y="11"/>
                  </a:cubicBezTo>
                  <a:cubicBezTo>
                    <a:pt x="69" y="10"/>
                    <a:pt x="67" y="10"/>
                    <a:pt x="64" y="9"/>
                  </a:cubicBezTo>
                  <a:cubicBezTo>
                    <a:pt x="64" y="3"/>
                    <a:pt x="64" y="3"/>
                    <a:pt x="64" y="3"/>
                  </a:cubicBezTo>
                  <a:cubicBezTo>
                    <a:pt x="64" y="1"/>
                    <a:pt x="63" y="0"/>
                    <a:pt x="61" y="0"/>
                  </a:cubicBezTo>
                  <a:cubicBezTo>
                    <a:pt x="50" y="0"/>
                    <a:pt x="50" y="0"/>
                    <a:pt x="50" y="0"/>
                  </a:cubicBezTo>
                  <a:cubicBezTo>
                    <a:pt x="48" y="0"/>
                    <a:pt x="47" y="1"/>
                    <a:pt x="47" y="3"/>
                  </a:cubicBezTo>
                  <a:cubicBezTo>
                    <a:pt x="47" y="10"/>
                    <a:pt x="47" y="10"/>
                    <a:pt x="47" y="10"/>
                  </a:cubicBezTo>
                  <a:cubicBezTo>
                    <a:pt x="45" y="10"/>
                    <a:pt x="42" y="11"/>
                    <a:pt x="40" y="12"/>
                  </a:cubicBezTo>
                  <a:cubicBezTo>
                    <a:pt x="37" y="6"/>
                    <a:pt x="37" y="6"/>
                    <a:pt x="37" y="6"/>
                  </a:cubicBezTo>
                  <a:cubicBezTo>
                    <a:pt x="36" y="4"/>
                    <a:pt x="34" y="4"/>
                    <a:pt x="33" y="5"/>
                  </a:cubicBezTo>
                  <a:cubicBezTo>
                    <a:pt x="23" y="11"/>
                    <a:pt x="23" y="11"/>
                    <a:pt x="23" y="11"/>
                  </a:cubicBezTo>
                  <a:cubicBezTo>
                    <a:pt x="21" y="11"/>
                    <a:pt x="21" y="13"/>
                    <a:pt x="22" y="14"/>
                  </a:cubicBezTo>
                  <a:cubicBezTo>
                    <a:pt x="25" y="20"/>
                    <a:pt x="25" y="20"/>
                    <a:pt x="25" y="20"/>
                  </a:cubicBezTo>
                  <a:cubicBezTo>
                    <a:pt x="23" y="22"/>
                    <a:pt x="22" y="24"/>
                    <a:pt x="20" y="26"/>
                  </a:cubicBezTo>
                  <a:cubicBezTo>
                    <a:pt x="14" y="22"/>
                    <a:pt x="14" y="22"/>
                    <a:pt x="14" y="22"/>
                  </a:cubicBezTo>
                  <a:cubicBezTo>
                    <a:pt x="13" y="22"/>
                    <a:pt x="11" y="22"/>
                    <a:pt x="10" y="23"/>
                  </a:cubicBezTo>
                  <a:cubicBezTo>
                    <a:pt x="5" y="33"/>
                    <a:pt x="5" y="33"/>
                    <a:pt x="5" y="33"/>
                  </a:cubicBezTo>
                  <a:cubicBezTo>
                    <a:pt x="4" y="35"/>
                    <a:pt x="4" y="36"/>
                    <a:pt x="6" y="37"/>
                  </a:cubicBezTo>
                  <a:cubicBezTo>
                    <a:pt x="12" y="41"/>
                    <a:pt x="12" y="41"/>
                    <a:pt x="12" y="41"/>
                  </a:cubicBezTo>
                  <a:cubicBezTo>
                    <a:pt x="11" y="43"/>
                    <a:pt x="10" y="45"/>
                    <a:pt x="10" y="48"/>
                  </a:cubicBezTo>
                  <a:cubicBezTo>
                    <a:pt x="3" y="48"/>
                    <a:pt x="3" y="48"/>
                    <a:pt x="3" y="48"/>
                  </a:cubicBezTo>
                  <a:cubicBezTo>
                    <a:pt x="2" y="48"/>
                    <a:pt x="0" y="49"/>
                    <a:pt x="0" y="51"/>
                  </a:cubicBezTo>
                  <a:cubicBezTo>
                    <a:pt x="0" y="62"/>
                    <a:pt x="0" y="62"/>
                    <a:pt x="0" y="62"/>
                  </a:cubicBezTo>
                  <a:cubicBezTo>
                    <a:pt x="0" y="64"/>
                    <a:pt x="2" y="65"/>
                    <a:pt x="3" y="65"/>
                  </a:cubicBezTo>
                  <a:cubicBezTo>
                    <a:pt x="10" y="65"/>
                    <a:pt x="10" y="65"/>
                    <a:pt x="10" y="65"/>
                  </a:cubicBezTo>
                  <a:cubicBezTo>
                    <a:pt x="11" y="68"/>
                    <a:pt x="11" y="70"/>
                    <a:pt x="12" y="72"/>
                  </a:cubicBezTo>
                  <a:cubicBezTo>
                    <a:pt x="6" y="75"/>
                    <a:pt x="6" y="75"/>
                    <a:pt x="6" y="75"/>
                  </a:cubicBezTo>
                  <a:cubicBezTo>
                    <a:pt x="5" y="76"/>
                    <a:pt x="5" y="78"/>
                    <a:pt x="5" y="79"/>
                  </a:cubicBezTo>
                  <a:cubicBezTo>
                    <a:pt x="11" y="89"/>
                    <a:pt x="11" y="89"/>
                    <a:pt x="11" y="89"/>
                  </a:cubicBezTo>
                  <a:cubicBezTo>
                    <a:pt x="12" y="91"/>
                    <a:pt x="14" y="91"/>
                    <a:pt x="15" y="90"/>
                  </a:cubicBezTo>
                  <a:cubicBezTo>
                    <a:pt x="21" y="87"/>
                    <a:pt x="21" y="87"/>
                    <a:pt x="21" y="87"/>
                  </a:cubicBezTo>
                  <a:cubicBezTo>
                    <a:pt x="23" y="89"/>
                    <a:pt x="24" y="91"/>
                    <a:pt x="26" y="92"/>
                  </a:cubicBezTo>
                  <a:cubicBezTo>
                    <a:pt x="23" y="98"/>
                    <a:pt x="23" y="98"/>
                    <a:pt x="23" y="98"/>
                  </a:cubicBezTo>
                  <a:cubicBezTo>
                    <a:pt x="22" y="99"/>
                    <a:pt x="23" y="101"/>
                    <a:pt x="24" y="102"/>
                  </a:cubicBezTo>
                  <a:cubicBezTo>
                    <a:pt x="34" y="108"/>
                    <a:pt x="34" y="108"/>
                    <a:pt x="34" y="108"/>
                  </a:cubicBezTo>
                  <a:cubicBezTo>
                    <a:pt x="35" y="108"/>
                    <a:pt x="37" y="108"/>
                    <a:pt x="38" y="106"/>
                  </a:cubicBezTo>
                  <a:cubicBezTo>
                    <a:pt x="41" y="101"/>
                    <a:pt x="41" y="101"/>
                    <a:pt x="41" y="101"/>
                  </a:cubicBezTo>
                  <a:cubicBezTo>
                    <a:pt x="44" y="101"/>
                    <a:pt x="46" y="102"/>
                    <a:pt x="48" y="102"/>
                  </a:cubicBezTo>
                  <a:cubicBezTo>
                    <a:pt x="48" y="109"/>
                    <a:pt x="48" y="109"/>
                    <a:pt x="48" y="109"/>
                  </a:cubicBezTo>
                  <a:cubicBezTo>
                    <a:pt x="48" y="111"/>
                    <a:pt x="50" y="112"/>
                    <a:pt x="51" y="112"/>
                  </a:cubicBezTo>
                  <a:cubicBezTo>
                    <a:pt x="63" y="112"/>
                    <a:pt x="63" y="112"/>
                    <a:pt x="63" y="112"/>
                  </a:cubicBezTo>
                  <a:cubicBezTo>
                    <a:pt x="64" y="112"/>
                    <a:pt x="66" y="111"/>
                    <a:pt x="66" y="109"/>
                  </a:cubicBezTo>
                  <a:cubicBezTo>
                    <a:pt x="66" y="102"/>
                    <a:pt x="66" y="102"/>
                    <a:pt x="66" y="102"/>
                  </a:cubicBezTo>
                  <a:cubicBezTo>
                    <a:pt x="68" y="102"/>
                    <a:pt x="70" y="101"/>
                    <a:pt x="73" y="100"/>
                  </a:cubicBezTo>
                  <a:cubicBezTo>
                    <a:pt x="76" y="106"/>
                    <a:pt x="76" y="106"/>
                    <a:pt x="76" y="106"/>
                  </a:cubicBezTo>
                  <a:cubicBezTo>
                    <a:pt x="77" y="107"/>
                    <a:pt x="79" y="108"/>
                    <a:pt x="80" y="107"/>
                  </a:cubicBezTo>
                  <a:cubicBezTo>
                    <a:pt x="90" y="101"/>
                    <a:pt x="90" y="101"/>
                    <a:pt x="90" y="101"/>
                  </a:cubicBezTo>
                  <a:cubicBezTo>
                    <a:pt x="91" y="100"/>
                    <a:pt x="92" y="99"/>
                    <a:pt x="91" y="97"/>
                  </a:cubicBezTo>
                  <a:cubicBezTo>
                    <a:pt x="88" y="91"/>
                    <a:pt x="88" y="91"/>
                    <a:pt x="88" y="91"/>
                  </a:cubicBezTo>
                  <a:cubicBezTo>
                    <a:pt x="89" y="90"/>
                    <a:pt x="91" y="88"/>
                    <a:pt x="93" y="86"/>
                  </a:cubicBezTo>
                  <a:cubicBezTo>
                    <a:pt x="98" y="89"/>
                    <a:pt x="98" y="89"/>
                    <a:pt x="98" y="89"/>
                  </a:cubicBezTo>
                  <a:cubicBezTo>
                    <a:pt x="100" y="90"/>
                    <a:pt x="102" y="90"/>
                    <a:pt x="102" y="88"/>
                  </a:cubicBezTo>
                  <a:cubicBezTo>
                    <a:pt x="108" y="78"/>
                    <a:pt x="108" y="78"/>
                    <a:pt x="108" y="78"/>
                  </a:cubicBezTo>
                  <a:cubicBezTo>
                    <a:pt x="109" y="77"/>
                    <a:pt x="108" y="75"/>
                    <a:pt x="107" y="74"/>
                  </a:cubicBezTo>
                  <a:cubicBezTo>
                    <a:pt x="101" y="71"/>
                    <a:pt x="101" y="71"/>
                    <a:pt x="101" y="71"/>
                  </a:cubicBezTo>
                  <a:cubicBezTo>
                    <a:pt x="102" y="69"/>
                    <a:pt x="102" y="66"/>
                    <a:pt x="103" y="64"/>
                  </a:cubicBezTo>
                  <a:cubicBezTo>
                    <a:pt x="110" y="64"/>
                    <a:pt x="110" y="64"/>
                    <a:pt x="110" y="64"/>
                  </a:cubicBezTo>
                  <a:cubicBezTo>
                    <a:pt x="111" y="64"/>
                    <a:pt x="112" y="63"/>
                    <a:pt x="112" y="61"/>
                  </a:cubicBezTo>
                  <a:cubicBezTo>
                    <a:pt x="112" y="49"/>
                    <a:pt x="112" y="49"/>
                    <a:pt x="112" y="49"/>
                  </a:cubicBezTo>
                  <a:cubicBezTo>
                    <a:pt x="112" y="48"/>
                    <a:pt x="111" y="47"/>
                    <a:pt x="110" y="47"/>
                  </a:cubicBezTo>
                  <a:close/>
                  <a:moveTo>
                    <a:pt x="56" y="86"/>
                  </a:moveTo>
                  <a:cubicBezTo>
                    <a:pt x="40" y="86"/>
                    <a:pt x="26" y="72"/>
                    <a:pt x="26" y="56"/>
                  </a:cubicBezTo>
                  <a:cubicBezTo>
                    <a:pt x="26" y="39"/>
                    <a:pt x="40" y="26"/>
                    <a:pt x="56" y="26"/>
                  </a:cubicBezTo>
                  <a:cubicBezTo>
                    <a:pt x="73" y="26"/>
                    <a:pt x="86" y="39"/>
                    <a:pt x="86" y="56"/>
                  </a:cubicBezTo>
                  <a:cubicBezTo>
                    <a:pt x="86" y="72"/>
                    <a:pt x="73" y="86"/>
                    <a:pt x="56" y="8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44" name="Freeform 141"/>
            <p:cNvSpPr>
              <a:spLocks noEditPoints="1"/>
            </p:cNvSpPr>
            <p:nvPr/>
          </p:nvSpPr>
          <p:spPr bwMode="auto">
            <a:xfrm>
              <a:off x="11317186" y="1145785"/>
              <a:ext cx="111850" cy="113341"/>
            </a:xfrm>
            <a:custGeom>
              <a:avLst/>
              <a:gdLst>
                <a:gd name="T0" fmla="*/ 48 w 52"/>
                <a:gd name="T1" fmla="*/ 23 h 52"/>
                <a:gd name="T2" fmla="*/ 50 w 52"/>
                <a:gd name="T3" fmla="*/ 17 h 52"/>
                <a:gd name="T4" fmla="*/ 48 w 52"/>
                <a:gd name="T5" fmla="*/ 11 h 52"/>
                <a:gd name="T6" fmla="*/ 44 w 52"/>
                <a:gd name="T7" fmla="*/ 12 h 52"/>
                <a:gd name="T8" fmla="*/ 42 w 52"/>
                <a:gd name="T9" fmla="*/ 6 h 52"/>
                <a:gd name="T10" fmla="*/ 38 w 52"/>
                <a:gd name="T11" fmla="*/ 2 h 52"/>
                <a:gd name="T12" fmla="*/ 34 w 52"/>
                <a:gd name="T13" fmla="*/ 5 h 52"/>
                <a:gd name="T14" fmla="*/ 30 w 52"/>
                <a:gd name="T15" fmla="*/ 1 h 52"/>
                <a:gd name="T16" fmla="*/ 24 w 52"/>
                <a:gd name="T17" fmla="*/ 0 h 52"/>
                <a:gd name="T18" fmla="*/ 23 w 52"/>
                <a:gd name="T19" fmla="*/ 4 h 52"/>
                <a:gd name="T20" fmla="*/ 17 w 52"/>
                <a:gd name="T21" fmla="*/ 2 h 52"/>
                <a:gd name="T22" fmla="*/ 11 w 52"/>
                <a:gd name="T23" fmla="*/ 4 h 52"/>
                <a:gd name="T24" fmla="*/ 12 w 52"/>
                <a:gd name="T25" fmla="*/ 8 h 52"/>
                <a:gd name="T26" fmla="*/ 6 w 52"/>
                <a:gd name="T27" fmla="*/ 10 h 52"/>
                <a:gd name="T28" fmla="*/ 2 w 52"/>
                <a:gd name="T29" fmla="*/ 14 h 52"/>
                <a:gd name="T30" fmla="*/ 6 w 52"/>
                <a:gd name="T31" fmla="*/ 18 h 52"/>
                <a:gd name="T32" fmla="*/ 1 w 52"/>
                <a:gd name="T33" fmla="*/ 22 h 52"/>
                <a:gd name="T34" fmla="*/ 0 w 52"/>
                <a:gd name="T35" fmla="*/ 28 h 52"/>
                <a:gd name="T36" fmla="*/ 4 w 52"/>
                <a:gd name="T37" fmla="*/ 29 h 52"/>
                <a:gd name="T38" fmla="*/ 2 w 52"/>
                <a:gd name="T39" fmla="*/ 35 h 52"/>
                <a:gd name="T40" fmla="*/ 4 w 52"/>
                <a:gd name="T41" fmla="*/ 41 h 52"/>
                <a:gd name="T42" fmla="*/ 9 w 52"/>
                <a:gd name="T43" fmla="*/ 40 h 52"/>
                <a:gd name="T44" fmla="*/ 10 w 52"/>
                <a:gd name="T45" fmla="*/ 46 h 52"/>
                <a:gd name="T46" fmla="*/ 15 w 52"/>
                <a:gd name="T47" fmla="*/ 50 h 52"/>
                <a:gd name="T48" fmla="*/ 18 w 52"/>
                <a:gd name="T49" fmla="*/ 47 h 52"/>
                <a:gd name="T50" fmla="*/ 22 w 52"/>
                <a:gd name="T51" fmla="*/ 51 h 52"/>
                <a:gd name="T52" fmla="*/ 28 w 52"/>
                <a:gd name="T53" fmla="*/ 52 h 52"/>
                <a:gd name="T54" fmla="*/ 29 w 52"/>
                <a:gd name="T55" fmla="*/ 48 h 52"/>
                <a:gd name="T56" fmla="*/ 35 w 52"/>
                <a:gd name="T57" fmla="*/ 50 h 52"/>
                <a:gd name="T58" fmla="*/ 41 w 52"/>
                <a:gd name="T59" fmla="*/ 48 h 52"/>
                <a:gd name="T60" fmla="*/ 40 w 52"/>
                <a:gd name="T61" fmla="*/ 43 h 52"/>
                <a:gd name="T62" fmla="*/ 46 w 52"/>
                <a:gd name="T63" fmla="*/ 42 h 52"/>
                <a:gd name="T64" fmla="*/ 50 w 52"/>
                <a:gd name="T65" fmla="*/ 37 h 52"/>
                <a:gd name="T66" fmla="*/ 47 w 52"/>
                <a:gd name="T67" fmla="*/ 34 h 52"/>
                <a:gd name="T68" fmla="*/ 51 w 52"/>
                <a:gd name="T69" fmla="*/ 30 h 52"/>
                <a:gd name="T70" fmla="*/ 52 w 52"/>
                <a:gd name="T71" fmla="*/ 24 h 52"/>
                <a:gd name="T72" fmla="*/ 26 w 52"/>
                <a:gd name="T73" fmla="*/ 40 h 52"/>
                <a:gd name="T74" fmla="*/ 26 w 52"/>
                <a:gd name="T75" fmla="*/ 12 h 52"/>
                <a:gd name="T76" fmla="*/ 26 w 52"/>
                <a:gd name="T77" fmla="*/ 4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2" h="52">
                  <a:moveTo>
                    <a:pt x="51" y="23"/>
                  </a:moveTo>
                  <a:cubicBezTo>
                    <a:pt x="48" y="23"/>
                    <a:pt x="48" y="23"/>
                    <a:pt x="48" y="23"/>
                  </a:cubicBezTo>
                  <a:cubicBezTo>
                    <a:pt x="48" y="21"/>
                    <a:pt x="48" y="20"/>
                    <a:pt x="47" y="18"/>
                  </a:cubicBezTo>
                  <a:cubicBezTo>
                    <a:pt x="50" y="17"/>
                    <a:pt x="50" y="17"/>
                    <a:pt x="50" y="17"/>
                  </a:cubicBezTo>
                  <a:cubicBezTo>
                    <a:pt x="50" y="16"/>
                    <a:pt x="51" y="16"/>
                    <a:pt x="50" y="15"/>
                  </a:cubicBezTo>
                  <a:cubicBezTo>
                    <a:pt x="48" y="11"/>
                    <a:pt x="48" y="11"/>
                    <a:pt x="48" y="11"/>
                  </a:cubicBezTo>
                  <a:cubicBezTo>
                    <a:pt x="48" y="10"/>
                    <a:pt x="47" y="10"/>
                    <a:pt x="46" y="11"/>
                  </a:cubicBezTo>
                  <a:cubicBezTo>
                    <a:pt x="44" y="12"/>
                    <a:pt x="44" y="12"/>
                    <a:pt x="44" y="12"/>
                  </a:cubicBezTo>
                  <a:cubicBezTo>
                    <a:pt x="43" y="11"/>
                    <a:pt x="42" y="10"/>
                    <a:pt x="40" y="9"/>
                  </a:cubicBezTo>
                  <a:cubicBezTo>
                    <a:pt x="42" y="6"/>
                    <a:pt x="42" y="6"/>
                    <a:pt x="42" y="6"/>
                  </a:cubicBezTo>
                  <a:cubicBezTo>
                    <a:pt x="42" y="6"/>
                    <a:pt x="42" y="5"/>
                    <a:pt x="42" y="4"/>
                  </a:cubicBezTo>
                  <a:cubicBezTo>
                    <a:pt x="38" y="2"/>
                    <a:pt x="38" y="2"/>
                    <a:pt x="38" y="2"/>
                  </a:cubicBezTo>
                  <a:cubicBezTo>
                    <a:pt x="37" y="2"/>
                    <a:pt x="36" y="2"/>
                    <a:pt x="36" y="3"/>
                  </a:cubicBezTo>
                  <a:cubicBezTo>
                    <a:pt x="34" y="5"/>
                    <a:pt x="34" y="5"/>
                    <a:pt x="34" y="5"/>
                  </a:cubicBezTo>
                  <a:cubicBezTo>
                    <a:pt x="33" y="5"/>
                    <a:pt x="32" y="4"/>
                    <a:pt x="30" y="4"/>
                  </a:cubicBezTo>
                  <a:cubicBezTo>
                    <a:pt x="30" y="1"/>
                    <a:pt x="30" y="1"/>
                    <a:pt x="30" y="1"/>
                  </a:cubicBezTo>
                  <a:cubicBezTo>
                    <a:pt x="30" y="0"/>
                    <a:pt x="29" y="0"/>
                    <a:pt x="29" y="0"/>
                  </a:cubicBezTo>
                  <a:cubicBezTo>
                    <a:pt x="24" y="0"/>
                    <a:pt x="24" y="0"/>
                    <a:pt x="24" y="0"/>
                  </a:cubicBezTo>
                  <a:cubicBezTo>
                    <a:pt x="24" y="0"/>
                    <a:pt x="23" y="0"/>
                    <a:pt x="23" y="1"/>
                  </a:cubicBezTo>
                  <a:cubicBezTo>
                    <a:pt x="23" y="4"/>
                    <a:pt x="23" y="4"/>
                    <a:pt x="23" y="4"/>
                  </a:cubicBezTo>
                  <a:cubicBezTo>
                    <a:pt x="21" y="4"/>
                    <a:pt x="20" y="5"/>
                    <a:pt x="19" y="5"/>
                  </a:cubicBezTo>
                  <a:cubicBezTo>
                    <a:pt x="17" y="2"/>
                    <a:pt x="17" y="2"/>
                    <a:pt x="17" y="2"/>
                  </a:cubicBezTo>
                  <a:cubicBezTo>
                    <a:pt x="17" y="2"/>
                    <a:pt x="16" y="1"/>
                    <a:pt x="15" y="2"/>
                  </a:cubicBezTo>
                  <a:cubicBezTo>
                    <a:pt x="11" y="4"/>
                    <a:pt x="11" y="4"/>
                    <a:pt x="11" y="4"/>
                  </a:cubicBezTo>
                  <a:cubicBezTo>
                    <a:pt x="11" y="4"/>
                    <a:pt x="11" y="5"/>
                    <a:pt x="11" y="6"/>
                  </a:cubicBezTo>
                  <a:cubicBezTo>
                    <a:pt x="12" y="8"/>
                    <a:pt x="12" y="8"/>
                    <a:pt x="12" y="8"/>
                  </a:cubicBezTo>
                  <a:cubicBezTo>
                    <a:pt x="11" y="9"/>
                    <a:pt x="10" y="10"/>
                    <a:pt x="9" y="12"/>
                  </a:cubicBezTo>
                  <a:cubicBezTo>
                    <a:pt x="6" y="10"/>
                    <a:pt x="6" y="10"/>
                    <a:pt x="6" y="10"/>
                  </a:cubicBezTo>
                  <a:cubicBezTo>
                    <a:pt x="6" y="10"/>
                    <a:pt x="5" y="10"/>
                    <a:pt x="5" y="10"/>
                  </a:cubicBezTo>
                  <a:cubicBezTo>
                    <a:pt x="2" y="14"/>
                    <a:pt x="2" y="14"/>
                    <a:pt x="2" y="14"/>
                  </a:cubicBezTo>
                  <a:cubicBezTo>
                    <a:pt x="2" y="15"/>
                    <a:pt x="2" y="16"/>
                    <a:pt x="3" y="16"/>
                  </a:cubicBezTo>
                  <a:cubicBezTo>
                    <a:pt x="6" y="18"/>
                    <a:pt x="6" y="18"/>
                    <a:pt x="6" y="18"/>
                  </a:cubicBezTo>
                  <a:cubicBezTo>
                    <a:pt x="5" y="19"/>
                    <a:pt x="5" y="21"/>
                    <a:pt x="4" y="22"/>
                  </a:cubicBezTo>
                  <a:cubicBezTo>
                    <a:pt x="1" y="22"/>
                    <a:pt x="1" y="22"/>
                    <a:pt x="1" y="22"/>
                  </a:cubicBezTo>
                  <a:cubicBezTo>
                    <a:pt x="0" y="22"/>
                    <a:pt x="0" y="23"/>
                    <a:pt x="0" y="23"/>
                  </a:cubicBezTo>
                  <a:cubicBezTo>
                    <a:pt x="0" y="28"/>
                    <a:pt x="0" y="28"/>
                    <a:pt x="0" y="28"/>
                  </a:cubicBezTo>
                  <a:cubicBezTo>
                    <a:pt x="0" y="29"/>
                    <a:pt x="0" y="29"/>
                    <a:pt x="1" y="29"/>
                  </a:cubicBezTo>
                  <a:cubicBezTo>
                    <a:pt x="4" y="29"/>
                    <a:pt x="4" y="29"/>
                    <a:pt x="4" y="29"/>
                  </a:cubicBezTo>
                  <a:cubicBezTo>
                    <a:pt x="4" y="31"/>
                    <a:pt x="5" y="32"/>
                    <a:pt x="5" y="34"/>
                  </a:cubicBezTo>
                  <a:cubicBezTo>
                    <a:pt x="2" y="35"/>
                    <a:pt x="2" y="35"/>
                    <a:pt x="2" y="35"/>
                  </a:cubicBezTo>
                  <a:cubicBezTo>
                    <a:pt x="2" y="36"/>
                    <a:pt x="2" y="36"/>
                    <a:pt x="2" y="37"/>
                  </a:cubicBezTo>
                  <a:cubicBezTo>
                    <a:pt x="4" y="41"/>
                    <a:pt x="4" y="41"/>
                    <a:pt x="4" y="41"/>
                  </a:cubicBezTo>
                  <a:cubicBezTo>
                    <a:pt x="5" y="41"/>
                    <a:pt x="5" y="42"/>
                    <a:pt x="6" y="41"/>
                  </a:cubicBezTo>
                  <a:cubicBezTo>
                    <a:pt x="9" y="40"/>
                    <a:pt x="9" y="40"/>
                    <a:pt x="9" y="40"/>
                  </a:cubicBezTo>
                  <a:cubicBezTo>
                    <a:pt x="10" y="41"/>
                    <a:pt x="11" y="42"/>
                    <a:pt x="12" y="43"/>
                  </a:cubicBezTo>
                  <a:cubicBezTo>
                    <a:pt x="10" y="46"/>
                    <a:pt x="10" y="46"/>
                    <a:pt x="10" y="46"/>
                  </a:cubicBezTo>
                  <a:cubicBezTo>
                    <a:pt x="10" y="46"/>
                    <a:pt x="10" y="47"/>
                    <a:pt x="11" y="47"/>
                  </a:cubicBezTo>
                  <a:cubicBezTo>
                    <a:pt x="15" y="50"/>
                    <a:pt x="15" y="50"/>
                    <a:pt x="15" y="50"/>
                  </a:cubicBezTo>
                  <a:cubicBezTo>
                    <a:pt x="15" y="50"/>
                    <a:pt x="16" y="50"/>
                    <a:pt x="16" y="49"/>
                  </a:cubicBezTo>
                  <a:cubicBezTo>
                    <a:pt x="18" y="47"/>
                    <a:pt x="18" y="47"/>
                    <a:pt x="18" y="47"/>
                  </a:cubicBezTo>
                  <a:cubicBezTo>
                    <a:pt x="19" y="47"/>
                    <a:pt x="21" y="48"/>
                    <a:pt x="22" y="48"/>
                  </a:cubicBezTo>
                  <a:cubicBezTo>
                    <a:pt x="22" y="51"/>
                    <a:pt x="22" y="51"/>
                    <a:pt x="22" y="51"/>
                  </a:cubicBezTo>
                  <a:cubicBezTo>
                    <a:pt x="22" y="52"/>
                    <a:pt x="23" y="52"/>
                    <a:pt x="24" y="52"/>
                  </a:cubicBezTo>
                  <a:cubicBezTo>
                    <a:pt x="28" y="52"/>
                    <a:pt x="28" y="52"/>
                    <a:pt x="28" y="52"/>
                  </a:cubicBezTo>
                  <a:cubicBezTo>
                    <a:pt x="29" y="52"/>
                    <a:pt x="29" y="52"/>
                    <a:pt x="29" y="51"/>
                  </a:cubicBezTo>
                  <a:cubicBezTo>
                    <a:pt x="29" y="48"/>
                    <a:pt x="29" y="48"/>
                    <a:pt x="29" y="48"/>
                  </a:cubicBezTo>
                  <a:cubicBezTo>
                    <a:pt x="31" y="48"/>
                    <a:pt x="32" y="47"/>
                    <a:pt x="34" y="47"/>
                  </a:cubicBezTo>
                  <a:cubicBezTo>
                    <a:pt x="35" y="50"/>
                    <a:pt x="35" y="50"/>
                    <a:pt x="35" y="50"/>
                  </a:cubicBezTo>
                  <a:cubicBezTo>
                    <a:pt x="36" y="50"/>
                    <a:pt x="36" y="50"/>
                    <a:pt x="37" y="50"/>
                  </a:cubicBezTo>
                  <a:cubicBezTo>
                    <a:pt x="41" y="48"/>
                    <a:pt x="41" y="48"/>
                    <a:pt x="41" y="48"/>
                  </a:cubicBezTo>
                  <a:cubicBezTo>
                    <a:pt x="42" y="47"/>
                    <a:pt x="42" y="47"/>
                    <a:pt x="41" y="46"/>
                  </a:cubicBezTo>
                  <a:cubicBezTo>
                    <a:pt x="40" y="43"/>
                    <a:pt x="40" y="43"/>
                    <a:pt x="40" y="43"/>
                  </a:cubicBezTo>
                  <a:cubicBezTo>
                    <a:pt x="41" y="42"/>
                    <a:pt x="42" y="41"/>
                    <a:pt x="43" y="40"/>
                  </a:cubicBezTo>
                  <a:cubicBezTo>
                    <a:pt x="46" y="42"/>
                    <a:pt x="46" y="42"/>
                    <a:pt x="46" y="42"/>
                  </a:cubicBezTo>
                  <a:cubicBezTo>
                    <a:pt x="47" y="42"/>
                    <a:pt x="47" y="42"/>
                    <a:pt x="48" y="41"/>
                  </a:cubicBezTo>
                  <a:cubicBezTo>
                    <a:pt x="50" y="37"/>
                    <a:pt x="50" y="37"/>
                    <a:pt x="50" y="37"/>
                  </a:cubicBezTo>
                  <a:cubicBezTo>
                    <a:pt x="50" y="37"/>
                    <a:pt x="50" y="36"/>
                    <a:pt x="50" y="36"/>
                  </a:cubicBezTo>
                  <a:cubicBezTo>
                    <a:pt x="47" y="34"/>
                    <a:pt x="47" y="34"/>
                    <a:pt x="47" y="34"/>
                  </a:cubicBezTo>
                  <a:cubicBezTo>
                    <a:pt x="47" y="33"/>
                    <a:pt x="48" y="31"/>
                    <a:pt x="48" y="30"/>
                  </a:cubicBezTo>
                  <a:cubicBezTo>
                    <a:pt x="51" y="30"/>
                    <a:pt x="51" y="30"/>
                    <a:pt x="51" y="30"/>
                  </a:cubicBezTo>
                  <a:cubicBezTo>
                    <a:pt x="52" y="30"/>
                    <a:pt x="52" y="29"/>
                    <a:pt x="52" y="29"/>
                  </a:cubicBezTo>
                  <a:cubicBezTo>
                    <a:pt x="52" y="24"/>
                    <a:pt x="52" y="24"/>
                    <a:pt x="52" y="24"/>
                  </a:cubicBezTo>
                  <a:cubicBezTo>
                    <a:pt x="52" y="23"/>
                    <a:pt x="52" y="23"/>
                    <a:pt x="51" y="23"/>
                  </a:cubicBezTo>
                  <a:close/>
                  <a:moveTo>
                    <a:pt x="26" y="40"/>
                  </a:moveTo>
                  <a:cubicBezTo>
                    <a:pt x="18" y="40"/>
                    <a:pt x="12" y="34"/>
                    <a:pt x="12" y="26"/>
                  </a:cubicBezTo>
                  <a:cubicBezTo>
                    <a:pt x="12" y="18"/>
                    <a:pt x="18" y="12"/>
                    <a:pt x="26" y="12"/>
                  </a:cubicBezTo>
                  <a:cubicBezTo>
                    <a:pt x="34" y="12"/>
                    <a:pt x="40" y="18"/>
                    <a:pt x="40" y="26"/>
                  </a:cubicBezTo>
                  <a:cubicBezTo>
                    <a:pt x="40" y="34"/>
                    <a:pt x="34" y="40"/>
                    <a:pt x="26"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grpSp>
      <p:sp>
        <p:nvSpPr>
          <p:cNvPr id="46" name="Freeform 142"/>
          <p:cNvSpPr/>
          <p:nvPr/>
        </p:nvSpPr>
        <p:spPr bwMode="auto">
          <a:xfrm>
            <a:off x="5944715" y="3528116"/>
            <a:ext cx="292261" cy="238612"/>
          </a:xfrm>
          <a:custGeom>
            <a:avLst/>
            <a:gdLst>
              <a:gd name="T0" fmla="*/ 135 w 135"/>
              <a:gd name="T1" fmla="*/ 49 h 110"/>
              <a:gd name="T2" fmla="*/ 68 w 135"/>
              <a:gd name="T3" fmla="*/ 0 h 110"/>
              <a:gd name="T4" fmla="*/ 0 w 135"/>
              <a:gd name="T5" fmla="*/ 49 h 110"/>
              <a:gd name="T6" fmla="*/ 68 w 135"/>
              <a:gd name="T7" fmla="*/ 99 h 110"/>
              <a:gd name="T8" fmla="*/ 93 w 135"/>
              <a:gd name="T9" fmla="*/ 96 h 110"/>
              <a:gd name="T10" fmla="*/ 121 w 135"/>
              <a:gd name="T11" fmla="*/ 110 h 110"/>
              <a:gd name="T12" fmla="*/ 113 w 135"/>
              <a:gd name="T13" fmla="*/ 86 h 110"/>
              <a:gd name="T14" fmla="*/ 135 w 135"/>
              <a:gd name="T15" fmla="*/ 49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10">
                <a:moveTo>
                  <a:pt x="135" y="49"/>
                </a:moveTo>
                <a:cubicBezTo>
                  <a:pt x="135" y="22"/>
                  <a:pt x="105" y="0"/>
                  <a:pt x="68" y="0"/>
                </a:cubicBezTo>
                <a:cubicBezTo>
                  <a:pt x="30" y="0"/>
                  <a:pt x="0" y="22"/>
                  <a:pt x="0" y="49"/>
                </a:cubicBezTo>
                <a:cubicBezTo>
                  <a:pt x="0" y="77"/>
                  <a:pt x="30" y="99"/>
                  <a:pt x="68" y="99"/>
                </a:cubicBezTo>
                <a:cubicBezTo>
                  <a:pt x="76" y="99"/>
                  <a:pt x="85" y="98"/>
                  <a:pt x="93" y="96"/>
                </a:cubicBezTo>
                <a:cubicBezTo>
                  <a:pt x="95" y="95"/>
                  <a:pt x="121" y="110"/>
                  <a:pt x="121" y="110"/>
                </a:cubicBezTo>
                <a:cubicBezTo>
                  <a:pt x="113" y="86"/>
                  <a:pt x="113" y="86"/>
                  <a:pt x="113" y="86"/>
                </a:cubicBezTo>
                <a:cubicBezTo>
                  <a:pt x="126" y="77"/>
                  <a:pt x="135" y="64"/>
                  <a:pt x="135" y="4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pic>
        <p:nvPicPr>
          <p:cNvPr id="4" name="图片 3"/>
          <p:cNvPicPr>
            <a:picLocks noChangeAspect="1"/>
          </p:cNvPicPr>
          <p:nvPr/>
        </p:nvPicPr>
        <p:blipFill>
          <a:blip r:embed="rId1"/>
          <a:stretch>
            <a:fillRect/>
          </a:stretch>
        </p:blipFill>
        <p:spPr>
          <a:xfrm>
            <a:off x="50165" y="732155"/>
            <a:ext cx="7241540" cy="6090285"/>
          </a:xfrm>
          <a:prstGeom prst="rect">
            <a:avLst/>
          </a:prstGeom>
        </p:spPr>
      </p:pic>
      <p:cxnSp>
        <p:nvCxnSpPr>
          <p:cNvPr id="47" name="直接连接符 46"/>
          <p:cNvCxnSpPr/>
          <p:nvPr/>
        </p:nvCxnSpPr>
        <p:spPr>
          <a:xfrm>
            <a:off x="7391791" y="2708178"/>
            <a:ext cx="0" cy="219709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7643495" y="1005840"/>
            <a:ext cx="4411345" cy="1938020"/>
          </a:xfrm>
          <a:prstGeom prst="rect">
            <a:avLst/>
          </a:prstGeom>
          <a:noFill/>
        </p:spPr>
        <p:txBody>
          <a:bodyPr wrap="square" rtlCol="0">
            <a:spAutoFit/>
          </a:bodyPr>
          <a:p>
            <a:pPr>
              <a:lnSpc>
                <a:spcPct val="150000"/>
              </a:lnSpc>
            </a:pPr>
            <a:r>
              <a:rPr lang="en-US" altLang="zh-CN" sz="1600" dirty="0">
                <a:solidFill>
                  <a:schemeClr val="tx1">
                    <a:lumMod val="50000"/>
                    <a:lumOff val="50000"/>
                  </a:schemeClr>
                </a:solidFill>
                <a:sym typeface="微软雅黑" panose="020B0503020204020204" charset="-122"/>
              </a:rPr>
              <a:t>1.</a:t>
            </a:r>
            <a:r>
              <a:rPr lang="zh-CN" altLang="en-US" sz="1600" dirty="0">
                <a:solidFill>
                  <a:schemeClr val="tx1">
                    <a:lumMod val="50000"/>
                    <a:lumOff val="50000"/>
                  </a:schemeClr>
                </a:solidFill>
                <a:sym typeface="微软雅黑" panose="020B0503020204020204" charset="-122"/>
              </a:rPr>
              <a:t>不到万不得已不要拿出此方案</a:t>
            </a:r>
            <a:endParaRPr lang="zh-CN" altLang="en-US" sz="1600" dirty="0">
              <a:solidFill>
                <a:schemeClr val="tx1">
                  <a:lumMod val="50000"/>
                  <a:lumOff val="50000"/>
                </a:schemeClr>
              </a:solidFill>
              <a:sym typeface="微软雅黑" panose="020B0503020204020204" charset="-122"/>
            </a:endParaRPr>
          </a:p>
          <a:p>
            <a:pPr>
              <a:lnSpc>
                <a:spcPct val="150000"/>
              </a:lnSpc>
            </a:pPr>
            <a:r>
              <a:rPr lang="en-US" altLang="zh-CN" sz="1600" dirty="0">
                <a:solidFill>
                  <a:schemeClr val="tx1">
                    <a:lumMod val="50000"/>
                    <a:lumOff val="50000"/>
                  </a:schemeClr>
                </a:solidFill>
                <a:latin typeface="微软雅黑" panose="020B0503020204020204" charset="-122"/>
                <a:ea typeface="微软雅黑" panose="020B0503020204020204" charset="-122"/>
                <a:sym typeface="微软雅黑" panose="020B0503020204020204" charset="-122"/>
              </a:rPr>
              <a:t>2.</a:t>
            </a:r>
            <a:r>
              <a:rPr lang="zh-CN" altLang="en-US" sz="1600" dirty="0">
                <a:solidFill>
                  <a:schemeClr val="tx1">
                    <a:lumMod val="50000"/>
                    <a:lumOff val="50000"/>
                  </a:schemeClr>
                </a:solidFill>
                <a:latin typeface="微软雅黑" panose="020B0503020204020204" charset="-122"/>
                <a:ea typeface="微软雅黑" panose="020B0503020204020204" charset="-122"/>
                <a:sym typeface="微软雅黑" panose="020B0503020204020204" charset="-122"/>
              </a:rPr>
              <a:t>所有的</a:t>
            </a:r>
            <a:r>
              <a:rPr lang="en-US" altLang="zh-CN" sz="1600" dirty="0">
                <a:solidFill>
                  <a:schemeClr val="tx1">
                    <a:lumMod val="50000"/>
                    <a:lumOff val="50000"/>
                  </a:schemeClr>
                </a:solidFill>
                <a:latin typeface="微软雅黑" panose="020B0503020204020204" charset="-122"/>
                <a:ea typeface="微软雅黑" panose="020B0503020204020204" charset="-122"/>
                <a:sym typeface="微软雅黑" panose="020B0503020204020204" charset="-122"/>
              </a:rPr>
              <a:t>KPI</a:t>
            </a:r>
            <a:r>
              <a:rPr lang="zh-CN" altLang="en-US" sz="1600" dirty="0">
                <a:solidFill>
                  <a:schemeClr val="tx1">
                    <a:lumMod val="50000"/>
                    <a:lumOff val="50000"/>
                  </a:schemeClr>
                </a:solidFill>
                <a:latin typeface="微软雅黑" panose="020B0503020204020204" charset="-122"/>
                <a:ea typeface="微软雅黑" panose="020B0503020204020204" charset="-122"/>
                <a:sym typeface="微软雅黑" panose="020B0503020204020204" charset="-122"/>
              </a:rPr>
              <a:t>，分开硬性指标和软性指标，对于业绩好的销售员权限可以适当宽松一点</a:t>
            </a:r>
            <a:endParaRPr lang="zh-CN" altLang="en-US" sz="1600" dirty="0">
              <a:solidFill>
                <a:schemeClr val="tx1">
                  <a:lumMod val="50000"/>
                  <a:lumOff val="50000"/>
                </a:schemeClr>
              </a:solidFill>
              <a:latin typeface="微软雅黑" panose="020B0503020204020204" charset="-122"/>
              <a:ea typeface="微软雅黑" panose="020B0503020204020204" charset="-122"/>
              <a:sym typeface="微软雅黑" panose="020B0503020204020204" charset="-122"/>
            </a:endParaRPr>
          </a:p>
          <a:p>
            <a:pPr>
              <a:lnSpc>
                <a:spcPct val="150000"/>
              </a:lnSpc>
            </a:pPr>
            <a:r>
              <a:rPr lang="en-US" altLang="zh-CN" sz="1600" dirty="0">
                <a:solidFill>
                  <a:schemeClr val="tx1">
                    <a:lumMod val="50000"/>
                    <a:lumOff val="50000"/>
                  </a:schemeClr>
                </a:solidFill>
                <a:latin typeface="微软雅黑" panose="020B0503020204020204" charset="-122"/>
                <a:ea typeface="微软雅黑" panose="020B0503020204020204" charset="-122"/>
                <a:sym typeface="微软雅黑" panose="020B0503020204020204" charset="-122"/>
              </a:rPr>
              <a:t>3.</a:t>
            </a:r>
            <a:r>
              <a:rPr lang="zh-CN" altLang="en-US" sz="1600" dirty="0">
                <a:solidFill>
                  <a:schemeClr val="tx1">
                    <a:lumMod val="50000"/>
                    <a:lumOff val="50000"/>
                  </a:schemeClr>
                </a:solidFill>
                <a:latin typeface="微软雅黑" panose="020B0503020204020204" charset="-122"/>
                <a:ea typeface="微软雅黑" panose="020B0503020204020204" charset="-122"/>
                <a:sym typeface="微软雅黑" panose="020B0503020204020204" charset="-122"/>
              </a:rPr>
              <a:t>对于业绩不突出，表现不佳的销售给到明确的考核标准</a:t>
            </a:r>
            <a:endParaRPr lang="zh-CN" altLang="en-US" sz="1600" dirty="0">
              <a:solidFill>
                <a:schemeClr val="tx1">
                  <a:lumMod val="50000"/>
                  <a:lumOff val="50000"/>
                </a:schemeClr>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2"/>
          <a:stretch>
            <a:fillRect/>
          </a:stretch>
        </p:blipFill>
        <p:spPr>
          <a:xfrm>
            <a:off x="7742555" y="3114040"/>
            <a:ext cx="4088765" cy="3538220"/>
          </a:xfrm>
          <a:prstGeom prst="rect">
            <a:avLst/>
          </a:prstGeom>
        </p:spPr>
      </p:pic>
      <p:sp>
        <p:nvSpPr>
          <p:cNvPr id="45" name="矩形 44"/>
          <p:cNvSpPr/>
          <p:nvPr/>
        </p:nvSpPr>
        <p:spPr>
          <a:xfrm>
            <a:off x="1684160" y="225655"/>
            <a:ext cx="3510915" cy="506730"/>
          </a:xfrm>
          <a:prstGeom prst="rect">
            <a:avLst/>
          </a:prstGeom>
        </p:spPr>
        <p:txBody>
          <a:bodyPr wrap="none">
            <a:spAutoFit/>
          </a:bodyPr>
          <a:p>
            <a:pPr algn="l">
              <a:lnSpc>
                <a:spcPct val="150000"/>
              </a:lnSpc>
            </a:pPr>
            <a:r>
              <a:rPr lang="zh-CN" altLang="en-US" b="1" dirty="0">
                <a:solidFill>
                  <a:schemeClr val="tx1">
                    <a:lumMod val="95000"/>
                    <a:lumOff val="5000"/>
                  </a:schemeClr>
                </a:solidFill>
                <a:latin typeface="微软雅黑" panose="020B0503020204020204" charset="-122"/>
                <a:ea typeface="微软雅黑" panose="020B0503020204020204" charset="-122"/>
              </a:rPr>
              <a:t>销售员的KPI考核--签订考核协议</a:t>
            </a:r>
            <a:endParaRPr lang="zh-CN" altLang="en-US" b="1" dirty="0">
              <a:solidFill>
                <a:schemeClr val="tx1">
                  <a:lumMod val="95000"/>
                  <a:lumOff val="5000"/>
                </a:schemeClr>
              </a:solidFill>
              <a:latin typeface="微软雅黑" panose="020B0503020204020204" charset="-122"/>
              <a:ea typeface="微软雅黑" panose="020B0503020204020204" charset="-122"/>
            </a:endParaRPr>
          </a:p>
        </p:txBody>
      </p:sp>
      <p:sp>
        <p:nvSpPr>
          <p:cNvPr id="3" name="矩形 2"/>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grpSp>
        <p:nvGrpSpPr>
          <p:cNvPr id="6" name="组合 5"/>
          <p:cNvGrpSpPr/>
          <p:nvPr/>
        </p:nvGrpSpPr>
        <p:grpSpPr>
          <a:xfrm>
            <a:off x="820965" y="0"/>
            <a:ext cx="717550" cy="1097304"/>
            <a:chOff x="4704555" y="313131"/>
            <a:chExt cx="2782888" cy="4255695"/>
          </a:xfrm>
        </p:grpSpPr>
        <p:sp>
          <p:nvSpPr>
            <p:cNvPr id="14" name="流程图: 决策 5"/>
            <p:cNvSpPr/>
            <p:nvPr/>
          </p:nvSpPr>
          <p:spPr>
            <a:xfrm>
              <a:off x="4704555" y="313131"/>
              <a:ext cx="2782888" cy="425569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15" name="流程图: 决策 6"/>
            <p:cNvSpPr/>
            <p:nvPr/>
          </p:nvSpPr>
          <p:spPr>
            <a:xfrm>
              <a:off x="4934127" y="2015510"/>
              <a:ext cx="2323745" cy="2323745"/>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grpSp>
      <p:sp>
        <p:nvSpPr>
          <p:cNvPr id="16" name="文本框 15"/>
          <p:cNvSpPr txBox="1"/>
          <p:nvPr/>
        </p:nvSpPr>
        <p:spPr>
          <a:xfrm>
            <a:off x="733564" y="451148"/>
            <a:ext cx="950408" cy="583565"/>
          </a:xfrm>
          <a:prstGeom prst="rect">
            <a:avLst/>
          </a:prstGeom>
          <a:noFill/>
        </p:spPr>
        <p:txBody>
          <a:bodyPr wrap="square" rtlCol="0">
            <a:spAutoFit/>
          </a:bodyPr>
          <a:p>
            <a:pPr algn="ctr"/>
            <a:r>
              <a:rPr lang="en-US" altLang="zh-CN" sz="3200" b="1" dirty="0" smtClean="0">
                <a:ln w="28575">
                  <a:noFill/>
                </a:ln>
                <a:latin typeface="微软雅黑" panose="020B0503020204020204" charset="-122"/>
                <a:ea typeface="微软雅黑" panose="020B0503020204020204" charset="-122"/>
              </a:rPr>
              <a:t>05</a:t>
            </a:r>
            <a:endParaRPr lang="zh-CN" altLang="en-US" sz="4800" b="1" dirty="0">
              <a:ln w="28575">
                <a:noFill/>
              </a:ln>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up)">
                                      <p:cBhvr>
                                        <p:cTn id="7" dur="500"/>
                                        <p:tgtEl>
                                          <p:spTgt spid="47"/>
                                        </p:tgtEl>
                                      </p:cBhvr>
                                    </p:animEffect>
                                  </p:childTnLst>
                                </p:cTn>
                              </p:par>
                            </p:childTnLst>
                          </p:cTn>
                        </p:par>
                        <p:par>
                          <p:cTn id="8" fill="hold">
                            <p:stCondLst>
                              <p:cond delay="5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48"/>
                                        </p:tgtEl>
                                        <p:attrNameLst>
                                          <p:attrName>style.visibility</p:attrName>
                                        </p:attrNameLst>
                                      </p:cBhvr>
                                      <p:to>
                                        <p:strVal val="visible"/>
                                      </p:to>
                                    </p:set>
                                    <p:animEffect transition="in" filter="fade">
                                      <p:cBhvr>
                                        <p:cTn id="11"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139"/>
          <p:cNvSpPr/>
          <p:nvPr/>
        </p:nvSpPr>
        <p:spPr bwMode="auto">
          <a:xfrm>
            <a:off x="7287361" y="2154809"/>
            <a:ext cx="356381" cy="269930"/>
          </a:xfrm>
          <a:custGeom>
            <a:avLst/>
            <a:gdLst>
              <a:gd name="T0" fmla="*/ 143 w 165"/>
              <a:gd name="T1" fmla="*/ 19 h 125"/>
              <a:gd name="T2" fmla="*/ 34 w 165"/>
              <a:gd name="T3" fmla="*/ 19 h 125"/>
              <a:gd name="T4" fmla="*/ 30 w 165"/>
              <a:gd name="T5" fmla="*/ 5 h 125"/>
              <a:gd name="T6" fmla="*/ 29 w 165"/>
              <a:gd name="T7" fmla="*/ 4 h 125"/>
              <a:gd name="T8" fmla="*/ 29 w 165"/>
              <a:gd name="T9" fmla="*/ 4 h 125"/>
              <a:gd name="T10" fmla="*/ 28 w 165"/>
              <a:gd name="T11" fmla="*/ 3 h 125"/>
              <a:gd name="T12" fmla="*/ 28 w 165"/>
              <a:gd name="T13" fmla="*/ 2 h 125"/>
              <a:gd name="T14" fmla="*/ 28 w 165"/>
              <a:gd name="T15" fmla="*/ 2 h 125"/>
              <a:gd name="T16" fmla="*/ 27 w 165"/>
              <a:gd name="T17" fmla="*/ 1 h 125"/>
              <a:gd name="T18" fmla="*/ 27 w 165"/>
              <a:gd name="T19" fmla="*/ 1 h 125"/>
              <a:gd name="T20" fmla="*/ 22 w 165"/>
              <a:gd name="T21" fmla="*/ 0 h 125"/>
              <a:gd name="T22" fmla="*/ 7 w 165"/>
              <a:gd name="T23" fmla="*/ 2 h 125"/>
              <a:gd name="T24" fmla="*/ 0 w 165"/>
              <a:gd name="T25" fmla="*/ 9 h 125"/>
              <a:gd name="T26" fmla="*/ 7 w 165"/>
              <a:gd name="T27" fmla="*/ 15 h 125"/>
              <a:gd name="T28" fmla="*/ 18 w 165"/>
              <a:gd name="T29" fmla="*/ 14 h 125"/>
              <a:gd name="T30" fmla="*/ 45 w 165"/>
              <a:gd name="T31" fmla="*/ 99 h 125"/>
              <a:gd name="T32" fmla="*/ 42 w 165"/>
              <a:gd name="T33" fmla="*/ 109 h 125"/>
              <a:gd name="T34" fmla="*/ 58 w 165"/>
              <a:gd name="T35" fmla="*/ 125 h 125"/>
              <a:gd name="T36" fmla="*/ 73 w 165"/>
              <a:gd name="T37" fmla="*/ 116 h 125"/>
              <a:gd name="T38" fmla="*/ 94 w 165"/>
              <a:gd name="T39" fmla="*/ 116 h 125"/>
              <a:gd name="T40" fmla="*/ 109 w 165"/>
              <a:gd name="T41" fmla="*/ 125 h 125"/>
              <a:gd name="T42" fmla="*/ 125 w 165"/>
              <a:gd name="T43" fmla="*/ 109 h 125"/>
              <a:gd name="T44" fmla="*/ 109 w 165"/>
              <a:gd name="T45" fmla="*/ 93 h 125"/>
              <a:gd name="T46" fmla="*/ 94 w 165"/>
              <a:gd name="T47" fmla="*/ 102 h 125"/>
              <a:gd name="T48" fmla="*/ 73 w 165"/>
              <a:gd name="T49" fmla="*/ 102 h 125"/>
              <a:gd name="T50" fmla="*/ 58 w 165"/>
              <a:gd name="T51" fmla="*/ 93 h 125"/>
              <a:gd name="T52" fmla="*/ 58 w 165"/>
              <a:gd name="T53" fmla="*/ 93 h 125"/>
              <a:gd name="T54" fmla="*/ 55 w 165"/>
              <a:gd name="T55" fmla="*/ 83 h 125"/>
              <a:gd name="T56" fmla="*/ 125 w 165"/>
              <a:gd name="T57" fmla="*/ 83 h 125"/>
              <a:gd name="T58" fmla="*/ 139 w 165"/>
              <a:gd name="T59" fmla="*/ 68 h 125"/>
              <a:gd name="T60" fmla="*/ 158 w 165"/>
              <a:gd name="T61" fmla="*/ 34 h 125"/>
              <a:gd name="T62" fmla="*/ 143 w 165"/>
              <a:gd name="T63" fmla="*/ 1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5" h="125">
                <a:moveTo>
                  <a:pt x="143" y="19"/>
                </a:moveTo>
                <a:cubicBezTo>
                  <a:pt x="34" y="19"/>
                  <a:pt x="34" y="19"/>
                  <a:pt x="34" y="19"/>
                </a:cubicBezTo>
                <a:cubicBezTo>
                  <a:pt x="30" y="5"/>
                  <a:pt x="30" y="5"/>
                  <a:pt x="30" y="5"/>
                </a:cubicBezTo>
                <a:cubicBezTo>
                  <a:pt x="30" y="5"/>
                  <a:pt x="29" y="4"/>
                  <a:pt x="29" y="4"/>
                </a:cubicBezTo>
                <a:cubicBezTo>
                  <a:pt x="29" y="4"/>
                  <a:pt x="29" y="4"/>
                  <a:pt x="29" y="4"/>
                </a:cubicBezTo>
                <a:cubicBezTo>
                  <a:pt x="29" y="3"/>
                  <a:pt x="29" y="3"/>
                  <a:pt x="28" y="3"/>
                </a:cubicBezTo>
                <a:cubicBezTo>
                  <a:pt x="28" y="2"/>
                  <a:pt x="28" y="2"/>
                  <a:pt x="28" y="2"/>
                </a:cubicBezTo>
                <a:cubicBezTo>
                  <a:pt x="28" y="2"/>
                  <a:pt x="28" y="2"/>
                  <a:pt x="28" y="2"/>
                </a:cubicBezTo>
                <a:cubicBezTo>
                  <a:pt x="27" y="2"/>
                  <a:pt x="27" y="1"/>
                  <a:pt x="27" y="1"/>
                </a:cubicBezTo>
                <a:cubicBezTo>
                  <a:pt x="27" y="1"/>
                  <a:pt x="27" y="1"/>
                  <a:pt x="27" y="1"/>
                </a:cubicBezTo>
                <a:cubicBezTo>
                  <a:pt x="25" y="0"/>
                  <a:pt x="24" y="0"/>
                  <a:pt x="22" y="0"/>
                </a:cubicBezTo>
                <a:cubicBezTo>
                  <a:pt x="7" y="2"/>
                  <a:pt x="7" y="2"/>
                  <a:pt x="7" y="2"/>
                </a:cubicBezTo>
                <a:cubicBezTo>
                  <a:pt x="3" y="2"/>
                  <a:pt x="0" y="5"/>
                  <a:pt x="0" y="9"/>
                </a:cubicBezTo>
                <a:cubicBezTo>
                  <a:pt x="1" y="12"/>
                  <a:pt x="4" y="15"/>
                  <a:pt x="7" y="15"/>
                </a:cubicBezTo>
                <a:cubicBezTo>
                  <a:pt x="18" y="14"/>
                  <a:pt x="18" y="14"/>
                  <a:pt x="18" y="14"/>
                </a:cubicBezTo>
                <a:cubicBezTo>
                  <a:pt x="45" y="99"/>
                  <a:pt x="45" y="99"/>
                  <a:pt x="45" y="99"/>
                </a:cubicBezTo>
                <a:cubicBezTo>
                  <a:pt x="43" y="101"/>
                  <a:pt x="42" y="105"/>
                  <a:pt x="42" y="109"/>
                </a:cubicBezTo>
                <a:cubicBezTo>
                  <a:pt x="42" y="118"/>
                  <a:pt x="49" y="125"/>
                  <a:pt x="58" y="125"/>
                </a:cubicBezTo>
                <a:cubicBezTo>
                  <a:pt x="64" y="125"/>
                  <a:pt x="70" y="121"/>
                  <a:pt x="73" y="116"/>
                </a:cubicBezTo>
                <a:cubicBezTo>
                  <a:pt x="94" y="116"/>
                  <a:pt x="94" y="116"/>
                  <a:pt x="94" y="116"/>
                </a:cubicBezTo>
                <a:cubicBezTo>
                  <a:pt x="97" y="121"/>
                  <a:pt x="103" y="125"/>
                  <a:pt x="109" y="125"/>
                </a:cubicBezTo>
                <a:cubicBezTo>
                  <a:pt x="118" y="125"/>
                  <a:pt x="125" y="118"/>
                  <a:pt x="125" y="109"/>
                </a:cubicBezTo>
                <a:cubicBezTo>
                  <a:pt x="125" y="100"/>
                  <a:pt x="118" y="93"/>
                  <a:pt x="109" y="93"/>
                </a:cubicBezTo>
                <a:cubicBezTo>
                  <a:pt x="103" y="93"/>
                  <a:pt x="97" y="97"/>
                  <a:pt x="94" y="102"/>
                </a:cubicBezTo>
                <a:cubicBezTo>
                  <a:pt x="73" y="102"/>
                  <a:pt x="73" y="102"/>
                  <a:pt x="73" y="102"/>
                </a:cubicBezTo>
                <a:cubicBezTo>
                  <a:pt x="70" y="97"/>
                  <a:pt x="64" y="93"/>
                  <a:pt x="58" y="93"/>
                </a:cubicBezTo>
                <a:cubicBezTo>
                  <a:pt x="58" y="93"/>
                  <a:pt x="58" y="93"/>
                  <a:pt x="58" y="93"/>
                </a:cubicBezTo>
                <a:cubicBezTo>
                  <a:pt x="55" y="83"/>
                  <a:pt x="55" y="83"/>
                  <a:pt x="55" y="83"/>
                </a:cubicBezTo>
                <a:cubicBezTo>
                  <a:pt x="125" y="83"/>
                  <a:pt x="125" y="83"/>
                  <a:pt x="125" y="83"/>
                </a:cubicBezTo>
                <a:cubicBezTo>
                  <a:pt x="133" y="83"/>
                  <a:pt x="134" y="77"/>
                  <a:pt x="139" y="68"/>
                </a:cubicBezTo>
                <a:cubicBezTo>
                  <a:pt x="158" y="34"/>
                  <a:pt x="158" y="34"/>
                  <a:pt x="158" y="34"/>
                </a:cubicBezTo>
                <a:cubicBezTo>
                  <a:pt x="165" y="20"/>
                  <a:pt x="151" y="19"/>
                  <a:pt x="143" y="1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40" name="组合 39"/>
          <p:cNvGrpSpPr/>
          <p:nvPr/>
        </p:nvGrpSpPr>
        <p:grpSpPr>
          <a:xfrm>
            <a:off x="8660188" y="3451637"/>
            <a:ext cx="307174" cy="307212"/>
            <a:chOff x="11121822" y="1145785"/>
            <a:chExt cx="307214" cy="307212"/>
          </a:xfrm>
          <a:solidFill>
            <a:schemeClr val="bg1"/>
          </a:solidFill>
        </p:grpSpPr>
        <p:sp>
          <p:nvSpPr>
            <p:cNvPr id="42" name="Freeform 140"/>
            <p:cNvSpPr>
              <a:spLocks noEditPoints="1"/>
            </p:cNvSpPr>
            <p:nvPr/>
          </p:nvSpPr>
          <p:spPr bwMode="auto">
            <a:xfrm>
              <a:off x="11121822" y="1211403"/>
              <a:ext cx="241594" cy="241594"/>
            </a:xfrm>
            <a:custGeom>
              <a:avLst/>
              <a:gdLst>
                <a:gd name="T0" fmla="*/ 103 w 112"/>
                <a:gd name="T1" fmla="*/ 47 h 112"/>
                <a:gd name="T2" fmla="*/ 106 w 112"/>
                <a:gd name="T3" fmla="*/ 36 h 112"/>
                <a:gd name="T4" fmla="*/ 102 w 112"/>
                <a:gd name="T5" fmla="*/ 22 h 112"/>
                <a:gd name="T6" fmla="*/ 92 w 112"/>
                <a:gd name="T7" fmla="*/ 25 h 112"/>
                <a:gd name="T8" fmla="*/ 90 w 112"/>
                <a:gd name="T9" fmla="*/ 14 h 112"/>
                <a:gd name="T10" fmla="*/ 79 w 112"/>
                <a:gd name="T11" fmla="*/ 4 h 112"/>
                <a:gd name="T12" fmla="*/ 71 w 112"/>
                <a:gd name="T13" fmla="*/ 11 h 112"/>
                <a:gd name="T14" fmla="*/ 64 w 112"/>
                <a:gd name="T15" fmla="*/ 3 h 112"/>
                <a:gd name="T16" fmla="*/ 50 w 112"/>
                <a:gd name="T17" fmla="*/ 0 h 112"/>
                <a:gd name="T18" fmla="*/ 47 w 112"/>
                <a:gd name="T19" fmla="*/ 10 h 112"/>
                <a:gd name="T20" fmla="*/ 37 w 112"/>
                <a:gd name="T21" fmla="*/ 6 h 112"/>
                <a:gd name="T22" fmla="*/ 23 w 112"/>
                <a:gd name="T23" fmla="*/ 11 h 112"/>
                <a:gd name="T24" fmla="*/ 25 w 112"/>
                <a:gd name="T25" fmla="*/ 20 h 112"/>
                <a:gd name="T26" fmla="*/ 14 w 112"/>
                <a:gd name="T27" fmla="*/ 22 h 112"/>
                <a:gd name="T28" fmla="*/ 5 w 112"/>
                <a:gd name="T29" fmla="*/ 33 h 112"/>
                <a:gd name="T30" fmla="*/ 12 w 112"/>
                <a:gd name="T31" fmla="*/ 41 h 112"/>
                <a:gd name="T32" fmla="*/ 3 w 112"/>
                <a:gd name="T33" fmla="*/ 48 h 112"/>
                <a:gd name="T34" fmla="*/ 0 w 112"/>
                <a:gd name="T35" fmla="*/ 62 h 112"/>
                <a:gd name="T36" fmla="*/ 10 w 112"/>
                <a:gd name="T37" fmla="*/ 65 h 112"/>
                <a:gd name="T38" fmla="*/ 6 w 112"/>
                <a:gd name="T39" fmla="*/ 75 h 112"/>
                <a:gd name="T40" fmla="*/ 11 w 112"/>
                <a:gd name="T41" fmla="*/ 89 h 112"/>
                <a:gd name="T42" fmla="*/ 21 w 112"/>
                <a:gd name="T43" fmla="*/ 87 h 112"/>
                <a:gd name="T44" fmla="*/ 23 w 112"/>
                <a:gd name="T45" fmla="*/ 98 h 112"/>
                <a:gd name="T46" fmla="*/ 34 w 112"/>
                <a:gd name="T47" fmla="*/ 108 h 112"/>
                <a:gd name="T48" fmla="*/ 41 w 112"/>
                <a:gd name="T49" fmla="*/ 101 h 112"/>
                <a:gd name="T50" fmla="*/ 48 w 112"/>
                <a:gd name="T51" fmla="*/ 109 h 112"/>
                <a:gd name="T52" fmla="*/ 63 w 112"/>
                <a:gd name="T53" fmla="*/ 112 h 112"/>
                <a:gd name="T54" fmla="*/ 66 w 112"/>
                <a:gd name="T55" fmla="*/ 102 h 112"/>
                <a:gd name="T56" fmla="*/ 76 w 112"/>
                <a:gd name="T57" fmla="*/ 106 h 112"/>
                <a:gd name="T58" fmla="*/ 90 w 112"/>
                <a:gd name="T59" fmla="*/ 101 h 112"/>
                <a:gd name="T60" fmla="*/ 88 w 112"/>
                <a:gd name="T61" fmla="*/ 91 h 112"/>
                <a:gd name="T62" fmla="*/ 98 w 112"/>
                <a:gd name="T63" fmla="*/ 89 h 112"/>
                <a:gd name="T64" fmla="*/ 108 w 112"/>
                <a:gd name="T65" fmla="*/ 78 h 112"/>
                <a:gd name="T66" fmla="*/ 101 w 112"/>
                <a:gd name="T67" fmla="*/ 71 h 112"/>
                <a:gd name="T68" fmla="*/ 110 w 112"/>
                <a:gd name="T69" fmla="*/ 64 h 112"/>
                <a:gd name="T70" fmla="*/ 112 w 112"/>
                <a:gd name="T71" fmla="*/ 49 h 112"/>
                <a:gd name="T72" fmla="*/ 56 w 112"/>
                <a:gd name="T73" fmla="*/ 86 h 112"/>
                <a:gd name="T74" fmla="*/ 56 w 112"/>
                <a:gd name="T75" fmla="*/ 26 h 112"/>
                <a:gd name="T76" fmla="*/ 56 w 112"/>
                <a:gd name="T7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 h="112">
                  <a:moveTo>
                    <a:pt x="110" y="47"/>
                  </a:moveTo>
                  <a:cubicBezTo>
                    <a:pt x="103" y="47"/>
                    <a:pt x="103" y="47"/>
                    <a:pt x="103" y="47"/>
                  </a:cubicBezTo>
                  <a:cubicBezTo>
                    <a:pt x="102" y="44"/>
                    <a:pt x="101" y="42"/>
                    <a:pt x="101" y="39"/>
                  </a:cubicBezTo>
                  <a:cubicBezTo>
                    <a:pt x="106" y="36"/>
                    <a:pt x="106" y="36"/>
                    <a:pt x="106" y="36"/>
                  </a:cubicBezTo>
                  <a:cubicBezTo>
                    <a:pt x="108" y="35"/>
                    <a:pt x="108" y="34"/>
                    <a:pt x="107" y="32"/>
                  </a:cubicBezTo>
                  <a:cubicBezTo>
                    <a:pt x="102" y="22"/>
                    <a:pt x="102" y="22"/>
                    <a:pt x="102" y="22"/>
                  </a:cubicBezTo>
                  <a:cubicBezTo>
                    <a:pt x="101" y="21"/>
                    <a:pt x="99" y="20"/>
                    <a:pt x="98" y="21"/>
                  </a:cubicBezTo>
                  <a:cubicBezTo>
                    <a:pt x="92" y="25"/>
                    <a:pt x="92" y="25"/>
                    <a:pt x="92" y="25"/>
                  </a:cubicBezTo>
                  <a:cubicBezTo>
                    <a:pt x="90" y="23"/>
                    <a:pt x="88" y="21"/>
                    <a:pt x="87" y="20"/>
                  </a:cubicBezTo>
                  <a:cubicBezTo>
                    <a:pt x="90" y="14"/>
                    <a:pt x="90" y="14"/>
                    <a:pt x="90" y="14"/>
                  </a:cubicBezTo>
                  <a:cubicBezTo>
                    <a:pt x="91" y="12"/>
                    <a:pt x="90" y="11"/>
                    <a:pt x="89" y="10"/>
                  </a:cubicBezTo>
                  <a:cubicBezTo>
                    <a:pt x="79" y="4"/>
                    <a:pt x="79" y="4"/>
                    <a:pt x="79" y="4"/>
                  </a:cubicBezTo>
                  <a:cubicBezTo>
                    <a:pt x="77" y="3"/>
                    <a:pt x="76" y="4"/>
                    <a:pt x="75" y="5"/>
                  </a:cubicBezTo>
                  <a:cubicBezTo>
                    <a:pt x="71" y="11"/>
                    <a:pt x="71" y="11"/>
                    <a:pt x="71" y="11"/>
                  </a:cubicBezTo>
                  <a:cubicBezTo>
                    <a:pt x="69" y="10"/>
                    <a:pt x="67" y="10"/>
                    <a:pt x="64" y="9"/>
                  </a:cubicBezTo>
                  <a:cubicBezTo>
                    <a:pt x="64" y="3"/>
                    <a:pt x="64" y="3"/>
                    <a:pt x="64" y="3"/>
                  </a:cubicBezTo>
                  <a:cubicBezTo>
                    <a:pt x="64" y="1"/>
                    <a:pt x="63" y="0"/>
                    <a:pt x="61" y="0"/>
                  </a:cubicBezTo>
                  <a:cubicBezTo>
                    <a:pt x="50" y="0"/>
                    <a:pt x="50" y="0"/>
                    <a:pt x="50" y="0"/>
                  </a:cubicBezTo>
                  <a:cubicBezTo>
                    <a:pt x="48" y="0"/>
                    <a:pt x="47" y="1"/>
                    <a:pt x="47" y="3"/>
                  </a:cubicBezTo>
                  <a:cubicBezTo>
                    <a:pt x="47" y="10"/>
                    <a:pt x="47" y="10"/>
                    <a:pt x="47" y="10"/>
                  </a:cubicBezTo>
                  <a:cubicBezTo>
                    <a:pt x="45" y="10"/>
                    <a:pt x="42" y="11"/>
                    <a:pt x="40" y="12"/>
                  </a:cubicBezTo>
                  <a:cubicBezTo>
                    <a:pt x="37" y="6"/>
                    <a:pt x="37" y="6"/>
                    <a:pt x="37" y="6"/>
                  </a:cubicBezTo>
                  <a:cubicBezTo>
                    <a:pt x="36" y="4"/>
                    <a:pt x="34" y="4"/>
                    <a:pt x="33" y="5"/>
                  </a:cubicBezTo>
                  <a:cubicBezTo>
                    <a:pt x="23" y="11"/>
                    <a:pt x="23" y="11"/>
                    <a:pt x="23" y="11"/>
                  </a:cubicBezTo>
                  <a:cubicBezTo>
                    <a:pt x="21" y="11"/>
                    <a:pt x="21" y="13"/>
                    <a:pt x="22" y="14"/>
                  </a:cubicBezTo>
                  <a:cubicBezTo>
                    <a:pt x="25" y="20"/>
                    <a:pt x="25" y="20"/>
                    <a:pt x="25" y="20"/>
                  </a:cubicBezTo>
                  <a:cubicBezTo>
                    <a:pt x="23" y="22"/>
                    <a:pt x="22" y="24"/>
                    <a:pt x="20" y="26"/>
                  </a:cubicBezTo>
                  <a:cubicBezTo>
                    <a:pt x="14" y="22"/>
                    <a:pt x="14" y="22"/>
                    <a:pt x="14" y="22"/>
                  </a:cubicBezTo>
                  <a:cubicBezTo>
                    <a:pt x="13" y="22"/>
                    <a:pt x="11" y="22"/>
                    <a:pt x="10" y="23"/>
                  </a:cubicBezTo>
                  <a:cubicBezTo>
                    <a:pt x="5" y="33"/>
                    <a:pt x="5" y="33"/>
                    <a:pt x="5" y="33"/>
                  </a:cubicBezTo>
                  <a:cubicBezTo>
                    <a:pt x="4" y="35"/>
                    <a:pt x="4" y="36"/>
                    <a:pt x="6" y="37"/>
                  </a:cubicBezTo>
                  <a:cubicBezTo>
                    <a:pt x="12" y="41"/>
                    <a:pt x="12" y="41"/>
                    <a:pt x="12" y="41"/>
                  </a:cubicBezTo>
                  <a:cubicBezTo>
                    <a:pt x="11" y="43"/>
                    <a:pt x="10" y="45"/>
                    <a:pt x="10" y="48"/>
                  </a:cubicBezTo>
                  <a:cubicBezTo>
                    <a:pt x="3" y="48"/>
                    <a:pt x="3" y="48"/>
                    <a:pt x="3" y="48"/>
                  </a:cubicBezTo>
                  <a:cubicBezTo>
                    <a:pt x="2" y="48"/>
                    <a:pt x="0" y="49"/>
                    <a:pt x="0" y="51"/>
                  </a:cubicBezTo>
                  <a:cubicBezTo>
                    <a:pt x="0" y="62"/>
                    <a:pt x="0" y="62"/>
                    <a:pt x="0" y="62"/>
                  </a:cubicBezTo>
                  <a:cubicBezTo>
                    <a:pt x="0" y="64"/>
                    <a:pt x="2" y="65"/>
                    <a:pt x="3" y="65"/>
                  </a:cubicBezTo>
                  <a:cubicBezTo>
                    <a:pt x="10" y="65"/>
                    <a:pt x="10" y="65"/>
                    <a:pt x="10" y="65"/>
                  </a:cubicBezTo>
                  <a:cubicBezTo>
                    <a:pt x="11" y="68"/>
                    <a:pt x="11" y="70"/>
                    <a:pt x="12" y="72"/>
                  </a:cubicBezTo>
                  <a:cubicBezTo>
                    <a:pt x="6" y="75"/>
                    <a:pt x="6" y="75"/>
                    <a:pt x="6" y="75"/>
                  </a:cubicBezTo>
                  <a:cubicBezTo>
                    <a:pt x="5" y="76"/>
                    <a:pt x="5" y="78"/>
                    <a:pt x="5" y="79"/>
                  </a:cubicBezTo>
                  <a:cubicBezTo>
                    <a:pt x="11" y="89"/>
                    <a:pt x="11" y="89"/>
                    <a:pt x="11" y="89"/>
                  </a:cubicBezTo>
                  <a:cubicBezTo>
                    <a:pt x="12" y="91"/>
                    <a:pt x="14" y="91"/>
                    <a:pt x="15" y="90"/>
                  </a:cubicBezTo>
                  <a:cubicBezTo>
                    <a:pt x="21" y="87"/>
                    <a:pt x="21" y="87"/>
                    <a:pt x="21" y="87"/>
                  </a:cubicBezTo>
                  <a:cubicBezTo>
                    <a:pt x="23" y="89"/>
                    <a:pt x="24" y="91"/>
                    <a:pt x="26" y="92"/>
                  </a:cubicBezTo>
                  <a:cubicBezTo>
                    <a:pt x="23" y="98"/>
                    <a:pt x="23" y="98"/>
                    <a:pt x="23" y="98"/>
                  </a:cubicBezTo>
                  <a:cubicBezTo>
                    <a:pt x="22" y="99"/>
                    <a:pt x="23" y="101"/>
                    <a:pt x="24" y="102"/>
                  </a:cubicBezTo>
                  <a:cubicBezTo>
                    <a:pt x="34" y="108"/>
                    <a:pt x="34" y="108"/>
                    <a:pt x="34" y="108"/>
                  </a:cubicBezTo>
                  <a:cubicBezTo>
                    <a:pt x="35" y="108"/>
                    <a:pt x="37" y="108"/>
                    <a:pt x="38" y="106"/>
                  </a:cubicBezTo>
                  <a:cubicBezTo>
                    <a:pt x="41" y="101"/>
                    <a:pt x="41" y="101"/>
                    <a:pt x="41" y="101"/>
                  </a:cubicBezTo>
                  <a:cubicBezTo>
                    <a:pt x="44" y="101"/>
                    <a:pt x="46" y="102"/>
                    <a:pt x="48" y="102"/>
                  </a:cubicBezTo>
                  <a:cubicBezTo>
                    <a:pt x="48" y="109"/>
                    <a:pt x="48" y="109"/>
                    <a:pt x="48" y="109"/>
                  </a:cubicBezTo>
                  <a:cubicBezTo>
                    <a:pt x="48" y="111"/>
                    <a:pt x="50" y="112"/>
                    <a:pt x="51" y="112"/>
                  </a:cubicBezTo>
                  <a:cubicBezTo>
                    <a:pt x="63" y="112"/>
                    <a:pt x="63" y="112"/>
                    <a:pt x="63" y="112"/>
                  </a:cubicBezTo>
                  <a:cubicBezTo>
                    <a:pt x="64" y="112"/>
                    <a:pt x="66" y="111"/>
                    <a:pt x="66" y="109"/>
                  </a:cubicBezTo>
                  <a:cubicBezTo>
                    <a:pt x="66" y="102"/>
                    <a:pt x="66" y="102"/>
                    <a:pt x="66" y="102"/>
                  </a:cubicBezTo>
                  <a:cubicBezTo>
                    <a:pt x="68" y="102"/>
                    <a:pt x="70" y="101"/>
                    <a:pt x="73" y="100"/>
                  </a:cubicBezTo>
                  <a:cubicBezTo>
                    <a:pt x="76" y="106"/>
                    <a:pt x="76" y="106"/>
                    <a:pt x="76" y="106"/>
                  </a:cubicBezTo>
                  <a:cubicBezTo>
                    <a:pt x="77" y="107"/>
                    <a:pt x="79" y="108"/>
                    <a:pt x="80" y="107"/>
                  </a:cubicBezTo>
                  <a:cubicBezTo>
                    <a:pt x="90" y="101"/>
                    <a:pt x="90" y="101"/>
                    <a:pt x="90" y="101"/>
                  </a:cubicBezTo>
                  <a:cubicBezTo>
                    <a:pt x="91" y="100"/>
                    <a:pt x="92" y="99"/>
                    <a:pt x="91" y="97"/>
                  </a:cubicBezTo>
                  <a:cubicBezTo>
                    <a:pt x="88" y="91"/>
                    <a:pt x="88" y="91"/>
                    <a:pt x="88" y="91"/>
                  </a:cubicBezTo>
                  <a:cubicBezTo>
                    <a:pt x="89" y="90"/>
                    <a:pt x="91" y="88"/>
                    <a:pt x="93" y="86"/>
                  </a:cubicBezTo>
                  <a:cubicBezTo>
                    <a:pt x="98" y="89"/>
                    <a:pt x="98" y="89"/>
                    <a:pt x="98" y="89"/>
                  </a:cubicBezTo>
                  <a:cubicBezTo>
                    <a:pt x="100" y="90"/>
                    <a:pt x="102" y="90"/>
                    <a:pt x="102" y="88"/>
                  </a:cubicBezTo>
                  <a:cubicBezTo>
                    <a:pt x="108" y="78"/>
                    <a:pt x="108" y="78"/>
                    <a:pt x="108" y="78"/>
                  </a:cubicBezTo>
                  <a:cubicBezTo>
                    <a:pt x="109" y="77"/>
                    <a:pt x="108" y="75"/>
                    <a:pt x="107" y="74"/>
                  </a:cubicBezTo>
                  <a:cubicBezTo>
                    <a:pt x="101" y="71"/>
                    <a:pt x="101" y="71"/>
                    <a:pt x="101" y="71"/>
                  </a:cubicBezTo>
                  <a:cubicBezTo>
                    <a:pt x="102" y="69"/>
                    <a:pt x="102" y="66"/>
                    <a:pt x="103" y="64"/>
                  </a:cubicBezTo>
                  <a:cubicBezTo>
                    <a:pt x="110" y="64"/>
                    <a:pt x="110" y="64"/>
                    <a:pt x="110" y="64"/>
                  </a:cubicBezTo>
                  <a:cubicBezTo>
                    <a:pt x="111" y="64"/>
                    <a:pt x="112" y="63"/>
                    <a:pt x="112" y="61"/>
                  </a:cubicBezTo>
                  <a:cubicBezTo>
                    <a:pt x="112" y="49"/>
                    <a:pt x="112" y="49"/>
                    <a:pt x="112" y="49"/>
                  </a:cubicBezTo>
                  <a:cubicBezTo>
                    <a:pt x="112" y="48"/>
                    <a:pt x="111" y="47"/>
                    <a:pt x="110" y="47"/>
                  </a:cubicBezTo>
                  <a:close/>
                  <a:moveTo>
                    <a:pt x="56" y="86"/>
                  </a:moveTo>
                  <a:cubicBezTo>
                    <a:pt x="40" y="86"/>
                    <a:pt x="26" y="72"/>
                    <a:pt x="26" y="56"/>
                  </a:cubicBezTo>
                  <a:cubicBezTo>
                    <a:pt x="26" y="39"/>
                    <a:pt x="40" y="26"/>
                    <a:pt x="56" y="26"/>
                  </a:cubicBezTo>
                  <a:cubicBezTo>
                    <a:pt x="73" y="26"/>
                    <a:pt x="86" y="39"/>
                    <a:pt x="86" y="56"/>
                  </a:cubicBezTo>
                  <a:cubicBezTo>
                    <a:pt x="86" y="72"/>
                    <a:pt x="73" y="86"/>
                    <a:pt x="56" y="8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44" name="Freeform 141"/>
            <p:cNvSpPr>
              <a:spLocks noEditPoints="1"/>
            </p:cNvSpPr>
            <p:nvPr/>
          </p:nvSpPr>
          <p:spPr bwMode="auto">
            <a:xfrm>
              <a:off x="11317186" y="1145785"/>
              <a:ext cx="111850" cy="113341"/>
            </a:xfrm>
            <a:custGeom>
              <a:avLst/>
              <a:gdLst>
                <a:gd name="T0" fmla="*/ 48 w 52"/>
                <a:gd name="T1" fmla="*/ 23 h 52"/>
                <a:gd name="T2" fmla="*/ 50 w 52"/>
                <a:gd name="T3" fmla="*/ 17 h 52"/>
                <a:gd name="T4" fmla="*/ 48 w 52"/>
                <a:gd name="T5" fmla="*/ 11 h 52"/>
                <a:gd name="T6" fmla="*/ 44 w 52"/>
                <a:gd name="T7" fmla="*/ 12 h 52"/>
                <a:gd name="T8" fmla="*/ 42 w 52"/>
                <a:gd name="T9" fmla="*/ 6 h 52"/>
                <a:gd name="T10" fmla="*/ 38 w 52"/>
                <a:gd name="T11" fmla="*/ 2 h 52"/>
                <a:gd name="T12" fmla="*/ 34 w 52"/>
                <a:gd name="T13" fmla="*/ 5 h 52"/>
                <a:gd name="T14" fmla="*/ 30 w 52"/>
                <a:gd name="T15" fmla="*/ 1 h 52"/>
                <a:gd name="T16" fmla="*/ 24 w 52"/>
                <a:gd name="T17" fmla="*/ 0 h 52"/>
                <a:gd name="T18" fmla="*/ 23 w 52"/>
                <a:gd name="T19" fmla="*/ 4 h 52"/>
                <a:gd name="T20" fmla="*/ 17 w 52"/>
                <a:gd name="T21" fmla="*/ 2 h 52"/>
                <a:gd name="T22" fmla="*/ 11 w 52"/>
                <a:gd name="T23" fmla="*/ 4 h 52"/>
                <a:gd name="T24" fmla="*/ 12 w 52"/>
                <a:gd name="T25" fmla="*/ 8 h 52"/>
                <a:gd name="T26" fmla="*/ 6 w 52"/>
                <a:gd name="T27" fmla="*/ 10 h 52"/>
                <a:gd name="T28" fmla="*/ 2 w 52"/>
                <a:gd name="T29" fmla="*/ 14 h 52"/>
                <a:gd name="T30" fmla="*/ 6 w 52"/>
                <a:gd name="T31" fmla="*/ 18 h 52"/>
                <a:gd name="T32" fmla="*/ 1 w 52"/>
                <a:gd name="T33" fmla="*/ 22 h 52"/>
                <a:gd name="T34" fmla="*/ 0 w 52"/>
                <a:gd name="T35" fmla="*/ 28 h 52"/>
                <a:gd name="T36" fmla="*/ 4 w 52"/>
                <a:gd name="T37" fmla="*/ 29 h 52"/>
                <a:gd name="T38" fmla="*/ 2 w 52"/>
                <a:gd name="T39" fmla="*/ 35 h 52"/>
                <a:gd name="T40" fmla="*/ 4 w 52"/>
                <a:gd name="T41" fmla="*/ 41 h 52"/>
                <a:gd name="T42" fmla="*/ 9 w 52"/>
                <a:gd name="T43" fmla="*/ 40 h 52"/>
                <a:gd name="T44" fmla="*/ 10 w 52"/>
                <a:gd name="T45" fmla="*/ 46 h 52"/>
                <a:gd name="T46" fmla="*/ 15 w 52"/>
                <a:gd name="T47" fmla="*/ 50 h 52"/>
                <a:gd name="T48" fmla="*/ 18 w 52"/>
                <a:gd name="T49" fmla="*/ 47 h 52"/>
                <a:gd name="T50" fmla="*/ 22 w 52"/>
                <a:gd name="T51" fmla="*/ 51 h 52"/>
                <a:gd name="T52" fmla="*/ 28 w 52"/>
                <a:gd name="T53" fmla="*/ 52 h 52"/>
                <a:gd name="T54" fmla="*/ 29 w 52"/>
                <a:gd name="T55" fmla="*/ 48 h 52"/>
                <a:gd name="T56" fmla="*/ 35 w 52"/>
                <a:gd name="T57" fmla="*/ 50 h 52"/>
                <a:gd name="T58" fmla="*/ 41 w 52"/>
                <a:gd name="T59" fmla="*/ 48 h 52"/>
                <a:gd name="T60" fmla="*/ 40 w 52"/>
                <a:gd name="T61" fmla="*/ 43 h 52"/>
                <a:gd name="T62" fmla="*/ 46 w 52"/>
                <a:gd name="T63" fmla="*/ 42 h 52"/>
                <a:gd name="T64" fmla="*/ 50 w 52"/>
                <a:gd name="T65" fmla="*/ 37 h 52"/>
                <a:gd name="T66" fmla="*/ 47 w 52"/>
                <a:gd name="T67" fmla="*/ 34 h 52"/>
                <a:gd name="T68" fmla="*/ 51 w 52"/>
                <a:gd name="T69" fmla="*/ 30 h 52"/>
                <a:gd name="T70" fmla="*/ 52 w 52"/>
                <a:gd name="T71" fmla="*/ 24 h 52"/>
                <a:gd name="T72" fmla="*/ 26 w 52"/>
                <a:gd name="T73" fmla="*/ 40 h 52"/>
                <a:gd name="T74" fmla="*/ 26 w 52"/>
                <a:gd name="T75" fmla="*/ 12 h 52"/>
                <a:gd name="T76" fmla="*/ 26 w 52"/>
                <a:gd name="T77" fmla="*/ 4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2" h="52">
                  <a:moveTo>
                    <a:pt x="51" y="23"/>
                  </a:moveTo>
                  <a:cubicBezTo>
                    <a:pt x="48" y="23"/>
                    <a:pt x="48" y="23"/>
                    <a:pt x="48" y="23"/>
                  </a:cubicBezTo>
                  <a:cubicBezTo>
                    <a:pt x="48" y="21"/>
                    <a:pt x="48" y="20"/>
                    <a:pt x="47" y="18"/>
                  </a:cubicBezTo>
                  <a:cubicBezTo>
                    <a:pt x="50" y="17"/>
                    <a:pt x="50" y="17"/>
                    <a:pt x="50" y="17"/>
                  </a:cubicBezTo>
                  <a:cubicBezTo>
                    <a:pt x="50" y="16"/>
                    <a:pt x="51" y="16"/>
                    <a:pt x="50" y="15"/>
                  </a:cubicBezTo>
                  <a:cubicBezTo>
                    <a:pt x="48" y="11"/>
                    <a:pt x="48" y="11"/>
                    <a:pt x="48" y="11"/>
                  </a:cubicBezTo>
                  <a:cubicBezTo>
                    <a:pt x="48" y="10"/>
                    <a:pt x="47" y="10"/>
                    <a:pt x="46" y="11"/>
                  </a:cubicBezTo>
                  <a:cubicBezTo>
                    <a:pt x="44" y="12"/>
                    <a:pt x="44" y="12"/>
                    <a:pt x="44" y="12"/>
                  </a:cubicBezTo>
                  <a:cubicBezTo>
                    <a:pt x="43" y="11"/>
                    <a:pt x="42" y="10"/>
                    <a:pt x="40" y="9"/>
                  </a:cubicBezTo>
                  <a:cubicBezTo>
                    <a:pt x="42" y="6"/>
                    <a:pt x="42" y="6"/>
                    <a:pt x="42" y="6"/>
                  </a:cubicBezTo>
                  <a:cubicBezTo>
                    <a:pt x="42" y="6"/>
                    <a:pt x="42" y="5"/>
                    <a:pt x="42" y="4"/>
                  </a:cubicBezTo>
                  <a:cubicBezTo>
                    <a:pt x="38" y="2"/>
                    <a:pt x="38" y="2"/>
                    <a:pt x="38" y="2"/>
                  </a:cubicBezTo>
                  <a:cubicBezTo>
                    <a:pt x="37" y="2"/>
                    <a:pt x="36" y="2"/>
                    <a:pt x="36" y="3"/>
                  </a:cubicBezTo>
                  <a:cubicBezTo>
                    <a:pt x="34" y="5"/>
                    <a:pt x="34" y="5"/>
                    <a:pt x="34" y="5"/>
                  </a:cubicBezTo>
                  <a:cubicBezTo>
                    <a:pt x="33" y="5"/>
                    <a:pt x="32" y="4"/>
                    <a:pt x="30" y="4"/>
                  </a:cubicBezTo>
                  <a:cubicBezTo>
                    <a:pt x="30" y="1"/>
                    <a:pt x="30" y="1"/>
                    <a:pt x="30" y="1"/>
                  </a:cubicBezTo>
                  <a:cubicBezTo>
                    <a:pt x="30" y="0"/>
                    <a:pt x="29" y="0"/>
                    <a:pt x="29" y="0"/>
                  </a:cubicBezTo>
                  <a:cubicBezTo>
                    <a:pt x="24" y="0"/>
                    <a:pt x="24" y="0"/>
                    <a:pt x="24" y="0"/>
                  </a:cubicBezTo>
                  <a:cubicBezTo>
                    <a:pt x="24" y="0"/>
                    <a:pt x="23" y="0"/>
                    <a:pt x="23" y="1"/>
                  </a:cubicBezTo>
                  <a:cubicBezTo>
                    <a:pt x="23" y="4"/>
                    <a:pt x="23" y="4"/>
                    <a:pt x="23" y="4"/>
                  </a:cubicBezTo>
                  <a:cubicBezTo>
                    <a:pt x="21" y="4"/>
                    <a:pt x="20" y="5"/>
                    <a:pt x="19" y="5"/>
                  </a:cubicBezTo>
                  <a:cubicBezTo>
                    <a:pt x="17" y="2"/>
                    <a:pt x="17" y="2"/>
                    <a:pt x="17" y="2"/>
                  </a:cubicBezTo>
                  <a:cubicBezTo>
                    <a:pt x="17" y="2"/>
                    <a:pt x="16" y="1"/>
                    <a:pt x="15" y="2"/>
                  </a:cubicBezTo>
                  <a:cubicBezTo>
                    <a:pt x="11" y="4"/>
                    <a:pt x="11" y="4"/>
                    <a:pt x="11" y="4"/>
                  </a:cubicBezTo>
                  <a:cubicBezTo>
                    <a:pt x="11" y="4"/>
                    <a:pt x="11" y="5"/>
                    <a:pt x="11" y="6"/>
                  </a:cubicBezTo>
                  <a:cubicBezTo>
                    <a:pt x="12" y="8"/>
                    <a:pt x="12" y="8"/>
                    <a:pt x="12" y="8"/>
                  </a:cubicBezTo>
                  <a:cubicBezTo>
                    <a:pt x="11" y="9"/>
                    <a:pt x="10" y="10"/>
                    <a:pt x="9" y="12"/>
                  </a:cubicBezTo>
                  <a:cubicBezTo>
                    <a:pt x="6" y="10"/>
                    <a:pt x="6" y="10"/>
                    <a:pt x="6" y="10"/>
                  </a:cubicBezTo>
                  <a:cubicBezTo>
                    <a:pt x="6" y="10"/>
                    <a:pt x="5" y="10"/>
                    <a:pt x="5" y="10"/>
                  </a:cubicBezTo>
                  <a:cubicBezTo>
                    <a:pt x="2" y="14"/>
                    <a:pt x="2" y="14"/>
                    <a:pt x="2" y="14"/>
                  </a:cubicBezTo>
                  <a:cubicBezTo>
                    <a:pt x="2" y="15"/>
                    <a:pt x="2" y="16"/>
                    <a:pt x="3" y="16"/>
                  </a:cubicBezTo>
                  <a:cubicBezTo>
                    <a:pt x="6" y="18"/>
                    <a:pt x="6" y="18"/>
                    <a:pt x="6" y="18"/>
                  </a:cubicBezTo>
                  <a:cubicBezTo>
                    <a:pt x="5" y="19"/>
                    <a:pt x="5" y="21"/>
                    <a:pt x="4" y="22"/>
                  </a:cubicBezTo>
                  <a:cubicBezTo>
                    <a:pt x="1" y="22"/>
                    <a:pt x="1" y="22"/>
                    <a:pt x="1" y="22"/>
                  </a:cubicBezTo>
                  <a:cubicBezTo>
                    <a:pt x="0" y="22"/>
                    <a:pt x="0" y="23"/>
                    <a:pt x="0" y="23"/>
                  </a:cubicBezTo>
                  <a:cubicBezTo>
                    <a:pt x="0" y="28"/>
                    <a:pt x="0" y="28"/>
                    <a:pt x="0" y="28"/>
                  </a:cubicBezTo>
                  <a:cubicBezTo>
                    <a:pt x="0" y="29"/>
                    <a:pt x="0" y="29"/>
                    <a:pt x="1" y="29"/>
                  </a:cubicBezTo>
                  <a:cubicBezTo>
                    <a:pt x="4" y="29"/>
                    <a:pt x="4" y="29"/>
                    <a:pt x="4" y="29"/>
                  </a:cubicBezTo>
                  <a:cubicBezTo>
                    <a:pt x="4" y="31"/>
                    <a:pt x="5" y="32"/>
                    <a:pt x="5" y="34"/>
                  </a:cubicBezTo>
                  <a:cubicBezTo>
                    <a:pt x="2" y="35"/>
                    <a:pt x="2" y="35"/>
                    <a:pt x="2" y="35"/>
                  </a:cubicBezTo>
                  <a:cubicBezTo>
                    <a:pt x="2" y="36"/>
                    <a:pt x="2" y="36"/>
                    <a:pt x="2" y="37"/>
                  </a:cubicBezTo>
                  <a:cubicBezTo>
                    <a:pt x="4" y="41"/>
                    <a:pt x="4" y="41"/>
                    <a:pt x="4" y="41"/>
                  </a:cubicBezTo>
                  <a:cubicBezTo>
                    <a:pt x="5" y="41"/>
                    <a:pt x="5" y="42"/>
                    <a:pt x="6" y="41"/>
                  </a:cubicBezTo>
                  <a:cubicBezTo>
                    <a:pt x="9" y="40"/>
                    <a:pt x="9" y="40"/>
                    <a:pt x="9" y="40"/>
                  </a:cubicBezTo>
                  <a:cubicBezTo>
                    <a:pt x="10" y="41"/>
                    <a:pt x="11" y="42"/>
                    <a:pt x="12" y="43"/>
                  </a:cubicBezTo>
                  <a:cubicBezTo>
                    <a:pt x="10" y="46"/>
                    <a:pt x="10" y="46"/>
                    <a:pt x="10" y="46"/>
                  </a:cubicBezTo>
                  <a:cubicBezTo>
                    <a:pt x="10" y="46"/>
                    <a:pt x="10" y="47"/>
                    <a:pt x="11" y="47"/>
                  </a:cubicBezTo>
                  <a:cubicBezTo>
                    <a:pt x="15" y="50"/>
                    <a:pt x="15" y="50"/>
                    <a:pt x="15" y="50"/>
                  </a:cubicBezTo>
                  <a:cubicBezTo>
                    <a:pt x="15" y="50"/>
                    <a:pt x="16" y="50"/>
                    <a:pt x="16" y="49"/>
                  </a:cubicBezTo>
                  <a:cubicBezTo>
                    <a:pt x="18" y="47"/>
                    <a:pt x="18" y="47"/>
                    <a:pt x="18" y="47"/>
                  </a:cubicBezTo>
                  <a:cubicBezTo>
                    <a:pt x="19" y="47"/>
                    <a:pt x="21" y="48"/>
                    <a:pt x="22" y="48"/>
                  </a:cubicBezTo>
                  <a:cubicBezTo>
                    <a:pt x="22" y="51"/>
                    <a:pt x="22" y="51"/>
                    <a:pt x="22" y="51"/>
                  </a:cubicBezTo>
                  <a:cubicBezTo>
                    <a:pt x="22" y="52"/>
                    <a:pt x="23" y="52"/>
                    <a:pt x="24" y="52"/>
                  </a:cubicBezTo>
                  <a:cubicBezTo>
                    <a:pt x="28" y="52"/>
                    <a:pt x="28" y="52"/>
                    <a:pt x="28" y="52"/>
                  </a:cubicBezTo>
                  <a:cubicBezTo>
                    <a:pt x="29" y="52"/>
                    <a:pt x="29" y="52"/>
                    <a:pt x="29" y="51"/>
                  </a:cubicBezTo>
                  <a:cubicBezTo>
                    <a:pt x="29" y="48"/>
                    <a:pt x="29" y="48"/>
                    <a:pt x="29" y="48"/>
                  </a:cubicBezTo>
                  <a:cubicBezTo>
                    <a:pt x="31" y="48"/>
                    <a:pt x="32" y="47"/>
                    <a:pt x="34" y="47"/>
                  </a:cubicBezTo>
                  <a:cubicBezTo>
                    <a:pt x="35" y="50"/>
                    <a:pt x="35" y="50"/>
                    <a:pt x="35" y="50"/>
                  </a:cubicBezTo>
                  <a:cubicBezTo>
                    <a:pt x="36" y="50"/>
                    <a:pt x="36" y="50"/>
                    <a:pt x="37" y="50"/>
                  </a:cubicBezTo>
                  <a:cubicBezTo>
                    <a:pt x="41" y="48"/>
                    <a:pt x="41" y="48"/>
                    <a:pt x="41" y="48"/>
                  </a:cubicBezTo>
                  <a:cubicBezTo>
                    <a:pt x="42" y="47"/>
                    <a:pt x="42" y="47"/>
                    <a:pt x="41" y="46"/>
                  </a:cubicBezTo>
                  <a:cubicBezTo>
                    <a:pt x="40" y="43"/>
                    <a:pt x="40" y="43"/>
                    <a:pt x="40" y="43"/>
                  </a:cubicBezTo>
                  <a:cubicBezTo>
                    <a:pt x="41" y="42"/>
                    <a:pt x="42" y="41"/>
                    <a:pt x="43" y="40"/>
                  </a:cubicBezTo>
                  <a:cubicBezTo>
                    <a:pt x="46" y="42"/>
                    <a:pt x="46" y="42"/>
                    <a:pt x="46" y="42"/>
                  </a:cubicBezTo>
                  <a:cubicBezTo>
                    <a:pt x="47" y="42"/>
                    <a:pt x="47" y="42"/>
                    <a:pt x="48" y="41"/>
                  </a:cubicBezTo>
                  <a:cubicBezTo>
                    <a:pt x="50" y="37"/>
                    <a:pt x="50" y="37"/>
                    <a:pt x="50" y="37"/>
                  </a:cubicBezTo>
                  <a:cubicBezTo>
                    <a:pt x="50" y="37"/>
                    <a:pt x="50" y="36"/>
                    <a:pt x="50" y="36"/>
                  </a:cubicBezTo>
                  <a:cubicBezTo>
                    <a:pt x="47" y="34"/>
                    <a:pt x="47" y="34"/>
                    <a:pt x="47" y="34"/>
                  </a:cubicBezTo>
                  <a:cubicBezTo>
                    <a:pt x="47" y="33"/>
                    <a:pt x="48" y="31"/>
                    <a:pt x="48" y="30"/>
                  </a:cubicBezTo>
                  <a:cubicBezTo>
                    <a:pt x="51" y="30"/>
                    <a:pt x="51" y="30"/>
                    <a:pt x="51" y="30"/>
                  </a:cubicBezTo>
                  <a:cubicBezTo>
                    <a:pt x="52" y="30"/>
                    <a:pt x="52" y="29"/>
                    <a:pt x="52" y="29"/>
                  </a:cubicBezTo>
                  <a:cubicBezTo>
                    <a:pt x="52" y="24"/>
                    <a:pt x="52" y="24"/>
                    <a:pt x="52" y="24"/>
                  </a:cubicBezTo>
                  <a:cubicBezTo>
                    <a:pt x="52" y="23"/>
                    <a:pt x="52" y="23"/>
                    <a:pt x="51" y="23"/>
                  </a:cubicBezTo>
                  <a:close/>
                  <a:moveTo>
                    <a:pt x="26" y="40"/>
                  </a:moveTo>
                  <a:cubicBezTo>
                    <a:pt x="18" y="40"/>
                    <a:pt x="12" y="34"/>
                    <a:pt x="12" y="26"/>
                  </a:cubicBezTo>
                  <a:cubicBezTo>
                    <a:pt x="12" y="18"/>
                    <a:pt x="18" y="12"/>
                    <a:pt x="26" y="12"/>
                  </a:cubicBezTo>
                  <a:cubicBezTo>
                    <a:pt x="34" y="12"/>
                    <a:pt x="40" y="18"/>
                    <a:pt x="40" y="26"/>
                  </a:cubicBezTo>
                  <a:cubicBezTo>
                    <a:pt x="40" y="34"/>
                    <a:pt x="34" y="40"/>
                    <a:pt x="26"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grpSp>
      <p:sp>
        <p:nvSpPr>
          <p:cNvPr id="46" name="Freeform 142"/>
          <p:cNvSpPr/>
          <p:nvPr/>
        </p:nvSpPr>
        <p:spPr bwMode="auto">
          <a:xfrm>
            <a:off x="5944715" y="3528116"/>
            <a:ext cx="292261" cy="238612"/>
          </a:xfrm>
          <a:custGeom>
            <a:avLst/>
            <a:gdLst>
              <a:gd name="T0" fmla="*/ 135 w 135"/>
              <a:gd name="T1" fmla="*/ 49 h 110"/>
              <a:gd name="T2" fmla="*/ 68 w 135"/>
              <a:gd name="T3" fmla="*/ 0 h 110"/>
              <a:gd name="T4" fmla="*/ 0 w 135"/>
              <a:gd name="T5" fmla="*/ 49 h 110"/>
              <a:gd name="T6" fmla="*/ 68 w 135"/>
              <a:gd name="T7" fmla="*/ 99 h 110"/>
              <a:gd name="T8" fmla="*/ 93 w 135"/>
              <a:gd name="T9" fmla="*/ 96 h 110"/>
              <a:gd name="T10" fmla="*/ 121 w 135"/>
              <a:gd name="T11" fmla="*/ 110 h 110"/>
              <a:gd name="T12" fmla="*/ 113 w 135"/>
              <a:gd name="T13" fmla="*/ 86 h 110"/>
              <a:gd name="T14" fmla="*/ 135 w 135"/>
              <a:gd name="T15" fmla="*/ 49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10">
                <a:moveTo>
                  <a:pt x="135" y="49"/>
                </a:moveTo>
                <a:cubicBezTo>
                  <a:pt x="135" y="22"/>
                  <a:pt x="105" y="0"/>
                  <a:pt x="68" y="0"/>
                </a:cubicBezTo>
                <a:cubicBezTo>
                  <a:pt x="30" y="0"/>
                  <a:pt x="0" y="22"/>
                  <a:pt x="0" y="49"/>
                </a:cubicBezTo>
                <a:cubicBezTo>
                  <a:pt x="0" y="77"/>
                  <a:pt x="30" y="99"/>
                  <a:pt x="68" y="99"/>
                </a:cubicBezTo>
                <a:cubicBezTo>
                  <a:pt x="76" y="99"/>
                  <a:pt x="85" y="98"/>
                  <a:pt x="93" y="96"/>
                </a:cubicBezTo>
                <a:cubicBezTo>
                  <a:pt x="95" y="95"/>
                  <a:pt x="121" y="110"/>
                  <a:pt x="121" y="110"/>
                </a:cubicBezTo>
                <a:cubicBezTo>
                  <a:pt x="113" y="86"/>
                  <a:pt x="113" y="86"/>
                  <a:pt x="113" y="86"/>
                </a:cubicBezTo>
                <a:cubicBezTo>
                  <a:pt x="126" y="77"/>
                  <a:pt x="135" y="64"/>
                  <a:pt x="135" y="4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pic>
        <p:nvPicPr>
          <p:cNvPr id="4" name="图片 3" descr="Y_XKT[6(BC1@X`D(X7LA}[N"/>
          <p:cNvPicPr>
            <a:picLocks noChangeAspect="1"/>
          </p:cNvPicPr>
          <p:nvPr/>
        </p:nvPicPr>
        <p:blipFill>
          <a:blip r:embed="rId1"/>
          <a:stretch>
            <a:fillRect/>
          </a:stretch>
        </p:blipFill>
        <p:spPr>
          <a:xfrm>
            <a:off x="970915" y="1972310"/>
            <a:ext cx="10058400" cy="4808220"/>
          </a:xfrm>
          <a:prstGeom prst="rect">
            <a:avLst/>
          </a:prstGeom>
        </p:spPr>
      </p:pic>
      <p:sp>
        <p:nvSpPr>
          <p:cNvPr id="20" name="对角圆角矩形 19"/>
          <p:cNvSpPr/>
          <p:nvPr/>
        </p:nvSpPr>
        <p:spPr>
          <a:xfrm flipV="1">
            <a:off x="3161665" y="1119505"/>
            <a:ext cx="2589530" cy="551815"/>
          </a:xfrm>
          <a:prstGeom prst="round2DiagRect">
            <a:avLst>
              <a:gd name="adj1" fmla="val 50000"/>
              <a:gd name="adj2"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3" name="文本框 2"/>
          <p:cNvSpPr txBox="1"/>
          <p:nvPr/>
        </p:nvSpPr>
        <p:spPr>
          <a:xfrm>
            <a:off x="3552190" y="1210310"/>
            <a:ext cx="1807845" cy="368300"/>
          </a:xfrm>
          <a:prstGeom prst="rect">
            <a:avLst/>
          </a:prstGeom>
          <a:noFill/>
        </p:spPr>
        <p:txBody>
          <a:bodyPr wrap="square" rtlCol="0">
            <a:spAutoFit/>
          </a:bodyPr>
          <a:p>
            <a:r>
              <a:rPr lang="zh-CN" altLang="en-US">
                <a:solidFill>
                  <a:schemeClr val="bg1"/>
                </a:solidFill>
              </a:rPr>
              <a:t>同比增长百分点</a:t>
            </a:r>
            <a:endParaRPr lang="zh-CN" altLang="en-US">
              <a:solidFill>
                <a:schemeClr val="bg1"/>
              </a:solidFill>
            </a:endParaRPr>
          </a:p>
        </p:txBody>
      </p:sp>
      <p:sp>
        <p:nvSpPr>
          <p:cNvPr id="23" name="对角圆角矩形 22"/>
          <p:cNvSpPr/>
          <p:nvPr/>
        </p:nvSpPr>
        <p:spPr>
          <a:xfrm flipV="1">
            <a:off x="6854190" y="1118235"/>
            <a:ext cx="2589530" cy="551815"/>
          </a:xfrm>
          <a:prstGeom prst="round2DiagRect">
            <a:avLst>
              <a:gd name="adj1" fmla="val 50000"/>
              <a:gd name="adj2" fmla="val 0"/>
            </a:avLst>
          </a:prstGeom>
          <a:solidFill>
            <a:schemeClr val="bg1"/>
          </a:solidFill>
          <a:ln>
            <a:solidFill>
              <a:srgbClr val="C00000"/>
            </a:solidFill>
          </a:ln>
          <a:extLst>
            <a:ext uri="{909E8E84-426E-40DD-AFC4-6F175D3DCCD1}">
              <a14:hiddenFill xmlns:a14="http://schemas.microsoft.com/office/drawing/2010/main">
                <a:solidFill>
                  <a:schemeClr val="tx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22561" name="PA_淘宝店chenying0907 33"/>
          <p:cNvSpPr>
            <a:spLocks noChangeArrowheads="1"/>
          </p:cNvSpPr>
          <p:nvPr>
            <p:custDataLst>
              <p:tags r:id="rId2"/>
            </p:custDataLst>
          </p:nvPr>
        </p:nvSpPr>
        <p:spPr bwMode="auto">
          <a:xfrm>
            <a:off x="7338060" y="1229360"/>
            <a:ext cx="1824990" cy="33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ctr">
              <a:lnSpc>
                <a:spcPct val="120000"/>
              </a:lnSpc>
              <a:buFont typeface="Arial" panose="020B0604020202020204" pitchFamily="34" charset="0"/>
              <a:buNone/>
            </a:pPr>
            <a:r>
              <a:rPr lang="zh-CN" altLang="zh-CN" b="1">
                <a:solidFill>
                  <a:srgbClr val="C00000"/>
                </a:solidFill>
                <a:latin typeface="锐字云字库魏体1.0" panose="02010604000000000000" charset="-122"/>
                <a:ea typeface="锐字云字库魏体1.0" panose="02010604000000000000" charset="-122"/>
                <a:sym typeface="+mn-ea"/>
              </a:rPr>
              <a:t>完成目标奖励</a:t>
            </a:r>
            <a:endParaRPr lang="zh-CN" altLang="zh-CN" b="1">
              <a:solidFill>
                <a:srgbClr val="C00000"/>
              </a:solidFill>
              <a:latin typeface="锐字云字库魏体1.0" panose="02010604000000000000" charset="-122"/>
              <a:ea typeface="锐字云字库魏体1.0" panose="02010604000000000000" charset="-122"/>
              <a:sym typeface="+mn-ea"/>
            </a:endParaRPr>
          </a:p>
        </p:txBody>
      </p:sp>
      <p:sp>
        <p:nvSpPr>
          <p:cNvPr id="5" name="矩形 4"/>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grpSp>
        <p:nvGrpSpPr>
          <p:cNvPr id="6" name="组合 5"/>
          <p:cNvGrpSpPr/>
          <p:nvPr/>
        </p:nvGrpSpPr>
        <p:grpSpPr>
          <a:xfrm>
            <a:off x="820965" y="0"/>
            <a:ext cx="717550" cy="1097304"/>
            <a:chOff x="4704555" y="313131"/>
            <a:chExt cx="2782888" cy="4255695"/>
          </a:xfrm>
        </p:grpSpPr>
        <p:sp>
          <p:nvSpPr>
            <p:cNvPr id="14" name="流程图: 决策 5"/>
            <p:cNvSpPr/>
            <p:nvPr/>
          </p:nvSpPr>
          <p:spPr>
            <a:xfrm>
              <a:off x="4704555" y="313131"/>
              <a:ext cx="2782888" cy="425569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15" name="流程图: 决策 6"/>
            <p:cNvSpPr/>
            <p:nvPr/>
          </p:nvSpPr>
          <p:spPr>
            <a:xfrm>
              <a:off x="4934127" y="2015510"/>
              <a:ext cx="2323745" cy="2323745"/>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grpSp>
      <p:sp>
        <p:nvSpPr>
          <p:cNvPr id="16" name="文本框 15"/>
          <p:cNvSpPr txBox="1"/>
          <p:nvPr/>
        </p:nvSpPr>
        <p:spPr>
          <a:xfrm>
            <a:off x="733564" y="451148"/>
            <a:ext cx="950408" cy="583565"/>
          </a:xfrm>
          <a:prstGeom prst="rect">
            <a:avLst/>
          </a:prstGeom>
          <a:noFill/>
        </p:spPr>
        <p:txBody>
          <a:bodyPr wrap="square" rtlCol="0">
            <a:spAutoFit/>
          </a:bodyPr>
          <a:p>
            <a:pPr algn="ctr"/>
            <a:r>
              <a:rPr lang="en-US" altLang="zh-CN" sz="3200" b="1" dirty="0" smtClean="0">
                <a:ln w="28575">
                  <a:noFill/>
                </a:ln>
                <a:latin typeface="微软雅黑" panose="020B0503020204020204" charset="-122"/>
                <a:ea typeface="微软雅黑" panose="020B0503020204020204" charset="-122"/>
              </a:rPr>
              <a:t>06</a:t>
            </a:r>
            <a:endParaRPr lang="zh-CN" altLang="en-US" sz="4800" b="1" dirty="0">
              <a:ln w="28575">
                <a:noFill/>
              </a:ln>
              <a:latin typeface="微软雅黑" panose="020B0503020204020204" charset="-122"/>
              <a:ea typeface="微软雅黑" panose="020B0503020204020204" charset="-122"/>
            </a:endParaRPr>
          </a:p>
        </p:txBody>
      </p:sp>
      <p:sp>
        <p:nvSpPr>
          <p:cNvPr id="45" name="矩形 44"/>
          <p:cNvSpPr/>
          <p:nvPr/>
        </p:nvSpPr>
        <p:spPr>
          <a:xfrm>
            <a:off x="1618755" y="451080"/>
            <a:ext cx="2397125" cy="506730"/>
          </a:xfrm>
          <a:prstGeom prst="rect">
            <a:avLst/>
          </a:prstGeom>
        </p:spPr>
        <p:txBody>
          <a:bodyPr wrap="none">
            <a:spAutoFit/>
          </a:bodyPr>
          <a:p>
            <a:pPr algn="l">
              <a:lnSpc>
                <a:spcPct val="150000"/>
              </a:lnSpc>
            </a:pPr>
            <a:r>
              <a:rPr lang="zh-CN" altLang="en-US" b="1" dirty="0">
                <a:solidFill>
                  <a:schemeClr val="tx1">
                    <a:lumMod val="95000"/>
                    <a:lumOff val="5000"/>
                  </a:schemeClr>
                </a:solidFill>
                <a:latin typeface="微软雅黑" panose="020B0503020204020204" charset="-122"/>
                <a:ea typeface="微软雅黑" panose="020B0503020204020204" charset="-122"/>
              </a:rPr>
              <a:t>销售员的KPI考核制定</a:t>
            </a:r>
            <a:endParaRPr lang="zh-CN" altLang="en-US" b="1" dirty="0">
              <a:solidFill>
                <a:schemeClr val="tx1">
                  <a:lumMod val="95000"/>
                  <a:lumOff val="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par>
                                <p:cTn id="12" presetID="10" presetClass="entr" presetSubtype="0" fill="hold" grpId="0" nodeType="withEffect">
                                  <p:stCondLst>
                                    <p:cond delay="1800"/>
                                  </p:stCondLst>
                                  <p:childTnLst>
                                    <p:set>
                                      <p:cBhvr>
                                        <p:cTn id="13" dur="1" fill="hold">
                                          <p:stCondLst>
                                            <p:cond delay="0"/>
                                          </p:stCondLst>
                                        </p:cTn>
                                        <p:tgtEl>
                                          <p:spTgt spid="22561"/>
                                        </p:tgtEl>
                                        <p:attrNameLst>
                                          <p:attrName>style.visibility</p:attrName>
                                        </p:attrNameLst>
                                      </p:cBhvr>
                                      <p:to>
                                        <p:strVal val="visible"/>
                                      </p:to>
                                    </p:set>
                                    <p:animEffect transition="in" filter="fade">
                                      <p:cBhvr>
                                        <p:cTn id="14" dur="500"/>
                                        <p:tgtEl>
                                          <p:spTgt spid="22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3" grpId="0" bldLvl="0" animBg="1"/>
      <p:bldP spid="2256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5356860" y="268605"/>
            <a:ext cx="1478915" cy="460375"/>
          </a:xfrm>
          <a:prstGeom prst="rect">
            <a:avLst/>
          </a:prstGeom>
          <a:noFill/>
        </p:spPr>
        <p:txBody>
          <a:bodyPr wrap="square" rtlCol="0">
            <a:spAutoFit/>
          </a:bodyPr>
          <a:p>
            <a:r>
              <a:rPr lang="zh-CN" altLang="zh-CN" sz="2400">
                <a:solidFill>
                  <a:schemeClr val="tx1">
                    <a:lumMod val="95000"/>
                    <a:lumOff val="5000"/>
                  </a:schemeClr>
                </a:solidFill>
                <a:latin typeface="锐字云字库美黑体1.0" panose="02010604000000000000" charset="-122"/>
                <a:ea typeface="锐字云字库美黑体1.0" panose="02010604000000000000" charset="-122"/>
                <a:sym typeface="+mn-ea"/>
              </a:rPr>
              <a:t>管理方向</a:t>
            </a:r>
            <a:endParaRPr lang="zh-CN" altLang="zh-CN" sz="2400">
              <a:solidFill>
                <a:schemeClr val="tx1">
                  <a:lumMod val="95000"/>
                  <a:lumOff val="5000"/>
                </a:schemeClr>
              </a:solidFill>
              <a:latin typeface="锐字云字库美黑体1.0" panose="02010604000000000000" charset="-122"/>
              <a:ea typeface="锐字云字库美黑体1.0" panose="02010604000000000000" charset="-122"/>
            </a:endParaRPr>
          </a:p>
        </p:txBody>
      </p:sp>
      <p:grpSp>
        <p:nvGrpSpPr>
          <p:cNvPr id="7" name="组合 6"/>
          <p:cNvGrpSpPr/>
          <p:nvPr/>
        </p:nvGrpSpPr>
        <p:grpSpPr>
          <a:xfrm>
            <a:off x="7604760" y="215265"/>
            <a:ext cx="4607560" cy="612140"/>
            <a:chOff x="11976" y="339"/>
            <a:chExt cx="7256" cy="964"/>
          </a:xfrm>
        </p:grpSpPr>
        <p:cxnSp>
          <p:nvCxnSpPr>
            <p:cNvPr id="29" name="直接连接符 28"/>
            <p:cNvCxnSpPr/>
            <p:nvPr/>
          </p:nvCxnSpPr>
          <p:spPr>
            <a:xfrm flipV="1">
              <a:off x="12888" y="782"/>
              <a:ext cx="6345"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11976" y="339"/>
              <a:ext cx="964" cy="964"/>
              <a:chOff x="13969" y="5065"/>
              <a:chExt cx="964" cy="964"/>
            </a:xfrm>
          </p:grpSpPr>
          <p:sp>
            <p:nvSpPr>
              <p:cNvPr id="2" name=" 184"/>
              <p:cNvSpPr/>
              <p:nvPr/>
            </p:nvSpPr>
            <p:spPr>
              <a:xfrm>
                <a:off x="13969" y="5065"/>
                <a:ext cx="964" cy="96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2" name="风扇"/>
              <p:cNvSpPr/>
              <p:nvPr/>
            </p:nvSpPr>
            <p:spPr bwMode="auto">
              <a:xfrm>
                <a:off x="14172" y="5259"/>
                <a:ext cx="558" cy="536"/>
              </a:xfrm>
              <a:custGeom>
                <a:avLst/>
                <a:gdLst>
                  <a:gd name="T0" fmla="*/ 1797174 w 3302"/>
                  <a:gd name="T1" fmla="*/ 900199 h 3308"/>
                  <a:gd name="T2" fmla="*/ 1534292 w 3302"/>
                  <a:gd name="T3" fmla="*/ 1536977 h 3308"/>
                  <a:gd name="T4" fmla="*/ 898587 w 3302"/>
                  <a:gd name="T5" fmla="*/ 1800397 h 3308"/>
                  <a:gd name="T6" fmla="*/ 263426 w 3302"/>
                  <a:gd name="T7" fmla="*/ 1536977 h 3308"/>
                  <a:gd name="T8" fmla="*/ 0 w 3302"/>
                  <a:gd name="T9" fmla="*/ 900199 h 3308"/>
                  <a:gd name="T10" fmla="*/ 263426 w 3302"/>
                  <a:gd name="T11" fmla="*/ 263420 h 3308"/>
                  <a:gd name="T12" fmla="*/ 898587 w 3302"/>
                  <a:gd name="T13" fmla="*/ 0 h 3308"/>
                  <a:gd name="T14" fmla="*/ 1534292 w 3302"/>
                  <a:gd name="T15" fmla="*/ 263420 h 3308"/>
                  <a:gd name="T16" fmla="*/ 1797174 w 3302"/>
                  <a:gd name="T17" fmla="*/ 900199 h 3308"/>
                  <a:gd name="T18" fmla="*/ 775582 w 3302"/>
                  <a:gd name="T19" fmla="*/ 687939 h 3308"/>
                  <a:gd name="T20" fmla="*/ 551888 w 3302"/>
                  <a:gd name="T21" fmla="*/ 299340 h 3308"/>
                  <a:gd name="T22" fmla="*/ 302613 w 3302"/>
                  <a:gd name="T23" fmla="*/ 546432 h 3308"/>
                  <a:gd name="T24" fmla="*/ 210088 w 3302"/>
                  <a:gd name="T25" fmla="*/ 893667 h 3308"/>
                  <a:gd name="T26" fmla="*/ 655843 w 3302"/>
                  <a:gd name="T27" fmla="*/ 893667 h 3308"/>
                  <a:gd name="T28" fmla="*/ 775582 w 3302"/>
                  <a:gd name="T29" fmla="*/ 687939 h 3308"/>
                  <a:gd name="T30" fmla="*/ 1237122 w 3302"/>
                  <a:gd name="T31" fmla="*/ 1497791 h 3308"/>
                  <a:gd name="T32" fmla="*/ 1016149 w 3302"/>
                  <a:gd name="T33" fmla="*/ 1108104 h 3308"/>
                  <a:gd name="T34" fmla="*/ 955191 w 3302"/>
                  <a:gd name="T35" fmla="*/ 1134228 h 3308"/>
                  <a:gd name="T36" fmla="*/ 889334 w 3302"/>
                  <a:gd name="T37" fmla="*/ 1141304 h 3308"/>
                  <a:gd name="T38" fmla="*/ 775582 w 3302"/>
                  <a:gd name="T39" fmla="*/ 1108104 h 3308"/>
                  <a:gd name="T40" fmla="*/ 547534 w 3302"/>
                  <a:gd name="T41" fmla="*/ 1497247 h 3308"/>
                  <a:gd name="T42" fmla="*/ 894777 w 3302"/>
                  <a:gd name="T43" fmla="*/ 1587593 h 3308"/>
                  <a:gd name="T44" fmla="*/ 1237122 w 3302"/>
                  <a:gd name="T45" fmla="*/ 1497791 h 3308"/>
                  <a:gd name="T46" fmla="*/ 1028667 w 3302"/>
                  <a:gd name="T47" fmla="*/ 901831 h 3308"/>
                  <a:gd name="T48" fmla="*/ 990568 w 3302"/>
                  <a:gd name="T49" fmla="*/ 807131 h 3308"/>
                  <a:gd name="T50" fmla="*/ 896410 w 3302"/>
                  <a:gd name="T51" fmla="*/ 768489 h 3308"/>
                  <a:gd name="T52" fmla="*/ 802796 w 3302"/>
                  <a:gd name="T53" fmla="*/ 807131 h 3308"/>
                  <a:gd name="T54" fmla="*/ 762520 w 3302"/>
                  <a:gd name="T55" fmla="*/ 901831 h 3308"/>
                  <a:gd name="T56" fmla="*/ 800074 w 3302"/>
                  <a:gd name="T57" fmla="*/ 996532 h 3308"/>
                  <a:gd name="T58" fmla="*/ 896410 w 3302"/>
                  <a:gd name="T59" fmla="*/ 1035174 h 3308"/>
                  <a:gd name="T60" fmla="*/ 988936 w 3302"/>
                  <a:gd name="T61" fmla="*/ 995443 h 3308"/>
                  <a:gd name="T62" fmla="*/ 1028667 w 3302"/>
                  <a:gd name="T63" fmla="*/ 901831 h 3308"/>
                  <a:gd name="T64" fmla="*/ 1587631 w 3302"/>
                  <a:gd name="T65" fmla="*/ 893667 h 3308"/>
                  <a:gd name="T66" fmla="*/ 1496194 w 3302"/>
                  <a:gd name="T67" fmla="*/ 552964 h 3308"/>
                  <a:gd name="T68" fmla="*/ 1239843 w 3302"/>
                  <a:gd name="T69" fmla="*/ 299340 h 3308"/>
                  <a:gd name="T70" fmla="*/ 1018326 w 3302"/>
                  <a:gd name="T71" fmla="*/ 685218 h 3308"/>
                  <a:gd name="T72" fmla="*/ 1134799 w 3302"/>
                  <a:gd name="T73" fmla="*/ 893667 h 3308"/>
                  <a:gd name="T74" fmla="*/ 1587631 w 3302"/>
                  <a:gd name="T75" fmla="*/ 893667 h 330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302" h="3308">
                    <a:moveTo>
                      <a:pt x="3302" y="1654"/>
                    </a:moveTo>
                    <a:cubicBezTo>
                      <a:pt x="3302" y="2111"/>
                      <a:pt x="3141" y="2501"/>
                      <a:pt x="2819" y="2824"/>
                    </a:cubicBezTo>
                    <a:cubicBezTo>
                      <a:pt x="2496" y="3146"/>
                      <a:pt x="2107" y="3308"/>
                      <a:pt x="1651" y="3308"/>
                    </a:cubicBezTo>
                    <a:cubicBezTo>
                      <a:pt x="1195" y="3308"/>
                      <a:pt x="806" y="3146"/>
                      <a:pt x="484" y="2824"/>
                    </a:cubicBezTo>
                    <a:cubicBezTo>
                      <a:pt x="161" y="2501"/>
                      <a:pt x="0" y="2111"/>
                      <a:pt x="0" y="1654"/>
                    </a:cubicBezTo>
                    <a:cubicBezTo>
                      <a:pt x="0" y="1197"/>
                      <a:pt x="161" y="807"/>
                      <a:pt x="484" y="484"/>
                    </a:cubicBezTo>
                    <a:cubicBezTo>
                      <a:pt x="806" y="161"/>
                      <a:pt x="1195" y="0"/>
                      <a:pt x="1651" y="0"/>
                    </a:cubicBezTo>
                    <a:cubicBezTo>
                      <a:pt x="2107" y="0"/>
                      <a:pt x="2496" y="161"/>
                      <a:pt x="2819" y="484"/>
                    </a:cubicBezTo>
                    <a:cubicBezTo>
                      <a:pt x="3141" y="807"/>
                      <a:pt x="3302" y="1197"/>
                      <a:pt x="3302" y="1654"/>
                    </a:cubicBezTo>
                    <a:close/>
                    <a:moveTo>
                      <a:pt x="1425" y="1264"/>
                    </a:moveTo>
                    <a:cubicBezTo>
                      <a:pt x="1014" y="550"/>
                      <a:pt x="1014" y="550"/>
                      <a:pt x="1014" y="550"/>
                    </a:cubicBezTo>
                    <a:cubicBezTo>
                      <a:pt x="822" y="661"/>
                      <a:pt x="669" y="812"/>
                      <a:pt x="556" y="1004"/>
                    </a:cubicBezTo>
                    <a:cubicBezTo>
                      <a:pt x="442" y="1196"/>
                      <a:pt x="386" y="1409"/>
                      <a:pt x="386" y="1642"/>
                    </a:cubicBezTo>
                    <a:cubicBezTo>
                      <a:pt x="1205" y="1642"/>
                      <a:pt x="1205" y="1642"/>
                      <a:pt x="1205" y="1642"/>
                    </a:cubicBezTo>
                    <a:cubicBezTo>
                      <a:pt x="1205" y="1469"/>
                      <a:pt x="1278" y="1343"/>
                      <a:pt x="1425" y="1264"/>
                    </a:cubicBezTo>
                    <a:close/>
                    <a:moveTo>
                      <a:pt x="2273" y="2752"/>
                    </a:moveTo>
                    <a:cubicBezTo>
                      <a:pt x="1867" y="2036"/>
                      <a:pt x="1867" y="2036"/>
                      <a:pt x="1867" y="2036"/>
                    </a:cubicBezTo>
                    <a:cubicBezTo>
                      <a:pt x="1829" y="2059"/>
                      <a:pt x="1791" y="2075"/>
                      <a:pt x="1755" y="2084"/>
                    </a:cubicBezTo>
                    <a:cubicBezTo>
                      <a:pt x="1719" y="2093"/>
                      <a:pt x="1678" y="2097"/>
                      <a:pt x="1634" y="2097"/>
                    </a:cubicBezTo>
                    <a:cubicBezTo>
                      <a:pt x="1558" y="2097"/>
                      <a:pt x="1488" y="2077"/>
                      <a:pt x="1425" y="2036"/>
                    </a:cubicBezTo>
                    <a:cubicBezTo>
                      <a:pt x="1006" y="2751"/>
                      <a:pt x="1006" y="2751"/>
                      <a:pt x="1006" y="2751"/>
                    </a:cubicBezTo>
                    <a:cubicBezTo>
                      <a:pt x="1202" y="2861"/>
                      <a:pt x="1414" y="2917"/>
                      <a:pt x="1644" y="2917"/>
                    </a:cubicBezTo>
                    <a:cubicBezTo>
                      <a:pt x="1871" y="2917"/>
                      <a:pt x="2081" y="2862"/>
                      <a:pt x="2273" y="2752"/>
                    </a:cubicBezTo>
                    <a:close/>
                    <a:moveTo>
                      <a:pt x="1890" y="1657"/>
                    </a:moveTo>
                    <a:cubicBezTo>
                      <a:pt x="1890" y="1588"/>
                      <a:pt x="1866" y="1530"/>
                      <a:pt x="1820" y="1483"/>
                    </a:cubicBezTo>
                    <a:cubicBezTo>
                      <a:pt x="1773" y="1436"/>
                      <a:pt x="1716" y="1412"/>
                      <a:pt x="1647" y="1412"/>
                    </a:cubicBezTo>
                    <a:cubicBezTo>
                      <a:pt x="1582" y="1412"/>
                      <a:pt x="1525" y="1436"/>
                      <a:pt x="1475" y="1483"/>
                    </a:cubicBezTo>
                    <a:cubicBezTo>
                      <a:pt x="1425" y="1530"/>
                      <a:pt x="1401" y="1588"/>
                      <a:pt x="1401" y="1657"/>
                    </a:cubicBezTo>
                    <a:cubicBezTo>
                      <a:pt x="1401" y="1726"/>
                      <a:pt x="1424" y="1784"/>
                      <a:pt x="1470" y="1831"/>
                    </a:cubicBezTo>
                    <a:cubicBezTo>
                      <a:pt x="1517" y="1878"/>
                      <a:pt x="1576" y="1902"/>
                      <a:pt x="1647" y="1902"/>
                    </a:cubicBezTo>
                    <a:cubicBezTo>
                      <a:pt x="1713" y="1902"/>
                      <a:pt x="1769" y="1877"/>
                      <a:pt x="1817" y="1829"/>
                    </a:cubicBezTo>
                    <a:cubicBezTo>
                      <a:pt x="1866" y="1780"/>
                      <a:pt x="1890" y="1723"/>
                      <a:pt x="1890" y="1657"/>
                    </a:cubicBezTo>
                    <a:close/>
                    <a:moveTo>
                      <a:pt x="2917" y="1642"/>
                    </a:moveTo>
                    <a:cubicBezTo>
                      <a:pt x="2917" y="1418"/>
                      <a:pt x="2861" y="1209"/>
                      <a:pt x="2749" y="1016"/>
                    </a:cubicBezTo>
                    <a:cubicBezTo>
                      <a:pt x="2637" y="822"/>
                      <a:pt x="2480" y="667"/>
                      <a:pt x="2278" y="550"/>
                    </a:cubicBezTo>
                    <a:cubicBezTo>
                      <a:pt x="1871" y="1259"/>
                      <a:pt x="1871" y="1259"/>
                      <a:pt x="1871" y="1259"/>
                    </a:cubicBezTo>
                    <a:cubicBezTo>
                      <a:pt x="2014" y="1350"/>
                      <a:pt x="2085" y="1478"/>
                      <a:pt x="2085" y="1642"/>
                    </a:cubicBezTo>
                    <a:cubicBezTo>
                      <a:pt x="2917" y="1642"/>
                      <a:pt x="2917" y="1642"/>
                      <a:pt x="2917" y="1642"/>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grpSp>
      </p:grpSp>
      <p:grpSp>
        <p:nvGrpSpPr>
          <p:cNvPr id="14" name="组合 13"/>
          <p:cNvGrpSpPr/>
          <p:nvPr/>
        </p:nvGrpSpPr>
        <p:grpSpPr>
          <a:xfrm>
            <a:off x="-12065" y="202565"/>
            <a:ext cx="4654550" cy="612140"/>
            <a:chOff x="-19" y="319"/>
            <a:chExt cx="7330" cy="964"/>
          </a:xfrm>
        </p:grpSpPr>
        <p:cxnSp>
          <p:nvCxnSpPr>
            <p:cNvPr id="6" name="直接连接符 5"/>
            <p:cNvCxnSpPr/>
            <p:nvPr/>
          </p:nvCxnSpPr>
          <p:spPr>
            <a:xfrm flipV="1">
              <a:off x="-19" y="781"/>
              <a:ext cx="6345"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6347" y="319"/>
              <a:ext cx="964" cy="964"/>
              <a:chOff x="13969" y="5065"/>
              <a:chExt cx="964" cy="964"/>
            </a:xfrm>
          </p:grpSpPr>
          <p:sp>
            <p:nvSpPr>
              <p:cNvPr id="4" name=" 184"/>
              <p:cNvSpPr/>
              <p:nvPr/>
            </p:nvSpPr>
            <p:spPr>
              <a:xfrm>
                <a:off x="13969" y="5065"/>
                <a:ext cx="964" cy="96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5" name="风扇"/>
              <p:cNvSpPr/>
              <p:nvPr/>
            </p:nvSpPr>
            <p:spPr bwMode="auto">
              <a:xfrm>
                <a:off x="14172" y="5259"/>
                <a:ext cx="558" cy="536"/>
              </a:xfrm>
              <a:custGeom>
                <a:avLst/>
                <a:gdLst>
                  <a:gd name="T0" fmla="*/ 1797174 w 3302"/>
                  <a:gd name="T1" fmla="*/ 900199 h 3308"/>
                  <a:gd name="T2" fmla="*/ 1534292 w 3302"/>
                  <a:gd name="T3" fmla="*/ 1536977 h 3308"/>
                  <a:gd name="T4" fmla="*/ 898587 w 3302"/>
                  <a:gd name="T5" fmla="*/ 1800397 h 3308"/>
                  <a:gd name="T6" fmla="*/ 263426 w 3302"/>
                  <a:gd name="T7" fmla="*/ 1536977 h 3308"/>
                  <a:gd name="T8" fmla="*/ 0 w 3302"/>
                  <a:gd name="T9" fmla="*/ 900199 h 3308"/>
                  <a:gd name="T10" fmla="*/ 263426 w 3302"/>
                  <a:gd name="T11" fmla="*/ 263420 h 3308"/>
                  <a:gd name="T12" fmla="*/ 898587 w 3302"/>
                  <a:gd name="T13" fmla="*/ 0 h 3308"/>
                  <a:gd name="T14" fmla="*/ 1534292 w 3302"/>
                  <a:gd name="T15" fmla="*/ 263420 h 3308"/>
                  <a:gd name="T16" fmla="*/ 1797174 w 3302"/>
                  <a:gd name="T17" fmla="*/ 900199 h 3308"/>
                  <a:gd name="T18" fmla="*/ 775582 w 3302"/>
                  <a:gd name="T19" fmla="*/ 687939 h 3308"/>
                  <a:gd name="T20" fmla="*/ 551888 w 3302"/>
                  <a:gd name="T21" fmla="*/ 299340 h 3308"/>
                  <a:gd name="T22" fmla="*/ 302613 w 3302"/>
                  <a:gd name="T23" fmla="*/ 546432 h 3308"/>
                  <a:gd name="T24" fmla="*/ 210088 w 3302"/>
                  <a:gd name="T25" fmla="*/ 893667 h 3308"/>
                  <a:gd name="T26" fmla="*/ 655843 w 3302"/>
                  <a:gd name="T27" fmla="*/ 893667 h 3308"/>
                  <a:gd name="T28" fmla="*/ 775582 w 3302"/>
                  <a:gd name="T29" fmla="*/ 687939 h 3308"/>
                  <a:gd name="T30" fmla="*/ 1237122 w 3302"/>
                  <a:gd name="T31" fmla="*/ 1497791 h 3308"/>
                  <a:gd name="T32" fmla="*/ 1016149 w 3302"/>
                  <a:gd name="T33" fmla="*/ 1108104 h 3308"/>
                  <a:gd name="T34" fmla="*/ 955191 w 3302"/>
                  <a:gd name="T35" fmla="*/ 1134228 h 3308"/>
                  <a:gd name="T36" fmla="*/ 889334 w 3302"/>
                  <a:gd name="T37" fmla="*/ 1141304 h 3308"/>
                  <a:gd name="T38" fmla="*/ 775582 w 3302"/>
                  <a:gd name="T39" fmla="*/ 1108104 h 3308"/>
                  <a:gd name="T40" fmla="*/ 547534 w 3302"/>
                  <a:gd name="T41" fmla="*/ 1497247 h 3308"/>
                  <a:gd name="T42" fmla="*/ 894777 w 3302"/>
                  <a:gd name="T43" fmla="*/ 1587593 h 3308"/>
                  <a:gd name="T44" fmla="*/ 1237122 w 3302"/>
                  <a:gd name="T45" fmla="*/ 1497791 h 3308"/>
                  <a:gd name="T46" fmla="*/ 1028667 w 3302"/>
                  <a:gd name="T47" fmla="*/ 901831 h 3308"/>
                  <a:gd name="T48" fmla="*/ 990568 w 3302"/>
                  <a:gd name="T49" fmla="*/ 807131 h 3308"/>
                  <a:gd name="T50" fmla="*/ 896410 w 3302"/>
                  <a:gd name="T51" fmla="*/ 768489 h 3308"/>
                  <a:gd name="T52" fmla="*/ 802796 w 3302"/>
                  <a:gd name="T53" fmla="*/ 807131 h 3308"/>
                  <a:gd name="T54" fmla="*/ 762520 w 3302"/>
                  <a:gd name="T55" fmla="*/ 901831 h 3308"/>
                  <a:gd name="T56" fmla="*/ 800074 w 3302"/>
                  <a:gd name="T57" fmla="*/ 996532 h 3308"/>
                  <a:gd name="T58" fmla="*/ 896410 w 3302"/>
                  <a:gd name="T59" fmla="*/ 1035174 h 3308"/>
                  <a:gd name="T60" fmla="*/ 988936 w 3302"/>
                  <a:gd name="T61" fmla="*/ 995443 h 3308"/>
                  <a:gd name="T62" fmla="*/ 1028667 w 3302"/>
                  <a:gd name="T63" fmla="*/ 901831 h 3308"/>
                  <a:gd name="T64" fmla="*/ 1587631 w 3302"/>
                  <a:gd name="T65" fmla="*/ 893667 h 3308"/>
                  <a:gd name="T66" fmla="*/ 1496194 w 3302"/>
                  <a:gd name="T67" fmla="*/ 552964 h 3308"/>
                  <a:gd name="T68" fmla="*/ 1239843 w 3302"/>
                  <a:gd name="T69" fmla="*/ 299340 h 3308"/>
                  <a:gd name="T70" fmla="*/ 1018326 w 3302"/>
                  <a:gd name="T71" fmla="*/ 685218 h 3308"/>
                  <a:gd name="T72" fmla="*/ 1134799 w 3302"/>
                  <a:gd name="T73" fmla="*/ 893667 h 3308"/>
                  <a:gd name="T74" fmla="*/ 1587631 w 3302"/>
                  <a:gd name="T75" fmla="*/ 893667 h 330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302" h="3308">
                    <a:moveTo>
                      <a:pt x="3302" y="1654"/>
                    </a:moveTo>
                    <a:cubicBezTo>
                      <a:pt x="3302" y="2111"/>
                      <a:pt x="3141" y="2501"/>
                      <a:pt x="2819" y="2824"/>
                    </a:cubicBezTo>
                    <a:cubicBezTo>
                      <a:pt x="2496" y="3146"/>
                      <a:pt x="2107" y="3308"/>
                      <a:pt x="1651" y="3308"/>
                    </a:cubicBezTo>
                    <a:cubicBezTo>
                      <a:pt x="1195" y="3308"/>
                      <a:pt x="806" y="3146"/>
                      <a:pt x="484" y="2824"/>
                    </a:cubicBezTo>
                    <a:cubicBezTo>
                      <a:pt x="161" y="2501"/>
                      <a:pt x="0" y="2111"/>
                      <a:pt x="0" y="1654"/>
                    </a:cubicBezTo>
                    <a:cubicBezTo>
                      <a:pt x="0" y="1197"/>
                      <a:pt x="161" y="807"/>
                      <a:pt x="484" y="484"/>
                    </a:cubicBezTo>
                    <a:cubicBezTo>
                      <a:pt x="806" y="161"/>
                      <a:pt x="1195" y="0"/>
                      <a:pt x="1651" y="0"/>
                    </a:cubicBezTo>
                    <a:cubicBezTo>
                      <a:pt x="2107" y="0"/>
                      <a:pt x="2496" y="161"/>
                      <a:pt x="2819" y="484"/>
                    </a:cubicBezTo>
                    <a:cubicBezTo>
                      <a:pt x="3141" y="807"/>
                      <a:pt x="3302" y="1197"/>
                      <a:pt x="3302" y="1654"/>
                    </a:cubicBezTo>
                    <a:close/>
                    <a:moveTo>
                      <a:pt x="1425" y="1264"/>
                    </a:moveTo>
                    <a:cubicBezTo>
                      <a:pt x="1014" y="550"/>
                      <a:pt x="1014" y="550"/>
                      <a:pt x="1014" y="550"/>
                    </a:cubicBezTo>
                    <a:cubicBezTo>
                      <a:pt x="822" y="661"/>
                      <a:pt x="669" y="812"/>
                      <a:pt x="556" y="1004"/>
                    </a:cubicBezTo>
                    <a:cubicBezTo>
                      <a:pt x="442" y="1196"/>
                      <a:pt x="386" y="1409"/>
                      <a:pt x="386" y="1642"/>
                    </a:cubicBezTo>
                    <a:cubicBezTo>
                      <a:pt x="1205" y="1642"/>
                      <a:pt x="1205" y="1642"/>
                      <a:pt x="1205" y="1642"/>
                    </a:cubicBezTo>
                    <a:cubicBezTo>
                      <a:pt x="1205" y="1469"/>
                      <a:pt x="1278" y="1343"/>
                      <a:pt x="1425" y="1264"/>
                    </a:cubicBezTo>
                    <a:close/>
                    <a:moveTo>
                      <a:pt x="2273" y="2752"/>
                    </a:moveTo>
                    <a:cubicBezTo>
                      <a:pt x="1867" y="2036"/>
                      <a:pt x="1867" y="2036"/>
                      <a:pt x="1867" y="2036"/>
                    </a:cubicBezTo>
                    <a:cubicBezTo>
                      <a:pt x="1829" y="2059"/>
                      <a:pt x="1791" y="2075"/>
                      <a:pt x="1755" y="2084"/>
                    </a:cubicBezTo>
                    <a:cubicBezTo>
                      <a:pt x="1719" y="2093"/>
                      <a:pt x="1678" y="2097"/>
                      <a:pt x="1634" y="2097"/>
                    </a:cubicBezTo>
                    <a:cubicBezTo>
                      <a:pt x="1558" y="2097"/>
                      <a:pt x="1488" y="2077"/>
                      <a:pt x="1425" y="2036"/>
                    </a:cubicBezTo>
                    <a:cubicBezTo>
                      <a:pt x="1006" y="2751"/>
                      <a:pt x="1006" y="2751"/>
                      <a:pt x="1006" y="2751"/>
                    </a:cubicBezTo>
                    <a:cubicBezTo>
                      <a:pt x="1202" y="2861"/>
                      <a:pt x="1414" y="2917"/>
                      <a:pt x="1644" y="2917"/>
                    </a:cubicBezTo>
                    <a:cubicBezTo>
                      <a:pt x="1871" y="2917"/>
                      <a:pt x="2081" y="2862"/>
                      <a:pt x="2273" y="2752"/>
                    </a:cubicBezTo>
                    <a:close/>
                    <a:moveTo>
                      <a:pt x="1890" y="1657"/>
                    </a:moveTo>
                    <a:cubicBezTo>
                      <a:pt x="1890" y="1588"/>
                      <a:pt x="1866" y="1530"/>
                      <a:pt x="1820" y="1483"/>
                    </a:cubicBezTo>
                    <a:cubicBezTo>
                      <a:pt x="1773" y="1436"/>
                      <a:pt x="1716" y="1412"/>
                      <a:pt x="1647" y="1412"/>
                    </a:cubicBezTo>
                    <a:cubicBezTo>
                      <a:pt x="1582" y="1412"/>
                      <a:pt x="1525" y="1436"/>
                      <a:pt x="1475" y="1483"/>
                    </a:cubicBezTo>
                    <a:cubicBezTo>
                      <a:pt x="1425" y="1530"/>
                      <a:pt x="1401" y="1588"/>
                      <a:pt x="1401" y="1657"/>
                    </a:cubicBezTo>
                    <a:cubicBezTo>
                      <a:pt x="1401" y="1726"/>
                      <a:pt x="1424" y="1784"/>
                      <a:pt x="1470" y="1831"/>
                    </a:cubicBezTo>
                    <a:cubicBezTo>
                      <a:pt x="1517" y="1878"/>
                      <a:pt x="1576" y="1902"/>
                      <a:pt x="1647" y="1902"/>
                    </a:cubicBezTo>
                    <a:cubicBezTo>
                      <a:pt x="1713" y="1902"/>
                      <a:pt x="1769" y="1877"/>
                      <a:pt x="1817" y="1829"/>
                    </a:cubicBezTo>
                    <a:cubicBezTo>
                      <a:pt x="1866" y="1780"/>
                      <a:pt x="1890" y="1723"/>
                      <a:pt x="1890" y="1657"/>
                    </a:cubicBezTo>
                    <a:close/>
                    <a:moveTo>
                      <a:pt x="2917" y="1642"/>
                    </a:moveTo>
                    <a:cubicBezTo>
                      <a:pt x="2917" y="1418"/>
                      <a:pt x="2861" y="1209"/>
                      <a:pt x="2749" y="1016"/>
                    </a:cubicBezTo>
                    <a:cubicBezTo>
                      <a:pt x="2637" y="822"/>
                      <a:pt x="2480" y="667"/>
                      <a:pt x="2278" y="550"/>
                    </a:cubicBezTo>
                    <a:cubicBezTo>
                      <a:pt x="1871" y="1259"/>
                      <a:pt x="1871" y="1259"/>
                      <a:pt x="1871" y="1259"/>
                    </a:cubicBezTo>
                    <a:cubicBezTo>
                      <a:pt x="2014" y="1350"/>
                      <a:pt x="2085" y="1478"/>
                      <a:pt x="2085" y="1642"/>
                    </a:cubicBezTo>
                    <a:cubicBezTo>
                      <a:pt x="2917" y="1642"/>
                      <a:pt x="2917" y="1642"/>
                      <a:pt x="2917" y="1642"/>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grpSp>
      </p:grpSp>
      <p:grpSp>
        <p:nvGrpSpPr>
          <p:cNvPr id="15" name="组合 14"/>
          <p:cNvGrpSpPr/>
          <p:nvPr/>
        </p:nvGrpSpPr>
        <p:grpSpPr>
          <a:xfrm>
            <a:off x="1320800" y="1984375"/>
            <a:ext cx="1583690" cy="1583690"/>
            <a:chOff x="2208" y="2812"/>
            <a:chExt cx="2494" cy="2494"/>
          </a:xfrm>
        </p:grpSpPr>
        <p:sp>
          <p:nvSpPr>
            <p:cNvPr id="184" name=" 184"/>
            <p:cNvSpPr/>
            <p:nvPr/>
          </p:nvSpPr>
          <p:spPr>
            <a:xfrm>
              <a:off x="2208" y="2812"/>
              <a:ext cx="2494" cy="2494"/>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16" name="弧形 15"/>
            <p:cNvSpPr/>
            <p:nvPr/>
          </p:nvSpPr>
          <p:spPr>
            <a:xfrm>
              <a:off x="2208" y="2812"/>
              <a:ext cx="2494" cy="2494"/>
            </a:xfrm>
            <a:prstGeom prst="arc">
              <a:avLst>
                <a:gd name="adj1" fmla="val 16200000"/>
                <a:gd name="adj2" fmla="val 11192492"/>
              </a:avLst>
            </a:prstGeom>
            <a:ln w="1301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18" name="文本框 17"/>
            <p:cNvSpPr txBox="1"/>
            <p:nvPr/>
          </p:nvSpPr>
          <p:spPr>
            <a:xfrm>
              <a:off x="2692" y="3664"/>
              <a:ext cx="1717" cy="822"/>
            </a:xfrm>
            <a:prstGeom prst="rect">
              <a:avLst/>
            </a:prstGeom>
            <a:noFill/>
          </p:spPr>
          <p:txBody>
            <a:bodyPr wrap="square" rtlCol="0">
              <a:spAutoFit/>
            </a:bodyPr>
            <a:p>
              <a:r>
                <a:rPr lang="en-US" altLang="zh-CN" sz="2800">
                  <a:solidFill>
                    <a:schemeClr val="tx1">
                      <a:lumMod val="95000"/>
                      <a:lumOff val="5000"/>
                    </a:schemeClr>
                  </a:solidFill>
                  <a:latin typeface="锐字云字库魏体1.0" panose="02010604000000000000" charset="-122"/>
                  <a:ea typeface="锐字云字库魏体1.0" panose="02010604000000000000" charset="-122"/>
                </a:rPr>
                <a:t>30%</a:t>
              </a:r>
              <a:endParaRPr lang="en-US" altLang="zh-CN" sz="2800">
                <a:solidFill>
                  <a:schemeClr val="tx1">
                    <a:lumMod val="95000"/>
                    <a:lumOff val="5000"/>
                  </a:schemeClr>
                </a:solidFill>
                <a:latin typeface="锐字云字库魏体1.0" panose="02010604000000000000" charset="-122"/>
                <a:ea typeface="锐字云字库魏体1.0" panose="02010604000000000000" charset="-122"/>
              </a:endParaRPr>
            </a:p>
          </p:txBody>
        </p:sp>
      </p:grpSp>
      <p:grpSp>
        <p:nvGrpSpPr>
          <p:cNvPr id="19" name="组合 18"/>
          <p:cNvGrpSpPr/>
          <p:nvPr/>
        </p:nvGrpSpPr>
        <p:grpSpPr>
          <a:xfrm>
            <a:off x="3978910" y="1976120"/>
            <a:ext cx="1583690" cy="1583690"/>
            <a:chOff x="6287" y="2851"/>
            <a:chExt cx="2494" cy="2494"/>
          </a:xfrm>
        </p:grpSpPr>
        <p:sp>
          <p:nvSpPr>
            <p:cNvPr id="20" name=" 184"/>
            <p:cNvSpPr/>
            <p:nvPr/>
          </p:nvSpPr>
          <p:spPr>
            <a:xfrm>
              <a:off x="6287" y="2851"/>
              <a:ext cx="2494" cy="2494"/>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23" name="弧形 22"/>
            <p:cNvSpPr/>
            <p:nvPr/>
          </p:nvSpPr>
          <p:spPr>
            <a:xfrm>
              <a:off x="6287" y="2851"/>
              <a:ext cx="2494" cy="2494"/>
            </a:xfrm>
            <a:prstGeom prst="arc">
              <a:avLst>
                <a:gd name="adj1" fmla="val 16200000"/>
                <a:gd name="adj2" fmla="val 13170931"/>
              </a:avLst>
            </a:prstGeom>
            <a:ln w="1301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26" name="文本框 25"/>
            <p:cNvSpPr txBox="1"/>
            <p:nvPr/>
          </p:nvSpPr>
          <p:spPr>
            <a:xfrm>
              <a:off x="6819" y="3703"/>
              <a:ext cx="1717" cy="816"/>
            </a:xfrm>
            <a:prstGeom prst="rect">
              <a:avLst/>
            </a:prstGeom>
            <a:noFill/>
          </p:spPr>
          <p:txBody>
            <a:bodyPr wrap="square" rtlCol="0">
              <a:spAutoFit/>
            </a:bodyPr>
            <a:p>
              <a:r>
                <a:rPr lang="en-US" altLang="zh-CN" sz="2800">
                  <a:solidFill>
                    <a:schemeClr val="tx1">
                      <a:lumMod val="95000"/>
                      <a:lumOff val="5000"/>
                    </a:schemeClr>
                  </a:solidFill>
                  <a:latin typeface="锐字云字库魏体1.0" panose="02010604000000000000" charset="-122"/>
                  <a:ea typeface="锐字云字库魏体1.0" panose="02010604000000000000" charset="-122"/>
                </a:rPr>
                <a:t>87%</a:t>
              </a:r>
              <a:endParaRPr lang="en-US" altLang="zh-CN" sz="2800">
                <a:solidFill>
                  <a:schemeClr val="tx1">
                    <a:lumMod val="95000"/>
                    <a:lumOff val="5000"/>
                  </a:schemeClr>
                </a:solidFill>
                <a:latin typeface="锐字云字库魏体1.0" panose="02010604000000000000" charset="-122"/>
                <a:ea typeface="锐字云字库魏体1.0" panose="02010604000000000000" charset="-122"/>
              </a:endParaRPr>
            </a:p>
          </p:txBody>
        </p:sp>
      </p:grpSp>
      <p:grpSp>
        <p:nvGrpSpPr>
          <p:cNvPr id="27" name="组合 26"/>
          <p:cNvGrpSpPr/>
          <p:nvPr/>
        </p:nvGrpSpPr>
        <p:grpSpPr>
          <a:xfrm>
            <a:off x="6506210" y="1959610"/>
            <a:ext cx="1583690" cy="1583690"/>
            <a:chOff x="10520" y="2812"/>
            <a:chExt cx="2494" cy="2494"/>
          </a:xfrm>
        </p:grpSpPr>
        <p:sp>
          <p:nvSpPr>
            <p:cNvPr id="28" name=" 184"/>
            <p:cNvSpPr/>
            <p:nvPr/>
          </p:nvSpPr>
          <p:spPr>
            <a:xfrm>
              <a:off x="10520" y="2812"/>
              <a:ext cx="2494" cy="2494"/>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30" name="弧形 29"/>
            <p:cNvSpPr/>
            <p:nvPr/>
          </p:nvSpPr>
          <p:spPr>
            <a:xfrm>
              <a:off x="10520" y="2812"/>
              <a:ext cx="2494" cy="2494"/>
            </a:xfrm>
            <a:prstGeom prst="arc">
              <a:avLst>
                <a:gd name="adj1" fmla="val 16200000"/>
                <a:gd name="adj2" fmla="val 5170089"/>
              </a:avLst>
            </a:prstGeom>
            <a:ln w="1301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31" name="文本框 30"/>
            <p:cNvSpPr txBox="1"/>
            <p:nvPr/>
          </p:nvSpPr>
          <p:spPr>
            <a:xfrm>
              <a:off x="11100" y="3664"/>
              <a:ext cx="1717" cy="816"/>
            </a:xfrm>
            <a:prstGeom prst="rect">
              <a:avLst/>
            </a:prstGeom>
            <a:noFill/>
          </p:spPr>
          <p:txBody>
            <a:bodyPr wrap="square" rtlCol="0">
              <a:spAutoFit/>
            </a:bodyPr>
            <a:p>
              <a:r>
                <a:rPr lang="en-US" altLang="zh-CN" sz="2800">
                  <a:solidFill>
                    <a:schemeClr val="tx1">
                      <a:lumMod val="95000"/>
                      <a:lumOff val="5000"/>
                    </a:schemeClr>
                  </a:solidFill>
                  <a:latin typeface="锐字云字库魏体1.0" panose="02010604000000000000" charset="-122"/>
                  <a:ea typeface="锐字云字库魏体1.0" panose="02010604000000000000" charset="-122"/>
                </a:rPr>
                <a:t>50%</a:t>
              </a:r>
              <a:endParaRPr lang="en-US" altLang="zh-CN" sz="2800">
                <a:solidFill>
                  <a:schemeClr val="tx1">
                    <a:lumMod val="95000"/>
                    <a:lumOff val="5000"/>
                  </a:schemeClr>
                </a:solidFill>
                <a:latin typeface="锐字云字库魏体1.0" panose="02010604000000000000" charset="-122"/>
                <a:ea typeface="锐字云字库魏体1.0" panose="02010604000000000000" charset="-122"/>
              </a:endParaRPr>
            </a:p>
          </p:txBody>
        </p:sp>
      </p:grpSp>
      <p:grpSp>
        <p:nvGrpSpPr>
          <p:cNvPr id="32" name="组合 31"/>
          <p:cNvGrpSpPr/>
          <p:nvPr/>
        </p:nvGrpSpPr>
        <p:grpSpPr>
          <a:xfrm>
            <a:off x="9189085" y="1967865"/>
            <a:ext cx="1583690" cy="1583690"/>
            <a:chOff x="14492" y="2838"/>
            <a:chExt cx="2494" cy="2494"/>
          </a:xfrm>
        </p:grpSpPr>
        <p:sp>
          <p:nvSpPr>
            <p:cNvPr id="33" name=" 184"/>
            <p:cNvSpPr/>
            <p:nvPr/>
          </p:nvSpPr>
          <p:spPr>
            <a:xfrm>
              <a:off x="14492" y="2838"/>
              <a:ext cx="2494" cy="2494"/>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34" name="弧形 33"/>
            <p:cNvSpPr/>
            <p:nvPr/>
          </p:nvSpPr>
          <p:spPr>
            <a:xfrm>
              <a:off x="14492" y="2838"/>
              <a:ext cx="2494" cy="2494"/>
            </a:xfrm>
            <a:prstGeom prst="arc">
              <a:avLst>
                <a:gd name="adj1" fmla="val 16200000"/>
                <a:gd name="adj2" fmla="val 15346966"/>
              </a:avLst>
            </a:prstGeom>
            <a:ln w="1301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35" name="文本框 34"/>
            <p:cNvSpPr txBox="1"/>
            <p:nvPr/>
          </p:nvSpPr>
          <p:spPr>
            <a:xfrm>
              <a:off x="15024" y="3690"/>
              <a:ext cx="1717" cy="816"/>
            </a:xfrm>
            <a:prstGeom prst="rect">
              <a:avLst/>
            </a:prstGeom>
            <a:noFill/>
          </p:spPr>
          <p:txBody>
            <a:bodyPr wrap="square" rtlCol="0">
              <a:spAutoFit/>
            </a:bodyPr>
            <a:p>
              <a:r>
                <a:rPr lang="en-US" altLang="zh-CN" sz="2800">
                  <a:solidFill>
                    <a:schemeClr val="tx1">
                      <a:lumMod val="95000"/>
                      <a:lumOff val="5000"/>
                    </a:schemeClr>
                  </a:solidFill>
                  <a:latin typeface="锐字云字库魏体1.0" panose="02010604000000000000" charset="-122"/>
                  <a:ea typeface="锐字云字库魏体1.0" panose="02010604000000000000" charset="-122"/>
                </a:rPr>
                <a:t>95%</a:t>
              </a:r>
              <a:endParaRPr lang="en-US" altLang="zh-CN" sz="2800">
                <a:solidFill>
                  <a:schemeClr val="tx1">
                    <a:lumMod val="95000"/>
                    <a:lumOff val="5000"/>
                  </a:schemeClr>
                </a:solidFill>
                <a:latin typeface="锐字云字库魏体1.0" panose="02010604000000000000" charset="-122"/>
                <a:ea typeface="锐字云字库魏体1.0" panose="02010604000000000000" charset="-122"/>
              </a:endParaRPr>
            </a:p>
          </p:txBody>
        </p:sp>
      </p:grpSp>
      <p:grpSp>
        <p:nvGrpSpPr>
          <p:cNvPr id="36" name="组合 35"/>
          <p:cNvGrpSpPr/>
          <p:nvPr/>
        </p:nvGrpSpPr>
        <p:grpSpPr>
          <a:xfrm>
            <a:off x="1124585" y="4104640"/>
            <a:ext cx="2113280" cy="633730"/>
            <a:chOff x="2422" y="6339"/>
            <a:chExt cx="4007" cy="1359"/>
          </a:xfrm>
        </p:grpSpPr>
        <p:sp>
          <p:nvSpPr>
            <p:cNvPr id="37" name="圆角矩形 36"/>
            <p:cNvSpPr/>
            <p:nvPr/>
          </p:nvSpPr>
          <p:spPr>
            <a:xfrm>
              <a:off x="2422" y="6339"/>
              <a:ext cx="4007" cy="1359"/>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38" name="文本框 37"/>
            <p:cNvSpPr txBox="1"/>
            <p:nvPr/>
          </p:nvSpPr>
          <p:spPr>
            <a:xfrm>
              <a:off x="2794" y="6463"/>
              <a:ext cx="3262" cy="1119"/>
            </a:xfrm>
            <a:prstGeom prst="rect">
              <a:avLst/>
            </a:prstGeom>
            <a:noFill/>
          </p:spPr>
          <p:txBody>
            <a:bodyPr wrap="square" rtlCol="0">
              <a:spAutoFit/>
            </a:bodyPr>
            <a:p>
              <a:pPr algn="l"/>
              <a:r>
                <a:rPr lang="zh-CN" sz="2800">
                  <a:solidFill>
                    <a:schemeClr val="tx1">
                      <a:lumMod val="95000"/>
                      <a:lumOff val="5000"/>
                    </a:schemeClr>
                  </a:solidFill>
                  <a:latin typeface="锐字云字库魏体1.0" panose="02010604000000000000" charset="-122"/>
                  <a:ea typeface="锐字云字库魏体1.0" panose="02010604000000000000" charset="-122"/>
                </a:rPr>
                <a:t>由简代入</a:t>
              </a:r>
              <a:endParaRPr lang="zh-CN" sz="2800">
                <a:solidFill>
                  <a:schemeClr val="tx1">
                    <a:lumMod val="95000"/>
                    <a:lumOff val="5000"/>
                  </a:schemeClr>
                </a:solidFill>
                <a:latin typeface="锐字云字库魏体1.0" panose="02010604000000000000" charset="-122"/>
                <a:ea typeface="锐字云字库魏体1.0" panose="02010604000000000000" charset="-122"/>
              </a:endParaRPr>
            </a:p>
          </p:txBody>
        </p:sp>
      </p:grpSp>
      <p:grpSp>
        <p:nvGrpSpPr>
          <p:cNvPr id="39" name="组合 38"/>
          <p:cNvGrpSpPr/>
          <p:nvPr/>
        </p:nvGrpSpPr>
        <p:grpSpPr>
          <a:xfrm>
            <a:off x="3714750" y="4104640"/>
            <a:ext cx="2113280" cy="633730"/>
            <a:chOff x="2422" y="6339"/>
            <a:chExt cx="4007" cy="1359"/>
          </a:xfrm>
        </p:grpSpPr>
        <p:sp>
          <p:nvSpPr>
            <p:cNvPr id="40" name="圆角矩形 39"/>
            <p:cNvSpPr/>
            <p:nvPr/>
          </p:nvSpPr>
          <p:spPr>
            <a:xfrm>
              <a:off x="2422" y="6339"/>
              <a:ext cx="4007" cy="1359"/>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142" name="文本框 141"/>
            <p:cNvSpPr txBox="1"/>
            <p:nvPr/>
          </p:nvSpPr>
          <p:spPr>
            <a:xfrm>
              <a:off x="2794" y="6463"/>
              <a:ext cx="3262" cy="1119"/>
            </a:xfrm>
            <a:prstGeom prst="rect">
              <a:avLst/>
            </a:prstGeom>
            <a:noFill/>
          </p:spPr>
          <p:txBody>
            <a:bodyPr wrap="square" rtlCol="0">
              <a:spAutoFit/>
            </a:bodyPr>
            <a:p>
              <a:pPr algn="l"/>
              <a:r>
                <a:rPr lang="zh-CN" sz="2800">
                  <a:solidFill>
                    <a:schemeClr val="tx1">
                      <a:lumMod val="95000"/>
                      <a:lumOff val="5000"/>
                    </a:schemeClr>
                  </a:solidFill>
                  <a:latin typeface="锐字云字库魏体1.0" panose="02010604000000000000" charset="-122"/>
                  <a:ea typeface="锐字云字库魏体1.0" panose="02010604000000000000" charset="-122"/>
                </a:rPr>
                <a:t>行为指导</a:t>
              </a:r>
              <a:endParaRPr lang="zh-CN" sz="2800">
                <a:solidFill>
                  <a:schemeClr val="tx1">
                    <a:lumMod val="95000"/>
                    <a:lumOff val="5000"/>
                  </a:schemeClr>
                </a:solidFill>
                <a:latin typeface="锐字云字库魏体1.0" panose="02010604000000000000" charset="-122"/>
                <a:ea typeface="锐字云字库魏体1.0" panose="02010604000000000000" charset="-122"/>
              </a:endParaRPr>
            </a:p>
          </p:txBody>
        </p:sp>
      </p:grpSp>
      <p:grpSp>
        <p:nvGrpSpPr>
          <p:cNvPr id="143" name="组合 142"/>
          <p:cNvGrpSpPr/>
          <p:nvPr/>
        </p:nvGrpSpPr>
        <p:grpSpPr>
          <a:xfrm>
            <a:off x="6402705" y="4104640"/>
            <a:ext cx="2113280" cy="633730"/>
            <a:chOff x="2422" y="6339"/>
            <a:chExt cx="4007" cy="1359"/>
          </a:xfrm>
        </p:grpSpPr>
        <p:sp>
          <p:nvSpPr>
            <p:cNvPr id="154" name="圆角矩形 153"/>
            <p:cNvSpPr/>
            <p:nvPr/>
          </p:nvSpPr>
          <p:spPr>
            <a:xfrm>
              <a:off x="2422" y="6339"/>
              <a:ext cx="4007" cy="1359"/>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155" name="文本框 154"/>
            <p:cNvSpPr txBox="1"/>
            <p:nvPr/>
          </p:nvSpPr>
          <p:spPr>
            <a:xfrm>
              <a:off x="2794" y="6463"/>
              <a:ext cx="3262" cy="1119"/>
            </a:xfrm>
            <a:prstGeom prst="rect">
              <a:avLst/>
            </a:prstGeom>
            <a:noFill/>
          </p:spPr>
          <p:txBody>
            <a:bodyPr wrap="square" rtlCol="0">
              <a:spAutoFit/>
            </a:bodyPr>
            <a:p>
              <a:pPr algn="l"/>
              <a:r>
                <a:rPr lang="zh-CN" sz="2800">
                  <a:solidFill>
                    <a:schemeClr val="tx1">
                      <a:lumMod val="95000"/>
                      <a:lumOff val="5000"/>
                    </a:schemeClr>
                  </a:solidFill>
                  <a:latin typeface="锐字云字库魏体1.0" panose="02010604000000000000" charset="-122"/>
                  <a:ea typeface="锐字云字库魏体1.0" panose="02010604000000000000" charset="-122"/>
                </a:rPr>
                <a:t>导师辅助</a:t>
              </a:r>
              <a:endParaRPr lang="zh-CN" sz="2800">
                <a:solidFill>
                  <a:schemeClr val="tx1">
                    <a:lumMod val="95000"/>
                    <a:lumOff val="5000"/>
                  </a:schemeClr>
                </a:solidFill>
                <a:latin typeface="锐字云字库魏体1.0" panose="02010604000000000000" charset="-122"/>
                <a:ea typeface="锐字云字库魏体1.0" panose="02010604000000000000" charset="-122"/>
              </a:endParaRPr>
            </a:p>
          </p:txBody>
        </p:sp>
      </p:grpSp>
      <p:sp>
        <p:nvSpPr>
          <p:cNvPr id="408" name="文本框 407"/>
          <p:cNvSpPr txBox="1"/>
          <p:nvPr/>
        </p:nvSpPr>
        <p:spPr>
          <a:xfrm>
            <a:off x="1097280" y="5198745"/>
            <a:ext cx="2515235" cy="1814830"/>
          </a:xfrm>
          <a:prstGeom prst="rect">
            <a:avLst/>
          </a:prstGeom>
          <a:noFill/>
        </p:spPr>
        <p:txBody>
          <a:bodyPr wrap="square" rtlCol="0" anchor="t">
            <a:spAutoFit/>
          </a:bodyPr>
          <a:p>
            <a:pPr algn="l"/>
            <a:r>
              <a:rPr lang="en-US" sz="1400">
                <a:solidFill>
                  <a:schemeClr val="tx1">
                    <a:lumMod val="95000"/>
                    <a:lumOff val="5000"/>
                  </a:schemeClr>
                </a:solidFill>
                <a:latin typeface="锐字云字库魏体1.0" panose="02010604000000000000" charset="-122"/>
                <a:ea typeface="锐字云字库魏体1.0" panose="02010604000000000000" charset="-122"/>
                <a:sym typeface="+mn-ea"/>
              </a:rPr>
              <a:t>1.</a:t>
            </a:r>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新人入职，问题的难度系数不要太大</a:t>
            </a:r>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a:p>
            <a:pPr algn="l"/>
            <a:r>
              <a:rPr lang="en-US" altLang="zh-CN" sz="1400">
                <a:solidFill>
                  <a:schemeClr val="tx1">
                    <a:lumMod val="95000"/>
                    <a:lumOff val="5000"/>
                  </a:schemeClr>
                </a:solidFill>
                <a:latin typeface="锐字云字库魏体1.0" panose="02010604000000000000" charset="-122"/>
                <a:ea typeface="锐字云字库魏体1.0" panose="02010604000000000000" charset="-122"/>
                <a:sym typeface="+mn-ea"/>
              </a:rPr>
              <a:t>2.</a:t>
            </a:r>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不要硬塞，一个小章节小章节的教</a:t>
            </a:r>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a:p>
            <a:pPr algn="l"/>
            <a:r>
              <a:rPr lang="en-US" altLang="zh-CN" sz="1400">
                <a:solidFill>
                  <a:schemeClr val="tx1">
                    <a:lumMod val="95000"/>
                    <a:lumOff val="5000"/>
                  </a:schemeClr>
                </a:solidFill>
                <a:latin typeface="锐字云字库魏体1.0" panose="02010604000000000000" charset="-122"/>
                <a:ea typeface="锐字云字库魏体1.0" panose="02010604000000000000" charset="-122"/>
                <a:sym typeface="+mn-ea"/>
              </a:rPr>
              <a:t>3.</a:t>
            </a:r>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培训一个章节内容，给到任务练习，明确时间段，给到反馈，再次讲解，再次实操</a:t>
            </a:r>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a:p>
            <a:pPr algn="l"/>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p:txBody>
      </p:sp>
      <p:sp>
        <p:nvSpPr>
          <p:cNvPr id="156" name="文本框 155"/>
          <p:cNvSpPr txBox="1"/>
          <p:nvPr/>
        </p:nvSpPr>
        <p:spPr>
          <a:xfrm>
            <a:off x="3694430" y="5198745"/>
            <a:ext cx="2587625" cy="1599565"/>
          </a:xfrm>
          <a:prstGeom prst="rect">
            <a:avLst/>
          </a:prstGeom>
          <a:noFill/>
        </p:spPr>
        <p:txBody>
          <a:bodyPr wrap="square" rtlCol="0" anchor="t">
            <a:spAutoFit/>
          </a:bodyPr>
          <a:p>
            <a:pPr algn="l"/>
            <a:r>
              <a:rPr lang="en-US" altLang="zh-CN" sz="1400">
                <a:solidFill>
                  <a:schemeClr val="tx1">
                    <a:lumMod val="95000"/>
                    <a:lumOff val="5000"/>
                  </a:schemeClr>
                </a:solidFill>
                <a:latin typeface="锐字云字库魏体1.0" panose="02010604000000000000" charset="-122"/>
                <a:ea typeface="锐字云字库魏体1.0" panose="02010604000000000000" charset="-122"/>
                <a:sym typeface="+mn-ea"/>
              </a:rPr>
              <a:t>1.</a:t>
            </a:r>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传授技能，教做事</a:t>
            </a:r>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a:p>
            <a:pPr algn="l"/>
            <a:r>
              <a:rPr lang="en-US" altLang="zh-CN" sz="1400">
                <a:solidFill>
                  <a:schemeClr val="tx1">
                    <a:lumMod val="95000"/>
                    <a:lumOff val="5000"/>
                  </a:schemeClr>
                </a:solidFill>
                <a:latin typeface="锐字云字库魏体1.0" panose="02010604000000000000" charset="-122"/>
                <a:ea typeface="锐字云字库魏体1.0" panose="02010604000000000000" charset="-122"/>
                <a:sym typeface="+mn-ea"/>
              </a:rPr>
              <a:t>2.</a:t>
            </a:r>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听话照着做</a:t>
            </a:r>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a:p>
            <a:pPr algn="l"/>
            <a:r>
              <a:rPr lang="en-US" altLang="zh-CN" sz="1400">
                <a:solidFill>
                  <a:schemeClr val="tx1">
                    <a:lumMod val="95000"/>
                    <a:lumOff val="5000"/>
                  </a:schemeClr>
                </a:solidFill>
                <a:latin typeface="锐字云字库魏体1.0" panose="02010604000000000000" charset="-122"/>
                <a:ea typeface="锐字云字库魏体1.0" panose="02010604000000000000" charset="-122"/>
                <a:sym typeface="+mn-ea"/>
              </a:rPr>
              <a:t>3.</a:t>
            </a:r>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多鼓励和肯定新成员所做好的事情</a:t>
            </a:r>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a:p>
            <a:pPr algn="l"/>
            <a:r>
              <a:rPr lang="en-US" altLang="zh-CN" sz="1400">
                <a:solidFill>
                  <a:schemeClr val="tx1">
                    <a:lumMod val="95000"/>
                    <a:lumOff val="5000"/>
                  </a:schemeClr>
                </a:solidFill>
                <a:latin typeface="锐字云字库魏体1.0" panose="02010604000000000000" charset="-122"/>
                <a:ea typeface="锐字云字库魏体1.0" panose="02010604000000000000" charset="-122"/>
                <a:sym typeface="+mn-ea"/>
              </a:rPr>
              <a:t>4.</a:t>
            </a:r>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一定要求问题反馈，每天做了哪些事情，哪里不懂，能今天解决的就不要拖到明天</a:t>
            </a:r>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p:txBody>
      </p:sp>
      <p:sp>
        <p:nvSpPr>
          <p:cNvPr id="157" name="文本框 156"/>
          <p:cNvSpPr txBox="1"/>
          <p:nvPr/>
        </p:nvSpPr>
        <p:spPr>
          <a:xfrm>
            <a:off x="6281420" y="5198745"/>
            <a:ext cx="2455545" cy="953135"/>
          </a:xfrm>
          <a:prstGeom prst="rect">
            <a:avLst/>
          </a:prstGeom>
          <a:noFill/>
        </p:spPr>
        <p:txBody>
          <a:bodyPr wrap="square" rtlCol="0" anchor="t">
            <a:spAutoFit/>
          </a:bodyPr>
          <a:p>
            <a:pPr algn="l"/>
            <a:r>
              <a:rPr lang="en-US" sz="1400">
                <a:solidFill>
                  <a:schemeClr val="tx1">
                    <a:lumMod val="95000"/>
                    <a:lumOff val="5000"/>
                  </a:schemeClr>
                </a:solidFill>
                <a:latin typeface="锐字云字库魏体1.0" panose="02010604000000000000" charset="-122"/>
                <a:ea typeface="锐字云字库魏体1.0" panose="02010604000000000000" charset="-122"/>
                <a:sym typeface="+mn-ea"/>
              </a:rPr>
              <a:t>1.</a:t>
            </a:r>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小问题让老同事帮忙辅导，增加部门同事之间的交流</a:t>
            </a:r>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a:p>
            <a:pPr algn="l"/>
            <a:r>
              <a:rPr lang="en-US" altLang="zh-CN" sz="1400">
                <a:solidFill>
                  <a:schemeClr val="tx1">
                    <a:lumMod val="95000"/>
                    <a:lumOff val="5000"/>
                  </a:schemeClr>
                </a:solidFill>
                <a:latin typeface="锐字云字库魏体1.0" panose="02010604000000000000" charset="-122"/>
                <a:ea typeface="锐字云字库魏体1.0" panose="02010604000000000000" charset="-122"/>
                <a:sym typeface="+mn-ea"/>
              </a:rPr>
              <a:t>2.</a:t>
            </a:r>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对细节问题进一步了解</a:t>
            </a:r>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a:p>
            <a:pPr algn="l"/>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p:txBody>
      </p:sp>
      <p:grpSp>
        <p:nvGrpSpPr>
          <p:cNvPr id="217" name="组合 216"/>
          <p:cNvGrpSpPr/>
          <p:nvPr/>
        </p:nvGrpSpPr>
        <p:grpSpPr>
          <a:xfrm>
            <a:off x="8924290" y="4105910"/>
            <a:ext cx="2113280" cy="633730"/>
            <a:chOff x="2422" y="6339"/>
            <a:chExt cx="4007" cy="1359"/>
          </a:xfrm>
        </p:grpSpPr>
        <p:sp>
          <p:nvSpPr>
            <p:cNvPr id="218" name="圆角矩形 217"/>
            <p:cNvSpPr/>
            <p:nvPr/>
          </p:nvSpPr>
          <p:spPr>
            <a:xfrm>
              <a:off x="2422" y="6339"/>
              <a:ext cx="4007" cy="1359"/>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95000"/>
                    <a:lumOff val="5000"/>
                  </a:schemeClr>
                </a:solidFill>
                <a:latin typeface="锐字云字库魏体1.0" panose="02010604000000000000" charset="-122"/>
                <a:ea typeface="锐字云字库魏体1.0" panose="02010604000000000000" charset="-122"/>
              </a:endParaRPr>
            </a:p>
          </p:txBody>
        </p:sp>
        <p:sp>
          <p:nvSpPr>
            <p:cNvPr id="41" name="文本框 40"/>
            <p:cNvSpPr txBox="1"/>
            <p:nvPr/>
          </p:nvSpPr>
          <p:spPr>
            <a:xfrm>
              <a:off x="2794" y="6463"/>
              <a:ext cx="3262" cy="1119"/>
            </a:xfrm>
            <a:prstGeom prst="rect">
              <a:avLst/>
            </a:prstGeom>
            <a:noFill/>
          </p:spPr>
          <p:txBody>
            <a:bodyPr wrap="square" rtlCol="0">
              <a:spAutoFit/>
            </a:bodyPr>
            <a:p>
              <a:pPr algn="l"/>
              <a:r>
                <a:rPr lang="zh-CN" sz="2800">
                  <a:solidFill>
                    <a:schemeClr val="tx1">
                      <a:lumMod val="95000"/>
                      <a:lumOff val="5000"/>
                    </a:schemeClr>
                  </a:solidFill>
                  <a:latin typeface="锐字云字库魏体1.0" panose="02010604000000000000" charset="-122"/>
                  <a:ea typeface="锐字云字库魏体1.0" panose="02010604000000000000" charset="-122"/>
                </a:rPr>
                <a:t>目标考核</a:t>
              </a:r>
              <a:endParaRPr lang="zh-CN" sz="2800">
                <a:solidFill>
                  <a:schemeClr val="tx1">
                    <a:lumMod val="95000"/>
                    <a:lumOff val="5000"/>
                  </a:schemeClr>
                </a:solidFill>
                <a:latin typeface="锐字云字库魏体1.0" panose="02010604000000000000" charset="-122"/>
                <a:ea typeface="锐字云字库魏体1.0" panose="02010604000000000000" charset="-122"/>
              </a:endParaRPr>
            </a:p>
          </p:txBody>
        </p:sp>
      </p:grpSp>
      <p:sp>
        <p:nvSpPr>
          <p:cNvPr id="42" name="文本框 41"/>
          <p:cNvSpPr txBox="1"/>
          <p:nvPr/>
        </p:nvSpPr>
        <p:spPr>
          <a:xfrm>
            <a:off x="8903970" y="5200015"/>
            <a:ext cx="2455545" cy="1168400"/>
          </a:xfrm>
          <a:prstGeom prst="rect">
            <a:avLst/>
          </a:prstGeom>
          <a:noFill/>
        </p:spPr>
        <p:txBody>
          <a:bodyPr wrap="square" rtlCol="0" anchor="t">
            <a:spAutoFit/>
          </a:bodyPr>
          <a:p>
            <a:pPr algn="l"/>
            <a:r>
              <a:rPr lang="en-US" sz="1400">
                <a:solidFill>
                  <a:schemeClr val="tx1">
                    <a:lumMod val="95000"/>
                    <a:lumOff val="5000"/>
                  </a:schemeClr>
                </a:solidFill>
                <a:latin typeface="锐字云字库魏体1.0" panose="02010604000000000000" charset="-122"/>
                <a:ea typeface="锐字云字库魏体1.0" panose="02010604000000000000" charset="-122"/>
                <a:sym typeface="+mn-ea"/>
              </a:rPr>
              <a:t>1.</a:t>
            </a:r>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每一个大的培训章节，给到考核目标</a:t>
            </a:r>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a:p>
            <a:pPr algn="l"/>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比如：一天必须做</a:t>
            </a:r>
            <a:r>
              <a:rPr lang="en-US" altLang="zh-CN" sz="1400">
                <a:solidFill>
                  <a:schemeClr val="tx1">
                    <a:lumMod val="95000"/>
                    <a:lumOff val="5000"/>
                  </a:schemeClr>
                </a:solidFill>
                <a:latin typeface="锐字云字库魏体1.0" panose="02010604000000000000" charset="-122"/>
                <a:ea typeface="锐字云字库魏体1.0" panose="02010604000000000000" charset="-122"/>
                <a:sym typeface="+mn-ea"/>
              </a:rPr>
              <a:t>5</a:t>
            </a:r>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个</a:t>
            </a:r>
            <a:r>
              <a:rPr lang="en-US" altLang="zh-CN" sz="1400">
                <a:solidFill>
                  <a:schemeClr val="tx1">
                    <a:lumMod val="95000"/>
                    <a:lumOff val="5000"/>
                  </a:schemeClr>
                </a:solidFill>
                <a:latin typeface="锐字云字库魏体1.0" panose="02010604000000000000" charset="-122"/>
                <a:ea typeface="锐字云字库魏体1.0" panose="02010604000000000000" charset="-122"/>
                <a:sym typeface="+mn-ea"/>
              </a:rPr>
              <a:t>VP</a:t>
            </a:r>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回评</a:t>
            </a:r>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a:p>
            <a:pPr algn="l"/>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下班之前问题必须更新十个</a:t>
            </a:r>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a:p>
            <a:pPr algn="l"/>
            <a:r>
              <a:rPr lang="en-US" altLang="zh-CN" sz="1400">
                <a:solidFill>
                  <a:schemeClr val="tx1">
                    <a:lumMod val="95000"/>
                    <a:lumOff val="5000"/>
                  </a:schemeClr>
                </a:solidFill>
                <a:latin typeface="锐字云字库魏体1.0" panose="02010604000000000000" charset="-122"/>
                <a:ea typeface="锐字云字库魏体1.0" panose="02010604000000000000" charset="-122"/>
                <a:sym typeface="+mn-ea"/>
              </a:rPr>
              <a:t>2.</a:t>
            </a:r>
            <a:r>
              <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rPr>
              <a:t>考核惩罚和奖励</a:t>
            </a:r>
            <a:endParaRPr lang="zh-CN" altLang="en-US" sz="1400">
              <a:solidFill>
                <a:schemeClr val="tx1">
                  <a:lumMod val="95000"/>
                  <a:lumOff val="5000"/>
                </a:schemeClr>
              </a:solidFill>
              <a:latin typeface="锐字云字库魏体1.0" panose="02010604000000000000" charset="-122"/>
              <a:ea typeface="锐字云字库魏体1.0" panose="02010604000000000000" charset="-122"/>
              <a:sym typeface="+mn-ea"/>
            </a:endParaRPr>
          </a:p>
        </p:txBody>
      </p:sp>
      <p:sp>
        <p:nvSpPr>
          <p:cNvPr id="8" name="矩形 7"/>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Tree>
  </p:cSld>
  <p:clrMapOvr>
    <a:masterClrMapping/>
  </p:clrMapOvr>
  <p:transition>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1000"/>
                                        <p:tgtEl>
                                          <p:spTgt spid="17"/>
                                        </p:tgtEl>
                                      </p:cBhvr>
                                    </p:animEffect>
                                    <p:anim calcmode="lin" valueType="num">
                                      <p:cBhvr>
                                        <p:cTn id="17" dur="1000" fill="hold"/>
                                        <p:tgtEl>
                                          <p:spTgt spid="17"/>
                                        </p:tgtEl>
                                        <p:attrNameLst>
                                          <p:attrName>ppt_x</p:attrName>
                                        </p:attrNameLst>
                                      </p:cBhvr>
                                      <p:tavLst>
                                        <p:tav tm="0">
                                          <p:val>
                                            <p:strVal val="#ppt_x"/>
                                          </p:val>
                                        </p:tav>
                                        <p:tav tm="100000">
                                          <p:val>
                                            <p:strVal val="#ppt_x"/>
                                          </p:val>
                                        </p:tav>
                                      </p:tavLst>
                                    </p:anim>
                                    <p:anim calcmode="lin" valueType="num">
                                      <p:cBhvr>
                                        <p:cTn id="18" dur="1000" fill="hold"/>
                                        <p:tgtEl>
                                          <p:spTgt spid="17"/>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49" presetClass="entr" presetSubtype="0" decel="100000" fill="hold" nodeType="after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p:cTn id="22" dur="500" fill="hold"/>
                                        <p:tgtEl>
                                          <p:spTgt spid="15"/>
                                        </p:tgtEl>
                                        <p:attrNameLst>
                                          <p:attrName>ppt_w</p:attrName>
                                        </p:attrNameLst>
                                      </p:cBhvr>
                                      <p:tavLst>
                                        <p:tav tm="0">
                                          <p:val>
                                            <p:fltVal val="0"/>
                                          </p:val>
                                        </p:tav>
                                        <p:tav tm="100000">
                                          <p:val>
                                            <p:strVal val="#ppt_w"/>
                                          </p:val>
                                        </p:tav>
                                      </p:tavLst>
                                    </p:anim>
                                    <p:anim calcmode="lin" valueType="num">
                                      <p:cBhvr>
                                        <p:cTn id="23" dur="500" fill="hold"/>
                                        <p:tgtEl>
                                          <p:spTgt spid="15"/>
                                        </p:tgtEl>
                                        <p:attrNameLst>
                                          <p:attrName>ppt_h</p:attrName>
                                        </p:attrNameLst>
                                      </p:cBhvr>
                                      <p:tavLst>
                                        <p:tav tm="0">
                                          <p:val>
                                            <p:fltVal val="0"/>
                                          </p:val>
                                        </p:tav>
                                        <p:tav tm="100000">
                                          <p:val>
                                            <p:strVal val="#ppt_h"/>
                                          </p:val>
                                        </p:tav>
                                      </p:tavLst>
                                    </p:anim>
                                    <p:anim calcmode="lin" valueType="num">
                                      <p:cBhvr>
                                        <p:cTn id="24" dur="500" fill="hold"/>
                                        <p:tgtEl>
                                          <p:spTgt spid="15"/>
                                        </p:tgtEl>
                                        <p:attrNameLst>
                                          <p:attrName>style.rotation</p:attrName>
                                        </p:attrNameLst>
                                      </p:cBhvr>
                                      <p:tavLst>
                                        <p:tav tm="0">
                                          <p:val>
                                            <p:fltVal val="360"/>
                                          </p:val>
                                        </p:tav>
                                        <p:tav tm="100000">
                                          <p:val>
                                            <p:fltVal val="0"/>
                                          </p:val>
                                        </p:tav>
                                      </p:tavLst>
                                    </p:anim>
                                    <p:animEffect transition="in" filter="fade">
                                      <p:cBhvr>
                                        <p:cTn id="25" dur="500"/>
                                        <p:tgtEl>
                                          <p:spTgt spid="15"/>
                                        </p:tgtEl>
                                      </p:cBhvr>
                                    </p:animEffect>
                                  </p:childTnLst>
                                </p:cTn>
                              </p:par>
                            </p:childTnLst>
                          </p:cTn>
                        </p:par>
                        <p:par>
                          <p:cTn id="26" fill="hold">
                            <p:stCondLst>
                              <p:cond delay="2000"/>
                            </p:stCondLst>
                            <p:childTnLst>
                              <p:par>
                                <p:cTn id="27" presetID="12" presetClass="entr" presetSubtype="1" fill="hold" nodeType="afterEffect">
                                  <p:stCondLst>
                                    <p:cond delay="0"/>
                                  </p:stCondLst>
                                  <p:childTnLst>
                                    <p:set>
                                      <p:cBhvr>
                                        <p:cTn id="28" dur="1" fill="hold">
                                          <p:stCondLst>
                                            <p:cond delay="0"/>
                                          </p:stCondLst>
                                        </p:cTn>
                                        <p:tgtEl>
                                          <p:spTgt spid="36"/>
                                        </p:tgtEl>
                                        <p:attrNameLst>
                                          <p:attrName>style.visibility</p:attrName>
                                        </p:attrNameLst>
                                      </p:cBhvr>
                                      <p:to>
                                        <p:strVal val="visible"/>
                                      </p:to>
                                    </p:set>
                                    <p:anim calcmode="lin" valueType="num">
                                      <p:cBhvr additive="base">
                                        <p:cTn id="29" dur="500"/>
                                        <p:tgtEl>
                                          <p:spTgt spid="36"/>
                                        </p:tgtEl>
                                        <p:attrNameLst>
                                          <p:attrName>ppt_y</p:attrName>
                                        </p:attrNameLst>
                                      </p:cBhvr>
                                      <p:tavLst>
                                        <p:tav tm="0">
                                          <p:val>
                                            <p:strVal val="#ppt_y-#ppt_h*1.125000"/>
                                          </p:val>
                                        </p:tav>
                                        <p:tav tm="100000">
                                          <p:val>
                                            <p:strVal val="#ppt_y"/>
                                          </p:val>
                                        </p:tav>
                                      </p:tavLst>
                                    </p:anim>
                                    <p:animEffect transition="in" filter="wipe(down)">
                                      <p:cBhvr>
                                        <p:cTn id="30" dur="500"/>
                                        <p:tgtEl>
                                          <p:spTgt spid="36"/>
                                        </p:tgtEl>
                                      </p:cBhvr>
                                    </p:animEffect>
                                  </p:childTnLst>
                                </p:cTn>
                              </p:par>
                            </p:childTnLst>
                          </p:cTn>
                        </p:par>
                        <p:par>
                          <p:cTn id="31" fill="hold">
                            <p:stCondLst>
                              <p:cond delay="2500"/>
                            </p:stCondLst>
                            <p:childTnLst>
                              <p:par>
                                <p:cTn id="32" presetID="12" presetClass="entr" presetSubtype="1" fill="hold" grpId="0" nodeType="afterEffect">
                                  <p:stCondLst>
                                    <p:cond delay="0"/>
                                  </p:stCondLst>
                                  <p:childTnLst>
                                    <p:set>
                                      <p:cBhvr>
                                        <p:cTn id="33" dur="1" fill="hold">
                                          <p:stCondLst>
                                            <p:cond delay="0"/>
                                          </p:stCondLst>
                                        </p:cTn>
                                        <p:tgtEl>
                                          <p:spTgt spid="408"/>
                                        </p:tgtEl>
                                        <p:attrNameLst>
                                          <p:attrName>style.visibility</p:attrName>
                                        </p:attrNameLst>
                                      </p:cBhvr>
                                      <p:to>
                                        <p:strVal val="visible"/>
                                      </p:to>
                                    </p:set>
                                    <p:anim calcmode="lin" valueType="num">
                                      <p:cBhvr additive="base">
                                        <p:cTn id="34" dur="500"/>
                                        <p:tgtEl>
                                          <p:spTgt spid="408"/>
                                        </p:tgtEl>
                                        <p:attrNameLst>
                                          <p:attrName>ppt_y</p:attrName>
                                        </p:attrNameLst>
                                      </p:cBhvr>
                                      <p:tavLst>
                                        <p:tav tm="0">
                                          <p:val>
                                            <p:strVal val="#ppt_y-#ppt_h*1.125000"/>
                                          </p:val>
                                        </p:tav>
                                        <p:tav tm="100000">
                                          <p:val>
                                            <p:strVal val="#ppt_y"/>
                                          </p:val>
                                        </p:tav>
                                      </p:tavLst>
                                    </p:anim>
                                    <p:animEffect transition="in" filter="wipe(down)">
                                      <p:cBhvr>
                                        <p:cTn id="35" dur="500"/>
                                        <p:tgtEl>
                                          <p:spTgt spid="408"/>
                                        </p:tgtEl>
                                      </p:cBhvr>
                                    </p:animEffect>
                                  </p:childTnLst>
                                </p:cTn>
                              </p:par>
                            </p:childTnLst>
                          </p:cTn>
                        </p:par>
                        <p:par>
                          <p:cTn id="36" fill="hold">
                            <p:stCondLst>
                              <p:cond delay="3000"/>
                            </p:stCondLst>
                            <p:childTnLst>
                              <p:par>
                                <p:cTn id="37" presetID="49" presetClass="entr" presetSubtype="0" decel="100000" fill="hold" nodeType="after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p:cTn id="39" dur="500" fill="hold"/>
                                        <p:tgtEl>
                                          <p:spTgt spid="19"/>
                                        </p:tgtEl>
                                        <p:attrNameLst>
                                          <p:attrName>ppt_w</p:attrName>
                                        </p:attrNameLst>
                                      </p:cBhvr>
                                      <p:tavLst>
                                        <p:tav tm="0">
                                          <p:val>
                                            <p:fltVal val="0"/>
                                          </p:val>
                                        </p:tav>
                                        <p:tav tm="100000">
                                          <p:val>
                                            <p:strVal val="#ppt_w"/>
                                          </p:val>
                                        </p:tav>
                                      </p:tavLst>
                                    </p:anim>
                                    <p:anim calcmode="lin" valueType="num">
                                      <p:cBhvr>
                                        <p:cTn id="40" dur="500" fill="hold"/>
                                        <p:tgtEl>
                                          <p:spTgt spid="19"/>
                                        </p:tgtEl>
                                        <p:attrNameLst>
                                          <p:attrName>ppt_h</p:attrName>
                                        </p:attrNameLst>
                                      </p:cBhvr>
                                      <p:tavLst>
                                        <p:tav tm="0">
                                          <p:val>
                                            <p:fltVal val="0"/>
                                          </p:val>
                                        </p:tav>
                                        <p:tav tm="100000">
                                          <p:val>
                                            <p:strVal val="#ppt_h"/>
                                          </p:val>
                                        </p:tav>
                                      </p:tavLst>
                                    </p:anim>
                                    <p:anim calcmode="lin" valueType="num">
                                      <p:cBhvr>
                                        <p:cTn id="41" dur="500" fill="hold"/>
                                        <p:tgtEl>
                                          <p:spTgt spid="19"/>
                                        </p:tgtEl>
                                        <p:attrNameLst>
                                          <p:attrName>style.rotation</p:attrName>
                                        </p:attrNameLst>
                                      </p:cBhvr>
                                      <p:tavLst>
                                        <p:tav tm="0">
                                          <p:val>
                                            <p:fltVal val="360"/>
                                          </p:val>
                                        </p:tav>
                                        <p:tav tm="100000">
                                          <p:val>
                                            <p:fltVal val="0"/>
                                          </p:val>
                                        </p:tav>
                                      </p:tavLst>
                                    </p:anim>
                                    <p:animEffect transition="in" filter="fade">
                                      <p:cBhvr>
                                        <p:cTn id="42" dur="500"/>
                                        <p:tgtEl>
                                          <p:spTgt spid="19"/>
                                        </p:tgtEl>
                                      </p:cBhvr>
                                    </p:animEffect>
                                  </p:childTnLst>
                                </p:cTn>
                              </p:par>
                            </p:childTnLst>
                          </p:cTn>
                        </p:par>
                        <p:par>
                          <p:cTn id="43" fill="hold">
                            <p:stCondLst>
                              <p:cond delay="3500"/>
                            </p:stCondLst>
                            <p:childTnLst>
                              <p:par>
                                <p:cTn id="44" presetID="12" presetClass="entr" presetSubtype="1" fill="hold" nodeType="afterEffect">
                                  <p:stCondLst>
                                    <p:cond delay="0"/>
                                  </p:stCondLst>
                                  <p:childTnLst>
                                    <p:set>
                                      <p:cBhvr>
                                        <p:cTn id="45" dur="1" fill="hold">
                                          <p:stCondLst>
                                            <p:cond delay="0"/>
                                          </p:stCondLst>
                                        </p:cTn>
                                        <p:tgtEl>
                                          <p:spTgt spid="39"/>
                                        </p:tgtEl>
                                        <p:attrNameLst>
                                          <p:attrName>style.visibility</p:attrName>
                                        </p:attrNameLst>
                                      </p:cBhvr>
                                      <p:to>
                                        <p:strVal val="visible"/>
                                      </p:to>
                                    </p:set>
                                    <p:anim calcmode="lin" valueType="num">
                                      <p:cBhvr additive="base">
                                        <p:cTn id="46" dur="500"/>
                                        <p:tgtEl>
                                          <p:spTgt spid="39"/>
                                        </p:tgtEl>
                                        <p:attrNameLst>
                                          <p:attrName>ppt_y</p:attrName>
                                        </p:attrNameLst>
                                      </p:cBhvr>
                                      <p:tavLst>
                                        <p:tav tm="0">
                                          <p:val>
                                            <p:strVal val="#ppt_y-#ppt_h*1.125000"/>
                                          </p:val>
                                        </p:tav>
                                        <p:tav tm="100000">
                                          <p:val>
                                            <p:strVal val="#ppt_y"/>
                                          </p:val>
                                        </p:tav>
                                      </p:tavLst>
                                    </p:anim>
                                    <p:animEffect transition="in" filter="wipe(down)">
                                      <p:cBhvr>
                                        <p:cTn id="47" dur="500"/>
                                        <p:tgtEl>
                                          <p:spTgt spid="39"/>
                                        </p:tgtEl>
                                      </p:cBhvr>
                                    </p:animEffect>
                                  </p:childTnLst>
                                </p:cTn>
                              </p:par>
                            </p:childTnLst>
                          </p:cTn>
                        </p:par>
                        <p:par>
                          <p:cTn id="48" fill="hold">
                            <p:stCondLst>
                              <p:cond delay="4000"/>
                            </p:stCondLst>
                            <p:childTnLst>
                              <p:par>
                                <p:cTn id="49" presetID="12" presetClass="entr" presetSubtype="1" fill="hold" grpId="0" nodeType="afterEffect">
                                  <p:stCondLst>
                                    <p:cond delay="0"/>
                                  </p:stCondLst>
                                  <p:childTnLst>
                                    <p:set>
                                      <p:cBhvr>
                                        <p:cTn id="50" dur="1" fill="hold">
                                          <p:stCondLst>
                                            <p:cond delay="0"/>
                                          </p:stCondLst>
                                        </p:cTn>
                                        <p:tgtEl>
                                          <p:spTgt spid="156"/>
                                        </p:tgtEl>
                                        <p:attrNameLst>
                                          <p:attrName>style.visibility</p:attrName>
                                        </p:attrNameLst>
                                      </p:cBhvr>
                                      <p:to>
                                        <p:strVal val="visible"/>
                                      </p:to>
                                    </p:set>
                                    <p:anim calcmode="lin" valueType="num">
                                      <p:cBhvr additive="base">
                                        <p:cTn id="51" dur="500"/>
                                        <p:tgtEl>
                                          <p:spTgt spid="156"/>
                                        </p:tgtEl>
                                        <p:attrNameLst>
                                          <p:attrName>ppt_y</p:attrName>
                                        </p:attrNameLst>
                                      </p:cBhvr>
                                      <p:tavLst>
                                        <p:tav tm="0">
                                          <p:val>
                                            <p:strVal val="#ppt_y-#ppt_h*1.125000"/>
                                          </p:val>
                                        </p:tav>
                                        <p:tav tm="100000">
                                          <p:val>
                                            <p:strVal val="#ppt_y"/>
                                          </p:val>
                                        </p:tav>
                                      </p:tavLst>
                                    </p:anim>
                                    <p:animEffect transition="in" filter="wipe(down)">
                                      <p:cBhvr>
                                        <p:cTn id="52" dur="500"/>
                                        <p:tgtEl>
                                          <p:spTgt spid="156"/>
                                        </p:tgtEl>
                                      </p:cBhvr>
                                    </p:animEffect>
                                  </p:childTnLst>
                                </p:cTn>
                              </p:par>
                            </p:childTnLst>
                          </p:cTn>
                        </p:par>
                        <p:par>
                          <p:cTn id="53" fill="hold">
                            <p:stCondLst>
                              <p:cond delay="4500"/>
                            </p:stCondLst>
                            <p:childTnLst>
                              <p:par>
                                <p:cTn id="54" presetID="49" presetClass="entr" presetSubtype="0" decel="100000" fill="hold" nodeType="afterEffect">
                                  <p:stCondLst>
                                    <p:cond delay="0"/>
                                  </p:stCondLst>
                                  <p:childTnLst>
                                    <p:set>
                                      <p:cBhvr>
                                        <p:cTn id="55" dur="1" fill="hold">
                                          <p:stCondLst>
                                            <p:cond delay="0"/>
                                          </p:stCondLst>
                                        </p:cTn>
                                        <p:tgtEl>
                                          <p:spTgt spid="27"/>
                                        </p:tgtEl>
                                        <p:attrNameLst>
                                          <p:attrName>style.visibility</p:attrName>
                                        </p:attrNameLst>
                                      </p:cBhvr>
                                      <p:to>
                                        <p:strVal val="visible"/>
                                      </p:to>
                                    </p:set>
                                    <p:anim calcmode="lin" valueType="num">
                                      <p:cBhvr>
                                        <p:cTn id="56" dur="500" fill="hold"/>
                                        <p:tgtEl>
                                          <p:spTgt spid="27"/>
                                        </p:tgtEl>
                                        <p:attrNameLst>
                                          <p:attrName>ppt_w</p:attrName>
                                        </p:attrNameLst>
                                      </p:cBhvr>
                                      <p:tavLst>
                                        <p:tav tm="0">
                                          <p:val>
                                            <p:fltVal val="0"/>
                                          </p:val>
                                        </p:tav>
                                        <p:tav tm="100000">
                                          <p:val>
                                            <p:strVal val="#ppt_w"/>
                                          </p:val>
                                        </p:tav>
                                      </p:tavLst>
                                    </p:anim>
                                    <p:anim calcmode="lin" valueType="num">
                                      <p:cBhvr>
                                        <p:cTn id="57" dur="500" fill="hold"/>
                                        <p:tgtEl>
                                          <p:spTgt spid="27"/>
                                        </p:tgtEl>
                                        <p:attrNameLst>
                                          <p:attrName>ppt_h</p:attrName>
                                        </p:attrNameLst>
                                      </p:cBhvr>
                                      <p:tavLst>
                                        <p:tav tm="0">
                                          <p:val>
                                            <p:fltVal val="0"/>
                                          </p:val>
                                        </p:tav>
                                        <p:tav tm="100000">
                                          <p:val>
                                            <p:strVal val="#ppt_h"/>
                                          </p:val>
                                        </p:tav>
                                      </p:tavLst>
                                    </p:anim>
                                    <p:anim calcmode="lin" valueType="num">
                                      <p:cBhvr>
                                        <p:cTn id="58" dur="500" fill="hold"/>
                                        <p:tgtEl>
                                          <p:spTgt spid="27"/>
                                        </p:tgtEl>
                                        <p:attrNameLst>
                                          <p:attrName>style.rotation</p:attrName>
                                        </p:attrNameLst>
                                      </p:cBhvr>
                                      <p:tavLst>
                                        <p:tav tm="0">
                                          <p:val>
                                            <p:fltVal val="360"/>
                                          </p:val>
                                        </p:tav>
                                        <p:tav tm="100000">
                                          <p:val>
                                            <p:fltVal val="0"/>
                                          </p:val>
                                        </p:tav>
                                      </p:tavLst>
                                    </p:anim>
                                    <p:animEffect transition="in" filter="fade">
                                      <p:cBhvr>
                                        <p:cTn id="59" dur="500"/>
                                        <p:tgtEl>
                                          <p:spTgt spid="27"/>
                                        </p:tgtEl>
                                      </p:cBhvr>
                                    </p:animEffect>
                                  </p:childTnLst>
                                </p:cTn>
                              </p:par>
                            </p:childTnLst>
                          </p:cTn>
                        </p:par>
                        <p:par>
                          <p:cTn id="60" fill="hold">
                            <p:stCondLst>
                              <p:cond delay="5000"/>
                            </p:stCondLst>
                            <p:childTnLst>
                              <p:par>
                                <p:cTn id="61" presetID="12" presetClass="entr" presetSubtype="1" fill="hold" nodeType="afterEffect">
                                  <p:stCondLst>
                                    <p:cond delay="0"/>
                                  </p:stCondLst>
                                  <p:childTnLst>
                                    <p:set>
                                      <p:cBhvr>
                                        <p:cTn id="62" dur="1" fill="hold">
                                          <p:stCondLst>
                                            <p:cond delay="0"/>
                                          </p:stCondLst>
                                        </p:cTn>
                                        <p:tgtEl>
                                          <p:spTgt spid="143"/>
                                        </p:tgtEl>
                                        <p:attrNameLst>
                                          <p:attrName>style.visibility</p:attrName>
                                        </p:attrNameLst>
                                      </p:cBhvr>
                                      <p:to>
                                        <p:strVal val="visible"/>
                                      </p:to>
                                    </p:set>
                                    <p:anim calcmode="lin" valueType="num">
                                      <p:cBhvr additive="base">
                                        <p:cTn id="63" dur="500"/>
                                        <p:tgtEl>
                                          <p:spTgt spid="143"/>
                                        </p:tgtEl>
                                        <p:attrNameLst>
                                          <p:attrName>ppt_y</p:attrName>
                                        </p:attrNameLst>
                                      </p:cBhvr>
                                      <p:tavLst>
                                        <p:tav tm="0">
                                          <p:val>
                                            <p:strVal val="#ppt_y-#ppt_h*1.125000"/>
                                          </p:val>
                                        </p:tav>
                                        <p:tav tm="100000">
                                          <p:val>
                                            <p:strVal val="#ppt_y"/>
                                          </p:val>
                                        </p:tav>
                                      </p:tavLst>
                                    </p:anim>
                                    <p:animEffect transition="in" filter="wipe(down)">
                                      <p:cBhvr>
                                        <p:cTn id="64" dur="500"/>
                                        <p:tgtEl>
                                          <p:spTgt spid="143"/>
                                        </p:tgtEl>
                                      </p:cBhvr>
                                    </p:animEffect>
                                  </p:childTnLst>
                                </p:cTn>
                              </p:par>
                            </p:childTnLst>
                          </p:cTn>
                        </p:par>
                        <p:par>
                          <p:cTn id="65" fill="hold">
                            <p:stCondLst>
                              <p:cond delay="5500"/>
                            </p:stCondLst>
                            <p:childTnLst>
                              <p:par>
                                <p:cTn id="66" presetID="12" presetClass="entr" presetSubtype="1" fill="hold" grpId="0" nodeType="afterEffect">
                                  <p:stCondLst>
                                    <p:cond delay="0"/>
                                  </p:stCondLst>
                                  <p:childTnLst>
                                    <p:set>
                                      <p:cBhvr>
                                        <p:cTn id="67" dur="1" fill="hold">
                                          <p:stCondLst>
                                            <p:cond delay="0"/>
                                          </p:stCondLst>
                                        </p:cTn>
                                        <p:tgtEl>
                                          <p:spTgt spid="157"/>
                                        </p:tgtEl>
                                        <p:attrNameLst>
                                          <p:attrName>style.visibility</p:attrName>
                                        </p:attrNameLst>
                                      </p:cBhvr>
                                      <p:to>
                                        <p:strVal val="visible"/>
                                      </p:to>
                                    </p:set>
                                    <p:anim calcmode="lin" valueType="num">
                                      <p:cBhvr additive="base">
                                        <p:cTn id="68" dur="500"/>
                                        <p:tgtEl>
                                          <p:spTgt spid="157"/>
                                        </p:tgtEl>
                                        <p:attrNameLst>
                                          <p:attrName>ppt_y</p:attrName>
                                        </p:attrNameLst>
                                      </p:cBhvr>
                                      <p:tavLst>
                                        <p:tav tm="0">
                                          <p:val>
                                            <p:strVal val="#ppt_y-#ppt_h*1.125000"/>
                                          </p:val>
                                        </p:tav>
                                        <p:tav tm="100000">
                                          <p:val>
                                            <p:strVal val="#ppt_y"/>
                                          </p:val>
                                        </p:tav>
                                      </p:tavLst>
                                    </p:anim>
                                    <p:animEffect transition="in" filter="wipe(down)">
                                      <p:cBhvr>
                                        <p:cTn id="69" dur="500"/>
                                        <p:tgtEl>
                                          <p:spTgt spid="157"/>
                                        </p:tgtEl>
                                      </p:cBhvr>
                                    </p:animEffect>
                                  </p:childTnLst>
                                </p:cTn>
                              </p:par>
                            </p:childTnLst>
                          </p:cTn>
                        </p:par>
                        <p:par>
                          <p:cTn id="70" fill="hold">
                            <p:stCondLst>
                              <p:cond delay="6000"/>
                            </p:stCondLst>
                            <p:childTnLst>
                              <p:par>
                                <p:cTn id="71" presetID="49" presetClass="entr" presetSubtype="0" decel="100000" fill="hold" nodeType="afterEffect">
                                  <p:stCondLst>
                                    <p:cond delay="0"/>
                                  </p:stCondLst>
                                  <p:childTnLst>
                                    <p:set>
                                      <p:cBhvr>
                                        <p:cTn id="72" dur="1" fill="hold">
                                          <p:stCondLst>
                                            <p:cond delay="0"/>
                                          </p:stCondLst>
                                        </p:cTn>
                                        <p:tgtEl>
                                          <p:spTgt spid="32"/>
                                        </p:tgtEl>
                                        <p:attrNameLst>
                                          <p:attrName>style.visibility</p:attrName>
                                        </p:attrNameLst>
                                      </p:cBhvr>
                                      <p:to>
                                        <p:strVal val="visible"/>
                                      </p:to>
                                    </p:set>
                                    <p:anim calcmode="lin" valueType="num">
                                      <p:cBhvr>
                                        <p:cTn id="73" dur="500" fill="hold"/>
                                        <p:tgtEl>
                                          <p:spTgt spid="32"/>
                                        </p:tgtEl>
                                        <p:attrNameLst>
                                          <p:attrName>ppt_w</p:attrName>
                                        </p:attrNameLst>
                                      </p:cBhvr>
                                      <p:tavLst>
                                        <p:tav tm="0">
                                          <p:val>
                                            <p:fltVal val="0"/>
                                          </p:val>
                                        </p:tav>
                                        <p:tav tm="100000">
                                          <p:val>
                                            <p:strVal val="#ppt_w"/>
                                          </p:val>
                                        </p:tav>
                                      </p:tavLst>
                                    </p:anim>
                                    <p:anim calcmode="lin" valueType="num">
                                      <p:cBhvr>
                                        <p:cTn id="74" dur="500" fill="hold"/>
                                        <p:tgtEl>
                                          <p:spTgt spid="32"/>
                                        </p:tgtEl>
                                        <p:attrNameLst>
                                          <p:attrName>ppt_h</p:attrName>
                                        </p:attrNameLst>
                                      </p:cBhvr>
                                      <p:tavLst>
                                        <p:tav tm="0">
                                          <p:val>
                                            <p:fltVal val="0"/>
                                          </p:val>
                                        </p:tav>
                                        <p:tav tm="100000">
                                          <p:val>
                                            <p:strVal val="#ppt_h"/>
                                          </p:val>
                                        </p:tav>
                                      </p:tavLst>
                                    </p:anim>
                                    <p:anim calcmode="lin" valueType="num">
                                      <p:cBhvr>
                                        <p:cTn id="75" dur="500" fill="hold"/>
                                        <p:tgtEl>
                                          <p:spTgt spid="32"/>
                                        </p:tgtEl>
                                        <p:attrNameLst>
                                          <p:attrName>style.rotation</p:attrName>
                                        </p:attrNameLst>
                                      </p:cBhvr>
                                      <p:tavLst>
                                        <p:tav tm="0">
                                          <p:val>
                                            <p:fltVal val="360"/>
                                          </p:val>
                                        </p:tav>
                                        <p:tav tm="100000">
                                          <p:val>
                                            <p:fltVal val="0"/>
                                          </p:val>
                                        </p:tav>
                                      </p:tavLst>
                                    </p:anim>
                                    <p:animEffect transition="in" filter="fade">
                                      <p:cBhvr>
                                        <p:cTn id="76" dur="500"/>
                                        <p:tgtEl>
                                          <p:spTgt spid="32"/>
                                        </p:tgtEl>
                                      </p:cBhvr>
                                    </p:animEffect>
                                  </p:childTnLst>
                                </p:cTn>
                              </p:par>
                            </p:childTnLst>
                          </p:cTn>
                        </p:par>
                        <p:par>
                          <p:cTn id="77" fill="hold">
                            <p:stCondLst>
                              <p:cond delay="6500"/>
                            </p:stCondLst>
                            <p:childTnLst>
                              <p:par>
                                <p:cTn id="78" presetID="12" presetClass="entr" presetSubtype="1" fill="hold" nodeType="afterEffect">
                                  <p:stCondLst>
                                    <p:cond delay="0"/>
                                  </p:stCondLst>
                                  <p:childTnLst>
                                    <p:set>
                                      <p:cBhvr>
                                        <p:cTn id="79" dur="1" fill="hold">
                                          <p:stCondLst>
                                            <p:cond delay="0"/>
                                          </p:stCondLst>
                                        </p:cTn>
                                        <p:tgtEl>
                                          <p:spTgt spid="217"/>
                                        </p:tgtEl>
                                        <p:attrNameLst>
                                          <p:attrName>style.visibility</p:attrName>
                                        </p:attrNameLst>
                                      </p:cBhvr>
                                      <p:to>
                                        <p:strVal val="visible"/>
                                      </p:to>
                                    </p:set>
                                    <p:anim calcmode="lin" valueType="num">
                                      <p:cBhvr additive="base">
                                        <p:cTn id="80" dur="500"/>
                                        <p:tgtEl>
                                          <p:spTgt spid="217"/>
                                        </p:tgtEl>
                                        <p:attrNameLst>
                                          <p:attrName>ppt_y</p:attrName>
                                        </p:attrNameLst>
                                      </p:cBhvr>
                                      <p:tavLst>
                                        <p:tav tm="0">
                                          <p:val>
                                            <p:strVal val="#ppt_y-#ppt_h*1.125000"/>
                                          </p:val>
                                        </p:tav>
                                        <p:tav tm="100000">
                                          <p:val>
                                            <p:strVal val="#ppt_y"/>
                                          </p:val>
                                        </p:tav>
                                      </p:tavLst>
                                    </p:anim>
                                    <p:animEffect transition="in" filter="wipe(down)">
                                      <p:cBhvr>
                                        <p:cTn id="81" dur="500"/>
                                        <p:tgtEl>
                                          <p:spTgt spid="217"/>
                                        </p:tgtEl>
                                      </p:cBhvr>
                                    </p:animEffect>
                                  </p:childTnLst>
                                </p:cTn>
                              </p:par>
                            </p:childTnLst>
                          </p:cTn>
                        </p:par>
                        <p:par>
                          <p:cTn id="82" fill="hold">
                            <p:stCondLst>
                              <p:cond delay="7000"/>
                            </p:stCondLst>
                            <p:childTnLst>
                              <p:par>
                                <p:cTn id="83" presetID="12" presetClass="entr" presetSubtype="1" fill="hold" grpId="0" nodeType="afterEffect">
                                  <p:stCondLst>
                                    <p:cond delay="0"/>
                                  </p:stCondLst>
                                  <p:childTnLst>
                                    <p:set>
                                      <p:cBhvr>
                                        <p:cTn id="84" dur="1" fill="hold">
                                          <p:stCondLst>
                                            <p:cond delay="0"/>
                                          </p:stCondLst>
                                        </p:cTn>
                                        <p:tgtEl>
                                          <p:spTgt spid="42"/>
                                        </p:tgtEl>
                                        <p:attrNameLst>
                                          <p:attrName>style.visibility</p:attrName>
                                        </p:attrNameLst>
                                      </p:cBhvr>
                                      <p:to>
                                        <p:strVal val="visible"/>
                                      </p:to>
                                    </p:set>
                                    <p:anim calcmode="lin" valueType="num">
                                      <p:cBhvr additive="base">
                                        <p:cTn id="85" dur="500"/>
                                        <p:tgtEl>
                                          <p:spTgt spid="42"/>
                                        </p:tgtEl>
                                        <p:attrNameLst>
                                          <p:attrName>ppt_y</p:attrName>
                                        </p:attrNameLst>
                                      </p:cBhvr>
                                      <p:tavLst>
                                        <p:tav tm="0">
                                          <p:val>
                                            <p:strVal val="#ppt_y-#ppt_h*1.125000"/>
                                          </p:val>
                                        </p:tav>
                                        <p:tav tm="100000">
                                          <p:val>
                                            <p:strVal val="#ppt_y"/>
                                          </p:val>
                                        </p:tav>
                                      </p:tavLst>
                                    </p:anim>
                                    <p:animEffect transition="in" filter="wipe(down)">
                                      <p:cBhvr>
                                        <p:cTn id="8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408" grpId="0"/>
      <p:bldP spid="156" grpId="0"/>
      <p:bldP spid="157" grpId="0"/>
      <p:bldP spid="4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5000625" y="267335"/>
            <a:ext cx="2340610" cy="460375"/>
          </a:xfrm>
          <a:prstGeom prst="rect">
            <a:avLst/>
          </a:prstGeom>
          <a:noFill/>
        </p:spPr>
        <p:txBody>
          <a:bodyPr wrap="square" rtlCol="0">
            <a:spAutoFit/>
          </a:bodyPr>
          <a:p>
            <a:pPr algn="ctr"/>
            <a:r>
              <a:rPr lang="zh-CN" altLang="zh-CN" sz="2400">
                <a:solidFill>
                  <a:schemeClr val="tx1">
                    <a:lumMod val="95000"/>
                    <a:lumOff val="5000"/>
                  </a:schemeClr>
                </a:solidFill>
                <a:latin typeface="锐字云字库美黑体1.0" panose="02010604000000000000" charset="-122"/>
                <a:ea typeface="锐字云字库美黑体1.0" panose="02010604000000000000" charset="-122"/>
              </a:rPr>
              <a:t>了解员工</a:t>
            </a:r>
            <a:endParaRPr lang="zh-CN" altLang="zh-CN" sz="2400">
              <a:solidFill>
                <a:schemeClr val="tx1">
                  <a:lumMod val="95000"/>
                  <a:lumOff val="5000"/>
                </a:schemeClr>
              </a:solidFill>
              <a:latin typeface="锐字云字库美黑体1.0" panose="02010604000000000000" charset="-122"/>
              <a:ea typeface="锐字云字库美黑体1.0" panose="02010604000000000000" charset="-122"/>
            </a:endParaRPr>
          </a:p>
        </p:txBody>
      </p:sp>
      <p:grpSp>
        <p:nvGrpSpPr>
          <p:cNvPr id="9" name="组合 8"/>
          <p:cNvGrpSpPr/>
          <p:nvPr/>
        </p:nvGrpSpPr>
        <p:grpSpPr>
          <a:xfrm>
            <a:off x="-12065" y="191135"/>
            <a:ext cx="4641215" cy="612140"/>
            <a:chOff x="-19" y="301"/>
            <a:chExt cx="7309" cy="964"/>
          </a:xfrm>
        </p:grpSpPr>
        <p:cxnSp>
          <p:nvCxnSpPr>
            <p:cNvPr id="6" name="直接连接符 5"/>
            <p:cNvCxnSpPr/>
            <p:nvPr/>
          </p:nvCxnSpPr>
          <p:spPr>
            <a:xfrm flipV="1">
              <a:off x="-19" y="781"/>
              <a:ext cx="6345"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6326" y="301"/>
              <a:ext cx="964" cy="964"/>
              <a:chOff x="7690" y="5065"/>
              <a:chExt cx="964" cy="964"/>
            </a:xfrm>
          </p:grpSpPr>
          <p:sp>
            <p:nvSpPr>
              <p:cNvPr id="5" name=" 184"/>
              <p:cNvSpPr/>
              <p:nvPr/>
            </p:nvSpPr>
            <p:spPr>
              <a:xfrm>
                <a:off x="7690" y="5065"/>
                <a:ext cx="964" cy="96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 name="放大镜"/>
              <p:cNvSpPr/>
              <p:nvPr/>
            </p:nvSpPr>
            <p:spPr>
              <a:xfrm>
                <a:off x="7912" y="5301"/>
                <a:ext cx="520" cy="642"/>
              </a:xfrm>
              <a:custGeom>
                <a:avLst/>
                <a:gdLst>
                  <a:gd name="connsiteX0" fmla="*/ 1638300 w 4396363"/>
                  <a:gd name="connsiteY0" fmla="*/ 558403 h 5128349"/>
                  <a:gd name="connsiteX1" fmla="*/ 558403 w 4396363"/>
                  <a:gd name="connsiteY1" fmla="*/ 1638300 h 5128349"/>
                  <a:gd name="connsiteX2" fmla="*/ 1638300 w 4396363"/>
                  <a:gd name="connsiteY2" fmla="*/ 2718197 h 5128349"/>
                  <a:gd name="connsiteX3" fmla="*/ 2718197 w 4396363"/>
                  <a:gd name="connsiteY3" fmla="*/ 1638300 h 5128349"/>
                  <a:gd name="connsiteX4" fmla="*/ 1638300 w 4396363"/>
                  <a:gd name="connsiteY4" fmla="*/ 558403 h 5128349"/>
                  <a:gd name="connsiteX5" fmla="*/ 1638300 w 4396363"/>
                  <a:gd name="connsiteY5" fmla="*/ 0 h 5128349"/>
                  <a:gd name="connsiteX6" fmla="*/ 3276600 w 4396363"/>
                  <a:gd name="connsiteY6" fmla="*/ 1638300 h 5128349"/>
                  <a:gd name="connsiteX7" fmla="*/ 2902492 w 4396363"/>
                  <a:gd name="connsiteY7" fmla="*/ 2680411 h 5128349"/>
                  <a:gd name="connsiteX8" fmla="*/ 2816386 w 4396363"/>
                  <a:gd name="connsiteY8" fmla="*/ 2775151 h 5128349"/>
                  <a:gd name="connsiteX9" fmla="*/ 2928393 w 4396363"/>
                  <a:gd name="connsiteY9" fmla="*/ 2923790 h 5128349"/>
                  <a:gd name="connsiteX10" fmla="*/ 2942554 w 4396363"/>
                  <a:gd name="connsiteY10" fmla="*/ 2913119 h 5128349"/>
                  <a:gd name="connsiteX11" fmla="*/ 3136485 w 4396363"/>
                  <a:gd name="connsiteY11" fmla="*/ 2942400 h 5128349"/>
                  <a:gd name="connsiteX12" fmla="*/ 4367683 w 4396363"/>
                  <a:gd name="connsiteY12" fmla="*/ 4576254 h 5128349"/>
                  <a:gd name="connsiteX13" fmla="*/ 4342375 w 4396363"/>
                  <a:gd name="connsiteY13" fmla="*/ 4770744 h 5128349"/>
                  <a:gd name="connsiteX14" fmla="*/ 3903910 w 4396363"/>
                  <a:gd name="connsiteY14" fmla="*/ 5101151 h 5128349"/>
                  <a:gd name="connsiteX15" fmla="*/ 3709978 w 4396363"/>
                  <a:gd name="connsiteY15" fmla="*/ 5071870 h 5128349"/>
                  <a:gd name="connsiteX16" fmla="*/ 2478781 w 4396363"/>
                  <a:gd name="connsiteY16" fmla="*/ 3438015 h 5128349"/>
                  <a:gd name="connsiteX17" fmla="*/ 2504089 w 4396363"/>
                  <a:gd name="connsiteY17" fmla="*/ 3243526 h 5128349"/>
                  <a:gd name="connsiteX18" fmla="*/ 2518249 w 4396363"/>
                  <a:gd name="connsiteY18" fmla="*/ 3232855 h 5128349"/>
                  <a:gd name="connsiteX19" fmla="*/ 2406738 w 4396363"/>
                  <a:gd name="connsiteY19" fmla="*/ 3084875 h 5128349"/>
                  <a:gd name="connsiteX20" fmla="*/ 2276001 w 4396363"/>
                  <a:gd name="connsiteY20" fmla="*/ 3147854 h 5128349"/>
                  <a:gd name="connsiteX21" fmla="*/ 1638300 w 4396363"/>
                  <a:gd name="connsiteY21" fmla="*/ 3276600 h 5128349"/>
                  <a:gd name="connsiteX22" fmla="*/ 0 w 4396363"/>
                  <a:gd name="connsiteY22" fmla="*/ 1638300 h 5128349"/>
                  <a:gd name="connsiteX23" fmla="*/ 1638300 w 4396363"/>
                  <a:gd name="connsiteY23" fmla="*/ 0 h 5128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96363" h="5128349">
                    <a:moveTo>
                      <a:pt x="1638300" y="558403"/>
                    </a:moveTo>
                    <a:cubicBezTo>
                      <a:pt x="1041889" y="558403"/>
                      <a:pt x="558403" y="1041889"/>
                      <a:pt x="558403" y="1638300"/>
                    </a:cubicBezTo>
                    <a:cubicBezTo>
                      <a:pt x="558403" y="2234711"/>
                      <a:pt x="1041889" y="2718197"/>
                      <a:pt x="1638300" y="2718197"/>
                    </a:cubicBezTo>
                    <a:cubicBezTo>
                      <a:pt x="2234711" y="2718197"/>
                      <a:pt x="2718197" y="2234711"/>
                      <a:pt x="2718197" y="1638300"/>
                    </a:cubicBezTo>
                    <a:cubicBezTo>
                      <a:pt x="2718197" y="1041889"/>
                      <a:pt x="2234711" y="558403"/>
                      <a:pt x="1638300" y="558403"/>
                    </a:cubicBezTo>
                    <a:close/>
                    <a:moveTo>
                      <a:pt x="1638300" y="0"/>
                    </a:moveTo>
                    <a:cubicBezTo>
                      <a:pt x="2543108" y="0"/>
                      <a:pt x="3276600" y="733492"/>
                      <a:pt x="3276600" y="1638300"/>
                    </a:cubicBezTo>
                    <a:cubicBezTo>
                      <a:pt x="3276600" y="2034154"/>
                      <a:pt x="3136205" y="2397216"/>
                      <a:pt x="2902492" y="2680411"/>
                    </a:cubicBezTo>
                    <a:lnTo>
                      <a:pt x="2816386" y="2775151"/>
                    </a:lnTo>
                    <a:lnTo>
                      <a:pt x="2928393" y="2923790"/>
                    </a:lnTo>
                    <a:lnTo>
                      <a:pt x="2942554" y="2913119"/>
                    </a:lnTo>
                    <a:cubicBezTo>
                      <a:pt x="3003095" y="2867498"/>
                      <a:pt x="3089921" y="2880607"/>
                      <a:pt x="3136485" y="2942400"/>
                    </a:cubicBezTo>
                    <a:lnTo>
                      <a:pt x="4367683" y="4576254"/>
                    </a:lnTo>
                    <a:cubicBezTo>
                      <a:pt x="4414247" y="4638047"/>
                      <a:pt x="4402916" y="4725123"/>
                      <a:pt x="4342375" y="4770744"/>
                    </a:cubicBezTo>
                    <a:lnTo>
                      <a:pt x="3903910" y="5101151"/>
                    </a:lnTo>
                    <a:cubicBezTo>
                      <a:pt x="3843369" y="5146772"/>
                      <a:pt x="3756543" y="5133662"/>
                      <a:pt x="3709978" y="5071870"/>
                    </a:cubicBezTo>
                    <a:lnTo>
                      <a:pt x="2478781" y="3438015"/>
                    </a:lnTo>
                    <a:cubicBezTo>
                      <a:pt x="2432217" y="3376223"/>
                      <a:pt x="2443548" y="3289147"/>
                      <a:pt x="2504089" y="3243526"/>
                    </a:cubicBezTo>
                    <a:lnTo>
                      <a:pt x="2518249" y="3232855"/>
                    </a:lnTo>
                    <a:lnTo>
                      <a:pt x="2406738" y="3084875"/>
                    </a:lnTo>
                    <a:lnTo>
                      <a:pt x="2276001" y="3147854"/>
                    </a:lnTo>
                    <a:cubicBezTo>
                      <a:pt x="2079997" y="3230757"/>
                      <a:pt x="1864502" y="3276600"/>
                      <a:pt x="1638300" y="3276600"/>
                    </a:cubicBezTo>
                    <a:cubicBezTo>
                      <a:pt x="733492" y="3276600"/>
                      <a:pt x="0" y="2543108"/>
                      <a:pt x="0" y="1638300"/>
                    </a:cubicBezTo>
                    <a:cubicBezTo>
                      <a:pt x="0" y="733492"/>
                      <a:pt x="733492" y="0"/>
                      <a:pt x="16383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grpSp>
      <p:grpSp>
        <p:nvGrpSpPr>
          <p:cNvPr id="8" name="组合 7"/>
          <p:cNvGrpSpPr/>
          <p:nvPr/>
        </p:nvGrpSpPr>
        <p:grpSpPr>
          <a:xfrm>
            <a:off x="7571740" y="191135"/>
            <a:ext cx="4640580" cy="612140"/>
            <a:chOff x="11924" y="301"/>
            <a:chExt cx="7308" cy="964"/>
          </a:xfrm>
        </p:grpSpPr>
        <p:cxnSp>
          <p:nvCxnSpPr>
            <p:cNvPr id="29" name="直接连接符 28"/>
            <p:cNvCxnSpPr/>
            <p:nvPr/>
          </p:nvCxnSpPr>
          <p:spPr>
            <a:xfrm flipV="1">
              <a:off x="12888" y="782"/>
              <a:ext cx="6345"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11924" y="301"/>
              <a:ext cx="964" cy="964"/>
              <a:chOff x="7690" y="5065"/>
              <a:chExt cx="964" cy="964"/>
            </a:xfrm>
          </p:grpSpPr>
          <p:sp>
            <p:nvSpPr>
              <p:cNvPr id="4" name=" 184"/>
              <p:cNvSpPr/>
              <p:nvPr/>
            </p:nvSpPr>
            <p:spPr>
              <a:xfrm>
                <a:off x="7690" y="5065"/>
                <a:ext cx="964" cy="96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7" name="放大镜"/>
              <p:cNvSpPr/>
              <p:nvPr/>
            </p:nvSpPr>
            <p:spPr>
              <a:xfrm>
                <a:off x="7912" y="5301"/>
                <a:ext cx="520" cy="642"/>
              </a:xfrm>
              <a:custGeom>
                <a:avLst/>
                <a:gdLst>
                  <a:gd name="connsiteX0" fmla="*/ 1638300 w 4396363"/>
                  <a:gd name="connsiteY0" fmla="*/ 558403 h 5128349"/>
                  <a:gd name="connsiteX1" fmla="*/ 558403 w 4396363"/>
                  <a:gd name="connsiteY1" fmla="*/ 1638300 h 5128349"/>
                  <a:gd name="connsiteX2" fmla="*/ 1638300 w 4396363"/>
                  <a:gd name="connsiteY2" fmla="*/ 2718197 h 5128349"/>
                  <a:gd name="connsiteX3" fmla="*/ 2718197 w 4396363"/>
                  <a:gd name="connsiteY3" fmla="*/ 1638300 h 5128349"/>
                  <a:gd name="connsiteX4" fmla="*/ 1638300 w 4396363"/>
                  <a:gd name="connsiteY4" fmla="*/ 558403 h 5128349"/>
                  <a:gd name="connsiteX5" fmla="*/ 1638300 w 4396363"/>
                  <a:gd name="connsiteY5" fmla="*/ 0 h 5128349"/>
                  <a:gd name="connsiteX6" fmla="*/ 3276600 w 4396363"/>
                  <a:gd name="connsiteY6" fmla="*/ 1638300 h 5128349"/>
                  <a:gd name="connsiteX7" fmla="*/ 2902492 w 4396363"/>
                  <a:gd name="connsiteY7" fmla="*/ 2680411 h 5128349"/>
                  <a:gd name="connsiteX8" fmla="*/ 2816386 w 4396363"/>
                  <a:gd name="connsiteY8" fmla="*/ 2775151 h 5128349"/>
                  <a:gd name="connsiteX9" fmla="*/ 2928393 w 4396363"/>
                  <a:gd name="connsiteY9" fmla="*/ 2923790 h 5128349"/>
                  <a:gd name="connsiteX10" fmla="*/ 2942554 w 4396363"/>
                  <a:gd name="connsiteY10" fmla="*/ 2913119 h 5128349"/>
                  <a:gd name="connsiteX11" fmla="*/ 3136485 w 4396363"/>
                  <a:gd name="connsiteY11" fmla="*/ 2942400 h 5128349"/>
                  <a:gd name="connsiteX12" fmla="*/ 4367683 w 4396363"/>
                  <a:gd name="connsiteY12" fmla="*/ 4576254 h 5128349"/>
                  <a:gd name="connsiteX13" fmla="*/ 4342375 w 4396363"/>
                  <a:gd name="connsiteY13" fmla="*/ 4770744 h 5128349"/>
                  <a:gd name="connsiteX14" fmla="*/ 3903910 w 4396363"/>
                  <a:gd name="connsiteY14" fmla="*/ 5101151 h 5128349"/>
                  <a:gd name="connsiteX15" fmla="*/ 3709978 w 4396363"/>
                  <a:gd name="connsiteY15" fmla="*/ 5071870 h 5128349"/>
                  <a:gd name="connsiteX16" fmla="*/ 2478781 w 4396363"/>
                  <a:gd name="connsiteY16" fmla="*/ 3438015 h 5128349"/>
                  <a:gd name="connsiteX17" fmla="*/ 2504089 w 4396363"/>
                  <a:gd name="connsiteY17" fmla="*/ 3243526 h 5128349"/>
                  <a:gd name="connsiteX18" fmla="*/ 2518249 w 4396363"/>
                  <a:gd name="connsiteY18" fmla="*/ 3232855 h 5128349"/>
                  <a:gd name="connsiteX19" fmla="*/ 2406738 w 4396363"/>
                  <a:gd name="connsiteY19" fmla="*/ 3084875 h 5128349"/>
                  <a:gd name="connsiteX20" fmla="*/ 2276001 w 4396363"/>
                  <a:gd name="connsiteY20" fmla="*/ 3147854 h 5128349"/>
                  <a:gd name="connsiteX21" fmla="*/ 1638300 w 4396363"/>
                  <a:gd name="connsiteY21" fmla="*/ 3276600 h 5128349"/>
                  <a:gd name="connsiteX22" fmla="*/ 0 w 4396363"/>
                  <a:gd name="connsiteY22" fmla="*/ 1638300 h 5128349"/>
                  <a:gd name="connsiteX23" fmla="*/ 1638300 w 4396363"/>
                  <a:gd name="connsiteY23" fmla="*/ 0 h 5128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96363" h="5128349">
                    <a:moveTo>
                      <a:pt x="1638300" y="558403"/>
                    </a:moveTo>
                    <a:cubicBezTo>
                      <a:pt x="1041889" y="558403"/>
                      <a:pt x="558403" y="1041889"/>
                      <a:pt x="558403" y="1638300"/>
                    </a:cubicBezTo>
                    <a:cubicBezTo>
                      <a:pt x="558403" y="2234711"/>
                      <a:pt x="1041889" y="2718197"/>
                      <a:pt x="1638300" y="2718197"/>
                    </a:cubicBezTo>
                    <a:cubicBezTo>
                      <a:pt x="2234711" y="2718197"/>
                      <a:pt x="2718197" y="2234711"/>
                      <a:pt x="2718197" y="1638300"/>
                    </a:cubicBezTo>
                    <a:cubicBezTo>
                      <a:pt x="2718197" y="1041889"/>
                      <a:pt x="2234711" y="558403"/>
                      <a:pt x="1638300" y="558403"/>
                    </a:cubicBezTo>
                    <a:close/>
                    <a:moveTo>
                      <a:pt x="1638300" y="0"/>
                    </a:moveTo>
                    <a:cubicBezTo>
                      <a:pt x="2543108" y="0"/>
                      <a:pt x="3276600" y="733492"/>
                      <a:pt x="3276600" y="1638300"/>
                    </a:cubicBezTo>
                    <a:cubicBezTo>
                      <a:pt x="3276600" y="2034154"/>
                      <a:pt x="3136205" y="2397216"/>
                      <a:pt x="2902492" y="2680411"/>
                    </a:cubicBezTo>
                    <a:lnTo>
                      <a:pt x="2816386" y="2775151"/>
                    </a:lnTo>
                    <a:lnTo>
                      <a:pt x="2928393" y="2923790"/>
                    </a:lnTo>
                    <a:lnTo>
                      <a:pt x="2942554" y="2913119"/>
                    </a:lnTo>
                    <a:cubicBezTo>
                      <a:pt x="3003095" y="2867498"/>
                      <a:pt x="3089921" y="2880607"/>
                      <a:pt x="3136485" y="2942400"/>
                    </a:cubicBezTo>
                    <a:lnTo>
                      <a:pt x="4367683" y="4576254"/>
                    </a:lnTo>
                    <a:cubicBezTo>
                      <a:pt x="4414247" y="4638047"/>
                      <a:pt x="4402916" y="4725123"/>
                      <a:pt x="4342375" y="4770744"/>
                    </a:cubicBezTo>
                    <a:lnTo>
                      <a:pt x="3903910" y="5101151"/>
                    </a:lnTo>
                    <a:cubicBezTo>
                      <a:pt x="3843369" y="5146772"/>
                      <a:pt x="3756543" y="5133662"/>
                      <a:pt x="3709978" y="5071870"/>
                    </a:cubicBezTo>
                    <a:lnTo>
                      <a:pt x="2478781" y="3438015"/>
                    </a:lnTo>
                    <a:cubicBezTo>
                      <a:pt x="2432217" y="3376223"/>
                      <a:pt x="2443548" y="3289147"/>
                      <a:pt x="2504089" y="3243526"/>
                    </a:cubicBezTo>
                    <a:lnTo>
                      <a:pt x="2518249" y="3232855"/>
                    </a:lnTo>
                    <a:lnTo>
                      <a:pt x="2406738" y="3084875"/>
                    </a:lnTo>
                    <a:lnTo>
                      <a:pt x="2276001" y="3147854"/>
                    </a:lnTo>
                    <a:cubicBezTo>
                      <a:pt x="2079997" y="3230757"/>
                      <a:pt x="1864502" y="3276600"/>
                      <a:pt x="1638300" y="3276600"/>
                    </a:cubicBezTo>
                    <a:cubicBezTo>
                      <a:pt x="733492" y="3276600"/>
                      <a:pt x="0" y="2543108"/>
                      <a:pt x="0" y="1638300"/>
                    </a:cubicBezTo>
                    <a:cubicBezTo>
                      <a:pt x="0" y="733492"/>
                      <a:pt x="733492" y="0"/>
                      <a:pt x="16383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grpSp>
      <p:sp>
        <p:nvSpPr>
          <p:cNvPr id="35" name="文本框 34"/>
          <p:cNvSpPr txBox="1"/>
          <p:nvPr/>
        </p:nvSpPr>
        <p:spPr>
          <a:xfrm>
            <a:off x="1847232" y="2193634"/>
            <a:ext cx="944880" cy="398780"/>
          </a:xfrm>
          <a:prstGeom prst="rect">
            <a:avLst/>
          </a:prstGeom>
          <a:noFill/>
        </p:spPr>
        <p:txBody>
          <a:bodyPr wrap="none" rtlCol="0">
            <a:spAutoFit/>
          </a:bodyPr>
          <a:lstStyle>
            <a:defPPr>
              <a:defRPr lang="zh-CN"/>
            </a:defPPr>
            <a:lvl1pPr algn="ctr">
              <a:defRPr sz="3200">
                <a:solidFill>
                  <a:schemeClr val="tx1">
                    <a:lumMod val="65000"/>
                    <a:lumOff val="35000"/>
                  </a:schemeClr>
                </a:solidFill>
              </a:defRPr>
            </a:lvl1pPr>
          </a:lstStyle>
          <a:p>
            <a:pPr algn="l"/>
            <a:r>
              <a:rPr lang="zh-CN" altLang="en-US" sz="2000" dirty="0" smtClean="0">
                <a:solidFill>
                  <a:schemeClr val="bg1"/>
                </a:solidFill>
                <a:latin typeface="锐字云字库魏体1.0" panose="02010604000000000000" charset="-122"/>
                <a:ea typeface="锐字云字库魏体1.0" panose="02010604000000000000" charset="-122"/>
              </a:rPr>
              <a:t>目标感</a:t>
            </a:r>
            <a:endParaRPr lang="zh-CN" altLang="en-US" sz="2000" dirty="0" smtClean="0">
              <a:solidFill>
                <a:schemeClr val="bg1"/>
              </a:solidFill>
              <a:latin typeface="锐字云字库魏体1.0" panose="02010604000000000000" charset="-122"/>
              <a:ea typeface="锐字云字库魏体1.0" panose="02010604000000000000" charset="-122"/>
            </a:endParaRPr>
          </a:p>
        </p:txBody>
      </p:sp>
      <p:sp>
        <p:nvSpPr>
          <p:cNvPr id="36" name="文本框 35"/>
          <p:cNvSpPr txBox="1"/>
          <p:nvPr/>
        </p:nvSpPr>
        <p:spPr>
          <a:xfrm>
            <a:off x="6047420" y="2750854"/>
            <a:ext cx="1804322" cy="1198880"/>
          </a:xfrm>
          <a:prstGeom prst="rect">
            <a:avLst/>
          </a:prstGeom>
          <a:noFill/>
        </p:spPr>
        <p:txBody>
          <a:bodyPr wrap="square" rtlCol="0">
            <a:spAutoFit/>
          </a:bodyPr>
          <a:lstStyle/>
          <a:p>
            <a:pPr algn="ctr"/>
            <a:r>
              <a:rPr lang="zh-CN" altLang="en-US" sz="1200" dirty="0">
                <a:solidFill>
                  <a:schemeClr val="bg1"/>
                </a:solidFill>
                <a:latin typeface="锐字云字库魏体1.0" panose="02010604000000000000" charset="-122"/>
                <a:ea typeface="锐字云字库魏体1.0" panose="02010604000000000000" charset="-122"/>
                <a:sym typeface="+mn-ea"/>
              </a:rPr>
              <a:t>职业规划清晰，明确自己想要的职位，当做自己的事业去经营，努力奋斗，去坚持，完成自己设立的人生阶段性目标</a:t>
            </a:r>
            <a:endParaRPr lang="zh-CN" altLang="en-US" sz="1200" dirty="0">
              <a:solidFill>
                <a:schemeClr val="bg1"/>
              </a:solidFill>
              <a:latin typeface="锐字云字库魏体1.0" panose="02010604000000000000" charset="-122"/>
              <a:ea typeface="锐字云字库魏体1.0" panose="02010604000000000000" charset="-122"/>
              <a:sym typeface="+mn-ea"/>
            </a:endParaRPr>
          </a:p>
        </p:txBody>
      </p:sp>
      <p:sp>
        <p:nvSpPr>
          <p:cNvPr id="10" name="矩形 9"/>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100" name="文本框 99"/>
          <p:cNvSpPr txBox="1"/>
          <p:nvPr/>
        </p:nvSpPr>
        <p:spPr>
          <a:xfrm>
            <a:off x="1557020" y="803275"/>
            <a:ext cx="9373235" cy="5990590"/>
          </a:xfrm>
          <a:prstGeom prst="rect">
            <a:avLst/>
          </a:prstGeom>
          <a:noFill/>
          <a:ln w="9525">
            <a:noFill/>
          </a:ln>
        </p:spPr>
        <p:txBody>
          <a:bodyPr wrap="square">
            <a:spAutoFit/>
          </a:bodyPr>
          <a:p>
            <a:pPr indent="266700" algn="l" fontAlgn="auto">
              <a:lnSpc>
                <a:spcPts val="2000"/>
              </a:lnSpc>
            </a:pPr>
            <a:r>
              <a:rPr lang="zh-CN" altLang="en-US" sz="1600" b="0">
                <a:solidFill>
                  <a:srgbClr val="666666"/>
                </a:solidFill>
                <a:latin typeface="微软雅黑" panose="020B0503020204020204" charset="-122"/>
                <a:ea typeface="微软雅黑" panose="020B0503020204020204" charset="-122"/>
                <a:cs typeface="微软雅黑" panose="020B0503020204020204" charset="-122"/>
              </a:rPr>
              <a:t>离职</a:t>
            </a:r>
            <a:endParaRPr lang="zh-CN" altLang="en-US"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a:t>
            </a:r>
            <a:r>
              <a:rPr lang="zh-CN" altLang="en-US" sz="1600" b="0">
                <a:solidFill>
                  <a:srgbClr val="666666"/>
                </a:solidFill>
                <a:latin typeface="微软雅黑" panose="020B0503020204020204" charset="-122"/>
                <a:ea typeface="微软雅黑" panose="020B0503020204020204" charset="-122"/>
                <a:cs typeface="微软雅黑" panose="020B0503020204020204" charset="-122"/>
              </a:rPr>
              <a:t>学不到东西</a:t>
            </a:r>
            <a:endParaRPr lang="zh-CN" altLang="en-US"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a:t>
            </a:r>
            <a:r>
              <a:rPr lang="zh-CN" altLang="en-US" sz="1600" b="0">
                <a:solidFill>
                  <a:srgbClr val="666666"/>
                </a:solidFill>
                <a:latin typeface="微软雅黑" panose="020B0503020204020204" charset="-122"/>
                <a:ea typeface="微软雅黑" panose="020B0503020204020204" charset="-122"/>
                <a:cs typeface="微软雅黑" panose="020B0503020204020204" charset="-122"/>
              </a:rPr>
              <a:t>赚不到钱</a:t>
            </a:r>
            <a:endParaRPr lang="zh-CN" altLang="en-US"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a:t>
            </a:r>
            <a:r>
              <a:rPr lang="zh-CN" altLang="en-US" sz="1600" b="0">
                <a:solidFill>
                  <a:srgbClr val="666666"/>
                </a:solidFill>
                <a:latin typeface="微软雅黑" panose="020B0503020204020204" charset="-122"/>
                <a:ea typeface="微软雅黑" panose="020B0503020204020204" charset="-122"/>
                <a:cs typeface="微软雅黑" panose="020B0503020204020204" charset="-122"/>
              </a:rPr>
              <a:t>看不到未来</a:t>
            </a:r>
            <a:endParaRPr lang="zh-CN" altLang="en-US"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a:t>
            </a:r>
            <a:r>
              <a:rPr lang="zh-CN" altLang="en-US" sz="1600">
                <a:solidFill>
                  <a:srgbClr val="666666"/>
                </a:solidFill>
                <a:latin typeface="微软雅黑" panose="020B0503020204020204" charset="-122"/>
                <a:ea typeface="微软雅黑" panose="020B0503020204020204" charset="-122"/>
                <a:cs typeface="微软雅黑" panose="020B0503020204020204" charset="-122"/>
                <a:sym typeface="+mn-ea"/>
              </a:rPr>
              <a:t>领导冷漠的态度，没有表露应有的和气和善意</a:t>
            </a:r>
            <a:endParaRPr lang="zh-CN" altLang="en-US"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a:t>
            </a:r>
            <a:r>
              <a:rPr lang="zh-CN" altLang="en-US" sz="1600">
                <a:solidFill>
                  <a:srgbClr val="666666"/>
                </a:solidFill>
                <a:latin typeface="微软雅黑" panose="020B0503020204020204" charset="-122"/>
                <a:ea typeface="微软雅黑" panose="020B0503020204020204" charset="-122"/>
                <a:cs typeface="微软雅黑" panose="020B0503020204020204" charset="-122"/>
                <a:sym typeface="+mn-ea"/>
              </a:rPr>
              <a:t>领导</a:t>
            </a: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指责员工，不注意选择好的字眼，却偏偏会选择刻薄的字眼进行指责</a:t>
            </a: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-催促和督促，制造紧张气氛。监工似的上属总让员工感觉自己是“打工”的，而不是企业的主人</a:t>
            </a: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-出尔反尔。不让员工做的事情，自己反而不顾及对员工的承诺不能兑现</a:t>
            </a: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-对不同的员工标准不同，喜欢“唯上”的员工而非踏实工作的员工</a:t>
            </a: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-不给能力强的员工显示其才能的机会</a:t>
            </a: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-对曾为团队有贡献的员工不尊重，不承认其价值</a:t>
            </a: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zh-CN" altLang="en-US" sz="1600" b="0">
                <a:solidFill>
                  <a:srgbClr val="666666"/>
                </a:solidFill>
                <a:latin typeface="微软雅黑" panose="020B0503020204020204" charset="-122"/>
                <a:ea typeface="微软雅黑" panose="020B0503020204020204" charset="-122"/>
                <a:cs typeface="微软雅黑" panose="020B0503020204020204" charset="-122"/>
              </a:rPr>
              <a:t>相反</a:t>
            </a:r>
            <a:endParaRPr lang="zh-CN" altLang="en-US"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-适当安排非工作时间的活动</a:t>
            </a: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-制造轻松愉快的工作氛围</a:t>
            </a: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-给员工整洁清爽的办公环境</a:t>
            </a: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-鼓励员工表达自己的意愿和建议</a:t>
            </a: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-帮助员工脱颖而出，展示才能</a:t>
            </a: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-对员工的生活表示关心</a:t>
            </a: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-允许员工灵活发挥</a:t>
            </a: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-给予工作上的失误以理解</a:t>
            </a:r>
            <a:endParaRPr lang="en-US" altLang="zh-CN" sz="1600" b="0">
              <a:solidFill>
                <a:srgbClr val="666666"/>
              </a:solidFill>
              <a:latin typeface="微软雅黑" panose="020B0503020204020204" charset="-122"/>
              <a:ea typeface="微软雅黑" panose="020B0503020204020204" charset="-122"/>
              <a:cs typeface="微软雅黑" panose="020B0503020204020204" charset="-122"/>
            </a:endParaRPr>
          </a:p>
          <a:p>
            <a:pPr indent="266700" algn="l" fontAlgn="auto">
              <a:lnSpc>
                <a:spcPts val="2000"/>
              </a:lnSpc>
            </a:pP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a:t>
            </a:r>
            <a:r>
              <a:rPr lang="zh-CN" altLang="en-US" sz="1600" b="0">
                <a:solidFill>
                  <a:srgbClr val="666666"/>
                </a:solidFill>
                <a:latin typeface="微软雅黑" panose="020B0503020204020204" charset="-122"/>
                <a:ea typeface="微软雅黑" panose="020B0503020204020204" charset="-122"/>
                <a:cs typeface="微软雅黑" panose="020B0503020204020204" charset="-122"/>
              </a:rPr>
              <a:t>经常说</a:t>
            </a: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a:t>
            </a:r>
            <a:r>
              <a:rPr lang="zh-CN" altLang="en-US" sz="1600" b="0">
                <a:solidFill>
                  <a:srgbClr val="666666"/>
                </a:solidFill>
                <a:latin typeface="微软雅黑" panose="020B0503020204020204" charset="-122"/>
                <a:ea typeface="微软雅黑" panose="020B0503020204020204" charset="-122"/>
                <a:cs typeface="微软雅黑" panose="020B0503020204020204" charset="-122"/>
              </a:rPr>
              <a:t>这个事情就拜托你啦，有点紧急，辛苦一下，谢谢啦</a:t>
            </a:r>
            <a:r>
              <a:rPr lang="en-US" altLang="zh-CN" sz="1600" b="0">
                <a:solidFill>
                  <a:srgbClr val="666666"/>
                </a:solidFill>
                <a:latin typeface="微软雅黑" panose="020B0503020204020204" charset="-122"/>
                <a:ea typeface="微软雅黑" panose="020B0503020204020204" charset="-122"/>
                <a:cs typeface="微软雅黑" panose="020B0503020204020204" charset="-122"/>
              </a:rPr>
              <a:t>”等等</a:t>
            </a:r>
            <a:r>
              <a:rPr lang="zh-CN" altLang="en-US" sz="1600" b="0">
                <a:solidFill>
                  <a:srgbClr val="666666"/>
                </a:solidFill>
                <a:latin typeface="微软雅黑" panose="020B0503020204020204" charset="-122"/>
                <a:ea typeface="微软雅黑" panose="020B0503020204020204" charset="-122"/>
                <a:cs typeface="微软雅黑" panose="020B0503020204020204" charset="-122"/>
              </a:rPr>
              <a:t>，笑是自然良药，幽默是舒缓剂，自嘲是最高形式的幽默</a:t>
            </a:r>
            <a:endParaRPr lang="zh-CN" altLang="en-US" sz="1600" b="0">
              <a:solidFill>
                <a:srgbClr val="66666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1000"/>
                                        <p:tgtEl>
                                          <p:spTgt spid="17"/>
                                        </p:tgtEl>
                                      </p:cBhvr>
                                    </p:animEffect>
                                    <p:anim calcmode="lin" valueType="num">
                                      <p:cBhvr>
                                        <p:cTn id="17" dur="1000" fill="hold"/>
                                        <p:tgtEl>
                                          <p:spTgt spid="17"/>
                                        </p:tgtEl>
                                        <p:attrNameLst>
                                          <p:attrName>ppt_x</p:attrName>
                                        </p:attrNameLst>
                                      </p:cBhvr>
                                      <p:tavLst>
                                        <p:tav tm="0">
                                          <p:val>
                                            <p:strVal val="#ppt_x"/>
                                          </p:val>
                                        </p:tav>
                                        <p:tav tm="100000">
                                          <p:val>
                                            <p:strVal val="#ppt_x"/>
                                          </p:val>
                                        </p:tav>
                                      </p:tavLst>
                                    </p:anim>
                                    <p:anim calcmode="lin" valueType="num">
                                      <p:cBhvr>
                                        <p:cTn id="18" dur="1000" fill="hold"/>
                                        <p:tgtEl>
                                          <p:spTgt spid="17"/>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47" presetClass="entr" presetSubtype="0" fill="hold" grpId="0" nodeType="after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1000"/>
                                        <p:tgtEl>
                                          <p:spTgt spid="35"/>
                                        </p:tgtEl>
                                      </p:cBhvr>
                                    </p:animEffect>
                                    <p:anim calcmode="lin" valueType="num">
                                      <p:cBhvr>
                                        <p:cTn id="23" dur="1000" fill="hold"/>
                                        <p:tgtEl>
                                          <p:spTgt spid="35"/>
                                        </p:tgtEl>
                                        <p:attrNameLst>
                                          <p:attrName>ppt_x</p:attrName>
                                        </p:attrNameLst>
                                      </p:cBhvr>
                                      <p:tavLst>
                                        <p:tav tm="0">
                                          <p:val>
                                            <p:strVal val="#ppt_x"/>
                                          </p:val>
                                        </p:tav>
                                        <p:tav tm="100000">
                                          <p:val>
                                            <p:strVal val="#ppt_x"/>
                                          </p:val>
                                        </p:tav>
                                      </p:tavLst>
                                    </p:anim>
                                    <p:anim calcmode="lin" valueType="num">
                                      <p:cBhvr>
                                        <p:cTn id="24" dur="1000" fill="hold"/>
                                        <p:tgtEl>
                                          <p:spTgt spid="35"/>
                                        </p:tgtEl>
                                        <p:attrNameLst>
                                          <p:attrName>ppt_y</p:attrName>
                                        </p:attrNameLst>
                                      </p:cBhvr>
                                      <p:tavLst>
                                        <p:tav tm="0">
                                          <p:val>
                                            <p:strVal val="#ppt_y-.1"/>
                                          </p:val>
                                        </p:tav>
                                        <p:tav tm="100000">
                                          <p:val>
                                            <p:strVal val="#ppt_y"/>
                                          </p:val>
                                        </p:tav>
                                      </p:tavLst>
                                    </p:anim>
                                  </p:childTnLst>
                                </p:cTn>
                              </p:par>
                            </p:childTnLst>
                          </p:cTn>
                        </p:par>
                        <p:par>
                          <p:cTn id="25" fill="hold">
                            <p:stCondLst>
                              <p:cond delay="2500"/>
                            </p:stCondLst>
                            <p:childTnLst>
                              <p:par>
                                <p:cTn id="26" presetID="42" presetClass="entr" presetSubtype="0" fill="hold" grpId="0"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1000"/>
                                        <p:tgtEl>
                                          <p:spTgt spid="36"/>
                                        </p:tgtEl>
                                      </p:cBhvr>
                                    </p:animEffect>
                                    <p:anim calcmode="lin" valueType="num">
                                      <p:cBhvr>
                                        <p:cTn id="29" dur="1000" fill="hold"/>
                                        <p:tgtEl>
                                          <p:spTgt spid="36"/>
                                        </p:tgtEl>
                                        <p:attrNameLst>
                                          <p:attrName>ppt_x</p:attrName>
                                        </p:attrNameLst>
                                      </p:cBhvr>
                                      <p:tavLst>
                                        <p:tav tm="0">
                                          <p:val>
                                            <p:strVal val="#ppt_x"/>
                                          </p:val>
                                        </p:tav>
                                        <p:tav tm="100000">
                                          <p:val>
                                            <p:strVal val="#ppt_x"/>
                                          </p:val>
                                        </p:tav>
                                      </p:tavLst>
                                    </p:anim>
                                    <p:anim calcmode="lin" valueType="num">
                                      <p:cBhvr>
                                        <p:cTn id="30"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5" grpId="0"/>
      <p:bldP spid="3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 name="梯形 68"/>
          <p:cNvSpPr/>
          <p:nvPr/>
        </p:nvSpPr>
        <p:spPr>
          <a:xfrm rot="10800000">
            <a:off x="5583555" y="2531745"/>
            <a:ext cx="1068705" cy="828040"/>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b="1">
              <a:sym typeface="+mn-ea"/>
            </a:endParaRPr>
          </a:p>
        </p:txBody>
      </p:sp>
      <p:sp>
        <p:nvSpPr>
          <p:cNvPr id="65" name="梯形 64"/>
          <p:cNvSpPr/>
          <p:nvPr/>
        </p:nvSpPr>
        <p:spPr>
          <a:xfrm>
            <a:off x="5562600" y="4686935"/>
            <a:ext cx="1066800" cy="828040"/>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ym typeface="+mn-ea"/>
            </a:endParaRPr>
          </a:p>
        </p:txBody>
      </p:sp>
      <p:sp>
        <p:nvSpPr>
          <p:cNvPr id="2" name="圆角矩形 1"/>
          <p:cNvSpPr/>
          <p:nvPr/>
        </p:nvSpPr>
        <p:spPr>
          <a:xfrm>
            <a:off x="4178935" y="1010285"/>
            <a:ext cx="1419860" cy="462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产品调研</a:t>
            </a:r>
            <a:endParaRPr lang="zh-CN" altLang="en-US"/>
          </a:p>
        </p:txBody>
      </p:sp>
      <p:sp>
        <p:nvSpPr>
          <p:cNvPr id="10" name="圆角矩形 9"/>
          <p:cNvSpPr/>
          <p:nvPr/>
        </p:nvSpPr>
        <p:spPr>
          <a:xfrm>
            <a:off x="5407025" y="1765300"/>
            <a:ext cx="1419860" cy="462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采购交期</a:t>
            </a:r>
            <a:endParaRPr lang="zh-CN" altLang="en-US"/>
          </a:p>
        </p:txBody>
      </p:sp>
      <p:sp>
        <p:nvSpPr>
          <p:cNvPr id="11" name="圆角矩形 10"/>
          <p:cNvSpPr/>
          <p:nvPr/>
        </p:nvSpPr>
        <p:spPr>
          <a:xfrm>
            <a:off x="2545080" y="4748530"/>
            <a:ext cx="1419860" cy="462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备货策略</a:t>
            </a:r>
            <a:endParaRPr lang="zh-CN" altLang="en-US"/>
          </a:p>
        </p:txBody>
      </p:sp>
      <p:sp>
        <p:nvSpPr>
          <p:cNvPr id="14" name="圆角矩形 13"/>
          <p:cNvSpPr/>
          <p:nvPr/>
        </p:nvSpPr>
        <p:spPr>
          <a:xfrm>
            <a:off x="9397365" y="3623945"/>
            <a:ext cx="1419860" cy="462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CPC</a:t>
            </a:r>
            <a:r>
              <a:rPr lang="zh-CN" altLang="en-US"/>
              <a:t>广告</a:t>
            </a:r>
            <a:endParaRPr lang="zh-CN" altLang="en-US"/>
          </a:p>
        </p:txBody>
      </p:sp>
      <p:sp>
        <p:nvSpPr>
          <p:cNvPr id="15" name="圆角矩形 14"/>
          <p:cNvSpPr/>
          <p:nvPr/>
        </p:nvSpPr>
        <p:spPr>
          <a:xfrm>
            <a:off x="8339455" y="4859655"/>
            <a:ext cx="1419860" cy="462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Promotion</a:t>
            </a:r>
            <a:endParaRPr lang="zh-CN" altLang="en-US"/>
          </a:p>
        </p:txBody>
      </p:sp>
      <p:sp>
        <p:nvSpPr>
          <p:cNvPr id="19" name="圆角矩形 18"/>
          <p:cNvSpPr/>
          <p:nvPr/>
        </p:nvSpPr>
        <p:spPr>
          <a:xfrm>
            <a:off x="2545080" y="3928745"/>
            <a:ext cx="1419860" cy="462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售后服务</a:t>
            </a:r>
            <a:endParaRPr lang="zh-CN" altLang="en-US"/>
          </a:p>
        </p:txBody>
      </p:sp>
      <p:sp>
        <p:nvSpPr>
          <p:cNvPr id="21" name="圆角矩形 20"/>
          <p:cNvSpPr/>
          <p:nvPr/>
        </p:nvSpPr>
        <p:spPr>
          <a:xfrm>
            <a:off x="210820" y="4686300"/>
            <a:ext cx="1419860" cy="462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600"/>
              <a:t>优化升级</a:t>
            </a:r>
            <a:endParaRPr lang="zh-CN" altLang="en-US" sz="1600"/>
          </a:p>
        </p:txBody>
      </p:sp>
      <p:sp>
        <p:nvSpPr>
          <p:cNvPr id="22" name="圆角矩形 21"/>
          <p:cNvSpPr/>
          <p:nvPr/>
        </p:nvSpPr>
        <p:spPr>
          <a:xfrm>
            <a:off x="210820" y="3930015"/>
            <a:ext cx="1419860" cy="462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站外推广</a:t>
            </a:r>
            <a:endParaRPr lang="zh-CN" altLang="en-US"/>
          </a:p>
        </p:txBody>
      </p:sp>
      <p:sp>
        <p:nvSpPr>
          <p:cNvPr id="24" name="六边形 23"/>
          <p:cNvSpPr/>
          <p:nvPr/>
        </p:nvSpPr>
        <p:spPr>
          <a:xfrm>
            <a:off x="5407025" y="3415665"/>
            <a:ext cx="1398905" cy="121920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ym typeface="+mn-ea"/>
              </a:rPr>
              <a:t>增长</a:t>
            </a:r>
            <a:endParaRPr lang="zh-CN" altLang="en-US" b="1"/>
          </a:p>
          <a:p>
            <a:pPr algn="ctr"/>
            <a:r>
              <a:rPr lang="en-US" altLang="zh-CN" sz="1600" b="1">
                <a:sym typeface="+mn-ea"/>
              </a:rPr>
              <a:t>Growth</a:t>
            </a:r>
            <a:endParaRPr lang="zh-CN" altLang="en-US" sz="1600" b="1"/>
          </a:p>
        </p:txBody>
      </p:sp>
      <p:sp>
        <p:nvSpPr>
          <p:cNvPr id="25" name="梯形 24"/>
          <p:cNvSpPr/>
          <p:nvPr/>
        </p:nvSpPr>
        <p:spPr>
          <a:xfrm rot="14580000">
            <a:off x="6541135" y="3079115"/>
            <a:ext cx="1066800" cy="828040"/>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600">
                <a:sym typeface="+mn-ea"/>
              </a:rPr>
              <a:t>Listing优化</a:t>
            </a:r>
            <a:endParaRPr lang="zh-CN" altLang="en-US" sz="1600">
              <a:sym typeface="+mn-ea"/>
            </a:endParaRPr>
          </a:p>
        </p:txBody>
      </p:sp>
      <p:sp>
        <p:nvSpPr>
          <p:cNvPr id="27" name="椭圆 26"/>
          <p:cNvSpPr/>
          <p:nvPr/>
        </p:nvSpPr>
        <p:spPr>
          <a:xfrm>
            <a:off x="5660390" y="784225"/>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ym typeface="+mn-ea"/>
              </a:rPr>
              <a:t>市场</a:t>
            </a:r>
            <a:endParaRPr lang="zh-CN" altLang="en-US"/>
          </a:p>
        </p:txBody>
      </p:sp>
      <p:sp>
        <p:nvSpPr>
          <p:cNvPr id="46" name="文本框 45"/>
          <p:cNvSpPr txBox="1"/>
          <p:nvPr/>
        </p:nvSpPr>
        <p:spPr>
          <a:xfrm>
            <a:off x="5620385" y="2776855"/>
            <a:ext cx="995680" cy="337185"/>
          </a:xfrm>
          <a:prstGeom prst="rect">
            <a:avLst/>
          </a:prstGeom>
          <a:noFill/>
        </p:spPr>
        <p:txBody>
          <a:bodyPr wrap="none" rtlCol="0">
            <a:spAutoFit/>
          </a:bodyPr>
          <a:p>
            <a:pPr algn="l"/>
            <a:r>
              <a:rPr lang="zh-CN" altLang="en-US" sz="1600">
                <a:solidFill>
                  <a:schemeClr val="bg1"/>
                </a:solidFill>
                <a:sym typeface="+mn-ea"/>
              </a:rPr>
              <a:t>排名维护</a:t>
            </a:r>
            <a:endParaRPr lang="zh-CN" altLang="en-US" sz="1600">
              <a:solidFill>
                <a:schemeClr val="bg1"/>
              </a:solidFill>
              <a:sym typeface="+mn-ea"/>
            </a:endParaRPr>
          </a:p>
        </p:txBody>
      </p:sp>
      <p:sp>
        <p:nvSpPr>
          <p:cNvPr id="47" name="文本框 46"/>
          <p:cNvSpPr txBox="1"/>
          <p:nvPr/>
        </p:nvSpPr>
        <p:spPr>
          <a:xfrm>
            <a:off x="5619115" y="4932680"/>
            <a:ext cx="995680" cy="337185"/>
          </a:xfrm>
          <a:prstGeom prst="rect">
            <a:avLst/>
          </a:prstGeom>
          <a:noFill/>
        </p:spPr>
        <p:txBody>
          <a:bodyPr wrap="none" rtlCol="0">
            <a:spAutoFit/>
          </a:bodyPr>
          <a:p>
            <a:pPr algn="ctr"/>
            <a:r>
              <a:rPr lang="zh-CN" altLang="en-US" sz="1600">
                <a:solidFill>
                  <a:schemeClr val="bg1"/>
                </a:solidFill>
                <a:sym typeface="+mn-ea"/>
              </a:rPr>
              <a:t>刷单测评</a:t>
            </a:r>
            <a:endParaRPr lang="zh-CN" altLang="en-US" sz="1600">
              <a:solidFill>
                <a:schemeClr val="bg1"/>
              </a:solidFill>
              <a:sym typeface="+mn-ea"/>
            </a:endParaRPr>
          </a:p>
        </p:txBody>
      </p:sp>
      <p:sp>
        <p:nvSpPr>
          <p:cNvPr id="48" name="椭圆 47"/>
          <p:cNvSpPr/>
          <p:nvPr/>
        </p:nvSpPr>
        <p:spPr>
          <a:xfrm>
            <a:off x="9650095" y="412242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站内</a:t>
            </a:r>
            <a:endParaRPr lang="zh-CN" altLang="en-US"/>
          </a:p>
        </p:txBody>
      </p:sp>
      <p:sp>
        <p:nvSpPr>
          <p:cNvPr id="49" name="椭圆 48"/>
          <p:cNvSpPr/>
          <p:nvPr/>
        </p:nvSpPr>
        <p:spPr>
          <a:xfrm>
            <a:off x="1630680" y="412242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后期</a:t>
            </a:r>
            <a:endParaRPr lang="zh-CN" altLang="en-US"/>
          </a:p>
        </p:txBody>
      </p:sp>
      <p:sp>
        <p:nvSpPr>
          <p:cNvPr id="50" name="圆角矩形 49"/>
          <p:cNvSpPr/>
          <p:nvPr/>
        </p:nvSpPr>
        <p:spPr>
          <a:xfrm>
            <a:off x="10462895" y="4859655"/>
            <a:ext cx="1419860" cy="462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秒杀</a:t>
            </a:r>
            <a:r>
              <a:rPr lang="en-US" altLang="zh-CN"/>
              <a:t>LD/BD</a:t>
            </a:r>
            <a:endParaRPr lang="en-US" altLang="zh-CN"/>
          </a:p>
        </p:txBody>
      </p:sp>
      <p:sp>
        <p:nvSpPr>
          <p:cNvPr id="51" name="圆角矩形 50"/>
          <p:cNvSpPr/>
          <p:nvPr/>
        </p:nvSpPr>
        <p:spPr>
          <a:xfrm>
            <a:off x="6634480" y="1010285"/>
            <a:ext cx="1419860" cy="462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供应链管理</a:t>
            </a:r>
            <a:endParaRPr lang="zh-CN" altLang="en-US"/>
          </a:p>
        </p:txBody>
      </p:sp>
      <p:sp>
        <p:nvSpPr>
          <p:cNvPr id="54" name="右弧形箭头 53"/>
          <p:cNvSpPr/>
          <p:nvPr/>
        </p:nvSpPr>
        <p:spPr>
          <a:xfrm rot="19980000">
            <a:off x="9234170" y="737870"/>
            <a:ext cx="1108075" cy="288607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5" name="右弧形箭头 54"/>
          <p:cNvSpPr/>
          <p:nvPr/>
        </p:nvSpPr>
        <p:spPr>
          <a:xfrm rot="5400000">
            <a:off x="5430520" y="1820545"/>
            <a:ext cx="1108075" cy="849503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6" name="右弧形箭头 55"/>
          <p:cNvSpPr/>
          <p:nvPr/>
        </p:nvSpPr>
        <p:spPr>
          <a:xfrm rot="13020000">
            <a:off x="1794510" y="486410"/>
            <a:ext cx="1108075" cy="288607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8" name="左右箭头 57"/>
          <p:cNvSpPr/>
          <p:nvPr/>
        </p:nvSpPr>
        <p:spPr>
          <a:xfrm>
            <a:off x="7199630" y="3909695"/>
            <a:ext cx="913130" cy="17653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 name="左右箭头 60"/>
          <p:cNvSpPr/>
          <p:nvPr/>
        </p:nvSpPr>
        <p:spPr>
          <a:xfrm>
            <a:off x="4069715" y="3909695"/>
            <a:ext cx="913130" cy="17653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 name="左右箭头 61"/>
          <p:cNvSpPr/>
          <p:nvPr/>
        </p:nvSpPr>
        <p:spPr>
          <a:xfrm rot="16200000">
            <a:off x="5944235" y="2291715"/>
            <a:ext cx="304165" cy="17653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3" name="梯形 62"/>
          <p:cNvSpPr/>
          <p:nvPr/>
        </p:nvSpPr>
        <p:spPr>
          <a:xfrm rot="17760000">
            <a:off x="6546850" y="4135755"/>
            <a:ext cx="1066800" cy="828040"/>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ym typeface="+mn-ea"/>
            </a:endParaRPr>
          </a:p>
        </p:txBody>
      </p:sp>
      <p:sp>
        <p:nvSpPr>
          <p:cNvPr id="64" name="文本框 63"/>
          <p:cNvSpPr txBox="1"/>
          <p:nvPr/>
        </p:nvSpPr>
        <p:spPr>
          <a:xfrm rot="17820000">
            <a:off x="6633527" y="4380865"/>
            <a:ext cx="882015" cy="337185"/>
          </a:xfrm>
          <a:prstGeom prst="rect">
            <a:avLst/>
          </a:prstGeom>
          <a:noFill/>
        </p:spPr>
        <p:txBody>
          <a:bodyPr wrap="none" rtlCol="0">
            <a:spAutoFit/>
          </a:bodyPr>
          <a:p>
            <a:pPr algn="ctr"/>
            <a:r>
              <a:rPr lang="en-US" altLang="zh-CN" sz="1600">
                <a:solidFill>
                  <a:schemeClr val="bg1"/>
                </a:solidFill>
                <a:sym typeface="+mn-ea"/>
              </a:rPr>
              <a:t>Key</a:t>
            </a:r>
            <a:r>
              <a:rPr lang="zh-CN" altLang="en-US" sz="1600">
                <a:solidFill>
                  <a:schemeClr val="bg1"/>
                </a:solidFill>
                <a:sym typeface="+mn-ea"/>
              </a:rPr>
              <a:t>优化</a:t>
            </a:r>
            <a:endParaRPr lang="zh-CN" altLang="en-US" sz="1600">
              <a:solidFill>
                <a:schemeClr val="bg1"/>
              </a:solidFill>
              <a:sym typeface="+mn-ea"/>
            </a:endParaRPr>
          </a:p>
        </p:txBody>
      </p:sp>
      <p:sp>
        <p:nvSpPr>
          <p:cNvPr id="66" name="梯形 65"/>
          <p:cNvSpPr/>
          <p:nvPr/>
        </p:nvSpPr>
        <p:spPr>
          <a:xfrm rot="3780000">
            <a:off x="4636135" y="4133215"/>
            <a:ext cx="1066800" cy="828040"/>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a:sym typeface="+mn-ea"/>
              </a:rPr>
              <a:t>Review</a:t>
            </a:r>
            <a:r>
              <a:rPr lang="zh-CN" altLang="en-US" sz="1400">
                <a:sym typeface="+mn-ea"/>
              </a:rPr>
              <a:t>维护</a:t>
            </a:r>
            <a:endParaRPr lang="zh-CN" altLang="en-US" sz="1400">
              <a:sym typeface="+mn-ea"/>
            </a:endParaRPr>
          </a:p>
        </p:txBody>
      </p:sp>
      <p:sp>
        <p:nvSpPr>
          <p:cNvPr id="68" name="梯形 67"/>
          <p:cNvSpPr/>
          <p:nvPr/>
        </p:nvSpPr>
        <p:spPr>
          <a:xfrm rot="7020000">
            <a:off x="4636135" y="3079115"/>
            <a:ext cx="1066800" cy="828040"/>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ym typeface="+mn-ea"/>
              </a:rPr>
              <a:t>价格策略</a:t>
            </a:r>
            <a:endParaRPr lang="zh-CN" altLang="en-US" sz="1400">
              <a:sym typeface="+mn-ea"/>
            </a:endParaRPr>
          </a:p>
        </p:txBody>
      </p:sp>
      <p:sp>
        <p:nvSpPr>
          <p:cNvPr id="52" name="矩形 5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18" name="矩形 17"/>
          <p:cNvSpPr/>
          <p:nvPr/>
        </p:nvSpPr>
        <p:spPr>
          <a:xfrm>
            <a:off x="0" y="369457"/>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
        <p:nvSpPr>
          <p:cNvPr id="12" name="Rectangle 39"/>
          <p:cNvSpPr>
            <a:spLocks noChangeArrowheads="1"/>
          </p:cNvSpPr>
          <p:nvPr/>
        </p:nvSpPr>
        <p:spPr bwMode="auto">
          <a:xfrm>
            <a:off x="1190625" y="389890"/>
            <a:ext cx="277495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buFont typeface="Arial" panose="020B0604020202020204" pitchFamily="34" charset="0"/>
              <a:buNone/>
            </a:pPr>
            <a:r>
              <a:rPr lang="zh-CN" altLang="zh-CN" sz="2400" b="1">
                <a:solidFill>
                  <a:schemeClr val="tx1">
                    <a:lumMod val="95000"/>
                    <a:lumOff val="5000"/>
                  </a:schemeClr>
                </a:solidFill>
                <a:latin typeface="锐字云字库美黑体1.0" panose="02010604000000000000" charset="-122"/>
                <a:ea typeface="锐字云字库美黑体1.0" panose="02010604000000000000" charset="-122"/>
                <a:sym typeface="+mn-ea"/>
              </a:rPr>
              <a:t>亚马逊飞轮理论</a:t>
            </a:r>
            <a:endParaRPr lang="zh-CN" altLang="en-US" sz="2400" b="1" dirty="0">
              <a:solidFill>
                <a:schemeClr val="tx1">
                  <a:lumMod val="95000"/>
                  <a:lumOff val="5000"/>
                </a:schemeClr>
              </a:solidFill>
              <a:latin typeface="微软雅黑" panose="020B0503020204020204" charset="-122"/>
              <a:ea typeface="微软雅黑" panose="020B0503020204020204" charset="-122"/>
              <a:sym typeface="+mn-ea"/>
            </a:endParaRPr>
          </a:p>
        </p:txBody>
      </p:sp>
    </p:spTree>
  </p:cSld>
  <p:clrMapOvr>
    <a:masterClrMapping/>
  </p:clrMapOvr>
  <p:transition>
    <p:push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8"/>
          <p:cNvSpPr>
            <a:spLocks noChangeArrowheads="1"/>
          </p:cNvSpPr>
          <p:nvPr/>
        </p:nvSpPr>
        <p:spPr bwMode="auto">
          <a:xfrm>
            <a:off x="4376014" y="2998913"/>
            <a:ext cx="272288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0"/>
              </a:spcBef>
              <a:buFont typeface="Arial" panose="020B0604020202020204" pitchFamily="34" charset="0"/>
              <a:buNone/>
            </a:pPr>
            <a:r>
              <a:rPr lang="zh-CN" altLang="en-US" sz="5000" b="1" dirty="0">
                <a:solidFill>
                  <a:schemeClr val="accent1"/>
                </a:solidFill>
                <a:latin typeface="Impact" panose="020B0806030902050204" pitchFamily="34" charset="0"/>
                <a:ea typeface="微软雅黑" panose="020B0503020204020204" charset="-122"/>
                <a:sym typeface="方正大黑简体" pitchFamily="65" charset="-122"/>
              </a:rPr>
              <a:t>店铺维护</a:t>
            </a:r>
            <a:endParaRPr lang="zh-CN" altLang="en-US" sz="5000" b="1" dirty="0">
              <a:solidFill>
                <a:schemeClr val="accent1"/>
              </a:solidFill>
              <a:latin typeface="Impact" panose="020B0806030902050204" pitchFamily="34" charset="0"/>
              <a:ea typeface="微软雅黑" panose="020B0503020204020204" charset="-122"/>
              <a:sym typeface="方正大黑简体" pitchFamily="65" charset="-122"/>
            </a:endParaRPr>
          </a:p>
        </p:txBody>
      </p:sp>
      <p:sp>
        <p:nvSpPr>
          <p:cNvPr id="4" name="前言"/>
          <p:cNvSpPr>
            <a:spLocks noChangeArrowheads="1"/>
          </p:cNvSpPr>
          <p:nvPr/>
        </p:nvSpPr>
        <p:spPr bwMode="auto">
          <a:xfrm>
            <a:off x="7232449" y="3571148"/>
            <a:ext cx="16052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a:spcBef>
                <a:spcPct val="0"/>
              </a:spcBef>
              <a:buNone/>
            </a:pPr>
            <a:r>
              <a:rPr lang="zh-CN" altLang="en-US" sz="2800" dirty="0">
                <a:solidFill>
                  <a:schemeClr val="bg1">
                    <a:lumMod val="50000"/>
                  </a:schemeClr>
                </a:solidFill>
                <a:latin typeface="Impact" panose="020B0806030902050204" pitchFamily="34" charset="0"/>
              </a:rPr>
              <a:t>风险把控</a:t>
            </a:r>
            <a:endParaRPr lang="zh-CN" altLang="en-US" sz="2800" dirty="0">
              <a:solidFill>
                <a:schemeClr val="bg1">
                  <a:lumMod val="50000"/>
                </a:schemeClr>
              </a:solidFill>
              <a:latin typeface="Impact" panose="020B0806030902050204" pitchFamily="34" charset="0"/>
            </a:endParaRPr>
          </a:p>
        </p:txBody>
      </p:sp>
      <p:sp>
        <p:nvSpPr>
          <p:cNvPr id="5" name="标题层"/>
          <p:cNvSpPr txBox="1"/>
          <p:nvPr/>
        </p:nvSpPr>
        <p:spPr bwMode="auto">
          <a:xfrm>
            <a:off x="1620254" y="2440205"/>
            <a:ext cx="2621247" cy="1967230"/>
          </a:xfrm>
          <a:prstGeom prst="rect">
            <a:avLst/>
          </a:prstGeom>
          <a:noFill/>
          <a:effectLst/>
        </p:spPr>
        <p:txBody>
          <a:bodyPr wrap="square" lIns="121908" tIns="60954" rIns="121908" bIns="60954">
            <a:spAutoFit/>
          </a:bodyPr>
          <a:lstStyle/>
          <a:p>
            <a:pPr algn="r" defTabSz="1218565">
              <a:defRPr/>
            </a:pPr>
            <a:r>
              <a:rPr lang="en-US" altLang="zh-CN" sz="12000" kern="0" dirty="0">
                <a:solidFill>
                  <a:schemeClr val="tx2"/>
                </a:solidFill>
                <a:latin typeface="Impact" panose="020B0806030902050204" pitchFamily="34" charset="0"/>
                <a:ea typeface="微软雅黑" panose="020B0503020204020204" charset="-122"/>
                <a:cs typeface="Arial" panose="020B0604020202020204" pitchFamily="34" charset="0"/>
              </a:rPr>
              <a:t>0</a:t>
            </a:r>
            <a:r>
              <a:rPr lang="en-US" altLang="zh-CN" sz="12000" kern="0" dirty="0" smtClean="0">
                <a:solidFill>
                  <a:schemeClr val="bg2"/>
                </a:solidFill>
                <a:latin typeface="Impact" panose="020B0806030902050204" pitchFamily="34" charset="0"/>
                <a:ea typeface="微软雅黑" panose="020B0503020204020204" charset="-122"/>
                <a:cs typeface="Arial" panose="020B0604020202020204" pitchFamily="34" charset="0"/>
                <a:sym typeface="+mn-ea"/>
              </a:rPr>
              <a:t>4</a:t>
            </a:r>
            <a:endParaRPr lang="zh-CN" altLang="en-US" sz="12000" kern="0" dirty="0">
              <a:solidFill>
                <a:schemeClr val="bg2"/>
              </a:solidFill>
              <a:latin typeface="Impact" panose="020B0806030902050204" pitchFamily="34" charset="0"/>
              <a:ea typeface="微软雅黑" panose="020B0503020204020204" charset="-122"/>
              <a:cs typeface="Arial" panose="020B0604020202020204" pitchFamily="34" charset="0"/>
            </a:endParaRPr>
          </a:p>
        </p:txBody>
      </p:sp>
      <p:sp>
        <p:nvSpPr>
          <p:cNvPr id="2" name="矩形 1"/>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25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400" fill="hold"/>
                                        <p:tgtEl>
                                          <p:spTgt spid="5"/>
                                        </p:tgtEl>
                                        <p:attrNameLst>
                                          <p:attrName>ppt_x</p:attrName>
                                        </p:attrNameLst>
                                      </p:cBhvr>
                                      <p:tavLst>
                                        <p:tav tm="0">
                                          <p:val>
                                            <p:strVal val="0-#ppt_w/2"/>
                                          </p:val>
                                        </p:tav>
                                        <p:tav tm="100000">
                                          <p:val>
                                            <p:strVal val="#ppt_x"/>
                                          </p:val>
                                        </p:tav>
                                      </p:tavLst>
                                    </p:anim>
                                    <p:anim calcmode="lin" valueType="num">
                                      <p:cBhvr additive="base">
                                        <p:cTn id="8" dur="4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1+#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ounded Rectangle 34"/>
          <p:cNvSpPr/>
          <p:nvPr/>
        </p:nvSpPr>
        <p:spPr>
          <a:xfrm>
            <a:off x="8090591" y="1817062"/>
            <a:ext cx="604616" cy="6046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en-US" sz="1600" dirty="0">
              <a:latin typeface="+mn-ea"/>
              <a:cs typeface="+mn-ea"/>
            </a:endParaRPr>
          </a:p>
        </p:txBody>
      </p:sp>
      <p:sp>
        <p:nvSpPr>
          <p:cNvPr id="36" name="Rounded Rectangle 35"/>
          <p:cNvSpPr/>
          <p:nvPr/>
        </p:nvSpPr>
        <p:spPr>
          <a:xfrm>
            <a:off x="4794029" y="3940090"/>
            <a:ext cx="604616" cy="604695"/>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405" dirty="0">
              <a:solidFill>
                <a:schemeClr val="bg1"/>
              </a:solidFill>
              <a:latin typeface="+mn-ea"/>
              <a:cs typeface="+mn-ea"/>
            </a:endParaRPr>
          </a:p>
        </p:txBody>
      </p:sp>
      <p:sp>
        <p:nvSpPr>
          <p:cNvPr id="45" name="Rounded Rectangle 44"/>
          <p:cNvSpPr/>
          <p:nvPr/>
        </p:nvSpPr>
        <p:spPr>
          <a:xfrm>
            <a:off x="4794029" y="1817063"/>
            <a:ext cx="604616" cy="6046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405" dirty="0">
              <a:solidFill>
                <a:schemeClr val="bg1"/>
              </a:solidFill>
              <a:latin typeface="+mn-ea"/>
              <a:cs typeface="+mn-ea"/>
            </a:endParaRPr>
          </a:p>
        </p:txBody>
      </p:sp>
      <p:sp>
        <p:nvSpPr>
          <p:cNvPr id="46" name="Rounded Rectangle 45"/>
          <p:cNvSpPr/>
          <p:nvPr/>
        </p:nvSpPr>
        <p:spPr>
          <a:xfrm>
            <a:off x="1411778" y="3940090"/>
            <a:ext cx="604616" cy="6046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en-US" sz="1600" dirty="0">
              <a:solidFill>
                <a:srgbClr val="FFFFFF"/>
              </a:solidFill>
              <a:latin typeface="+mn-ea"/>
              <a:cs typeface="+mn-ea"/>
            </a:endParaRPr>
          </a:p>
        </p:txBody>
      </p:sp>
      <p:sp>
        <p:nvSpPr>
          <p:cNvPr id="47" name="Rounded Rectangle 46"/>
          <p:cNvSpPr/>
          <p:nvPr/>
        </p:nvSpPr>
        <p:spPr>
          <a:xfrm>
            <a:off x="8090591" y="3938826"/>
            <a:ext cx="604616" cy="604695"/>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400" dirty="0">
              <a:solidFill>
                <a:schemeClr val="bg1"/>
              </a:solidFill>
              <a:latin typeface="+mn-ea"/>
              <a:cs typeface="+mn-ea"/>
            </a:endParaRPr>
          </a:p>
        </p:txBody>
      </p:sp>
      <p:sp>
        <p:nvSpPr>
          <p:cNvPr id="48" name="Rounded Rectangle 47"/>
          <p:cNvSpPr/>
          <p:nvPr/>
        </p:nvSpPr>
        <p:spPr>
          <a:xfrm>
            <a:off x="1411781" y="1817063"/>
            <a:ext cx="604616" cy="6046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600" dirty="0">
              <a:solidFill>
                <a:schemeClr val="bg1"/>
              </a:solidFill>
              <a:latin typeface="+mn-ea"/>
              <a:cs typeface="+mn-ea"/>
            </a:endParaRPr>
          </a:p>
        </p:txBody>
      </p:sp>
      <p:sp>
        <p:nvSpPr>
          <p:cNvPr id="49" name="TextBox 48"/>
          <p:cNvSpPr txBox="1"/>
          <p:nvPr/>
        </p:nvSpPr>
        <p:spPr>
          <a:xfrm>
            <a:off x="2161647" y="2026085"/>
            <a:ext cx="1768390" cy="215265"/>
          </a:xfrm>
          <a:prstGeom prst="rect">
            <a:avLst/>
          </a:prstGeom>
          <a:noFill/>
        </p:spPr>
        <p:txBody>
          <a:bodyPr wrap="square" lIns="0" tIns="0" rIns="0" bIns="0" rtlCol="0" anchor="ctr">
            <a:spAutoFit/>
          </a:bodyPr>
          <a:lstStyle/>
          <a:p>
            <a:r>
              <a:rPr lang="zh-CN" altLang="en-US" sz="1400">
                <a:solidFill>
                  <a:schemeClr val="tx1">
                    <a:lumMod val="50000"/>
                    <a:lumOff val="50000"/>
                  </a:schemeClr>
                </a:solidFill>
                <a:latin typeface="+mn-ea"/>
                <a:cs typeface="+mn-ea"/>
                <a:sym typeface="+mn-ea"/>
              </a:rPr>
              <a:t>关注你的产品。</a:t>
            </a:r>
            <a:endParaRPr lang="en-AU" sz="1400" dirty="0">
              <a:solidFill>
                <a:schemeClr val="accent6"/>
              </a:solidFill>
              <a:latin typeface="+mn-ea"/>
              <a:cs typeface="+mn-ea"/>
            </a:endParaRPr>
          </a:p>
        </p:txBody>
      </p:sp>
      <p:sp>
        <p:nvSpPr>
          <p:cNvPr id="50" name="Text Placeholder 32"/>
          <p:cNvSpPr txBox="1"/>
          <p:nvPr/>
        </p:nvSpPr>
        <p:spPr>
          <a:xfrm>
            <a:off x="1411781" y="2626593"/>
            <a:ext cx="2518257" cy="791985"/>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spcBef>
                <a:spcPts val="0"/>
              </a:spcBef>
              <a:buNone/>
            </a:pPr>
            <a:r>
              <a:rPr lang="zh-CN" altLang="en-US" sz="900">
                <a:solidFill>
                  <a:schemeClr val="tx1">
                    <a:lumMod val="50000"/>
                    <a:lumOff val="50000"/>
                  </a:schemeClr>
                </a:solidFill>
                <a:latin typeface="+mn-ea"/>
                <a:cs typeface="+mn-ea"/>
                <a:sym typeface="+mn-ea"/>
              </a:rPr>
              <a:t>（1）产品质量是销量的保证，也是降低投诉率最好的办法。卖家朋友不仅要选择热销的产品，也要关注产品的质量，通过加强入库和出库的管理，提供优质的物流服务，多一个质检人员的投入，多几毛钱包装材料成本，比起退货，差评，A2Z来得更划算一点。</a:t>
            </a:r>
            <a:endParaRPr lang="zh-CN" altLang="en-US" sz="900">
              <a:solidFill>
                <a:schemeClr val="tx1">
                  <a:lumMod val="50000"/>
                  <a:lumOff val="50000"/>
                </a:schemeClr>
              </a:solidFill>
              <a:latin typeface="+mn-ea"/>
              <a:cs typeface="+mn-ea"/>
            </a:endParaRPr>
          </a:p>
          <a:p>
            <a:pPr marL="0" indent="0">
              <a:lnSpc>
                <a:spcPct val="130000"/>
              </a:lnSpc>
              <a:spcBef>
                <a:spcPts val="0"/>
              </a:spcBef>
              <a:buNone/>
            </a:pPr>
            <a:endParaRPr lang="en-US" sz="900" dirty="0">
              <a:solidFill>
                <a:srgbClr val="7F7F7F"/>
              </a:solidFill>
              <a:latin typeface="+mn-ea"/>
              <a:cs typeface="+mn-ea"/>
            </a:endParaRPr>
          </a:p>
        </p:txBody>
      </p:sp>
      <p:sp>
        <p:nvSpPr>
          <p:cNvPr id="51" name="TextBox 50"/>
          <p:cNvSpPr txBox="1"/>
          <p:nvPr/>
        </p:nvSpPr>
        <p:spPr>
          <a:xfrm>
            <a:off x="5543895" y="2026085"/>
            <a:ext cx="1768390" cy="215265"/>
          </a:xfrm>
          <a:prstGeom prst="rect">
            <a:avLst/>
          </a:prstGeom>
          <a:noFill/>
        </p:spPr>
        <p:txBody>
          <a:bodyPr wrap="square" lIns="0" tIns="0" rIns="0" bIns="0" rtlCol="0" anchor="ctr">
            <a:spAutoFit/>
          </a:bodyPr>
          <a:lstStyle/>
          <a:p>
            <a:r>
              <a:rPr sz="1400" dirty="0">
                <a:solidFill>
                  <a:srgbClr val="7F7F7F"/>
                </a:solidFill>
                <a:latin typeface="+mn-ea"/>
                <a:cs typeface="+mn-ea"/>
                <a:sym typeface="+mn-ea"/>
              </a:rPr>
              <a:t>销售</a:t>
            </a:r>
            <a:r>
              <a:rPr lang="zh-CN" sz="1400" dirty="0">
                <a:solidFill>
                  <a:srgbClr val="7F7F7F"/>
                </a:solidFill>
                <a:latin typeface="+mn-ea"/>
                <a:cs typeface="+mn-ea"/>
                <a:sym typeface="+mn-ea"/>
              </a:rPr>
              <a:t>迅速</a:t>
            </a:r>
            <a:r>
              <a:rPr sz="1400" dirty="0">
                <a:solidFill>
                  <a:srgbClr val="7F7F7F"/>
                </a:solidFill>
                <a:latin typeface="+mn-ea"/>
                <a:cs typeface="+mn-ea"/>
                <a:sym typeface="+mn-ea"/>
              </a:rPr>
              <a:t>增长</a:t>
            </a:r>
            <a:endParaRPr lang="en-AU" sz="1400" dirty="0">
              <a:solidFill>
                <a:schemeClr val="accent6"/>
              </a:solidFill>
              <a:latin typeface="+mn-ea"/>
              <a:cs typeface="+mn-ea"/>
            </a:endParaRPr>
          </a:p>
        </p:txBody>
      </p:sp>
      <p:sp>
        <p:nvSpPr>
          <p:cNvPr id="52" name="Text Placeholder 32"/>
          <p:cNvSpPr txBox="1"/>
          <p:nvPr/>
        </p:nvSpPr>
        <p:spPr>
          <a:xfrm>
            <a:off x="4794032" y="2626593"/>
            <a:ext cx="2518257" cy="791985"/>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spcBef>
                <a:spcPts val="0"/>
              </a:spcBef>
              <a:buNone/>
            </a:pPr>
            <a:r>
              <a:rPr sz="900" dirty="0">
                <a:solidFill>
                  <a:srgbClr val="7F7F7F"/>
                </a:solidFill>
                <a:latin typeface="+mn-ea"/>
                <a:cs typeface="+mn-ea"/>
              </a:rPr>
              <a:t>（2）如果销售增长过快，请保证有足够的feedback支撑。很多卖家抱怨，卖得快也要被审核？! 其实，当短时间销售增长过快，而且没有足够的消费者回馈的时候，则无法保证卖家销售产品情况以及是否真实发货，消费者的利益无法得到保障。因此，稳步增长并不断提高feedback的比例，是冲击旺季销量最有力的保证。</a:t>
            </a:r>
            <a:endParaRPr sz="900" dirty="0">
              <a:solidFill>
                <a:srgbClr val="7F7F7F"/>
              </a:solidFill>
              <a:latin typeface="+mn-ea"/>
              <a:cs typeface="+mn-ea"/>
            </a:endParaRPr>
          </a:p>
        </p:txBody>
      </p:sp>
      <p:sp>
        <p:nvSpPr>
          <p:cNvPr id="53" name="TextBox 52"/>
          <p:cNvSpPr txBox="1"/>
          <p:nvPr/>
        </p:nvSpPr>
        <p:spPr>
          <a:xfrm>
            <a:off x="8840458" y="2026084"/>
            <a:ext cx="1768390" cy="215265"/>
          </a:xfrm>
          <a:prstGeom prst="rect">
            <a:avLst/>
          </a:prstGeom>
          <a:noFill/>
        </p:spPr>
        <p:txBody>
          <a:bodyPr wrap="square" lIns="0" tIns="0" rIns="0" bIns="0" rtlCol="0" anchor="ctr">
            <a:spAutoFit/>
          </a:bodyPr>
          <a:lstStyle/>
          <a:p>
            <a:r>
              <a:rPr lang="zh-CN" altLang="en-AU" sz="1400" dirty="0">
                <a:solidFill>
                  <a:schemeClr val="accent6"/>
                </a:solidFill>
                <a:latin typeface="+mn-ea"/>
                <a:cs typeface="+mn-ea"/>
              </a:rPr>
              <a:t>跟卖</a:t>
            </a:r>
            <a:r>
              <a:rPr lang="en-US" altLang="zh-CN" sz="1400" dirty="0">
                <a:solidFill>
                  <a:schemeClr val="accent6"/>
                </a:solidFill>
                <a:latin typeface="+mn-ea"/>
                <a:cs typeface="+mn-ea"/>
              </a:rPr>
              <a:t>(</a:t>
            </a:r>
            <a:r>
              <a:rPr lang="zh-CN" altLang="en-US" sz="1400" dirty="0">
                <a:solidFill>
                  <a:schemeClr val="accent6"/>
                </a:solidFill>
                <a:latin typeface="+mn-ea"/>
                <a:cs typeface="+mn-ea"/>
              </a:rPr>
              <a:t>不建议</a:t>
            </a:r>
            <a:r>
              <a:rPr lang="en-US" altLang="zh-CN" sz="1400" dirty="0">
                <a:solidFill>
                  <a:schemeClr val="accent6"/>
                </a:solidFill>
                <a:latin typeface="+mn-ea"/>
                <a:cs typeface="+mn-ea"/>
              </a:rPr>
              <a:t>)</a:t>
            </a:r>
            <a:endParaRPr lang="en-US" altLang="zh-CN" sz="1400" dirty="0">
              <a:solidFill>
                <a:schemeClr val="accent6"/>
              </a:solidFill>
              <a:latin typeface="+mn-ea"/>
              <a:cs typeface="+mn-ea"/>
            </a:endParaRPr>
          </a:p>
        </p:txBody>
      </p:sp>
      <p:sp>
        <p:nvSpPr>
          <p:cNvPr id="54" name="Text Placeholder 32"/>
          <p:cNvSpPr txBox="1"/>
          <p:nvPr/>
        </p:nvSpPr>
        <p:spPr>
          <a:xfrm>
            <a:off x="8090592" y="2626593"/>
            <a:ext cx="2518257" cy="791985"/>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spcBef>
                <a:spcPts val="0"/>
              </a:spcBef>
              <a:buNone/>
            </a:pPr>
            <a:r>
              <a:rPr sz="900" dirty="0">
                <a:solidFill>
                  <a:srgbClr val="7F7F7F"/>
                </a:solidFill>
                <a:latin typeface="+mn-ea"/>
                <a:cs typeface="+mn-ea"/>
              </a:rPr>
              <a:t>（3）如果跟卖品牌产品，请确保自己有足够授权。跟卖品牌产品确实非常容易出单，但是容易受到品牌方的投诉，甚至消费者的投诉，此时你需要有足够的文件来证明自己的清白。授权书，收据，发票等包含双方信息的真实文件是你最好的武器。</a:t>
            </a:r>
            <a:endParaRPr sz="900" dirty="0">
              <a:solidFill>
                <a:srgbClr val="7F7F7F"/>
              </a:solidFill>
              <a:latin typeface="+mn-ea"/>
              <a:cs typeface="+mn-ea"/>
            </a:endParaRPr>
          </a:p>
        </p:txBody>
      </p:sp>
      <p:sp>
        <p:nvSpPr>
          <p:cNvPr id="55" name="TextBox 54"/>
          <p:cNvSpPr txBox="1"/>
          <p:nvPr/>
        </p:nvSpPr>
        <p:spPr>
          <a:xfrm>
            <a:off x="2161647" y="4149113"/>
            <a:ext cx="1768390" cy="215265"/>
          </a:xfrm>
          <a:prstGeom prst="rect">
            <a:avLst/>
          </a:prstGeom>
          <a:noFill/>
        </p:spPr>
        <p:txBody>
          <a:bodyPr wrap="square" lIns="0" tIns="0" rIns="0" bIns="0" rtlCol="0" anchor="ctr">
            <a:spAutoFit/>
          </a:bodyPr>
          <a:lstStyle/>
          <a:p>
            <a:r>
              <a:rPr lang="zh-CN" altLang="en-AU" sz="1400" dirty="0">
                <a:solidFill>
                  <a:schemeClr val="accent6"/>
                </a:solidFill>
                <a:latin typeface="+mn-ea"/>
                <a:cs typeface="+mn-ea"/>
              </a:rPr>
              <a:t>产品认证</a:t>
            </a:r>
            <a:endParaRPr lang="zh-CN" altLang="en-AU" sz="1400" dirty="0">
              <a:solidFill>
                <a:schemeClr val="accent6"/>
              </a:solidFill>
              <a:latin typeface="+mn-ea"/>
              <a:cs typeface="+mn-ea"/>
            </a:endParaRPr>
          </a:p>
        </p:txBody>
      </p:sp>
      <p:sp>
        <p:nvSpPr>
          <p:cNvPr id="56" name="Text Placeholder 32"/>
          <p:cNvSpPr txBox="1"/>
          <p:nvPr/>
        </p:nvSpPr>
        <p:spPr>
          <a:xfrm>
            <a:off x="1411781" y="4749621"/>
            <a:ext cx="2518257" cy="791985"/>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spcBef>
                <a:spcPts val="0"/>
              </a:spcBef>
              <a:buNone/>
            </a:pPr>
            <a:r>
              <a:rPr sz="900" dirty="0">
                <a:solidFill>
                  <a:srgbClr val="7F7F7F"/>
                </a:solidFill>
                <a:latin typeface="+mn-ea"/>
                <a:cs typeface="+mn-ea"/>
              </a:rPr>
              <a:t>（4）确保你的产品有符合要求的认证。一些卖家朋友销售列为危险类目产品的时候，会被AMAZON要求提供符合销售国家认证的证书。包括FC,CE ,ROHS等。销售产品时，请先了解该产品在海外国家的认证要求，并提前准备好，以便检查到时提供。</a:t>
            </a:r>
            <a:endParaRPr sz="900" dirty="0">
              <a:solidFill>
                <a:srgbClr val="7F7F7F"/>
              </a:solidFill>
              <a:latin typeface="+mn-ea"/>
              <a:cs typeface="+mn-ea"/>
            </a:endParaRPr>
          </a:p>
        </p:txBody>
      </p:sp>
      <p:sp>
        <p:nvSpPr>
          <p:cNvPr id="57" name="TextBox 56"/>
          <p:cNvSpPr txBox="1"/>
          <p:nvPr/>
        </p:nvSpPr>
        <p:spPr>
          <a:xfrm>
            <a:off x="5543895" y="4149111"/>
            <a:ext cx="1768390" cy="215265"/>
          </a:xfrm>
          <a:prstGeom prst="rect">
            <a:avLst/>
          </a:prstGeom>
          <a:noFill/>
        </p:spPr>
        <p:txBody>
          <a:bodyPr wrap="square" lIns="0" tIns="0" rIns="0" bIns="0" rtlCol="0" anchor="ctr">
            <a:spAutoFit/>
          </a:bodyPr>
          <a:lstStyle/>
          <a:p>
            <a:r>
              <a:rPr lang="zh-CN" altLang="en-AU" sz="1400" dirty="0">
                <a:solidFill>
                  <a:schemeClr val="accent6"/>
                </a:solidFill>
                <a:latin typeface="+mn-ea"/>
                <a:cs typeface="+mn-ea"/>
              </a:rPr>
              <a:t>产品专利</a:t>
            </a:r>
            <a:endParaRPr lang="zh-CN" altLang="en-AU" sz="1400" dirty="0">
              <a:solidFill>
                <a:schemeClr val="accent6"/>
              </a:solidFill>
              <a:latin typeface="+mn-ea"/>
              <a:cs typeface="+mn-ea"/>
            </a:endParaRPr>
          </a:p>
        </p:txBody>
      </p:sp>
      <p:sp>
        <p:nvSpPr>
          <p:cNvPr id="58" name="Text Placeholder 32"/>
          <p:cNvSpPr txBox="1"/>
          <p:nvPr/>
        </p:nvSpPr>
        <p:spPr>
          <a:xfrm>
            <a:off x="4794032" y="4749621"/>
            <a:ext cx="2518257" cy="791985"/>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spcBef>
                <a:spcPts val="0"/>
              </a:spcBef>
              <a:buNone/>
            </a:pPr>
            <a:r>
              <a:rPr sz="900" dirty="0">
                <a:solidFill>
                  <a:srgbClr val="7F7F7F"/>
                </a:solidFill>
                <a:latin typeface="+mn-ea"/>
                <a:cs typeface="+mn-ea"/>
              </a:rPr>
              <a:t>（5）请勿销售山寨产品或者跟售他人专利产品。国外维权意识强烈，任何商标盗用，外观侵权都有可能受到海外品牌商的投诉。</a:t>
            </a:r>
            <a:endParaRPr sz="900" dirty="0">
              <a:solidFill>
                <a:srgbClr val="7F7F7F"/>
              </a:solidFill>
              <a:latin typeface="+mn-ea"/>
              <a:cs typeface="+mn-ea"/>
            </a:endParaRPr>
          </a:p>
        </p:txBody>
      </p:sp>
      <p:sp>
        <p:nvSpPr>
          <p:cNvPr id="59" name="TextBox 58"/>
          <p:cNvSpPr txBox="1"/>
          <p:nvPr/>
        </p:nvSpPr>
        <p:spPr>
          <a:xfrm>
            <a:off x="8840458" y="4149111"/>
            <a:ext cx="1768390" cy="215265"/>
          </a:xfrm>
          <a:prstGeom prst="rect">
            <a:avLst/>
          </a:prstGeom>
          <a:noFill/>
        </p:spPr>
        <p:txBody>
          <a:bodyPr wrap="square" lIns="0" tIns="0" rIns="0" bIns="0" rtlCol="0" anchor="ctr">
            <a:spAutoFit/>
          </a:bodyPr>
          <a:lstStyle/>
          <a:p>
            <a:r>
              <a:rPr lang="zh-CN" altLang="en-US" sz="1400" dirty="0">
                <a:solidFill>
                  <a:schemeClr val="accent6"/>
                </a:solidFill>
                <a:latin typeface="+mn-ea"/>
                <a:cs typeface="+mn-ea"/>
              </a:rPr>
              <a:t>自发货导致</a:t>
            </a:r>
            <a:r>
              <a:rPr lang="en-US" sz="1400" dirty="0">
                <a:solidFill>
                  <a:schemeClr val="accent6"/>
                </a:solidFill>
                <a:latin typeface="+mn-ea"/>
                <a:cs typeface="+mn-ea"/>
              </a:rPr>
              <a:t>ODR</a:t>
            </a:r>
            <a:r>
              <a:rPr lang="zh-CN" altLang="en-US" sz="1400" dirty="0">
                <a:solidFill>
                  <a:schemeClr val="accent6"/>
                </a:solidFill>
                <a:latin typeface="+mn-ea"/>
                <a:cs typeface="+mn-ea"/>
              </a:rPr>
              <a:t>超标</a:t>
            </a:r>
            <a:endParaRPr lang="zh-CN" altLang="en-US" sz="1400" dirty="0">
              <a:solidFill>
                <a:schemeClr val="accent6"/>
              </a:solidFill>
              <a:latin typeface="+mn-ea"/>
              <a:cs typeface="+mn-ea"/>
            </a:endParaRPr>
          </a:p>
        </p:txBody>
      </p:sp>
      <p:sp>
        <p:nvSpPr>
          <p:cNvPr id="60" name="Text Placeholder 32"/>
          <p:cNvSpPr txBox="1"/>
          <p:nvPr/>
        </p:nvSpPr>
        <p:spPr>
          <a:xfrm>
            <a:off x="8090592" y="4749621"/>
            <a:ext cx="2518257" cy="791985"/>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spcBef>
                <a:spcPts val="0"/>
              </a:spcBef>
              <a:buNone/>
            </a:pPr>
            <a:r>
              <a:rPr sz="900" dirty="0">
                <a:solidFill>
                  <a:srgbClr val="7F7F7F"/>
                </a:solidFill>
                <a:latin typeface="+mn-ea"/>
                <a:cs typeface="+mn-ea"/>
              </a:rPr>
              <a:t>（6）降低你的比例。众所周知，Amazon的绩效考核是以比例来计算的，即是你的缺陷订单除以你的销售订单。在出现失误，无法避免分子增长的时候，最好的办法就是快速扩大你的分母，降低比例，以保证账号安全。但是，杜绝分子的发生才是根本之道。</a:t>
            </a:r>
            <a:endParaRPr sz="900" dirty="0">
              <a:solidFill>
                <a:srgbClr val="7F7F7F"/>
              </a:solidFill>
              <a:latin typeface="+mn-ea"/>
              <a:cs typeface="+mn-ea"/>
            </a:endParaRPr>
          </a:p>
        </p:txBody>
      </p:sp>
      <p:grpSp>
        <p:nvGrpSpPr>
          <p:cNvPr id="24" name="组合 23"/>
          <p:cNvGrpSpPr/>
          <p:nvPr/>
        </p:nvGrpSpPr>
        <p:grpSpPr>
          <a:xfrm>
            <a:off x="1573174" y="1965640"/>
            <a:ext cx="281823" cy="278878"/>
            <a:chOff x="9008619" y="1159207"/>
            <a:chExt cx="281860" cy="278878"/>
          </a:xfrm>
          <a:solidFill>
            <a:schemeClr val="bg1"/>
          </a:solidFill>
        </p:grpSpPr>
        <p:sp>
          <p:nvSpPr>
            <p:cNvPr id="25" name="Freeform 157"/>
            <p:cNvSpPr/>
            <p:nvPr/>
          </p:nvSpPr>
          <p:spPr bwMode="auto">
            <a:xfrm>
              <a:off x="9199508" y="1159207"/>
              <a:ext cx="90971" cy="90971"/>
            </a:xfrm>
            <a:custGeom>
              <a:avLst/>
              <a:gdLst>
                <a:gd name="T0" fmla="*/ 31 w 42"/>
                <a:gd name="T1" fmla="*/ 39 h 42"/>
                <a:gd name="T2" fmla="*/ 22 w 42"/>
                <a:gd name="T3" fmla="*/ 39 h 42"/>
                <a:gd name="T4" fmla="*/ 3 w 42"/>
                <a:gd name="T5" fmla="*/ 20 h 42"/>
                <a:gd name="T6" fmla="*/ 3 w 42"/>
                <a:gd name="T7" fmla="*/ 10 h 42"/>
                <a:gd name="T8" fmla="*/ 10 w 42"/>
                <a:gd name="T9" fmla="*/ 3 h 42"/>
                <a:gd name="T10" fmla="*/ 20 w 42"/>
                <a:gd name="T11" fmla="*/ 3 h 42"/>
                <a:gd name="T12" fmla="*/ 39 w 42"/>
                <a:gd name="T13" fmla="*/ 22 h 42"/>
                <a:gd name="T14" fmla="*/ 39 w 42"/>
                <a:gd name="T15" fmla="*/ 31 h 42"/>
                <a:gd name="T16" fmla="*/ 31 w 42"/>
                <a:gd name="T17" fmla="*/ 3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42">
                  <a:moveTo>
                    <a:pt x="31" y="39"/>
                  </a:moveTo>
                  <a:cubicBezTo>
                    <a:pt x="29" y="42"/>
                    <a:pt x="25" y="42"/>
                    <a:pt x="22" y="39"/>
                  </a:cubicBezTo>
                  <a:cubicBezTo>
                    <a:pt x="3" y="20"/>
                    <a:pt x="3" y="20"/>
                    <a:pt x="3" y="20"/>
                  </a:cubicBezTo>
                  <a:cubicBezTo>
                    <a:pt x="0" y="17"/>
                    <a:pt x="0" y="13"/>
                    <a:pt x="3" y="10"/>
                  </a:cubicBezTo>
                  <a:cubicBezTo>
                    <a:pt x="10" y="3"/>
                    <a:pt x="10" y="3"/>
                    <a:pt x="10" y="3"/>
                  </a:cubicBezTo>
                  <a:cubicBezTo>
                    <a:pt x="13" y="0"/>
                    <a:pt x="17" y="0"/>
                    <a:pt x="20" y="3"/>
                  </a:cubicBezTo>
                  <a:cubicBezTo>
                    <a:pt x="39" y="22"/>
                    <a:pt x="39" y="22"/>
                    <a:pt x="39" y="22"/>
                  </a:cubicBezTo>
                  <a:cubicBezTo>
                    <a:pt x="42" y="25"/>
                    <a:pt x="42" y="29"/>
                    <a:pt x="39" y="31"/>
                  </a:cubicBezTo>
                  <a:lnTo>
                    <a:pt x="31"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endParaRPr>
            </a:p>
          </p:txBody>
        </p:sp>
        <p:sp>
          <p:nvSpPr>
            <p:cNvPr id="26" name="Freeform 158"/>
            <p:cNvSpPr/>
            <p:nvPr/>
          </p:nvSpPr>
          <p:spPr bwMode="auto">
            <a:xfrm>
              <a:off x="9041428" y="1203946"/>
              <a:ext cx="202820" cy="204312"/>
            </a:xfrm>
            <a:custGeom>
              <a:avLst/>
              <a:gdLst>
                <a:gd name="T0" fmla="*/ 29 w 94"/>
                <a:gd name="T1" fmla="*/ 94 h 94"/>
                <a:gd name="T2" fmla="*/ 91 w 94"/>
                <a:gd name="T3" fmla="*/ 31 h 94"/>
                <a:gd name="T4" fmla="*/ 91 w 94"/>
                <a:gd name="T5" fmla="*/ 22 h 94"/>
                <a:gd name="T6" fmla="*/ 72 w 94"/>
                <a:gd name="T7" fmla="*/ 3 h 94"/>
                <a:gd name="T8" fmla="*/ 63 w 94"/>
                <a:gd name="T9" fmla="*/ 3 h 94"/>
                <a:gd name="T10" fmla="*/ 0 w 94"/>
                <a:gd name="T11" fmla="*/ 65 h 94"/>
                <a:gd name="T12" fmla="*/ 29 w 94"/>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94" h="94">
                  <a:moveTo>
                    <a:pt x="29" y="94"/>
                  </a:moveTo>
                  <a:cubicBezTo>
                    <a:pt x="91" y="31"/>
                    <a:pt x="91" y="31"/>
                    <a:pt x="91" y="31"/>
                  </a:cubicBezTo>
                  <a:cubicBezTo>
                    <a:pt x="94" y="29"/>
                    <a:pt x="94" y="24"/>
                    <a:pt x="91" y="22"/>
                  </a:cubicBezTo>
                  <a:cubicBezTo>
                    <a:pt x="72" y="3"/>
                    <a:pt x="72" y="3"/>
                    <a:pt x="72" y="3"/>
                  </a:cubicBezTo>
                  <a:cubicBezTo>
                    <a:pt x="69" y="0"/>
                    <a:pt x="65" y="0"/>
                    <a:pt x="63" y="3"/>
                  </a:cubicBezTo>
                  <a:cubicBezTo>
                    <a:pt x="0" y="65"/>
                    <a:pt x="0" y="65"/>
                    <a:pt x="0" y="65"/>
                  </a:cubicBezTo>
                  <a:lnTo>
                    <a:pt x="29" y="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endParaRPr>
            </a:p>
          </p:txBody>
        </p:sp>
        <p:sp>
          <p:nvSpPr>
            <p:cNvPr id="27" name="Freeform 159"/>
            <p:cNvSpPr/>
            <p:nvPr/>
          </p:nvSpPr>
          <p:spPr bwMode="auto">
            <a:xfrm>
              <a:off x="9008619" y="1393345"/>
              <a:ext cx="46231" cy="44740"/>
            </a:xfrm>
            <a:custGeom>
              <a:avLst/>
              <a:gdLst>
                <a:gd name="T0" fmla="*/ 9 w 31"/>
                <a:gd name="T1" fmla="*/ 0 h 30"/>
                <a:gd name="T2" fmla="*/ 9 w 31"/>
                <a:gd name="T3" fmla="*/ 2 h 30"/>
                <a:gd name="T4" fmla="*/ 0 w 31"/>
                <a:gd name="T5" fmla="*/ 30 h 30"/>
                <a:gd name="T6" fmla="*/ 28 w 31"/>
                <a:gd name="T7" fmla="*/ 21 h 30"/>
                <a:gd name="T8" fmla="*/ 31 w 31"/>
                <a:gd name="T9" fmla="*/ 21 h 30"/>
                <a:gd name="T10" fmla="*/ 9 w 31"/>
                <a:gd name="T11" fmla="*/ 0 h 30"/>
              </a:gdLst>
              <a:ahLst/>
              <a:cxnLst>
                <a:cxn ang="0">
                  <a:pos x="T0" y="T1"/>
                </a:cxn>
                <a:cxn ang="0">
                  <a:pos x="T2" y="T3"/>
                </a:cxn>
                <a:cxn ang="0">
                  <a:pos x="T4" y="T5"/>
                </a:cxn>
                <a:cxn ang="0">
                  <a:pos x="T6" y="T7"/>
                </a:cxn>
                <a:cxn ang="0">
                  <a:pos x="T8" y="T9"/>
                </a:cxn>
                <a:cxn ang="0">
                  <a:pos x="T10" y="T11"/>
                </a:cxn>
              </a:cxnLst>
              <a:rect l="0" t="0" r="r" b="b"/>
              <a:pathLst>
                <a:path w="31" h="30">
                  <a:moveTo>
                    <a:pt x="9" y="0"/>
                  </a:moveTo>
                  <a:lnTo>
                    <a:pt x="9" y="2"/>
                  </a:lnTo>
                  <a:lnTo>
                    <a:pt x="0" y="30"/>
                  </a:lnTo>
                  <a:lnTo>
                    <a:pt x="28" y="21"/>
                  </a:lnTo>
                  <a:lnTo>
                    <a:pt x="31" y="21"/>
                  </a:lnTo>
                  <a:lnTo>
                    <a:pt x="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endParaRPr>
            </a:p>
          </p:txBody>
        </p:sp>
      </p:grpSp>
      <p:sp>
        <p:nvSpPr>
          <p:cNvPr id="28" name="Freeform 144"/>
          <p:cNvSpPr/>
          <p:nvPr/>
        </p:nvSpPr>
        <p:spPr bwMode="auto">
          <a:xfrm>
            <a:off x="4950951" y="1947744"/>
            <a:ext cx="290770" cy="314670"/>
          </a:xfrm>
          <a:custGeom>
            <a:avLst/>
            <a:gdLst>
              <a:gd name="T0" fmla="*/ 126 w 134"/>
              <a:gd name="T1" fmla="*/ 100 h 145"/>
              <a:gd name="T2" fmla="*/ 83 w 134"/>
              <a:gd name="T3" fmla="*/ 88 h 145"/>
              <a:gd name="T4" fmla="*/ 85 w 134"/>
              <a:gd name="T5" fmla="*/ 77 h 145"/>
              <a:gd name="T6" fmla="*/ 91 w 134"/>
              <a:gd name="T7" fmla="*/ 69 h 145"/>
              <a:gd name="T8" fmla="*/ 92 w 134"/>
              <a:gd name="T9" fmla="*/ 60 h 145"/>
              <a:gd name="T10" fmla="*/ 94 w 134"/>
              <a:gd name="T11" fmla="*/ 60 h 145"/>
              <a:gd name="T12" fmla="*/ 97 w 134"/>
              <a:gd name="T13" fmla="*/ 58 h 145"/>
              <a:gd name="T14" fmla="*/ 98 w 134"/>
              <a:gd name="T15" fmla="*/ 43 h 145"/>
              <a:gd name="T16" fmla="*/ 96 w 134"/>
              <a:gd name="T17" fmla="*/ 40 h 145"/>
              <a:gd name="T18" fmla="*/ 94 w 134"/>
              <a:gd name="T19" fmla="*/ 40 h 145"/>
              <a:gd name="T20" fmla="*/ 95 w 134"/>
              <a:gd name="T21" fmla="*/ 32 h 145"/>
              <a:gd name="T22" fmla="*/ 90 w 134"/>
              <a:gd name="T23" fmla="*/ 10 h 145"/>
              <a:gd name="T24" fmla="*/ 44 w 134"/>
              <a:gd name="T25" fmla="*/ 10 h 145"/>
              <a:gd name="T26" fmla="*/ 39 w 134"/>
              <a:gd name="T27" fmla="*/ 32 h 145"/>
              <a:gd name="T28" fmla="*/ 40 w 134"/>
              <a:gd name="T29" fmla="*/ 40 h 145"/>
              <a:gd name="T30" fmla="*/ 38 w 134"/>
              <a:gd name="T31" fmla="*/ 40 h 145"/>
              <a:gd name="T32" fmla="*/ 35 w 134"/>
              <a:gd name="T33" fmla="*/ 43 h 145"/>
              <a:gd name="T34" fmla="*/ 37 w 134"/>
              <a:gd name="T35" fmla="*/ 58 h 145"/>
              <a:gd name="T36" fmla="*/ 40 w 134"/>
              <a:gd name="T37" fmla="*/ 60 h 145"/>
              <a:gd name="T38" fmla="*/ 42 w 134"/>
              <a:gd name="T39" fmla="*/ 60 h 145"/>
              <a:gd name="T40" fmla="*/ 43 w 134"/>
              <a:gd name="T41" fmla="*/ 69 h 145"/>
              <a:gd name="T42" fmla="*/ 49 w 134"/>
              <a:gd name="T43" fmla="*/ 77 h 145"/>
              <a:gd name="T44" fmla="*/ 50 w 134"/>
              <a:gd name="T45" fmla="*/ 88 h 145"/>
              <a:gd name="T46" fmla="*/ 8 w 134"/>
              <a:gd name="T47" fmla="*/ 100 h 145"/>
              <a:gd name="T48" fmla="*/ 1 w 134"/>
              <a:gd name="T49" fmla="*/ 113 h 145"/>
              <a:gd name="T50" fmla="*/ 2 w 134"/>
              <a:gd name="T51" fmla="*/ 129 h 145"/>
              <a:gd name="T52" fmla="*/ 11 w 134"/>
              <a:gd name="T53" fmla="*/ 139 h 145"/>
              <a:gd name="T54" fmla="*/ 123 w 134"/>
              <a:gd name="T55" fmla="*/ 139 h 145"/>
              <a:gd name="T56" fmla="*/ 132 w 134"/>
              <a:gd name="T57" fmla="*/ 129 h 145"/>
              <a:gd name="T58" fmla="*/ 133 w 134"/>
              <a:gd name="T59" fmla="*/ 113 h 145"/>
              <a:gd name="T60" fmla="*/ 126 w 134"/>
              <a:gd name="T61" fmla="*/ 10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4" h="145">
                <a:moveTo>
                  <a:pt x="126" y="100"/>
                </a:moveTo>
                <a:cubicBezTo>
                  <a:pt x="113" y="93"/>
                  <a:pt x="98" y="89"/>
                  <a:pt x="83" y="88"/>
                </a:cubicBezTo>
                <a:cubicBezTo>
                  <a:pt x="84" y="84"/>
                  <a:pt x="84" y="81"/>
                  <a:pt x="85" y="77"/>
                </a:cubicBezTo>
                <a:cubicBezTo>
                  <a:pt x="88" y="75"/>
                  <a:pt x="91" y="72"/>
                  <a:pt x="91" y="69"/>
                </a:cubicBezTo>
                <a:cubicBezTo>
                  <a:pt x="91" y="66"/>
                  <a:pt x="92" y="63"/>
                  <a:pt x="92" y="60"/>
                </a:cubicBezTo>
                <a:cubicBezTo>
                  <a:pt x="92" y="60"/>
                  <a:pt x="93" y="60"/>
                  <a:pt x="94" y="60"/>
                </a:cubicBezTo>
                <a:cubicBezTo>
                  <a:pt x="95" y="61"/>
                  <a:pt x="97" y="59"/>
                  <a:pt x="97" y="58"/>
                </a:cubicBezTo>
                <a:cubicBezTo>
                  <a:pt x="98" y="43"/>
                  <a:pt x="98" y="43"/>
                  <a:pt x="98" y="43"/>
                </a:cubicBezTo>
                <a:cubicBezTo>
                  <a:pt x="98" y="41"/>
                  <a:pt x="97" y="40"/>
                  <a:pt x="96" y="40"/>
                </a:cubicBezTo>
                <a:cubicBezTo>
                  <a:pt x="95" y="40"/>
                  <a:pt x="95" y="40"/>
                  <a:pt x="94" y="40"/>
                </a:cubicBezTo>
                <a:cubicBezTo>
                  <a:pt x="94" y="37"/>
                  <a:pt x="95" y="34"/>
                  <a:pt x="95" y="32"/>
                </a:cubicBezTo>
                <a:cubicBezTo>
                  <a:pt x="95" y="28"/>
                  <a:pt x="97" y="17"/>
                  <a:pt x="90" y="10"/>
                </a:cubicBezTo>
                <a:cubicBezTo>
                  <a:pt x="79" y="0"/>
                  <a:pt x="55" y="0"/>
                  <a:pt x="44" y="10"/>
                </a:cubicBezTo>
                <a:cubicBezTo>
                  <a:pt x="36" y="17"/>
                  <a:pt x="38" y="28"/>
                  <a:pt x="39" y="32"/>
                </a:cubicBezTo>
                <a:cubicBezTo>
                  <a:pt x="39" y="34"/>
                  <a:pt x="39" y="37"/>
                  <a:pt x="40" y="40"/>
                </a:cubicBezTo>
                <a:cubicBezTo>
                  <a:pt x="39" y="40"/>
                  <a:pt x="39" y="40"/>
                  <a:pt x="38" y="40"/>
                </a:cubicBezTo>
                <a:cubicBezTo>
                  <a:pt x="36" y="40"/>
                  <a:pt x="35" y="41"/>
                  <a:pt x="35" y="43"/>
                </a:cubicBezTo>
                <a:cubicBezTo>
                  <a:pt x="37" y="58"/>
                  <a:pt x="37" y="58"/>
                  <a:pt x="37" y="58"/>
                </a:cubicBezTo>
                <a:cubicBezTo>
                  <a:pt x="37" y="59"/>
                  <a:pt x="39" y="61"/>
                  <a:pt x="40" y="60"/>
                </a:cubicBezTo>
                <a:cubicBezTo>
                  <a:pt x="41" y="60"/>
                  <a:pt x="41" y="60"/>
                  <a:pt x="42" y="60"/>
                </a:cubicBezTo>
                <a:cubicBezTo>
                  <a:pt x="42" y="63"/>
                  <a:pt x="43" y="66"/>
                  <a:pt x="43" y="69"/>
                </a:cubicBezTo>
                <a:cubicBezTo>
                  <a:pt x="43" y="72"/>
                  <a:pt x="46" y="75"/>
                  <a:pt x="49" y="77"/>
                </a:cubicBezTo>
                <a:cubicBezTo>
                  <a:pt x="49" y="81"/>
                  <a:pt x="50" y="84"/>
                  <a:pt x="50" y="88"/>
                </a:cubicBezTo>
                <a:cubicBezTo>
                  <a:pt x="36" y="89"/>
                  <a:pt x="21" y="93"/>
                  <a:pt x="8" y="100"/>
                </a:cubicBezTo>
                <a:cubicBezTo>
                  <a:pt x="3" y="102"/>
                  <a:pt x="0" y="108"/>
                  <a:pt x="1" y="113"/>
                </a:cubicBezTo>
                <a:cubicBezTo>
                  <a:pt x="1" y="118"/>
                  <a:pt x="2" y="123"/>
                  <a:pt x="2" y="129"/>
                </a:cubicBezTo>
                <a:cubicBezTo>
                  <a:pt x="3" y="133"/>
                  <a:pt x="7" y="138"/>
                  <a:pt x="11" y="139"/>
                </a:cubicBezTo>
                <a:cubicBezTo>
                  <a:pt x="48" y="145"/>
                  <a:pt x="86" y="145"/>
                  <a:pt x="123" y="139"/>
                </a:cubicBezTo>
                <a:cubicBezTo>
                  <a:pt x="127" y="138"/>
                  <a:pt x="131" y="133"/>
                  <a:pt x="132" y="129"/>
                </a:cubicBezTo>
                <a:cubicBezTo>
                  <a:pt x="132" y="123"/>
                  <a:pt x="133" y="118"/>
                  <a:pt x="133" y="113"/>
                </a:cubicBezTo>
                <a:cubicBezTo>
                  <a:pt x="134" y="108"/>
                  <a:pt x="131" y="102"/>
                  <a:pt x="126" y="100"/>
                </a:cubicBezTo>
                <a:close/>
              </a:path>
            </a:pathLst>
          </a:custGeom>
          <a:solidFill>
            <a:schemeClr val="bg1"/>
          </a:solidFill>
          <a:ln>
            <a:noFill/>
          </a:ln>
        </p:spPr>
        <p:txBody>
          <a:bodyPr vert="horz" wrap="square" lIns="91440" tIns="45720" rIns="91440" bIns="45720" numCol="1" anchor="t" anchorCtr="0" compatLnSpc="1"/>
          <a:lstStyle/>
          <a:p>
            <a:endParaRPr lang="en-US">
              <a:cs typeface="+mn-ea"/>
            </a:endParaRPr>
          </a:p>
        </p:txBody>
      </p:sp>
      <p:grpSp>
        <p:nvGrpSpPr>
          <p:cNvPr id="29" name="组合 28"/>
          <p:cNvGrpSpPr/>
          <p:nvPr/>
        </p:nvGrpSpPr>
        <p:grpSpPr>
          <a:xfrm>
            <a:off x="8242294" y="1947746"/>
            <a:ext cx="301208" cy="281861"/>
            <a:chOff x="8998179" y="446354"/>
            <a:chExt cx="301247" cy="281861"/>
          </a:xfrm>
          <a:solidFill>
            <a:schemeClr val="bg1"/>
          </a:solidFill>
        </p:grpSpPr>
        <p:sp>
          <p:nvSpPr>
            <p:cNvPr id="30" name="Freeform 153"/>
            <p:cNvSpPr/>
            <p:nvPr/>
          </p:nvSpPr>
          <p:spPr bwMode="auto">
            <a:xfrm>
              <a:off x="9013092" y="523903"/>
              <a:ext cx="74566" cy="175976"/>
            </a:xfrm>
            <a:custGeom>
              <a:avLst/>
              <a:gdLst>
                <a:gd name="T0" fmla="*/ 34 w 34"/>
                <a:gd name="T1" fmla="*/ 81 h 81"/>
                <a:gd name="T2" fmla="*/ 34 w 34"/>
                <a:gd name="T3" fmla="*/ 8 h 81"/>
                <a:gd name="T4" fmla="*/ 26 w 34"/>
                <a:gd name="T5" fmla="*/ 0 h 81"/>
                <a:gd name="T6" fmla="*/ 9 w 34"/>
                <a:gd name="T7" fmla="*/ 0 h 81"/>
                <a:gd name="T8" fmla="*/ 0 w 34"/>
                <a:gd name="T9" fmla="*/ 8 h 81"/>
                <a:gd name="T10" fmla="*/ 0 w 34"/>
                <a:gd name="T11" fmla="*/ 81 h 81"/>
                <a:gd name="T12" fmla="*/ 34 w 34"/>
                <a:gd name="T13" fmla="*/ 81 h 81"/>
              </a:gdLst>
              <a:ahLst/>
              <a:cxnLst>
                <a:cxn ang="0">
                  <a:pos x="T0" y="T1"/>
                </a:cxn>
                <a:cxn ang="0">
                  <a:pos x="T2" y="T3"/>
                </a:cxn>
                <a:cxn ang="0">
                  <a:pos x="T4" y="T5"/>
                </a:cxn>
                <a:cxn ang="0">
                  <a:pos x="T6" y="T7"/>
                </a:cxn>
                <a:cxn ang="0">
                  <a:pos x="T8" y="T9"/>
                </a:cxn>
                <a:cxn ang="0">
                  <a:pos x="T10" y="T11"/>
                </a:cxn>
                <a:cxn ang="0">
                  <a:pos x="T12" y="T13"/>
                </a:cxn>
              </a:cxnLst>
              <a:rect l="0" t="0" r="r" b="b"/>
              <a:pathLst>
                <a:path w="34" h="81">
                  <a:moveTo>
                    <a:pt x="34" y="81"/>
                  </a:moveTo>
                  <a:cubicBezTo>
                    <a:pt x="34" y="8"/>
                    <a:pt x="34" y="8"/>
                    <a:pt x="34" y="8"/>
                  </a:cubicBezTo>
                  <a:cubicBezTo>
                    <a:pt x="34" y="4"/>
                    <a:pt x="30" y="0"/>
                    <a:pt x="26" y="0"/>
                  </a:cubicBezTo>
                  <a:cubicBezTo>
                    <a:pt x="9" y="0"/>
                    <a:pt x="9" y="0"/>
                    <a:pt x="9" y="0"/>
                  </a:cubicBezTo>
                  <a:cubicBezTo>
                    <a:pt x="4" y="0"/>
                    <a:pt x="0" y="4"/>
                    <a:pt x="0" y="8"/>
                  </a:cubicBezTo>
                  <a:cubicBezTo>
                    <a:pt x="0" y="81"/>
                    <a:pt x="0" y="81"/>
                    <a:pt x="0" y="81"/>
                  </a:cubicBezTo>
                  <a:lnTo>
                    <a:pt x="34" y="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endParaRPr>
            </a:p>
          </p:txBody>
        </p:sp>
        <p:sp>
          <p:nvSpPr>
            <p:cNvPr id="31" name="Freeform 154"/>
            <p:cNvSpPr/>
            <p:nvPr/>
          </p:nvSpPr>
          <p:spPr bwMode="auto">
            <a:xfrm>
              <a:off x="9113011" y="446354"/>
              <a:ext cx="73075" cy="253525"/>
            </a:xfrm>
            <a:custGeom>
              <a:avLst/>
              <a:gdLst>
                <a:gd name="T0" fmla="*/ 34 w 34"/>
                <a:gd name="T1" fmla="*/ 117 h 117"/>
                <a:gd name="T2" fmla="*/ 34 w 34"/>
                <a:gd name="T3" fmla="*/ 8 h 117"/>
                <a:gd name="T4" fmla="*/ 25 w 34"/>
                <a:gd name="T5" fmla="*/ 0 h 117"/>
                <a:gd name="T6" fmla="*/ 8 w 34"/>
                <a:gd name="T7" fmla="*/ 0 h 117"/>
                <a:gd name="T8" fmla="*/ 0 w 34"/>
                <a:gd name="T9" fmla="*/ 8 h 117"/>
                <a:gd name="T10" fmla="*/ 0 w 34"/>
                <a:gd name="T11" fmla="*/ 117 h 117"/>
                <a:gd name="T12" fmla="*/ 34 w 34"/>
                <a:gd name="T13" fmla="*/ 117 h 117"/>
              </a:gdLst>
              <a:ahLst/>
              <a:cxnLst>
                <a:cxn ang="0">
                  <a:pos x="T0" y="T1"/>
                </a:cxn>
                <a:cxn ang="0">
                  <a:pos x="T2" y="T3"/>
                </a:cxn>
                <a:cxn ang="0">
                  <a:pos x="T4" y="T5"/>
                </a:cxn>
                <a:cxn ang="0">
                  <a:pos x="T6" y="T7"/>
                </a:cxn>
                <a:cxn ang="0">
                  <a:pos x="T8" y="T9"/>
                </a:cxn>
                <a:cxn ang="0">
                  <a:pos x="T10" y="T11"/>
                </a:cxn>
                <a:cxn ang="0">
                  <a:pos x="T12" y="T13"/>
                </a:cxn>
              </a:cxnLst>
              <a:rect l="0" t="0" r="r" b="b"/>
              <a:pathLst>
                <a:path w="34" h="117">
                  <a:moveTo>
                    <a:pt x="34" y="117"/>
                  </a:moveTo>
                  <a:cubicBezTo>
                    <a:pt x="34" y="8"/>
                    <a:pt x="34" y="8"/>
                    <a:pt x="34" y="8"/>
                  </a:cubicBezTo>
                  <a:cubicBezTo>
                    <a:pt x="34" y="4"/>
                    <a:pt x="30" y="0"/>
                    <a:pt x="25" y="0"/>
                  </a:cubicBezTo>
                  <a:cubicBezTo>
                    <a:pt x="8" y="0"/>
                    <a:pt x="8" y="0"/>
                    <a:pt x="8" y="0"/>
                  </a:cubicBezTo>
                  <a:cubicBezTo>
                    <a:pt x="3" y="0"/>
                    <a:pt x="0" y="4"/>
                    <a:pt x="0" y="8"/>
                  </a:cubicBezTo>
                  <a:cubicBezTo>
                    <a:pt x="0" y="117"/>
                    <a:pt x="0" y="117"/>
                    <a:pt x="0" y="117"/>
                  </a:cubicBezTo>
                  <a:lnTo>
                    <a:pt x="34"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endParaRPr>
            </a:p>
          </p:txBody>
        </p:sp>
        <p:sp>
          <p:nvSpPr>
            <p:cNvPr id="32" name="Freeform 155"/>
            <p:cNvSpPr/>
            <p:nvPr/>
          </p:nvSpPr>
          <p:spPr bwMode="auto">
            <a:xfrm>
              <a:off x="9209947" y="564169"/>
              <a:ext cx="74566" cy="135711"/>
            </a:xfrm>
            <a:custGeom>
              <a:avLst/>
              <a:gdLst>
                <a:gd name="T0" fmla="*/ 34 w 34"/>
                <a:gd name="T1" fmla="*/ 63 h 63"/>
                <a:gd name="T2" fmla="*/ 34 w 34"/>
                <a:gd name="T3" fmla="*/ 8 h 63"/>
                <a:gd name="T4" fmla="*/ 25 w 34"/>
                <a:gd name="T5" fmla="*/ 0 h 63"/>
                <a:gd name="T6" fmla="*/ 8 w 34"/>
                <a:gd name="T7" fmla="*/ 0 h 63"/>
                <a:gd name="T8" fmla="*/ 0 w 34"/>
                <a:gd name="T9" fmla="*/ 8 h 63"/>
                <a:gd name="T10" fmla="*/ 0 w 34"/>
                <a:gd name="T11" fmla="*/ 63 h 63"/>
                <a:gd name="T12" fmla="*/ 34 w 34"/>
                <a:gd name="T13" fmla="*/ 63 h 63"/>
              </a:gdLst>
              <a:ahLst/>
              <a:cxnLst>
                <a:cxn ang="0">
                  <a:pos x="T0" y="T1"/>
                </a:cxn>
                <a:cxn ang="0">
                  <a:pos x="T2" y="T3"/>
                </a:cxn>
                <a:cxn ang="0">
                  <a:pos x="T4" y="T5"/>
                </a:cxn>
                <a:cxn ang="0">
                  <a:pos x="T6" y="T7"/>
                </a:cxn>
                <a:cxn ang="0">
                  <a:pos x="T8" y="T9"/>
                </a:cxn>
                <a:cxn ang="0">
                  <a:pos x="T10" y="T11"/>
                </a:cxn>
                <a:cxn ang="0">
                  <a:pos x="T12" y="T13"/>
                </a:cxn>
              </a:cxnLst>
              <a:rect l="0" t="0" r="r" b="b"/>
              <a:pathLst>
                <a:path w="34" h="63">
                  <a:moveTo>
                    <a:pt x="34" y="63"/>
                  </a:moveTo>
                  <a:cubicBezTo>
                    <a:pt x="34" y="8"/>
                    <a:pt x="34" y="8"/>
                    <a:pt x="34" y="8"/>
                  </a:cubicBezTo>
                  <a:cubicBezTo>
                    <a:pt x="34" y="4"/>
                    <a:pt x="30" y="0"/>
                    <a:pt x="25" y="0"/>
                  </a:cubicBezTo>
                  <a:cubicBezTo>
                    <a:pt x="8" y="0"/>
                    <a:pt x="8" y="0"/>
                    <a:pt x="8" y="0"/>
                  </a:cubicBezTo>
                  <a:cubicBezTo>
                    <a:pt x="4" y="0"/>
                    <a:pt x="0" y="4"/>
                    <a:pt x="0" y="8"/>
                  </a:cubicBezTo>
                  <a:cubicBezTo>
                    <a:pt x="0" y="63"/>
                    <a:pt x="0" y="63"/>
                    <a:pt x="0" y="63"/>
                  </a:cubicBezTo>
                  <a:lnTo>
                    <a:pt x="34" y="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endParaRPr>
            </a:p>
          </p:txBody>
        </p:sp>
        <p:sp>
          <p:nvSpPr>
            <p:cNvPr id="33" name="Rectangle 156"/>
            <p:cNvSpPr>
              <a:spLocks noChangeArrowheads="1"/>
            </p:cNvSpPr>
            <p:nvPr/>
          </p:nvSpPr>
          <p:spPr bwMode="auto">
            <a:xfrm>
              <a:off x="8998179" y="708827"/>
              <a:ext cx="301247" cy="193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cs typeface="+mn-ea"/>
              </a:endParaRPr>
            </a:p>
          </p:txBody>
        </p:sp>
      </p:grpSp>
      <p:sp>
        <p:nvSpPr>
          <p:cNvPr id="34" name="Freeform 92"/>
          <p:cNvSpPr>
            <a:spLocks noEditPoints="1"/>
          </p:cNvSpPr>
          <p:nvPr/>
        </p:nvSpPr>
        <p:spPr bwMode="auto">
          <a:xfrm>
            <a:off x="8232602" y="4077871"/>
            <a:ext cx="320593" cy="326600"/>
          </a:xfrm>
          <a:custGeom>
            <a:avLst/>
            <a:gdLst>
              <a:gd name="T0" fmla="*/ 143 w 148"/>
              <a:gd name="T1" fmla="*/ 130 h 151"/>
              <a:gd name="T2" fmla="*/ 100 w 148"/>
              <a:gd name="T3" fmla="*/ 86 h 151"/>
              <a:gd name="T4" fmla="*/ 110 w 148"/>
              <a:gd name="T5" fmla="*/ 55 h 151"/>
              <a:gd name="T6" fmla="*/ 55 w 148"/>
              <a:gd name="T7" fmla="*/ 0 h 151"/>
              <a:gd name="T8" fmla="*/ 0 w 148"/>
              <a:gd name="T9" fmla="*/ 55 h 151"/>
              <a:gd name="T10" fmla="*/ 55 w 148"/>
              <a:gd name="T11" fmla="*/ 109 h 151"/>
              <a:gd name="T12" fmla="*/ 81 w 148"/>
              <a:gd name="T13" fmla="*/ 103 h 151"/>
              <a:gd name="T14" fmla="*/ 126 w 148"/>
              <a:gd name="T15" fmla="*/ 147 h 151"/>
              <a:gd name="T16" fmla="*/ 143 w 148"/>
              <a:gd name="T17" fmla="*/ 147 h 151"/>
              <a:gd name="T18" fmla="*/ 143 w 148"/>
              <a:gd name="T19" fmla="*/ 130 h 151"/>
              <a:gd name="T20" fmla="*/ 19 w 148"/>
              <a:gd name="T21" fmla="*/ 55 h 151"/>
              <a:gd name="T22" fmla="*/ 55 w 148"/>
              <a:gd name="T23" fmla="*/ 18 h 151"/>
              <a:gd name="T24" fmla="*/ 92 w 148"/>
              <a:gd name="T25" fmla="*/ 55 h 151"/>
              <a:gd name="T26" fmla="*/ 55 w 148"/>
              <a:gd name="T27" fmla="*/ 91 h 151"/>
              <a:gd name="T28" fmla="*/ 19 w 148"/>
              <a:gd name="T29" fmla="*/ 5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8" h="151">
                <a:moveTo>
                  <a:pt x="143" y="130"/>
                </a:moveTo>
                <a:cubicBezTo>
                  <a:pt x="100" y="86"/>
                  <a:pt x="100" y="86"/>
                  <a:pt x="100" y="86"/>
                </a:cubicBezTo>
                <a:cubicBezTo>
                  <a:pt x="106" y="77"/>
                  <a:pt x="110" y="67"/>
                  <a:pt x="110" y="55"/>
                </a:cubicBezTo>
                <a:cubicBezTo>
                  <a:pt x="110" y="24"/>
                  <a:pt x="85" y="0"/>
                  <a:pt x="55" y="0"/>
                </a:cubicBezTo>
                <a:cubicBezTo>
                  <a:pt x="25" y="0"/>
                  <a:pt x="0" y="24"/>
                  <a:pt x="0" y="55"/>
                </a:cubicBezTo>
                <a:cubicBezTo>
                  <a:pt x="0" y="85"/>
                  <a:pt x="25" y="109"/>
                  <a:pt x="55" y="109"/>
                </a:cubicBezTo>
                <a:cubicBezTo>
                  <a:pt x="65" y="109"/>
                  <a:pt x="74" y="107"/>
                  <a:pt x="81" y="103"/>
                </a:cubicBezTo>
                <a:cubicBezTo>
                  <a:pt x="126" y="147"/>
                  <a:pt x="126" y="147"/>
                  <a:pt x="126" y="147"/>
                </a:cubicBezTo>
                <a:cubicBezTo>
                  <a:pt x="130" y="151"/>
                  <a:pt x="138" y="151"/>
                  <a:pt x="143" y="147"/>
                </a:cubicBezTo>
                <a:cubicBezTo>
                  <a:pt x="148" y="142"/>
                  <a:pt x="148" y="134"/>
                  <a:pt x="143" y="130"/>
                </a:cubicBezTo>
                <a:close/>
                <a:moveTo>
                  <a:pt x="19" y="55"/>
                </a:moveTo>
                <a:cubicBezTo>
                  <a:pt x="19" y="34"/>
                  <a:pt x="35" y="18"/>
                  <a:pt x="55" y="18"/>
                </a:cubicBezTo>
                <a:cubicBezTo>
                  <a:pt x="75" y="18"/>
                  <a:pt x="92" y="34"/>
                  <a:pt x="92" y="55"/>
                </a:cubicBezTo>
                <a:cubicBezTo>
                  <a:pt x="92" y="75"/>
                  <a:pt x="75" y="91"/>
                  <a:pt x="55" y="91"/>
                </a:cubicBezTo>
                <a:cubicBezTo>
                  <a:pt x="35" y="91"/>
                  <a:pt x="19" y="75"/>
                  <a:pt x="19" y="55"/>
                </a:cubicBezTo>
                <a:close/>
              </a:path>
            </a:pathLst>
          </a:custGeom>
          <a:solidFill>
            <a:schemeClr val="bg1"/>
          </a:solidFill>
          <a:ln>
            <a:noFill/>
          </a:ln>
        </p:spPr>
        <p:txBody>
          <a:bodyPr vert="horz" wrap="square" lIns="91440" tIns="45720" rIns="91440" bIns="45720" numCol="1" anchor="t" anchorCtr="0" compatLnSpc="1"/>
          <a:lstStyle/>
          <a:p>
            <a:endParaRPr lang="en-US">
              <a:cs typeface="+mn-ea"/>
            </a:endParaRPr>
          </a:p>
        </p:txBody>
      </p:sp>
      <p:grpSp>
        <p:nvGrpSpPr>
          <p:cNvPr id="37" name="组合 36"/>
          <p:cNvGrpSpPr/>
          <p:nvPr/>
        </p:nvGrpSpPr>
        <p:grpSpPr>
          <a:xfrm>
            <a:off x="4960643" y="4066688"/>
            <a:ext cx="271386" cy="348969"/>
            <a:chOff x="8188325" y="5464176"/>
            <a:chExt cx="288925" cy="371475"/>
          </a:xfrm>
          <a:solidFill>
            <a:schemeClr val="bg1"/>
          </a:solidFill>
        </p:grpSpPr>
        <p:sp>
          <p:nvSpPr>
            <p:cNvPr id="38" name="Freeform 324"/>
            <p:cNvSpPr>
              <a:spLocks noEditPoints="1"/>
            </p:cNvSpPr>
            <p:nvPr/>
          </p:nvSpPr>
          <p:spPr bwMode="auto">
            <a:xfrm>
              <a:off x="8226425" y="5464176"/>
              <a:ext cx="214313" cy="107950"/>
            </a:xfrm>
            <a:custGeom>
              <a:avLst/>
              <a:gdLst>
                <a:gd name="T0" fmla="*/ 84 w 93"/>
                <a:gd name="T1" fmla="*/ 10 h 47"/>
                <a:gd name="T2" fmla="*/ 54 w 93"/>
                <a:gd name="T3" fmla="*/ 9 h 47"/>
                <a:gd name="T4" fmla="*/ 46 w 93"/>
                <a:gd name="T5" fmla="*/ 22 h 47"/>
                <a:gd name="T6" fmla="*/ 39 w 93"/>
                <a:gd name="T7" fmla="*/ 9 h 47"/>
                <a:gd name="T8" fmla="*/ 8 w 93"/>
                <a:gd name="T9" fmla="*/ 10 h 47"/>
                <a:gd name="T10" fmla="*/ 13 w 93"/>
                <a:gd name="T11" fmla="*/ 40 h 47"/>
                <a:gd name="T12" fmla="*/ 46 w 93"/>
                <a:gd name="T13" fmla="*/ 46 h 47"/>
                <a:gd name="T14" fmla="*/ 80 w 93"/>
                <a:gd name="T15" fmla="*/ 40 h 47"/>
                <a:gd name="T16" fmla="*/ 84 w 93"/>
                <a:gd name="T17" fmla="*/ 10 h 47"/>
                <a:gd name="T18" fmla="*/ 18 w 93"/>
                <a:gd name="T19" fmla="*/ 34 h 47"/>
                <a:gd name="T20" fmla="*/ 14 w 93"/>
                <a:gd name="T21" fmla="*/ 15 h 47"/>
                <a:gd name="T22" fmla="*/ 34 w 93"/>
                <a:gd name="T23" fmla="*/ 15 h 47"/>
                <a:gd name="T24" fmla="*/ 42 w 93"/>
                <a:gd name="T25" fmla="*/ 39 h 47"/>
                <a:gd name="T26" fmla="*/ 18 w 93"/>
                <a:gd name="T27" fmla="*/ 34 h 47"/>
                <a:gd name="T28" fmla="*/ 75 w 93"/>
                <a:gd name="T29" fmla="*/ 34 h 47"/>
                <a:gd name="T30" fmla="*/ 51 w 93"/>
                <a:gd name="T31" fmla="*/ 39 h 47"/>
                <a:gd name="T32" fmla="*/ 59 w 93"/>
                <a:gd name="T33" fmla="*/ 15 h 47"/>
                <a:gd name="T34" fmla="*/ 78 w 93"/>
                <a:gd name="T35" fmla="*/ 15 h 47"/>
                <a:gd name="T36" fmla="*/ 75 w 93"/>
                <a:gd name="T37" fmla="*/ 3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3" h="47">
                  <a:moveTo>
                    <a:pt x="84" y="10"/>
                  </a:moveTo>
                  <a:cubicBezTo>
                    <a:pt x="75" y="0"/>
                    <a:pt x="62" y="2"/>
                    <a:pt x="54" y="9"/>
                  </a:cubicBezTo>
                  <a:cubicBezTo>
                    <a:pt x="50" y="12"/>
                    <a:pt x="48" y="17"/>
                    <a:pt x="46" y="22"/>
                  </a:cubicBezTo>
                  <a:cubicBezTo>
                    <a:pt x="45" y="17"/>
                    <a:pt x="42" y="12"/>
                    <a:pt x="39" y="9"/>
                  </a:cubicBezTo>
                  <a:cubicBezTo>
                    <a:pt x="31" y="2"/>
                    <a:pt x="17" y="0"/>
                    <a:pt x="8" y="10"/>
                  </a:cubicBezTo>
                  <a:cubicBezTo>
                    <a:pt x="0" y="20"/>
                    <a:pt x="5" y="33"/>
                    <a:pt x="13" y="40"/>
                  </a:cubicBezTo>
                  <a:cubicBezTo>
                    <a:pt x="21" y="47"/>
                    <a:pt x="38" y="47"/>
                    <a:pt x="46" y="46"/>
                  </a:cubicBezTo>
                  <a:cubicBezTo>
                    <a:pt x="55" y="47"/>
                    <a:pt x="72" y="47"/>
                    <a:pt x="80" y="40"/>
                  </a:cubicBezTo>
                  <a:cubicBezTo>
                    <a:pt x="88" y="33"/>
                    <a:pt x="93" y="20"/>
                    <a:pt x="84" y="10"/>
                  </a:cubicBezTo>
                  <a:close/>
                  <a:moveTo>
                    <a:pt x="18" y="34"/>
                  </a:moveTo>
                  <a:cubicBezTo>
                    <a:pt x="13" y="30"/>
                    <a:pt x="8" y="22"/>
                    <a:pt x="14" y="15"/>
                  </a:cubicBezTo>
                  <a:cubicBezTo>
                    <a:pt x="20" y="8"/>
                    <a:pt x="29" y="11"/>
                    <a:pt x="34" y="15"/>
                  </a:cubicBezTo>
                  <a:cubicBezTo>
                    <a:pt x="39" y="19"/>
                    <a:pt x="41" y="31"/>
                    <a:pt x="42" y="39"/>
                  </a:cubicBezTo>
                  <a:cubicBezTo>
                    <a:pt x="34" y="39"/>
                    <a:pt x="23" y="38"/>
                    <a:pt x="18" y="34"/>
                  </a:cubicBezTo>
                  <a:close/>
                  <a:moveTo>
                    <a:pt x="75" y="34"/>
                  </a:moveTo>
                  <a:cubicBezTo>
                    <a:pt x="70" y="38"/>
                    <a:pt x="58" y="39"/>
                    <a:pt x="51" y="39"/>
                  </a:cubicBezTo>
                  <a:cubicBezTo>
                    <a:pt x="52" y="31"/>
                    <a:pt x="54" y="19"/>
                    <a:pt x="59" y="15"/>
                  </a:cubicBezTo>
                  <a:cubicBezTo>
                    <a:pt x="63" y="11"/>
                    <a:pt x="72" y="8"/>
                    <a:pt x="78" y="15"/>
                  </a:cubicBezTo>
                  <a:cubicBezTo>
                    <a:pt x="84" y="22"/>
                    <a:pt x="80" y="30"/>
                    <a:pt x="75"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endParaRPr>
            </a:p>
          </p:txBody>
        </p:sp>
        <p:sp>
          <p:nvSpPr>
            <p:cNvPr id="39" name="Freeform 325"/>
            <p:cNvSpPr/>
            <p:nvPr/>
          </p:nvSpPr>
          <p:spPr bwMode="auto">
            <a:xfrm>
              <a:off x="8196263" y="5581651"/>
              <a:ext cx="104775" cy="76200"/>
            </a:xfrm>
            <a:custGeom>
              <a:avLst/>
              <a:gdLst>
                <a:gd name="T0" fmla="*/ 46 w 46"/>
                <a:gd name="T1" fmla="*/ 0 h 33"/>
                <a:gd name="T2" fmla="*/ 2 w 46"/>
                <a:gd name="T3" fmla="*/ 0 h 33"/>
                <a:gd name="T4" fmla="*/ 0 w 46"/>
                <a:gd name="T5" fmla="*/ 1 h 33"/>
                <a:gd name="T6" fmla="*/ 0 w 46"/>
                <a:gd name="T7" fmla="*/ 32 h 33"/>
                <a:gd name="T8" fmla="*/ 2 w 46"/>
                <a:gd name="T9" fmla="*/ 33 h 33"/>
                <a:gd name="T10" fmla="*/ 46 w 46"/>
                <a:gd name="T11" fmla="*/ 33 h 33"/>
                <a:gd name="T12" fmla="*/ 46 w 46"/>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46" h="33">
                  <a:moveTo>
                    <a:pt x="46" y="0"/>
                  </a:moveTo>
                  <a:cubicBezTo>
                    <a:pt x="2" y="0"/>
                    <a:pt x="2" y="0"/>
                    <a:pt x="2" y="0"/>
                  </a:cubicBezTo>
                  <a:cubicBezTo>
                    <a:pt x="1" y="0"/>
                    <a:pt x="0" y="1"/>
                    <a:pt x="0" y="1"/>
                  </a:cubicBezTo>
                  <a:cubicBezTo>
                    <a:pt x="0" y="32"/>
                    <a:pt x="0" y="32"/>
                    <a:pt x="0" y="32"/>
                  </a:cubicBezTo>
                  <a:cubicBezTo>
                    <a:pt x="0" y="32"/>
                    <a:pt x="1" y="33"/>
                    <a:pt x="2" y="33"/>
                  </a:cubicBezTo>
                  <a:cubicBezTo>
                    <a:pt x="46" y="33"/>
                    <a:pt x="46" y="33"/>
                    <a:pt x="46" y="33"/>
                  </a:cubicBezTo>
                  <a:lnTo>
                    <a:pt x="4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endParaRPr>
            </a:p>
          </p:txBody>
        </p:sp>
        <p:sp>
          <p:nvSpPr>
            <p:cNvPr id="40" name="Freeform 326"/>
            <p:cNvSpPr/>
            <p:nvPr/>
          </p:nvSpPr>
          <p:spPr bwMode="auto">
            <a:xfrm>
              <a:off x="8361363" y="5581651"/>
              <a:ext cx="106363" cy="76200"/>
            </a:xfrm>
            <a:custGeom>
              <a:avLst/>
              <a:gdLst>
                <a:gd name="T0" fmla="*/ 45 w 46"/>
                <a:gd name="T1" fmla="*/ 0 h 33"/>
                <a:gd name="T2" fmla="*/ 0 w 46"/>
                <a:gd name="T3" fmla="*/ 0 h 33"/>
                <a:gd name="T4" fmla="*/ 0 w 46"/>
                <a:gd name="T5" fmla="*/ 33 h 33"/>
                <a:gd name="T6" fmla="*/ 45 w 46"/>
                <a:gd name="T7" fmla="*/ 33 h 33"/>
                <a:gd name="T8" fmla="*/ 46 w 46"/>
                <a:gd name="T9" fmla="*/ 32 h 33"/>
                <a:gd name="T10" fmla="*/ 46 w 46"/>
                <a:gd name="T11" fmla="*/ 1 h 33"/>
                <a:gd name="T12" fmla="*/ 45 w 46"/>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46" h="33">
                  <a:moveTo>
                    <a:pt x="45" y="0"/>
                  </a:moveTo>
                  <a:cubicBezTo>
                    <a:pt x="0" y="0"/>
                    <a:pt x="0" y="0"/>
                    <a:pt x="0" y="0"/>
                  </a:cubicBezTo>
                  <a:cubicBezTo>
                    <a:pt x="0" y="33"/>
                    <a:pt x="0" y="33"/>
                    <a:pt x="0" y="33"/>
                  </a:cubicBezTo>
                  <a:cubicBezTo>
                    <a:pt x="45" y="33"/>
                    <a:pt x="45" y="33"/>
                    <a:pt x="45" y="33"/>
                  </a:cubicBezTo>
                  <a:cubicBezTo>
                    <a:pt x="46" y="33"/>
                    <a:pt x="46" y="32"/>
                    <a:pt x="46" y="32"/>
                  </a:cubicBezTo>
                  <a:cubicBezTo>
                    <a:pt x="46" y="1"/>
                    <a:pt x="46" y="1"/>
                    <a:pt x="46" y="1"/>
                  </a:cubicBezTo>
                  <a:cubicBezTo>
                    <a:pt x="46" y="1"/>
                    <a:pt x="46" y="0"/>
                    <a:pt x="4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endParaRPr>
            </a:p>
          </p:txBody>
        </p:sp>
        <p:sp>
          <p:nvSpPr>
            <p:cNvPr id="41" name="Freeform 327"/>
            <p:cNvSpPr/>
            <p:nvPr/>
          </p:nvSpPr>
          <p:spPr bwMode="auto">
            <a:xfrm>
              <a:off x="8213725" y="5667376"/>
              <a:ext cx="95250" cy="168275"/>
            </a:xfrm>
            <a:custGeom>
              <a:avLst/>
              <a:gdLst>
                <a:gd name="T0" fmla="*/ 0 w 41"/>
                <a:gd name="T1" fmla="*/ 1 h 73"/>
                <a:gd name="T2" fmla="*/ 0 w 41"/>
                <a:gd name="T3" fmla="*/ 72 h 73"/>
                <a:gd name="T4" fmla="*/ 1 w 41"/>
                <a:gd name="T5" fmla="*/ 73 h 73"/>
                <a:gd name="T6" fmla="*/ 41 w 41"/>
                <a:gd name="T7" fmla="*/ 73 h 73"/>
                <a:gd name="T8" fmla="*/ 41 w 41"/>
                <a:gd name="T9" fmla="*/ 1 h 73"/>
                <a:gd name="T10" fmla="*/ 41 w 41"/>
                <a:gd name="T11" fmla="*/ 0 h 73"/>
                <a:gd name="T12" fmla="*/ 1 w 41"/>
                <a:gd name="T13" fmla="*/ 0 h 73"/>
                <a:gd name="T14" fmla="*/ 0 w 41"/>
                <a:gd name="T15" fmla="*/ 1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73">
                  <a:moveTo>
                    <a:pt x="0" y="1"/>
                  </a:moveTo>
                  <a:cubicBezTo>
                    <a:pt x="0" y="72"/>
                    <a:pt x="0" y="72"/>
                    <a:pt x="0" y="72"/>
                  </a:cubicBezTo>
                  <a:cubicBezTo>
                    <a:pt x="0" y="73"/>
                    <a:pt x="0" y="73"/>
                    <a:pt x="1" y="73"/>
                  </a:cubicBezTo>
                  <a:cubicBezTo>
                    <a:pt x="41" y="73"/>
                    <a:pt x="41" y="73"/>
                    <a:pt x="41" y="73"/>
                  </a:cubicBezTo>
                  <a:cubicBezTo>
                    <a:pt x="41" y="1"/>
                    <a:pt x="41" y="1"/>
                    <a:pt x="41" y="1"/>
                  </a:cubicBezTo>
                  <a:cubicBezTo>
                    <a:pt x="41" y="1"/>
                    <a:pt x="41" y="1"/>
                    <a:pt x="41" y="0"/>
                  </a:cubicBezTo>
                  <a:cubicBezTo>
                    <a:pt x="1" y="0"/>
                    <a:pt x="1" y="0"/>
                    <a:pt x="1"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endParaRPr>
            </a:p>
          </p:txBody>
        </p:sp>
        <p:sp>
          <p:nvSpPr>
            <p:cNvPr id="42" name="Freeform 328"/>
            <p:cNvSpPr/>
            <p:nvPr/>
          </p:nvSpPr>
          <p:spPr bwMode="auto">
            <a:xfrm>
              <a:off x="8356600" y="5667376"/>
              <a:ext cx="95250" cy="168275"/>
            </a:xfrm>
            <a:custGeom>
              <a:avLst/>
              <a:gdLst>
                <a:gd name="T0" fmla="*/ 40 w 41"/>
                <a:gd name="T1" fmla="*/ 0 h 73"/>
                <a:gd name="T2" fmla="*/ 0 w 41"/>
                <a:gd name="T3" fmla="*/ 0 h 73"/>
                <a:gd name="T4" fmla="*/ 0 w 41"/>
                <a:gd name="T5" fmla="*/ 1 h 73"/>
                <a:gd name="T6" fmla="*/ 0 w 41"/>
                <a:gd name="T7" fmla="*/ 73 h 73"/>
                <a:gd name="T8" fmla="*/ 40 w 41"/>
                <a:gd name="T9" fmla="*/ 73 h 73"/>
                <a:gd name="T10" fmla="*/ 41 w 41"/>
                <a:gd name="T11" fmla="*/ 72 h 73"/>
                <a:gd name="T12" fmla="*/ 41 w 41"/>
                <a:gd name="T13" fmla="*/ 1 h 73"/>
                <a:gd name="T14" fmla="*/ 40 w 41"/>
                <a:gd name="T15" fmla="*/ 0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73">
                  <a:moveTo>
                    <a:pt x="40" y="0"/>
                  </a:moveTo>
                  <a:cubicBezTo>
                    <a:pt x="0" y="0"/>
                    <a:pt x="0" y="0"/>
                    <a:pt x="0" y="0"/>
                  </a:cubicBezTo>
                  <a:cubicBezTo>
                    <a:pt x="0" y="1"/>
                    <a:pt x="0" y="1"/>
                    <a:pt x="0" y="1"/>
                  </a:cubicBezTo>
                  <a:cubicBezTo>
                    <a:pt x="0" y="73"/>
                    <a:pt x="0" y="73"/>
                    <a:pt x="0" y="73"/>
                  </a:cubicBezTo>
                  <a:cubicBezTo>
                    <a:pt x="40" y="73"/>
                    <a:pt x="40" y="73"/>
                    <a:pt x="40" y="73"/>
                  </a:cubicBezTo>
                  <a:cubicBezTo>
                    <a:pt x="40" y="73"/>
                    <a:pt x="41" y="73"/>
                    <a:pt x="41" y="72"/>
                  </a:cubicBezTo>
                  <a:cubicBezTo>
                    <a:pt x="41" y="1"/>
                    <a:pt x="41" y="1"/>
                    <a:pt x="41" y="1"/>
                  </a:cubicBezTo>
                  <a:cubicBezTo>
                    <a:pt x="41" y="1"/>
                    <a:pt x="40" y="0"/>
                    <a:pt x="4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endParaRPr>
            </a:p>
          </p:txBody>
        </p:sp>
        <p:sp>
          <p:nvSpPr>
            <p:cNvPr id="43" name="Freeform 329"/>
            <p:cNvSpPr/>
            <p:nvPr/>
          </p:nvSpPr>
          <p:spPr bwMode="auto">
            <a:xfrm>
              <a:off x="8401050" y="5538788"/>
              <a:ext cx="76200" cy="28575"/>
            </a:xfrm>
            <a:custGeom>
              <a:avLst/>
              <a:gdLst>
                <a:gd name="T0" fmla="*/ 23 w 48"/>
                <a:gd name="T1" fmla="*/ 18 h 18"/>
                <a:gd name="T2" fmla="*/ 48 w 48"/>
                <a:gd name="T3" fmla="*/ 18 h 18"/>
                <a:gd name="T4" fmla="*/ 33 w 48"/>
                <a:gd name="T5" fmla="*/ 11 h 18"/>
                <a:gd name="T6" fmla="*/ 43 w 48"/>
                <a:gd name="T7" fmla="*/ 0 h 18"/>
                <a:gd name="T8" fmla="*/ 22 w 48"/>
                <a:gd name="T9" fmla="*/ 8 h 18"/>
                <a:gd name="T10" fmla="*/ 0 w 48"/>
                <a:gd name="T11" fmla="*/ 18 h 18"/>
                <a:gd name="T12" fmla="*/ 23 w 48"/>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48" h="18">
                  <a:moveTo>
                    <a:pt x="23" y="18"/>
                  </a:moveTo>
                  <a:lnTo>
                    <a:pt x="48" y="18"/>
                  </a:lnTo>
                  <a:lnTo>
                    <a:pt x="33" y="11"/>
                  </a:lnTo>
                  <a:lnTo>
                    <a:pt x="43" y="0"/>
                  </a:lnTo>
                  <a:lnTo>
                    <a:pt x="22" y="8"/>
                  </a:lnTo>
                  <a:lnTo>
                    <a:pt x="0" y="18"/>
                  </a:lnTo>
                  <a:lnTo>
                    <a:pt x="23"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endParaRPr>
            </a:p>
          </p:txBody>
        </p:sp>
        <p:sp>
          <p:nvSpPr>
            <p:cNvPr id="44" name="Freeform 330"/>
            <p:cNvSpPr/>
            <p:nvPr/>
          </p:nvSpPr>
          <p:spPr bwMode="auto">
            <a:xfrm>
              <a:off x="8188325" y="5538788"/>
              <a:ext cx="76200" cy="28575"/>
            </a:xfrm>
            <a:custGeom>
              <a:avLst/>
              <a:gdLst>
                <a:gd name="T0" fmla="*/ 24 w 48"/>
                <a:gd name="T1" fmla="*/ 18 h 18"/>
                <a:gd name="T2" fmla="*/ 48 w 48"/>
                <a:gd name="T3" fmla="*/ 18 h 18"/>
                <a:gd name="T4" fmla="*/ 26 w 48"/>
                <a:gd name="T5" fmla="*/ 8 h 18"/>
                <a:gd name="T6" fmla="*/ 3 w 48"/>
                <a:gd name="T7" fmla="*/ 0 h 18"/>
                <a:gd name="T8" fmla="*/ 15 w 48"/>
                <a:gd name="T9" fmla="*/ 11 h 18"/>
                <a:gd name="T10" fmla="*/ 0 w 48"/>
                <a:gd name="T11" fmla="*/ 18 h 18"/>
                <a:gd name="T12" fmla="*/ 24 w 48"/>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48" h="18">
                  <a:moveTo>
                    <a:pt x="24" y="18"/>
                  </a:moveTo>
                  <a:lnTo>
                    <a:pt x="48" y="18"/>
                  </a:lnTo>
                  <a:lnTo>
                    <a:pt x="26" y="8"/>
                  </a:lnTo>
                  <a:lnTo>
                    <a:pt x="3" y="0"/>
                  </a:lnTo>
                  <a:lnTo>
                    <a:pt x="15" y="11"/>
                  </a:lnTo>
                  <a:lnTo>
                    <a:pt x="0" y="18"/>
                  </a:lnTo>
                  <a:lnTo>
                    <a:pt x="24"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endParaRPr>
            </a:p>
          </p:txBody>
        </p:sp>
      </p:grpSp>
      <p:sp>
        <p:nvSpPr>
          <p:cNvPr id="61" name="Freeform 307"/>
          <p:cNvSpPr/>
          <p:nvPr/>
        </p:nvSpPr>
        <p:spPr bwMode="auto">
          <a:xfrm>
            <a:off x="1560499" y="4095023"/>
            <a:ext cx="307172" cy="292299"/>
          </a:xfrm>
          <a:custGeom>
            <a:avLst/>
            <a:gdLst>
              <a:gd name="T0" fmla="*/ 103 w 206"/>
              <a:gd name="T1" fmla="*/ 0 h 196"/>
              <a:gd name="T2" fmla="*/ 135 w 206"/>
              <a:gd name="T3" fmla="*/ 64 h 196"/>
              <a:gd name="T4" fmla="*/ 206 w 206"/>
              <a:gd name="T5" fmla="*/ 74 h 196"/>
              <a:gd name="T6" fmla="*/ 155 w 206"/>
              <a:gd name="T7" fmla="*/ 125 h 196"/>
              <a:gd name="T8" fmla="*/ 167 w 206"/>
              <a:gd name="T9" fmla="*/ 196 h 196"/>
              <a:gd name="T10" fmla="*/ 103 w 206"/>
              <a:gd name="T11" fmla="*/ 163 h 196"/>
              <a:gd name="T12" fmla="*/ 39 w 206"/>
              <a:gd name="T13" fmla="*/ 196 h 196"/>
              <a:gd name="T14" fmla="*/ 52 w 206"/>
              <a:gd name="T15" fmla="*/ 125 h 196"/>
              <a:gd name="T16" fmla="*/ 0 w 206"/>
              <a:gd name="T17" fmla="*/ 74 h 196"/>
              <a:gd name="T18" fmla="*/ 71 w 206"/>
              <a:gd name="T19" fmla="*/ 64 h 196"/>
              <a:gd name="T20" fmla="*/ 103 w 206"/>
              <a:gd name="T21"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6" h="196">
                <a:moveTo>
                  <a:pt x="103" y="0"/>
                </a:moveTo>
                <a:lnTo>
                  <a:pt x="135" y="64"/>
                </a:lnTo>
                <a:lnTo>
                  <a:pt x="206" y="74"/>
                </a:lnTo>
                <a:lnTo>
                  <a:pt x="155" y="125"/>
                </a:lnTo>
                <a:lnTo>
                  <a:pt x="167" y="196"/>
                </a:lnTo>
                <a:lnTo>
                  <a:pt x="103" y="163"/>
                </a:lnTo>
                <a:lnTo>
                  <a:pt x="39" y="196"/>
                </a:lnTo>
                <a:lnTo>
                  <a:pt x="52" y="125"/>
                </a:lnTo>
                <a:lnTo>
                  <a:pt x="0" y="74"/>
                </a:lnTo>
                <a:lnTo>
                  <a:pt x="71" y="64"/>
                </a:lnTo>
                <a:lnTo>
                  <a:pt x="103" y="0"/>
                </a:lnTo>
                <a:close/>
              </a:path>
            </a:pathLst>
          </a:custGeom>
          <a:solidFill>
            <a:schemeClr val="bg1"/>
          </a:solidFill>
          <a:ln>
            <a:noFill/>
          </a:ln>
        </p:spPr>
        <p:txBody>
          <a:bodyPr vert="horz" wrap="square" lIns="91440" tIns="45720" rIns="91440" bIns="45720" numCol="1" anchor="t" anchorCtr="0" compatLnSpc="1"/>
          <a:lstStyle/>
          <a:p>
            <a:endParaRPr lang="en-US">
              <a:cs typeface="+mn-ea"/>
            </a:endParaRPr>
          </a:p>
        </p:txBody>
      </p:sp>
      <p:grpSp>
        <p:nvGrpSpPr>
          <p:cNvPr id="6" name="组合 5"/>
          <p:cNvGrpSpPr/>
          <p:nvPr/>
        </p:nvGrpSpPr>
        <p:grpSpPr>
          <a:xfrm>
            <a:off x="820965" y="0"/>
            <a:ext cx="717550" cy="1097304"/>
            <a:chOff x="4704555" y="313131"/>
            <a:chExt cx="2782888" cy="4255695"/>
          </a:xfrm>
        </p:grpSpPr>
        <p:sp>
          <p:nvSpPr>
            <p:cNvPr id="7" name="流程图: 决策 5"/>
            <p:cNvSpPr/>
            <p:nvPr/>
          </p:nvSpPr>
          <p:spPr>
            <a:xfrm>
              <a:off x="4704555" y="313131"/>
              <a:ext cx="2782888" cy="425569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8" name="流程图: 决策 6"/>
            <p:cNvSpPr/>
            <p:nvPr/>
          </p:nvSpPr>
          <p:spPr>
            <a:xfrm>
              <a:off x="4934127" y="2015510"/>
              <a:ext cx="2323745" cy="2323745"/>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grpSp>
      <p:sp>
        <p:nvSpPr>
          <p:cNvPr id="9" name="文本框 8"/>
          <p:cNvSpPr txBox="1"/>
          <p:nvPr/>
        </p:nvSpPr>
        <p:spPr>
          <a:xfrm>
            <a:off x="733564" y="451148"/>
            <a:ext cx="950408" cy="583565"/>
          </a:xfrm>
          <a:prstGeom prst="rect">
            <a:avLst/>
          </a:prstGeom>
          <a:noFill/>
        </p:spPr>
        <p:txBody>
          <a:bodyPr wrap="square" rtlCol="0">
            <a:spAutoFit/>
          </a:bodyPr>
          <a:p>
            <a:pPr algn="ctr"/>
            <a:r>
              <a:rPr lang="en-US" altLang="zh-CN" sz="3200" b="1" dirty="0" smtClean="0">
                <a:ln w="28575">
                  <a:noFill/>
                </a:ln>
                <a:latin typeface="微软雅黑" panose="020B0503020204020204" charset="-122"/>
                <a:ea typeface="微软雅黑" panose="020B0503020204020204" charset="-122"/>
              </a:rPr>
              <a:t>01</a:t>
            </a:r>
            <a:endParaRPr lang="zh-CN" altLang="en-US" sz="4800" b="1" dirty="0">
              <a:ln w="28575">
                <a:noFill/>
              </a:ln>
              <a:latin typeface="微软雅黑" panose="020B0503020204020204" charset="-122"/>
              <a:ea typeface="微软雅黑" panose="020B0503020204020204" charset="-122"/>
            </a:endParaRPr>
          </a:p>
        </p:txBody>
      </p:sp>
      <p:sp>
        <p:nvSpPr>
          <p:cNvPr id="4" name="矩形 3"/>
          <p:cNvSpPr/>
          <p:nvPr/>
        </p:nvSpPr>
        <p:spPr>
          <a:xfrm flipV="1">
            <a:off x="128" y="1"/>
            <a:ext cx="12191744" cy="955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sp>
        <p:nvSpPr>
          <p:cNvPr id="10" name="Rectangle 39"/>
          <p:cNvSpPr>
            <a:spLocks noChangeArrowheads="1"/>
          </p:cNvSpPr>
          <p:nvPr/>
        </p:nvSpPr>
        <p:spPr bwMode="auto">
          <a:xfrm>
            <a:off x="1752600" y="558800"/>
            <a:ext cx="3583305"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buFont typeface="Arial" panose="020B0604020202020204" pitchFamily="34" charset="0"/>
              <a:buNone/>
            </a:pPr>
            <a:r>
              <a:rPr lang="en-US" altLang="zh-CN" sz="2400" b="1">
                <a:sym typeface="+mn-ea"/>
              </a:rPr>
              <a:t>如何避免暂停销售或封号</a:t>
            </a:r>
            <a:endParaRPr lang="en-US" altLang="zh-CN" sz="2400" b="1">
              <a:sym typeface="+mn-ea"/>
            </a:endParaRPr>
          </a:p>
        </p:txBody>
      </p:sp>
      <p:sp>
        <p:nvSpPr>
          <p:cNvPr id="2" name="矩形 1"/>
          <p:cNvSpPr/>
          <p:nvPr/>
        </p:nvSpPr>
        <p:spPr>
          <a:xfrm rot="1620000">
            <a:off x="7943561" y="890032"/>
            <a:ext cx="4204948"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fade">
                                      <p:cBhvr>
                                        <p:cTn id="10" dur="500"/>
                                        <p:tgtEl>
                                          <p:spTgt spid="4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wipe(left)">
                                      <p:cBhvr>
                                        <p:cTn id="15" dur="500"/>
                                        <p:tgtEl>
                                          <p:spTgt spid="5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1"/>
                                        </p:tgtEl>
                                        <p:attrNameLst>
                                          <p:attrName>style.visibility</p:attrName>
                                        </p:attrNameLst>
                                      </p:cBhvr>
                                      <p:to>
                                        <p:strVal val="visible"/>
                                      </p:to>
                                    </p:set>
                                    <p:animEffect transition="in" filter="fade">
                                      <p:cBhvr>
                                        <p:cTn id="20" dur="500"/>
                                        <p:tgtEl>
                                          <p:spTgt spid="5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fade">
                                      <p:cBhvr>
                                        <p:cTn id="23" dur="500"/>
                                        <p:tgtEl>
                                          <p:spTgt spid="4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wipe(left)">
                                      <p:cBhvr>
                                        <p:cTn id="28" dur="500"/>
                                        <p:tgtEl>
                                          <p:spTgt spid="5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fade">
                                      <p:cBhvr>
                                        <p:cTn id="36" dur="500"/>
                                        <p:tgtEl>
                                          <p:spTgt spid="5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4"/>
                                        </p:tgtEl>
                                        <p:attrNameLst>
                                          <p:attrName>style.visibility</p:attrName>
                                        </p:attrNameLst>
                                      </p:cBhvr>
                                      <p:to>
                                        <p:strVal val="visible"/>
                                      </p:to>
                                    </p:set>
                                    <p:animEffect transition="in" filter="wipe(left)">
                                      <p:cBhvr>
                                        <p:cTn id="41" dur="500"/>
                                        <p:tgtEl>
                                          <p:spTgt spid="5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500"/>
                                        <p:tgtEl>
                                          <p:spTgt spid="4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fade">
                                      <p:cBhvr>
                                        <p:cTn id="49" dur="500"/>
                                        <p:tgtEl>
                                          <p:spTgt spid="5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6"/>
                                        </p:tgtEl>
                                        <p:attrNameLst>
                                          <p:attrName>style.visibility</p:attrName>
                                        </p:attrNameLst>
                                      </p:cBhvr>
                                      <p:to>
                                        <p:strVal val="visible"/>
                                      </p:to>
                                    </p:set>
                                    <p:animEffect transition="in" filter="wipe(left)">
                                      <p:cBhvr>
                                        <p:cTn id="54" dur="500"/>
                                        <p:tgtEl>
                                          <p:spTgt spid="56"/>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57"/>
                                        </p:tgtEl>
                                        <p:attrNameLst>
                                          <p:attrName>style.visibility</p:attrName>
                                        </p:attrNameLst>
                                      </p:cBhvr>
                                      <p:to>
                                        <p:strVal val="visible"/>
                                      </p:to>
                                    </p:set>
                                    <p:animEffect transition="in" filter="fade">
                                      <p:cBhvr>
                                        <p:cTn id="59" dur="500"/>
                                        <p:tgtEl>
                                          <p:spTgt spid="5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fade">
                                      <p:cBhvr>
                                        <p:cTn id="62" dur="500"/>
                                        <p:tgtEl>
                                          <p:spTgt spid="3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58"/>
                                        </p:tgtEl>
                                        <p:attrNameLst>
                                          <p:attrName>style.visibility</p:attrName>
                                        </p:attrNameLst>
                                      </p:cBhvr>
                                      <p:to>
                                        <p:strVal val="visible"/>
                                      </p:to>
                                    </p:set>
                                    <p:animEffect transition="in" filter="wipe(down)">
                                      <p:cBhvr>
                                        <p:cTn id="67" dur="500"/>
                                        <p:tgtEl>
                                          <p:spTgt spid="5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fade">
                                      <p:cBhvr>
                                        <p:cTn id="72" dur="500"/>
                                        <p:tgtEl>
                                          <p:spTgt spid="4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59"/>
                                        </p:tgtEl>
                                        <p:attrNameLst>
                                          <p:attrName>style.visibility</p:attrName>
                                        </p:attrNameLst>
                                      </p:cBhvr>
                                      <p:to>
                                        <p:strVal val="visible"/>
                                      </p:to>
                                    </p:set>
                                    <p:animEffect transition="in" filter="fade">
                                      <p:cBhvr>
                                        <p:cTn id="75" dur="500"/>
                                        <p:tgtEl>
                                          <p:spTgt spid="59"/>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60"/>
                                        </p:tgtEl>
                                        <p:attrNameLst>
                                          <p:attrName>style.visibility</p:attrName>
                                        </p:attrNameLst>
                                      </p:cBhvr>
                                      <p:to>
                                        <p:strVal val="visible"/>
                                      </p:to>
                                    </p:set>
                                    <p:animEffect transition="in" filter="wipe(down)">
                                      <p:cBhvr>
                                        <p:cTn id="80"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6" grpId="0" bldLvl="0" animBg="1"/>
      <p:bldP spid="45" grpId="0" bldLvl="0" animBg="1"/>
      <p:bldP spid="46" grpId="0" bldLvl="0" animBg="1"/>
      <p:bldP spid="47" grpId="0" bldLvl="0" animBg="1"/>
      <p:bldP spid="48" grpId="0" bldLvl="0" animBg="1"/>
      <p:bldP spid="49" grpId="0"/>
      <p:bldP spid="50" grpId="0"/>
      <p:bldP spid="51" grpId="0"/>
      <p:bldP spid="52" grpId="0"/>
      <p:bldP spid="53" grpId="0"/>
      <p:bldP spid="54" grpId="0"/>
      <p:bldP spid="55" grpId="0"/>
      <p:bldP spid="56" grpId="0"/>
      <p:bldP spid="57" grpId="0"/>
      <p:bldP spid="58" grpId="0"/>
      <p:bldP spid="59" grpId="0"/>
      <p:bldP spid="6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flipV="1">
            <a:off x="1081" y="537"/>
            <a:ext cx="12189839" cy="9548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5" name="矩形 4"/>
          <p:cNvSpPr/>
          <p:nvPr/>
        </p:nvSpPr>
        <p:spPr>
          <a:xfrm flipV="1">
            <a:off x="1081" y="6751815"/>
            <a:ext cx="12189839" cy="9548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grpSp>
        <p:nvGrpSpPr>
          <p:cNvPr id="6" name="组合 5"/>
          <p:cNvGrpSpPr/>
          <p:nvPr/>
        </p:nvGrpSpPr>
        <p:grpSpPr>
          <a:xfrm>
            <a:off x="821790" y="536"/>
            <a:ext cx="717438" cy="1097133"/>
            <a:chOff x="4704555" y="313131"/>
            <a:chExt cx="2782888" cy="4255695"/>
          </a:xfrm>
        </p:grpSpPr>
        <p:sp>
          <p:nvSpPr>
            <p:cNvPr id="7" name="流程图: 决策 5"/>
            <p:cNvSpPr/>
            <p:nvPr/>
          </p:nvSpPr>
          <p:spPr>
            <a:xfrm>
              <a:off x="4704555" y="313131"/>
              <a:ext cx="2782888" cy="425569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流程图: 决策 6"/>
            <p:cNvSpPr/>
            <p:nvPr/>
          </p:nvSpPr>
          <p:spPr>
            <a:xfrm>
              <a:off x="4934127" y="2015510"/>
              <a:ext cx="2323745" cy="2323745"/>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sp>
        <p:nvSpPr>
          <p:cNvPr id="9" name="文本框 8"/>
          <p:cNvSpPr txBox="1"/>
          <p:nvPr/>
        </p:nvSpPr>
        <p:spPr>
          <a:xfrm>
            <a:off x="734401" y="451613"/>
            <a:ext cx="950259" cy="583565"/>
          </a:xfrm>
          <a:prstGeom prst="rect">
            <a:avLst/>
          </a:prstGeom>
          <a:noFill/>
        </p:spPr>
        <p:txBody>
          <a:bodyPr wrap="square" rtlCol="0">
            <a:spAutoFit/>
          </a:bodyPr>
          <a:lstStyle/>
          <a:p>
            <a:pPr algn="ctr"/>
            <a:r>
              <a:rPr lang="en-US" altLang="zh-CN" sz="3200" b="1" dirty="0" smtClean="0">
                <a:ln w="28575">
                  <a:noFill/>
                </a:ln>
                <a:latin typeface="微软雅黑" panose="020B0503020204020204" charset="-122"/>
                <a:ea typeface="微软雅黑" panose="020B0503020204020204" charset="-122"/>
              </a:rPr>
              <a:t>02</a:t>
            </a:r>
            <a:endParaRPr lang="zh-CN" altLang="en-US" sz="4800" b="1" dirty="0">
              <a:ln w="28575">
                <a:noFill/>
              </a:ln>
              <a:latin typeface="微软雅黑" panose="020B0503020204020204" charset="-122"/>
              <a:ea typeface="微软雅黑" panose="020B0503020204020204" charset="-122"/>
            </a:endParaRPr>
          </a:p>
        </p:txBody>
      </p:sp>
      <p:sp>
        <p:nvSpPr>
          <p:cNvPr id="10" name="矩形 9"/>
          <p:cNvSpPr/>
          <p:nvPr/>
        </p:nvSpPr>
        <p:spPr>
          <a:xfrm>
            <a:off x="1684844" y="360316"/>
            <a:ext cx="2754630" cy="737235"/>
          </a:xfrm>
          <a:prstGeom prst="rect">
            <a:avLst/>
          </a:prstGeom>
        </p:spPr>
        <p:txBody>
          <a:bodyPr wrap="none">
            <a:spAutoFit/>
          </a:bodyPr>
          <a:lstStyle/>
          <a:p>
            <a:pPr>
              <a:lnSpc>
                <a:spcPct val="175000"/>
              </a:lnSpc>
            </a:pPr>
            <a:r>
              <a:rPr lang="zh-CN" altLang="en-US" sz="2400" b="1" dirty="0">
                <a:solidFill>
                  <a:schemeClr val="tx1">
                    <a:lumMod val="75000"/>
                    <a:lumOff val="25000"/>
                  </a:schemeClr>
                </a:solidFill>
                <a:latin typeface="微软雅黑" panose="020B0503020204020204" charset="-122"/>
                <a:ea typeface="微软雅黑" panose="020B0503020204020204" charset="-122"/>
              </a:rPr>
              <a:t>跟售处理</a:t>
            </a:r>
            <a:r>
              <a:rPr lang="en-US" altLang="zh-CN" sz="2400" b="1" dirty="0">
                <a:solidFill>
                  <a:srgbClr val="FF0000"/>
                </a:solidFill>
                <a:latin typeface="微软雅黑" panose="020B0503020204020204" charset="-122"/>
                <a:ea typeface="微软雅黑" panose="020B0503020204020204" charset="-122"/>
              </a:rPr>
              <a:t>-</a:t>
            </a:r>
            <a:r>
              <a:rPr lang="zh-CN" altLang="en-US" sz="2400" b="1" dirty="0">
                <a:solidFill>
                  <a:srgbClr val="FF0000"/>
                </a:solidFill>
                <a:latin typeface="微软雅黑" panose="020B0503020204020204" charset="-122"/>
                <a:ea typeface="微软雅黑" panose="020B0503020204020204" charset="-122"/>
              </a:rPr>
              <a:t>先礼后兵</a:t>
            </a:r>
            <a:endParaRPr lang="zh-CN" altLang="en-US" sz="2400" b="1" dirty="0">
              <a:solidFill>
                <a:srgbClr val="FF0000"/>
              </a:solidFill>
              <a:latin typeface="微软雅黑" panose="020B0503020204020204" charset="-122"/>
              <a:ea typeface="微软雅黑" panose="020B0503020204020204" charset="-122"/>
            </a:endParaRPr>
          </a:p>
        </p:txBody>
      </p:sp>
      <p:sp>
        <p:nvSpPr>
          <p:cNvPr id="12" name="AutoShape 3"/>
          <p:cNvSpPr/>
          <p:nvPr/>
        </p:nvSpPr>
        <p:spPr bwMode="auto">
          <a:xfrm>
            <a:off x="2718684" y="4432458"/>
            <a:ext cx="683166" cy="683167"/>
          </a:xfrm>
          <a:custGeom>
            <a:avLst/>
            <a:gdLst>
              <a:gd name="T0" fmla="*/ 111719595 w 19679"/>
              <a:gd name="T1" fmla="*/ 19169843 h 19679"/>
              <a:gd name="T2" fmla="*/ 111719595 w 19679"/>
              <a:gd name="T3" fmla="*/ 111719746 h 19679"/>
              <a:gd name="T4" fmla="*/ 19169831 w 19679"/>
              <a:gd name="T5" fmla="*/ 111719746 h 19679"/>
              <a:gd name="T6" fmla="*/ 19169831 w 19679"/>
              <a:gd name="T7" fmla="*/ 19169843 h 19679"/>
              <a:gd name="T8" fmla="*/ 111719595 w 19679"/>
              <a:gd name="T9" fmla="*/ 19169843 h 19679"/>
              <a:gd name="T10" fmla="*/ 111719595 w 19679"/>
              <a:gd name="T11" fmla="*/ 19169843 h 196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13" name="AutoShape 4"/>
          <p:cNvSpPr/>
          <p:nvPr/>
        </p:nvSpPr>
        <p:spPr bwMode="auto">
          <a:xfrm>
            <a:off x="6458193" y="3536435"/>
            <a:ext cx="683842" cy="683167"/>
          </a:xfrm>
          <a:custGeom>
            <a:avLst/>
            <a:gdLst>
              <a:gd name="T0" fmla="*/ 111940753 w 19679"/>
              <a:gd name="T1" fmla="*/ 19169843 h 19679"/>
              <a:gd name="T2" fmla="*/ 111940753 w 19679"/>
              <a:gd name="T3" fmla="*/ 111719746 h 19679"/>
              <a:gd name="T4" fmla="*/ 19207738 w 19679"/>
              <a:gd name="T5" fmla="*/ 111719746 h 19679"/>
              <a:gd name="T6" fmla="*/ 19207738 w 19679"/>
              <a:gd name="T7" fmla="*/ 19169843 h 19679"/>
              <a:gd name="T8" fmla="*/ 111940753 w 19679"/>
              <a:gd name="T9" fmla="*/ 19169843 h 19679"/>
              <a:gd name="T10" fmla="*/ 111940753 w 19679"/>
              <a:gd name="T11" fmla="*/ 19169843 h 196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14" name="AutoShape 5"/>
          <p:cNvSpPr/>
          <p:nvPr/>
        </p:nvSpPr>
        <p:spPr bwMode="auto">
          <a:xfrm>
            <a:off x="4581681" y="3989852"/>
            <a:ext cx="683842" cy="682491"/>
          </a:xfrm>
          <a:custGeom>
            <a:avLst/>
            <a:gdLst>
              <a:gd name="T0" fmla="*/ 111940753 w 19679"/>
              <a:gd name="T1" fmla="*/ 19131892 h 19679"/>
              <a:gd name="T2" fmla="*/ 111940753 w 19679"/>
              <a:gd name="T3" fmla="*/ 111498725 h 19679"/>
              <a:gd name="T4" fmla="*/ 19207738 w 19679"/>
              <a:gd name="T5" fmla="*/ 111498725 h 19679"/>
              <a:gd name="T6" fmla="*/ 19207738 w 19679"/>
              <a:gd name="T7" fmla="*/ 19131892 h 19679"/>
              <a:gd name="T8" fmla="*/ 111940753 w 19679"/>
              <a:gd name="T9" fmla="*/ 19131892 h 19679"/>
              <a:gd name="T10" fmla="*/ 111940753 w 19679"/>
              <a:gd name="T11" fmla="*/ 19131892 h 196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15" name="AutoShape 6"/>
          <p:cNvSpPr/>
          <p:nvPr/>
        </p:nvSpPr>
        <p:spPr bwMode="auto">
          <a:xfrm>
            <a:off x="8300243" y="3084370"/>
            <a:ext cx="683166" cy="682491"/>
          </a:xfrm>
          <a:custGeom>
            <a:avLst/>
            <a:gdLst>
              <a:gd name="T0" fmla="*/ 111719595 w 19679"/>
              <a:gd name="T1" fmla="*/ 19131892 h 19679"/>
              <a:gd name="T2" fmla="*/ 111719595 w 19679"/>
              <a:gd name="T3" fmla="*/ 111498725 h 19679"/>
              <a:gd name="T4" fmla="*/ 19169831 w 19679"/>
              <a:gd name="T5" fmla="*/ 111498725 h 19679"/>
              <a:gd name="T6" fmla="*/ 19169831 w 19679"/>
              <a:gd name="T7" fmla="*/ 19131892 h 19679"/>
              <a:gd name="T8" fmla="*/ 111719595 w 19679"/>
              <a:gd name="T9" fmla="*/ 19131892 h 19679"/>
              <a:gd name="T10" fmla="*/ 111719595 w 19679"/>
              <a:gd name="T11" fmla="*/ 19131892 h 196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16" name="AutoShape 7"/>
          <p:cNvSpPr/>
          <p:nvPr/>
        </p:nvSpPr>
        <p:spPr bwMode="auto">
          <a:xfrm>
            <a:off x="2316623" y="4077698"/>
            <a:ext cx="1898135" cy="1144017"/>
          </a:xfrm>
          <a:custGeom>
            <a:avLst/>
            <a:gdLst>
              <a:gd name="T0" fmla="*/ 0 w 21600"/>
              <a:gd name="T1" fmla="*/ 0 h 21600"/>
              <a:gd name="T2" fmla="*/ 920613401 w 21600"/>
              <a:gd name="T3" fmla="*/ 0 h 21600"/>
              <a:gd name="T4" fmla="*/ 920613401 w 21600"/>
              <a:gd name="T5" fmla="*/ 59358952 h 21600"/>
              <a:gd name="T6" fmla="*/ 92572754 w 21600"/>
              <a:gd name="T7" fmla="*/ 59358952 h 21600"/>
              <a:gd name="T8" fmla="*/ 92572754 w 21600"/>
              <a:gd name="T9" fmla="*/ 334416326 h 21600"/>
              <a:gd name="T10" fmla="*/ 0 w 21600"/>
              <a:gd name="T11" fmla="*/ 334416326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21600" y="0"/>
                </a:lnTo>
                <a:lnTo>
                  <a:pt x="21600" y="3834"/>
                </a:lnTo>
                <a:lnTo>
                  <a:pt x="2172" y="3834"/>
                </a:lnTo>
                <a:lnTo>
                  <a:pt x="2172" y="21600"/>
                </a:lnTo>
                <a:lnTo>
                  <a:pt x="0" y="21600"/>
                </a:lnTo>
                <a:lnTo>
                  <a:pt x="0" y="0"/>
                </a:lnTo>
                <a:close/>
                <a:moveTo>
                  <a:pt x="0" y="0"/>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17" name="AutoShape 8"/>
          <p:cNvSpPr/>
          <p:nvPr/>
        </p:nvSpPr>
        <p:spPr bwMode="auto">
          <a:xfrm>
            <a:off x="4209352" y="3651310"/>
            <a:ext cx="1898135" cy="1144017"/>
          </a:xfrm>
          <a:custGeom>
            <a:avLst/>
            <a:gdLst>
              <a:gd name="T0" fmla="*/ 0 w 21600"/>
              <a:gd name="T1" fmla="*/ 0 h 21600"/>
              <a:gd name="T2" fmla="*/ 920612988 w 21600"/>
              <a:gd name="T3" fmla="*/ 0 h 21600"/>
              <a:gd name="T4" fmla="*/ 920612988 w 21600"/>
              <a:gd name="T5" fmla="*/ 59358974 h 21600"/>
              <a:gd name="T6" fmla="*/ 92572734 w 21600"/>
              <a:gd name="T7" fmla="*/ 59358974 h 21600"/>
              <a:gd name="T8" fmla="*/ 92572734 w 21600"/>
              <a:gd name="T9" fmla="*/ 334416575 h 21600"/>
              <a:gd name="T10" fmla="*/ 0 w 21600"/>
              <a:gd name="T11" fmla="*/ 334416575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21600" y="0"/>
                </a:lnTo>
                <a:lnTo>
                  <a:pt x="21600" y="3834"/>
                </a:lnTo>
                <a:lnTo>
                  <a:pt x="2172" y="3834"/>
                </a:lnTo>
                <a:lnTo>
                  <a:pt x="2172" y="21600"/>
                </a:lnTo>
                <a:lnTo>
                  <a:pt x="0" y="21600"/>
                </a:lnTo>
                <a:lnTo>
                  <a:pt x="0" y="0"/>
                </a:lnTo>
                <a:close/>
                <a:moveTo>
                  <a:pt x="0" y="0"/>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18" name="AutoShape 9"/>
          <p:cNvSpPr/>
          <p:nvPr/>
        </p:nvSpPr>
        <p:spPr bwMode="auto">
          <a:xfrm>
            <a:off x="6101406" y="3220868"/>
            <a:ext cx="1898135" cy="1144017"/>
          </a:xfrm>
          <a:custGeom>
            <a:avLst/>
            <a:gdLst>
              <a:gd name="T0" fmla="*/ 0 w 21600"/>
              <a:gd name="T1" fmla="*/ 0 h 21600"/>
              <a:gd name="T2" fmla="*/ 920612988 w 21600"/>
              <a:gd name="T3" fmla="*/ 0 h 21600"/>
              <a:gd name="T4" fmla="*/ 920612988 w 21600"/>
              <a:gd name="T5" fmla="*/ 59358952 h 21600"/>
              <a:gd name="T6" fmla="*/ 92572734 w 21600"/>
              <a:gd name="T7" fmla="*/ 59358952 h 21600"/>
              <a:gd name="T8" fmla="*/ 92572734 w 21600"/>
              <a:gd name="T9" fmla="*/ 334416326 h 21600"/>
              <a:gd name="T10" fmla="*/ 0 w 21600"/>
              <a:gd name="T11" fmla="*/ 334416326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21600" y="0"/>
                </a:lnTo>
                <a:lnTo>
                  <a:pt x="21600" y="3834"/>
                </a:lnTo>
                <a:lnTo>
                  <a:pt x="2172" y="3834"/>
                </a:lnTo>
                <a:lnTo>
                  <a:pt x="2172" y="21600"/>
                </a:lnTo>
                <a:lnTo>
                  <a:pt x="0" y="21600"/>
                </a:lnTo>
                <a:lnTo>
                  <a:pt x="0" y="0"/>
                </a:lnTo>
                <a:close/>
                <a:moveTo>
                  <a:pt x="0" y="0"/>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19" name="AutoShape 10"/>
          <p:cNvSpPr/>
          <p:nvPr/>
        </p:nvSpPr>
        <p:spPr bwMode="auto">
          <a:xfrm>
            <a:off x="7988730" y="2793804"/>
            <a:ext cx="1898135" cy="1144017"/>
          </a:xfrm>
          <a:custGeom>
            <a:avLst/>
            <a:gdLst>
              <a:gd name="T0" fmla="*/ 0 w 21600"/>
              <a:gd name="T1" fmla="*/ 0 h 21600"/>
              <a:gd name="T2" fmla="*/ 920613401 w 21600"/>
              <a:gd name="T3" fmla="*/ 0 h 21600"/>
              <a:gd name="T4" fmla="*/ 920613401 w 21600"/>
              <a:gd name="T5" fmla="*/ 59358952 h 21600"/>
              <a:gd name="T6" fmla="*/ 92572754 w 21600"/>
              <a:gd name="T7" fmla="*/ 59358952 h 21600"/>
              <a:gd name="T8" fmla="*/ 92572754 w 21600"/>
              <a:gd name="T9" fmla="*/ 334416326 h 21600"/>
              <a:gd name="T10" fmla="*/ 0 w 21600"/>
              <a:gd name="T11" fmla="*/ 334416326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21600" y="0"/>
                </a:lnTo>
                <a:lnTo>
                  <a:pt x="21600" y="3834"/>
                </a:lnTo>
                <a:lnTo>
                  <a:pt x="2172" y="3834"/>
                </a:lnTo>
                <a:lnTo>
                  <a:pt x="2172" y="21600"/>
                </a:lnTo>
                <a:lnTo>
                  <a:pt x="0" y="21600"/>
                </a:lnTo>
                <a:lnTo>
                  <a:pt x="0" y="0"/>
                </a:lnTo>
                <a:close/>
                <a:moveTo>
                  <a:pt x="0" y="0"/>
                </a:moveTo>
              </a:path>
            </a:pathLst>
          </a:custGeom>
          <a:solidFill>
            <a:schemeClr val="tx1">
              <a:lumMod val="65000"/>
              <a:lumOff val="35000"/>
            </a:schemeClr>
          </a:solidFill>
          <a:ln>
            <a:noFill/>
          </a:ln>
        </p:spPr>
        <p:txBody>
          <a:bodyPr lIns="0" tIns="0" rIns="0" bIns="0"/>
          <a:lstStyle/>
          <a:p>
            <a:endParaRPr lang="zh-CN" altLang="en-US" sz="900">
              <a:solidFill>
                <a:schemeClr val="tx1">
                  <a:lumMod val="75000"/>
                  <a:lumOff val="25000"/>
                </a:schemeClr>
              </a:solidFill>
            </a:endParaRPr>
          </a:p>
        </p:txBody>
      </p:sp>
      <p:sp>
        <p:nvSpPr>
          <p:cNvPr id="20" name="AutoShape 11"/>
          <p:cNvSpPr/>
          <p:nvPr/>
        </p:nvSpPr>
        <p:spPr bwMode="auto">
          <a:xfrm>
            <a:off x="8517153" y="3301956"/>
            <a:ext cx="275699" cy="244616"/>
          </a:xfrm>
          <a:custGeom>
            <a:avLst/>
            <a:gdLst>
              <a:gd name="T0" fmla="*/ 19617545 w 21263"/>
              <a:gd name="T1" fmla="*/ 1876760 h 21266"/>
              <a:gd name="T2" fmla="*/ 17822061 w 21263"/>
              <a:gd name="T3" fmla="*/ 419157 h 21266"/>
              <a:gd name="T4" fmla="*/ 16924791 w 21263"/>
              <a:gd name="T5" fmla="*/ 419157 h 21266"/>
              <a:gd name="T6" fmla="*/ 16775409 w 21263"/>
              <a:gd name="T7" fmla="*/ 816424 h 21266"/>
              <a:gd name="T8" fmla="*/ 16327231 w 21263"/>
              <a:gd name="T9" fmla="*/ 949324 h 21266"/>
              <a:gd name="T10" fmla="*/ 16327231 w 21263"/>
              <a:gd name="T11" fmla="*/ 949324 h 21266"/>
              <a:gd name="T12" fmla="*/ 11839937 w 21263"/>
              <a:gd name="T13" fmla="*/ 4925543 h 21266"/>
              <a:gd name="T14" fmla="*/ 11540227 w 21263"/>
              <a:gd name="T15" fmla="*/ 5985878 h 21266"/>
              <a:gd name="T16" fmla="*/ 11989319 w 21263"/>
              <a:gd name="T17" fmla="*/ 6383876 h 21266"/>
              <a:gd name="T18" fmla="*/ 11989319 w 21263"/>
              <a:gd name="T19" fmla="*/ 6383876 h 21266"/>
              <a:gd name="T20" fmla="*/ 12138732 w 21263"/>
              <a:gd name="T21" fmla="*/ 6516046 h 21266"/>
              <a:gd name="T22" fmla="*/ 11092049 w 21263"/>
              <a:gd name="T23" fmla="*/ 7311284 h 21266"/>
              <a:gd name="T24" fmla="*/ 7800820 w 21263"/>
              <a:gd name="T25" fmla="*/ 4395402 h 21266"/>
              <a:gd name="T26" fmla="*/ 6754137 w 21263"/>
              <a:gd name="T27" fmla="*/ 1081495 h 21266"/>
              <a:gd name="T28" fmla="*/ 2865348 w 21263"/>
              <a:gd name="T29" fmla="*/ 154086 h 21266"/>
              <a:gd name="T30" fmla="*/ 5108980 w 21263"/>
              <a:gd name="T31" fmla="*/ 2141830 h 21266"/>
              <a:gd name="T32" fmla="*/ 4510506 w 21263"/>
              <a:gd name="T33" fmla="*/ 3997404 h 21266"/>
              <a:gd name="T34" fmla="*/ 2416226 w 21263"/>
              <a:gd name="T35" fmla="*/ 4527572 h 21266"/>
              <a:gd name="T36" fmla="*/ 173508 w 21263"/>
              <a:gd name="T37" fmla="*/ 2539828 h 21266"/>
              <a:gd name="T38" fmla="*/ 1220191 w 21263"/>
              <a:gd name="T39" fmla="*/ 5985878 h 21266"/>
              <a:gd name="T40" fmla="*/ 5108980 w 21263"/>
              <a:gd name="T41" fmla="*/ 6781116 h 21266"/>
              <a:gd name="T42" fmla="*/ 5258393 w 21263"/>
              <a:gd name="T43" fmla="*/ 6781116 h 21266"/>
              <a:gd name="T44" fmla="*/ 8399295 w 21263"/>
              <a:gd name="T45" fmla="*/ 9697026 h 21266"/>
              <a:gd name="T46" fmla="*/ 5407776 w 21263"/>
              <a:gd name="T47" fmla="*/ 12480738 h 21266"/>
              <a:gd name="T48" fmla="*/ 5108980 w 21263"/>
              <a:gd name="T49" fmla="*/ 12348568 h 21266"/>
              <a:gd name="T50" fmla="*/ 4361093 w 21263"/>
              <a:gd name="T51" fmla="*/ 12878735 h 21266"/>
              <a:gd name="T52" fmla="*/ 2865348 w 21263"/>
              <a:gd name="T53" fmla="*/ 14999380 h 21266"/>
              <a:gd name="T54" fmla="*/ 3164113 w 21263"/>
              <a:gd name="T55" fmla="*/ 15264477 h 21266"/>
              <a:gd name="T56" fmla="*/ 5558102 w 21263"/>
              <a:gd name="T57" fmla="*/ 13939071 h 21266"/>
              <a:gd name="T58" fmla="*/ 6155663 w 21263"/>
              <a:gd name="T59" fmla="*/ 13143806 h 21266"/>
              <a:gd name="T60" fmla="*/ 6006250 w 21263"/>
              <a:gd name="T61" fmla="*/ 13010906 h 21266"/>
              <a:gd name="T62" fmla="*/ 9147182 w 21263"/>
              <a:gd name="T63" fmla="*/ 10360094 h 21266"/>
              <a:gd name="T64" fmla="*/ 14382364 w 21263"/>
              <a:gd name="T65" fmla="*/ 14999380 h 21266"/>
              <a:gd name="T66" fmla="*/ 15728756 w 21263"/>
              <a:gd name="T67" fmla="*/ 15529547 h 21266"/>
              <a:gd name="T68" fmla="*/ 17075118 w 21263"/>
              <a:gd name="T69" fmla="*/ 14999380 h 21266"/>
              <a:gd name="T70" fmla="*/ 17075118 w 21263"/>
              <a:gd name="T71" fmla="*/ 12613638 h 21266"/>
              <a:gd name="T72" fmla="*/ 11839937 w 21263"/>
              <a:gd name="T73" fmla="*/ 7974352 h 21266"/>
              <a:gd name="T74" fmla="*/ 12737206 w 21263"/>
              <a:gd name="T75" fmla="*/ 7179114 h 21266"/>
              <a:gd name="T76" fmla="*/ 13185385 w 21263"/>
              <a:gd name="T77" fmla="*/ 7576382 h 21266"/>
              <a:gd name="T78" fmla="*/ 14382364 w 21263"/>
              <a:gd name="T79" fmla="*/ 7311284 h 21266"/>
              <a:gd name="T80" fmla="*/ 18869658 w 21263"/>
              <a:gd name="T81" fmla="*/ 3202166 h 21266"/>
              <a:gd name="T82" fmla="*/ 18869658 w 21263"/>
              <a:gd name="T83" fmla="*/ 3202166 h 21266"/>
              <a:gd name="T84" fmla="*/ 18869658 w 21263"/>
              <a:gd name="T85" fmla="*/ 3202166 h 21266"/>
              <a:gd name="T86" fmla="*/ 19019071 w 21263"/>
              <a:gd name="T87" fmla="*/ 2804898 h 21266"/>
              <a:gd name="T88" fmla="*/ 19617545 w 21263"/>
              <a:gd name="T89" fmla="*/ 2671998 h 21266"/>
              <a:gd name="T90" fmla="*/ 19617545 w 21263"/>
              <a:gd name="T91" fmla="*/ 1876760 h 21266"/>
              <a:gd name="T92" fmla="*/ 15878139 w 21263"/>
              <a:gd name="T93" fmla="*/ 13408903 h 21266"/>
              <a:gd name="T94" fmla="*/ 16626026 w 21263"/>
              <a:gd name="T95" fmla="*/ 14071241 h 21266"/>
              <a:gd name="T96" fmla="*/ 15878139 w 21263"/>
              <a:gd name="T97" fmla="*/ 14734309 h 21266"/>
              <a:gd name="T98" fmla="*/ 15130251 w 21263"/>
              <a:gd name="T99" fmla="*/ 14071241 h 21266"/>
              <a:gd name="T100" fmla="*/ 15878139 w 21263"/>
              <a:gd name="T101" fmla="*/ 13408903 h 21266"/>
              <a:gd name="T102" fmla="*/ 13335711 w 21263"/>
              <a:gd name="T103" fmla="*/ 5190640 h 21266"/>
              <a:gd name="T104" fmla="*/ 13036002 w 21263"/>
              <a:gd name="T105" fmla="*/ 4925543 h 21266"/>
              <a:gd name="T106" fmla="*/ 16476613 w 21263"/>
              <a:gd name="T107" fmla="*/ 2009660 h 21266"/>
              <a:gd name="T108" fmla="*/ 16775409 w 21263"/>
              <a:gd name="T109" fmla="*/ 2274730 h 21266"/>
              <a:gd name="T110" fmla="*/ 13335711 w 21263"/>
              <a:gd name="T111" fmla="*/ 5190640 h 21266"/>
              <a:gd name="T112" fmla="*/ 14382364 w 21263"/>
              <a:gd name="T113" fmla="*/ 6118778 h 21266"/>
              <a:gd name="T114" fmla="*/ 14083599 w 21263"/>
              <a:gd name="T115" fmla="*/ 5985878 h 21266"/>
              <a:gd name="T116" fmla="*/ 17523296 w 21263"/>
              <a:gd name="T117" fmla="*/ 2937069 h 21266"/>
              <a:gd name="T118" fmla="*/ 17822061 w 21263"/>
              <a:gd name="T119" fmla="*/ 3202166 h 21266"/>
              <a:gd name="T120" fmla="*/ 14382364 w 21263"/>
              <a:gd name="T121" fmla="*/ 6118778 h 21266"/>
              <a:gd name="T122" fmla="*/ 14382364 w 21263"/>
              <a:gd name="T123" fmla="*/ 6118778 h 2126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1263" h="21266">
                <a:moveTo>
                  <a:pt x="21142" y="2570"/>
                </a:moveTo>
                <a:cubicBezTo>
                  <a:pt x="19207" y="574"/>
                  <a:pt x="19207" y="574"/>
                  <a:pt x="19207" y="574"/>
                </a:cubicBezTo>
                <a:cubicBezTo>
                  <a:pt x="18885" y="211"/>
                  <a:pt x="18563" y="211"/>
                  <a:pt x="18240" y="574"/>
                </a:cubicBezTo>
                <a:cubicBezTo>
                  <a:pt x="18079" y="755"/>
                  <a:pt x="18079" y="937"/>
                  <a:pt x="18079" y="1118"/>
                </a:cubicBezTo>
                <a:cubicBezTo>
                  <a:pt x="17918" y="1118"/>
                  <a:pt x="17757" y="1118"/>
                  <a:pt x="17596" y="1300"/>
                </a:cubicBezTo>
                <a:cubicBezTo>
                  <a:pt x="17596" y="1300"/>
                  <a:pt x="17596" y="1300"/>
                  <a:pt x="17596" y="1300"/>
                </a:cubicBezTo>
                <a:cubicBezTo>
                  <a:pt x="12760" y="6745"/>
                  <a:pt x="12760" y="6745"/>
                  <a:pt x="12760" y="6745"/>
                </a:cubicBezTo>
                <a:cubicBezTo>
                  <a:pt x="12760" y="7290"/>
                  <a:pt x="12599" y="7834"/>
                  <a:pt x="12437" y="8197"/>
                </a:cubicBezTo>
                <a:cubicBezTo>
                  <a:pt x="12921" y="8742"/>
                  <a:pt x="12921" y="8742"/>
                  <a:pt x="12921" y="8742"/>
                </a:cubicBezTo>
                <a:cubicBezTo>
                  <a:pt x="12921" y="8742"/>
                  <a:pt x="12921" y="8742"/>
                  <a:pt x="12921" y="8742"/>
                </a:cubicBezTo>
                <a:cubicBezTo>
                  <a:pt x="13082" y="8923"/>
                  <a:pt x="13082" y="8923"/>
                  <a:pt x="13082" y="8923"/>
                </a:cubicBezTo>
                <a:cubicBezTo>
                  <a:pt x="11954" y="10012"/>
                  <a:pt x="11954" y="10012"/>
                  <a:pt x="11954" y="10012"/>
                </a:cubicBezTo>
                <a:cubicBezTo>
                  <a:pt x="8407" y="6019"/>
                  <a:pt x="8407" y="6019"/>
                  <a:pt x="8407" y="6019"/>
                </a:cubicBezTo>
                <a:cubicBezTo>
                  <a:pt x="8730" y="4385"/>
                  <a:pt x="8407" y="2752"/>
                  <a:pt x="7279" y="1481"/>
                </a:cubicBezTo>
                <a:cubicBezTo>
                  <a:pt x="6151" y="211"/>
                  <a:pt x="4539" y="-334"/>
                  <a:pt x="3088" y="211"/>
                </a:cubicBezTo>
                <a:cubicBezTo>
                  <a:pt x="5506" y="2933"/>
                  <a:pt x="5506" y="2933"/>
                  <a:pt x="5506" y="2933"/>
                </a:cubicBezTo>
                <a:cubicBezTo>
                  <a:pt x="4861" y="5474"/>
                  <a:pt x="4861" y="5474"/>
                  <a:pt x="4861" y="5474"/>
                </a:cubicBezTo>
                <a:cubicBezTo>
                  <a:pt x="2604" y="6200"/>
                  <a:pt x="2604" y="6200"/>
                  <a:pt x="2604" y="6200"/>
                </a:cubicBezTo>
                <a:cubicBezTo>
                  <a:pt x="187" y="3478"/>
                  <a:pt x="187" y="3478"/>
                  <a:pt x="187" y="3478"/>
                </a:cubicBezTo>
                <a:cubicBezTo>
                  <a:pt x="-297" y="5111"/>
                  <a:pt x="187" y="6927"/>
                  <a:pt x="1315" y="8197"/>
                </a:cubicBezTo>
                <a:cubicBezTo>
                  <a:pt x="2443" y="9468"/>
                  <a:pt x="4055" y="9831"/>
                  <a:pt x="5506" y="9286"/>
                </a:cubicBezTo>
                <a:cubicBezTo>
                  <a:pt x="5667" y="9286"/>
                  <a:pt x="5667" y="9286"/>
                  <a:pt x="5667" y="9286"/>
                </a:cubicBezTo>
                <a:cubicBezTo>
                  <a:pt x="9052" y="13279"/>
                  <a:pt x="9052" y="13279"/>
                  <a:pt x="9052" y="13279"/>
                </a:cubicBezTo>
                <a:cubicBezTo>
                  <a:pt x="5828" y="17091"/>
                  <a:pt x="5828" y="17091"/>
                  <a:pt x="5828" y="17091"/>
                </a:cubicBezTo>
                <a:cubicBezTo>
                  <a:pt x="5506" y="16910"/>
                  <a:pt x="5506" y="16910"/>
                  <a:pt x="5506" y="16910"/>
                </a:cubicBezTo>
                <a:cubicBezTo>
                  <a:pt x="4700" y="17636"/>
                  <a:pt x="4700" y="17636"/>
                  <a:pt x="4700" y="17636"/>
                </a:cubicBezTo>
                <a:cubicBezTo>
                  <a:pt x="3088" y="20540"/>
                  <a:pt x="3088" y="20540"/>
                  <a:pt x="3088" y="20540"/>
                </a:cubicBezTo>
                <a:cubicBezTo>
                  <a:pt x="3410" y="20903"/>
                  <a:pt x="3410" y="20903"/>
                  <a:pt x="3410" y="20903"/>
                </a:cubicBezTo>
                <a:cubicBezTo>
                  <a:pt x="5990" y="19088"/>
                  <a:pt x="5990" y="19088"/>
                  <a:pt x="5990" y="19088"/>
                </a:cubicBezTo>
                <a:cubicBezTo>
                  <a:pt x="6634" y="17999"/>
                  <a:pt x="6634" y="17999"/>
                  <a:pt x="6634" y="17999"/>
                </a:cubicBezTo>
                <a:cubicBezTo>
                  <a:pt x="6473" y="17817"/>
                  <a:pt x="6473" y="17817"/>
                  <a:pt x="6473" y="17817"/>
                </a:cubicBezTo>
                <a:cubicBezTo>
                  <a:pt x="9858" y="14187"/>
                  <a:pt x="9858" y="14187"/>
                  <a:pt x="9858" y="14187"/>
                </a:cubicBezTo>
                <a:cubicBezTo>
                  <a:pt x="15500" y="20540"/>
                  <a:pt x="15500" y="20540"/>
                  <a:pt x="15500" y="20540"/>
                </a:cubicBezTo>
                <a:cubicBezTo>
                  <a:pt x="15984" y="20903"/>
                  <a:pt x="16467" y="21266"/>
                  <a:pt x="16951" y="21266"/>
                </a:cubicBezTo>
                <a:cubicBezTo>
                  <a:pt x="17434" y="21266"/>
                  <a:pt x="17918" y="20903"/>
                  <a:pt x="18402" y="20540"/>
                </a:cubicBezTo>
                <a:cubicBezTo>
                  <a:pt x="19207" y="19632"/>
                  <a:pt x="19207" y="18180"/>
                  <a:pt x="18402" y="17273"/>
                </a:cubicBezTo>
                <a:cubicBezTo>
                  <a:pt x="12760" y="10920"/>
                  <a:pt x="12760" y="10920"/>
                  <a:pt x="12760" y="10920"/>
                </a:cubicBezTo>
                <a:cubicBezTo>
                  <a:pt x="13727" y="9831"/>
                  <a:pt x="13727" y="9831"/>
                  <a:pt x="13727" y="9831"/>
                </a:cubicBezTo>
                <a:cubicBezTo>
                  <a:pt x="14210" y="10375"/>
                  <a:pt x="14210" y="10375"/>
                  <a:pt x="14210" y="10375"/>
                </a:cubicBezTo>
                <a:cubicBezTo>
                  <a:pt x="14533" y="10012"/>
                  <a:pt x="15016" y="9831"/>
                  <a:pt x="15500" y="10012"/>
                </a:cubicBezTo>
                <a:cubicBezTo>
                  <a:pt x="20336" y="4385"/>
                  <a:pt x="20336" y="4385"/>
                  <a:pt x="20336" y="4385"/>
                </a:cubicBezTo>
                <a:cubicBezTo>
                  <a:pt x="20336" y="4385"/>
                  <a:pt x="20336" y="4385"/>
                  <a:pt x="20336" y="4385"/>
                </a:cubicBezTo>
                <a:cubicBezTo>
                  <a:pt x="20336" y="4385"/>
                  <a:pt x="20336" y="4385"/>
                  <a:pt x="20336" y="4385"/>
                </a:cubicBezTo>
                <a:cubicBezTo>
                  <a:pt x="20497" y="4204"/>
                  <a:pt x="20497" y="4022"/>
                  <a:pt x="20497" y="3841"/>
                </a:cubicBezTo>
                <a:cubicBezTo>
                  <a:pt x="20658" y="4022"/>
                  <a:pt x="20981" y="3841"/>
                  <a:pt x="21142" y="3659"/>
                </a:cubicBezTo>
                <a:cubicBezTo>
                  <a:pt x="21303" y="3478"/>
                  <a:pt x="21303" y="2933"/>
                  <a:pt x="21142" y="2570"/>
                </a:cubicBezTo>
                <a:close/>
                <a:moveTo>
                  <a:pt x="17112" y="18362"/>
                </a:moveTo>
                <a:cubicBezTo>
                  <a:pt x="17596" y="18362"/>
                  <a:pt x="17918" y="18906"/>
                  <a:pt x="17918" y="19269"/>
                </a:cubicBezTo>
                <a:cubicBezTo>
                  <a:pt x="17918" y="19814"/>
                  <a:pt x="17596" y="20177"/>
                  <a:pt x="17112" y="20177"/>
                </a:cubicBezTo>
                <a:cubicBezTo>
                  <a:pt x="16628" y="20177"/>
                  <a:pt x="16306" y="19814"/>
                  <a:pt x="16306" y="19269"/>
                </a:cubicBezTo>
                <a:cubicBezTo>
                  <a:pt x="16306" y="18906"/>
                  <a:pt x="16628" y="18362"/>
                  <a:pt x="17112" y="18362"/>
                </a:cubicBezTo>
                <a:close/>
                <a:moveTo>
                  <a:pt x="14372" y="7108"/>
                </a:moveTo>
                <a:cubicBezTo>
                  <a:pt x="14049" y="6745"/>
                  <a:pt x="14049" y="6745"/>
                  <a:pt x="14049" y="6745"/>
                </a:cubicBezTo>
                <a:cubicBezTo>
                  <a:pt x="17757" y="2752"/>
                  <a:pt x="17757" y="2752"/>
                  <a:pt x="17757" y="2752"/>
                </a:cubicBezTo>
                <a:cubicBezTo>
                  <a:pt x="18079" y="3115"/>
                  <a:pt x="18079" y="3115"/>
                  <a:pt x="18079" y="3115"/>
                </a:cubicBezTo>
                <a:lnTo>
                  <a:pt x="14372" y="7108"/>
                </a:lnTo>
                <a:close/>
                <a:moveTo>
                  <a:pt x="15500" y="8379"/>
                </a:moveTo>
                <a:cubicBezTo>
                  <a:pt x="15178" y="8197"/>
                  <a:pt x="15178" y="8197"/>
                  <a:pt x="15178" y="8197"/>
                </a:cubicBezTo>
                <a:cubicBezTo>
                  <a:pt x="18885" y="4022"/>
                  <a:pt x="18885" y="4022"/>
                  <a:pt x="18885" y="4022"/>
                </a:cubicBezTo>
                <a:cubicBezTo>
                  <a:pt x="19207" y="4385"/>
                  <a:pt x="19207" y="4385"/>
                  <a:pt x="19207" y="4385"/>
                </a:cubicBezTo>
                <a:lnTo>
                  <a:pt x="15500" y="8379"/>
                </a:lnTo>
                <a:close/>
                <a:moveTo>
                  <a:pt x="15500" y="8379"/>
                </a:moveTo>
              </a:path>
            </a:pathLst>
          </a:custGeom>
          <a:solidFill>
            <a:srgbClr val="FFFEFE"/>
          </a:solidFill>
          <a:ln>
            <a:noFill/>
          </a:ln>
          <a:extLs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lstStyle/>
          <a:p>
            <a:endParaRPr lang="zh-CN" altLang="en-US" sz="900">
              <a:solidFill>
                <a:schemeClr val="tx1">
                  <a:lumMod val="75000"/>
                  <a:lumOff val="25000"/>
                </a:schemeClr>
              </a:solidFill>
            </a:endParaRPr>
          </a:p>
        </p:txBody>
      </p:sp>
      <p:sp>
        <p:nvSpPr>
          <p:cNvPr id="21" name="Freeform 20"/>
          <p:cNvSpPr/>
          <p:nvPr/>
        </p:nvSpPr>
        <p:spPr bwMode="auto">
          <a:xfrm>
            <a:off x="3016683" y="4856819"/>
            <a:ext cx="1908947" cy="547344"/>
          </a:xfrm>
          <a:custGeom>
            <a:avLst/>
            <a:gdLst>
              <a:gd name="T0" fmla="*/ 2147483647 w 21600"/>
              <a:gd name="T1" fmla="*/ 0 h 13600"/>
              <a:gd name="T2" fmla="*/ 0 w 21600"/>
              <a:gd name="T3" fmla="*/ 2147483647 h 13600"/>
              <a:gd name="T4" fmla="*/ 0 60000 65536"/>
              <a:gd name="T5" fmla="*/ 0 60000 65536"/>
            </a:gdLst>
            <a:ahLst/>
            <a:cxnLst>
              <a:cxn ang="T4">
                <a:pos x="T0" y="T1"/>
              </a:cxn>
              <a:cxn ang="T5">
                <a:pos x="T2" y="T3"/>
              </a:cxn>
            </a:cxnLst>
            <a:rect l="0" t="0" r="r" b="b"/>
            <a:pathLst>
              <a:path w="21600" h="13600">
                <a:moveTo>
                  <a:pt x="21600" y="0"/>
                </a:moveTo>
                <a:cubicBezTo>
                  <a:pt x="21600" y="0"/>
                  <a:pt x="14291" y="21600"/>
                  <a:pt x="0" y="10356"/>
                </a:cubicBezTo>
              </a:path>
            </a:pathLst>
          </a:custGeom>
          <a:noFill/>
          <a:ln w="38100" cap="flat">
            <a:solidFill>
              <a:schemeClr val="tx1">
                <a:lumMod val="65000"/>
                <a:lumOff val="35000"/>
              </a:schemeClr>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900"/>
          </a:p>
        </p:txBody>
      </p:sp>
      <p:sp>
        <p:nvSpPr>
          <p:cNvPr id="22" name="Oval 21"/>
          <p:cNvSpPr/>
          <p:nvPr/>
        </p:nvSpPr>
        <p:spPr bwMode="auto">
          <a:xfrm>
            <a:off x="2965327" y="5223066"/>
            <a:ext cx="108117" cy="108117"/>
          </a:xfrm>
          <a:prstGeom prst="ellipse">
            <a:avLst/>
          </a:prstGeom>
          <a:solidFill>
            <a:schemeClr val="tx1">
              <a:lumMod val="65000"/>
              <a:lumOff val="35000"/>
            </a:schemeClr>
          </a:solidFill>
          <a:ln>
            <a:noFill/>
          </a:ln>
        </p:spPr>
        <p:txBody>
          <a:bodyPr lIns="0" tIns="0" rIns="0" bIns="0"/>
          <a:lstStyle>
            <a:lvl1pPr eaLnBrk="0" hangingPunct="0">
              <a:defRPr sz="5800">
                <a:solidFill>
                  <a:srgbClr val="000000"/>
                </a:solidFill>
                <a:latin typeface="Gill Sans" charset="0"/>
                <a:ea typeface="ヒラギノ角ゴ ProN W3" pitchFamily="2" charset="-128"/>
                <a:sym typeface="Gill Sans" charset="0"/>
              </a:defRPr>
            </a:lvl1pPr>
            <a:lvl2pPr marL="742950" indent="-285750" eaLnBrk="0" hangingPunct="0">
              <a:defRPr sz="5800">
                <a:solidFill>
                  <a:srgbClr val="000000"/>
                </a:solidFill>
                <a:latin typeface="Gill Sans" charset="0"/>
                <a:ea typeface="ヒラギノ角ゴ ProN W3" pitchFamily="2" charset="-128"/>
                <a:sym typeface="Gill Sans" charset="0"/>
              </a:defRPr>
            </a:lvl2pPr>
            <a:lvl3pPr marL="1143000" indent="-228600" eaLnBrk="0" hangingPunct="0">
              <a:defRPr sz="5800">
                <a:solidFill>
                  <a:srgbClr val="000000"/>
                </a:solidFill>
                <a:latin typeface="Gill Sans" charset="0"/>
                <a:ea typeface="ヒラギノ角ゴ ProN W3" pitchFamily="2" charset="-128"/>
                <a:sym typeface="Gill Sans" charset="0"/>
              </a:defRPr>
            </a:lvl3pPr>
            <a:lvl4pPr marL="1600200" indent="-228600" eaLnBrk="0" hangingPunct="0">
              <a:defRPr sz="5800">
                <a:solidFill>
                  <a:srgbClr val="000000"/>
                </a:solidFill>
                <a:latin typeface="Gill Sans" charset="0"/>
                <a:ea typeface="ヒラギノ角ゴ ProN W3" pitchFamily="2" charset="-128"/>
                <a:sym typeface="Gill Sans" charset="0"/>
              </a:defRPr>
            </a:lvl4pPr>
            <a:lvl5pPr marL="2057400" indent="-228600" eaLnBrk="0" hangingPunct="0">
              <a:defRPr sz="5800">
                <a:solidFill>
                  <a:srgbClr val="000000"/>
                </a:solidFill>
                <a:latin typeface="Gill Sans" charset="0"/>
                <a:ea typeface="ヒラギノ角ゴ ProN W3" pitchFamily="2" charset="-128"/>
                <a:sym typeface="Gill Sans" charset="0"/>
              </a:defRPr>
            </a:lvl5pPr>
            <a:lvl6pPr marL="25146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6pPr>
            <a:lvl7pPr marL="29718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7pPr>
            <a:lvl8pPr marL="34290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8pPr>
            <a:lvl9pPr marL="38862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9pPr>
          </a:lstStyle>
          <a:p>
            <a:pPr algn="ctr" eaLnBrk="1" hangingPunct="1"/>
            <a:endParaRPr lang="es-ES" altLang="zh-CN" sz="2900"/>
          </a:p>
        </p:txBody>
      </p:sp>
      <p:sp>
        <p:nvSpPr>
          <p:cNvPr id="23" name="Oval 22"/>
          <p:cNvSpPr/>
          <p:nvPr/>
        </p:nvSpPr>
        <p:spPr bwMode="auto">
          <a:xfrm>
            <a:off x="4868192" y="4790596"/>
            <a:ext cx="108117" cy="108117"/>
          </a:xfrm>
          <a:prstGeom prst="ellipse">
            <a:avLst/>
          </a:prstGeom>
          <a:solidFill>
            <a:schemeClr val="tx1">
              <a:lumMod val="65000"/>
              <a:lumOff val="35000"/>
            </a:schemeClr>
          </a:solidFill>
          <a:ln>
            <a:noFill/>
          </a:ln>
        </p:spPr>
        <p:txBody>
          <a:bodyPr lIns="0" tIns="0" rIns="0" bIns="0"/>
          <a:lstStyle>
            <a:lvl1pPr eaLnBrk="0" hangingPunct="0">
              <a:defRPr sz="5800">
                <a:solidFill>
                  <a:srgbClr val="000000"/>
                </a:solidFill>
                <a:latin typeface="Gill Sans" charset="0"/>
                <a:ea typeface="ヒラギノ角ゴ ProN W3" pitchFamily="2" charset="-128"/>
                <a:sym typeface="Gill Sans" charset="0"/>
              </a:defRPr>
            </a:lvl1pPr>
            <a:lvl2pPr marL="742950" indent="-285750" eaLnBrk="0" hangingPunct="0">
              <a:defRPr sz="5800">
                <a:solidFill>
                  <a:srgbClr val="000000"/>
                </a:solidFill>
                <a:latin typeface="Gill Sans" charset="0"/>
                <a:ea typeface="ヒラギノ角ゴ ProN W3" pitchFamily="2" charset="-128"/>
                <a:sym typeface="Gill Sans" charset="0"/>
              </a:defRPr>
            </a:lvl2pPr>
            <a:lvl3pPr marL="1143000" indent="-228600" eaLnBrk="0" hangingPunct="0">
              <a:defRPr sz="5800">
                <a:solidFill>
                  <a:srgbClr val="000000"/>
                </a:solidFill>
                <a:latin typeface="Gill Sans" charset="0"/>
                <a:ea typeface="ヒラギノ角ゴ ProN W3" pitchFamily="2" charset="-128"/>
                <a:sym typeface="Gill Sans" charset="0"/>
              </a:defRPr>
            </a:lvl3pPr>
            <a:lvl4pPr marL="1600200" indent="-228600" eaLnBrk="0" hangingPunct="0">
              <a:defRPr sz="5800">
                <a:solidFill>
                  <a:srgbClr val="000000"/>
                </a:solidFill>
                <a:latin typeface="Gill Sans" charset="0"/>
                <a:ea typeface="ヒラギノ角ゴ ProN W3" pitchFamily="2" charset="-128"/>
                <a:sym typeface="Gill Sans" charset="0"/>
              </a:defRPr>
            </a:lvl4pPr>
            <a:lvl5pPr marL="2057400" indent="-228600" eaLnBrk="0" hangingPunct="0">
              <a:defRPr sz="5800">
                <a:solidFill>
                  <a:srgbClr val="000000"/>
                </a:solidFill>
                <a:latin typeface="Gill Sans" charset="0"/>
                <a:ea typeface="ヒラギノ角ゴ ProN W3" pitchFamily="2" charset="-128"/>
                <a:sym typeface="Gill Sans" charset="0"/>
              </a:defRPr>
            </a:lvl5pPr>
            <a:lvl6pPr marL="25146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6pPr>
            <a:lvl7pPr marL="29718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7pPr>
            <a:lvl8pPr marL="34290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8pPr>
            <a:lvl9pPr marL="38862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9pPr>
          </a:lstStyle>
          <a:p>
            <a:pPr algn="ctr" eaLnBrk="1" hangingPunct="1"/>
            <a:endParaRPr lang="es-ES" altLang="zh-CN" sz="2900">
              <a:solidFill>
                <a:schemeClr val="tx1">
                  <a:lumMod val="75000"/>
                  <a:lumOff val="25000"/>
                </a:schemeClr>
              </a:solidFill>
            </a:endParaRPr>
          </a:p>
        </p:txBody>
      </p:sp>
      <p:sp>
        <p:nvSpPr>
          <p:cNvPr id="24" name="Oval 23"/>
          <p:cNvSpPr/>
          <p:nvPr/>
        </p:nvSpPr>
        <p:spPr bwMode="auto">
          <a:xfrm>
            <a:off x="6733217" y="4390562"/>
            <a:ext cx="108117" cy="108117"/>
          </a:xfrm>
          <a:prstGeom prst="ellipse">
            <a:avLst/>
          </a:prstGeom>
          <a:solidFill>
            <a:schemeClr val="tx1">
              <a:lumMod val="65000"/>
              <a:lumOff val="35000"/>
            </a:schemeClr>
          </a:solidFill>
          <a:ln>
            <a:noFill/>
          </a:ln>
        </p:spPr>
        <p:txBody>
          <a:bodyPr lIns="0" tIns="0" rIns="0" bIns="0"/>
          <a:lstStyle>
            <a:lvl1pPr eaLnBrk="0" hangingPunct="0">
              <a:defRPr sz="5800">
                <a:solidFill>
                  <a:srgbClr val="000000"/>
                </a:solidFill>
                <a:latin typeface="Gill Sans" charset="0"/>
                <a:ea typeface="ヒラギノ角ゴ ProN W3" pitchFamily="2" charset="-128"/>
                <a:sym typeface="Gill Sans" charset="0"/>
              </a:defRPr>
            </a:lvl1pPr>
            <a:lvl2pPr marL="742950" indent="-285750" eaLnBrk="0" hangingPunct="0">
              <a:defRPr sz="5800">
                <a:solidFill>
                  <a:srgbClr val="000000"/>
                </a:solidFill>
                <a:latin typeface="Gill Sans" charset="0"/>
                <a:ea typeface="ヒラギノ角ゴ ProN W3" pitchFamily="2" charset="-128"/>
                <a:sym typeface="Gill Sans" charset="0"/>
              </a:defRPr>
            </a:lvl2pPr>
            <a:lvl3pPr marL="1143000" indent="-228600" eaLnBrk="0" hangingPunct="0">
              <a:defRPr sz="5800">
                <a:solidFill>
                  <a:srgbClr val="000000"/>
                </a:solidFill>
                <a:latin typeface="Gill Sans" charset="0"/>
                <a:ea typeface="ヒラギノ角ゴ ProN W3" pitchFamily="2" charset="-128"/>
                <a:sym typeface="Gill Sans" charset="0"/>
              </a:defRPr>
            </a:lvl3pPr>
            <a:lvl4pPr marL="1600200" indent="-228600" eaLnBrk="0" hangingPunct="0">
              <a:defRPr sz="5800">
                <a:solidFill>
                  <a:srgbClr val="000000"/>
                </a:solidFill>
                <a:latin typeface="Gill Sans" charset="0"/>
                <a:ea typeface="ヒラギノ角ゴ ProN W3" pitchFamily="2" charset="-128"/>
                <a:sym typeface="Gill Sans" charset="0"/>
              </a:defRPr>
            </a:lvl4pPr>
            <a:lvl5pPr marL="2057400" indent="-228600" eaLnBrk="0" hangingPunct="0">
              <a:defRPr sz="5800">
                <a:solidFill>
                  <a:srgbClr val="000000"/>
                </a:solidFill>
                <a:latin typeface="Gill Sans" charset="0"/>
                <a:ea typeface="ヒラギノ角ゴ ProN W3" pitchFamily="2" charset="-128"/>
                <a:sym typeface="Gill Sans" charset="0"/>
              </a:defRPr>
            </a:lvl5pPr>
            <a:lvl6pPr marL="25146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6pPr>
            <a:lvl7pPr marL="29718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7pPr>
            <a:lvl8pPr marL="34290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8pPr>
            <a:lvl9pPr marL="38862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9pPr>
          </a:lstStyle>
          <a:p>
            <a:pPr algn="ctr" eaLnBrk="1" hangingPunct="1"/>
            <a:endParaRPr lang="es-ES" altLang="zh-CN" sz="2900">
              <a:solidFill>
                <a:schemeClr val="tx1">
                  <a:lumMod val="75000"/>
                  <a:lumOff val="25000"/>
                </a:schemeClr>
              </a:solidFill>
            </a:endParaRPr>
          </a:p>
        </p:txBody>
      </p:sp>
      <p:sp>
        <p:nvSpPr>
          <p:cNvPr id="25" name="Oval 24"/>
          <p:cNvSpPr/>
          <p:nvPr/>
        </p:nvSpPr>
        <p:spPr bwMode="auto">
          <a:xfrm>
            <a:off x="8652299" y="3887816"/>
            <a:ext cx="108117" cy="108117"/>
          </a:xfrm>
          <a:prstGeom prst="ellipse">
            <a:avLst/>
          </a:prstGeom>
          <a:solidFill>
            <a:schemeClr val="tx1">
              <a:lumMod val="65000"/>
              <a:lumOff val="35000"/>
            </a:schemeClr>
          </a:solidFill>
          <a:ln>
            <a:noFill/>
          </a:ln>
        </p:spPr>
        <p:txBody>
          <a:bodyPr lIns="0" tIns="0" rIns="0" bIns="0"/>
          <a:lstStyle>
            <a:lvl1pPr eaLnBrk="0" hangingPunct="0">
              <a:defRPr sz="5800">
                <a:solidFill>
                  <a:srgbClr val="000000"/>
                </a:solidFill>
                <a:latin typeface="Gill Sans" charset="0"/>
                <a:ea typeface="ヒラギノ角ゴ ProN W3" pitchFamily="2" charset="-128"/>
                <a:sym typeface="Gill Sans" charset="0"/>
              </a:defRPr>
            </a:lvl1pPr>
            <a:lvl2pPr marL="742950" indent="-285750" eaLnBrk="0" hangingPunct="0">
              <a:defRPr sz="5800">
                <a:solidFill>
                  <a:srgbClr val="000000"/>
                </a:solidFill>
                <a:latin typeface="Gill Sans" charset="0"/>
                <a:ea typeface="ヒラギノ角ゴ ProN W3" pitchFamily="2" charset="-128"/>
                <a:sym typeface="Gill Sans" charset="0"/>
              </a:defRPr>
            </a:lvl2pPr>
            <a:lvl3pPr marL="1143000" indent="-228600" eaLnBrk="0" hangingPunct="0">
              <a:defRPr sz="5800">
                <a:solidFill>
                  <a:srgbClr val="000000"/>
                </a:solidFill>
                <a:latin typeface="Gill Sans" charset="0"/>
                <a:ea typeface="ヒラギノ角ゴ ProN W3" pitchFamily="2" charset="-128"/>
                <a:sym typeface="Gill Sans" charset="0"/>
              </a:defRPr>
            </a:lvl3pPr>
            <a:lvl4pPr marL="1600200" indent="-228600" eaLnBrk="0" hangingPunct="0">
              <a:defRPr sz="5800">
                <a:solidFill>
                  <a:srgbClr val="000000"/>
                </a:solidFill>
                <a:latin typeface="Gill Sans" charset="0"/>
                <a:ea typeface="ヒラギノ角ゴ ProN W3" pitchFamily="2" charset="-128"/>
                <a:sym typeface="Gill Sans" charset="0"/>
              </a:defRPr>
            </a:lvl4pPr>
            <a:lvl5pPr marL="2057400" indent="-228600" eaLnBrk="0" hangingPunct="0">
              <a:defRPr sz="5800">
                <a:solidFill>
                  <a:srgbClr val="000000"/>
                </a:solidFill>
                <a:latin typeface="Gill Sans" charset="0"/>
                <a:ea typeface="ヒラギノ角ゴ ProN W3" pitchFamily="2" charset="-128"/>
                <a:sym typeface="Gill Sans" charset="0"/>
              </a:defRPr>
            </a:lvl5pPr>
            <a:lvl6pPr marL="25146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6pPr>
            <a:lvl7pPr marL="29718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7pPr>
            <a:lvl8pPr marL="34290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8pPr>
            <a:lvl9pPr marL="38862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9pPr>
          </a:lstStyle>
          <a:p>
            <a:pPr algn="ctr" eaLnBrk="1" hangingPunct="1"/>
            <a:endParaRPr lang="es-ES" altLang="zh-CN" sz="2900">
              <a:solidFill>
                <a:schemeClr val="tx1">
                  <a:lumMod val="75000"/>
                  <a:lumOff val="25000"/>
                </a:schemeClr>
              </a:solidFill>
            </a:endParaRPr>
          </a:p>
        </p:txBody>
      </p:sp>
      <p:sp>
        <p:nvSpPr>
          <p:cNvPr id="26" name="Freeform 25"/>
          <p:cNvSpPr/>
          <p:nvPr/>
        </p:nvSpPr>
        <p:spPr bwMode="auto">
          <a:xfrm>
            <a:off x="3017359" y="4420970"/>
            <a:ext cx="3792892" cy="1108879"/>
          </a:xfrm>
          <a:custGeom>
            <a:avLst/>
            <a:gdLst>
              <a:gd name="T0" fmla="*/ 2147483647 w 21600"/>
              <a:gd name="T1" fmla="*/ 0 h 13749"/>
              <a:gd name="T2" fmla="*/ 0 w 21600"/>
              <a:gd name="T3" fmla="*/ 2147483647 h 13749"/>
              <a:gd name="T4" fmla="*/ 0 60000 65536"/>
              <a:gd name="T5" fmla="*/ 0 60000 65536"/>
            </a:gdLst>
            <a:ahLst/>
            <a:cxnLst>
              <a:cxn ang="T4">
                <a:pos x="T0" y="T1"/>
              </a:cxn>
              <a:cxn ang="T5">
                <a:pos x="T2" y="T3"/>
              </a:cxn>
            </a:cxnLst>
            <a:rect l="0" t="0" r="r" b="b"/>
            <a:pathLst>
              <a:path w="21600" h="13749">
                <a:moveTo>
                  <a:pt x="21600" y="0"/>
                </a:moveTo>
                <a:cubicBezTo>
                  <a:pt x="21600" y="0"/>
                  <a:pt x="14353" y="21600"/>
                  <a:pt x="0" y="10652"/>
                </a:cubicBezTo>
              </a:path>
            </a:pathLst>
          </a:custGeom>
          <a:noFill/>
          <a:ln w="38100" cap="flat">
            <a:solidFill>
              <a:schemeClr val="tx1">
                <a:lumMod val="65000"/>
                <a:lumOff val="35000"/>
              </a:schemeClr>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900"/>
          </a:p>
        </p:txBody>
      </p:sp>
      <p:sp>
        <p:nvSpPr>
          <p:cNvPr id="27" name="Freeform 26"/>
          <p:cNvSpPr/>
          <p:nvPr/>
        </p:nvSpPr>
        <p:spPr bwMode="auto">
          <a:xfrm>
            <a:off x="3024791" y="3956066"/>
            <a:ext cx="5697785" cy="1700145"/>
          </a:xfrm>
          <a:custGeom>
            <a:avLst/>
            <a:gdLst>
              <a:gd name="T0" fmla="*/ 2147483647 w 21600"/>
              <a:gd name="T1" fmla="*/ 0 h 13921"/>
              <a:gd name="T2" fmla="*/ 0 w 21600"/>
              <a:gd name="T3" fmla="*/ 2147483647 h 13921"/>
              <a:gd name="T4" fmla="*/ 0 60000 65536"/>
              <a:gd name="T5" fmla="*/ 0 60000 65536"/>
            </a:gdLst>
            <a:ahLst/>
            <a:cxnLst>
              <a:cxn ang="T4">
                <a:pos x="T0" y="T1"/>
              </a:cxn>
              <a:cxn ang="T5">
                <a:pos x="T2" y="T3"/>
              </a:cxn>
            </a:cxnLst>
            <a:rect l="0" t="0" r="r" b="b"/>
            <a:pathLst>
              <a:path w="21600" h="13921">
                <a:moveTo>
                  <a:pt x="21600" y="0"/>
                </a:moveTo>
                <a:cubicBezTo>
                  <a:pt x="21600" y="0"/>
                  <a:pt x="14425" y="21600"/>
                  <a:pt x="0" y="10989"/>
                </a:cubicBezTo>
              </a:path>
            </a:pathLst>
          </a:custGeom>
          <a:noFill/>
          <a:ln w="38100" cap="flat">
            <a:solidFill>
              <a:schemeClr val="tx1">
                <a:lumMod val="65000"/>
                <a:lumOff val="35000"/>
              </a:schemeClr>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sz="900"/>
          </a:p>
        </p:txBody>
      </p:sp>
      <p:sp>
        <p:nvSpPr>
          <p:cNvPr id="28" name="AutoShape 27"/>
          <p:cNvSpPr/>
          <p:nvPr/>
        </p:nvSpPr>
        <p:spPr bwMode="auto">
          <a:xfrm>
            <a:off x="2881536" y="4609500"/>
            <a:ext cx="346652" cy="344624"/>
          </a:xfrm>
          <a:custGeom>
            <a:avLst/>
            <a:gdLst>
              <a:gd name="T0" fmla="*/ 3038304 w 20931"/>
              <a:gd name="T1" fmla="*/ 2801589 h 20973"/>
              <a:gd name="T2" fmla="*/ 3038304 w 20931"/>
              <a:gd name="T3" fmla="*/ 16884038 h 20973"/>
              <a:gd name="T4" fmla="*/ 13165959 w 20931"/>
              <a:gd name="T5" fmla="*/ 19471032 h 20973"/>
              <a:gd name="T6" fmla="*/ 16349585 w 20931"/>
              <a:gd name="T7" fmla="*/ 22631785 h 20973"/>
              <a:gd name="T8" fmla="*/ 20689797 w 20931"/>
              <a:gd name="T9" fmla="*/ 21770431 h 20973"/>
              <a:gd name="T10" fmla="*/ 20689797 w 20931"/>
              <a:gd name="T11" fmla="*/ 25794005 h 20973"/>
              <a:gd name="T12" fmla="*/ 21847862 w 20931"/>
              <a:gd name="T13" fmla="*/ 26942952 h 20973"/>
              <a:gd name="T14" fmla="*/ 25609781 w 20931"/>
              <a:gd name="T15" fmla="*/ 26942952 h 20973"/>
              <a:gd name="T16" fmla="*/ 25609781 w 20931"/>
              <a:gd name="T17" fmla="*/ 31254119 h 20973"/>
              <a:gd name="T18" fmla="*/ 31686389 w 20931"/>
              <a:gd name="T19" fmla="*/ 31254119 h 20973"/>
              <a:gd name="T20" fmla="*/ 31686389 w 20931"/>
              <a:gd name="T21" fmla="*/ 25218778 h 20973"/>
              <a:gd name="T22" fmla="*/ 19533212 w 20931"/>
              <a:gd name="T23" fmla="*/ 13148097 h 20973"/>
              <a:gd name="T24" fmla="*/ 17217005 w 20931"/>
              <a:gd name="T25" fmla="*/ 2801589 h 20973"/>
              <a:gd name="T26" fmla="*/ 3038304 w 20931"/>
              <a:gd name="T27" fmla="*/ 2801589 h 20973"/>
              <a:gd name="T28" fmla="*/ 3907241 w 20931"/>
              <a:gd name="T29" fmla="*/ 14297044 h 20973"/>
              <a:gd name="T30" fmla="*/ 5063827 w 20931"/>
              <a:gd name="T31" fmla="*/ 4813356 h 20973"/>
              <a:gd name="T32" fmla="*/ 14324062 w 20931"/>
              <a:gd name="T33" fmla="*/ 3952042 h 20973"/>
              <a:gd name="T34" fmla="*/ 3907241 w 20931"/>
              <a:gd name="T35" fmla="*/ 14297044 h 20973"/>
              <a:gd name="T36" fmla="*/ 3907241 w 20931"/>
              <a:gd name="T37" fmla="*/ 14297044 h 2097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0931" h="20973">
                <a:moveTo>
                  <a:pt x="2007" y="1880"/>
                </a:moveTo>
                <a:cubicBezTo>
                  <a:pt x="-669" y="4580"/>
                  <a:pt x="-669" y="8823"/>
                  <a:pt x="2007" y="11330"/>
                </a:cubicBezTo>
                <a:cubicBezTo>
                  <a:pt x="3727" y="13259"/>
                  <a:pt x="6404" y="13837"/>
                  <a:pt x="8697" y="13066"/>
                </a:cubicBezTo>
                <a:cubicBezTo>
                  <a:pt x="10800" y="15187"/>
                  <a:pt x="10800" y="15187"/>
                  <a:pt x="10800" y="15187"/>
                </a:cubicBezTo>
                <a:cubicBezTo>
                  <a:pt x="10800" y="15187"/>
                  <a:pt x="12712" y="13644"/>
                  <a:pt x="13667" y="14609"/>
                </a:cubicBezTo>
                <a:cubicBezTo>
                  <a:pt x="14432" y="15380"/>
                  <a:pt x="13858" y="16537"/>
                  <a:pt x="13667" y="17309"/>
                </a:cubicBezTo>
                <a:cubicBezTo>
                  <a:pt x="13476" y="17694"/>
                  <a:pt x="13285" y="18466"/>
                  <a:pt x="14432" y="18080"/>
                </a:cubicBezTo>
                <a:cubicBezTo>
                  <a:pt x="14814" y="17887"/>
                  <a:pt x="16152" y="17116"/>
                  <a:pt x="16917" y="18080"/>
                </a:cubicBezTo>
                <a:cubicBezTo>
                  <a:pt x="17873" y="19044"/>
                  <a:pt x="16917" y="20973"/>
                  <a:pt x="16917" y="20973"/>
                </a:cubicBezTo>
                <a:cubicBezTo>
                  <a:pt x="20931" y="20973"/>
                  <a:pt x="20931" y="20973"/>
                  <a:pt x="20931" y="20973"/>
                </a:cubicBezTo>
                <a:cubicBezTo>
                  <a:pt x="20931" y="16923"/>
                  <a:pt x="20931" y="16923"/>
                  <a:pt x="20931" y="16923"/>
                </a:cubicBezTo>
                <a:cubicBezTo>
                  <a:pt x="12903" y="8823"/>
                  <a:pt x="12903" y="8823"/>
                  <a:pt x="12903" y="8823"/>
                </a:cubicBezTo>
                <a:cubicBezTo>
                  <a:pt x="13667" y="6509"/>
                  <a:pt x="13094" y="3809"/>
                  <a:pt x="11373" y="1880"/>
                </a:cubicBezTo>
                <a:cubicBezTo>
                  <a:pt x="8697" y="-627"/>
                  <a:pt x="4492" y="-627"/>
                  <a:pt x="2007" y="1880"/>
                </a:cubicBezTo>
                <a:close/>
                <a:moveTo>
                  <a:pt x="2581" y="9594"/>
                </a:moveTo>
                <a:cubicBezTo>
                  <a:pt x="1434" y="7666"/>
                  <a:pt x="1625" y="4966"/>
                  <a:pt x="3345" y="3230"/>
                </a:cubicBezTo>
                <a:cubicBezTo>
                  <a:pt x="4874" y="1494"/>
                  <a:pt x="7550" y="1302"/>
                  <a:pt x="9462" y="2652"/>
                </a:cubicBezTo>
                <a:lnTo>
                  <a:pt x="2581" y="9594"/>
                </a:lnTo>
                <a:close/>
                <a:moveTo>
                  <a:pt x="2581" y="9594"/>
                </a:moveTo>
              </a:path>
            </a:pathLst>
          </a:custGeom>
          <a:solidFill>
            <a:srgbClr val="FFFEFE"/>
          </a:solidFill>
          <a:ln>
            <a:noFill/>
          </a:ln>
          <a:extLs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lstStyle/>
          <a:p>
            <a:endParaRPr lang="zh-CN" altLang="en-US" sz="900">
              <a:solidFill>
                <a:schemeClr val="tx1">
                  <a:lumMod val="75000"/>
                  <a:lumOff val="25000"/>
                </a:schemeClr>
              </a:solidFill>
            </a:endParaRPr>
          </a:p>
        </p:txBody>
      </p:sp>
      <p:grpSp>
        <p:nvGrpSpPr>
          <p:cNvPr id="29" name="Group 28"/>
          <p:cNvGrpSpPr/>
          <p:nvPr/>
        </p:nvGrpSpPr>
        <p:grpSpPr bwMode="auto">
          <a:xfrm>
            <a:off x="4763454" y="4120945"/>
            <a:ext cx="329757" cy="394628"/>
            <a:chOff x="0" y="0"/>
            <a:chExt cx="488" cy="584"/>
          </a:xfrm>
        </p:grpSpPr>
        <p:sp>
          <p:nvSpPr>
            <p:cNvPr id="30" name="AutoShape 29"/>
            <p:cNvSpPr/>
            <p:nvPr/>
          </p:nvSpPr>
          <p:spPr bwMode="auto">
            <a:xfrm>
              <a:off x="74" y="73"/>
              <a:ext cx="339" cy="318"/>
            </a:xfrm>
            <a:custGeom>
              <a:avLst/>
              <a:gdLst>
                <a:gd name="T0" fmla="*/ 4 w 21600"/>
                <a:gd name="T1" fmla="*/ 4 h 21600"/>
                <a:gd name="T2" fmla="*/ 4 w 21600"/>
                <a:gd name="T3" fmla="*/ 5 h 21600"/>
                <a:gd name="T4" fmla="*/ 5 w 21600"/>
                <a:gd name="T5" fmla="*/ 2 h 21600"/>
                <a:gd name="T6" fmla="*/ 3 w 21600"/>
                <a:gd name="T7" fmla="*/ 0 h 21600"/>
                <a:gd name="T8" fmla="*/ 0 w 21600"/>
                <a:gd name="T9" fmla="*/ 2 h 21600"/>
                <a:gd name="T10" fmla="*/ 2 w 21600"/>
                <a:gd name="T11" fmla="*/ 5 h 21600"/>
                <a:gd name="T12" fmla="*/ 2 w 21600"/>
                <a:gd name="T13" fmla="*/ 4 h 21600"/>
                <a:gd name="T14" fmla="*/ 1 w 21600"/>
                <a:gd name="T15" fmla="*/ 2 h 21600"/>
                <a:gd name="T16" fmla="*/ 3 w 21600"/>
                <a:gd name="T17" fmla="*/ 1 h 21600"/>
                <a:gd name="T18" fmla="*/ 5 w 21600"/>
                <a:gd name="T19" fmla="*/ 2 h 21600"/>
                <a:gd name="T20" fmla="*/ 4 w 21600"/>
                <a:gd name="T21" fmla="*/ 4 h 21600"/>
                <a:gd name="T22" fmla="*/ 4 w 21600"/>
                <a:gd name="T23" fmla="*/ 4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600" h="21600">
                  <a:moveTo>
                    <a:pt x="14751" y="18554"/>
                  </a:moveTo>
                  <a:cubicBezTo>
                    <a:pt x="14751" y="21600"/>
                    <a:pt x="14751" y="21600"/>
                    <a:pt x="14751" y="21600"/>
                  </a:cubicBezTo>
                  <a:cubicBezTo>
                    <a:pt x="18702" y="19938"/>
                    <a:pt x="21600" y="15785"/>
                    <a:pt x="21600" y="11354"/>
                  </a:cubicBezTo>
                  <a:cubicBezTo>
                    <a:pt x="21600" y="4985"/>
                    <a:pt x="16595" y="0"/>
                    <a:pt x="10800" y="0"/>
                  </a:cubicBezTo>
                  <a:cubicBezTo>
                    <a:pt x="4741" y="0"/>
                    <a:pt x="0" y="4985"/>
                    <a:pt x="0" y="11354"/>
                  </a:cubicBezTo>
                  <a:cubicBezTo>
                    <a:pt x="0" y="15785"/>
                    <a:pt x="2634" y="19938"/>
                    <a:pt x="6585" y="21600"/>
                  </a:cubicBezTo>
                  <a:cubicBezTo>
                    <a:pt x="6585" y="18554"/>
                    <a:pt x="6585" y="18554"/>
                    <a:pt x="6585" y="18554"/>
                  </a:cubicBezTo>
                  <a:cubicBezTo>
                    <a:pt x="4215" y="16892"/>
                    <a:pt x="2634" y="14400"/>
                    <a:pt x="2634" y="11354"/>
                  </a:cubicBezTo>
                  <a:cubicBezTo>
                    <a:pt x="2634" y="6369"/>
                    <a:pt x="6322" y="2769"/>
                    <a:pt x="10800" y="2769"/>
                  </a:cubicBezTo>
                  <a:cubicBezTo>
                    <a:pt x="15278" y="2769"/>
                    <a:pt x="18966" y="6369"/>
                    <a:pt x="18966" y="11354"/>
                  </a:cubicBezTo>
                  <a:cubicBezTo>
                    <a:pt x="18966" y="14400"/>
                    <a:pt x="17385" y="17169"/>
                    <a:pt x="14751" y="18554"/>
                  </a:cubicBezTo>
                  <a:close/>
                  <a:moveTo>
                    <a:pt x="14751" y="18554"/>
                  </a:moveTo>
                </a:path>
              </a:pathLst>
            </a:custGeom>
            <a:solidFill>
              <a:srgbClr val="FFFEFE"/>
            </a:solidFill>
            <a:ln>
              <a:noFill/>
            </a:ln>
            <a:extLs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lstStyle/>
            <a:p>
              <a:endParaRPr lang="zh-CN" altLang="en-US" sz="900">
                <a:solidFill>
                  <a:schemeClr val="tx1">
                    <a:lumMod val="75000"/>
                    <a:lumOff val="25000"/>
                  </a:schemeClr>
                </a:solidFill>
              </a:endParaRPr>
            </a:p>
          </p:txBody>
        </p:sp>
        <p:sp>
          <p:nvSpPr>
            <p:cNvPr id="31" name="AutoShape 30"/>
            <p:cNvSpPr/>
            <p:nvPr/>
          </p:nvSpPr>
          <p:spPr bwMode="auto">
            <a:xfrm>
              <a:off x="0" y="0"/>
              <a:ext cx="488" cy="470"/>
            </a:xfrm>
            <a:custGeom>
              <a:avLst/>
              <a:gdLst>
                <a:gd name="T0" fmla="*/ 6 w 21600"/>
                <a:gd name="T1" fmla="*/ 0 h 21600"/>
                <a:gd name="T2" fmla="*/ 0 w 21600"/>
                <a:gd name="T3" fmla="*/ 5 h 21600"/>
                <a:gd name="T4" fmla="*/ 4 w 21600"/>
                <a:gd name="T5" fmla="*/ 10 h 21600"/>
                <a:gd name="T6" fmla="*/ 4 w 21600"/>
                <a:gd name="T7" fmla="*/ 10 h 21600"/>
                <a:gd name="T8" fmla="*/ 1 w 21600"/>
                <a:gd name="T9" fmla="*/ 5 h 21600"/>
                <a:gd name="T10" fmla="*/ 6 w 21600"/>
                <a:gd name="T11" fmla="*/ 1 h 21600"/>
                <a:gd name="T12" fmla="*/ 10 w 21600"/>
                <a:gd name="T13" fmla="*/ 5 h 21600"/>
                <a:gd name="T14" fmla="*/ 7 w 21600"/>
                <a:gd name="T15" fmla="*/ 10 h 21600"/>
                <a:gd name="T16" fmla="*/ 7 w 21600"/>
                <a:gd name="T17" fmla="*/ 10 h 21600"/>
                <a:gd name="T18" fmla="*/ 11 w 21600"/>
                <a:gd name="T19" fmla="*/ 5 h 21600"/>
                <a:gd name="T20" fmla="*/ 6 w 21600"/>
                <a:gd name="T21" fmla="*/ 0 h 21600"/>
                <a:gd name="T22" fmla="*/ 6 w 21600"/>
                <a:gd name="T23" fmla="*/ 0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600" h="21600">
                  <a:moveTo>
                    <a:pt x="10800" y="0"/>
                  </a:moveTo>
                  <a:cubicBezTo>
                    <a:pt x="4759" y="0"/>
                    <a:pt x="0" y="4883"/>
                    <a:pt x="0" y="11082"/>
                  </a:cubicBezTo>
                  <a:cubicBezTo>
                    <a:pt x="0" y="15965"/>
                    <a:pt x="3295" y="20285"/>
                    <a:pt x="7871" y="21600"/>
                  </a:cubicBezTo>
                  <a:cubicBezTo>
                    <a:pt x="7871" y="20097"/>
                    <a:pt x="7871" y="20097"/>
                    <a:pt x="7871" y="20097"/>
                  </a:cubicBezTo>
                  <a:cubicBezTo>
                    <a:pt x="4027" y="18783"/>
                    <a:pt x="1464" y="15214"/>
                    <a:pt x="1464" y="11082"/>
                  </a:cubicBezTo>
                  <a:cubicBezTo>
                    <a:pt x="1464" y="5635"/>
                    <a:pt x="5675" y="1503"/>
                    <a:pt x="10800" y="1503"/>
                  </a:cubicBezTo>
                  <a:cubicBezTo>
                    <a:pt x="15925" y="1503"/>
                    <a:pt x="20136" y="5635"/>
                    <a:pt x="20136" y="11082"/>
                  </a:cubicBezTo>
                  <a:cubicBezTo>
                    <a:pt x="20136" y="15214"/>
                    <a:pt x="17390" y="18783"/>
                    <a:pt x="13546" y="20097"/>
                  </a:cubicBezTo>
                  <a:cubicBezTo>
                    <a:pt x="13546" y="21600"/>
                    <a:pt x="13546" y="21600"/>
                    <a:pt x="13546" y="21600"/>
                  </a:cubicBezTo>
                  <a:cubicBezTo>
                    <a:pt x="18122" y="20285"/>
                    <a:pt x="21600" y="16153"/>
                    <a:pt x="21600" y="11082"/>
                  </a:cubicBezTo>
                  <a:cubicBezTo>
                    <a:pt x="21600" y="4883"/>
                    <a:pt x="16658" y="0"/>
                    <a:pt x="10800" y="0"/>
                  </a:cubicBezTo>
                  <a:close/>
                  <a:moveTo>
                    <a:pt x="10800" y="0"/>
                  </a:moveTo>
                </a:path>
              </a:pathLst>
            </a:custGeom>
            <a:solidFill>
              <a:srgbClr val="FFFEFE"/>
            </a:solidFill>
            <a:ln>
              <a:noFill/>
            </a:ln>
            <a:extLs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lstStyle/>
            <a:p>
              <a:endParaRPr lang="zh-CN" altLang="en-US" sz="900">
                <a:solidFill>
                  <a:schemeClr val="tx1">
                    <a:lumMod val="75000"/>
                    <a:lumOff val="25000"/>
                  </a:schemeClr>
                </a:solidFill>
              </a:endParaRPr>
            </a:p>
          </p:txBody>
        </p:sp>
        <p:sp>
          <p:nvSpPr>
            <p:cNvPr id="32" name="AutoShape 31"/>
            <p:cNvSpPr/>
            <p:nvPr/>
          </p:nvSpPr>
          <p:spPr bwMode="auto">
            <a:xfrm>
              <a:off x="175" y="192"/>
              <a:ext cx="148" cy="392"/>
            </a:xfrm>
            <a:custGeom>
              <a:avLst/>
              <a:gdLst>
                <a:gd name="T0" fmla="*/ 1 w 21600"/>
                <a:gd name="T1" fmla="*/ 6 h 21600"/>
                <a:gd name="T2" fmla="*/ 1 w 21600"/>
                <a:gd name="T3" fmla="*/ 2 h 21600"/>
                <a:gd name="T4" fmla="*/ 1 w 21600"/>
                <a:gd name="T5" fmla="*/ 1 h 21600"/>
                <a:gd name="T6" fmla="*/ 0 w 21600"/>
                <a:gd name="T7" fmla="*/ 0 h 21600"/>
                <a:gd name="T8" fmla="*/ 0 w 21600"/>
                <a:gd name="T9" fmla="*/ 1 h 21600"/>
                <a:gd name="T10" fmla="*/ 0 w 21600"/>
                <a:gd name="T11" fmla="*/ 2 h 21600"/>
                <a:gd name="T12" fmla="*/ 0 w 21600"/>
                <a:gd name="T13" fmla="*/ 2 h 21600"/>
                <a:gd name="T14" fmla="*/ 0 w 21600"/>
                <a:gd name="T15" fmla="*/ 6 h 21600"/>
                <a:gd name="T16" fmla="*/ 0 w 21600"/>
                <a:gd name="T17" fmla="*/ 7 h 21600"/>
                <a:gd name="T18" fmla="*/ 1 w 21600"/>
                <a:gd name="T19" fmla="*/ 7 h 21600"/>
                <a:gd name="T20" fmla="*/ 1 w 21600"/>
                <a:gd name="T21" fmla="*/ 6 h 21600"/>
                <a:gd name="T22" fmla="*/ 1 w 21600"/>
                <a:gd name="T23" fmla="*/ 6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600" h="21600">
                  <a:moveTo>
                    <a:pt x="14400" y="18450"/>
                  </a:moveTo>
                  <a:cubicBezTo>
                    <a:pt x="14400" y="17775"/>
                    <a:pt x="14400" y="4950"/>
                    <a:pt x="14400" y="4725"/>
                  </a:cubicBezTo>
                  <a:cubicBezTo>
                    <a:pt x="16200" y="4275"/>
                    <a:pt x="17400" y="3600"/>
                    <a:pt x="17400" y="2700"/>
                  </a:cubicBezTo>
                  <a:cubicBezTo>
                    <a:pt x="17400" y="1125"/>
                    <a:pt x="13800" y="0"/>
                    <a:pt x="10200" y="0"/>
                  </a:cubicBezTo>
                  <a:cubicBezTo>
                    <a:pt x="6000" y="0"/>
                    <a:pt x="3000" y="1125"/>
                    <a:pt x="3000" y="2700"/>
                  </a:cubicBezTo>
                  <a:cubicBezTo>
                    <a:pt x="3000" y="3600"/>
                    <a:pt x="4200" y="4275"/>
                    <a:pt x="6000" y="4725"/>
                  </a:cubicBezTo>
                  <a:cubicBezTo>
                    <a:pt x="6000" y="4725"/>
                    <a:pt x="6000" y="4725"/>
                    <a:pt x="6000" y="4725"/>
                  </a:cubicBezTo>
                  <a:cubicBezTo>
                    <a:pt x="6000" y="4725"/>
                    <a:pt x="6000" y="17550"/>
                    <a:pt x="6000" y="18450"/>
                  </a:cubicBezTo>
                  <a:cubicBezTo>
                    <a:pt x="6000" y="20700"/>
                    <a:pt x="0" y="21600"/>
                    <a:pt x="0" y="21600"/>
                  </a:cubicBezTo>
                  <a:cubicBezTo>
                    <a:pt x="21600" y="21600"/>
                    <a:pt x="21600" y="21600"/>
                    <a:pt x="21600" y="21600"/>
                  </a:cubicBezTo>
                  <a:cubicBezTo>
                    <a:pt x="21600" y="21600"/>
                    <a:pt x="14400" y="20700"/>
                    <a:pt x="14400" y="18450"/>
                  </a:cubicBezTo>
                  <a:close/>
                  <a:moveTo>
                    <a:pt x="14400" y="18450"/>
                  </a:moveTo>
                </a:path>
              </a:pathLst>
            </a:custGeom>
            <a:solidFill>
              <a:srgbClr val="FFFEFE"/>
            </a:solidFill>
            <a:ln>
              <a:noFill/>
            </a:ln>
            <a:extLs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lstStyle/>
            <a:p>
              <a:endParaRPr lang="zh-CN" altLang="en-US" sz="900">
                <a:solidFill>
                  <a:schemeClr val="tx1">
                    <a:lumMod val="75000"/>
                    <a:lumOff val="25000"/>
                  </a:schemeClr>
                </a:solidFill>
              </a:endParaRPr>
            </a:p>
          </p:txBody>
        </p:sp>
      </p:grpSp>
      <p:grpSp>
        <p:nvGrpSpPr>
          <p:cNvPr id="33" name="Group 32"/>
          <p:cNvGrpSpPr/>
          <p:nvPr/>
        </p:nvGrpSpPr>
        <p:grpSpPr bwMode="auto">
          <a:xfrm>
            <a:off x="6627126" y="3664149"/>
            <a:ext cx="302729" cy="351381"/>
            <a:chOff x="0" y="0"/>
            <a:chExt cx="448" cy="520"/>
          </a:xfrm>
        </p:grpSpPr>
        <p:sp>
          <p:nvSpPr>
            <p:cNvPr id="34" name="Rectangle 33"/>
            <p:cNvSpPr/>
            <p:nvPr/>
          </p:nvSpPr>
          <p:spPr bwMode="auto">
            <a:xfrm>
              <a:off x="250" y="102"/>
              <a:ext cx="75" cy="417"/>
            </a:xfrm>
            <a:prstGeom prst="rect">
              <a:avLst/>
            </a:prstGeom>
            <a:solidFill>
              <a:srgbClr val="FFFEFE"/>
            </a:solidFill>
            <a:ln>
              <a:noFill/>
            </a:ln>
            <a:extLst>
              <a:ext uri="{91240B29-F687-4F45-9708-019B960494DF}">
                <a14:hiddenLine xmlns:a14="http://schemas.microsoft.com/office/drawing/2010/main" w="12700">
                  <a:solidFill>
                    <a:schemeClr val="tx1"/>
                  </a:solidFill>
                  <a:miter lim="800000"/>
                  <a:headEnd/>
                  <a:tailEnd/>
                </a14:hiddenLine>
              </a:ext>
            </a:extLst>
          </p:spPr>
          <p:txBody>
            <a:bodyPr lIns="0" tIns="0" rIns="0" bIns="0"/>
            <a:lstStyle>
              <a:lvl1pPr eaLnBrk="0" hangingPunct="0">
                <a:defRPr sz="5800">
                  <a:solidFill>
                    <a:srgbClr val="000000"/>
                  </a:solidFill>
                  <a:latin typeface="Gill Sans" charset="0"/>
                  <a:ea typeface="ヒラギノ角ゴ ProN W3" pitchFamily="2" charset="-128"/>
                  <a:sym typeface="Gill Sans" charset="0"/>
                </a:defRPr>
              </a:lvl1pPr>
              <a:lvl2pPr marL="742950" indent="-285750" eaLnBrk="0" hangingPunct="0">
                <a:defRPr sz="5800">
                  <a:solidFill>
                    <a:srgbClr val="000000"/>
                  </a:solidFill>
                  <a:latin typeface="Gill Sans" charset="0"/>
                  <a:ea typeface="ヒラギノ角ゴ ProN W3" pitchFamily="2" charset="-128"/>
                  <a:sym typeface="Gill Sans" charset="0"/>
                </a:defRPr>
              </a:lvl2pPr>
              <a:lvl3pPr marL="1143000" indent="-228600" eaLnBrk="0" hangingPunct="0">
                <a:defRPr sz="5800">
                  <a:solidFill>
                    <a:srgbClr val="000000"/>
                  </a:solidFill>
                  <a:latin typeface="Gill Sans" charset="0"/>
                  <a:ea typeface="ヒラギノ角ゴ ProN W3" pitchFamily="2" charset="-128"/>
                  <a:sym typeface="Gill Sans" charset="0"/>
                </a:defRPr>
              </a:lvl3pPr>
              <a:lvl4pPr marL="1600200" indent="-228600" eaLnBrk="0" hangingPunct="0">
                <a:defRPr sz="5800">
                  <a:solidFill>
                    <a:srgbClr val="000000"/>
                  </a:solidFill>
                  <a:latin typeface="Gill Sans" charset="0"/>
                  <a:ea typeface="ヒラギノ角ゴ ProN W3" pitchFamily="2" charset="-128"/>
                  <a:sym typeface="Gill Sans" charset="0"/>
                </a:defRPr>
              </a:lvl4pPr>
              <a:lvl5pPr marL="2057400" indent="-228600" eaLnBrk="0" hangingPunct="0">
                <a:defRPr sz="5800">
                  <a:solidFill>
                    <a:srgbClr val="000000"/>
                  </a:solidFill>
                  <a:latin typeface="Gill Sans" charset="0"/>
                  <a:ea typeface="ヒラギノ角ゴ ProN W3" pitchFamily="2" charset="-128"/>
                  <a:sym typeface="Gill Sans" charset="0"/>
                </a:defRPr>
              </a:lvl5pPr>
              <a:lvl6pPr marL="25146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6pPr>
              <a:lvl7pPr marL="29718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7pPr>
              <a:lvl8pPr marL="34290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8pPr>
              <a:lvl9pPr marL="38862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9pPr>
            </a:lstStyle>
            <a:p>
              <a:pPr algn="ctr" eaLnBrk="1" hangingPunct="1"/>
              <a:endParaRPr lang="es-ES" altLang="zh-CN" sz="2900">
                <a:solidFill>
                  <a:schemeClr val="tx1">
                    <a:lumMod val="75000"/>
                    <a:lumOff val="25000"/>
                  </a:schemeClr>
                </a:solidFill>
              </a:endParaRPr>
            </a:p>
          </p:txBody>
        </p:sp>
        <p:sp>
          <p:nvSpPr>
            <p:cNvPr id="35" name="Rectangle 34"/>
            <p:cNvSpPr/>
            <p:nvPr/>
          </p:nvSpPr>
          <p:spPr bwMode="auto">
            <a:xfrm>
              <a:off x="128" y="186"/>
              <a:ext cx="75" cy="334"/>
            </a:xfrm>
            <a:prstGeom prst="rect">
              <a:avLst/>
            </a:prstGeom>
            <a:solidFill>
              <a:srgbClr val="FFFEFE"/>
            </a:solidFill>
            <a:ln>
              <a:noFill/>
            </a:ln>
            <a:extLst>
              <a:ext uri="{91240B29-F687-4F45-9708-019B960494DF}">
                <a14:hiddenLine xmlns:a14="http://schemas.microsoft.com/office/drawing/2010/main" w="12700">
                  <a:solidFill>
                    <a:schemeClr val="tx1"/>
                  </a:solidFill>
                  <a:miter lim="800000"/>
                  <a:headEnd/>
                  <a:tailEnd/>
                </a14:hiddenLine>
              </a:ext>
            </a:extLst>
          </p:spPr>
          <p:txBody>
            <a:bodyPr lIns="0" tIns="0" rIns="0" bIns="0"/>
            <a:lstStyle>
              <a:lvl1pPr eaLnBrk="0" hangingPunct="0">
                <a:defRPr sz="5800">
                  <a:solidFill>
                    <a:srgbClr val="000000"/>
                  </a:solidFill>
                  <a:latin typeface="Gill Sans" charset="0"/>
                  <a:ea typeface="ヒラギノ角ゴ ProN W3" pitchFamily="2" charset="-128"/>
                  <a:sym typeface="Gill Sans" charset="0"/>
                </a:defRPr>
              </a:lvl1pPr>
              <a:lvl2pPr marL="742950" indent="-285750" eaLnBrk="0" hangingPunct="0">
                <a:defRPr sz="5800">
                  <a:solidFill>
                    <a:srgbClr val="000000"/>
                  </a:solidFill>
                  <a:latin typeface="Gill Sans" charset="0"/>
                  <a:ea typeface="ヒラギノ角ゴ ProN W3" pitchFamily="2" charset="-128"/>
                  <a:sym typeface="Gill Sans" charset="0"/>
                </a:defRPr>
              </a:lvl2pPr>
              <a:lvl3pPr marL="1143000" indent="-228600" eaLnBrk="0" hangingPunct="0">
                <a:defRPr sz="5800">
                  <a:solidFill>
                    <a:srgbClr val="000000"/>
                  </a:solidFill>
                  <a:latin typeface="Gill Sans" charset="0"/>
                  <a:ea typeface="ヒラギノ角ゴ ProN W3" pitchFamily="2" charset="-128"/>
                  <a:sym typeface="Gill Sans" charset="0"/>
                </a:defRPr>
              </a:lvl3pPr>
              <a:lvl4pPr marL="1600200" indent="-228600" eaLnBrk="0" hangingPunct="0">
                <a:defRPr sz="5800">
                  <a:solidFill>
                    <a:srgbClr val="000000"/>
                  </a:solidFill>
                  <a:latin typeface="Gill Sans" charset="0"/>
                  <a:ea typeface="ヒラギノ角ゴ ProN W3" pitchFamily="2" charset="-128"/>
                  <a:sym typeface="Gill Sans" charset="0"/>
                </a:defRPr>
              </a:lvl4pPr>
              <a:lvl5pPr marL="2057400" indent="-228600" eaLnBrk="0" hangingPunct="0">
                <a:defRPr sz="5800">
                  <a:solidFill>
                    <a:srgbClr val="000000"/>
                  </a:solidFill>
                  <a:latin typeface="Gill Sans" charset="0"/>
                  <a:ea typeface="ヒラギノ角ゴ ProN W3" pitchFamily="2" charset="-128"/>
                  <a:sym typeface="Gill Sans" charset="0"/>
                </a:defRPr>
              </a:lvl5pPr>
              <a:lvl6pPr marL="25146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6pPr>
              <a:lvl7pPr marL="29718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7pPr>
              <a:lvl8pPr marL="34290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8pPr>
              <a:lvl9pPr marL="38862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9pPr>
            </a:lstStyle>
            <a:p>
              <a:pPr algn="ctr" eaLnBrk="1" hangingPunct="1"/>
              <a:endParaRPr lang="es-ES" altLang="zh-CN" sz="2900">
                <a:solidFill>
                  <a:schemeClr val="tx1">
                    <a:lumMod val="75000"/>
                    <a:lumOff val="25000"/>
                  </a:schemeClr>
                </a:solidFill>
              </a:endParaRPr>
            </a:p>
          </p:txBody>
        </p:sp>
        <p:sp>
          <p:nvSpPr>
            <p:cNvPr id="36" name="Rectangle 35"/>
            <p:cNvSpPr/>
            <p:nvPr/>
          </p:nvSpPr>
          <p:spPr bwMode="auto">
            <a:xfrm>
              <a:off x="0" y="251"/>
              <a:ext cx="78" cy="268"/>
            </a:xfrm>
            <a:prstGeom prst="rect">
              <a:avLst/>
            </a:prstGeom>
            <a:solidFill>
              <a:srgbClr val="FFFEFE"/>
            </a:solidFill>
            <a:ln>
              <a:noFill/>
            </a:ln>
            <a:extLst>
              <a:ext uri="{91240B29-F687-4F45-9708-019B960494DF}">
                <a14:hiddenLine xmlns:a14="http://schemas.microsoft.com/office/drawing/2010/main" w="12700">
                  <a:solidFill>
                    <a:schemeClr val="tx1"/>
                  </a:solidFill>
                  <a:miter lim="800000"/>
                  <a:headEnd/>
                  <a:tailEnd/>
                </a14:hiddenLine>
              </a:ext>
            </a:extLst>
          </p:spPr>
          <p:txBody>
            <a:bodyPr lIns="0" tIns="0" rIns="0" bIns="0"/>
            <a:lstStyle>
              <a:lvl1pPr eaLnBrk="0" hangingPunct="0">
                <a:defRPr sz="5800">
                  <a:solidFill>
                    <a:srgbClr val="000000"/>
                  </a:solidFill>
                  <a:latin typeface="Gill Sans" charset="0"/>
                  <a:ea typeface="ヒラギノ角ゴ ProN W3" pitchFamily="2" charset="-128"/>
                  <a:sym typeface="Gill Sans" charset="0"/>
                </a:defRPr>
              </a:lvl1pPr>
              <a:lvl2pPr marL="742950" indent="-285750" eaLnBrk="0" hangingPunct="0">
                <a:defRPr sz="5800">
                  <a:solidFill>
                    <a:srgbClr val="000000"/>
                  </a:solidFill>
                  <a:latin typeface="Gill Sans" charset="0"/>
                  <a:ea typeface="ヒラギノ角ゴ ProN W3" pitchFamily="2" charset="-128"/>
                  <a:sym typeface="Gill Sans" charset="0"/>
                </a:defRPr>
              </a:lvl2pPr>
              <a:lvl3pPr marL="1143000" indent="-228600" eaLnBrk="0" hangingPunct="0">
                <a:defRPr sz="5800">
                  <a:solidFill>
                    <a:srgbClr val="000000"/>
                  </a:solidFill>
                  <a:latin typeface="Gill Sans" charset="0"/>
                  <a:ea typeface="ヒラギノ角ゴ ProN W3" pitchFamily="2" charset="-128"/>
                  <a:sym typeface="Gill Sans" charset="0"/>
                </a:defRPr>
              </a:lvl3pPr>
              <a:lvl4pPr marL="1600200" indent="-228600" eaLnBrk="0" hangingPunct="0">
                <a:defRPr sz="5800">
                  <a:solidFill>
                    <a:srgbClr val="000000"/>
                  </a:solidFill>
                  <a:latin typeface="Gill Sans" charset="0"/>
                  <a:ea typeface="ヒラギノ角ゴ ProN W3" pitchFamily="2" charset="-128"/>
                  <a:sym typeface="Gill Sans" charset="0"/>
                </a:defRPr>
              </a:lvl4pPr>
              <a:lvl5pPr marL="2057400" indent="-228600" eaLnBrk="0" hangingPunct="0">
                <a:defRPr sz="5800">
                  <a:solidFill>
                    <a:srgbClr val="000000"/>
                  </a:solidFill>
                  <a:latin typeface="Gill Sans" charset="0"/>
                  <a:ea typeface="ヒラギノ角ゴ ProN W3" pitchFamily="2" charset="-128"/>
                  <a:sym typeface="Gill Sans" charset="0"/>
                </a:defRPr>
              </a:lvl5pPr>
              <a:lvl6pPr marL="25146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6pPr>
              <a:lvl7pPr marL="29718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7pPr>
              <a:lvl8pPr marL="34290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8pPr>
              <a:lvl9pPr marL="38862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9pPr>
            </a:lstStyle>
            <a:p>
              <a:pPr algn="ctr" eaLnBrk="1" hangingPunct="1"/>
              <a:endParaRPr lang="es-ES" altLang="zh-CN" sz="2900">
                <a:solidFill>
                  <a:schemeClr val="tx1">
                    <a:lumMod val="75000"/>
                    <a:lumOff val="25000"/>
                  </a:schemeClr>
                </a:solidFill>
              </a:endParaRPr>
            </a:p>
          </p:txBody>
        </p:sp>
        <p:sp>
          <p:nvSpPr>
            <p:cNvPr id="37" name="Rectangle 36"/>
            <p:cNvSpPr/>
            <p:nvPr/>
          </p:nvSpPr>
          <p:spPr bwMode="auto">
            <a:xfrm>
              <a:off x="372" y="0"/>
              <a:ext cx="76" cy="519"/>
            </a:xfrm>
            <a:prstGeom prst="rect">
              <a:avLst/>
            </a:prstGeom>
            <a:solidFill>
              <a:srgbClr val="FFFEFE"/>
            </a:solidFill>
            <a:ln>
              <a:noFill/>
            </a:ln>
            <a:extLst>
              <a:ext uri="{91240B29-F687-4F45-9708-019B960494DF}">
                <a14:hiddenLine xmlns:a14="http://schemas.microsoft.com/office/drawing/2010/main" w="12700">
                  <a:solidFill>
                    <a:schemeClr val="tx1"/>
                  </a:solidFill>
                  <a:miter lim="800000"/>
                  <a:headEnd/>
                  <a:tailEnd/>
                </a14:hiddenLine>
              </a:ext>
            </a:extLst>
          </p:spPr>
          <p:txBody>
            <a:bodyPr lIns="0" tIns="0" rIns="0" bIns="0"/>
            <a:lstStyle>
              <a:lvl1pPr eaLnBrk="0" hangingPunct="0">
                <a:defRPr sz="5800">
                  <a:solidFill>
                    <a:srgbClr val="000000"/>
                  </a:solidFill>
                  <a:latin typeface="Gill Sans" charset="0"/>
                  <a:ea typeface="ヒラギノ角ゴ ProN W3" pitchFamily="2" charset="-128"/>
                  <a:sym typeface="Gill Sans" charset="0"/>
                </a:defRPr>
              </a:lvl1pPr>
              <a:lvl2pPr marL="742950" indent="-285750" eaLnBrk="0" hangingPunct="0">
                <a:defRPr sz="5800">
                  <a:solidFill>
                    <a:srgbClr val="000000"/>
                  </a:solidFill>
                  <a:latin typeface="Gill Sans" charset="0"/>
                  <a:ea typeface="ヒラギノ角ゴ ProN W3" pitchFamily="2" charset="-128"/>
                  <a:sym typeface="Gill Sans" charset="0"/>
                </a:defRPr>
              </a:lvl2pPr>
              <a:lvl3pPr marL="1143000" indent="-228600" eaLnBrk="0" hangingPunct="0">
                <a:defRPr sz="5800">
                  <a:solidFill>
                    <a:srgbClr val="000000"/>
                  </a:solidFill>
                  <a:latin typeface="Gill Sans" charset="0"/>
                  <a:ea typeface="ヒラギノ角ゴ ProN W3" pitchFamily="2" charset="-128"/>
                  <a:sym typeface="Gill Sans" charset="0"/>
                </a:defRPr>
              </a:lvl3pPr>
              <a:lvl4pPr marL="1600200" indent="-228600" eaLnBrk="0" hangingPunct="0">
                <a:defRPr sz="5800">
                  <a:solidFill>
                    <a:srgbClr val="000000"/>
                  </a:solidFill>
                  <a:latin typeface="Gill Sans" charset="0"/>
                  <a:ea typeface="ヒラギノ角ゴ ProN W3" pitchFamily="2" charset="-128"/>
                  <a:sym typeface="Gill Sans" charset="0"/>
                </a:defRPr>
              </a:lvl4pPr>
              <a:lvl5pPr marL="2057400" indent="-228600" eaLnBrk="0" hangingPunct="0">
                <a:defRPr sz="5800">
                  <a:solidFill>
                    <a:srgbClr val="000000"/>
                  </a:solidFill>
                  <a:latin typeface="Gill Sans" charset="0"/>
                  <a:ea typeface="ヒラギノ角ゴ ProN W3" pitchFamily="2" charset="-128"/>
                  <a:sym typeface="Gill Sans" charset="0"/>
                </a:defRPr>
              </a:lvl5pPr>
              <a:lvl6pPr marL="25146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6pPr>
              <a:lvl7pPr marL="29718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7pPr>
              <a:lvl8pPr marL="34290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8pPr>
              <a:lvl9pPr marL="3886200" indent="-228600" eaLnBrk="0" fontAlgn="base" hangingPunct="0">
                <a:spcBef>
                  <a:spcPct val="0"/>
                </a:spcBef>
                <a:spcAft>
                  <a:spcPct val="0"/>
                </a:spcAft>
                <a:defRPr sz="5800">
                  <a:solidFill>
                    <a:srgbClr val="000000"/>
                  </a:solidFill>
                  <a:latin typeface="Gill Sans" charset="0"/>
                  <a:ea typeface="ヒラギノ角ゴ ProN W3" pitchFamily="2" charset="-128"/>
                  <a:sym typeface="Gill Sans" charset="0"/>
                </a:defRPr>
              </a:lvl9pPr>
            </a:lstStyle>
            <a:p>
              <a:pPr algn="ctr" eaLnBrk="1" hangingPunct="1"/>
              <a:endParaRPr lang="es-ES" altLang="zh-CN" sz="2900">
                <a:solidFill>
                  <a:schemeClr val="tx1">
                    <a:lumMod val="75000"/>
                    <a:lumOff val="25000"/>
                  </a:schemeClr>
                </a:solidFill>
              </a:endParaRPr>
            </a:p>
          </p:txBody>
        </p:sp>
      </p:grpSp>
      <p:sp>
        <p:nvSpPr>
          <p:cNvPr id="38" name="文本框 37"/>
          <p:cNvSpPr txBox="1"/>
          <p:nvPr/>
        </p:nvSpPr>
        <p:spPr>
          <a:xfrm>
            <a:off x="2241374" y="3233404"/>
            <a:ext cx="1972708" cy="460375"/>
          </a:xfrm>
          <a:prstGeom prst="rect">
            <a:avLst/>
          </a:prstGeom>
          <a:noFill/>
        </p:spPr>
        <p:txBody>
          <a:bodyPr wrap="square" rtlCol="0">
            <a:spAutoFit/>
          </a:bodyPr>
          <a:lstStyle/>
          <a:p>
            <a:pPr algn="just"/>
            <a:r>
              <a:rPr lang="zh-CN" altLang="en-US" sz="1200" dirty="0">
                <a:solidFill>
                  <a:schemeClr val="tx1">
                    <a:lumMod val="75000"/>
                    <a:lumOff val="25000"/>
                  </a:schemeClr>
                </a:solidFill>
                <a:latin typeface="微软雅黑" panose="020B0503020204020204" charset="-122"/>
                <a:ea typeface="微软雅黑" panose="020B0503020204020204" charset="-122"/>
              </a:rPr>
              <a:t>跟卖者好好商量，让他主动下架产品</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p:txBody>
      </p:sp>
      <p:sp>
        <p:nvSpPr>
          <p:cNvPr id="39" name="文本框 38"/>
          <p:cNvSpPr txBox="1"/>
          <p:nvPr/>
        </p:nvSpPr>
        <p:spPr>
          <a:xfrm>
            <a:off x="2011302" y="2954762"/>
            <a:ext cx="1433818" cy="337185"/>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charset="-122"/>
                <a:ea typeface="微软雅黑" panose="020B0503020204020204" charset="-122"/>
              </a:rPr>
              <a:t>友好提醒</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40" name="文本框 39"/>
          <p:cNvSpPr txBox="1"/>
          <p:nvPr/>
        </p:nvSpPr>
        <p:spPr>
          <a:xfrm>
            <a:off x="4115639" y="2821471"/>
            <a:ext cx="1972708" cy="829945"/>
          </a:xfrm>
          <a:prstGeom prst="rect">
            <a:avLst/>
          </a:prstGeom>
          <a:noFill/>
        </p:spPr>
        <p:txBody>
          <a:bodyPr wrap="square" rtlCol="0">
            <a:spAutoFit/>
          </a:bodyPr>
          <a:lstStyle/>
          <a:p>
            <a:pPr algn="just"/>
            <a:r>
              <a:rPr lang="zh-CN" altLang="en-US" sz="1200" dirty="0">
                <a:solidFill>
                  <a:schemeClr val="tx1">
                    <a:lumMod val="75000"/>
                    <a:lumOff val="25000"/>
                  </a:schemeClr>
                </a:solidFill>
                <a:latin typeface="微软雅黑" panose="020B0503020204020204" charset="-122"/>
                <a:ea typeface="微软雅黑" panose="020B0503020204020204" charset="-122"/>
              </a:rPr>
              <a:t>告诉他品牌有注册</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pPr algn="just"/>
            <a:r>
              <a:rPr lang="zh-CN" altLang="en-US" sz="1200" dirty="0">
                <a:solidFill>
                  <a:schemeClr val="tx1">
                    <a:lumMod val="75000"/>
                    <a:lumOff val="25000"/>
                  </a:schemeClr>
                </a:solidFill>
                <a:latin typeface="微软雅黑" panose="020B0503020204020204" charset="-122"/>
                <a:ea typeface="微软雅黑" panose="020B0503020204020204" charset="-122"/>
              </a:rPr>
              <a:t>品牌有备案</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pPr algn="just"/>
            <a:r>
              <a:rPr lang="zh-CN" altLang="en-US" sz="1200" dirty="0">
                <a:solidFill>
                  <a:schemeClr val="tx1">
                    <a:lumMod val="75000"/>
                    <a:lumOff val="25000"/>
                  </a:schemeClr>
                </a:solidFill>
                <a:latin typeface="微软雅黑" panose="020B0503020204020204" charset="-122"/>
                <a:ea typeface="微软雅黑" panose="020B0503020204020204" charset="-122"/>
              </a:rPr>
              <a:t>产品有专利</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pPr algn="just"/>
            <a:r>
              <a:rPr lang="zh-CN" altLang="en-US" sz="1200" dirty="0">
                <a:solidFill>
                  <a:schemeClr val="tx1">
                    <a:lumMod val="75000"/>
                    <a:lumOff val="25000"/>
                  </a:schemeClr>
                </a:solidFill>
                <a:latin typeface="微软雅黑" panose="020B0503020204020204" charset="-122"/>
                <a:ea typeface="微软雅黑" panose="020B0503020204020204" charset="-122"/>
              </a:rPr>
              <a:t>即将</a:t>
            </a:r>
            <a:r>
              <a:rPr lang="en-US" altLang="zh-CN" sz="1200" dirty="0">
                <a:solidFill>
                  <a:schemeClr val="tx1">
                    <a:lumMod val="75000"/>
                    <a:lumOff val="25000"/>
                  </a:schemeClr>
                </a:solidFill>
                <a:latin typeface="微软雅黑" panose="020B0503020204020204" charset="-122"/>
                <a:ea typeface="微软雅黑" panose="020B0503020204020204" charset="-122"/>
              </a:rPr>
              <a:t>Testbuy</a:t>
            </a:r>
            <a:endParaRPr lang="en-US" altLang="zh-CN" sz="1200" dirty="0">
              <a:solidFill>
                <a:schemeClr val="tx1">
                  <a:lumMod val="75000"/>
                  <a:lumOff val="25000"/>
                </a:schemeClr>
              </a:solidFill>
              <a:latin typeface="微软雅黑" panose="020B0503020204020204" charset="-122"/>
              <a:ea typeface="微软雅黑" panose="020B0503020204020204" charset="-122"/>
            </a:endParaRPr>
          </a:p>
        </p:txBody>
      </p:sp>
      <p:sp>
        <p:nvSpPr>
          <p:cNvPr id="41" name="文本框 40"/>
          <p:cNvSpPr txBox="1"/>
          <p:nvPr/>
        </p:nvSpPr>
        <p:spPr>
          <a:xfrm>
            <a:off x="4209075" y="2534425"/>
            <a:ext cx="1140282" cy="337185"/>
          </a:xfrm>
          <a:prstGeom prst="rect">
            <a:avLst/>
          </a:prstGeom>
          <a:noFill/>
        </p:spPr>
        <p:txBody>
          <a:bodyPr wrap="square" rtlCol="0">
            <a:spAutoFit/>
          </a:bodyPr>
          <a:lstStyle/>
          <a:p>
            <a:pPr algn="l"/>
            <a:r>
              <a:rPr lang="zh-CN" altLang="en-US" sz="1600" dirty="0">
                <a:solidFill>
                  <a:schemeClr val="tx1">
                    <a:lumMod val="75000"/>
                    <a:lumOff val="25000"/>
                  </a:schemeClr>
                </a:solidFill>
                <a:latin typeface="微软雅黑" panose="020B0503020204020204" charset="-122"/>
                <a:ea typeface="微软雅黑" panose="020B0503020204020204" charset="-122"/>
              </a:rPr>
              <a:t>风险告知</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42" name="文本框 41"/>
          <p:cNvSpPr txBox="1"/>
          <p:nvPr/>
        </p:nvSpPr>
        <p:spPr>
          <a:xfrm>
            <a:off x="6002964" y="2380071"/>
            <a:ext cx="1972708" cy="645160"/>
          </a:xfrm>
          <a:prstGeom prst="rect">
            <a:avLst/>
          </a:prstGeom>
          <a:noFill/>
        </p:spPr>
        <p:txBody>
          <a:bodyPr wrap="square" rtlCol="0">
            <a:spAutoFit/>
          </a:bodyPr>
          <a:lstStyle/>
          <a:p>
            <a:pPr algn="l"/>
            <a:r>
              <a:rPr lang="zh-CN" altLang="en-US" sz="1200" dirty="0">
                <a:solidFill>
                  <a:schemeClr val="tx1">
                    <a:lumMod val="75000"/>
                    <a:lumOff val="25000"/>
                  </a:schemeClr>
                </a:solidFill>
                <a:latin typeface="微软雅黑" panose="020B0503020204020204" charset="-122"/>
                <a:ea typeface="微软雅黑" panose="020B0503020204020204" charset="-122"/>
              </a:rPr>
              <a:t>买跟售店铺的产品</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pPr algn="l"/>
            <a:r>
              <a:rPr lang="zh-CN" altLang="en-US" sz="1200" dirty="0">
                <a:solidFill>
                  <a:schemeClr val="tx1">
                    <a:lumMod val="75000"/>
                    <a:lumOff val="25000"/>
                  </a:schemeClr>
                </a:solidFill>
                <a:latin typeface="微软雅黑" panose="020B0503020204020204" charset="-122"/>
                <a:ea typeface="微软雅黑" panose="020B0503020204020204" charset="-122"/>
                <a:sym typeface="+mn-ea"/>
              </a:rPr>
              <a:t>联系</a:t>
            </a:r>
            <a:r>
              <a:rPr lang="zh-CN" altLang="en-US" sz="1200" dirty="0">
                <a:solidFill>
                  <a:schemeClr val="tx1">
                    <a:lumMod val="75000"/>
                    <a:lumOff val="25000"/>
                  </a:schemeClr>
                </a:solidFill>
                <a:latin typeface="微软雅黑" panose="020B0503020204020204" charset="-122"/>
                <a:ea typeface="微软雅黑" panose="020B0503020204020204" charset="-122"/>
              </a:rPr>
              <a:t>亚马逊的Seller Performance Team</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p:txBody>
      </p:sp>
      <p:sp>
        <p:nvSpPr>
          <p:cNvPr id="43" name="文本框 42"/>
          <p:cNvSpPr txBox="1"/>
          <p:nvPr/>
        </p:nvSpPr>
        <p:spPr>
          <a:xfrm>
            <a:off x="6107429" y="2108406"/>
            <a:ext cx="1328847" cy="337185"/>
          </a:xfrm>
          <a:prstGeom prst="rect">
            <a:avLst/>
          </a:prstGeom>
          <a:noFill/>
        </p:spPr>
        <p:txBody>
          <a:bodyPr wrap="square" rtlCol="0">
            <a:spAutoFit/>
          </a:bodyPr>
          <a:lstStyle/>
          <a:p>
            <a:pPr algn="l"/>
            <a:r>
              <a:rPr lang="en-US" altLang="zh-CN" sz="1600" dirty="0">
                <a:solidFill>
                  <a:schemeClr val="tx1">
                    <a:lumMod val="75000"/>
                    <a:lumOff val="25000"/>
                  </a:schemeClr>
                </a:solidFill>
                <a:latin typeface="微软雅黑" panose="020B0503020204020204" charset="-122"/>
                <a:ea typeface="微软雅黑" panose="020B0503020204020204" charset="-122"/>
              </a:rPr>
              <a:t>Testbuy</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44" name="文本框 43"/>
          <p:cNvSpPr txBox="1"/>
          <p:nvPr/>
        </p:nvSpPr>
        <p:spPr>
          <a:xfrm>
            <a:off x="7890288" y="1954489"/>
            <a:ext cx="1972708" cy="460375"/>
          </a:xfrm>
          <a:prstGeom prst="rect">
            <a:avLst/>
          </a:prstGeom>
          <a:noFill/>
        </p:spPr>
        <p:txBody>
          <a:bodyPr wrap="square" rtlCol="0">
            <a:spAutoFit/>
          </a:bodyPr>
          <a:lstStyle/>
          <a:p>
            <a:pPr algn="just"/>
            <a:r>
              <a:rPr lang="zh-CN" altLang="en-US" sz="1200" dirty="0">
                <a:solidFill>
                  <a:schemeClr val="tx1">
                    <a:lumMod val="75000"/>
                    <a:lumOff val="25000"/>
                  </a:schemeClr>
                </a:solidFill>
                <a:latin typeface="微软雅黑" panose="020B0503020204020204" charset="-122"/>
                <a:ea typeface="微软雅黑" panose="020B0503020204020204" charset="-122"/>
              </a:rPr>
              <a:t>申请退货</a:t>
            </a:r>
            <a:endParaRPr lang="zh-CN" altLang="en-US" sz="1200" dirty="0">
              <a:solidFill>
                <a:schemeClr val="tx1">
                  <a:lumMod val="75000"/>
                  <a:lumOff val="25000"/>
                </a:schemeClr>
              </a:solidFill>
              <a:latin typeface="微软雅黑" panose="020B0503020204020204" charset="-122"/>
              <a:ea typeface="微软雅黑" panose="020B0503020204020204" charset="-122"/>
            </a:endParaRPr>
          </a:p>
          <a:p>
            <a:pPr algn="just"/>
            <a:r>
              <a:rPr lang="zh-CN" altLang="en-US" sz="1200" dirty="0">
                <a:solidFill>
                  <a:schemeClr val="tx1">
                    <a:lumMod val="75000"/>
                    <a:lumOff val="25000"/>
                  </a:schemeClr>
                </a:solidFill>
                <a:latin typeface="微软雅黑" panose="020B0503020204020204" charset="-122"/>
                <a:ea typeface="微软雅黑" panose="020B0503020204020204" charset="-122"/>
              </a:rPr>
              <a:t>开</a:t>
            </a:r>
            <a:r>
              <a:rPr lang="en-US" altLang="zh-CN" sz="1200" dirty="0">
                <a:solidFill>
                  <a:schemeClr val="tx1">
                    <a:lumMod val="75000"/>
                    <a:lumOff val="25000"/>
                  </a:schemeClr>
                </a:solidFill>
                <a:latin typeface="微软雅黑" panose="020B0503020204020204" charset="-122"/>
                <a:ea typeface="微软雅黑" panose="020B0503020204020204" charset="-122"/>
              </a:rPr>
              <a:t>A TO Z</a:t>
            </a:r>
            <a:endParaRPr lang="en-US" altLang="zh-CN" sz="1200" dirty="0">
              <a:solidFill>
                <a:schemeClr val="tx1">
                  <a:lumMod val="75000"/>
                  <a:lumOff val="25000"/>
                </a:schemeClr>
              </a:solidFill>
              <a:latin typeface="微软雅黑" panose="020B0503020204020204" charset="-122"/>
              <a:ea typeface="微软雅黑" panose="020B0503020204020204" charset="-122"/>
            </a:endParaRPr>
          </a:p>
        </p:txBody>
      </p:sp>
      <p:sp>
        <p:nvSpPr>
          <p:cNvPr id="45" name="文本框 44"/>
          <p:cNvSpPr txBox="1"/>
          <p:nvPr/>
        </p:nvSpPr>
        <p:spPr>
          <a:xfrm>
            <a:off x="7996259" y="1676039"/>
            <a:ext cx="1788516" cy="337185"/>
          </a:xfrm>
          <a:prstGeom prst="rect">
            <a:avLst/>
          </a:prstGeom>
          <a:noFill/>
        </p:spPr>
        <p:txBody>
          <a:bodyPr wrap="square" rtlCol="0">
            <a:spAutoFit/>
          </a:bodyPr>
          <a:lstStyle/>
          <a:p>
            <a:pPr algn="l"/>
            <a:r>
              <a:rPr lang="zh-CN" altLang="en-US" sz="1600" dirty="0">
                <a:solidFill>
                  <a:schemeClr val="tx1">
                    <a:lumMod val="75000"/>
                    <a:lumOff val="25000"/>
                  </a:schemeClr>
                </a:solidFill>
                <a:latin typeface="微软雅黑" panose="020B0503020204020204" charset="-122"/>
                <a:ea typeface="微软雅黑" panose="020B0503020204020204" charset="-122"/>
              </a:rPr>
              <a:t>投诉给店铺差评</a:t>
            </a: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2" name="文本框 1"/>
          <p:cNvSpPr txBox="1"/>
          <p:nvPr/>
        </p:nvSpPr>
        <p:spPr>
          <a:xfrm>
            <a:off x="9075103" y="3833495"/>
            <a:ext cx="2852420" cy="645160"/>
          </a:xfrm>
          <a:prstGeom prst="rect">
            <a:avLst/>
          </a:prstGeom>
          <a:noFill/>
        </p:spPr>
        <p:txBody>
          <a:bodyPr wrap="square" rtlCol="0">
            <a:spAutoFit/>
          </a:bodyPr>
          <a:p>
            <a:pPr algn="l"/>
            <a:r>
              <a:rPr lang="zh-CN" altLang="en-US">
                <a:solidFill>
                  <a:srgbClr val="FF0000"/>
                </a:solidFill>
                <a:sym typeface="+mn-ea"/>
              </a:rPr>
              <a:t>工具DS Amazon Quick View</a:t>
            </a:r>
            <a:endParaRPr lang="zh-CN" altLang="en-US">
              <a:solidFill>
                <a:srgbClr val="FF0000"/>
              </a:solidFill>
              <a:sym typeface="+mn-ea"/>
            </a:endParaRPr>
          </a:p>
        </p:txBody>
      </p:sp>
      <p:pic>
        <p:nvPicPr>
          <p:cNvPr id="3" name="图片 2"/>
          <p:cNvPicPr>
            <a:picLocks noChangeAspect="1"/>
          </p:cNvPicPr>
          <p:nvPr/>
        </p:nvPicPr>
        <p:blipFill>
          <a:blip r:embed="rId1"/>
          <a:stretch>
            <a:fillRect/>
          </a:stretch>
        </p:blipFill>
        <p:spPr>
          <a:xfrm>
            <a:off x="8652193" y="4364990"/>
            <a:ext cx="3514090" cy="1675765"/>
          </a:xfrm>
          <a:prstGeom prst="rect">
            <a:avLst/>
          </a:prstGeom>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flipV="1">
            <a:off x="1081" y="537"/>
            <a:ext cx="12189839" cy="95489"/>
          </a:xfrm>
          <a:prstGeom prst="rect">
            <a:avLst/>
          </a:prstGeom>
          <a:solidFill>
            <a:srgbClr val="0617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5" name="矩形 4"/>
          <p:cNvSpPr/>
          <p:nvPr/>
        </p:nvSpPr>
        <p:spPr>
          <a:xfrm flipV="1">
            <a:off x="1081" y="6761975"/>
            <a:ext cx="12189839" cy="95489"/>
          </a:xfrm>
          <a:prstGeom prst="rect">
            <a:avLst/>
          </a:prstGeom>
          <a:solidFill>
            <a:srgbClr val="0617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grpSp>
        <p:nvGrpSpPr>
          <p:cNvPr id="6" name="组合 5"/>
          <p:cNvGrpSpPr/>
          <p:nvPr/>
        </p:nvGrpSpPr>
        <p:grpSpPr>
          <a:xfrm>
            <a:off x="821790" y="536"/>
            <a:ext cx="717438" cy="1097133"/>
            <a:chOff x="4704555" y="313131"/>
            <a:chExt cx="2782888" cy="4255695"/>
          </a:xfrm>
        </p:grpSpPr>
        <p:sp>
          <p:nvSpPr>
            <p:cNvPr id="7" name="流程图: 决策 5"/>
            <p:cNvSpPr/>
            <p:nvPr/>
          </p:nvSpPr>
          <p:spPr>
            <a:xfrm>
              <a:off x="4704555" y="313131"/>
              <a:ext cx="2782888" cy="4255695"/>
            </a:xfrm>
            <a:prstGeom prst="rect">
              <a:avLst/>
            </a:prstGeom>
            <a:solidFill>
              <a:srgbClr val="0617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26FA7"/>
                </a:solidFill>
              </a:endParaRPr>
            </a:p>
          </p:txBody>
        </p:sp>
        <p:sp>
          <p:nvSpPr>
            <p:cNvPr id="8" name="流程图: 决策 6"/>
            <p:cNvSpPr/>
            <p:nvPr/>
          </p:nvSpPr>
          <p:spPr>
            <a:xfrm>
              <a:off x="4934127" y="2015510"/>
              <a:ext cx="2323745" cy="2323745"/>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26FA7"/>
                </a:solidFill>
              </a:endParaRPr>
            </a:p>
          </p:txBody>
        </p:sp>
      </p:grpSp>
      <p:sp>
        <p:nvSpPr>
          <p:cNvPr id="9" name="文本框 8"/>
          <p:cNvSpPr txBox="1"/>
          <p:nvPr/>
        </p:nvSpPr>
        <p:spPr>
          <a:xfrm>
            <a:off x="734401" y="451613"/>
            <a:ext cx="950259" cy="583565"/>
          </a:xfrm>
          <a:prstGeom prst="rect">
            <a:avLst/>
          </a:prstGeom>
          <a:noFill/>
        </p:spPr>
        <p:txBody>
          <a:bodyPr wrap="square" rtlCol="0">
            <a:spAutoFit/>
          </a:bodyPr>
          <a:lstStyle/>
          <a:p>
            <a:pPr algn="ctr"/>
            <a:r>
              <a:rPr lang="en-US" altLang="zh-CN" sz="3200" b="1" dirty="0" smtClean="0">
                <a:ln w="28575">
                  <a:noFill/>
                </a:ln>
                <a:solidFill>
                  <a:srgbClr val="06172F"/>
                </a:solidFill>
                <a:latin typeface="微软雅黑" panose="020B0503020204020204" charset="-122"/>
                <a:ea typeface="微软雅黑" panose="020B0503020204020204" charset="-122"/>
              </a:rPr>
              <a:t>03</a:t>
            </a:r>
            <a:endParaRPr lang="zh-CN" altLang="en-US" sz="4800" b="1" dirty="0">
              <a:ln w="28575">
                <a:noFill/>
              </a:ln>
              <a:solidFill>
                <a:srgbClr val="06172F"/>
              </a:solidFill>
              <a:latin typeface="微软雅黑" panose="020B0503020204020204" charset="-122"/>
              <a:ea typeface="微软雅黑" panose="020B0503020204020204" charset="-122"/>
            </a:endParaRPr>
          </a:p>
        </p:txBody>
      </p:sp>
      <p:sp>
        <p:nvSpPr>
          <p:cNvPr id="30" name="Freeform 1260"/>
          <p:cNvSpPr>
            <a:spLocks noEditPoints="1"/>
          </p:cNvSpPr>
          <p:nvPr/>
        </p:nvSpPr>
        <p:spPr bwMode="auto">
          <a:xfrm>
            <a:off x="3272773" y="2763614"/>
            <a:ext cx="300559" cy="437177"/>
          </a:xfrm>
          <a:custGeom>
            <a:avLst/>
            <a:gdLst>
              <a:gd name="T0" fmla="*/ 30 w 110"/>
              <a:gd name="T1" fmla="*/ 123 h 160"/>
              <a:gd name="T2" fmla="*/ 31 w 110"/>
              <a:gd name="T3" fmla="*/ 131 h 160"/>
              <a:gd name="T4" fmla="*/ 55 w 110"/>
              <a:gd name="T5" fmla="*/ 136 h 160"/>
              <a:gd name="T6" fmla="*/ 79 w 110"/>
              <a:gd name="T7" fmla="*/ 131 h 160"/>
              <a:gd name="T8" fmla="*/ 81 w 110"/>
              <a:gd name="T9" fmla="*/ 123 h 160"/>
              <a:gd name="T10" fmla="*/ 55 w 110"/>
              <a:gd name="T11" fmla="*/ 128 h 160"/>
              <a:gd name="T12" fmla="*/ 30 w 110"/>
              <a:gd name="T13" fmla="*/ 123 h 160"/>
              <a:gd name="T14" fmla="*/ 32 w 110"/>
              <a:gd name="T15" fmla="*/ 139 h 160"/>
              <a:gd name="T16" fmla="*/ 33 w 110"/>
              <a:gd name="T17" fmla="*/ 147 h 160"/>
              <a:gd name="T18" fmla="*/ 41 w 110"/>
              <a:gd name="T19" fmla="*/ 151 h 160"/>
              <a:gd name="T20" fmla="*/ 41 w 110"/>
              <a:gd name="T21" fmla="*/ 156 h 160"/>
              <a:gd name="T22" fmla="*/ 55 w 110"/>
              <a:gd name="T23" fmla="*/ 160 h 160"/>
              <a:gd name="T24" fmla="*/ 69 w 110"/>
              <a:gd name="T25" fmla="*/ 156 h 160"/>
              <a:gd name="T26" fmla="*/ 70 w 110"/>
              <a:gd name="T27" fmla="*/ 151 h 160"/>
              <a:gd name="T28" fmla="*/ 77 w 110"/>
              <a:gd name="T29" fmla="*/ 147 h 160"/>
              <a:gd name="T30" fmla="*/ 78 w 110"/>
              <a:gd name="T31" fmla="*/ 139 h 160"/>
              <a:gd name="T32" fmla="*/ 55 w 110"/>
              <a:gd name="T33" fmla="*/ 143 h 160"/>
              <a:gd name="T34" fmla="*/ 32 w 110"/>
              <a:gd name="T35" fmla="*/ 139 h 160"/>
              <a:gd name="T36" fmla="*/ 55 w 110"/>
              <a:gd name="T37" fmla="*/ 23 h 160"/>
              <a:gd name="T38" fmla="*/ 58 w 110"/>
              <a:gd name="T39" fmla="*/ 20 h 160"/>
              <a:gd name="T40" fmla="*/ 55 w 110"/>
              <a:gd name="T41" fmla="*/ 17 h 160"/>
              <a:gd name="T42" fmla="*/ 17 w 110"/>
              <a:gd name="T43" fmla="*/ 55 h 160"/>
              <a:gd name="T44" fmla="*/ 20 w 110"/>
              <a:gd name="T45" fmla="*/ 58 h 160"/>
              <a:gd name="T46" fmla="*/ 23 w 110"/>
              <a:gd name="T47" fmla="*/ 55 h 160"/>
              <a:gd name="T48" fmla="*/ 55 w 110"/>
              <a:gd name="T49" fmla="*/ 23 h 160"/>
              <a:gd name="T50" fmla="*/ 67 w 110"/>
              <a:gd name="T51" fmla="*/ 76 h 160"/>
              <a:gd name="T52" fmla="*/ 55 w 110"/>
              <a:gd name="T53" fmla="*/ 53 h 160"/>
              <a:gd name="T54" fmla="*/ 43 w 110"/>
              <a:gd name="T55" fmla="*/ 76 h 160"/>
              <a:gd name="T56" fmla="*/ 38 w 110"/>
              <a:gd name="T57" fmla="*/ 65 h 160"/>
              <a:gd name="T58" fmla="*/ 30 w 110"/>
              <a:gd name="T59" fmla="*/ 68 h 160"/>
              <a:gd name="T60" fmla="*/ 42 w 110"/>
              <a:gd name="T61" fmla="*/ 95 h 160"/>
              <a:gd name="T62" fmla="*/ 55 w 110"/>
              <a:gd name="T63" fmla="*/ 71 h 160"/>
              <a:gd name="T64" fmla="*/ 68 w 110"/>
              <a:gd name="T65" fmla="*/ 95 h 160"/>
              <a:gd name="T66" fmla="*/ 80 w 110"/>
              <a:gd name="T67" fmla="*/ 68 h 160"/>
              <a:gd name="T68" fmla="*/ 72 w 110"/>
              <a:gd name="T69" fmla="*/ 65 h 160"/>
              <a:gd name="T70" fmla="*/ 67 w 110"/>
              <a:gd name="T71" fmla="*/ 76 h 160"/>
              <a:gd name="T72" fmla="*/ 55 w 110"/>
              <a:gd name="T73" fmla="*/ 0 h 160"/>
              <a:gd name="T74" fmla="*/ 0 w 110"/>
              <a:gd name="T75" fmla="*/ 55 h 160"/>
              <a:gd name="T76" fmla="*/ 27 w 110"/>
              <a:gd name="T77" fmla="*/ 102 h 160"/>
              <a:gd name="T78" fmla="*/ 29 w 110"/>
              <a:gd name="T79" fmla="*/ 116 h 160"/>
              <a:gd name="T80" fmla="*/ 55 w 110"/>
              <a:gd name="T81" fmla="*/ 121 h 160"/>
              <a:gd name="T82" fmla="*/ 82 w 110"/>
              <a:gd name="T83" fmla="*/ 116 h 160"/>
              <a:gd name="T84" fmla="*/ 84 w 110"/>
              <a:gd name="T85" fmla="*/ 102 h 160"/>
              <a:gd name="T86" fmla="*/ 110 w 110"/>
              <a:gd name="T87" fmla="*/ 55 h 160"/>
              <a:gd name="T88" fmla="*/ 55 w 110"/>
              <a:gd name="T89" fmla="*/ 0 h 160"/>
              <a:gd name="T90" fmla="*/ 75 w 110"/>
              <a:gd name="T91" fmla="*/ 96 h 160"/>
              <a:gd name="T92" fmla="*/ 74 w 110"/>
              <a:gd name="T93" fmla="*/ 109 h 160"/>
              <a:gd name="T94" fmla="*/ 55 w 110"/>
              <a:gd name="T95" fmla="*/ 112 h 160"/>
              <a:gd name="T96" fmla="*/ 36 w 110"/>
              <a:gd name="T97" fmla="*/ 109 h 160"/>
              <a:gd name="T98" fmla="*/ 35 w 110"/>
              <a:gd name="T99" fmla="*/ 96 h 160"/>
              <a:gd name="T100" fmla="*/ 10 w 110"/>
              <a:gd name="T101" fmla="*/ 55 h 160"/>
              <a:gd name="T102" fmla="*/ 55 w 110"/>
              <a:gd name="T103" fmla="*/ 10 h 160"/>
              <a:gd name="T104" fmla="*/ 100 w 110"/>
              <a:gd name="T105" fmla="*/ 55 h 160"/>
              <a:gd name="T106" fmla="*/ 75 w 110"/>
              <a:gd name="T107" fmla="*/ 9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160">
                <a:moveTo>
                  <a:pt x="30" y="123"/>
                </a:moveTo>
                <a:cubicBezTo>
                  <a:pt x="31" y="131"/>
                  <a:pt x="31" y="131"/>
                  <a:pt x="31" y="131"/>
                </a:cubicBezTo>
                <a:cubicBezTo>
                  <a:pt x="38" y="134"/>
                  <a:pt x="46" y="136"/>
                  <a:pt x="55" y="136"/>
                </a:cubicBezTo>
                <a:cubicBezTo>
                  <a:pt x="64" y="136"/>
                  <a:pt x="72" y="134"/>
                  <a:pt x="79" y="131"/>
                </a:cubicBezTo>
                <a:cubicBezTo>
                  <a:pt x="81" y="123"/>
                  <a:pt x="81" y="123"/>
                  <a:pt x="81" y="123"/>
                </a:cubicBezTo>
                <a:cubicBezTo>
                  <a:pt x="73" y="126"/>
                  <a:pt x="64" y="128"/>
                  <a:pt x="55" y="128"/>
                </a:cubicBezTo>
                <a:cubicBezTo>
                  <a:pt x="46" y="128"/>
                  <a:pt x="37" y="126"/>
                  <a:pt x="30" y="123"/>
                </a:cubicBezTo>
                <a:close/>
                <a:moveTo>
                  <a:pt x="32" y="139"/>
                </a:moveTo>
                <a:cubicBezTo>
                  <a:pt x="33" y="147"/>
                  <a:pt x="33" y="147"/>
                  <a:pt x="33" y="147"/>
                </a:cubicBezTo>
                <a:cubicBezTo>
                  <a:pt x="33" y="147"/>
                  <a:pt x="35" y="150"/>
                  <a:pt x="41" y="151"/>
                </a:cubicBezTo>
                <a:cubicBezTo>
                  <a:pt x="41" y="156"/>
                  <a:pt x="41" y="156"/>
                  <a:pt x="41" y="156"/>
                </a:cubicBezTo>
                <a:cubicBezTo>
                  <a:pt x="41" y="156"/>
                  <a:pt x="44" y="160"/>
                  <a:pt x="55" y="160"/>
                </a:cubicBezTo>
                <a:cubicBezTo>
                  <a:pt x="66" y="160"/>
                  <a:pt x="69" y="156"/>
                  <a:pt x="69" y="156"/>
                </a:cubicBezTo>
                <a:cubicBezTo>
                  <a:pt x="70" y="151"/>
                  <a:pt x="70" y="151"/>
                  <a:pt x="70" y="151"/>
                </a:cubicBezTo>
                <a:cubicBezTo>
                  <a:pt x="75" y="150"/>
                  <a:pt x="77" y="147"/>
                  <a:pt x="77" y="147"/>
                </a:cubicBezTo>
                <a:cubicBezTo>
                  <a:pt x="78" y="139"/>
                  <a:pt x="78" y="139"/>
                  <a:pt x="78" y="139"/>
                </a:cubicBezTo>
                <a:cubicBezTo>
                  <a:pt x="71" y="141"/>
                  <a:pt x="63" y="143"/>
                  <a:pt x="55" y="143"/>
                </a:cubicBezTo>
                <a:cubicBezTo>
                  <a:pt x="47" y="143"/>
                  <a:pt x="39" y="141"/>
                  <a:pt x="32" y="139"/>
                </a:cubicBezTo>
                <a:close/>
                <a:moveTo>
                  <a:pt x="55" y="23"/>
                </a:moveTo>
                <a:cubicBezTo>
                  <a:pt x="57" y="23"/>
                  <a:pt x="58" y="22"/>
                  <a:pt x="58" y="20"/>
                </a:cubicBezTo>
                <a:cubicBezTo>
                  <a:pt x="58" y="18"/>
                  <a:pt x="57" y="17"/>
                  <a:pt x="55" y="17"/>
                </a:cubicBezTo>
                <a:cubicBezTo>
                  <a:pt x="34" y="17"/>
                  <a:pt x="17" y="34"/>
                  <a:pt x="17" y="55"/>
                </a:cubicBezTo>
                <a:cubicBezTo>
                  <a:pt x="17" y="57"/>
                  <a:pt x="18" y="58"/>
                  <a:pt x="20" y="58"/>
                </a:cubicBezTo>
                <a:cubicBezTo>
                  <a:pt x="21" y="58"/>
                  <a:pt x="23" y="57"/>
                  <a:pt x="23" y="55"/>
                </a:cubicBezTo>
                <a:cubicBezTo>
                  <a:pt x="23" y="37"/>
                  <a:pt x="37" y="23"/>
                  <a:pt x="55" y="23"/>
                </a:cubicBezTo>
                <a:close/>
                <a:moveTo>
                  <a:pt x="67" y="76"/>
                </a:moveTo>
                <a:cubicBezTo>
                  <a:pt x="55" y="53"/>
                  <a:pt x="55" y="53"/>
                  <a:pt x="55" y="53"/>
                </a:cubicBezTo>
                <a:cubicBezTo>
                  <a:pt x="43" y="76"/>
                  <a:pt x="43" y="76"/>
                  <a:pt x="43" y="76"/>
                </a:cubicBezTo>
                <a:cubicBezTo>
                  <a:pt x="38" y="65"/>
                  <a:pt x="38" y="65"/>
                  <a:pt x="38" y="65"/>
                </a:cubicBezTo>
                <a:cubicBezTo>
                  <a:pt x="30" y="68"/>
                  <a:pt x="30" y="68"/>
                  <a:pt x="30" y="68"/>
                </a:cubicBezTo>
                <a:cubicBezTo>
                  <a:pt x="42" y="95"/>
                  <a:pt x="42" y="95"/>
                  <a:pt x="42" y="95"/>
                </a:cubicBezTo>
                <a:cubicBezTo>
                  <a:pt x="55" y="71"/>
                  <a:pt x="55" y="71"/>
                  <a:pt x="55" y="71"/>
                </a:cubicBezTo>
                <a:cubicBezTo>
                  <a:pt x="68" y="95"/>
                  <a:pt x="68" y="95"/>
                  <a:pt x="68" y="95"/>
                </a:cubicBezTo>
                <a:cubicBezTo>
                  <a:pt x="80" y="68"/>
                  <a:pt x="80" y="68"/>
                  <a:pt x="80" y="68"/>
                </a:cubicBezTo>
                <a:cubicBezTo>
                  <a:pt x="72" y="65"/>
                  <a:pt x="72" y="65"/>
                  <a:pt x="72" y="65"/>
                </a:cubicBezTo>
                <a:lnTo>
                  <a:pt x="67" y="76"/>
                </a:lnTo>
                <a:close/>
                <a:moveTo>
                  <a:pt x="55" y="0"/>
                </a:moveTo>
                <a:cubicBezTo>
                  <a:pt x="25" y="0"/>
                  <a:pt x="0" y="25"/>
                  <a:pt x="0" y="55"/>
                </a:cubicBezTo>
                <a:cubicBezTo>
                  <a:pt x="0" y="75"/>
                  <a:pt x="11" y="93"/>
                  <a:pt x="27" y="102"/>
                </a:cubicBezTo>
                <a:cubicBezTo>
                  <a:pt x="29" y="116"/>
                  <a:pt x="29" y="116"/>
                  <a:pt x="29" y="116"/>
                </a:cubicBezTo>
                <a:cubicBezTo>
                  <a:pt x="36" y="119"/>
                  <a:pt x="45" y="121"/>
                  <a:pt x="55" y="121"/>
                </a:cubicBezTo>
                <a:cubicBezTo>
                  <a:pt x="65" y="121"/>
                  <a:pt x="74" y="119"/>
                  <a:pt x="82" y="116"/>
                </a:cubicBezTo>
                <a:cubicBezTo>
                  <a:pt x="84" y="102"/>
                  <a:pt x="84" y="102"/>
                  <a:pt x="84" y="102"/>
                </a:cubicBezTo>
                <a:cubicBezTo>
                  <a:pt x="99" y="93"/>
                  <a:pt x="110" y="75"/>
                  <a:pt x="110" y="55"/>
                </a:cubicBezTo>
                <a:cubicBezTo>
                  <a:pt x="110" y="25"/>
                  <a:pt x="85" y="0"/>
                  <a:pt x="55" y="0"/>
                </a:cubicBezTo>
                <a:close/>
                <a:moveTo>
                  <a:pt x="75" y="96"/>
                </a:moveTo>
                <a:cubicBezTo>
                  <a:pt x="74" y="109"/>
                  <a:pt x="74" y="109"/>
                  <a:pt x="74" y="109"/>
                </a:cubicBezTo>
                <a:cubicBezTo>
                  <a:pt x="74" y="109"/>
                  <a:pt x="69" y="112"/>
                  <a:pt x="55" y="112"/>
                </a:cubicBezTo>
                <a:cubicBezTo>
                  <a:pt x="41" y="112"/>
                  <a:pt x="36" y="109"/>
                  <a:pt x="36" y="109"/>
                </a:cubicBezTo>
                <a:cubicBezTo>
                  <a:pt x="35" y="96"/>
                  <a:pt x="35" y="96"/>
                  <a:pt x="35" y="96"/>
                </a:cubicBezTo>
                <a:cubicBezTo>
                  <a:pt x="20" y="88"/>
                  <a:pt x="10" y="73"/>
                  <a:pt x="10" y="55"/>
                </a:cubicBezTo>
                <a:cubicBezTo>
                  <a:pt x="10" y="30"/>
                  <a:pt x="30" y="10"/>
                  <a:pt x="55" y="10"/>
                </a:cubicBezTo>
                <a:cubicBezTo>
                  <a:pt x="80" y="10"/>
                  <a:pt x="100" y="30"/>
                  <a:pt x="100" y="55"/>
                </a:cubicBezTo>
                <a:cubicBezTo>
                  <a:pt x="100" y="73"/>
                  <a:pt x="90" y="88"/>
                  <a:pt x="75" y="96"/>
                </a:cubicBezTo>
                <a:close/>
              </a:path>
            </a:pathLst>
          </a:custGeom>
          <a:solidFill>
            <a:schemeClr val="bg1"/>
          </a:solidFill>
          <a:ln>
            <a:noFill/>
          </a:ln>
        </p:spPr>
        <p:txBody>
          <a:bodyPr vert="horz" wrap="square" lIns="91425" tIns="45712" rIns="91425" bIns="45712" numCol="1" anchor="t" anchorCtr="0" compatLnSpc="1"/>
          <a:lstStyle/>
          <a:p>
            <a:endParaRPr lang="en-US"/>
          </a:p>
        </p:txBody>
      </p:sp>
      <p:sp>
        <p:nvSpPr>
          <p:cNvPr id="34" name="Freeform 1261"/>
          <p:cNvSpPr>
            <a:spLocks noEditPoints="1"/>
          </p:cNvSpPr>
          <p:nvPr/>
        </p:nvSpPr>
        <p:spPr bwMode="auto">
          <a:xfrm>
            <a:off x="4991424" y="2807332"/>
            <a:ext cx="396192" cy="338812"/>
          </a:xfrm>
          <a:custGeom>
            <a:avLst/>
            <a:gdLst>
              <a:gd name="T0" fmla="*/ 51 w 145"/>
              <a:gd name="T1" fmla="*/ 80 h 124"/>
              <a:gd name="T2" fmla="*/ 51 w 145"/>
              <a:gd name="T3" fmla="*/ 124 h 124"/>
              <a:gd name="T4" fmla="*/ 84 w 145"/>
              <a:gd name="T5" fmla="*/ 124 h 124"/>
              <a:gd name="T6" fmla="*/ 84 w 145"/>
              <a:gd name="T7" fmla="*/ 85 h 124"/>
              <a:gd name="T8" fmla="*/ 70 w 145"/>
              <a:gd name="T9" fmla="*/ 99 h 124"/>
              <a:gd name="T10" fmla="*/ 51 w 145"/>
              <a:gd name="T11" fmla="*/ 80 h 124"/>
              <a:gd name="T12" fmla="*/ 6 w 145"/>
              <a:gd name="T13" fmla="*/ 118 h 124"/>
              <a:gd name="T14" fmla="*/ 11 w 145"/>
              <a:gd name="T15" fmla="*/ 124 h 124"/>
              <a:gd name="T16" fmla="*/ 38 w 145"/>
              <a:gd name="T17" fmla="*/ 124 h 124"/>
              <a:gd name="T18" fmla="*/ 38 w 145"/>
              <a:gd name="T19" fmla="*/ 68 h 124"/>
              <a:gd name="T20" fmla="*/ 6 w 145"/>
              <a:gd name="T21" fmla="*/ 100 h 124"/>
              <a:gd name="T22" fmla="*/ 6 w 145"/>
              <a:gd name="T23" fmla="*/ 118 h 124"/>
              <a:gd name="T24" fmla="*/ 97 w 145"/>
              <a:gd name="T25" fmla="*/ 72 h 124"/>
              <a:gd name="T26" fmla="*/ 97 w 145"/>
              <a:gd name="T27" fmla="*/ 124 h 124"/>
              <a:gd name="T28" fmla="*/ 124 w 145"/>
              <a:gd name="T29" fmla="*/ 124 h 124"/>
              <a:gd name="T30" fmla="*/ 129 w 145"/>
              <a:gd name="T31" fmla="*/ 118 h 124"/>
              <a:gd name="T32" fmla="*/ 129 w 145"/>
              <a:gd name="T33" fmla="*/ 68 h 124"/>
              <a:gd name="T34" fmla="*/ 129 w 145"/>
              <a:gd name="T35" fmla="*/ 40 h 124"/>
              <a:gd name="T36" fmla="*/ 101 w 145"/>
              <a:gd name="T37" fmla="*/ 68 h 124"/>
              <a:gd name="T38" fmla="*/ 97 w 145"/>
              <a:gd name="T39" fmla="*/ 72 h 124"/>
              <a:gd name="T40" fmla="*/ 116 w 145"/>
              <a:gd name="T41" fmla="*/ 3 h 124"/>
              <a:gd name="T42" fmla="*/ 111 w 145"/>
              <a:gd name="T43" fmla="*/ 9 h 124"/>
              <a:gd name="T44" fmla="*/ 117 w 145"/>
              <a:gd name="T45" fmla="*/ 14 h 124"/>
              <a:gd name="T46" fmla="*/ 123 w 145"/>
              <a:gd name="T47" fmla="*/ 14 h 124"/>
              <a:gd name="T48" fmla="*/ 70 w 145"/>
              <a:gd name="T49" fmla="*/ 67 h 124"/>
              <a:gd name="T50" fmla="*/ 38 w 145"/>
              <a:gd name="T51" fmla="*/ 36 h 124"/>
              <a:gd name="T52" fmla="*/ 2 w 145"/>
              <a:gd name="T53" fmla="*/ 73 h 124"/>
              <a:gd name="T54" fmla="*/ 2 w 145"/>
              <a:gd name="T55" fmla="*/ 81 h 124"/>
              <a:gd name="T56" fmla="*/ 10 w 145"/>
              <a:gd name="T57" fmla="*/ 81 h 124"/>
              <a:gd name="T58" fmla="*/ 38 w 145"/>
              <a:gd name="T59" fmla="*/ 52 h 124"/>
              <a:gd name="T60" fmla="*/ 70 w 145"/>
              <a:gd name="T61" fmla="*/ 84 h 124"/>
              <a:gd name="T62" fmla="*/ 132 w 145"/>
              <a:gd name="T63" fmla="*/ 22 h 124"/>
              <a:gd name="T64" fmla="*/ 131 w 145"/>
              <a:gd name="T65" fmla="*/ 28 h 124"/>
              <a:gd name="T66" fmla="*/ 136 w 145"/>
              <a:gd name="T67" fmla="*/ 35 h 124"/>
              <a:gd name="T68" fmla="*/ 137 w 145"/>
              <a:gd name="T69" fmla="*/ 35 h 124"/>
              <a:gd name="T70" fmla="*/ 143 w 145"/>
              <a:gd name="T71" fmla="*/ 29 h 124"/>
              <a:gd name="T72" fmla="*/ 145 w 145"/>
              <a:gd name="T73" fmla="*/ 0 h 124"/>
              <a:gd name="T74" fmla="*/ 116 w 145"/>
              <a:gd name="T75" fmla="*/ 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5" h="124">
                <a:moveTo>
                  <a:pt x="51" y="80"/>
                </a:moveTo>
                <a:cubicBezTo>
                  <a:pt x="51" y="124"/>
                  <a:pt x="51" y="124"/>
                  <a:pt x="51" y="124"/>
                </a:cubicBezTo>
                <a:cubicBezTo>
                  <a:pt x="84" y="124"/>
                  <a:pt x="84" y="124"/>
                  <a:pt x="84" y="124"/>
                </a:cubicBezTo>
                <a:cubicBezTo>
                  <a:pt x="84" y="85"/>
                  <a:pt x="84" y="85"/>
                  <a:pt x="84" y="85"/>
                </a:cubicBezTo>
                <a:cubicBezTo>
                  <a:pt x="70" y="99"/>
                  <a:pt x="70" y="99"/>
                  <a:pt x="70" y="99"/>
                </a:cubicBezTo>
                <a:lnTo>
                  <a:pt x="51" y="80"/>
                </a:lnTo>
                <a:close/>
                <a:moveTo>
                  <a:pt x="6" y="118"/>
                </a:moveTo>
                <a:cubicBezTo>
                  <a:pt x="6" y="121"/>
                  <a:pt x="8" y="124"/>
                  <a:pt x="11" y="124"/>
                </a:cubicBezTo>
                <a:cubicBezTo>
                  <a:pt x="38" y="124"/>
                  <a:pt x="38" y="124"/>
                  <a:pt x="38" y="124"/>
                </a:cubicBezTo>
                <a:cubicBezTo>
                  <a:pt x="38" y="68"/>
                  <a:pt x="38" y="68"/>
                  <a:pt x="38" y="68"/>
                </a:cubicBezTo>
                <a:cubicBezTo>
                  <a:pt x="6" y="100"/>
                  <a:pt x="6" y="100"/>
                  <a:pt x="6" y="100"/>
                </a:cubicBezTo>
                <a:lnTo>
                  <a:pt x="6" y="118"/>
                </a:lnTo>
                <a:close/>
                <a:moveTo>
                  <a:pt x="97" y="72"/>
                </a:moveTo>
                <a:cubicBezTo>
                  <a:pt x="97" y="124"/>
                  <a:pt x="97" y="124"/>
                  <a:pt x="97" y="124"/>
                </a:cubicBezTo>
                <a:cubicBezTo>
                  <a:pt x="124" y="124"/>
                  <a:pt x="124" y="124"/>
                  <a:pt x="124" y="124"/>
                </a:cubicBezTo>
                <a:cubicBezTo>
                  <a:pt x="127" y="124"/>
                  <a:pt x="129" y="121"/>
                  <a:pt x="129" y="118"/>
                </a:cubicBezTo>
                <a:cubicBezTo>
                  <a:pt x="129" y="68"/>
                  <a:pt x="129" y="68"/>
                  <a:pt x="129" y="68"/>
                </a:cubicBezTo>
                <a:cubicBezTo>
                  <a:pt x="129" y="40"/>
                  <a:pt x="129" y="40"/>
                  <a:pt x="129" y="40"/>
                </a:cubicBezTo>
                <a:cubicBezTo>
                  <a:pt x="101" y="68"/>
                  <a:pt x="101" y="68"/>
                  <a:pt x="101" y="68"/>
                </a:cubicBezTo>
                <a:lnTo>
                  <a:pt x="97" y="72"/>
                </a:lnTo>
                <a:close/>
                <a:moveTo>
                  <a:pt x="116" y="3"/>
                </a:moveTo>
                <a:cubicBezTo>
                  <a:pt x="113" y="3"/>
                  <a:pt x="111" y="6"/>
                  <a:pt x="111" y="9"/>
                </a:cubicBezTo>
                <a:cubicBezTo>
                  <a:pt x="111" y="12"/>
                  <a:pt x="114" y="15"/>
                  <a:pt x="117" y="14"/>
                </a:cubicBezTo>
                <a:cubicBezTo>
                  <a:pt x="123" y="14"/>
                  <a:pt x="123" y="14"/>
                  <a:pt x="123" y="14"/>
                </a:cubicBezTo>
                <a:cubicBezTo>
                  <a:pt x="70" y="67"/>
                  <a:pt x="70" y="67"/>
                  <a:pt x="70" y="67"/>
                </a:cubicBezTo>
                <a:cubicBezTo>
                  <a:pt x="38" y="36"/>
                  <a:pt x="38" y="36"/>
                  <a:pt x="38" y="36"/>
                </a:cubicBezTo>
                <a:cubicBezTo>
                  <a:pt x="2" y="73"/>
                  <a:pt x="2" y="73"/>
                  <a:pt x="2" y="73"/>
                </a:cubicBezTo>
                <a:cubicBezTo>
                  <a:pt x="0" y="75"/>
                  <a:pt x="0" y="79"/>
                  <a:pt x="2" y="81"/>
                </a:cubicBezTo>
                <a:cubicBezTo>
                  <a:pt x="4" y="83"/>
                  <a:pt x="8" y="83"/>
                  <a:pt x="10" y="81"/>
                </a:cubicBezTo>
                <a:cubicBezTo>
                  <a:pt x="38" y="52"/>
                  <a:pt x="38" y="52"/>
                  <a:pt x="38" y="52"/>
                </a:cubicBezTo>
                <a:cubicBezTo>
                  <a:pt x="70" y="84"/>
                  <a:pt x="70" y="84"/>
                  <a:pt x="70" y="84"/>
                </a:cubicBezTo>
                <a:cubicBezTo>
                  <a:pt x="132" y="22"/>
                  <a:pt x="132" y="22"/>
                  <a:pt x="132" y="22"/>
                </a:cubicBezTo>
                <a:cubicBezTo>
                  <a:pt x="131" y="28"/>
                  <a:pt x="131" y="28"/>
                  <a:pt x="131" y="28"/>
                </a:cubicBezTo>
                <a:cubicBezTo>
                  <a:pt x="131" y="31"/>
                  <a:pt x="133" y="34"/>
                  <a:pt x="136" y="35"/>
                </a:cubicBezTo>
                <a:cubicBezTo>
                  <a:pt x="137" y="35"/>
                  <a:pt x="137" y="35"/>
                  <a:pt x="137" y="35"/>
                </a:cubicBezTo>
                <a:cubicBezTo>
                  <a:pt x="140" y="35"/>
                  <a:pt x="142" y="32"/>
                  <a:pt x="143" y="29"/>
                </a:cubicBezTo>
                <a:cubicBezTo>
                  <a:pt x="145" y="0"/>
                  <a:pt x="145" y="0"/>
                  <a:pt x="145" y="0"/>
                </a:cubicBezTo>
                <a:lnTo>
                  <a:pt x="116" y="3"/>
                </a:lnTo>
                <a:close/>
              </a:path>
            </a:pathLst>
          </a:custGeom>
          <a:solidFill>
            <a:schemeClr val="bg1"/>
          </a:solidFill>
          <a:ln>
            <a:noFill/>
          </a:ln>
        </p:spPr>
        <p:txBody>
          <a:bodyPr vert="horz" wrap="square" lIns="91425" tIns="45712" rIns="91425" bIns="45712" numCol="1" anchor="t" anchorCtr="0" compatLnSpc="1"/>
          <a:lstStyle/>
          <a:p>
            <a:endParaRPr lang="en-US"/>
          </a:p>
        </p:txBody>
      </p:sp>
      <p:sp>
        <p:nvSpPr>
          <p:cNvPr id="38" name="Freeform 1262"/>
          <p:cNvSpPr>
            <a:spLocks noEditPoints="1"/>
          </p:cNvSpPr>
          <p:nvPr/>
        </p:nvSpPr>
        <p:spPr bwMode="auto">
          <a:xfrm>
            <a:off x="6801609" y="2777276"/>
            <a:ext cx="308756" cy="387995"/>
          </a:xfrm>
          <a:custGeom>
            <a:avLst/>
            <a:gdLst>
              <a:gd name="T0" fmla="*/ 164 w 226"/>
              <a:gd name="T1" fmla="*/ 48 h 284"/>
              <a:gd name="T2" fmla="*/ 40 w 226"/>
              <a:gd name="T3" fmla="*/ 48 h 284"/>
              <a:gd name="T4" fmla="*/ 40 w 226"/>
              <a:gd name="T5" fmla="*/ 64 h 284"/>
              <a:gd name="T6" fmla="*/ 164 w 226"/>
              <a:gd name="T7" fmla="*/ 64 h 284"/>
              <a:gd name="T8" fmla="*/ 164 w 226"/>
              <a:gd name="T9" fmla="*/ 48 h 284"/>
              <a:gd name="T10" fmla="*/ 164 w 226"/>
              <a:gd name="T11" fmla="*/ 116 h 284"/>
              <a:gd name="T12" fmla="*/ 40 w 226"/>
              <a:gd name="T13" fmla="*/ 116 h 284"/>
              <a:gd name="T14" fmla="*/ 40 w 226"/>
              <a:gd name="T15" fmla="*/ 134 h 284"/>
              <a:gd name="T16" fmla="*/ 164 w 226"/>
              <a:gd name="T17" fmla="*/ 134 h 284"/>
              <a:gd name="T18" fmla="*/ 164 w 226"/>
              <a:gd name="T19" fmla="*/ 116 h 284"/>
              <a:gd name="T20" fmla="*/ 164 w 226"/>
              <a:gd name="T21" fmla="*/ 82 h 284"/>
              <a:gd name="T22" fmla="*/ 40 w 226"/>
              <a:gd name="T23" fmla="*/ 82 h 284"/>
              <a:gd name="T24" fmla="*/ 40 w 226"/>
              <a:gd name="T25" fmla="*/ 100 h 284"/>
              <a:gd name="T26" fmla="*/ 164 w 226"/>
              <a:gd name="T27" fmla="*/ 100 h 284"/>
              <a:gd name="T28" fmla="*/ 164 w 226"/>
              <a:gd name="T29" fmla="*/ 82 h 284"/>
              <a:gd name="T30" fmla="*/ 202 w 226"/>
              <a:gd name="T31" fmla="*/ 26 h 284"/>
              <a:gd name="T32" fmla="*/ 202 w 226"/>
              <a:gd name="T33" fmla="*/ 0 h 284"/>
              <a:gd name="T34" fmla="*/ 0 w 226"/>
              <a:gd name="T35" fmla="*/ 0 h 284"/>
              <a:gd name="T36" fmla="*/ 0 w 226"/>
              <a:gd name="T37" fmla="*/ 260 h 284"/>
              <a:gd name="T38" fmla="*/ 26 w 226"/>
              <a:gd name="T39" fmla="*/ 260 h 284"/>
              <a:gd name="T40" fmla="*/ 26 w 226"/>
              <a:gd name="T41" fmla="*/ 284 h 284"/>
              <a:gd name="T42" fmla="*/ 226 w 226"/>
              <a:gd name="T43" fmla="*/ 284 h 284"/>
              <a:gd name="T44" fmla="*/ 226 w 226"/>
              <a:gd name="T45" fmla="*/ 26 h 284"/>
              <a:gd name="T46" fmla="*/ 202 w 226"/>
              <a:gd name="T47" fmla="*/ 26 h 284"/>
              <a:gd name="T48" fmla="*/ 14 w 226"/>
              <a:gd name="T49" fmla="*/ 246 h 284"/>
              <a:gd name="T50" fmla="*/ 14 w 226"/>
              <a:gd name="T51" fmla="*/ 14 h 284"/>
              <a:gd name="T52" fmla="*/ 188 w 226"/>
              <a:gd name="T53" fmla="*/ 14 h 284"/>
              <a:gd name="T54" fmla="*/ 188 w 226"/>
              <a:gd name="T55" fmla="*/ 186 h 284"/>
              <a:gd name="T56" fmla="*/ 128 w 226"/>
              <a:gd name="T57" fmla="*/ 186 h 284"/>
              <a:gd name="T58" fmla="*/ 128 w 226"/>
              <a:gd name="T59" fmla="*/ 246 h 284"/>
              <a:gd name="T60" fmla="*/ 14 w 226"/>
              <a:gd name="T61" fmla="*/ 246 h 284"/>
              <a:gd name="T62" fmla="*/ 212 w 226"/>
              <a:gd name="T63" fmla="*/ 270 h 284"/>
              <a:gd name="T64" fmla="*/ 40 w 226"/>
              <a:gd name="T65" fmla="*/ 270 h 284"/>
              <a:gd name="T66" fmla="*/ 40 w 226"/>
              <a:gd name="T67" fmla="*/ 260 h 284"/>
              <a:gd name="T68" fmla="*/ 136 w 226"/>
              <a:gd name="T69" fmla="*/ 260 h 284"/>
              <a:gd name="T70" fmla="*/ 202 w 226"/>
              <a:gd name="T71" fmla="*/ 194 h 284"/>
              <a:gd name="T72" fmla="*/ 202 w 226"/>
              <a:gd name="T73" fmla="*/ 40 h 284"/>
              <a:gd name="T74" fmla="*/ 212 w 226"/>
              <a:gd name="T75" fmla="*/ 40 h 284"/>
              <a:gd name="T76" fmla="*/ 212 w 226"/>
              <a:gd name="T77" fmla="*/ 270 h 284"/>
              <a:gd name="T78" fmla="*/ 40 w 226"/>
              <a:gd name="T79" fmla="*/ 170 h 284"/>
              <a:gd name="T80" fmla="*/ 102 w 226"/>
              <a:gd name="T81" fmla="*/ 170 h 284"/>
              <a:gd name="T82" fmla="*/ 102 w 226"/>
              <a:gd name="T83" fmla="*/ 152 h 284"/>
              <a:gd name="T84" fmla="*/ 40 w 226"/>
              <a:gd name="T85" fmla="*/ 152 h 284"/>
              <a:gd name="T86" fmla="*/ 40 w 226"/>
              <a:gd name="T87" fmla="*/ 17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6" h="284">
                <a:moveTo>
                  <a:pt x="164" y="48"/>
                </a:moveTo>
                <a:lnTo>
                  <a:pt x="40" y="48"/>
                </a:lnTo>
                <a:lnTo>
                  <a:pt x="40" y="64"/>
                </a:lnTo>
                <a:lnTo>
                  <a:pt x="164" y="64"/>
                </a:lnTo>
                <a:lnTo>
                  <a:pt x="164" y="48"/>
                </a:lnTo>
                <a:close/>
                <a:moveTo>
                  <a:pt x="164" y="116"/>
                </a:moveTo>
                <a:lnTo>
                  <a:pt x="40" y="116"/>
                </a:lnTo>
                <a:lnTo>
                  <a:pt x="40" y="134"/>
                </a:lnTo>
                <a:lnTo>
                  <a:pt x="164" y="134"/>
                </a:lnTo>
                <a:lnTo>
                  <a:pt x="164" y="116"/>
                </a:lnTo>
                <a:close/>
                <a:moveTo>
                  <a:pt x="164" y="82"/>
                </a:moveTo>
                <a:lnTo>
                  <a:pt x="40" y="82"/>
                </a:lnTo>
                <a:lnTo>
                  <a:pt x="40" y="100"/>
                </a:lnTo>
                <a:lnTo>
                  <a:pt x="164" y="100"/>
                </a:lnTo>
                <a:lnTo>
                  <a:pt x="164" y="82"/>
                </a:lnTo>
                <a:close/>
                <a:moveTo>
                  <a:pt x="202" y="26"/>
                </a:moveTo>
                <a:lnTo>
                  <a:pt x="202" y="0"/>
                </a:lnTo>
                <a:lnTo>
                  <a:pt x="0" y="0"/>
                </a:lnTo>
                <a:lnTo>
                  <a:pt x="0" y="260"/>
                </a:lnTo>
                <a:lnTo>
                  <a:pt x="26" y="260"/>
                </a:lnTo>
                <a:lnTo>
                  <a:pt x="26" y="284"/>
                </a:lnTo>
                <a:lnTo>
                  <a:pt x="226" y="284"/>
                </a:lnTo>
                <a:lnTo>
                  <a:pt x="226" y="26"/>
                </a:lnTo>
                <a:lnTo>
                  <a:pt x="202" y="26"/>
                </a:lnTo>
                <a:close/>
                <a:moveTo>
                  <a:pt x="14" y="246"/>
                </a:moveTo>
                <a:lnTo>
                  <a:pt x="14" y="14"/>
                </a:lnTo>
                <a:lnTo>
                  <a:pt x="188" y="14"/>
                </a:lnTo>
                <a:lnTo>
                  <a:pt x="188" y="186"/>
                </a:lnTo>
                <a:lnTo>
                  <a:pt x="128" y="186"/>
                </a:lnTo>
                <a:lnTo>
                  <a:pt x="128" y="246"/>
                </a:lnTo>
                <a:lnTo>
                  <a:pt x="14" y="246"/>
                </a:lnTo>
                <a:close/>
                <a:moveTo>
                  <a:pt x="212" y="270"/>
                </a:moveTo>
                <a:lnTo>
                  <a:pt x="40" y="270"/>
                </a:lnTo>
                <a:lnTo>
                  <a:pt x="40" y="260"/>
                </a:lnTo>
                <a:lnTo>
                  <a:pt x="136" y="260"/>
                </a:lnTo>
                <a:lnTo>
                  <a:pt x="202" y="194"/>
                </a:lnTo>
                <a:lnTo>
                  <a:pt x="202" y="40"/>
                </a:lnTo>
                <a:lnTo>
                  <a:pt x="212" y="40"/>
                </a:lnTo>
                <a:lnTo>
                  <a:pt x="212" y="270"/>
                </a:lnTo>
                <a:close/>
                <a:moveTo>
                  <a:pt x="40" y="170"/>
                </a:moveTo>
                <a:lnTo>
                  <a:pt x="102" y="170"/>
                </a:lnTo>
                <a:lnTo>
                  <a:pt x="102" y="152"/>
                </a:lnTo>
                <a:lnTo>
                  <a:pt x="40" y="152"/>
                </a:lnTo>
                <a:lnTo>
                  <a:pt x="40" y="170"/>
                </a:lnTo>
                <a:close/>
              </a:path>
            </a:pathLst>
          </a:custGeom>
          <a:solidFill>
            <a:schemeClr val="bg1"/>
          </a:solidFill>
          <a:ln>
            <a:noFill/>
          </a:ln>
        </p:spPr>
        <p:txBody>
          <a:bodyPr vert="horz" wrap="square" lIns="91425" tIns="45712" rIns="91425" bIns="45712" numCol="1" anchor="t" anchorCtr="0" compatLnSpc="1"/>
          <a:lstStyle/>
          <a:p>
            <a:endParaRPr lang="en-US"/>
          </a:p>
        </p:txBody>
      </p:sp>
      <p:sp>
        <p:nvSpPr>
          <p:cNvPr id="42" name="Freeform 1263"/>
          <p:cNvSpPr>
            <a:spLocks noEditPoints="1"/>
          </p:cNvSpPr>
          <p:nvPr/>
        </p:nvSpPr>
        <p:spPr bwMode="auto">
          <a:xfrm>
            <a:off x="8543487" y="2790938"/>
            <a:ext cx="355206" cy="352474"/>
          </a:xfrm>
          <a:custGeom>
            <a:avLst/>
            <a:gdLst>
              <a:gd name="T0" fmla="*/ 46 w 130"/>
              <a:gd name="T1" fmla="*/ 77 h 129"/>
              <a:gd name="T2" fmla="*/ 84 w 130"/>
              <a:gd name="T3" fmla="*/ 77 h 129"/>
              <a:gd name="T4" fmla="*/ 93 w 130"/>
              <a:gd name="T5" fmla="*/ 71 h 129"/>
              <a:gd name="T6" fmla="*/ 37 w 130"/>
              <a:gd name="T7" fmla="*/ 71 h 129"/>
              <a:gd name="T8" fmla="*/ 46 w 130"/>
              <a:gd name="T9" fmla="*/ 77 h 129"/>
              <a:gd name="T10" fmla="*/ 64 w 130"/>
              <a:gd name="T11" fmla="*/ 89 h 129"/>
              <a:gd name="T12" fmla="*/ 66 w 130"/>
              <a:gd name="T13" fmla="*/ 89 h 129"/>
              <a:gd name="T14" fmla="*/ 75 w 130"/>
              <a:gd name="T15" fmla="*/ 83 h 129"/>
              <a:gd name="T16" fmla="*/ 55 w 130"/>
              <a:gd name="T17" fmla="*/ 83 h 129"/>
              <a:gd name="T18" fmla="*/ 64 w 130"/>
              <a:gd name="T19" fmla="*/ 89 h 129"/>
              <a:gd name="T20" fmla="*/ 26 w 130"/>
              <a:gd name="T21" fmla="*/ 64 h 129"/>
              <a:gd name="T22" fmla="*/ 28 w 130"/>
              <a:gd name="T23" fmla="*/ 65 h 129"/>
              <a:gd name="T24" fmla="*/ 102 w 130"/>
              <a:gd name="T25" fmla="*/ 65 h 129"/>
              <a:gd name="T26" fmla="*/ 104 w 130"/>
              <a:gd name="T27" fmla="*/ 64 h 129"/>
              <a:gd name="T28" fmla="*/ 104 w 130"/>
              <a:gd name="T29" fmla="*/ 58 h 129"/>
              <a:gd name="T30" fmla="*/ 26 w 130"/>
              <a:gd name="T31" fmla="*/ 58 h 129"/>
              <a:gd name="T32" fmla="*/ 26 w 130"/>
              <a:gd name="T33" fmla="*/ 64 h 129"/>
              <a:gd name="T34" fmla="*/ 126 w 130"/>
              <a:gd name="T35" fmla="*/ 40 h 129"/>
              <a:gd name="T36" fmla="*/ 70 w 130"/>
              <a:gd name="T37" fmla="*/ 2 h 129"/>
              <a:gd name="T38" fmla="*/ 60 w 130"/>
              <a:gd name="T39" fmla="*/ 2 h 129"/>
              <a:gd name="T40" fmla="*/ 4 w 130"/>
              <a:gd name="T41" fmla="*/ 40 h 129"/>
              <a:gd name="T42" fmla="*/ 0 w 130"/>
              <a:gd name="T43" fmla="*/ 47 h 129"/>
              <a:gd name="T44" fmla="*/ 0 w 130"/>
              <a:gd name="T45" fmla="*/ 120 h 129"/>
              <a:gd name="T46" fmla="*/ 8 w 130"/>
              <a:gd name="T47" fmla="*/ 129 h 129"/>
              <a:gd name="T48" fmla="*/ 122 w 130"/>
              <a:gd name="T49" fmla="*/ 129 h 129"/>
              <a:gd name="T50" fmla="*/ 130 w 130"/>
              <a:gd name="T51" fmla="*/ 120 h 129"/>
              <a:gd name="T52" fmla="*/ 130 w 130"/>
              <a:gd name="T53" fmla="*/ 47 h 129"/>
              <a:gd name="T54" fmla="*/ 126 w 130"/>
              <a:gd name="T55" fmla="*/ 40 h 129"/>
              <a:gd name="T56" fmla="*/ 122 w 130"/>
              <a:gd name="T57" fmla="*/ 59 h 129"/>
              <a:gd name="T58" fmla="*/ 65 w 130"/>
              <a:gd name="T59" fmla="*/ 97 h 129"/>
              <a:gd name="T60" fmla="*/ 8 w 130"/>
              <a:gd name="T61" fmla="*/ 59 h 129"/>
              <a:gd name="T62" fmla="*/ 8 w 130"/>
              <a:gd name="T63" fmla="*/ 51 h 129"/>
              <a:gd name="T64" fmla="*/ 12 w 130"/>
              <a:gd name="T65" fmla="*/ 47 h 129"/>
              <a:gd name="T66" fmla="*/ 118 w 130"/>
              <a:gd name="T67" fmla="*/ 47 h 129"/>
              <a:gd name="T68" fmla="*/ 122 w 130"/>
              <a:gd name="T69" fmla="*/ 51 h 129"/>
              <a:gd name="T70" fmla="*/ 122 w 130"/>
              <a:gd name="T71" fmla="*/ 5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30" h="129">
                <a:moveTo>
                  <a:pt x="46" y="77"/>
                </a:moveTo>
                <a:cubicBezTo>
                  <a:pt x="84" y="77"/>
                  <a:pt x="84" y="77"/>
                  <a:pt x="84" y="77"/>
                </a:cubicBezTo>
                <a:cubicBezTo>
                  <a:pt x="93" y="71"/>
                  <a:pt x="93" y="71"/>
                  <a:pt x="93" y="71"/>
                </a:cubicBezTo>
                <a:cubicBezTo>
                  <a:pt x="37" y="71"/>
                  <a:pt x="37" y="71"/>
                  <a:pt x="37" y="71"/>
                </a:cubicBezTo>
                <a:lnTo>
                  <a:pt x="46" y="77"/>
                </a:lnTo>
                <a:close/>
                <a:moveTo>
                  <a:pt x="64" y="89"/>
                </a:moveTo>
                <a:cubicBezTo>
                  <a:pt x="66" y="89"/>
                  <a:pt x="66" y="89"/>
                  <a:pt x="66" y="89"/>
                </a:cubicBezTo>
                <a:cubicBezTo>
                  <a:pt x="75" y="83"/>
                  <a:pt x="75" y="83"/>
                  <a:pt x="75" y="83"/>
                </a:cubicBezTo>
                <a:cubicBezTo>
                  <a:pt x="55" y="83"/>
                  <a:pt x="55" y="83"/>
                  <a:pt x="55" y="83"/>
                </a:cubicBezTo>
                <a:lnTo>
                  <a:pt x="64" y="89"/>
                </a:lnTo>
                <a:close/>
                <a:moveTo>
                  <a:pt x="26" y="64"/>
                </a:moveTo>
                <a:cubicBezTo>
                  <a:pt x="28" y="65"/>
                  <a:pt x="28" y="65"/>
                  <a:pt x="28" y="65"/>
                </a:cubicBezTo>
                <a:cubicBezTo>
                  <a:pt x="102" y="65"/>
                  <a:pt x="102" y="65"/>
                  <a:pt x="102" y="65"/>
                </a:cubicBezTo>
                <a:cubicBezTo>
                  <a:pt x="104" y="64"/>
                  <a:pt x="104" y="64"/>
                  <a:pt x="104" y="64"/>
                </a:cubicBezTo>
                <a:cubicBezTo>
                  <a:pt x="104" y="58"/>
                  <a:pt x="104" y="58"/>
                  <a:pt x="104" y="58"/>
                </a:cubicBezTo>
                <a:cubicBezTo>
                  <a:pt x="26" y="58"/>
                  <a:pt x="26" y="58"/>
                  <a:pt x="26" y="58"/>
                </a:cubicBezTo>
                <a:lnTo>
                  <a:pt x="26" y="64"/>
                </a:lnTo>
                <a:close/>
                <a:moveTo>
                  <a:pt x="126" y="40"/>
                </a:moveTo>
                <a:cubicBezTo>
                  <a:pt x="70" y="2"/>
                  <a:pt x="70" y="2"/>
                  <a:pt x="70" y="2"/>
                </a:cubicBezTo>
                <a:cubicBezTo>
                  <a:pt x="67" y="0"/>
                  <a:pt x="63" y="0"/>
                  <a:pt x="60" y="2"/>
                </a:cubicBezTo>
                <a:cubicBezTo>
                  <a:pt x="4" y="40"/>
                  <a:pt x="4" y="40"/>
                  <a:pt x="4" y="40"/>
                </a:cubicBezTo>
                <a:cubicBezTo>
                  <a:pt x="1" y="42"/>
                  <a:pt x="0" y="44"/>
                  <a:pt x="0" y="47"/>
                </a:cubicBezTo>
                <a:cubicBezTo>
                  <a:pt x="0" y="120"/>
                  <a:pt x="0" y="120"/>
                  <a:pt x="0" y="120"/>
                </a:cubicBezTo>
                <a:cubicBezTo>
                  <a:pt x="0" y="125"/>
                  <a:pt x="4" y="129"/>
                  <a:pt x="8" y="129"/>
                </a:cubicBezTo>
                <a:cubicBezTo>
                  <a:pt x="122" y="129"/>
                  <a:pt x="122" y="129"/>
                  <a:pt x="122" y="129"/>
                </a:cubicBezTo>
                <a:cubicBezTo>
                  <a:pt x="126" y="129"/>
                  <a:pt x="130" y="125"/>
                  <a:pt x="130" y="120"/>
                </a:cubicBezTo>
                <a:cubicBezTo>
                  <a:pt x="130" y="47"/>
                  <a:pt x="130" y="47"/>
                  <a:pt x="130" y="47"/>
                </a:cubicBezTo>
                <a:cubicBezTo>
                  <a:pt x="130" y="44"/>
                  <a:pt x="129" y="42"/>
                  <a:pt x="126" y="40"/>
                </a:cubicBezTo>
                <a:close/>
                <a:moveTo>
                  <a:pt x="122" y="59"/>
                </a:moveTo>
                <a:cubicBezTo>
                  <a:pt x="65" y="97"/>
                  <a:pt x="65" y="97"/>
                  <a:pt x="65" y="97"/>
                </a:cubicBezTo>
                <a:cubicBezTo>
                  <a:pt x="8" y="59"/>
                  <a:pt x="8" y="59"/>
                  <a:pt x="8" y="59"/>
                </a:cubicBezTo>
                <a:cubicBezTo>
                  <a:pt x="8" y="51"/>
                  <a:pt x="8" y="51"/>
                  <a:pt x="8" y="51"/>
                </a:cubicBezTo>
                <a:cubicBezTo>
                  <a:pt x="8" y="49"/>
                  <a:pt x="10" y="47"/>
                  <a:pt x="12" y="47"/>
                </a:cubicBezTo>
                <a:cubicBezTo>
                  <a:pt x="118" y="47"/>
                  <a:pt x="118" y="47"/>
                  <a:pt x="118" y="47"/>
                </a:cubicBezTo>
                <a:cubicBezTo>
                  <a:pt x="120" y="47"/>
                  <a:pt x="122" y="49"/>
                  <a:pt x="122" y="51"/>
                </a:cubicBezTo>
                <a:lnTo>
                  <a:pt x="122" y="59"/>
                </a:lnTo>
                <a:close/>
              </a:path>
            </a:pathLst>
          </a:custGeom>
          <a:solidFill>
            <a:schemeClr val="bg1"/>
          </a:solidFill>
          <a:ln>
            <a:noFill/>
          </a:ln>
        </p:spPr>
        <p:txBody>
          <a:bodyPr vert="horz" wrap="square" lIns="91425" tIns="45712" rIns="91425" bIns="45712" numCol="1" anchor="t" anchorCtr="0" compatLnSpc="1"/>
          <a:lstStyle/>
          <a:p>
            <a:endParaRPr lang="en-US"/>
          </a:p>
        </p:txBody>
      </p:sp>
      <p:sp>
        <p:nvSpPr>
          <p:cNvPr id="2" name="矩形 1"/>
          <p:cNvSpPr/>
          <p:nvPr/>
        </p:nvSpPr>
        <p:spPr>
          <a:xfrm rot="1620000">
            <a:off x="7946736" y="889397"/>
            <a:ext cx="4204948"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10" name="矩形 9"/>
          <p:cNvSpPr/>
          <p:nvPr/>
        </p:nvSpPr>
        <p:spPr>
          <a:xfrm>
            <a:off x="1684844" y="360316"/>
            <a:ext cx="1982470" cy="737235"/>
          </a:xfrm>
          <a:prstGeom prst="rect">
            <a:avLst/>
          </a:prstGeom>
        </p:spPr>
        <p:txBody>
          <a:bodyPr wrap="none">
            <a:spAutoFit/>
          </a:bodyPr>
          <a:p>
            <a:pPr>
              <a:lnSpc>
                <a:spcPct val="175000"/>
              </a:lnSpc>
            </a:pPr>
            <a:r>
              <a:rPr lang="en-US" altLang="zh-CN" sz="2400" b="1" dirty="0">
                <a:solidFill>
                  <a:schemeClr val="tx1">
                    <a:lumMod val="75000"/>
                    <a:lumOff val="25000"/>
                  </a:schemeClr>
                </a:solidFill>
                <a:latin typeface="微软雅黑" panose="020B0503020204020204" charset="-122"/>
                <a:ea typeface="微软雅黑" panose="020B0503020204020204" charset="-122"/>
              </a:rPr>
              <a:t>Testbuy</a:t>
            </a:r>
            <a:r>
              <a:rPr lang="zh-CN" altLang="en-US" sz="2400" b="1" dirty="0">
                <a:solidFill>
                  <a:schemeClr val="tx1">
                    <a:lumMod val="75000"/>
                    <a:lumOff val="25000"/>
                  </a:schemeClr>
                </a:solidFill>
                <a:latin typeface="微软雅黑" panose="020B0503020204020204" charset="-122"/>
                <a:ea typeface="微软雅黑" panose="020B0503020204020204" charset="-122"/>
              </a:rPr>
              <a:t>步骤</a:t>
            </a:r>
            <a:endParaRPr lang="zh-CN" altLang="en-US" sz="2400" b="1" dirty="0">
              <a:solidFill>
                <a:schemeClr val="tx1">
                  <a:lumMod val="75000"/>
                  <a:lumOff val="25000"/>
                </a:schemeClr>
              </a:solidFill>
              <a:latin typeface="微软雅黑" panose="020B0503020204020204" charset="-122"/>
              <a:ea typeface="微软雅黑" panose="020B0503020204020204" charset="-122"/>
            </a:endParaRPr>
          </a:p>
        </p:txBody>
      </p:sp>
      <p:sp>
        <p:nvSpPr>
          <p:cNvPr id="3" name="文本框 2"/>
          <p:cNvSpPr txBox="1"/>
          <p:nvPr/>
        </p:nvSpPr>
        <p:spPr>
          <a:xfrm>
            <a:off x="821879" y="1397952"/>
            <a:ext cx="7181850" cy="675640"/>
          </a:xfrm>
          <a:prstGeom prst="rect">
            <a:avLst/>
          </a:prstGeom>
          <a:noFill/>
        </p:spPr>
        <p:txBody>
          <a:bodyPr wrap="none" rtlCol="0">
            <a:spAutoFit/>
          </a:bodyPr>
          <a:p>
            <a:pPr algn="l"/>
            <a:r>
              <a:rPr lang="zh-CN" altLang="en-US">
                <a:latin typeface="+mj-ea"/>
                <a:ea typeface="+mj-ea"/>
              </a:rPr>
              <a:t>投诉链接 </a:t>
            </a:r>
            <a:endParaRPr lang="zh-CN" altLang="en-US">
              <a:latin typeface="+mj-ea"/>
              <a:ea typeface="+mj-ea"/>
            </a:endParaRPr>
          </a:p>
          <a:p>
            <a:pPr algn="l"/>
            <a:r>
              <a:rPr lang="zh-CN" altLang="en-US" sz="1000">
                <a:latin typeface="锐字工房云字库锐倩GBK" panose="02010604000000000000" charset="-122"/>
                <a:ea typeface="锐字工房云字库锐倩GBK" panose="02010604000000000000" charset="-122"/>
              </a:rPr>
              <a:t>http://www.amazon.com/gp/help/reports/contact-us</a:t>
            </a:r>
            <a:endParaRPr lang="zh-CN" altLang="en-US" sz="1000">
              <a:latin typeface="锐字工房云字库锐倩GBK" panose="02010604000000000000" charset="-122"/>
              <a:ea typeface="锐字工房云字库锐倩GBK" panose="02010604000000000000" charset="-122"/>
            </a:endParaRPr>
          </a:p>
          <a:p>
            <a:pPr algn="l"/>
            <a:r>
              <a:rPr lang="zh-CN" altLang="en-US" sz="1000">
                <a:latin typeface="锐字工房云字库锐倩GBK" panose="02010604000000000000" charset="-122"/>
                <a:ea typeface="锐字工房云字库锐倩GBK" panose="02010604000000000000" charset="-122"/>
              </a:rPr>
              <a:t>https://www.amazon.com/gp/help/customer/display.html/ref=help_search_1-3?ie=UTF8&amp;nodeId=201889310&amp;qid=1481141367</a:t>
            </a:r>
            <a:endParaRPr lang="zh-CN" altLang="en-US" sz="1000">
              <a:latin typeface="锐字工房云字库锐倩GBK" panose="02010604000000000000" charset="-122"/>
              <a:ea typeface="锐字工房云字库锐倩GBK" panose="02010604000000000000" charset="-122"/>
            </a:endParaRPr>
          </a:p>
        </p:txBody>
      </p:sp>
      <p:sp>
        <p:nvSpPr>
          <p:cNvPr id="11" name="文本框 10"/>
          <p:cNvSpPr txBox="1"/>
          <p:nvPr/>
        </p:nvSpPr>
        <p:spPr>
          <a:xfrm>
            <a:off x="821879" y="2073487"/>
            <a:ext cx="4573905" cy="368300"/>
          </a:xfrm>
          <a:prstGeom prst="rect">
            <a:avLst/>
          </a:prstGeom>
          <a:noFill/>
        </p:spPr>
        <p:txBody>
          <a:bodyPr wrap="none" rtlCol="0">
            <a:spAutoFit/>
          </a:bodyPr>
          <a:p>
            <a:pPr algn="l"/>
            <a:r>
              <a:rPr lang="en-US" altLang="zh-CN"/>
              <a:t>S</a:t>
            </a:r>
            <a:r>
              <a:rPr lang="zh-CN" altLang="en-US"/>
              <a:t>ubject选择" Report a violation of our rules "</a:t>
            </a:r>
            <a:endParaRPr lang="zh-CN" altLang="en-US"/>
          </a:p>
        </p:txBody>
      </p:sp>
      <p:pic>
        <p:nvPicPr>
          <p:cNvPr id="52" name="图片 51"/>
          <p:cNvPicPr>
            <a:picLocks noChangeAspect="1"/>
          </p:cNvPicPr>
          <p:nvPr/>
        </p:nvPicPr>
        <p:blipFill>
          <a:blip r:embed="rId1"/>
          <a:stretch>
            <a:fillRect/>
          </a:stretch>
        </p:blipFill>
        <p:spPr>
          <a:xfrm>
            <a:off x="880925" y="2441729"/>
            <a:ext cx="3451321" cy="2186598"/>
          </a:xfrm>
          <a:prstGeom prst="rect">
            <a:avLst/>
          </a:prstGeom>
        </p:spPr>
      </p:pic>
      <p:sp>
        <p:nvSpPr>
          <p:cNvPr id="53" name="文本框 52"/>
          <p:cNvSpPr txBox="1"/>
          <p:nvPr/>
        </p:nvSpPr>
        <p:spPr>
          <a:xfrm>
            <a:off x="975526" y="4870860"/>
            <a:ext cx="9124315" cy="1383665"/>
          </a:xfrm>
          <a:prstGeom prst="rect">
            <a:avLst/>
          </a:prstGeom>
          <a:noFill/>
        </p:spPr>
        <p:txBody>
          <a:bodyPr wrap="none" rtlCol="0">
            <a:spAutoFit/>
          </a:bodyPr>
          <a:p>
            <a:pPr algn="l"/>
            <a:r>
              <a:rPr lang="en-US" altLang="zh-CN" sz="1400">
                <a:latin typeface="+mj-ea"/>
                <a:ea typeface="+mj-ea"/>
              </a:rPr>
              <a:t>1.Order ID</a:t>
            </a:r>
            <a:endParaRPr lang="en-US" altLang="zh-CN" sz="1400">
              <a:latin typeface="+mj-ea"/>
              <a:ea typeface="+mj-ea"/>
            </a:endParaRPr>
          </a:p>
          <a:p>
            <a:pPr algn="l"/>
            <a:r>
              <a:rPr lang="en-US" altLang="zh-CN" sz="1400">
                <a:latin typeface="+mj-ea"/>
                <a:ea typeface="+mj-ea"/>
              </a:rPr>
              <a:t>2.Seller ID</a:t>
            </a:r>
            <a:endParaRPr lang="en-US" altLang="zh-CN" sz="1400">
              <a:latin typeface="+mj-ea"/>
              <a:ea typeface="+mj-ea"/>
            </a:endParaRPr>
          </a:p>
          <a:p>
            <a:pPr algn="l"/>
            <a:r>
              <a:rPr lang="en-US" altLang="zh-CN" sz="1400">
                <a:latin typeface="+mj-ea"/>
                <a:ea typeface="+mj-ea"/>
              </a:rPr>
              <a:t>3.A concise explanation of the violation</a:t>
            </a:r>
            <a:endParaRPr lang="en-US" altLang="zh-CN" sz="1400">
              <a:latin typeface="+mj-ea"/>
              <a:ea typeface="+mj-ea"/>
            </a:endParaRPr>
          </a:p>
          <a:p>
            <a:pPr algn="l"/>
            <a:r>
              <a:rPr lang="en-US" altLang="zh-CN" sz="1400">
                <a:latin typeface="+mj-ea"/>
                <a:ea typeface="+mj-ea"/>
              </a:rPr>
              <a:t>4.</a:t>
            </a:r>
            <a:r>
              <a:rPr lang="zh-CN" altLang="en-US" sz="1400">
                <a:latin typeface="+mj-ea"/>
                <a:ea typeface="+mj-ea"/>
              </a:rPr>
              <a:t>拍照上传</a:t>
            </a:r>
            <a:endParaRPr lang="zh-CN" altLang="en-US" sz="1400">
              <a:latin typeface="+mj-ea"/>
              <a:ea typeface="+mj-ea"/>
            </a:endParaRPr>
          </a:p>
          <a:p>
            <a:pPr algn="l"/>
            <a:r>
              <a:rPr lang="en-US" altLang="zh-CN" sz="1400">
                <a:latin typeface="+mj-ea"/>
                <a:ea typeface="+mj-ea"/>
              </a:rPr>
              <a:t>5.</a:t>
            </a:r>
            <a:r>
              <a:rPr lang="zh-CN" altLang="en-US" sz="1400">
                <a:latin typeface="+mj-ea"/>
                <a:ea typeface="+mj-ea"/>
              </a:rPr>
              <a:t>不要涉及"trademark" 或者 "copyright"，否则，会转到亚马逊Legal Department。然后的然后就是漫漫等待。</a:t>
            </a:r>
            <a:endParaRPr lang="zh-CN" altLang="en-US" sz="1400">
              <a:latin typeface="+mj-ea"/>
              <a:ea typeface="+mj-ea"/>
            </a:endParaRPr>
          </a:p>
          <a:p>
            <a:pPr algn="l"/>
            <a:r>
              <a:rPr lang="en-US" altLang="zh-CN" sz="1400">
                <a:latin typeface="+mj-ea"/>
                <a:ea typeface="+mj-ea"/>
              </a:rPr>
              <a:t>6.如经核实，该仿冒者需要立即下架，且有可能会被要求退款给购买他产品的买家；</a:t>
            </a:r>
            <a:endParaRPr lang="en-US" altLang="zh-CN" sz="1400">
              <a:latin typeface="+mj-ea"/>
              <a:ea typeface="+mj-ea"/>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flipV="1">
            <a:off x="1081" y="537"/>
            <a:ext cx="12189839" cy="95489"/>
          </a:xfrm>
          <a:prstGeom prst="rect">
            <a:avLst/>
          </a:prstGeom>
          <a:solidFill>
            <a:srgbClr val="0617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5" name="矩形 4"/>
          <p:cNvSpPr/>
          <p:nvPr/>
        </p:nvSpPr>
        <p:spPr>
          <a:xfrm flipV="1">
            <a:off x="1081" y="6761975"/>
            <a:ext cx="12189839" cy="95489"/>
          </a:xfrm>
          <a:prstGeom prst="rect">
            <a:avLst/>
          </a:prstGeom>
          <a:solidFill>
            <a:srgbClr val="0617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grpSp>
        <p:nvGrpSpPr>
          <p:cNvPr id="6" name="组合 5"/>
          <p:cNvGrpSpPr/>
          <p:nvPr/>
        </p:nvGrpSpPr>
        <p:grpSpPr>
          <a:xfrm>
            <a:off x="821790" y="536"/>
            <a:ext cx="717438" cy="1097133"/>
            <a:chOff x="4704555" y="313131"/>
            <a:chExt cx="2782888" cy="4255695"/>
          </a:xfrm>
        </p:grpSpPr>
        <p:sp>
          <p:nvSpPr>
            <p:cNvPr id="7" name="流程图: 决策 5"/>
            <p:cNvSpPr/>
            <p:nvPr/>
          </p:nvSpPr>
          <p:spPr>
            <a:xfrm>
              <a:off x="4704555" y="313131"/>
              <a:ext cx="2782888" cy="4255695"/>
            </a:xfrm>
            <a:prstGeom prst="rect">
              <a:avLst/>
            </a:prstGeom>
            <a:solidFill>
              <a:srgbClr val="0617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26FA7"/>
                </a:solidFill>
              </a:endParaRPr>
            </a:p>
          </p:txBody>
        </p:sp>
        <p:sp>
          <p:nvSpPr>
            <p:cNvPr id="8" name="流程图: 决策 6"/>
            <p:cNvSpPr/>
            <p:nvPr/>
          </p:nvSpPr>
          <p:spPr>
            <a:xfrm>
              <a:off x="4934127" y="2015510"/>
              <a:ext cx="2323745" cy="2323745"/>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26FA7"/>
                </a:solidFill>
              </a:endParaRPr>
            </a:p>
          </p:txBody>
        </p:sp>
      </p:grpSp>
      <p:sp>
        <p:nvSpPr>
          <p:cNvPr id="9" name="文本框 8"/>
          <p:cNvSpPr txBox="1"/>
          <p:nvPr/>
        </p:nvSpPr>
        <p:spPr>
          <a:xfrm>
            <a:off x="734401" y="451613"/>
            <a:ext cx="950259" cy="583565"/>
          </a:xfrm>
          <a:prstGeom prst="rect">
            <a:avLst/>
          </a:prstGeom>
          <a:noFill/>
        </p:spPr>
        <p:txBody>
          <a:bodyPr wrap="square" rtlCol="0">
            <a:spAutoFit/>
          </a:bodyPr>
          <a:lstStyle/>
          <a:p>
            <a:pPr algn="ctr"/>
            <a:r>
              <a:rPr lang="en-US" altLang="zh-CN" sz="3200" b="1" dirty="0" smtClean="0">
                <a:ln w="28575">
                  <a:noFill/>
                </a:ln>
                <a:solidFill>
                  <a:srgbClr val="06172F"/>
                </a:solidFill>
                <a:latin typeface="微软雅黑" panose="020B0503020204020204" charset="-122"/>
                <a:ea typeface="微软雅黑" panose="020B0503020204020204" charset="-122"/>
              </a:rPr>
              <a:t>04</a:t>
            </a:r>
            <a:endParaRPr lang="zh-CN" altLang="en-US" sz="4800" b="1" dirty="0">
              <a:ln w="28575">
                <a:noFill/>
              </a:ln>
              <a:solidFill>
                <a:srgbClr val="06172F"/>
              </a:solidFill>
              <a:latin typeface="微软雅黑" panose="020B0503020204020204" charset="-122"/>
              <a:ea typeface="微软雅黑" panose="020B0503020204020204" charset="-122"/>
            </a:endParaRPr>
          </a:p>
        </p:txBody>
      </p:sp>
      <p:sp>
        <p:nvSpPr>
          <p:cNvPr id="19" name="Freeform 1247"/>
          <p:cNvSpPr/>
          <p:nvPr/>
        </p:nvSpPr>
        <p:spPr bwMode="auto">
          <a:xfrm>
            <a:off x="1023498" y="3543325"/>
            <a:ext cx="516415" cy="163941"/>
          </a:xfrm>
          <a:custGeom>
            <a:avLst/>
            <a:gdLst>
              <a:gd name="T0" fmla="*/ 182 w 189"/>
              <a:gd name="T1" fmla="*/ 1 h 60"/>
              <a:gd name="T2" fmla="*/ 179 w 189"/>
              <a:gd name="T3" fmla="*/ 2 h 60"/>
              <a:gd name="T4" fmla="*/ 109 w 189"/>
              <a:gd name="T5" fmla="*/ 43 h 60"/>
              <a:gd name="T6" fmla="*/ 81 w 189"/>
              <a:gd name="T7" fmla="*/ 43 h 60"/>
              <a:gd name="T8" fmla="*/ 10 w 189"/>
              <a:gd name="T9" fmla="*/ 2 h 60"/>
              <a:gd name="T10" fmla="*/ 2 w 189"/>
              <a:gd name="T11" fmla="*/ 4 h 60"/>
              <a:gd name="T12" fmla="*/ 4 w 189"/>
              <a:gd name="T13" fmla="*/ 12 h 60"/>
              <a:gd name="T14" fmla="*/ 75 w 189"/>
              <a:gd name="T15" fmla="*/ 53 h 60"/>
              <a:gd name="T16" fmla="*/ 115 w 189"/>
              <a:gd name="T17" fmla="*/ 53 h 60"/>
              <a:gd name="T18" fmla="*/ 185 w 189"/>
              <a:gd name="T19" fmla="*/ 12 h 60"/>
              <a:gd name="T20" fmla="*/ 188 w 189"/>
              <a:gd name="T21" fmla="*/ 4 h 60"/>
              <a:gd name="T22" fmla="*/ 182 w 189"/>
              <a:gd name="T23" fmla="*/ 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60">
                <a:moveTo>
                  <a:pt x="182" y="1"/>
                </a:moveTo>
                <a:cubicBezTo>
                  <a:pt x="181" y="1"/>
                  <a:pt x="180" y="2"/>
                  <a:pt x="179" y="2"/>
                </a:cubicBezTo>
                <a:cubicBezTo>
                  <a:pt x="109" y="43"/>
                  <a:pt x="109" y="43"/>
                  <a:pt x="109" y="43"/>
                </a:cubicBezTo>
                <a:cubicBezTo>
                  <a:pt x="100" y="48"/>
                  <a:pt x="89" y="48"/>
                  <a:pt x="81" y="43"/>
                </a:cubicBezTo>
                <a:cubicBezTo>
                  <a:pt x="10" y="2"/>
                  <a:pt x="10" y="2"/>
                  <a:pt x="10" y="2"/>
                </a:cubicBezTo>
                <a:cubicBezTo>
                  <a:pt x="7" y="0"/>
                  <a:pt x="3" y="1"/>
                  <a:pt x="2" y="4"/>
                </a:cubicBezTo>
                <a:cubicBezTo>
                  <a:pt x="0" y="7"/>
                  <a:pt x="1" y="11"/>
                  <a:pt x="4" y="12"/>
                </a:cubicBezTo>
                <a:cubicBezTo>
                  <a:pt x="75" y="53"/>
                  <a:pt x="75" y="53"/>
                  <a:pt x="75" y="53"/>
                </a:cubicBezTo>
                <a:cubicBezTo>
                  <a:pt x="87" y="60"/>
                  <a:pt x="102" y="60"/>
                  <a:pt x="115" y="53"/>
                </a:cubicBezTo>
                <a:cubicBezTo>
                  <a:pt x="185" y="12"/>
                  <a:pt x="185" y="12"/>
                  <a:pt x="185" y="12"/>
                </a:cubicBezTo>
                <a:cubicBezTo>
                  <a:pt x="188" y="11"/>
                  <a:pt x="189" y="7"/>
                  <a:pt x="188" y="4"/>
                </a:cubicBezTo>
                <a:cubicBezTo>
                  <a:pt x="186" y="2"/>
                  <a:pt x="184" y="1"/>
                  <a:pt x="182" y="1"/>
                </a:cubicBezTo>
                <a:close/>
              </a:path>
            </a:pathLst>
          </a:custGeom>
          <a:solidFill>
            <a:srgbClr val="06172F"/>
          </a:solidFill>
          <a:ln>
            <a:noFill/>
          </a:ln>
        </p:spPr>
        <p:txBody>
          <a:bodyPr vert="horz" wrap="square" lIns="91425" tIns="45712" rIns="91425" bIns="45712" numCol="1" anchor="t" anchorCtr="0" compatLnSpc="1"/>
          <a:lstStyle/>
          <a:p>
            <a:endParaRPr lang="en-US"/>
          </a:p>
        </p:txBody>
      </p:sp>
      <p:sp>
        <p:nvSpPr>
          <p:cNvPr id="20" name="Freeform 1248"/>
          <p:cNvSpPr/>
          <p:nvPr/>
        </p:nvSpPr>
        <p:spPr bwMode="auto">
          <a:xfrm>
            <a:off x="1022863" y="3810596"/>
            <a:ext cx="516415" cy="163941"/>
          </a:xfrm>
          <a:custGeom>
            <a:avLst/>
            <a:gdLst>
              <a:gd name="T0" fmla="*/ 182 w 189"/>
              <a:gd name="T1" fmla="*/ 1 h 60"/>
              <a:gd name="T2" fmla="*/ 179 w 189"/>
              <a:gd name="T3" fmla="*/ 1 h 60"/>
              <a:gd name="T4" fmla="*/ 109 w 189"/>
              <a:gd name="T5" fmla="*/ 42 h 60"/>
              <a:gd name="T6" fmla="*/ 81 w 189"/>
              <a:gd name="T7" fmla="*/ 42 h 60"/>
              <a:gd name="T8" fmla="*/ 10 w 189"/>
              <a:gd name="T9" fmla="*/ 1 h 60"/>
              <a:gd name="T10" fmla="*/ 2 w 189"/>
              <a:gd name="T11" fmla="*/ 4 h 60"/>
              <a:gd name="T12" fmla="*/ 4 w 189"/>
              <a:gd name="T13" fmla="*/ 12 h 60"/>
              <a:gd name="T14" fmla="*/ 75 w 189"/>
              <a:gd name="T15" fmla="*/ 53 h 60"/>
              <a:gd name="T16" fmla="*/ 115 w 189"/>
              <a:gd name="T17" fmla="*/ 53 h 60"/>
              <a:gd name="T18" fmla="*/ 185 w 189"/>
              <a:gd name="T19" fmla="*/ 12 h 60"/>
              <a:gd name="T20" fmla="*/ 188 w 189"/>
              <a:gd name="T21" fmla="*/ 4 h 60"/>
              <a:gd name="T22" fmla="*/ 182 w 189"/>
              <a:gd name="T23" fmla="*/ 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60">
                <a:moveTo>
                  <a:pt x="182" y="1"/>
                </a:moveTo>
                <a:cubicBezTo>
                  <a:pt x="181" y="1"/>
                  <a:pt x="180" y="1"/>
                  <a:pt x="179" y="1"/>
                </a:cubicBezTo>
                <a:cubicBezTo>
                  <a:pt x="109" y="42"/>
                  <a:pt x="109" y="42"/>
                  <a:pt x="109" y="42"/>
                </a:cubicBezTo>
                <a:cubicBezTo>
                  <a:pt x="100" y="47"/>
                  <a:pt x="89" y="47"/>
                  <a:pt x="81" y="42"/>
                </a:cubicBezTo>
                <a:cubicBezTo>
                  <a:pt x="10" y="1"/>
                  <a:pt x="10" y="1"/>
                  <a:pt x="10" y="1"/>
                </a:cubicBezTo>
                <a:cubicBezTo>
                  <a:pt x="7" y="0"/>
                  <a:pt x="3" y="1"/>
                  <a:pt x="2" y="4"/>
                </a:cubicBezTo>
                <a:cubicBezTo>
                  <a:pt x="0" y="7"/>
                  <a:pt x="1" y="10"/>
                  <a:pt x="4" y="12"/>
                </a:cubicBezTo>
                <a:cubicBezTo>
                  <a:pt x="75" y="53"/>
                  <a:pt x="75" y="53"/>
                  <a:pt x="75" y="53"/>
                </a:cubicBezTo>
                <a:cubicBezTo>
                  <a:pt x="87" y="60"/>
                  <a:pt x="102" y="60"/>
                  <a:pt x="115" y="53"/>
                </a:cubicBezTo>
                <a:cubicBezTo>
                  <a:pt x="185" y="12"/>
                  <a:pt x="185" y="12"/>
                  <a:pt x="185" y="12"/>
                </a:cubicBezTo>
                <a:cubicBezTo>
                  <a:pt x="188" y="10"/>
                  <a:pt x="189" y="7"/>
                  <a:pt x="188" y="4"/>
                </a:cubicBezTo>
                <a:cubicBezTo>
                  <a:pt x="186" y="2"/>
                  <a:pt x="184" y="1"/>
                  <a:pt x="182" y="1"/>
                </a:cubicBezTo>
                <a:close/>
              </a:path>
            </a:pathLst>
          </a:custGeom>
          <a:solidFill>
            <a:srgbClr val="06172F"/>
          </a:solidFill>
          <a:ln>
            <a:noFill/>
          </a:ln>
        </p:spPr>
        <p:txBody>
          <a:bodyPr vert="horz" wrap="square" lIns="91425" tIns="45712" rIns="91425" bIns="45712" numCol="1" anchor="t" anchorCtr="0" compatLnSpc="1"/>
          <a:lstStyle/>
          <a:p>
            <a:endParaRPr lang="en-US"/>
          </a:p>
        </p:txBody>
      </p:sp>
      <p:sp>
        <p:nvSpPr>
          <p:cNvPr id="21" name="Freeform 1249"/>
          <p:cNvSpPr/>
          <p:nvPr/>
        </p:nvSpPr>
        <p:spPr bwMode="auto">
          <a:xfrm>
            <a:off x="1023498" y="4066881"/>
            <a:ext cx="516415" cy="163941"/>
          </a:xfrm>
          <a:custGeom>
            <a:avLst/>
            <a:gdLst>
              <a:gd name="T0" fmla="*/ 182 w 189"/>
              <a:gd name="T1" fmla="*/ 1 h 60"/>
              <a:gd name="T2" fmla="*/ 179 w 189"/>
              <a:gd name="T3" fmla="*/ 2 h 60"/>
              <a:gd name="T4" fmla="*/ 109 w 189"/>
              <a:gd name="T5" fmla="*/ 43 h 60"/>
              <a:gd name="T6" fmla="*/ 81 w 189"/>
              <a:gd name="T7" fmla="*/ 43 h 60"/>
              <a:gd name="T8" fmla="*/ 10 w 189"/>
              <a:gd name="T9" fmla="*/ 2 h 60"/>
              <a:gd name="T10" fmla="*/ 2 w 189"/>
              <a:gd name="T11" fmla="*/ 4 h 60"/>
              <a:gd name="T12" fmla="*/ 4 w 189"/>
              <a:gd name="T13" fmla="*/ 12 h 60"/>
              <a:gd name="T14" fmla="*/ 75 w 189"/>
              <a:gd name="T15" fmla="*/ 53 h 60"/>
              <a:gd name="T16" fmla="*/ 115 w 189"/>
              <a:gd name="T17" fmla="*/ 53 h 60"/>
              <a:gd name="T18" fmla="*/ 185 w 189"/>
              <a:gd name="T19" fmla="*/ 12 h 60"/>
              <a:gd name="T20" fmla="*/ 188 w 189"/>
              <a:gd name="T21" fmla="*/ 4 h 60"/>
              <a:gd name="T22" fmla="*/ 182 w 189"/>
              <a:gd name="T23" fmla="*/ 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60">
                <a:moveTo>
                  <a:pt x="182" y="1"/>
                </a:moveTo>
                <a:cubicBezTo>
                  <a:pt x="181" y="1"/>
                  <a:pt x="180" y="1"/>
                  <a:pt x="179" y="2"/>
                </a:cubicBezTo>
                <a:cubicBezTo>
                  <a:pt x="109" y="43"/>
                  <a:pt x="109" y="43"/>
                  <a:pt x="109" y="43"/>
                </a:cubicBezTo>
                <a:cubicBezTo>
                  <a:pt x="100" y="48"/>
                  <a:pt x="89" y="48"/>
                  <a:pt x="81" y="43"/>
                </a:cubicBezTo>
                <a:cubicBezTo>
                  <a:pt x="10" y="2"/>
                  <a:pt x="10" y="2"/>
                  <a:pt x="10" y="2"/>
                </a:cubicBezTo>
                <a:cubicBezTo>
                  <a:pt x="7" y="0"/>
                  <a:pt x="3" y="1"/>
                  <a:pt x="2" y="4"/>
                </a:cubicBezTo>
                <a:cubicBezTo>
                  <a:pt x="0" y="7"/>
                  <a:pt x="1" y="11"/>
                  <a:pt x="4" y="12"/>
                </a:cubicBezTo>
                <a:cubicBezTo>
                  <a:pt x="75" y="53"/>
                  <a:pt x="75" y="53"/>
                  <a:pt x="75" y="53"/>
                </a:cubicBezTo>
                <a:cubicBezTo>
                  <a:pt x="87" y="60"/>
                  <a:pt x="102" y="60"/>
                  <a:pt x="115" y="53"/>
                </a:cubicBezTo>
                <a:cubicBezTo>
                  <a:pt x="185" y="12"/>
                  <a:pt x="185" y="12"/>
                  <a:pt x="185" y="12"/>
                </a:cubicBezTo>
                <a:cubicBezTo>
                  <a:pt x="188" y="11"/>
                  <a:pt x="189" y="7"/>
                  <a:pt x="188" y="4"/>
                </a:cubicBezTo>
                <a:cubicBezTo>
                  <a:pt x="186" y="2"/>
                  <a:pt x="184" y="1"/>
                  <a:pt x="182" y="1"/>
                </a:cubicBezTo>
                <a:close/>
              </a:path>
            </a:pathLst>
          </a:custGeom>
          <a:solidFill>
            <a:srgbClr val="06172F"/>
          </a:solidFill>
          <a:ln>
            <a:noFill/>
          </a:ln>
        </p:spPr>
        <p:txBody>
          <a:bodyPr vert="horz" wrap="square" lIns="91425" tIns="45712" rIns="91425" bIns="45712" numCol="1" anchor="t" anchorCtr="0" compatLnSpc="1"/>
          <a:lstStyle/>
          <a:p>
            <a:endParaRPr lang="en-US" sz="1600"/>
          </a:p>
        </p:txBody>
      </p:sp>
      <p:sp>
        <p:nvSpPr>
          <p:cNvPr id="29" name="Freeform 1256"/>
          <p:cNvSpPr/>
          <p:nvPr/>
        </p:nvSpPr>
        <p:spPr bwMode="auto">
          <a:xfrm>
            <a:off x="631232" y="1711558"/>
            <a:ext cx="1300602" cy="1696792"/>
          </a:xfrm>
          <a:custGeom>
            <a:avLst/>
            <a:gdLst>
              <a:gd name="T0" fmla="*/ 476 w 476"/>
              <a:gd name="T1" fmla="*/ 23 h 621"/>
              <a:gd name="T2" fmla="*/ 476 w 476"/>
              <a:gd name="T3" fmla="*/ 448 h 621"/>
              <a:gd name="T4" fmla="*/ 442 w 476"/>
              <a:gd name="T5" fmla="*/ 507 h 621"/>
              <a:gd name="T6" fmla="*/ 255 w 476"/>
              <a:gd name="T7" fmla="*/ 615 h 621"/>
              <a:gd name="T8" fmla="*/ 221 w 476"/>
              <a:gd name="T9" fmla="*/ 615 h 621"/>
              <a:gd name="T10" fmla="*/ 34 w 476"/>
              <a:gd name="T11" fmla="*/ 507 h 621"/>
              <a:gd name="T12" fmla="*/ 0 w 476"/>
              <a:gd name="T13" fmla="*/ 448 h 621"/>
              <a:gd name="T14" fmla="*/ 0 w 476"/>
              <a:gd name="T15" fmla="*/ 23 h 621"/>
              <a:gd name="T16" fmla="*/ 11 w 476"/>
              <a:gd name="T17" fmla="*/ 4 h 621"/>
              <a:gd name="T18" fmla="*/ 34 w 476"/>
              <a:gd name="T19" fmla="*/ 4 h 621"/>
              <a:gd name="T20" fmla="*/ 221 w 476"/>
              <a:gd name="T21" fmla="*/ 112 h 621"/>
              <a:gd name="T22" fmla="*/ 255 w 476"/>
              <a:gd name="T23" fmla="*/ 112 h 621"/>
              <a:gd name="T24" fmla="*/ 442 w 476"/>
              <a:gd name="T25" fmla="*/ 4 h 621"/>
              <a:gd name="T26" fmla="*/ 465 w 476"/>
              <a:gd name="T27" fmla="*/ 4 h 621"/>
              <a:gd name="T28" fmla="*/ 476 w 476"/>
              <a:gd name="T29" fmla="*/ 23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621">
                <a:moveTo>
                  <a:pt x="476" y="23"/>
                </a:moveTo>
                <a:cubicBezTo>
                  <a:pt x="476" y="448"/>
                  <a:pt x="476" y="448"/>
                  <a:pt x="476" y="448"/>
                </a:cubicBezTo>
                <a:cubicBezTo>
                  <a:pt x="476" y="472"/>
                  <a:pt x="463" y="495"/>
                  <a:pt x="442" y="507"/>
                </a:cubicBezTo>
                <a:cubicBezTo>
                  <a:pt x="255" y="615"/>
                  <a:pt x="255" y="615"/>
                  <a:pt x="255" y="615"/>
                </a:cubicBezTo>
                <a:cubicBezTo>
                  <a:pt x="245" y="621"/>
                  <a:pt x="232" y="621"/>
                  <a:pt x="221" y="615"/>
                </a:cubicBezTo>
                <a:cubicBezTo>
                  <a:pt x="34" y="507"/>
                  <a:pt x="34" y="507"/>
                  <a:pt x="34" y="507"/>
                </a:cubicBezTo>
                <a:cubicBezTo>
                  <a:pt x="13" y="495"/>
                  <a:pt x="0" y="472"/>
                  <a:pt x="0" y="448"/>
                </a:cubicBezTo>
                <a:cubicBezTo>
                  <a:pt x="0" y="23"/>
                  <a:pt x="0" y="23"/>
                  <a:pt x="0" y="23"/>
                </a:cubicBezTo>
                <a:cubicBezTo>
                  <a:pt x="0" y="15"/>
                  <a:pt x="4" y="8"/>
                  <a:pt x="11" y="4"/>
                </a:cubicBezTo>
                <a:cubicBezTo>
                  <a:pt x="18" y="0"/>
                  <a:pt x="27" y="0"/>
                  <a:pt x="34" y="4"/>
                </a:cubicBezTo>
                <a:cubicBezTo>
                  <a:pt x="221" y="112"/>
                  <a:pt x="221" y="112"/>
                  <a:pt x="221" y="112"/>
                </a:cubicBezTo>
                <a:cubicBezTo>
                  <a:pt x="232" y="118"/>
                  <a:pt x="245" y="118"/>
                  <a:pt x="255" y="112"/>
                </a:cubicBezTo>
                <a:cubicBezTo>
                  <a:pt x="442" y="4"/>
                  <a:pt x="442" y="4"/>
                  <a:pt x="442" y="4"/>
                </a:cubicBezTo>
                <a:cubicBezTo>
                  <a:pt x="449" y="0"/>
                  <a:pt x="458" y="0"/>
                  <a:pt x="465" y="4"/>
                </a:cubicBezTo>
                <a:cubicBezTo>
                  <a:pt x="472" y="8"/>
                  <a:pt x="476" y="15"/>
                  <a:pt x="476" y="23"/>
                </a:cubicBezTo>
                <a:close/>
              </a:path>
            </a:pathLst>
          </a:custGeom>
          <a:solidFill>
            <a:srgbClr val="06172F"/>
          </a:solidFill>
          <a:ln>
            <a:noFill/>
          </a:ln>
        </p:spPr>
        <p:txBody>
          <a:bodyPr vert="horz" wrap="square" lIns="91425" tIns="45712" rIns="91425" bIns="45712" numCol="1" anchor="t" anchorCtr="0" compatLnSpc="1"/>
          <a:lstStyle/>
          <a:p>
            <a:endParaRPr lang="en-US"/>
          </a:p>
        </p:txBody>
      </p:sp>
      <p:sp>
        <p:nvSpPr>
          <p:cNvPr id="30" name="Freeform 1260"/>
          <p:cNvSpPr>
            <a:spLocks noEditPoints="1"/>
          </p:cNvSpPr>
          <p:nvPr/>
        </p:nvSpPr>
        <p:spPr bwMode="auto">
          <a:xfrm>
            <a:off x="1131887" y="2340135"/>
            <a:ext cx="300559" cy="437177"/>
          </a:xfrm>
          <a:custGeom>
            <a:avLst/>
            <a:gdLst>
              <a:gd name="T0" fmla="*/ 30 w 110"/>
              <a:gd name="T1" fmla="*/ 123 h 160"/>
              <a:gd name="T2" fmla="*/ 31 w 110"/>
              <a:gd name="T3" fmla="*/ 131 h 160"/>
              <a:gd name="T4" fmla="*/ 55 w 110"/>
              <a:gd name="T5" fmla="*/ 136 h 160"/>
              <a:gd name="T6" fmla="*/ 79 w 110"/>
              <a:gd name="T7" fmla="*/ 131 h 160"/>
              <a:gd name="T8" fmla="*/ 81 w 110"/>
              <a:gd name="T9" fmla="*/ 123 h 160"/>
              <a:gd name="T10" fmla="*/ 55 w 110"/>
              <a:gd name="T11" fmla="*/ 128 h 160"/>
              <a:gd name="T12" fmla="*/ 30 w 110"/>
              <a:gd name="T13" fmla="*/ 123 h 160"/>
              <a:gd name="T14" fmla="*/ 32 w 110"/>
              <a:gd name="T15" fmla="*/ 139 h 160"/>
              <a:gd name="T16" fmla="*/ 33 w 110"/>
              <a:gd name="T17" fmla="*/ 147 h 160"/>
              <a:gd name="T18" fmla="*/ 41 w 110"/>
              <a:gd name="T19" fmla="*/ 151 h 160"/>
              <a:gd name="T20" fmla="*/ 41 w 110"/>
              <a:gd name="T21" fmla="*/ 156 h 160"/>
              <a:gd name="T22" fmla="*/ 55 w 110"/>
              <a:gd name="T23" fmla="*/ 160 h 160"/>
              <a:gd name="T24" fmla="*/ 69 w 110"/>
              <a:gd name="T25" fmla="*/ 156 h 160"/>
              <a:gd name="T26" fmla="*/ 70 w 110"/>
              <a:gd name="T27" fmla="*/ 151 h 160"/>
              <a:gd name="T28" fmla="*/ 77 w 110"/>
              <a:gd name="T29" fmla="*/ 147 h 160"/>
              <a:gd name="T30" fmla="*/ 78 w 110"/>
              <a:gd name="T31" fmla="*/ 139 h 160"/>
              <a:gd name="T32" fmla="*/ 55 w 110"/>
              <a:gd name="T33" fmla="*/ 143 h 160"/>
              <a:gd name="T34" fmla="*/ 32 w 110"/>
              <a:gd name="T35" fmla="*/ 139 h 160"/>
              <a:gd name="T36" fmla="*/ 55 w 110"/>
              <a:gd name="T37" fmla="*/ 23 h 160"/>
              <a:gd name="T38" fmla="*/ 58 w 110"/>
              <a:gd name="T39" fmla="*/ 20 h 160"/>
              <a:gd name="T40" fmla="*/ 55 w 110"/>
              <a:gd name="T41" fmla="*/ 17 h 160"/>
              <a:gd name="T42" fmla="*/ 17 w 110"/>
              <a:gd name="T43" fmla="*/ 55 h 160"/>
              <a:gd name="T44" fmla="*/ 20 w 110"/>
              <a:gd name="T45" fmla="*/ 58 h 160"/>
              <a:gd name="T46" fmla="*/ 23 w 110"/>
              <a:gd name="T47" fmla="*/ 55 h 160"/>
              <a:gd name="T48" fmla="*/ 55 w 110"/>
              <a:gd name="T49" fmla="*/ 23 h 160"/>
              <a:gd name="T50" fmla="*/ 67 w 110"/>
              <a:gd name="T51" fmla="*/ 76 h 160"/>
              <a:gd name="T52" fmla="*/ 55 w 110"/>
              <a:gd name="T53" fmla="*/ 53 h 160"/>
              <a:gd name="T54" fmla="*/ 43 w 110"/>
              <a:gd name="T55" fmla="*/ 76 h 160"/>
              <a:gd name="T56" fmla="*/ 38 w 110"/>
              <a:gd name="T57" fmla="*/ 65 h 160"/>
              <a:gd name="T58" fmla="*/ 30 w 110"/>
              <a:gd name="T59" fmla="*/ 68 h 160"/>
              <a:gd name="T60" fmla="*/ 42 w 110"/>
              <a:gd name="T61" fmla="*/ 95 h 160"/>
              <a:gd name="T62" fmla="*/ 55 w 110"/>
              <a:gd name="T63" fmla="*/ 71 h 160"/>
              <a:gd name="T64" fmla="*/ 68 w 110"/>
              <a:gd name="T65" fmla="*/ 95 h 160"/>
              <a:gd name="T66" fmla="*/ 80 w 110"/>
              <a:gd name="T67" fmla="*/ 68 h 160"/>
              <a:gd name="T68" fmla="*/ 72 w 110"/>
              <a:gd name="T69" fmla="*/ 65 h 160"/>
              <a:gd name="T70" fmla="*/ 67 w 110"/>
              <a:gd name="T71" fmla="*/ 76 h 160"/>
              <a:gd name="T72" fmla="*/ 55 w 110"/>
              <a:gd name="T73" fmla="*/ 0 h 160"/>
              <a:gd name="T74" fmla="*/ 0 w 110"/>
              <a:gd name="T75" fmla="*/ 55 h 160"/>
              <a:gd name="T76" fmla="*/ 27 w 110"/>
              <a:gd name="T77" fmla="*/ 102 h 160"/>
              <a:gd name="T78" fmla="*/ 29 w 110"/>
              <a:gd name="T79" fmla="*/ 116 h 160"/>
              <a:gd name="T80" fmla="*/ 55 w 110"/>
              <a:gd name="T81" fmla="*/ 121 h 160"/>
              <a:gd name="T82" fmla="*/ 82 w 110"/>
              <a:gd name="T83" fmla="*/ 116 h 160"/>
              <a:gd name="T84" fmla="*/ 84 w 110"/>
              <a:gd name="T85" fmla="*/ 102 h 160"/>
              <a:gd name="T86" fmla="*/ 110 w 110"/>
              <a:gd name="T87" fmla="*/ 55 h 160"/>
              <a:gd name="T88" fmla="*/ 55 w 110"/>
              <a:gd name="T89" fmla="*/ 0 h 160"/>
              <a:gd name="T90" fmla="*/ 75 w 110"/>
              <a:gd name="T91" fmla="*/ 96 h 160"/>
              <a:gd name="T92" fmla="*/ 74 w 110"/>
              <a:gd name="T93" fmla="*/ 109 h 160"/>
              <a:gd name="T94" fmla="*/ 55 w 110"/>
              <a:gd name="T95" fmla="*/ 112 h 160"/>
              <a:gd name="T96" fmla="*/ 36 w 110"/>
              <a:gd name="T97" fmla="*/ 109 h 160"/>
              <a:gd name="T98" fmla="*/ 35 w 110"/>
              <a:gd name="T99" fmla="*/ 96 h 160"/>
              <a:gd name="T100" fmla="*/ 10 w 110"/>
              <a:gd name="T101" fmla="*/ 55 h 160"/>
              <a:gd name="T102" fmla="*/ 55 w 110"/>
              <a:gd name="T103" fmla="*/ 10 h 160"/>
              <a:gd name="T104" fmla="*/ 100 w 110"/>
              <a:gd name="T105" fmla="*/ 55 h 160"/>
              <a:gd name="T106" fmla="*/ 75 w 110"/>
              <a:gd name="T107" fmla="*/ 9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160">
                <a:moveTo>
                  <a:pt x="30" y="123"/>
                </a:moveTo>
                <a:cubicBezTo>
                  <a:pt x="31" y="131"/>
                  <a:pt x="31" y="131"/>
                  <a:pt x="31" y="131"/>
                </a:cubicBezTo>
                <a:cubicBezTo>
                  <a:pt x="38" y="134"/>
                  <a:pt x="46" y="136"/>
                  <a:pt x="55" y="136"/>
                </a:cubicBezTo>
                <a:cubicBezTo>
                  <a:pt x="64" y="136"/>
                  <a:pt x="72" y="134"/>
                  <a:pt x="79" y="131"/>
                </a:cubicBezTo>
                <a:cubicBezTo>
                  <a:pt x="81" y="123"/>
                  <a:pt x="81" y="123"/>
                  <a:pt x="81" y="123"/>
                </a:cubicBezTo>
                <a:cubicBezTo>
                  <a:pt x="73" y="126"/>
                  <a:pt x="64" y="128"/>
                  <a:pt x="55" y="128"/>
                </a:cubicBezTo>
                <a:cubicBezTo>
                  <a:pt x="46" y="128"/>
                  <a:pt x="37" y="126"/>
                  <a:pt x="30" y="123"/>
                </a:cubicBezTo>
                <a:close/>
                <a:moveTo>
                  <a:pt x="32" y="139"/>
                </a:moveTo>
                <a:cubicBezTo>
                  <a:pt x="33" y="147"/>
                  <a:pt x="33" y="147"/>
                  <a:pt x="33" y="147"/>
                </a:cubicBezTo>
                <a:cubicBezTo>
                  <a:pt x="33" y="147"/>
                  <a:pt x="35" y="150"/>
                  <a:pt x="41" y="151"/>
                </a:cubicBezTo>
                <a:cubicBezTo>
                  <a:pt x="41" y="156"/>
                  <a:pt x="41" y="156"/>
                  <a:pt x="41" y="156"/>
                </a:cubicBezTo>
                <a:cubicBezTo>
                  <a:pt x="41" y="156"/>
                  <a:pt x="44" y="160"/>
                  <a:pt x="55" y="160"/>
                </a:cubicBezTo>
                <a:cubicBezTo>
                  <a:pt x="66" y="160"/>
                  <a:pt x="69" y="156"/>
                  <a:pt x="69" y="156"/>
                </a:cubicBezTo>
                <a:cubicBezTo>
                  <a:pt x="70" y="151"/>
                  <a:pt x="70" y="151"/>
                  <a:pt x="70" y="151"/>
                </a:cubicBezTo>
                <a:cubicBezTo>
                  <a:pt x="75" y="150"/>
                  <a:pt x="77" y="147"/>
                  <a:pt x="77" y="147"/>
                </a:cubicBezTo>
                <a:cubicBezTo>
                  <a:pt x="78" y="139"/>
                  <a:pt x="78" y="139"/>
                  <a:pt x="78" y="139"/>
                </a:cubicBezTo>
                <a:cubicBezTo>
                  <a:pt x="71" y="141"/>
                  <a:pt x="63" y="143"/>
                  <a:pt x="55" y="143"/>
                </a:cubicBezTo>
                <a:cubicBezTo>
                  <a:pt x="47" y="143"/>
                  <a:pt x="39" y="141"/>
                  <a:pt x="32" y="139"/>
                </a:cubicBezTo>
                <a:close/>
                <a:moveTo>
                  <a:pt x="55" y="23"/>
                </a:moveTo>
                <a:cubicBezTo>
                  <a:pt x="57" y="23"/>
                  <a:pt x="58" y="22"/>
                  <a:pt x="58" y="20"/>
                </a:cubicBezTo>
                <a:cubicBezTo>
                  <a:pt x="58" y="18"/>
                  <a:pt x="57" y="17"/>
                  <a:pt x="55" y="17"/>
                </a:cubicBezTo>
                <a:cubicBezTo>
                  <a:pt x="34" y="17"/>
                  <a:pt x="17" y="34"/>
                  <a:pt x="17" y="55"/>
                </a:cubicBezTo>
                <a:cubicBezTo>
                  <a:pt x="17" y="57"/>
                  <a:pt x="18" y="58"/>
                  <a:pt x="20" y="58"/>
                </a:cubicBezTo>
                <a:cubicBezTo>
                  <a:pt x="21" y="58"/>
                  <a:pt x="23" y="57"/>
                  <a:pt x="23" y="55"/>
                </a:cubicBezTo>
                <a:cubicBezTo>
                  <a:pt x="23" y="37"/>
                  <a:pt x="37" y="23"/>
                  <a:pt x="55" y="23"/>
                </a:cubicBezTo>
                <a:close/>
                <a:moveTo>
                  <a:pt x="67" y="76"/>
                </a:moveTo>
                <a:cubicBezTo>
                  <a:pt x="55" y="53"/>
                  <a:pt x="55" y="53"/>
                  <a:pt x="55" y="53"/>
                </a:cubicBezTo>
                <a:cubicBezTo>
                  <a:pt x="43" y="76"/>
                  <a:pt x="43" y="76"/>
                  <a:pt x="43" y="76"/>
                </a:cubicBezTo>
                <a:cubicBezTo>
                  <a:pt x="38" y="65"/>
                  <a:pt x="38" y="65"/>
                  <a:pt x="38" y="65"/>
                </a:cubicBezTo>
                <a:cubicBezTo>
                  <a:pt x="30" y="68"/>
                  <a:pt x="30" y="68"/>
                  <a:pt x="30" y="68"/>
                </a:cubicBezTo>
                <a:cubicBezTo>
                  <a:pt x="42" y="95"/>
                  <a:pt x="42" y="95"/>
                  <a:pt x="42" y="95"/>
                </a:cubicBezTo>
                <a:cubicBezTo>
                  <a:pt x="55" y="71"/>
                  <a:pt x="55" y="71"/>
                  <a:pt x="55" y="71"/>
                </a:cubicBezTo>
                <a:cubicBezTo>
                  <a:pt x="68" y="95"/>
                  <a:pt x="68" y="95"/>
                  <a:pt x="68" y="95"/>
                </a:cubicBezTo>
                <a:cubicBezTo>
                  <a:pt x="80" y="68"/>
                  <a:pt x="80" y="68"/>
                  <a:pt x="80" y="68"/>
                </a:cubicBezTo>
                <a:cubicBezTo>
                  <a:pt x="72" y="65"/>
                  <a:pt x="72" y="65"/>
                  <a:pt x="72" y="65"/>
                </a:cubicBezTo>
                <a:lnTo>
                  <a:pt x="67" y="76"/>
                </a:lnTo>
                <a:close/>
                <a:moveTo>
                  <a:pt x="55" y="0"/>
                </a:moveTo>
                <a:cubicBezTo>
                  <a:pt x="25" y="0"/>
                  <a:pt x="0" y="25"/>
                  <a:pt x="0" y="55"/>
                </a:cubicBezTo>
                <a:cubicBezTo>
                  <a:pt x="0" y="75"/>
                  <a:pt x="11" y="93"/>
                  <a:pt x="27" y="102"/>
                </a:cubicBezTo>
                <a:cubicBezTo>
                  <a:pt x="29" y="116"/>
                  <a:pt x="29" y="116"/>
                  <a:pt x="29" y="116"/>
                </a:cubicBezTo>
                <a:cubicBezTo>
                  <a:pt x="36" y="119"/>
                  <a:pt x="45" y="121"/>
                  <a:pt x="55" y="121"/>
                </a:cubicBezTo>
                <a:cubicBezTo>
                  <a:pt x="65" y="121"/>
                  <a:pt x="74" y="119"/>
                  <a:pt x="82" y="116"/>
                </a:cubicBezTo>
                <a:cubicBezTo>
                  <a:pt x="84" y="102"/>
                  <a:pt x="84" y="102"/>
                  <a:pt x="84" y="102"/>
                </a:cubicBezTo>
                <a:cubicBezTo>
                  <a:pt x="99" y="93"/>
                  <a:pt x="110" y="75"/>
                  <a:pt x="110" y="55"/>
                </a:cubicBezTo>
                <a:cubicBezTo>
                  <a:pt x="110" y="25"/>
                  <a:pt x="85" y="0"/>
                  <a:pt x="55" y="0"/>
                </a:cubicBezTo>
                <a:close/>
                <a:moveTo>
                  <a:pt x="75" y="96"/>
                </a:moveTo>
                <a:cubicBezTo>
                  <a:pt x="74" y="109"/>
                  <a:pt x="74" y="109"/>
                  <a:pt x="74" y="109"/>
                </a:cubicBezTo>
                <a:cubicBezTo>
                  <a:pt x="74" y="109"/>
                  <a:pt x="69" y="112"/>
                  <a:pt x="55" y="112"/>
                </a:cubicBezTo>
                <a:cubicBezTo>
                  <a:pt x="41" y="112"/>
                  <a:pt x="36" y="109"/>
                  <a:pt x="36" y="109"/>
                </a:cubicBezTo>
                <a:cubicBezTo>
                  <a:pt x="35" y="96"/>
                  <a:pt x="35" y="96"/>
                  <a:pt x="35" y="96"/>
                </a:cubicBezTo>
                <a:cubicBezTo>
                  <a:pt x="20" y="88"/>
                  <a:pt x="10" y="73"/>
                  <a:pt x="10" y="55"/>
                </a:cubicBezTo>
                <a:cubicBezTo>
                  <a:pt x="10" y="30"/>
                  <a:pt x="30" y="10"/>
                  <a:pt x="55" y="10"/>
                </a:cubicBezTo>
                <a:cubicBezTo>
                  <a:pt x="80" y="10"/>
                  <a:pt x="100" y="30"/>
                  <a:pt x="100" y="55"/>
                </a:cubicBezTo>
                <a:cubicBezTo>
                  <a:pt x="100" y="73"/>
                  <a:pt x="90" y="88"/>
                  <a:pt x="75" y="96"/>
                </a:cubicBezTo>
                <a:close/>
              </a:path>
            </a:pathLst>
          </a:custGeom>
          <a:solidFill>
            <a:schemeClr val="bg1"/>
          </a:solidFill>
          <a:ln>
            <a:noFill/>
          </a:ln>
        </p:spPr>
        <p:txBody>
          <a:bodyPr vert="horz" wrap="square" lIns="91425" tIns="45712" rIns="91425" bIns="45712" numCol="1" anchor="t" anchorCtr="0" compatLnSpc="1"/>
          <a:lstStyle/>
          <a:p>
            <a:endParaRPr lang="en-US"/>
          </a:p>
        </p:txBody>
      </p:sp>
      <p:sp>
        <p:nvSpPr>
          <p:cNvPr id="34" name="Freeform 1261"/>
          <p:cNvSpPr>
            <a:spLocks noEditPoints="1"/>
          </p:cNvSpPr>
          <p:nvPr/>
        </p:nvSpPr>
        <p:spPr bwMode="auto">
          <a:xfrm>
            <a:off x="4991424" y="2807332"/>
            <a:ext cx="396192" cy="338812"/>
          </a:xfrm>
          <a:custGeom>
            <a:avLst/>
            <a:gdLst>
              <a:gd name="T0" fmla="*/ 51 w 145"/>
              <a:gd name="T1" fmla="*/ 80 h 124"/>
              <a:gd name="T2" fmla="*/ 51 w 145"/>
              <a:gd name="T3" fmla="*/ 124 h 124"/>
              <a:gd name="T4" fmla="*/ 84 w 145"/>
              <a:gd name="T5" fmla="*/ 124 h 124"/>
              <a:gd name="T6" fmla="*/ 84 w 145"/>
              <a:gd name="T7" fmla="*/ 85 h 124"/>
              <a:gd name="T8" fmla="*/ 70 w 145"/>
              <a:gd name="T9" fmla="*/ 99 h 124"/>
              <a:gd name="T10" fmla="*/ 51 w 145"/>
              <a:gd name="T11" fmla="*/ 80 h 124"/>
              <a:gd name="T12" fmla="*/ 6 w 145"/>
              <a:gd name="T13" fmla="*/ 118 h 124"/>
              <a:gd name="T14" fmla="*/ 11 w 145"/>
              <a:gd name="T15" fmla="*/ 124 h 124"/>
              <a:gd name="T16" fmla="*/ 38 w 145"/>
              <a:gd name="T17" fmla="*/ 124 h 124"/>
              <a:gd name="T18" fmla="*/ 38 w 145"/>
              <a:gd name="T19" fmla="*/ 68 h 124"/>
              <a:gd name="T20" fmla="*/ 6 w 145"/>
              <a:gd name="T21" fmla="*/ 100 h 124"/>
              <a:gd name="T22" fmla="*/ 6 w 145"/>
              <a:gd name="T23" fmla="*/ 118 h 124"/>
              <a:gd name="T24" fmla="*/ 97 w 145"/>
              <a:gd name="T25" fmla="*/ 72 h 124"/>
              <a:gd name="T26" fmla="*/ 97 w 145"/>
              <a:gd name="T27" fmla="*/ 124 h 124"/>
              <a:gd name="T28" fmla="*/ 124 w 145"/>
              <a:gd name="T29" fmla="*/ 124 h 124"/>
              <a:gd name="T30" fmla="*/ 129 w 145"/>
              <a:gd name="T31" fmla="*/ 118 h 124"/>
              <a:gd name="T32" fmla="*/ 129 w 145"/>
              <a:gd name="T33" fmla="*/ 68 h 124"/>
              <a:gd name="T34" fmla="*/ 129 w 145"/>
              <a:gd name="T35" fmla="*/ 40 h 124"/>
              <a:gd name="T36" fmla="*/ 101 w 145"/>
              <a:gd name="T37" fmla="*/ 68 h 124"/>
              <a:gd name="T38" fmla="*/ 97 w 145"/>
              <a:gd name="T39" fmla="*/ 72 h 124"/>
              <a:gd name="T40" fmla="*/ 116 w 145"/>
              <a:gd name="T41" fmla="*/ 3 h 124"/>
              <a:gd name="T42" fmla="*/ 111 w 145"/>
              <a:gd name="T43" fmla="*/ 9 h 124"/>
              <a:gd name="T44" fmla="*/ 117 w 145"/>
              <a:gd name="T45" fmla="*/ 14 h 124"/>
              <a:gd name="T46" fmla="*/ 123 w 145"/>
              <a:gd name="T47" fmla="*/ 14 h 124"/>
              <a:gd name="T48" fmla="*/ 70 w 145"/>
              <a:gd name="T49" fmla="*/ 67 h 124"/>
              <a:gd name="T50" fmla="*/ 38 w 145"/>
              <a:gd name="T51" fmla="*/ 36 h 124"/>
              <a:gd name="T52" fmla="*/ 2 w 145"/>
              <a:gd name="T53" fmla="*/ 73 h 124"/>
              <a:gd name="T54" fmla="*/ 2 w 145"/>
              <a:gd name="T55" fmla="*/ 81 h 124"/>
              <a:gd name="T56" fmla="*/ 10 w 145"/>
              <a:gd name="T57" fmla="*/ 81 h 124"/>
              <a:gd name="T58" fmla="*/ 38 w 145"/>
              <a:gd name="T59" fmla="*/ 52 h 124"/>
              <a:gd name="T60" fmla="*/ 70 w 145"/>
              <a:gd name="T61" fmla="*/ 84 h 124"/>
              <a:gd name="T62" fmla="*/ 132 w 145"/>
              <a:gd name="T63" fmla="*/ 22 h 124"/>
              <a:gd name="T64" fmla="*/ 131 w 145"/>
              <a:gd name="T65" fmla="*/ 28 h 124"/>
              <a:gd name="T66" fmla="*/ 136 w 145"/>
              <a:gd name="T67" fmla="*/ 35 h 124"/>
              <a:gd name="T68" fmla="*/ 137 w 145"/>
              <a:gd name="T69" fmla="*/ 35 h 124"/>
              <a:gd name="T70" fmla="*/ 143 w 145"/>
              <a:gd name="T71" fmla="*/ 29 h 124"/>
              <a:gd name="T72" fmla="*/ 145 w 145"/>
              <a:gd name="T73" fmla="*/ 0 h 124"/>
              <a:gd name="T74" fmla="*/ 116 w 145"/>
              <a:gd name="T75" fmla="*/ 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5" h="124">
                <a:moveTo>
                  <a:pt x="51" y="80"/>
                </a:moveTo>
                <a:cubicBezTo>
                  <a:pt x="51" y="124"/>
                  <a:pt x="51" y="124"/>
                  <a:pt x="51" y="124"/>
                </a:cubicBezTo>
                <a:cubicBezTo>
                  <a:pt x="84" y="124"/>
                  <a:pt x="84" y="124"/>
                  <a:pt x="84" y="124"/>
                </a:cubicBezTo>
                <a:cubicBezTo>
                  <a:pt x="84" y="85"/>
                  <a:pt x="84" y="85"/>
                  <a:pt x="84" y="85"/>
                </a:cubicBezTo>
                <a:cubicBezTo>
                  <a:pt x="70" y="99"/>
                  <a:pt x="70" y="99"/>
                  <a:pt x="70" y="99"/>
                </a:cubicBezTo>
                <a:lnTo>
                  <a:pt x="51" y="80"/>
                </a:lnTo>
                <a:close/>
                <a:moveTo>
                  <a:pt x="6" y="118"/>
                </a:moveTo>
                <a:cubicBezTo>
                  <a:pt x="6" y="121"/>
                  <a:pt x="8" y="124"/>
                  <a:pt x="11" y="124"/>
                </a:cubicBezTo>
                <a:cubicBezTo>
                  <a:pt x="38" y="124"/>
                  <a:pt x="38" y="124"/>
                  <a:pt x="38" y="124"/>
                </a:cubicBezTo>
                <a:cubicBezTo>
                  <a:pt x="38" y="68"/>
                  <a:pt x="38" y="68"/>
                  <a:pt x="38" y="68"/>
                </a:cubicBezTo>
                <a:cubicBezTo>
                  <a:pt x="6" y="100"/>
                  <a:pt x="6" y="100"/>
                  <a:pt x="6" y="100"/>
                </a:cubicBezTo>
                <a:lnTo>
                  <a:pt x="6" y="118"/>
                </a:lnTo>
                <a:close/>
                <a:moveTo>
                  <a:pt x="97" y="72"/>
                </a:moveTo>
                <a:cubicBezTo>
                  <a:pt x="97" y="124"/>
                  <a:pt x="97" y="124"/>
                  <a:pt x="97" y="124"/>
                </a:cubicBezTo>
                <a:cubicBezTo>
                  <a:pt x="124" y="124"/>
                  <a:pt x="124" y="124"/>
                  <a:pt x="124" y="124"/>
                </a:cubicBezTo>
                <a:cubicBezTo>
                  <a:pt x="127" y="124"/>
                  <a:pt x="129" y="121"/>
                  <a:pt x="129" y="118"/>
                </a:cubicBezTo>
                <a:cubicBezTo>
                  <a:pt x="129" y="68"/>
                  <a:pt x="129" y="68"/>
                  <a:pt x="129" y="68"/>
                </a:cubicBezTo>
                <a:cubicBezTo>
                  <a:pt x="129" y="40"/>
                  <a:pt x="129" y="40"/>
                  <a:pt x="129" y="40"/>
                </a:cubicBezTo>
                <a:cubicBezTo>
                  <a:pt x="101" y="68"/>
                  <a:pt x="101" y="68"/>
                  <a:pt x="101" y="68"/>
                </a:cubicBezTo>
                <a:lnTo>
                  <a:pt x="97" y="72"/>
                </a:lnTo>
                <a:close/>
                <a:moveTo>
                  <a:pt x="116" y="3"/>
                </a:moveTo>
                <a:cubicBezTo>
                  <a:pt x="113" y="3"/>
                  <a:pt x="111" y="6"/>
                  <a:pt x="111" y="9"/>
                </a:cubicBezTo>
                <a:cubicBezTo>
                  <a:pt x="111" y="12"/>
                  <a:pt x="114" y="15"/>
                  <a:pt x="117" y="14"/>
                </a:cubicBezTo>
                <a:cubicBezTo>
                  <a:pt x="123" y="14"/>
                  <a:pt x="123" y="14"/>
                  <a:pt x="123" y="14"/>
                </a:cubicBezTo>
                <a:cubicBezTo>
                  <a:pt x="70" y="67"/>
                  <a:pt x="70" y="67"/>
                  <a:pt x="70" y="67"/>
                </a:cubicBezTo>
                <a:cubicBezTo>
                  <a:pt x="38" y="36"/>
                  <a:pt x="38" y="36"/>
                  <a:pt x="38" y="36"/>
                </a:cubicBezTo>
                <a:cubicBezTo>
                  <a:pt x="2" y="73"/>
                  <a:pt x="2" y="73"/>
                  <a:pt x="2" y="73"/>
                </a:cubicBezTo>
                <a:cubicBezTo>
                  <a:pt x="0" y="75"/>
                  <a:pt x="0" y="79"/>
                  <a:pt x="2" y="81"/>
                </a:cubicBezTo>
                <a:cubicBezTo>
                  <a:pt x="4" y="83"/>
                  <a:pt x="8" y="83"/>
                  <a:pt x="10" y="81"/>
                </a:cubicBezTo>
                <a:cubicBezTo>
                  <a:pt x="38" y="52"/>
                  <a:pt x="38" y="52"/>
                  <a:pt x="38" y="52"/>
                </a:cubicBezTo>
                <a:cubicBezTo>
                  <a:pt x="70" y="84"/>
                  <a:pt x="70" y="84"/>
                  <a:pt x="70" y="84"/>
                </a:cubicBezTo>
                <a:cubicBezTo>
                  <a:pt x="132" y="22"/>
                  <a:pt x="132" y="22"/>
                  <a:pt x="132" y="22"/>
                </a:cubicBezTo>
                <a:cubicBezTo>
                  <a:pt x="131" y="28"/>
                  <a:pt x="131" y="28"/>
                  <a:pt x="131" y="28"/>
                </a:cubicBezTo>
                <a:cubicBezTo>
                  <a:pt x="131" y="31"/>
                  <a:pt x="133" y="34"/>
                  <a:pt x="136" y="35"/>
                </a:cubicBezTo>
                <a:cubicBezTo>
                  <a:pt x="137" y="35"/>
                  <a:pt x="137" y="35"/>
                  <a:pt x="137" y="35"/>
                </a:cubicBezTo>
                <a:cubicBezTo>
                  <a:pt x="140" y="35"/>
                  <a:pt x="142" y="32"/>
                  <a:pt x="143" y="29"/>
                </a:cubicBezTo>
                <a:cubicBezTo>
                  <a:pt x="145" y="0"/>
                  <a:pt x="145" y="0"/>
                  <a:pt x="145" y="0"/>
                </a:cubicBezTo>
                <a:lnTo>
                  <a:pt x="116" y="3"/>
                </a:lnTo>
                <a:close/>
              </a:path>
            </a:pathLst>
          </a:custGeom>
          <a:solidFill>
            <a:schemeClr val="bg1"/>
          </a:solidFill>
          <a:ln>
            <a:noFill/>
          </a:ln>
        </p:spPr>
        <p:txBody>
          <a:bodyPr vert="horz" wrap="square" lIns="91425" tIns="45712" rIns="91425" bIns="45712" numCol="1" anchor="t" anchorCtr="0" compatLnSpc="1"/>
          <a:lstStyle/>
          <a:p>
            <a:endParaRPr lang="en-US"/>
          </a:p>
        </p:txBody>
      </p:sp>
      <p:sp>
        <p:nvSpPr>
          <p:cNvPr id="35" name="Freeform 1265"/>
          <p:cNvSpPr/>
          <p:nvPr/>
        </p:nvSpPr>
        <p:spPr bwMode="auto">
          <a:xfrm>
            <a:off x="631404" y="2977353"/>
            <a:ext cx="1300602" cy="565597"/>
          </a:xfrm>
          <a:custGeom>
            <a:avLst/>
            <a:gdLst>
              <a:gd name="T0" fmla="*/ 476 w 476"/>
              <a:gd name="T1" fmla="*/ 0 h 207"/>
              <a:gd name="T2" fmla="*/ 476 w 476"/>
              <a:gd name="T3" fmla="*/ 34 h 207"/>
              <a:gd name="T4" fmla="*/ 442 w 476"/>
              <a:gd name="T5" fmla="*/ 93 h 207"/>
              <a:gd name="T6" fmla="*/ 255 w 476"/>
              <a:gd name="T7" fmla="*/ 201 h 207"/>
              <a:gd name="T8" fmla="*/ 221 w 476"/>
              <a:gd name="T9" fmla="*/ 201 h 207"/>
              <a:gd name="T10" fmla="*/ 34 w 476"/>
              <a:gd name="T11" fmla="*/ 93 h 207"/>
              <a:gd name="T12" fmla="*/ 0 w 476"/>
              <a:gd name="T13" fmla="*/ 34 h 207"/>
              <a:gd name="T14" fmla="*/ 0 w 476"/>
              <a:gd name="T15" fmla="*/ 0 h 207"/>
              <a:gd name="T16" fmla="*/ 34 w 476"/>
              <a:gd name="T17" fmla="*/ 59 h 207"/>
              <a:gd name="T18" fmla="*/ 221 w 476"/>
              <a:gd name="T19" fmla="*/ 167 h 207"/>
              <a:gd name="T20" fmla="*/ 255 w 476"/>
              <a:gd name="T21" fmla="*/ 167 h 207"/>
              <a:gd name="T22" fmla="*/ 442 w 476"/>
              <a:gd name="T23" fmla="*/ 59 h 207"/>
              <a:gd name="T24" fmla="*/ 476 w 476"/>
              <a:gd name="T25"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6" h="207">
                <a:moveTo>
                  <a:pt x="476" y="0"/>
                </a:moveTo>
                <a:cubicBezTo>
                  <a:pt x="476" y="34"/>
                  <a:pt x="476" y="34"/>
                  <a:pt x="476" y="34"/>
                </a:cubicBezTo>
                <a:cubicBezTo>
                  <a:pt x="476" y="58"/>
                  <a:pt x="463" y="81"/>
                  <a:pt x="442" y="93"/>
                </a:cubicBezTo>
                <a:cubicBezTo>
                  <a:pt x="255" y="201"/>
                  <a:pt x="255" y="201"/>
                  <a:pt x="255" y="201"/>
                </a:cubicBezTo>
                <a:cubicBezTo>
                  <a:pt x="244" y="207"/>
                  <a:pt x="231" y="207"/>
                  <a:pt x="221" y="201"/>
                </a:cubicBezTo>
                <a:cubicBezTo>
                  <a:pt x="34" y="93"/>
                  <a:pt x="34" y="93"/>
                  <a:pt x="34" y="93"/>
                </a:cubicBezTo>
                <a:cubicBezTo>
                  <a:pt x="13" y="81"/>
                  <a:pt x="0" y="58"/>
                  <a:pt x="0" y="34"/>
                </a:cubicBezTo>
                <a:cubicBezTo>
                  <a:pt x="0" y="0"/>
                  <a:pt x="0" y="0"/>
                  <a:pt x="0" y="0"/>
                </a:cubicBezTo>
                <a:cubicBezTo>
                  <a:pt x="0" y="24"/>
                  <a:pt x="13" y="47"/>
                  <a:pt x="34" y="59"/>
                </a:cubicBezTo>
                <a:cubicBezTo>
                  <a:pt x="221" y="167"/>
                  <a:pt x="221" y="167"/>
                  <a:pt x="221" y="167"/>
                </a:cubicBezTo>
                <a:cubicBezTo>
                  <a:pt x="231" y="173"/>
                  <a:pt x="244" y="173"/>
                  <a:pt x="255" y="167"/>
                </a:cubicBezTo>
                <a:cubicBezTo>
                  <a:pt x="442" y="59"/>
                  <a:pt x="442" y="59"/>
                  <a:pt x="442" y="59"/>
                </a:cubicBezTo>
                <a:cubicBezTo>
                  <a:pt x="463" y="47"/>
                  <a:pt x="476" y="24"/>
                  <a:pt x="476" y="0"/>
                </a:cubicBezTo>
                <a:close/>
              </a:path>
            </a:pathLst>
          </a:custGeom>
          <a:solidFill>
            <a:srgbClr val="06172F"/>
          </a:solidFill>
          <a:ln>
            <a:noFill/>
          </a:ln>
        </p:spPr>
        <p:txBody>
          <a:bodyPr vert="horz" wrap="square" lIns="91425" tIns="45712" rIns="91425" bIns="45712" numCol="1" anchor="t" anchorCtr="0" compatLnSpc="1"/>
          <a:lstStyle/>
          <a:p>
            <a:endParaRPr lang="en-US"/>
          </a:p>
        </p:txBody>
      </p:sp>
      <p:sp>
        <p:nvSpPr>
          <p:cNvPr id="38" name="Freeform 1262"/>
          <p:cNvSpPr>
            <a:spLocks noEditPoints="1"/>
          </p:cNvSpPr>
          <p:nvPr/>
        </p:nvSpPr>
        <p:spPr bwMode="auto">
          <a:xfrm>
            <a:off x="6801609" y="2777276"/>
            <a:ext cx="308756" cy="387995"/>
          </a:xfrm>
          <a:custGeom>
            <a:avLst/>
            <a:gdLst>
              <a:gd name="T0" fmla="*/ 164 w 226"/>
              <a:gd name="T1" fmla="*/ 48 h 284"/>
              <a:gd name="T2" fmla="*/ 40 w 226"/>
              <a:gd name="T3" fmla="*/ 48 h 284"/>
              <a:gd name="T4" fmla="*/ 40 w 226"/>
              <a:gd name="T5" fmla="*/ 64 h 284"/>
              <a:gd name="T6" fmla="*/ 164 w 226"/>
              <a:gd name="T7" fmla="*/ 64 h 284"/>
              <a:gd name="T8" fmla="*/ 164 w 226"/>
              <a:gd name="T9" fmla="*/ 48 h 284"/>
              <a:gd name="T10" fmla="*/ 164 w 226"/>
              <a:gd name="T11" fmla="*/ 116 h 284"/>
              <a:gd name="T12" fmla="*/ 40 w 226"/>
              <a:gd name="T13" fmla="*/ 116 h 284"/>
              <a:gd name="T14" fmla="*/ 40 w 226"/>
              <a:gd name="T15" fmla="*/ 134 h 284"/>
              <a:gd name="T16" fmla="*/ 164 w 226"/>
              <a:gd name="T17" fmla="*/ 134 h 284"/>
              <a:gd name="T18" fmla="*/ 164 w 226"/>
              <a:gd name="T19" fmla="*/ 116 h 284"/>
              <a:gd name="T20" fmla="*/ 164 w 226"/>
              <a:gd name="T21" fmla="*/ 82 h 284"/>
              <a:gd name="T22" fmla="*/ 40 w 226"/>
              <a:gd name="T23" fmla="*/ 82 h 284"/>
              <a:gd name="T24" fmla="*/ 40 w 226"/>
              <a:gd name="T25" fmla="*/ 100 h 284"/>
              <a:gd name="T26" fmla="*/ 164 w 226"/>
              <a:gd name="T27" fmla="*/ 100 h 284"/>
              <a:gd name="T28" fmla="*/ 164 w 226"/>
              <a:gd name="T29" fmla="*/ 82 h 284"/>
              <a:gd name="T30" fmla="*/ 202 w 226"/>
              <a:gd name="T31" fmla="*/ 26 h 284"/>
              <a:gd name="T32" fmla="*/ 202 w 226"/>
              <a:gd name="T33" fmla="*/ 0 h 284"/>
              <a:gd name="T34" fmla="*/ 0 w 226"/>
              <a:gd name="T35" fmla="*/ 0 h 284"/>
              <a:gd name="T36" fmla="*/ 0 w 226"/>
              <a:gd name="T37" fmla="*/ 260 h 284"/>
              <a:gd name="T38" fmla="*/ 26 w 226"/>
              <a:gd name="T39" fmla="*/ 260 h 284"/>
              <a:gd name="T40" fmla="*/ 26 w 226"/>
              <a:gd name="T41" fmla="*/ 284 h 284"/>
              <a:gd name="T42" fmla="*/ 226 w 226"/>
              <a:gd name="T43" fmla="*/ 284 h 284"/>
              <a:gd name="T44" fmla="*/ 226 w 226"/>
              <a:gd name="T45" fmla="*/ 26 h 284"/>
              <a:gd name="T46" fmla="*/ 202 w 226"/>
              <a:gd name="T47" fmla="*/ 26 h 284"/>
              <a:gd name="T48" fmla="*/ 14 w 226"/>
              <a:gd name="T49" fmla="*/ 246 h 284"/>
              <a:gd name="T50" fmla="*/ 14 w 226"/>
              <a:gd name="T51" fmla="*/ 14 h 284"/>
              <a:gd name="T52" fmla="*/ 188 w 226"/>
              <a:gd name="T53" fmla="*/ 14 h 284"/>
              <a:gd name="T54" fmla="*/ 188 w 226"/>
              <a:gd name="T55" fmla="*/ 186 h 284"/>
              <a:gd name="T56" fmla="*/ 128 w 226"/>
              <a:gd name="T57" fmla="*/ 186 h 284"/>
              <a:gd name="T58" fmla="*/ 128 w 226"/>
              <a:gd name="T59" fmla="*/ 246 h 284"/>
              <a:gd name="T60" fmla="*/ 14 w 226"/>
              <a:gd name="T61" fmla="*/ 246 h 284"/>
              <a:gd name="T62" fmla="*/ 212 w 226"/>
              <a:gd name="T63" fmla="*/ 270 h 284"/>
              <a:gd name="T64" fmla="*/ 40 w 226"/>
              <a:gd name="T65" fmla="*/ 270 h 284"/>
              <a:gd name="T66" fmla="*/ 40 w 226"/>
              <a:gd name="T67" fmla="*/ 260 h 284"/>
              <a:gd name="T68" fmla="*/ 136 w 226"/>
              <a:gd name="T69" fmla="*/ 260 h 284"/>
              <a:gd name="T70" fmla="*/ 202 w 226"/>
              <a:gd name="T71" fmla="*/ 194 h 284"/>
              <a:gd name="T72" fmla="*/ 202 w 226"/>
              <a:gd name="T73" fmla="*/ 40 h 284"/>
              <a:gd name="T74" fmla="*/ 212 w 226"/>
              <a:gd name="T75" fmla="*/ 40 h 284"/>
              <a:gd name="T76" fmla="*/ 212 w 226"/>
              <a:gd name="T77" fmla="*/ 270 h 284"/>
              <a:gd name="T78" fmla="*/ 40 w 226"/>
              <a:gd name="T79" fmla="*/ 170 h 284"/>
              <a:gd name="T80" fmla="*/ 102 w 226"/>
              <a:gd name="T81" fmla="*/ 170 h 284"/>
              <a:gd name="T82" fmla="*/ 102 w 226"/>
              <a:gd name="T83" fmla="*/ 152 h 284"/>
              <a:gd name="T84" fmla="*/ 40 w 226"/>
              <a:gd name="T85" fmla="*/ 152 h 284"/>
              <a:gd name="T86" fmla="*/ 40 w 226"/>
              <a:gd name="T87" fmla="*/ 17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6" h="284">
                <a:moveTo>
                  <a:pt x="164" y="48"/>
                </a:moveTo>
                <a:lnTo>
                  <a:pt x="40" y="48"/>
                </a:lnTo>
                <a:lnTo>
                  <a:pt x="40" y="64"/>
                </a:lnTo>
                <a:lnTo>
                  <a:pt x="164" y="64"/>
                </a:lnTo>
                <a:lnTo>
                  <a:pt x="164" y="48"/>
                </a:lnTo>
                <a:close/>
                <a:moveTo>
                  <a:pt x="164" y="116"/>
                </a:moveTo>
                <a:lnTo>
                  <a:pt x="40" y="116"/>
                </a:lnTo>
                <a:lnTo>
                  <a:pt x="40" y="134"/>
                </a:lnTo>
                <a:lnTo>
                  <a:pt x="164" y="134"/>
                </a:lnTo>
                <a:lnTo>
                  <a:pt x="164" y="116"/>
                </a:lnTo>
                <a:close/>
                <a:moveTo>
                  <a:pt x="164" y="82"/>
                </a:moveTo>
                <a:lnTo>
                  <a:pt x="40" y="82"/>
                </a:lnTo>
                <a:lnTo>
                  <a:pt x="40" y="100"/>
                </a:lnTo>
                <a:lnTo>
                  <a:pt x="164" y="100"/>
                </a:lnTo>
                <a:lnTo>
                  <a:pt x="164" y="82"/>
                </a:lnTo>
                <a:close/>
                <a:moveTo>
                  <a:pt x="202" y="26"/>
                </a:moveTo>
                <a:lnTo>
                  <a:pt x="202" y="0"/>
                </a:lnTo>
                <a:lnTo>
                  <a:pt x="0" y="0"/>
                </a:lnTo>
                <a:lnTo>
                  <a:pt x="0" y="260"/>
                </a:lnTo>
                <a:lnTo>
                  <a:pt x="26" y="260"/>
                </a:lnTo>
                <a:lnTo>
                  <a:pt x="26" y="284"/>
                </a:lnTo>
                <a:lnTo>
                  <a:pt x="226" y="284"/>
                </a:lnTo>
                <a:lnTo>
                  <a:pt x="226" y="26"/>
                </a:lnTo>
                <a:lnTo>
                  <a:pt x="202" y="26"/>
                </a:lnTo>
                <a:close/>
                <a:moveTo>
                  <a:pt x="14" y="246"/>
                </a:moveTo>
                <a:lnTo>
                  <a:pt x="14" y="14"/>
                </a:lnTo>
                <a:lnTo>
                  <a:pt x="188" y="14"/>
                </a:lnTo>
                <a:lnTo>
                  <a:pt x="188" y="186"/>
                </a:lnTo>
                <a:lnTo>
                  <a:pt x="128" y="186"/>
                </a:lnTo>
                <a:lnTo>
                  <a:pt x="128" y="246"/>
                </a:lnTo>
                <a:lnTo>
                  <a:pt x="14" y="246"/>
                </a:lnTo>
                <a:close/>
                <a:moveTo>
                  <a:pt x="212" y="270"/>
                </a:moveTo>
                <a:lnTo>
                  <a:pt x="40" y="270"/>
                </a:lnTo>
                <a:lnTo>
                  <a:pt x="40" y="260"/>
                </a:lnTo>
                <a:lnTo>
                  <a:pt x="136" y="260"/>
                </a:lnTo>
                <a:lnTo>
                  <a:pt x="202" y="194"/>
                </a:lnTo>
                <a:lnTo>
                  <a:pt x="202" y="40"/>
                </a:lnTo>
                <a:lnTo>
                  <a:pt x="212" y="40"/>
                </a:lnTo>
                <a:lnTo>
                  <a:pt x="212" y="270"/>
                </a:lnTo>
                <a:close/>
                <a:moveTo>
                  <a:pt x="40" y="170"/>
                </a:moveTo>
                <a:lnTo>
                  <a:pt x="102" y="170"/>
                </a:lnTo>
                <a:lnTo>
                  <a:pt x="102" y="152"/>
                </a:lnTo>
                <a:lnTo>
                  <a:pt x="40" y="152"/>
                </a:lnTo>
                <a:lnTo>
                  <a:pt x="40" y="170"/>
                </a:lnTo>
                <a:close/>
              </a:path>
            </a:pathLst>
          </a:custGeom>
          <a:solidFill>
            <a:schemeClr val="bg1"/>
          </a:solidFill>
          <a:ln>
            <a:noFill/>
          </a:ln>
        </p:spPr>
        <p:txBody>
          <a:bodyPr vert="horz" wrap="square" lIns="91425" tIns="45712" rIns="91425" bIns="45712" numCol="1" anchor="t" anchorCtr="0" compatLnSpc="1"/>
          <a:lstStyle/>
          <a:p>
            <a:endParaRPr lang="en-US"/>
          </a:p>
        </p:txBody>
      </p:sp>
      <p:sp>
        <p:nvSpPr>
          <p:cNvPr id="42" name="Freeform 1263"/>
          <p:cNvSpPr>
            <a:spLocks noEditPoints="1"/>
          </p:cNvSpPr>
          <p:nvPr/>
        </p:nvSpPr>
        <p:spPr bwMode="auto">
          <a:xfrm>
            <a:off x="8543487" y="2790938"/>
            <a:ext cx="355206" cy="352474"/>
          </a:xfrm>
          <a:custGeom>
            <a:avLst/>
            <a:gdLst>
              <a:gd name="T0" fmla="*/ 46 w 130"/>
              <a:gd name="T1" fmla="*/ 77 h 129"/>
              <a:gd name="T2" fmla="*/ 84 w 130"/>
              <a:gd name="T3" fmla="*/ 77 h 129"/>
              <a:gd name="T4" fmla="*/ 93 w 130"/>
              <a:gd name="T5" fmla="*/ 71 h 129"/>
              <a:gd name="T6" fmla="*/ 37 w 130"/>
              <a:gd name="T7" fmla="*/ 71 h 129"/>
              <a:gd name="T8" fmla="*/ 46 w 130"/>
              <a:gd name="T9" fmla="*/ 77 h 129"/>
              <a:gd name="T10" fmla="*/ 64 w 130"/>
              <a:gd name="T11" fmla="*/ 89 h 129"/>
              <a:gd name="T12" fmla="*/ 66 w 130"/>
              <a:gd name="T13" fmla="*/ 89 h 129"/>
              <a:gd name="T14" fmla="*/ 75 w 130"/>
              <a:gd name="T15" fmla="*/ 83 h 129"/>
              <a:gd name="T16" fmla="*/ 55 w 130"/>
              <a:gd name="T17" fmla="*/ 83 h 129"/>
              <a:gd name="T18" fmla="*/ 64 w 130"/>
              <a:gd name="T19" fmla="*/ 89 h 129"/>
              <a:gd name="T20" fmla="*/ 26 w 130"/>
              <a:gd name="T21" fmla="*/ 64 h 129"/>
              <a:gd name="T22" fmla="*/ 28 w 130"/>
              <a:gd name="T23" fmla="*/ 65 h 129"/>
              <a:gd name="T24" fmla="*/ 102 w 130"/>
              <a:gd name="T25" fmla="*/ 65 h 129"/>
              <a:gd name="T26" fmla="*/ 104 w 130"/>
              <a:gd name="T27" fmla="*/ 64 h 129"/>
              <a:gd name="T28" fmla="*/ 104 w 130"/>
              <a:gd name="T29" fmla="*/ 58 h 129"/>
              <a:gd name="T30" fmla="*/ 26 w 130"/>
              <a:gd name="T31" fmla="*/ 58 h 129"/>
              <a:gd name="T32" fmla="*/ 26 w 130"/>
              <a:gd name="T33" fmla="*/ 64 h 129"/>
              <a:gd name="T34" fmla="*/ 126 w 130"/>
              <a:gd name="T35" fmla="*/ 40 h 129"/>
              <a:gd name="T36" fmla="*/ 70 w 130"/>
              <a:gd name="T37" fmla="*/ 2 h 129"/>
              <a:gd name="T38" fmla="*/ 60 w 130"/>
              <a:gd name="T39" fmla="*/ 2 h 129"/>
              <a:gd name="T40" fmla="*/ 4 w 130"/>
              <a:gd name="T41" fmla="*/ 40 h 129"/>
              <a:gd name="T42" fmla="*/ 0 w 130"/>
              <a:gd name="T43" fmla="*/ 47 h 129"/>
              <a:gd name="T44" fmla="*/ 0 w 130"/>
              <a:gd name="T45" fmla="*/ 120 h 129"/>
              <a:gd name="T46" fmla="*/ 8 w 130"/>
              <a:gd name="T47" fmla="*/ 129 h 129"/>
              <a:gd name="T48" fmla="*/ 122 w 130"/>
              <a:gd name="T49" fmla="*/ 129 h 129"/>
              <a:gd name="T50" fmla="*/ 130 w 130"/>
              <a:gd name="T51" fmla="*/ 120 h 129"/>
              <a:gd name="T52" fmla="*/ 130 w 130"/>
              <a:gd name="T53" fmla="*/ 47 h 129"/>
              <a:gd name="T54" fmla="*/ 126 w 130"/>
              <a:gd name="T55" fmla="*/ 40 h 129"/>
              <a:gd name="T56" fmla="*/ 122 w 130"/>
              <a:gd name="T57" fmla="*/ 59 h 129"/>
              <a:gd name="T58" fmla="*/ 65 w 130"/>
              <a:gd name="T59" fmla="*/ 97 h 129"/>
              <a:gd name="T60" fmla="*/ 8 w 130"/>
              <a:gd name="T61" fmla="*/ 59 h 129"/>
              <a:gd name="T62" fmla="*/ 8 w 130"/>
              <a:gd name="T63" fmla="*/ 51 h 129"/>
              <a:gd name="T64" fmla="*/ 12 w 130"/>
              <a:gd name="T65" fmla="*/ 47 h 129"/>
              <a:gd name="T66" fmla="*/ 118 w 130"/>
              <a:gd name="T67" fmla="*/ 47 h 129"/>
              <a:gd name="T68" fmla="*/ 122 w 130"/>
              <a:gd name="T69" fmla="*/ 51 h 129"/>
              <a:gd name="T70" fmla="*/ 122 w 130"/>
              <a:gd name="T71" fmla="*/ 5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30" h="129">
                <a:moveTo>
                  <a:pt x="46" y="77"/>
                </a:moveTo>
                <a:cubicBezTo>
                  <a:pt x="84" y="77"/>
                  <a:pt x="84" y="77"/>
                  <a:pt x="84" y="77"/>
                </a:cubicBezTo>
                <a:cubicBezTo>
                  <a:pt x="93" y="71"/>
                  <a:pt x="93" y="71"/>
                  <a:pt x="93" y="71"/>
                </a:cubicBezTo>
                <a:cubicBezTo>
                  <a:pt x="37" y="71"/>
                  <a:pt x="37" y="71"/>
                  <a:pt x="37" y="71"/>
                </a:cubicBezTo>
                <a:lnTo>
                  <a:pt x="46" y="77"/>
                </a:lnTo>
                <a:close/>
                <a:moveTo>
                  <a:pt x="64" y="89"/>
                </a:moveTo>
                <a:cubicBezTo>
                  <a:pt x="66" y="89"/>
                  <a:pt x="66" y="89"/>
                  <a:pt x="66" y="89"/>
                </a:cubicBezTo>
                <a:cubicBezTo>
                  <a:pt x="75" y="83"/>
                  <a:pt x="75" y="83"/>
                  <a:pt x="75" y="83"/>
                </a:cubicBezTo>
                <a:cubicBezTo>
                  <a:pt x="55" y="83"/>
                  <a:pt x="55" y="83"/>
                  <a:pt x="55" y="83"/>
                </a:cubicBezTo>
                <a:lnTo>
                  <a:pt x="64" y="89"/>
                </a:lnTo>
                <a:close/>
                <a:moveTo>
                  <a:pt x="26" y="64"/>
                </a:moveTo>
                <a:cubicBezTo>
                  <a:pt x="28" y="65"/>
                  <a:pt x="28" y="65"/>
                  <a:pt x="28" y="65"/>
                </a:cubicBezTo>
                <a:cubicBezTo>
                  <a:pt x="102" y="65"/>
                  <a:pt x="102" y="65"/>
                  <a:pt x="102" y="65"/>
                </a:cubicBezTo>
                <a:cubicBezTo>
                  <a:pt x="104" y="64"/>
                  <a:pt x="104" y="64"/>
                  <a:pt x="104" y="64"/>
                </a:cubicBezTo>
                <a:cubicBezTo>
                  <a:pt x="104" y="58"/>
                  <a:pt x="104" y="58"/>
                  <a:pt x="104" y="58"/>
                </a:cubicBezTo>
                <a:cubicBezTo>
                  <a:pt x="26" y="58"/>
                  <a:pt x="26" y="58"/>
                  <a:pt x="26" y="58"/>
                </a:cubicBezTo>
                <a:lnTo>
                  <a:pt x="26" y="64"/>
                </a:lnTo>
                <a:close/>
                <a:moveTo>
                  <a:pt x="126" y="40"/>
                </a:moveTo>
                <a:cubicBezTo>
                  <a:pt x="70" y="2"/>
                  <a:pt x="70" y="2"/>
                  <a:pt x="70" y="2"/>
                </a:cubicBezTo>
                <a:cubicBezTo>
                  <a:pt x="67" y="0"/>
                  <a:pt x="63" y="0"/>
                  <a:pt x="60" y="2"/>
                </a:cubicBezTo>
                <a:cubicBezTo>
                  <a:pt x="4" y="40"/>
                  <a:pt x="4" y="40"/>
                  <a:pt x="4" y="40"/>
                </a:cubicBezTo>
                <a:cubicBezTo>
                  <a:pt x="1" y="42"/>
                  <a:pt x="0" y="44"/>
                  <a:pt x="0" y="47"/>
                </a:cubicBezTo>
                <a:cubicBezTo>
                  <a:pt x="0" y="120"/>
                  <a:pt x="0" y="120"/>
                  <a:pt x="0" y="120"/>
                </a:cubicBezTo>
                <a:cubicBezTo>
                  <a:pt x="0" y="125"/>
                  <a:pt x="4" y="129"/>
                  <a:pt x="8" y="129"/>
                </a:cubicBezTo>
                <a:cubicBezTo>
                  <a:pt x="122" y="129"/>
                  <a:pt x="122" y="129"/>
                  <a:pt x="122" y="129"/>
                </a:cubicBezTo>
                <a:cubicBezTo>
                  <a:pt x="126" y="129"/>
                  <a:pt x="130" y="125"/>
                  <a:pt x="130" y="120"/>
                </a:cubicBezTo>
                <a:cubicBezTo>
                  <a:pt x="130" y="47"/>
                  <a:pt x="130" y="47"/>
                  <a:pt x="130" y="47"/>
                </a:cubicBezTo>
                <a:cubicBezTo>
                  <a:pt x="130" y="44"/>
                  <a:pt x="129" y="42"/>
                  <a:pt x="126" y="40"/>
                </a:cubicBezTo>
                <a:close/>
                <a:moveTo>
                  <a:pt x="122" y="59"/>
                </a:moveTo>
                <a:cubicBezTo>
                  <a:pt x="65" y="97"/>
                  <a:pt x="65" y="97"/>
                  <a:pt x="65" y="97"/>
                </a:cubicBezTo>
                <a:cubicBezTo>
                  <a:pt x="8" y="59"/>
                  <a:pt x="8" y="59"/>
                  <a:pt x="8" y="59"/>
                </a:cubicBezTo>
                <a:cubicBezTo>
                  <a:pt x="8" y="51"/>
                  <a:pt x="8" y="51"/>
                  <a:pt x="8" y="51"/>
                </a:cubicBezTo>
                <a:cubicBezTo>
                  <a:pt x="8" y="49"/>
                  <a:pt x="10" y="47"/>
                  <a:pt x="12" y="47"/>
                </a:cubicBezTo>
                <a:cubicBezTo>
                  <a:pt x="118" y="47"/>
                  <a:pt x="118" y="47"/>
                  <a:pt x="118" y="47"/>
                </a:cubicBezTo>
                <a:cubicBezTo>
                  <a:pt x="120" y="47"/>
                  <a:pt x="122" y="49"/>
                  <a:pt x="122" y="51"/>
                </a:cubicBezTo>
                <a:lnTo>
                  <a:pt x="122" y="59"/>
                </a:lnTo>
                <a:close/>
              </a:path>
            </a:pathLst>
          </a:custGeom>
          <a:solidFill>
            <a:schemeClr val="bg1"/>
          </a:solidFill>
          <a:ln>
            <a:noFill/>
          </a:ln>
        </p:spPr>
        <p:txBody>
          <a:bodyPr vert="horz" wrap="square" lIns="91425" tIns="45712" rIns="91425" bIns="45712" numCol="1" anchor="t" anchorCtr="0" compatLnSpc="1"/>
          <a:lstStyle/>
          <a:p>
            <a:endParaRPr lang="en-US"/>
          </a:p>
        </p:txBody>
      </p:sp>
      <p:sp>
        <p:nvSpPr>
          <p:cNvPr id="2" name="矩形 1"/>
          <p:cNvSpPr/>
          <p:nvPr/>
        </p:nvSpPr>
        <p:spPr>
          <a:xfrm rot="1620000">
            <a:off x="7946736" y="889397"/>
            <a:ext cx="4204948"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10" name="矩形 9"/>
          <p:cNvSpPr/>
          <p:nvPr/>
        </p:nvSpPr>
        <p:spPr>
          <a:xfrm>
            <a:off x="1672647" y="144658"/>
            <a:ext cx="7623254" cy="953135"/>
          </a:xfrm>
          <a:prstGeom prst="rect">
            <a:avLst/>
          </a:prstGeom>
        </p:spPr>
        <p:txBody>
          <a:bodyPr wrap="square">
            <a:spAutoFit/>
          </a:bodyPr>
          <a:p>
            <a:pPr>
              <a:lnSpc>
                <a:spcPct val="175000"/>
              </a:lnSpc>
            </a:pPr>
            <a:r>
              <a:rPr lang="zh-CN" altLang="en-US" sz="3200" b="1" dirty="0">
                <a:solidFill>
                  <a:srgbClr val="06172F"/>
                </a:solidFill>
                <a:latin typeface="微软雅黑" panose="020B0503020204020204" charset="-122"/>
                <a:ea typeface="微软雅黑" panose="020B0503020204020204" charset="-122"/>
              </a:rPr>
              <a:t>警告跟售模板</a:t>
            </a:r>
            <a:endParaRPr lang="zh-CN" altLang="en-US" sz="3200" b="1" dirty="0">
              <a:solidFill>
                <a:srgbClr val="06172F"/>
              </a:solidFill>
              <a:latin typeface="微软雅黑" panose="020B0503020204020204" charset="-122"/>
              <a:ea typeface="微软雅黑" panose="020B0503020204020204" charset="-122"/>
            </a:endParaRPr>
          </a:p>
        </p:txBody>
      </p:sp>
      <p:sp>
        <p:nvSpPr>
          <p:cNvPr id="11" name="文本框 10"/>
          <p:cNvSpPr txBox="1"/>
          <p:nvPr/>
        </p:nvSpPr>
        <p:spPr>
          <a:xfrm>
            <a:off x="1932321" y="1034789"/>
            <a:ext cx="10165396" cy="5785485"/>
          </a:xfrm>
          <a:prstGeom prst="rect">
            <a:avLst/>
          </a:prstGeom>
          <a:noFill/>
        </p:spPr>
        <p:txBody>
          <a:bodyPr wrap="square" rtlCol="0">
            <a:spAutoFit/>
          </a:bodyPr>
          <a:p>
            <a:pPr algn="l"/>
            <a:r>
              <a:rPr lang="en-US" altLang="zh-CN" sz="1000">
                <a:latin typeface="Comic Sans MS" panose="030F0702030302020204" charset="0"/>
              </a:rPr>
              <a:t>Dear  “ B店铺 ”,</a:t>
            </a:r>
            <a:endParaRPr lang="en-US" altLang="zh-CN" sz="1000">
              <a:latin typeface="Comic Sans MS" panose="030F0702030302020204" charset="0"/>
            </a:endParaRPr>
          </a:p>
          <a:p>
            <a:pPr algn="l"/>
            <a:endParaRPr lang="en-US" altLang="zh-CN" sz="1000">
              <a:latin typeface="Comic Sans MS" panose="030F0702030302020204" charset="0"/>
            </a:endParaRPr>
          </a:p>
          <a:p>
            <a:pPr algn="l"/>
            <a:r>
              <a:rPr lang="en-US" altLang="zh-CN" sz="1000">
                <a:latin typeface="Comic Sans MS" panose="030F0702030302020204" charset="0"/>
              </a:rPr>
              <a:t>It has come to our attention that “ B店铺 ” is using the " A " trademark without license or prior written authorization from " A品牌 ".</a:t>
            </a:r>
            <a:endParaRPr lang="en-US" altLang="zh-CN" sz="1000">
              <a:latin typeface="Comic Sans MS" panose="030F0702030302020204" charset="0"/>
            </a:endParaRPr>
          </a:p>
          <a:p>
            <a:pPr algn="l"/>
            <a:endParaRPr lang="en-US" altLang="zh-CN" sz="1000">
              <a:latin typeface="Comic Sans MS" panose="030F0702030302020204" charset="0"/>
            </a:endParaRPr>
          </a:p>
          <a:p>
            <a:pPr algn="l"/>
            <a:r>
              <a:rPr lang="en-US" altLang="zh-CN" sz="1000">
                <a:latin typeface="Comic Sans MS" panose="030F0702030302020204" charset="0"/>
              </a:rPr>
              <a:t>" A品牌" holds federal trademark registrations in the United States. So  “ B店铺” listings violate " A品牌" trademark and intellectual property rights. You are also in breach of Amazon’s Participation Agreement.</a:t>
            </a:r>
            <a:endParaRPr lang="en-US" altLang="zh-CN" sz="1000">
              <a:latin typeface="Comic Sans MS" panose="030F0702030302020204" charset="0"/>
            </a:endParaRPr>
          </a:p>
          <a:p>
            <a:pPr algn="l"/>
            <a:endParaRPr lang="en-US" altLang="zh-CN" sz="1000">
              <a:latin typeface="Comic Sans MS" panose="030F0702030302020204" charset="0"/>
            </a:endParaRPr>
          </a:p>
          <a:p>
            <a:pPr algn="l"/>
            <a:r>
              <a:rPr lang="en-US" altLang="zh-CN" sz="1000">
                <a:latin typeface="Comic Sans MS" panose="030F0702030302020204" charset="0"/>
              </a:rPr>
              <a:t>Therefore, we demand that you immediately remove all listings on Amazon.com in which “ B店铺 ”utilizes our trademarks and images protected by copyright.</a:t>
            </a:r>
            <a:endParaRPr lang="en-US" altLang="zh-CN" sz="1000">
              <a:latin typeface="Comic Sans MS" panose="030F0702030302020204" charset="0"/>
            </a:endParaRPr>
          </a:p>
          <a:p>
            <a:pPr algn="l"/>
            <a:endParaRPr lang="en-US" altLang="zh-CN" sz="1000">
              <a:latin typeface="Comic Sans MS" panose="030F0702030302020204" charset="0"/>
            </a:endParaRPr>
          </a:p>
          <a:p>
            <a:pPr algn="l"/>
            <a:r>
              <a:rPr lang="en-US" altLang="zh-CN" sz="1000">
                <a:latin typeface="Comic Sans MS" panose="030F0702030302020204" charset="0"/>
              </a:rPr>
              <a:t>“ B店铺” currently has at least one listing on Amazon.com for products that utilize“A品牌” trademarks and/or copyrights without  authorization. See the following ASIN: B001234567 (写自己的 ASIN)</a:t>
            </a:r>
            <a:endParaRPr lang="en-US" altLang="zh-CN" sz="1000">
              <a:latin typeface="Comic Sans MS" panose="030F0702030302020204" charset="0"/>
            </a:endParaRPr>
          </a:p>
          <a:p>
            <a:pPr algn="l"/>
            <a:endParaRPr lang="en-US" altLang="zh-CN" sz="1000">
              <a:latin typeface="Comic Sans MS" panose="030F0702030302020204" charset="0"/>
            </a:endParaRPr>
          </a:p>
          <a:p>
            <a:pPr algn="l"/>
            <a:r>
              <a:rPr lang="en-US" altLang="zh-CN" sz="1000">
                <a:latin typeface="Comic Sans MS" panose="030F0702030302020204" charset="0"/>
              </a:rPr>
              <a:t>" A品牌 " is the only entity authorized to provide authorization to sell its products on Amazon.com. Your listing constitutes a violation of  " A品牌 " trademark rights, copyrights, and AmazonParticipation Agreement.</a:t>
            </a:r>
            <a:endParaRPr lang="en-US" altLang="zh-CN" sz="1000">
              <a:latin typeface="Comic Sans MS" panose="030F0702030302020204" charset="0"/>
            </a:endParaRPr>
          </a:p>
          <a:p>
            <a:pPr algn="l"/>
            <a:endParaRPr lang="en-US" altLang="zh-CN" sz="1000">
              <a:latin typeface="Comic Sans MS" panose="030F0702030302020204" charset="0"/>
            </a:endParaRPr>
          </a:p>
          <a:p>
            <a:pPr algn="l"/>
            <a:r>
              <a:rPr lang="en-US" altLang="zh-CN" sz="1000">
                <a:latin typeface="Comic Sans MS" panose="030F0702030302020204" charset="0"/>
              </a:rPr>
              <a:t>Learn more about our policies in Seller Central Help: </a:t>
            </a:r>
            <a:endParaRPr lang="en-US" altLang="zh-CN" sz="1000">
              <a:latin typeface="Comic Sans MS" panose="030F0702030302020204" charset="0"/>
            </a:endParaRPr>
          </a:p>
          <a:p>
            <a:pPr algn="l"/>
            <a:endParaRPr lang="en-US" altLang="zh-CN" sz="1000">
              <a:latin typeface="Comic Sans MS" panose="030F0702030302020204" charset="0"/>
            </a:endParaRPr>
          </a:p>
          <a:p>
            <a:pPr algn="l"/>
            <a:r>
              <a:rPr lang="en-US" altLang="zh-CN" sz="1000">
                <a:latin typeface="Comic Sans MS" panose="030F0702030302020204" charset="0"/>
              </a:rPr>
              <a:t>--Amazon Anti-Counterfeiting Policy (https://sellercentral.amazon.com/gp/help/201165970) </a:t>
            </a:r>
            <a:endParaRPr lang="en-US" altLang="zh-CN" sz="1000">
              <a:latin typeface="Comic Sans MS" panose="030F0702030302020204" charset="0"/>
            </a:endParaRPr>
          </a:p>
          <a:p>
            <a:pPr algn="l"/>
            <a:r>
              <a:rPr lang="en-US" altLang="zh-CN" sz="1000">
                <a:latin typeface="Comic Sans MS" panose="030F0702030302020204" charset="0"/>
              </a:rPr>
              <a:t>--Policies and Agreements (https://sellercentral.amazon.com/gp/help/521) </a:t>
            </a:r>
            <a:endParaRPr lang="en-US" altLang="zh-CN" sz="1000">
              <a:latin typeface="Comic Sans MS" panose="030F0702030302020204" charset="0"/>
            </a:endParaRPr>
          </a:p>
          <a:p>
            <a:pPr algn="l"/>
            <a:r>
              <a:rPr lang="en-US" altLang="zh-CN" sz="1000">
                <a:latin typeface="Comic Sans MS" panose="030F0702030302020204" charset="0"/>
              </a:rPr>
              <a:t>--Prohibited Seller Activities and Actions (https://sellercentral.amazon.com/gp/help/200386250) </a:t>
            </a:r>
            <a:endParaRPr lang="en-US" altLang="zh-CN" sz="1000">
              <a:latin typeface="Comic Sans MS" panose="030F0702030302020204" charset="0"/>
            </a:endParaRPr>
          </a:p>
          <a:p>
            <a:pPr algn="l"/>
            <a:r>
              <a:rPr lang="en-US" altLang="zh-CN" sz="1000">
                <a:latin typeface="Comic Sans MS" panose="030F0702030302020204" charset="0"/>
              </a:rPr>
              <a:t>--Product Detail Page Rules (https://sellercentral.amazon.com/gp/help/200390640) </a:t>
            </a:r>
            <a:endParaRPr lang="en-US" altLang="zh-CN" sz="1000">
              <a:latin typeface="Comic Sans MS" panose="030F0702030302020204" charset="0"/>
            </a:endParaRPr>
          </a:p>
          <a:p>
            <a:pPr algn="l"/>
            <a:r>
              <a:rPr lang="en-US" altLang="zh-CN" sz="1000">
                <a:latin typeface="Comic Sans MS" panose="030F0702030302020204" charset="0"/>
              </a:rPr>
              <a:t>--Condition Guidelines (https://sellercentral.amazon.com/gp/help/20033950)</a:t>
            </a:r>
            <a:endParaRPr lang="en-US" altLang="zh-CN" sz="1000">
              <a:latin typeface="Comic Sans MS" panose="030F0702030302020204" charset="0"/>
            </a:endParaRPr>
          </a:p>
          <a:p>
            <a:pPr algn="l"/>
            <a:endParaRPr lang="en-US" altLang="zh-CN" sz="1000">
              <a:latin typeface="Comic Sans MS" panose="030F0702030302020204" charset="0"/>
            </a:endParaRPr>
          </a:p>
          <a:p>
            <a:pPr algn="l"/>
            <a:r>
              <a:rPr lang="en-US" altLang="zh-CN" sz="1000">
                <a:latin typeface="Comic Sans MS" panose="030F0702030302020204" charset="0"/>
              </a:rPr>
              <a:t>While " A品牌" has many options available under this state. But we would prefer to resolve this matter amicably. Please confirm to us in writing within 24 hours, that you have:</a:t>
            </a:r>
            <a:endParaRPr lang="en-US" altLang="zh-CN" sz="1000">
              <a:latin typeface="Comic Sans MS" panose="030F0702030302020204" charset="0"/>
            </a:endParaRPr>
          </a:p>
          <a:p>
            <a:pPr algn="l"/>
            <a:endParaRPr lang="en-US" altLang="zh-CN" sz="1000">
              <a:latin typeface="Comic Sans MS" panose="030F0702030302020204" charset="0"/>
            </a:endParaRPr>
          </a:p>
          <a:p>
            <a:pPr algn="l"/>
            <a:r>
              <a:rPr lang="en-US" altLang="zh-CN" sz="1000">
                <a:latin typeface="Comic Sans MS" panose="030F0702030302020204" charset="0"/>
              </a:rPr>
              <a:t>(1) Removed all of " A品牌" trademarks and copyright material from your Amazon.com listings and any other website or public display you operate;</a:t>
            </a:r>
            <a:endParaRPr lang="en-US" altLang="zh-CN" sz="1000">
              <a:latin typeface="Comic Sans MS" panose="030F0702030302020204" charset="0"/>
            </a:endParaRPr>
          </a:p>
          <a:p>
            <a:pPr algn="l"/>
            <a:r>
              <a:rPr lang="en-US" altLang="zh-CN" sz="1000">
                <a:latin typeface="Comic Sans MS" panose="030F0702030302020204" charset="0"/>
              </a:rPr>
              <a:t>(2) Removed all of " A品牌s " listings of products it claims to be associated with "A品牌 ", including but not limited to the ASINs listed above</a:t>
            </a:r>
            <a:endParaRPr lang="en-US" altLang="zh-CN" sz="1000">
              <a:latin typeface="Comic Sans MS" panose="030F0702030302020204" charset="0"/>
            </a:endParaRPr>
          </a:p>
          <a:p>
            <a:pPr algn="l"/>
            <a:endParaRPr lang="en-US" altLang="zh-CN" sz="1000">
              <a:latin typeface="Comic Sans MS" panose="030F0702030302020204" charset="0"/>
            </a:endParaRPr>
          </a:p>
          <a:p>
            <a:pPr algn="l"/>
            <a:r>
              <a:rPr lang="en-US" altLang="zh-CN" sz="1000">
                <a:latin typeface="Comic Sans MS" panose="030F0702030302020204" charset="0"/>
              </a:rPr>
              <a:t>We are reviewing your account,We would like to work with you to resolve the concern and complete our review.</a:t>
            </a:r>
            <a:endParaRPr lang="en-US" altLang="zh-CN" sz="1000">
              <a:latin typeface="Comic Sans MS" panose="030F0702030302020204" charset="0"/>
            </a:endParaRPr>
          </a:p>
          <a:p>
            <a:pPr algn="l"/>
            <a:endParaRPr lang="en-US" altLang="zh-CN" sz="1000">
              <a:latin typeface="Comic Sans MS" panose="030F0702030302020204" charset="0"/>
            </a:endParaRPr>
          </a:p>
          <a:p>
            <a:pPr algn="l"/>
            <a:r>
              <a:rPr lang="en-US" altLang="zh-CN" sz="1000">
                <a:latin typeface="Comic Sans MS" panose="030F0702030302020204" charset="0"/>
              </a:rPr>
              <a:t>Failure to take action within 24 hours will force us to report this serious violation to the Amazon seller performance team. This is licensed products to Amazon.com as well, Amazon seller performance team will take such violations very seriously, possibly resulting in removal of your selling privileges on Amazon.com.</a:t>
            </a:r>
            <a:endParaRPr lang="en-US" altLang="zh-CN" sz="1000">
              <a:latin typeface="Comic Sans MS" panose="030F0702030302020204" charset="0"/>
            </a:endParaRPr>
          </a:p>
          <a:p>
            <a:pPr algn="l"/>
            <a:endParaRPr lang="en-US" altLang="zh-CN" sz="1000">
              <a:latin typeface="Comic Sans MS" panose="030F0702030302020204" charset="0"/>
            </a:endParaRPr>
          </a:p>
          <a:p>
            <a:pPr algn="l"/>
            <a:r>
              <a:rPr lang="en-US" altLang="zh-CN" sz="1000">
                <a:latin typeface="Comic Sans MS" panose="030F0702030302020204" charset="0"/>
              </a:rPr>
              <a:t>Thank you for your attention to this matter. Please contact us if you have any questions.</a:t>
            </a:r>
            <a:endParaRPr lang="en-US" altLang="zh-CN" sz="1000">
              <a:latin typeface="Comic Sans MS" panose="030F0702030302020204" charset="0"/>
            </a:endParaRPr>
          </a:p>
          <a:p>
            <a:pPr algn="l"/>
            <a:endParaRPr lang="en-US" altLang="zh-CN" sz="1000">
              <a:latin typeface="Comic Sans MS" panose="030F0702030302020204" charset="0"/>
            </a:endParaRPr>
          </a:p>
          <a:p>
            <a:pPr algn="l"/>
            <a:r>
              <a:rPr lang="en-US" altLang="zh-CN" sz="1000">
                <a:latin typeface="Comic Sans MS" panose="030F0702030302020204" charset="0"/>
              </a:rPr>
              <a:t>Legal on behalf of " A品牌 "</a:t>
            </a:r>
            <a:endParaRPr lang="en-US" altLang="zh-CN" sz="1000">
              <a:latin typeface="Comic Sans MS" panose="030F0702030302020204"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1620000">
            <a:off x="7947978"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7" name="椭圆 6"/>
          <p:cNvSpPr/>
          <p:nvPr/>
        </p:nvSpPr>
        <p:spPr>
          <a:xfrm>
            <a:off x="839153" y="3062605"/>
            <a:ext cx="2200275"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退货请求管理</a:t>
            </a:r>
            <a:endParaRPr lang="zh-CN" altLang="en-US"/>
          </a:p>
        </p:txBody>
      </p:sp>
      <p:sp>
        <p:nvSpPr>
          <p:cNvPr id="38" name="圆角右箭头 37"/>
          <p:cNvSpPr/>
          <p:nvPr/>
        </p:nvSpPr>
        <p:spPr>
          <a:xfrm>
            <a:off x="2509203" y="2251710"/>
            <a:ext cx="1759585" cy="64706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95" name="直角箭头"/>
          <p:cNvSpPr/>
          <p:nvPr/>
        </p:nvSpPr>
        <p:spPr bwMode="auto">
          <a:xfrm>
            <a:off x="2467928" y="4140835"/>
            <a:ext cx="1842135" cy="1352550"/>
          </a:xfrm>
          <a:custGeom>
            <a:avLst/>
            <a:gdLst>
              <a:gd name="T0" fmla="*/ 0 w 480"/>
              <a:gd name="T1" fmla="*/ 0 h 468"/>
              <a:gd name="T2" fmla="*/ 48 w 480"/>
              <a:gd name="T3" fmla="*/ 0 h 468"/>
              <a:gd name="T4" fmla="*/ 48 w 480"/>
              <a:gd name="T5" fmla="*/ 281 h 468"/>
              <a:gd name="T6" fmla="*/ 360 w 480"/>
              <a:gd name="T7" fmla="*/ 281 h 468"/>
              <a:gd name="T8" fmla="*/ 360 w 480"/>
              <a:gd name="T9" fmla="*/ 156 h 468"/>
              <a:gd name="T10" fmla="*/ 480 w 480"/>
              <a:gd name="T11" fmla="*/ 312 h 468"/>
              <a:gd name="T12" fmla="*/ 360 w 480"/>
              <a:gd name="T13" fmla="*/ 468 h 468"/>
              <a:gd name="T14" fmla="*/ 360 w 480"/>
              <a:gd name="T15" fmla="*/ 343 h 468"/>
              <a:gd name="T16" fmla="*/ 0 w 480"/>
              <a:gd name="T17" fmla="*/ 343 h 468"/>
              <a:gd name="T18" fmla="*/ 0 w 480"/>
              <a:gd name="T19"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468">
                <a:moveTo>
                  <a:pt x="0" y="0"/>
                </a:moveTo>
                <a:lnTo>
                  <a:pt x="48" y="0"/>
                </a:lnTo>
                <a:lnTo>
                  <a:pt x="48" y="281"/>
                </a:lnTo>
                <a:lnTo>
                  <a:pt x="360" y="281"/>
                </a:lnTo>
                <a:lnTo>
                  <a:pt x="360" y="156"/>
                </a:lnTo>
                <a:lnTo>
                  <a:pt x="480" y="312"/>
                </a:lnTo>
                <a:lnTo>
                  <a:pt x="360" y="468"/>
                </a:lnTo>
                <a:lnTo>
                  <a:pt x="360" y="343"/>
                </a:lnTo>
                <a:lnTo>
                  <a:pt x="0" y="343"/>
                </a:lnTo>
                <a:lnTo>
                  <a:pt x="0" y="0"/>
                </a:lnTo>
                <a:close/>
              </a:path>
            </a:pathLst>
          </a:custGeom>
          <a:solidFill>
            <a:schemeClr val="accent1"/>
          </a:solidFill>
          <a:ln>
            <a:noFill/>
          </a:ln>
        </p:spPr>
        <p:txBody>
          <a:bodyPr lIns="68580" tIns="34290" rIns="68580" bIns="34290" anchor="ctr">
            <a:scene3d>
              <a:camera prst="orthographicFront"/>
              <a:lightRig rig="threePt" dir="t"/>
            </a:scene3d>
            <a:sp3d>
              <a:contourClr>
                <a:srgbClr val="FFFFFF"/>
              </a:contourClr>
            </a:sp3d>
          </a:bodyPr>
          <a:p>
            <a:pPr algn="ctr" eaLnBrk="1" fontAlgn="auto" hangingPunct="1">
              <a:spcBef>
                <a:spcPts val="0"/>
              </a:spcBef>
              <a:spcAft>
                <a:spcPts val="0"/>
              </a:spcAft>
              <a:defRPr/>
            </a:pPr>
            <a:endParaRPr lang="zh-CN" altLang="en-US">
              <a:solidFill>
                <a:srgbClr val="FFFFFF"/>
              </a:solidFill>
            </a:endParaRPr>
          </a:p>
        </p:txBody>
      </p:sp>
      <p:sp>
        <p:nvSpPr>
          <p:cNvPr id="45" name="双大括号 44"/>
          <p:cNvSpPr/>
          <p:nvPr/>
        </p:nvSpPr>
        <p:spPr>
          <a:xfrm>
            <a:off x="4424998" y="1541145"/>
            <a:ext cx="4742180" cy="1760220"/>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46" name="文本框 45"/>
          <p:cNvSpPr txBox="1"/>
          <p:nvPr/>
        </p:nvSpPr>
        <p:spPr>
          <a:xfrm>
            <a:off x="2754948" y="1935480"/>
            <a:ext cx="1290955" cy="368300"/>
          </a:xfrm>
          <a:prstGeom prst="rect">
            <a:avLst/>
          </a:prstGeom>
          <a:noFill/>
        </p:spPr>
        <p:txBody>
          <a:bodyPr wrap="none" rtlCol="0">
            <a:spAutoFit/>
          </a:bodyPr>
          <a:p>
            <a:r>
              <a:rPr lang="zh-CN" altLang="en-US"/>
              <a:t>客户</a:t>
            </a:r>
            <a:r>
              <a:rPr lang="en-US" altLang="zh-CN"/>
              <a:t>Return</a:t>
            </a:r>
            <a:endParaRPr lang="en-US" altLang="zh-CN"/>
          </a:p>
        </p:txBody>
      </p:sp>
      <p:sp>
        <p:nvSpPr>
          <p:cNvPr id="47" name="文本框 46"/>
          <p:cNvSpPr txBox="1"/>
          <p:nvPr/>
        </p:nvSpPr>
        <p:spPr>
          <a:xfrm>
            <a:off x="4839653" y="1621790"/>
            <a:ext cx="4127500" cy="1599565"/>
          </a:xfrm>
          <a:prstGeom prst="rect">
            <a:avLst/>
          </a:prstGeom>
          <a:noFill/>
        </p:spPr>
        <p:txBody>
          <a:bodyPr wrap="square" rtlCol="0">
            <a:spAutoFit/>
          </a:bodyPr>
          <a:p>
            <a:r>
              <a:rPr lang="zh-CN" altLang="en-US" sz="1400"/>
              <a:t>退货原因：达不到预期，坏了，用着不爽</a:t>
            </a:r>
            <a:endParaRPr lang="zh-CN" altLang="en-US" sz="1400"/>
          </a:p>
          <a:p>
            <a:r>
              <a:rPr lang="zh-CN" altLang="en-US" sz="1400"/>
              <a:t>退货时效：</a:t>
            </a:r>
            <a:r>
              <a:rPr lang="en-US" altLang="zh-CN" sz="1400"/>
              <a:t>30</a:t>
            </a:r>
            <a:r>
              <a:rPr lang="zh-CN" altLang="en-US" sz="1400"/>
              <a:t>天以内</a:t>
            </a:r>
            <a:endParaRPr lang="zh-CN" altLang="en-US" sz="1400"/>
          </a:p>
          <a:p>
            <a:r>
              <a:rPr lang="zh-CN" altLang="en-US" sz="1400"/>
              <a:t>退货流程：印条码—准备箱子—粘贴条码—寄送</a:t>
            </a:r>
            <a:endParaRPr lang="zh-CN" altLang="en-US" sz="1400"/>
          </a:p>
          <a:p>
            <a:r>
              <a:rPr lang="zh-CN" altLang="en-US" sz="1400"/>
              <a:t>退货费用：FBA导致意外，亚马逊出运费则买家免邮，如不是亚马逊责任，则买家自掏腰包</a:t>
            </a:r>
            <a:endParaRPr lang="zh-CN" altLang="en-US" sz="1400"/>
          </a:p>
          <a:p>
            <a:r>
              <a:rPr lang="zh-CN" altLang="en-US" sz="1400"/>
              <a:t>退货结果：订单全额退款，不包括购买时产生的寄送费</a:t>
            </a:r>
            <a:endParaRPr lang="zh-CN" altLang="en-US" sz="1400"/>
          </a:p>
        </p:txBody>
      </p:sp>
      <p:sp>
        <p:nvSpPr>
          <p:cNvPr id="48" name="双大括号 47"/>
          <p:cNvSpPr/>
          <p:nvPr/>
        </p:nvSpPr>
        <p:spPr>
          <a:xfrm>
            <a:off x="4351338" y="3606165"/>
            <a:ext cx="4912995" cy="2891790"/>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49" name="文本框 48"/>
          <p:cNvSpPr txBox="1"/>
          <p:nvPr/>
        </p:nvSpPr>
        <p:spPr>
          <a:xfrm>
            <a:off x="4839653" y="3606165"/>
            <a:ext cx="4045585" cy="2891790"/>
          </a:xfrm>
          <a:prstGeom prst="rect">
            <a:avLst/>
          </a:prstGeom>
          <a:noFill/>
        </p:spPr>
        <p:txBody>
          <a:bodyPr wrap="square" rtlCol="0">
            <a:spAutoFit/>
          </a:bodyPr>
          <a:p>
            <a:pPr algn="l"/>
            <a:r>
              <a:rPr lang="zh-CN" altLang="en-US" sz="1400"/>
              <a:t>退货处理：</a:t>
            </a:r>
            <a:endParaRPr lang="zh-CN" altLang="en-US" sz="1400"/>
          </a:p>
          <a:p>
            <a:pPr algn="l"/>
            <a:r>
              <a:rPr lang="en-US" altLang="zh-CN" sz="1400"/>
              <a:t>1.</a:t>
            </a:r>
            <a:r>
              <a:rPr lang="zh-CN" altLang="en-US" sz="1400"/>
              <a:t>积极的联系客户，做好店铺服务</a:t>
            </a:r>
            <a:endParaRPr lang="zh-CN" altLang="en-US" sz="1400"/>
          </a:p>
          <a:p>
            <a:pPr algn="l"/>
            <a:r>
              <a:rPr lang="zh-CN" altLang="en-US" sz="1400"/>
              <a:t>第一，让亚马逊看到店铺的服务态度，</a:t>
            </a:r>
            <a:endParaRPr lang="zh-CN" altLang="en-US" sz="1400"/>
          </a:p>
          <a:p>
            <a:pPr algn="l"/>
            <a:r>
              <a:rPr lang="zh-CN" altLang="en-US" sz="1400"/>
              <a:t>第二，避免买家恼怒升级投诉与</a:t>
            </a:r>
            <a:r>
              <a:rPr lang="en-US" altLang="zh-CN" sz="1400"/>
              <a:t>AtoZ</a:t>
            </a:r>
            <a:endParaRPr lang="en-US" altLang="zh-CN" sz="1400"/>
          </a:p>
          <a:p>
            <a:pPr algn="l"/>
            <a:r>
              <a:rPr lang="en-US" altLang="zh-CN" sz="1400"/>
              <a:t>2.</a:t>
            </a:r>
            <a:r>
              <a:rPr lang="zh-CN" altLang="en-US" sz="1400"/>
              <a:t>联系买家取消</a:t>
            </a:r>
            <a:r>
              <a:rPr lang="en-US" altLang="zh-CN" sz="1400"/>
              <a:t>Return</a:t>
            </a:r>
            <a:endParaRPr lang="en-US" altLang="zh-CN" sz="1400"/>
          </a:p>
          <a:p>
            <a:pPr algn="l"/>
            <a:r>
              <a:rPr lang="zh-CN" altLang="en-US" sz="1400"/>
              <a:t>第一，委婉请求的方式</a:t>
            </a:r>
            <a:r>
              <a:rPr lang="en-US" altLang="zh-CN" sz="1400"/>
              <a:t>(</a:t>
            </a:r>
            <a:r>
              <a:rPr lang="zh-CN" altLang="en-US" sz="1400"/>
              <a:t>切勿以退款为理由要买家取消</a:t>
            </a:r>
            <a:r>
              <a:rPr lang="en-US" altLang="zh-CN" sz="1400"/>
              <a:t>)</a:t>
            </a:r>
            <a:endParaRPr lang="en-US" altLang="zh-CN" sz="1400"/>
          </a:p>
          <a:p>
            <a:pPr algn="l"/>
            <a:r>
              <a:rPr lang="zh-CN" altLang="en-US" sz="1400"/>
              <a:t>第二，征求客户建议与解决方案</a:t>
            </a:r>
            <a:r>
              <a:rPr lang="en-US" altLang="zh-CN" sz="1400"/>
              <a:t>(FBA</a:t>
            </a:r>
            <a:r>
              <a:rPr lang="zh-CN" altLang="en-US" sz="1400"/>
              <a:t>重发</a:t>
            </a:r>
            <a:r>
              <a:rPr lang="en-US" altLang="zh-CN" sz="1400"/>
              <a:t>)</a:t>
            </a:r>
            <a:endParaRPr lang="en-US" altLang="zh-CN" sz="1400"/>
          </a:p>
          <a:p>
            <a:pPr algn="l"/>
            <a:r>
              <a:rPr lang="en-US" altLang="zh-CN" sz="1400"/>
              <a:t>3.</a:t>
            </a:r>
            <a:r>
              <a:rPr lang="zh-CN" altLang="en-US" sz="1400"/>
              <a:t>卖家否决退货Deny Request</a:t>
            </a:r>
            <a:endParaRPr lang="zh-CN" altLang="en-US" sz="1400"/>
          </a:p>
          <a:p>
            <a:pPr algn="l"/>
            <a:r>
              <a:rPr lang="zh-CN" altLang="en-US" sz="1400"/>
              <a:t>第一，不建议这样操作</a:t>
            </a:r>
            <a:endParaRPr lang="zh-CN" altLang="en-US" sz="1400"/>
          </a:p>
          <a:p>
            <a:pPr algn="l"/>
            <a:r>
              <a:rPr lang="zh-CN" altLang="en-US" sz="1400"/>
              <a:t>第二，很大风险会升级为投诉</a:t>
            </a:r>
            <a:endParaRPr lang="zh-CN" altLang="en-US" sz="1400"/>
          </a:p>
          <a:p>
            <a:pPr algn="l"/>
            <a:endParaRPr lang="zh-CN" altLang="en-US" sz="1400"/>
          </a:p>
          <a:p>
            <a:pPr algn="l"/>
            <a:r>
              <a:rPr lang="zh-CN" altLang="en-US" sz="1400"/>
              <a:t>重点：关注新品</a:t>
            </a:r>
            <a:r>
              <a:rPr lang="en-US" altLang="zh-CN" sz="1400"/>
              <a:t>R</a:t>
            </a:r>
            <a:r>
              <a:rPr lang="zh-CN" altLang="en-US" sz="1400"/>
              <a:t>eturn reports，及时改善品质</a:t>
            </a:r>
            <a:endParaRPr lang="zh-CN" altLang="en-US" sz="1400"/>
          </a:p>
        </p:txBody>
      </p:sp>
      <p:sp>
        <p:nvSpPr>
          <p:cNvPr id="50" name="文本框 49"/>
          <p:cNvSpPr txBox="1"/>
          <p:nvPr/>
        </p:nvSpPr>
        <p:spPr>
          <a:xfrm>
            <a:off x="2509203" y="5125085"/>
            <a:ext cx="1290955" cy="368300"/>
          </a:xfrm>
          <a:prstGeom prst="rect">
            <a:avLst/>
          </a:prstGeom>
          <a:noFill/>
        </p:spPr>
        <p:txBody>
          <a:bodyPr wrap="none" rtlCol="0">
            <a:spAutoFit/>
          </a:bodyPr>
          <a:p>
            <a:r>
              <a:rPr lang="zh-CN" altLang="en-US"/>
              <a:t>卖家</a:t>
            </a:r>
            <a:r>
              <a:rPr lang="en-US" altLang="zh-CN"/>
              <a:t>Return</a:t>
            </a:r>
            <a:endParaRPr lang="en-US" altLang="zh-CN"/>
          </a:p>
        </p:txBody>
      </p:sp>
      <p:sp>
        <p:nvSpPr>
          <p:cNvPr id="4" name="矩形 3"/>
          <p:cNvSpPr/>
          <p:nvPr/>
        </p:nvSpPr>
        <p:spPr>
          <a:xfrm flipV="1">
            <a:off x="1081" y="537"/>
            <a:ext cx="12189839" cy="9548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grpSp>
        <p:nvGrpSpPr>
          <p:cNvPr id="6" name="组合 5"/>
          <p:cNvGrpSpPr/>
          <p:nvPr/>
        </p:nvGrpSpPr>
        <p:grpSpPr>
          <a:xfrm>
            <a:off x="821790" y="536"/>
            <a:ext cx="717438" cy="1097133"/>
            <a:chOff x="4704555" y="313131"/>
            <a:chExt cx="2782888" cy="4255695"/>
          </a:xfrm>
        </p:grpSpPr>
        <p:sp>
          <p:nvSpPr>
            <p:cNvPr id="5" name="流程图: 决策 5"/>
            <p:cNvSpPr/>
            <p:nvPr/>
          </p:nvSpPr>
          <p:spPr>
            <a:xfrm>
              <a:off x="4704555" y="313131"/>
              <a:ext cx="2782888" cy="425569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流程图: 决策 6"/>
            <p:cNvSpPr/>
            <p:nvPr/>
          </p:nvSpPr>
          <p:spPr>
            <a:xfrm>
              <a:off x="4934127" y="2015510"/>
              <a:ext cx="2323745" cy="2323745"/>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sp>
        <p:nvSpPr>
          <p:cNvPr id="9" name="文本框 8"/>
          <p:cNvSpPr txBox="1"/>
          <p:nvPr/>
        </p:nvSpPr>
        <p:spPr>
          <a:xfrm>
            <a:off x="734401" y="451613"/>
            <a:ext cx="950259" cy="583565"/>
          </a:xfrm>
          <a:prstGeom prst="rect">
            <a:avLst/>
          </a:prstGeom>
          <a:noFill/>
        </p:spPr>
        <p:txBody>
          <a:bodyPr wrap="square" rtlCol="0">
            <a:spAutoFit/>
          </a:bodyPr>
          <a:lstStyle/>
          <a:p>
            <a:pPr algn="ctr"/>
            <a:r>
              <a:rPr lang="en-US" altLang="zh-CN" sz="3200" b="1" dirty="0" smtClean="0">
                <a:ln w="28575">
                  <a:noFill/>
                </a:ln>
                <a:latin typeface="微软雅黑" panose="020B0503020204020204" charset="-122"/>
                <a:ea typeface="微软雅黑" panose="020B0503020204020204" charset="-122"/>
              </a:rPr>
              <a:t>05</a:t>
            </a:r>
            <a:endParaRPr lang="zh-CN" altLang="en-US" sz="4800" b="1" dirty="0">
              <a:ln w="28575">
                <a:noFill/>
              </a:ln>
              <a:latin typeface="微软雅黑" panose="020B0503020204020204" charset="-122"/>
              <a:ea typeface="微软雅黑" panose="020B0503020204020204" charset="-122"/>
            </a:endParaRPr>
          </a:p>
        </p:txBody>
      </p:sp>
      <p:sp>
        <p:nvSpPr>
          <p:cNvPr id="10" name="矩形 9"/>
          <p:cNvSpPr/>
          <p:nvPr/>
        </p:nvSpPr>
        <p:spPr>
          <a:xfrm>
            <a:off x="1618755" y="451080"/>
            <a:ext cx="1554480" cy="506730"/>
          </a:xfrm>
          <a:prstGeom prst="rect">
            <a:avLst/>
          </a:prstGeom>
        </p:spPr>
        <p:txBody>
          <a:bodyPr wrap="none">
            <a:spAutoFit/>
          </a:bodyPr>
          <a:p>
            <a:pPr algn="l">
              <a:lnSpc>
                <a:spcPct val="150000"/>
              </a:lnSpc>
            </a:pPr>
            <a:r>
              <a:rPr lang="zh-CN" altLang="en-US" b="1" dirty="0">
                <a:solidFill>
                  <a:srgbClr val="FFC000"/>
                </a:solidFill>
                <a:latin typeface="微软雅黑" panose="020B0503020204020204" charset="-122"/>
                <a:ea typeface="微软雅黑" panose="020B0503020204020204" charset="-122"/>
              </a:rPr>
              <a:t>退货请求处理</a:t>
            </a:r>
            <a:endParaRPr lang="zh-CN" altLang="en-US" b="1" dirty="0">
              <a:solidFill>
                <a:srgbClr val="FFC000"/>
              </a:solidFill>
              <a:latin typeface="微软雅黑" panose="020B0503020204020204" charset="-122"/>
              <a:ea typeface="微软雅黑" panose="020B050302020402020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1500">
        <p:fade/>
      </p:transition>
    </mc:Choice>
    <mc:Fallback>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64210"/>
            <a:ext cx="10515600" cy="594995"/>
          </a:xfrm>
        </p:spPr>
        <p:txBody>
          <a:bodyPr>
            <a:normAutofit fontScale="90000"/>
          </a:bodyPr>
          <a:lstStyle/>
          <a:p>
            <a:r>
              <a:rPr lang="zh-CN" altLang="en-US" spc="100" dirty="0" smtClean="0">
                <a:latin typeface="+mj-ea"/>
                <a:cs typeface="Lato Light" charset="0"/>
                <a:sym typeface="Lato Light" charset="0"/>
              </a:rPr>
              <a:t>Service服务</a:t>
            </a:r>
            <a:endParaRPr lang="zh-CN" altLang="en-US" spc="100" dirty="0" smtClean="0">
              <a:latin typeface="+mj-ea"/>
              <a:cs typeface="Lato Light" charset="0"/>
              <a:sym typeface="Lato Light" charset="0"/>
            </a:endParaRPr>
          </a:p>
        </p:txBody>
      </p:sp>
      <p:sp>
        <p:nvSpPr>
          <p:cNvPr id="7" name="TextBox 6"/>
          <p:cNvSpPr txBox="1"/>
          <p:nvPr/>
        </p:nvSpPr>
        <p:spPr>
          <a:xfrm>
            <a:off x="317709" y="1993923"/>
            <a:ext cx="5245735" cy="582295"/>
          </a:xfrm>
          <a:prstGeom prst="rect">
            <a:avLst/>
          </a:prstGeom>
          <a:noFill/>
        </p:spPr>
        <p:txBody>
          <a:bodyPr wrap="none" lIns="121908" tIns="60954" rIns="121908" bIns="60954" rtlCol="0">
            <a:spAutoFit/>
          </a:bodyPr>
          <a:lstStyle/>
          <a:p>
            <a:pPr algn="l"/>
            <a:r>
              <a:rPr lang="en-US" altLang="zh-CN" sz="1600" b="1" dirty="0">
                <a:solidFill>
                  <a:schemeClr val="tx1">
                    <a:lumMod val="95000"/>
                    <a:lumOff val="5000"/>
                  </a:schemeClr>
                </a:solidFill>
                <a:sym typeface="+mn-ea"/>
              </a:rPr>
              <a:t>S</a:t>
            </a:r>
            <a:r>
              <a:rPr lang="zh-CN" altLang="en-US" sz="1600" b="1" dirty="0">
                <a:solidFill>
                  <a:schemeClr val="tx1">
                    <a:lumMod val="95000"/>
                    <a:lumOff val="5000"/>
                  </a:schemeClr>
                </a:solidFill>
              </a:rPr>
              <a:t>ervice </a:t>
            </a:r>
            <a:r>
              <a:rPr lang="en-US" altLang="zh-CN" sz="1600" b="1" dirty="0">
                <a:solidFill>
                  <a:schemeClr val="tx1">
                    <a:lumMod val="95000"/>
                    <a:lumOff val="5000"/>
                  </a:schemeClr>
                </a:solidFill>
              </a:rPr>
              <a:t>1 </a:t>
            </a:r>
            <a:r>
              <a:rPr lang="zh-CN" altLang="en-US" sz="1600" b="1" dirty="0">
                <a:solidFill>
                  <a:schemeClr val="tx1">
                    <a:lumMod val="95000"/>
                    <a:lumOff val="5000"/>
                  </a:schemeClr>
                </a:solidFill>
                <a:sym typeface="+mn-lt"/>
              </a:rPr>
              <a:t>Bullet Point</a:t>
            </a:r>
            <a:endParaRPr lang="zh-CN" altLang="en-US" sz="1600" b="1" dirty="0">
              <a:solidFill>
                <a:schemeClr val="tx1">
                  <a:lumMod val="95000"/>
                  <a:lumOff val="5000"/>
                </a:schemeClr>
              </a:solidFill>
              <a:sym typeface="+mn-lt"/>
            </a:endParaRPr>
          </a:p>
          <a:p>
            <a:pPr algn="l"/>
            <a:r>
              <a:rPr lang="zh-CN" altLang="en-US" sz="1400" dirty="0">
                <a:solidFill>
                  <a:schemeClr val="bg1">
                    <a:lumMod val="50000"/>
                  </a:schemeClr>
                </a:solidFill>
                <a:sym typeface="+mn-lt"/>
              </a:rPr>
              <a:t>our worry-free 18-month warranty and friendly customer service</a:t>
            </a:r>
            <a:endParaRPr lang="zh-CN" altLang="en-US" sz="1400" dirty="0">
              <a:solidFill>
                <a:schemeClr val="bg1">
                  <a:lumMod val="50000"/>
                </a:schemeClr>
              </a:solidFill>
              <a:sym typeface="+mn-lt"/>
            </a:endParaRPr>
          </a:p>
        </p:txBody>
      </p:sp>
      <p:sp>
        <p:nvSpPr>
          <p:cNvPr id="14" name="Freeform 6"/>
          <p:cNvSpPr>
            <a:spLocks noEditPoints="1"/>
          </p:cNvSpPr>
          <p:nvPr/>
        </p:nvSpPr>
        <p:spPr bwMode="auto">
          <a:xfrm>
            <a:off x="1599883" y="2576195"/>
            <a:ext cx="433705" cy="407035"/>
          </a:xfrm>
          <a:custGeom>
            <a:avLst/>
            <a:gdLst>
              <a:gd name="T0" fmla="*/ 151 w 192"/>
              <a:gd name="T1" fmla="*/ 144 h 180"/>
              <a:gd name="T2" fmla="*/ 132 w 192"/>
              <a:gd name="T3" fmla="*/ 128 h 180"/>
              <a:gd name="T4" fmla="*/ 105 w 192"/>
              <a:gd name="T5" fmla="*/ 128 h 180"/>
              <a:gd name="T6" fmla="*/ 108 w 192"/>
              <a:gd name="T7" fmla="*/ 119 h 180"/>
              <a:gd name="T8" fmla="*/ 138 w 192"/>
              <a:gd name="T9" fmla="*/ 104 h 180"/>
              <a:gd name="T10" fmla="*/ 171 w 192"/>
              <a:gd name="T11" fmla="*/ 104 h 180"/>
              <a:gd name="T12" fmla="*/ 182 w 192"/>
              <a:gd name="T13" fmla="*/ 113 h 180"/>
              <a:gd name="T14" fmla="*/ 192 w 192"/>
              <a:gd name="T15" fmla="*/ 144 h 180"/>
              <a:gd name="T16" fmla="*/ 151 w 192"/>
              <a:gd name="T17" fmla="*/ 144 h 180"/>
              <a:gd name="T18" fmla="*/ 146 w 192"/>
              <a:gd name="T19" fmla="*/ 96 h 180"/>
              <a:gd name="T20" fmla="*/ 141 w 192"/>
              <a:gd name="T21" fmla="*/ 95 h 180"/>
              <a:gd name="T22" fmla="*/ 151 w 192"/>
              <a:gd name="T23" fmla="*/ 63 h 180"/>
              <a:gd name="T24" fmla="*/ 129 w 192"/>
              <a:gd name="T25" fmla="*/ 24 h 180"/>
              <a:gd name="T26" fmla="*/ 182 w 192"/>
              <a:gd name="T27" fmla="*/ 59 h 180"/>
              <a:gd name="T28" fmla="*/ 146 w 192"/>
              <a:gd name="T29" fmla="*/ 96 h 180"/>
              <a:gd name="T30" fmla="*/ 140 w 192"/>
              <a:gd name="T31" fmla="*/ 66 h 180"/>
              <a:gd name="T32" fmla="*/ 94 w 192"/>
              <a:gd name="T33" fmla="*/ 112 h 180"/>
              <a:gd name="T34" fmla="*/ 48 w 192"/>
              <a:gd name="T35" fmla="*/ 66 h 180"/>
              <a:gd name="T36" fmla="*/ 94 w 192"/>
              <a:gd name="T37" fmla="*/ 20 h 180"/>
              <a:gd name="T38" fmla="*/ 140 w 192"/>
              <a:gd name="T39" fmla="*/ 66 h 180"/>
              <a:gd name="T40" fmla="*/ 86 w 192"/>
              <a:gd name="T41" fmla="*/ 33 h 180"/>
              <a:gd name="T42" fmla="*/ 58 w 192"/>
              <a:gd name="T43" fmla="*/ 66 h 180"/>
              <a:gd name="T44" fmla="*/ 94 w 192"/>
              <a:gd name="T45" fmla="*/ 102 h 180"/>
              <a:gd name="T46" fmla="*/ 129 w 192"/>
              <a:gd name="T47" fmla="*/ 66 h 180"/>
              <a:gd name="T48" fmla="*/ 86 w 192"/>
              <a:gd name="T49" fmla="*/ 33 h 180"/>
              <a:gd name="T50" fmla="*/ 60 w 192"/>
              <a:gd name="T51" fmla="*/ 23 h 180"/>
              <a:gd name="T52" fmla="*/ 36 w 192"/>
              <a:gd name="T53" fmla="*/ 63 h 180"/>
              <a:gd name="T54" fmla="*/ 46 w 192"/>
              <a:gd name="T55" fmla="*/ 100 h 180"/>
              <a:gd name="T56" fmla="*/ 46 w 192"/>
              <a:gd name="T57" fmla="*/ 100 h 180"/>
              <a:gd name="T58" fmla="*/ 9 w 192"/>
              <a:gd name="T59" fmla="*/ 59 h 180"/>
              <a:gd name="T60" fmla="*/ 60 w 192"/>
              <a:gd name="T61" fmla="*/ 23 h 180"/>
              <a:gd name="T62" fmla="*/ 23 w 192"/>
              <a:gd name="T63" fmla="*/ 104 h 180"/>
              <a:gd name="T64" fmla="*/ 50 w 192"/>
              <a:gd name="T65" fmla="*/ 104 h 180"/>
              <a:gd name="T66" fmla="*/ 80 w 192"/>
              <a:gd name="T67" fmla="*/ 120 h 180"/>
              <a:gd name="T68" fmla="*/ 82 w 192"/>
              <a:gd name="T69" fmla="*/ 128 h 180"/>
              <a:gd name="T70" fmla="*/ 58 w 192"/>
              <a:gd name="T71" fmla="*/ 128 h 180"/>
              <a:gd name="T72" fmla="*/ 40 w 192"/>
              <a:gd name="T73" fmla="*/ 144 h 180"/>
              <a:gd name="T74" fmla="*/ 0 w 192"/>
              <a:gd name="T75" fmla="*/ 144 h 180"/>
              <a:gd name="T76" fmla="*/ 11 w 192"/>
              <a:gd name="T77" fmla="*/ 113 h 180"/>
              <a:gd name="T78" fmla="*/ 23 w 192"/>
              <a:gd name="T79" fmla="*/ 104 h 180"/>
              <a:gd name="T80" fmla="*/ 65 w 192"/>
              <a:gd name="T81" fmla="*/ 132 h 180"/>
              <a:gd name="T82" fmla="*/ 125 w 192"/>
              <a:gd name="T83" fmla="*/ 132 h 180"/>
              <a:gd name="T84" fmla="*/ 140 w 192"/>
              <a:gd name="T85" fmla="*/ 143 h 180"/>
              <a:gd name="T86" fmla="*/ 152 w 192"/>
              <a:gd name="T87" fmla="*/ 180 h 180"/>
              <a:gd name="T88" fmla="*/ 36 w 192"/>
              <a:gd name="T89" fmla="*/ 180 h 180"/>
              <a:gd name="T90" fmla="*/ 51 w 192"/>
              <a:gd name="T91" fmla="*/ 143 h 180"/>
              <a:gd name="T92" fmla="*/ 65 w 192"/>
              <a:gd name="T93" fmla="*/ 13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92" h="180">
                <a:moveTo>
                  <a:pt x="151" y="144"/>
                </a:moveTo>
                <a:cubicBezTo>
                  <a:pt x="150" y="142"/>
                  <a:pt x="145" y="128"/>
                  <a:pt x="132" y="128"/>
                </a:cubicBezTo>
                <a:cubicBezTo>
                  <a:pt x="105" y="128"/>
                  <a:pt x="105" y="128"/>
                  <a:pt x="105" y="128"/>
                </a:cubicBezTo>
                <a:cubicBezTo>
                  <a:pt x="108" y="119"/>
                  <a:pt x="108" y="119"/>
                  <a:pt x="108" y="119"/>
                </a:cubicBezTo>
                <a:cubicBezTo>
                  <a:pt x="120" y="116"/>
                  <a:pt x="130" y="113"/>
                  <a:pt x="138" y="104"/>
                </a:cubicBezTo>
                <a:cubicBezTo>
                  <a:pt x="171" y="104"/>
                  <a:pt x="171" y="104"/>
                  <a:pt x="171" y="104"/>
                </a:cubicBezTo>
                <a:cubicBezTo>
                  <a:pt x="180" y="104"/>
                  <a:pt x="182" y="113"/>
                  <a:pt x="182" y="113"/>
                </a:cubicBezTo>
                <a:cubicBezTo>
                  <a:pt x="192" y="144"/>
                  <a:pt x="192" y="144"/>
                  <a:pt x="192" y="144"/>
                </a:cubicBezTo>
                <a:lnTo>
                  <a:pt x="151" y="144"/>
                </a:lnTo>
                <a:close/>
                <a:moveTo>
                  <a:pt x="146" y="96"/>
                </a:moveTo>
                <a:cubicBezTo>
                  <a:pt x="144" y="96"/>
                  <a:pt x="143" y="95"/>
                  <a:pt x="141" y="95"/>
                </a:cubicBezTo>
                <a:cubicBezTo>
                  <a:pt x="147" y="86"/>
                  <a:pt x="151" y="75"/>
                  <a:pt x="151" y="63"/>
                </a:cubicBezTo>
                <a:cubicBezTo>
                  <a:pt x="151" y="38"/>
                  <a:pt x="139" y="34"/>
                  <a:pt x="129" y="24"/>
                </a:cubicBezTo>
                <a:cubicBezTo>
                  <a:pt x="102" y="32"/>
                  <a:pt x="182" y="0"/>
                  <a:pt x="182" y="59"/>
                </a:cubicBezTo>
                <a:cubicBezTo>
                  <a:pt x="182" y="79"/>
                  <a:pt x="166" y="96"/>
                  <a:pt x="146" y="96"/>
                </a:cubicBezTo>
                <a:close/>
                <a:moveTo>
                  <a:pt x="140" y="66"/>
                </a:moveTo>
                <a:cubicBezTo>
                  <a:pt x="140" y="92"/>
                  <a:pt x="119" y="112"/>
                  <a:pt x="94" y="112"/>
                </a:cubicBezTo>
                <a:cubicBezTo>
                  <a:pt x="68" y="112"/>
                  <a:pt x="48" y="92"/>
                  <a:pt x="48" y="66"/>
                </a:cubicBezTo>
                <a:cubicBezTo>
                  <a:pt x="48" y="41"/>
                  <a:pt x="68" y="20"/>
                  <a:pt x="94" y="20"/>
                </a:cubicBezTo>
                <a:cubicBezTo>
                  <a:pt x="119" y="20"/>
                  <a:pt x="140" y="41"/>
                  <a:pt x="140" y="66"/>
                </a:cubicBezTo>
                <a:close/>
                <a:moveTo>
                  <a:pt x="86" y="33"/>
                </a:moveTo>
                <a:cubicBezTo>
                  <a:pt x="72" y="38"/>
                  <a:pt x="89" y="56"/>
                  <a:pt x="58" y="66"/>
                </a:cubicBezTo>
                <a:cubicBezTo>
                  <a:pt x="58" y="86"/>
                  <a:pt x="74" y="102"/>
                  <a:pt x="94" y="102"/>
                </a:cubicBezTo>
                <a:cubicBezTo>
                  <a:pt x="113" y="102"/>
                  <a:pt x="129" y="86"/>
                  <a:pt x="129" y="66"/>
                </a:cubicBezTo>
                <a:cubicBezTo>
                  <a:pt x="111" y="52"/>
                  <a:pt x="81" y="58"/>
                  <a:pt x="86" y="33"/>
                </a:cubicBezTo>
                <a:close/>
                <a:moveTo>
                  <a:pt x="60" y="23"/>
                </a:moveTo>
                <a:cubicBezTo>
                  <a:pt x="50" y="33"/>
                  <a:pt x="36" y="41"/>
                  <a:pt x="36" y="63"/>
                </a:cubicBezTo>
                <a:cubicBezTo>
                  <a:pt x="36" y="75"/>
                  <a:pt x="40" y="90"/>
                  <a:pt x="46" y="100"/>
                </a:cubicBezTo>
                <a:cubicBezTo>
                  <a:pt x="46" y="100"/>
                  <a:pt x="46" y="100"/>
                  <a:pt x="46" y="100"/>
                </a:cubicBezTo>
                <a:cubicBezTo>
                  <a:pt x="26" y="100"/>
                  <a:pt x="9" y="79"/>
                  <a:pt x="9" y="59"/>
                </a:cubicBezTo>
                <a:cubicBezTo>
                  <a:pt x="9" y="3"/>
                  <a:pt x="90" y="29"/>
                  <a:pt x="60" y="23"/>
                </a:cubicBezTo>
                <a:close/>
                <a:moveTo>
                  <a:pt x="23" y="104"/>
                </a:moveTo>
                <a:cubicBezTo>
                  <a:pt x="50" y="104"/>
                  <a:pt x="50" y="104"/>
                  <a:pt x="50" y="104"/>
                </a:cubicBezTo>
                <a:cubicBezTo>
                  <a:pt x="59" y="115"/>
                  <a:pt x="66" y="118"/>
                  <a:pt x="80" y="120"/>
                </a:cubicBezTo>
                <a:cubicBezTo>
                  <a:pt x="82" y="128"/>
                  <a:pt x="82" y="128"/>
                  <a:pt x="82" y="128"/>
                </a:cubicBezTo>
                <a:cubicBezTo>
                  <a:pt x="58" y="128"/>
                  <a:pt x="58" y="128"/>
                  <a:pt x="58" y="128"/>
                </a:cubicBezTo>
                <a:cubicBezTo>
                  <a:pt x="45" y="128"/>
                  <a:pt x="41" y="142"/>
                  <a:pt x="40" y="144"/>
                </a:cubicBezTo>
                <a:cubicBezTo>
                  <a:pt x="0" y="144"/>
                  <a:pt x="0" y="144"/>
                  <a:pt x="0" y="144"/>
                </a:cubicBezTo>
                <a:cubicBezTo>
                  <a:pt x="11" y="113"/>
                  <a:pt x="11" y="113"/>
                  <a:pt x="11" y="113"/>
                </a:cubicBezTo>
                <a:cubicBezTo>
                  <a:pt x="11" y="113"/>
                  <a:pt x="14" y="104"/>
                  <a:pt x="23" y="104"/>
                </a:cubicBezTo>
                <a:close/>
                <a:moveTo>
                  <a:pt x="65" y="132"/>
                </a:moveTo>
                <a:cubicBezTo>
                  <a:pt x="125" y="132"/>
                  <a:pt x="125" y="132"/>
                  <a:pt x="125" y="132"/>
                </a:cubicBezTo>
                <a:cubicBezTo>
                  <a:pt x="136" y="132"/>
                  <a:pt x="140" y="143"/>
                  <a:pt x="140" y="143"/>
                </a:cubicBezTo>
                <a:cubicBezTo>
                  <a:pt x="152" y="180"/>
                  <a:pt x="152" y="180"/>
                  <a:pt x="152" y="180"/>
                </a:cubicBezTo>
                <a:cubicBezTo>
                  <a:pt x="36" y="180"/>
                  <a:pt x="36" y="180"/>
                  <a:pt x="36" y="180"/>
                </a:cubicBezTo>
                <a:cubicBezTo>
                  <a:pt x="51" y="143"/>
                  <a:pt x="51" y="143"/>
                  <a:pt x="51" y="143"/>
                </a:cubicBezTo>
                <a:cubicBezTo>
                  <a:pt x="51" y="143"/>
                  <a:pt x="54" y="132"/>
                  <a:pt x="65" y="13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矩形 20"/>
          <p:cNvSpPr/>
          <p:nvPr/>
        </p:nvSpPr>
        <p:spPr>
          <a:xfrm rot="1620000">
            <a:off x="7947978"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23" name="TextBox 6"/>
          <p:cNvSpPr txBox="1"/>
          <p:nvPr/>
        </p:nvSpPr>
        <p:spPr>
          <a:xfrm>
            <a:off x="360363" y="3586480"/>
            <a:ext cx="5196840" cy="1012825"/>
          </a:xfrm>
          <a:prstGeom prst="rect">
            <a:avLst/>
          </a:prstGeom>
          <a:noFill/>
        </p:spPr>
        <p:txBody>
          <a:bodyPr wrap="square" lIns="121908" tIns="60954" rIns="121908" bIns="60954" rtlCol="0">
            <a:spAutoFit/>
          </a:bodyPr>
          <a:p>
            <a:pPr algn="l"/>
            <a:r>
              <a:rPr lang="en-US" altLang="zh-CN" sz="1600" b="1" dirty="0">
                <a:solidFill>
                  <a:schemeClr val="tx1">
                    <a:lumMod val="95000"/>
                    <a:lumOff val="5000"/>
                  </a:schemeClr>
                </a:solidFill>
                <a:sym typeface="+mn-ea"/>
              </a:rPr>
              <a:t>S</a:t>
            </a:r>
            <a:r>
              <a:rPr lang="zh-CN" altLang="en-US" sz="1600" b="1" dirty="0">
                <a:solidFill>
                  <a:schemeClr val="tx1">
                    <a:lumMod val="95000"/>
                    <a:lumOff val="5000"/>
                  </a:schemeClr>
                </a:solidFill>
              </a:rPr>
              <a:t>ervice </a:t>
            </a:r>
            <a:r>
              <a:rPr lang="en-US" altLang="zh-CN" sz="1600" b="1" dirty="0">
                <a:solidFill>
                  <a:schemeClr val="tx1">
                    <a:lumMod val="95000"/>
                    <a:lumOff val="5000"/>
                  </a:schemeClr>
                </a:solidFill>
              </a:rPr>
              <a:t>2 Description Worry-Free Warranty</a:t>
            </a:r>
            <a:endParaRPr lang="en-US" altLang="zh-CN" sz="1600" b="1" dirty="0">
              <a:solidFill>
                <a:schemeClr val="tx1">
                  <a:lumMod val="95000"/>
                  <a:lumOff val="5000"/>
                </a:schemeClr>
              </a:solidFill>
            </a:endParaRPr>
          </a:p>
          <a:p>
            <a:pPr algn="l"/>
            <a:r>
              <a:rPr lang="en-US" altLang="zh-CN" sz="1400" dirty="0">
                <a:solidFill>
                  <a:schemeClr val="bg1">
                    <a:lumMod val="50000"/>
                  </a:schemeClr>
                </a:solidFill>
              </a:rPr>
              <a:t>At Anker, we believe in our products. That's why we back them all with an 18-month warranty and provide friendly, easy-to-reach support.</a:t>
            </a:r>
            <a:endParaRPr lang="en-US" altLang="zh-CN" sz="1400" dirty="0">
              <a:solidFill>
                <a:schemeClr val="bg1">
                  <a:lumMod val="50000"/>
                </a:schemeClr>
              </a:solidFill>
            </a:endParaRPr>
          </a:p>
        </p:txBody>
      </p:sp>
      <p:pic>
        <p:nvPicPr>
          <p:cNvPr id="26" name="图片 25"/>
          <p:cNvPicPr>
            <a:picLocks noChangeAspect="1"/>
          </p:cNvPicPr>
          <p:nvPr/>
        </p:nvPicPr>
        <p:blipFill>
          <a:blip r:embed="rId1"/>
          <a:stretch>
            <a:fillRect/>
          </a:stretch>
        </p:blipFill>
        <p:spPr>
          <a:xfrm>
            <a:off x="6009958" y="1410970"/>
            <a:ext cx="4488815" cy="1647825"/>
          </a:xfrm>
          <a:prstGeom prst="rect">
            <a:avLst/>
          </a:prstGeom>
        </p:spPr>
      </p:pic>
      <p:pic>
        <p:nvPicPr>
          <p:cNvPr id="27" name="图片 26"/>
          <p:cNvPicPr>
            <a:picLocks noChangeAspect="1"/>
          </p:cNvPicPr>
          <p:nvPr/>
        </p:nvPicPr>
        <p:blipFill>
          <a:blip r:embed="rId2"/>
          <a:stretch>
            <a:fillRect/>
          </a:stretch>
        </p:blipFill>
        <p:spPr>
          <a:xfrm>
            <a:off x="6009958" y="3126105"/>
            <a:ext cx="4488815" cy="1934210"/>
          </a:xfrm>
          <a:prstGeom prst="rect">
            <a:avLst/>
          </a:prstGeom>
        </p:spPr>
      </p:pic>
      <p:pic>
        <p:nvPicPr>
          <p:cNvPr id="28" name="图片 27"/>
          <p:cNvPicPr>
            <a:picLocks noChangeAspect="1"/>
          </p:cNvPicPr>
          <p:nvPr/>
        </p:nvPicPr>
        <p:blipFill>
          <a:blip r:embed="rId3"/>
          <a:stretch>
            <a:fillRect/>
          </a:stretch>
        </p:blipFill>
        <p:spPr>
          <a:xfrm>
            <a:off x="6009958" y="5311775"/>
            <a:ext cx="4488815" cy="740410"/>
          </a:xfrm>
          <a:prstGeom prst="rect">
            <a:avLst/>
          </a:prstGeom>
        </p:spPr>
      </p:pic>
      <p:sp>
        <p:nvSpPr>
          <p:cNvPr id="29" name="TextBox 6"/>
          <p:cNvSpPr txBox="1"/>
          <p:nvPr/>
        </p:nvSpPr>
        <p:spPr>
          <a:xfrm>
            <a:off x="402273" y="5391150"/>
            <a:ext cx="5112385" cy="582295"/>
          </a:xfrm>
          <a:prstGeom prst="rect">
            <a:avLst/>
          </a:prstGeom>
          <a:noFill/>
        </p:spPr>
        <p:txBody>
          <a:bodyPr wrap="square" lIns="121908" tIns="60954" rIns="121908" bIns="60954" rtlCol="0">
            <a:spAutoFit/>
          </a:bodyPr>
          <a:p>
            <a:pPr algn="l"/>
            <a:r>
              <a:rPr lang="en-US" altLang="zh-CN" sz="1600" b="1" dirty="0">
                <a:solidFill>
                  <a:schemeClr val="tx1">
                    <a:lumMod val="95000"/>
                    <a:lumOff val="5000"/>
                  </a:schemeClr>
                </a:solidFill>
                <a:sym typeface="+mn-ea"/>
              </a:rPr>
              <a:t>S</a:t>
            </a:r>
            <a:r>
              <a:rPr lang="zh-CN" altLang="en-US" sz="1600" b="1" dirty="0">
                <a:solidFill>
                  <a:schemeClr val="tx1">
                    <a:lumMod val="95000"/>
                    <a:lumOff val="5000"/>
                  </a:schemeClr>
                </a:solidFill>
              </a:rPr>
              <a:t>ervice </a:t>
            </a:r>
            <a:r>
              <a:rPr lang="en-US" altLang="zh-CN" sz="1600" b="1" dirty="0">
                <a:solidFill>
                  <a:schemeClr val="tx1">
                    <a:lumMod val="95000"/>
                    <a:lumOff val="5000"/>
                  </a:schemeClr>
                </a:solidFill>
              </a:rPr>
              <a:t>3 </a:t>
            </a:r>
            <a:r>
              <a:rPr lang="zh-CN" altLang="en-US" sz="1600" b="1" dirty="0">
                <a:solidFill>
                  <a:schemeClr val="tx1">
                    <a:lumMod val="95000"/>
                    <a:lumOff val="5000"/>
                  </a:schemeClr>
                </a:solidFill>
                <a:sym typeface="+mn-lt"/>
              </a:rPr>
              <a:t>Product Information</a:t>
            </a:r>
            <a:endParaRPr lang="zh-CN" altLang="en-US" sz="1600" b="1" dirty="0">
              <a:solidFill>
                <a:schemeClr val="tx1">
                  <a:lumMod val="95000"/>
                  <a:lumOff val="5000"/>
                </a:schemeClr>
              </a:solidFill>
              <a:sym typeface="+mn-lt"/>
            </a:endParaRPr>
          </a:p>
          <a:p>
            <a:pPr algn="l"/>
            <a:r>
              <a:rPr lang="zh-CN" altLang="en-US" sz="1400" dirty="0">
                <a:solidFill>
                  <a:schemeClr val="bg1">
                    <a:lumMod val="50000"/>
                  </a:schemeClr>
                </a:solidFill>
                <a:sym typeface="+mn-lt"/>
              </a:rPr>
              <a:t>后台编辑 产品尺寸 重量 保修服务 Product Warranty</a:t>
            </a:r>
            <a:endParaRPr lang="zh-CN" altLang="en-US" sz="1400" dirty="0">
              <a:solidFill>
                <a:schemeClr val="bg1">
                  <a:lumMod val="50000"/>
                </a:schemeClr>
              </a:solidFill>
              <a:sym typeface="+mn-lt"/>
            </a:endParaRPr>
          </a:p>
        </p:txBody>
      </p:sp>
      <p:sp>
        <p:nvSpPr>
          <p:cNvPr id="3" name="矩形 2"/>
          <p:cNvSpPr/>
          <p:nvPr/>
        </p:nvSpPr>
        <p:spPr>
          <a:xfrm>
            <a:off x="-19685" y="756172"/>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
        <p:nvSpPr>
          <p:cNvPr id="4" name="矩形 3"/>
          <p:cNvSpPr/>
          <p:nvPr/>
        </p:nvSpPr>
        <p:spPr>
          <a:xfrm flipV="1">
            <a:off x="1081" y="537"/>
            <a:ext cx="12189839" cy="9548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D6B16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3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up)">
                                      <p:cBhvr>
                                        <p:cTn id="11" dur="300"/>
                                        <p:tgtEl>
                                          <p:spTgt spid="23"/>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up)">
                                      <p:cBhvr>
                                        <p:cTn id="15" dur="3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3" grpId="0"/>
      <p:bldP spid="2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6"/>
          <p:cNvSpPr>
            <a:spLocks noEditPoints="1"/>
          </p:cNvSpPr>
          <p:nvPr/>
        </p:nvSpPr>
        <p:spPr bwMode="auto">
          <a:xfrm>
            <a:off x="1599883" y="2576195"/>
            <a:ext cx="433705" cy="407035"/>
          </a:xfrm>
          <a:custGeom>
            <a:avLst/>
            <a:gdLst>
              <a:gd name="T0" fmla="*/ 151 w 192"/>
              <a:gd name="T1" fmla="*/ 144 h 180"/>
              <a:gd name="T2" fmla="*/ 132 w 192"/>
              <a:gd name="T3" fmla="*/ 128 h 180"/>
              <a:gd name="T4" fmla="*/ 105 w 192"/>
              <a:gd name="T5" fmla="*/ 128 h 180"/>
              <a:gd name="T6" fmla="*/ 108 w 192"/>
              <a:gd name="T7" fmla="*/ 119 h 180"/>
              <a:gd name="T8" fmla="*/ 138 w 192"/>
              <a:gd name="T9" fmla="*/ 104 h 180"/>
              <a:gd name="T10" fmla="*/ 171 w 192"/>
              <a:gd name="T11" fmla="*/ 104 h 180"/>
              <a:gd name="T12" fmla="*/ 182 w 192"/>
              <a:gd name="T13" fmla="*/ 113 h 180"/>
              <a:gd name="T14" fmla="*/ 192 w 192"/>
              <a:gd name="T15" fmla="*/ 144 h 180"/>
              <a:gd name="T16" fmla="*/ 151 w 192"/>
              <a:gd name="T17" fmla="*/ 144 h 180"/>
              <a:gd name="T18" fmla="*/ 146 w 192"/>
              <a:gd name="T19" fmla="*/ 96 h 180"/>
              <a:gd name="T20" fmla="*/ 141 w 192"/>
              <a:gd name="T21" fmla="*/ 95 h 180"/>
              <a:gd name="T22" fmla="*/ 151 w 192"/>
              <a:gd name="T23" fmla="*/ 63 h 180"/>
              <a:gd name="T24" fmla="*/ 129 w 192"/>
              <a:gd name="T25" fmla="*/ 24 h 180"/>
              <a:gd name="T26" fmla="*/ 182 w 192"/>
              <a:gd name="T27" fmla="*/ 59 h 180"/>
              <a:gd name="T28" fmla="*/ 146 w 192"/>
              <a:gd name="T29" fmla="*/ 96 h 180"/>
              <a:gd name="T30" fmla="*/ 140 w 192"/>
              <a:gd name="T31" fmla="*/ 66 h 180"/>
              <a:gd name="T32" fmla="*/ 94 w 192"/>
              <a:gd name="T33" fmla="*/ 112 h 180"/>
              <a:gd name="T34" fmla="*/ 48 w 192"/>
              <a:gd name="T35" fmla="*/ 66 h 180"/>
              <a:gd name="T36" fmla="*/ 94 w 192"/>
              <a:gd name="T37" fmla="*/ 20 h 180"/>
              <a:gd name="T38" fmla="*/ 140 w 192"/>
              <a:gd name="T39" fmla="*/ 66 h 180"/>
              <a:gd name="T40" fmla="*/ 86 w 192"/>
              <a:gd name="T41" fmla="*/ 33 h 180"/>
              <a:gd name="T42" fmla="*/ 58 w 192"/>
              <a:gd name="T43" fmla="*/ 66 h 180"/>
              <a:gd name="T44" fmla="*/ 94 w 192"/>
              <a:gd name="T45" fmla="*/ 102 h 180"/>
              <a:gd name="T46" fmla="*/ 129 w 192"/>
              <a:gd name="T47" fmla="*/ 66 h 180"/>
              <a:gd name="T48" fmla="*/ 86 w 192"/>
              <a:gd name="T49" fmla="*/ 33 h 180"/>
              <a:gd name="T50" fmla="*/ 60 w 192"/>
              <a:gd name="T51" fmla="*/ 23 h 180"/>
              <a:gd name="T52" fmla="*/ 36 w 192"/>
              <a:gd name="T53" fmla="*/ 63 h 180"/>
              <a:gd name="T54" fmla="*/ 46 w 192"/>
              <a:gd name="T55" fmla="*/ 100 h 180"/>
              <a:gd name="T56" fmla="*/ 46 w 192"/>
              <a:gd name="T57" fmla="*/ 100 h 180"/>
              <a:gd name="T58" fmla="*/ 9 w 192"/>
              <a:gd name="T59" fmla="*/ 59 h 180"/>
              <a:gd name="T60" fmla="*/ 60 w 192"/>
              <a:gd name="T61" fmla="*/ 23 h 180"/>
              <a:gd name="T62" fmla="*/ 23 w 192"/>
              <a:gd name="T63" fmla="*/ 104 h 180"/>
              <a:gd name="T64" fmla="*/ 50 w 192"/>
              <a:gd name="T65" fmla="*/ 104 h 180"/>
              <a:gd name="T66" fmla="*/ 80 w 192"/>
              <a:gd name="T67" fmla="*/ 120 h 180"/>
              <a:gd name="T68" fmla="*/ 82 w 192"/>
              <a:gd name="T69" fmla="*/ 128 h 180"/>
              <a:gd name="T70" fmla="*/ 58 w 192"/>
              <a:gd name="T71" fmla="*/ 128 h 180"/>
              <a:gd name="T72" fmla="*/ 40 w 192"/>
              <a:gd name="T73" fmla="*/ 144 h 180"/>
              <a:gd name="T74" fmla="*/ 0 w 192"/>
              <a:gd name="T75" fmla="*/ 144 h 180"/>
              <a:gd name="T76" fmla="*/ 11 w 192"/>
              <a:gd name="T77" fmla="*/ 113 h 180"/>
              <a:gd name="T78" fmla="*/ 23 w 192"/>
              <a:gd name="T79" fmla="*/ 104 h 180"/>
              <a:gd name="T80" fmla="*/ 65 w 192"/>
              <a:gd name="T81" fmla="*/ 132 h 180"/>
              <a:gd name="T82" fmla="*/ 125 w 192"/>
              <a:gd name="T83" fmla="*/ 132 h 180"/>
              <a:gd name="T84" fmla="*/ 140 w 192"/>
              <a:gd name="T85" fmla="*/ 143 h 180"/>
              <a:gd name="T86" fmla="*/ 152 w 192"/>
              <a:gd name="T87" fmla="*/ 180 h 180"/>
              <a:gd name="T88" fmla="*/ 36 w 192"/>
              <a:gd name="T89" fmla="*/ 180 h 180"/>
              <a:gd name="T90" fmla="*/ 51 w 192"/>
              <a:gd name="T91" fmla="*/ 143 h 180"/>
              <a:gd name="T92" fmla="*/ 65 w 192"/>
              <a:gd name="T93" fmla="*/ 13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92" h="180">
                <a:moveTo>
                  <a:pt x="151" y="144"/>
                </a:moveTo>
                <a:cubicBezTo>
                  <a:pt x="150" y="142"/>
                  <a:pt x="145" y="128"/>
                  <a:pt x="132" y="128"/>
                </a:cubicBezTo>
                <a:cubicBezTo>
                  <a:pt x="105" y="128"/>
                  <a:pt x="105" y="128"/>
                  <a:pt x="105" y="128"/>
                </a:cubicBezTo>
                <a:cubicBezTo>
                  <a:pt x="108" y="119"/>
                  <a:pt x="108" y="119"/>
                  <a:pt x="108" y="119"/>
                </a:cubicBezTo>
                <a:cubicBezTo>
                  <a:pt x="120" y="116"/>
                  <a:pt x="130" y="113"/>
                  <a:pt x="138" y="104"/>
                </a:cubicBezTo>
                <a:cubicBezTo>
                  <a:pt x="171" y="104"/>
                  <a:pt x="171" y="104"/>
                  <a:pt x="171" y="104"/>
                </a:cubicBezTo>
                <a:cubicBezTo>
                  <a:pt x="180" y="104"/>
                  <a:pt x="182" y="113"/>
                  <a:pt x="182" y="113"/>
                </a:cubicBezTo>
                <a:cubicBezTo>
                  <a:pt x="192" y="144"/>
                  <a:pt x="192" y="144"/>
                  <a:pt x="192" y="144"/>
                </a:cubicBezTo>
                <a:lnTo>
                  <a:pt x="151" y="144"/>
                </a:lnTo>
                <a:close/>
                <a:moveTo>
                  <a:pt x="146" y="96"/>
                </a:moveTo>
                <a:cubicBezTo>
                  <a:pt x="144" y="96"/>
                  <a:pt x="143" y="95"/>
                  <a:pt x="141" y="95"/>
                </a:cubicBezTo>
                <a:cubicBezTo>
                  <a:pt x="147" y="86"/>
                  <a:pt x="151" y="75"/>
                  <a:pt x="151" y="63"/>
                </a:cubicBezTo>
                <a:cubicBezTo>
                  <a:pt x="151" y="38"/>
                  <a:pt x="139" y="34"/>
                  <a:pt x="129" y="24"/>
                </a:cubicBezTo>
                <a:cubicBezTo>
                  <a:pt x="102" y="32"/>
                  <a:pt x="182" y="0"/>
                  <a:pt x="182" y="59"/>
                </a:cubicBezTo>
                <a:cubicBezTo>
                  <a:pt x="182" y="79"/>
                  <a:pt x="166" y="96"/>
                  <a:pt x="146" y="96"/>
                </a:cubicBezTo>
                <a:close/>
                <a:moveTo>
                  <a:pt x="140" y="66"/>
                </a:moveTo>
                <a:cubicBezTo>
                  <a:pt x="140" y="92"/>
                  <a:pt x="119" y="112"/>
                  <a:pt x="94" y="112"/>
                </a:cubicBezTo>
                <a:cubicBezTo>
                  <a:pt x="68" y="112"/>
                  <a:pt x="48" y="92"/>
                  <a:pt x="48" y="66"/>
                </a:cubicBezTo>
                <a:cubicBezTo>
                  <a:pt x="48" y="41"/>
                  <a:pt x="68" y="20"/>
                  <a:pt x="94" y="20"/>
                </a:cubicBezTo>
                <a:cubicBezTo>
                  <a:pt x="119" y="20"/>
                  <a:pt x="140" y="41"/>
                  <a:pt x="140" y="66"/>
                </a:cubicBezTo>
                <a:close/>
                <a:moveTo>
                  <a:pt x="86" y="33"/>
                </a:moveTo>
                <a:cubicBezTo>
                  <a:pt x="72" y="38"/>
                  <a:pt x="89" y="56"/>
                  <a:pt x="58" y="66"/>
                </a:cubicBezTo>
                <a:cubicBezTo>
                  <a:pt x="58" y="86"/>
                  <a:pt x="74" y="102"/>
                  <a:pt x="94" y="102"/>
                </a:cubicBezTo>
                <a:cubicBezTo>
                  <a:pt x="113" y="102"/>
                  <a:pt x="129" y="86"/>
                  <a:pt x="129" y="66"/>
                </a:cubicBezTo>
                <a:cubicBezTo>
                  <a:pt x="111" y="52"/>
                  <a:pt x="81" y="58"/>
                  <a:pt x="86" y="33"/>
                </a:cubicBezTo>
                <a:close/>
                <a:moveTo>
                  <a:pt x="60" y="23"/>
                </a:moveTo>
                <a:cubicBezTo>
                  <a:pt x="50" y="33"/>
                  <a:pt x="36" y="41"/>
                  <a:pt x="36" y="63"/>
                </a:cubicBezTo>
                <a:cubicBezTo>
                  <a:pt x="36" y="75"/>
                  <a:pt x="40" y="90"/>
                  <a:pt x="46" y="100"/>
                </a:cubicBezTo>
                <a:cubicBezTo>
                  <a:pt x="46" y="100"/>
                  <a:pt x="46" y="100"/>
                  <a:pt x="46" y="100"/>
                </a:cubicBezTo>
                <a:cubicBezTo>
                  <a:pt x="26" y="100"/>
                  <a:pt x="9" y="79"/>
                  <a:pt x="9" y="59"/>
                </a:cubicBezTo>
                <a:cubicBezTo>
                  <a:pt x="9" y="3"/>
                  <a:pt x="90" y="29"/>
                  <a:pt x="60" y="23"/>
                </a:cubicBezTo>
                <a:close/>
                <a:moveTo>
                  <a:pt x="23" y="104"/>
                </a:moveTo>
                <a:cubicBezTo>
                  <a:pt x="50" y="104"/>
                  <a:pt x="50" y="104"/>
                  <a:pt x="50" y="104"/>
                </a:cubicBezTo>
                <a:cubicBezTo>
                  <a:pt x="59" y="115"/>
                  <a:pt x="66" y="118"/>
                  <a:pt x="80" y="120"/>
                </a:cubicBezTo>
                <a:cubicBezTo>
                  <a:pt x="82" y="128"/>
                  <a:pt x="82" y="128"/>
                  <a:pt x="82" y="128"/>
                </a:cubicBezTo>
                <a:cubicBezTo>
                  <a:pt x="58" y="128"/>
                  <a:pt x="58" y="128"/>
                  <a:pt x="58" y="128"/>
                </a:cubicBezTo>
                <a:cubicBezTo>
                  <a:pt x="45" y="128"/>
                  <a:pt x="41" y="142"/>
                  <a:pt x="40" y="144"/>
                </a:cubicBezTo>
                <a:cubicBezTo>
                  <a:pt x="0" y="144"/>
                  <a:pt x="0" y="144"/>
                  <a:pt x="0" y="144"/>
                </a:cubicBezTo>
                <a:cubicBezTo>
                  <a:pt x="11" y="113"/>
                  <a:pt x="11" y="113"/>
                  <a:pt x="11" y="113"/>
                </a:cubicBezTo>
                <a:cubicBezTo>
                  <a:pt x="11" y="113"/>
                  <a:pt x="14" y="104"/>
                  <a:pt x="23" y="104"/>
                </a:cubicBezTo>
                <a:close/>
                <a:moveTo>
                  <a:pt x="65" y="132"/>
                </a:moveTo>
                <a:cubicBezTo>
                  <a:pt x="125" y="132"/>
                  <a:pt x="125" y="132"/>
                  <a:pt x="125" y="132"/>
                </a:cubicBezTo>
                <a:cubicBezTo>
                  <a:pt x="136" y="132"/>
                  <a:pt x="140" y="143"/>
                  <a:pt x="140" y="143"/>
                </a:cubicBezTo>
                <a:cubicBezTo>
                  <a:pt x="152" y="180"/>
                  <a:pt x="152" y="180"/>
                  <a:pt x="152" y="180"/>
                </a:cubicBezTo>
                <a:cubicBezTo>
                  <a:pt x="36" y="180"/>
                  <a:pt x="36" y="180"/>
                  <a:pt x="36" y="180"/>
                </a:cubicBezTo>
                <a:cubicBezTo>
                  <a:pt x="51" y="143"/>
                  <a:pt x="51" y="143"/>
                  <a:pt x="51" y="143"/>
                </a:cubicBezTo>
                <a:cubicBezTo>
                  <a:pt x="51" y="143"/>
                  <a:pt x="54" y="132"/>
                  <a:pt x="65" y="13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矩形 20"/>
          <p:cNvSpPr/>
          <p:nvPr/>
        </p:nvSpPr>
        <p:spPr>
          <a:xfrm rot="1620000">
            <a:off x="7947978"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
        <p:nvSpPr>
          <p:cNvPr id="30" name="TextBox 6"/>
          <p:cNvSpPr txBox="1"/>
          <p:nvPr/>
        </p:nvSpPr>
        <p:spPr>
          <a:xfrm>
            <a:off x="572453" y="1711960"/>
            <a:ext cx="5112385" cy="797560"/>
          </a:xfrm>
          <a:prstGeom prst="rect">
            <a:avLst/>
          </a:prstGeom>
          <a:noFill/>
        </p:spPr>
        <p:txBody>
          <a:bodyPr wrap="square" lIns="121908" tIns="60954" rIns="121908" bIns="60954" rtlCol="0">
            <a:spAutoFit/>
          </a:bodyPr>
          <a:p>
            <a:pPr algn="l"/>
            <a:r>
              <a:rPr lang="en-US" altLang="zh-CN" sz="1600" b="1" dirty="0">
                <a:solidFill>
                  <a:schemeClr val="tx1">
                    <a:lumMod val="95000"/>
                    <a:lumOff val="5000"/>
                  </a:schemeClr>
                </a:solidFill>
              </a:rPr>
              <a:t>S</a:t>
            </a:r>
            <a:r>
              <a:rPr lang="zh-CN" altLang="en-US" sz="1600" b="1" dirty="0">
                <a:solidFill>
                  <a:schemeClr val="tx1">
                    <a:lumMod val="95000"/>
                    <a:lumOff val="5000"/>
                  </a:schemeClr>
                </a:solidFill>
              </a:rPr>
              <a:t>ervice </a:t>
            </a:r>
            <a:r>
              <a:rPr lang="en-US" altLang="zh-CN" sz="1600" b="1" dirty="0">
                <a:solidFill>
                  <a:schemeClr val="tx1">
                    <a:lumMod val="95000"/>
                    <a:lumOff val="5000"/>
                  </a:schemeClr>
                </a:solidFill>
              </a:rPr>
              <a:t>4 </a:t>
            </a:r>
            <a:r>
              <a:rPr lang="zh-CN" altLang="en-US" sz="1600" b="1" dirty="0">
                <a:solidFill>
                  <a:schemeClr val="tx1">
                    <a:lumMod val="95000"/>
                    <a:lumOff val="5000"/>
                  </a:schemeClr>
                </a:solidFill>
                <a:sym typeface="+mn-lt"/>
              </a:rPr>
              <a:t>Questions &amp; Answers</a:t>
            </a:r>
            <a:endParaRPr lang="zh-CN" altLang="en-US" sz="1600" b="1" dirty="0">
              <a:solidFill>
                <a:schemeClr val="tx1">
                  <a:lumMod val="95000"/>
                  <a:lumOff val="5000"/>
                </a:schemeClr>
              </a:solidFill>
              <a:sym typeface="+mn-lt"/>
            </a:endParaRPr>
          </a:p>
          <a:p>
            <a:pPr algn="l"/>
            <a:r>
              <a:rPr lang="zh-CN" altLang="en-US" sz="1400" dirty="0">
                <a:solidFill>
                  <a:schemeClr val="bg1">
                    <a:lumMod val="50000"/>
                  </a:schemeClr>
                </a:solidFill>
                <a:sym typeface="+mn-lt"/>
              </a:rPr>
              <a:t>Votes 投票排序</a:t>
            </a:r>
            <a:endParaRPr lang="zh-CN" altLang="en-US" sz="1400" dirty="0">
              <a:solidFill>
                <a:schemeClr val="bg1">
                  <a:lumMod val="50000"/>
                </a:schemeClr>
              </a:solidFill>
              <a:sym typeface="+mn-lt"/>
            </a:endParaRPr>
          </a:p>
          <a:p>
            <a:pPr algn="l"/>
            <a:r>
              <a:rPr lang="zh-CN" altLang="en-US" sz="1400" dirty="0">
                <a:solidFill>
                  <a:schemeClr val="bg1">
                    <a:lumMod val="50000"/>
                  </a:schemeClr>
                </a:solidFill>
                <a:sym typeface="+mn-lt"/>
              </a:rPr>
              <a:t>服务搜索框</a:t>
            </a:r>
            <a:endParaRPr lang="zh-CN" altLang="en-US" sz="1400" dirty="0">
              <a:solidFill>
                <a:schemeClr val="bg1">
                  <a:lumMod val="50000"/>
                </a:schemeClr>
              </a:solidFill>
              <a:sym typeface="+mn-lt"/>
            </a:endParaRPr>
          </a:p>
        </p:txBody>
      </p:sp>
      <p:sp>
        <p:nvSpPr>
          <p:cNvPr id="3" name="TextBox 6"/>
          <p:cNvSpPr txBox="1"/>
          <p:nvPr/>
        </p:nvSpPr>
        <p:spPr>
          <a:xfrm>
            <a:off x="572453" y="3293110"/>
            <a:ext cx="5112385" cy="1012825"/>
          </a:xfrm>
          <a:prstGeom prst="rect">
            <a:avLst/>
          </a:prstGeom>
          <a:noFill/>
        </p:spPr>
        <p:txBody>
          <a:bodyPr wrap="square" lIns="121908" tIns="60954" rIns="121908" bIns="60954" rtlCol="0">
            <a:spAutoFit/>
          </a:bodyPr>
          <a:p>
            <a:pPr algn="l"/>
            <a:r>
              <a:rPr lang="en-US" altLang="zh-CN" sz="1600" b="1" dirty="0">
                <a:solidFill>
                  <a:schemeClr val="tx1">
                    <a:lumMod val="95000"/>
                    <a:lumOff val="5000"/>
                  </a:schemeClr>
                </a:solidFill>
                <a:sym typeface="+mn-ea"/>
              </a:rPr>
              <a:t>S</a:t>
            </a:r>
            <a:r>
              <a:rPr lang="zh-CN" altLang="en-US" sz="1600" b="1" dirty="0">
                <a:solidFill>
                  <a:schemeClr val="tx1">
                    <a:lumMod val="95000"/>
                    <a:lumOff val="5000"/>
                  </a:schemeClr>
                </a:solidFill>
              </a:rPr>
              <a:t>ervice </a:t>
            </a:r>
            <a:r>
              <a:rPr lang="en-US" altLang="zh-CN" sz="1600" b="1" dirty="0">
                <a:solidFill>
                  <a:schemeClr val="tx1">
                    <a:lumMod val="95000"/>
                    <a:lumOff val="5000"/>
                  </a:schemeClr>
                </a:solidFill>
              </a:rPr>
              <a:t>5 Review</a:t>
            </a:r>
            <a:endParaRPr lang="en-US" altLang="zh-CN" sz="1600" b="1" dirty="0">
              <a:solidFill>
                <a:schemeClr val="tx1">
                  <a:lumMod val="95000"/>
                  <a:lumOff val="5000"/>
                </a:schemeClr>
              </a:solidFill>
            </a:endParaRPr>
          </a:p>
          <a:p>
            <a:pPr algn="l"/>
            <a:r>
              <a:rPr lang="zh-CN" altLang="en-US" sz="1400" dirty="0">
                <a:solidFill>
                  <a:schemeClr val="bg1">
                    <a:lumMod val="50000"/>
                  </a:schemeClr>
                </a:solidFill>
              </a:rPr>
              <a:t>好评</a:t>
            </a:r>
            <a:r>
              <a:rPr lang="en-US" altLang="zh-CN" sz="1400" dirty="0">
                <a:solidFill>
                  <a:schemeClr val="bg1">
                    <a:lumMod val="50000"/>
                  </a:schemeClr>
                </a:solidFill>
              </a:rPr>
              <a:t>Helpful Vote</a:t>
            </a:r>
            <a:endParaRPr lang="en-US" altLang="zh-CN" sz="1400" dirty="0">
              <a:solidFill>
                <a:schemeClr val="bg1">
                  <a:lumMod val="50000"/>
                </a:schemeClr>
              </a:solidFill>
            </a:endParaRPr>
          </a:p>
          <a:p>
            <a:pPr algn="l"/>
            <a:r>
              <a:rPr lang="zh-CN" altLang="en-US" sz="1400" dirty="0">
                <a:solidFill>
                  <a:schemeClr val="bg1">
                    <a:lumMod val="50000"/>
                  </a:schemeClr>
                </a:solidFill>
              </a:rPr>
              <a:t>恶意差评report abuse</a:t>
            </a:r>
            <a:endParaRPr lang="zh-CN" altLang="en-US" sz="1400" dirty="0">
              <a:solidFill>
                <a:schemeClr val="bg1">
                  <a:lumMod val="50000"/>
                </a:schemeClr>
              </a:solidFill>
            </a:endParaRPr>
          </a:p>
          <a:p>
            <a:pPr algn="l"/>
            <a:r>
              <a:rPr lang="zh-CN" altLang="en-US" sz="1400" dirty="0">
                <a:solidFill>
                  <a:schemeClr val="bg1">
                    <a:lumMod val="50000"/>
                  </a:schemeClr>
                </a:solidFill>
              </a:rPr>
              <a:t>差评以商家身份comment</a:t>
            </a:r>
            <a:endParaRPr lang="zh-CN" altLang="en-US" sz="1400" dirty="0">
              <a:solidFill>
                <a:schemeClr val="bg1">
                  <a:lumMod val="50000"/>
                </a:schemeClr>
              </a:solidFill>
            </a:endParaRPr>
          </a:p>
        </p:txBody>
      </p:sp>
      <p:sp>
        <p:nvSpPr>
          <p:cNvPr id="4" name="TextBox 6"/>
          <p:cNvSpPr txBox="1"/>
          <p:nvPr/>
        </p:nvSpPr>
        <p:spPr>
          <a:xfrm>
            <a:off x="572453" y="4970145"/>
            <a:ext cx="5112385" cy="1659255"/>
          </a:xfrm>
          <a:prstGeom prst="rect">
            <a:avLst/>
          </a:prstGeom>
          <a:noFill/>
        </p:spPr>
        <p:txBody>
          <a:bodyPr wrap="square" lIns="121908" tIns="60954" rIns="121908" bIns="60954" rtlCol="0">
            <a:spAutoFit/>
          </a:bodyPr>
          <a:p>
            <a:pPr algn="l"/>
            <a:r>
              <a:rPr lang="en-US" altLang="zh-CN" sz="1600" b="1" dirty="0">
                <a:solidFill>
                  <a:schemeClr val="tx1">
                    <a:lumMod val="95000"/>
                    <a:lumOff val="5000"/>
                  </a:schemeClr>
                </a:solidFill>
                <a:sym typeface="+mn-ea"/>
              </a:rPr>
              <a:t>S</a:t>
            </a:r>
            <a:r>
              <a:rPr lang="zh-CN" altLang="en-US" sz="1600" b="1" dirty="0">
                <a:solidFill>
                  <a:schemeClr val="tx1">
                    <a:lumMod val="95000"/>
                    <a:lumOff val="5000"/>
                  </a:schemeClr>
                </a:solidFill>
              </a:rPr>
              <a:t>ervice </a:t>
            </a:r>
            <a:r>
              <a:rPr lang="en-US" altLang="zh-CN" sz="1600" b="1" dirty="0">
                <a:solidFill>
                  <a:schemeClr val="tx1">
                    <a:lumMod val="95000"/>
                    <a:lumOff val="5000"/>
                  </a:schemeClr>
                </a:solidFill>
              </a:rPr>
              <a:t>6 店铺首页</a:t>
            </a:r>
            <a:endParaRPr lang="en-US" altLang="zh-CN" sz="1600" b="1" dirty="0">
              <a:solidFill>
                <a:schemeClr val="tx1">
                  <a:lumMod val="95000"/>
                  <a:lumOff val="5000"/>
                </a:schemeClr>
              </a:solidFill>
            </a:endParaRPr>
          </a:p>
          <a:p>
            <a:pPr algn="l"/>
            <a:r>
              <a:rPr lang="en-US" altLang="zh-CN" sz="1400" dirty="0">
                <a:solidFill>
                  <a:schemeClr val="bg1">
                    <a:lumMod val="50000"/>
                  </a:schemeClr>
                </a:solidFill>
                <a:sym typeface="+mn-ea"/>
              </a:rPr>
              <a:t>怕不是老卖家，质量不过硬;怕信誉(feedback)不好，产品及售后无法得到保证</a:t>
            </a:r>
            <a:r>
              <a:rPr lang="zh-CN" altLang="en-US" sz="1400" dirty="0">
                <a:solidFill>
                  <a:schemeClr val="bg1">
                    <a:lumMod val="50000"/>
                  </a:schemeClr>
                </a:solidFill>
                <a:sym typeface="+mn-ea"/>
              </a:rPr>
              <a:t>。</a:t>
            </a:r>
            <a:endParaRPr lang="zh-CN" altLang="en-US" sz="1400" dirty="0">
              <a:solidFill>
                <a:schemeClr val="bg1">
                  <a:lumMod val="50000"/>
                </a:schemeClr>
              </a:solidFill>
              <a:sym typeface="+mn-ea"/>
            </a:endParaRPr>
          </a:p>
          <a:p>
            <a:pPr algn="l"/>
            <a:r>
              <a:rPr lang="zh-CN" altLang="en-US" sz="1400" dirty="0">
                <a:solidFill>
                  <a:schemeClr val="bg1">
                    <a:lumMod val="50000"/>
                  </a:schemeClr>
                </a:solidFill>
                <a:sym typeface="+mn-ea"/>
              </a:rPr>
              <a:t>强调customer service</a:t>
            </a:r>
            <a:endParaRPr lang="zh-CN" altLang="en-US" sz="1400" dirty="0">
              <a:solidFill>
                <a:schemeClr val="bg1">
                  <a:lumMod val="50000"/>
                </a:schemeClr>
              </a:solidFill>
              <a:sym typeface="+mn-ea"/>
            </a:endParaRPr>
          </a:p>
          <a:p>
            <a:pPr algn="l"/>
            <a:r>
              <a:rPr lang="zh-CN" altLang="en-US" sz="1400" dirty="0">
                <a:solidFill>
                  <a:schemeClr val="bg1">
                    <a:lumMod val="50000"/>
                  </a:schemeClr>
                </a:solidFill>
                <a:sym typeface="+mn-ea"/>
              </a:rPr>
              <a:t>留上电话号码</a:t>
            </a:r>
            <a:endParaRPr lang="zh-CN" altLang="en-US" sz="1400" dirty="0">
              <a:solidFill>
                <a:schemeClr val="bg1">
                  <a:lumMod val="50000"/>
                </a:schemeClr>
              </a:solidFill>
              <a:sym typeface="+mn-ea"/>
            </a:endParaRPr>
          </a:p>
          <a:p>
            <a:pPr algn="l"/>
            <a:r>
              <a:rPr lang="en-US" altLang="zh-CN" sz="1400" dirty="0">
                <a:solidFill>
                  <a:schemeClr val="bg1">
                    <a:lumMod val="50000"/>
                  </a:schemeClr>
                </a:solidFill>
                <a:sym typeface="+mn-ea"/>
              </a:rPr>
              <a:t>F</a:t>
            </a:r>
            <a:r>
              <a:rPr lang="zh-CN" altLang="en-US" sz="1400" dirty="0">
                <a:solidFill>
                  <a:schemeClr val="bg1">
                    <a:lumMod val="50000"/>
                  </a:schemeClr>
                </a:solidFill>
                <a:sym typeface="+mn-ea"/>
              </a:rPr>
              <a:t>eedback的不断累积</a:t>
            </a:r>
            <a:endParaRPr lang="zh-CN" altLang="en-US" sz="1400" dirty="0">
              <a:solidFill>
                <a:schemeClr val="bg1">
                  <a:lumMod val="50000"/>
                </a:schemeClr>
              </a:solidFill>
              <a:sym typeface="+mn-ea"/>
            </a:endParaRPr>
          </a:p>
          <a:p>
            <a:pPr algn="l"/>
            <a:endParaRPr lang="zh-CN" altLang="en-US" sz="1400" dirty="0">
              <a:solidFill>
                <a:schemeClr val="bg1">
                  <a:lumMod val="50000"/>
                </a:schemeClr>
              </a:solidFill>
              <a:sym typeface="+mn-ea"/>
            </a:endParaRPr>
          </a:p>
        </p:txBody>
      </p:sp>
      <p:pic>
        <p:nvPicPr>
          <p:cNvPr id="5" name="图片 4"/>
          <p:cNvPicPr>
            <a:picLocks noChangeAspect="1"/>
          </p:cNvPicPr>
          <p:nvPr/>
        </p:nvPicPr>
        <p:blipFill>
          <a:blip r:embed="rId1"/>
          <a:stretch>
            <a:fillRect/>
          </a:stretch>
        </p:blipFill>
        <p:spPr>
          <a:xfrm>
            <a:off x="5684838" y="1115695"/>
            <a:ext cx="5196205" cy="2986405"/>
          </a:xfrm>
          <a:prstGeom prst="rect">
            <a:avLst/>
          </a:prstGeom>
        </p:spPr>
      </p:pic>
      <p:pic>
        <p:nvPicPr>
          <p:cNvPr id="6" name="图片 5"/>
          <p:cNvPicPr>
            <a:picLocks noChangeAspect="1"/>
          </p:cNvPicPr>
          <p:nvPr/>
        </p:nvPicPr>
        <p:blipFill>
          <a:blip r:embed="rId2"/>
          <a:stretch>
            <a:fillRect/>
          </a:stretch>
        </p:blipFill>
        <p:spPr>
          <a:xfrm>
            <a:off x="5684838" y="4305935"/>
            <a:ext cx="5196205" cy="2050415"/>
          </a:xfrm>
          <a:prstGeom prst="rect">
            <a:avLst/>
          </a:prstGeom>
        </p:spPr>
      </p:pic>
      <p:sp>
        <p:nvSpPr>
          <p:cNvPr id="32" name="矩形 31"/>
          <p:cNvSpPr/>
          <p:nvPr/>
        </p:nvSpPr>
        <p:spPr>
          <a:xfrm>
            <a:off x="-19685" y="756172"/>
            <a:ext cx="858129" cy="410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endParaRPr>
          </a:p>
        </p:txBody>
      </p:sp>
      <p:sp>
        <p:nvSpPr>
          <p:cNvPr id="7" name="矩形 6"/>
          <p:cNvSpPr/>
          <p:nvPr/>
        </p:nvSpPr>
        <p:spPr>
          <a:xfrm flipV="1">
            <a:off x="1081" y="537"/>
            <a:ext cx="12189839" cy="9548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6B160"/>
              </a:solidFill>
            </a:endParaRPr>
          </a:p>
        </p:txBody>
      </p:sp>
      <p:sp>
        <p:nvSpPr>
          <p:cNvPr id="9" name="标题 8"/>
          <p:cNvSpPr>
            <a:spLocks noGrp="1"/>
          </p:cNvSpPr>
          <p:nvPr>
            <p:ph type="title"/>
          </p:nvPr>
        </p:nvSpPr>
        <p:spPr>
          <a:xfrm>
            <a:off x="838200" y="664210"/>
            <a:ext cx="10515600" cy="594995"/>
          </a:xfrm>
        </p:spPr>
        <p:txBody>
          <a:bodyPr>
            <a:normAutofit fontScale="90000"/>
          </a:bodyPr>
          <a:p>
            <a:r>
              <a:rPr lang="zh-CN" altLang="en-US" spc="100" dirty="0" smtClean="0">
                <a:latin typeface="+mj-ea"/>
                <a:cs typeface="Lato Light" charset="0"/>
                <a:sym typeface="Lato Light" charset="0"/>
              </a:rPr>
              <a:t>Service服务</a:t>
            </a:r>
            <a:endParaRPr lang="zh-CN" altLang="en-US" spc="100" dirty="0" smtClean="0">
              <a:latin typeface="+mj-ea"/>
              <a:cs typeface="Lato Light" charset="0"/>
              <a:sym typeface="Lato Light"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300"/>
                                        <p:tgtEl>
                                          <p:spTgt spid="3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300"/>
                                        <p:tgtEl>
                                          <p:spTgt spid="3"/>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P spid="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bwMode="auto">
          <a:xfrm>
            <a:off x="4163725" y="2862040"/>
            <a:ext cx="1638424" cy="1636909"/>
          </a:xfrm>
          <a:custGeom>
            <a:avLst/>
            <a:gdLst>
              <a:gd name="T0" fmla="*/ 279 w 401"/>
              <a:gd name="T1" fmla="*/ 53 h 401"/>
              <a:gd name="T2" fmla="*/ 269 w 401"/>
              <a:gd name="T3" fmla="*/ 68 h 401"/>
              <a:gd name="T4" fmla="*/ 200 w 401"/>
              <a:gd name="T5" fmla="*/ 0 h 401"/>
              <a:gd name="T6" fmla="*/ 126 w 401"/>
              <a:gd name="T7" fmla="*/ 74 h 401"/>
              <a:gd name="T8" fmla="*/ 152 w 401"/>
              <a:gd name="T9" fmla="*/ 87 h 401"/>
              <a:gd name="T10" fmla="*/ 152 w 401"/>
              <a:gd name="T11" fmla="*/ 155 h 401"/>
              <a:gd name="T12" fmla="*/ 84 w 401"/>
              <a:gd name="T13" fmla="*/ 155 h 401"/>
              <a:gd name="T14" fmla="*/ 71 w 401"/>
              <a:gd name="T15" fmla="*/ 129 h 401"/>
              <a:gd name="T16" fmla="*/ 0 w 401"/>
              <a:gd name="T17" fmla="*/ 200 h 401"/>
              <a:gd name="T18" fmla="*/ 69 w 401"/>
              <a:gd name="T19" fmla="*/ 269 h 401"/>
              <a:gd name="T20" fmla="*/ 54 w 401"/>
              <a:gd name="T21" fmla="*/ 279 h 401"/>
              <a:gd name="T22" fmla="*/ 54 w 401"/>
              <a:gd name="T23" fmla="*/ 347 h 401"/>
              <a:gd name="T24" fmla="*/ 122 w 401"/>
              <a:gd name="T25" fmla="*/ 347 h 401"/>
              <a:gd name="T26" fmla="*/ 132 w 401"/>
              <a:gd name="T27" fmla="*/ 332 h 401"/>
              <a:gd name="T28" fmla="*/ 200 w 401"/>
              <a:gd name="T29" fmla="*/ 401 h 401"/>
              <a:gd name="T30" fmla="*/ 269 w 401"/>
              <a:gd name="T31" fmla="*/ 332 h 401"/>
              <a:gd name="T32" fmla="*/ 249 w 401"/>
              <a:gd name="T33" fmla="*/ 320 h 401"/>
              <a:gd name="T34" fmla="*/ 249 w 401"/>
              <a:gd name="T35" fmla="*/ 252 h 401"/>
              <a:gd name="T36" fmla="*/ 317 w 401"/>
              <a:gd name="T37" fmla="*/ 252 h 401"/>
              <a:gd name="T38" fmla="*/ 329 w 401"/>
              <a:gd name="T39" fmla="*/ 272 h 401"/>
              <a:gd name="T40" fmla="*/ 401 w 401"/>
              <a:gd name="T41" fmla="*/ 200 h 401"/>
              <a:gd name="T42" fmla="*/ 332 w 401"/>
              <a:gd name="T43" fmla="*/ 132 h 401"/>
              <a:gd name="T44" fmla="*/ 347 w 401"/>
              <a:gd name="T45" fmla="*/ 121 h 401"/>
              <a:gd name="T46" fmla="*/ 347 w 401"/>
              <a:gd name="T47" fmla="*/ 53 h 401"/>
              <a:gd name="T48" fmla="*/ 279 w 401"/>
              <a:gd name="T49" fmla="*/ 53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01" h="401">
                <a:moveTo>
                  <a:pt x="279" y="53"/>
                </a:moveTo>
                <a:cubicBezTo>
                  <a:pt x="275" y="58"/>
                  <a:pt x="271" y="63"/>
                  <a:pt x="269" y="68"/>
                </a:cubicBezTo>
                <a:cubicBezTo>
                  <a:pt x="200" y="0"/>
                  <a:pt x="200" y="0"/>
                  <a:pt x="200" y="0"/>
                </a:cubicBezTo>
                <a:cubicBezTo>
                  <a:pt x="126" y="74"/>
                  <a:pt x="126" y="74"/>
                  <a:pt x="126" y="74"/>
                </a:cubicBezTo>
                <a:cubicBezTo>
                  <a:pt x="136" y="76"/>
                  <a:pt x="145" y="80"/>
                  <a:pt x="152" y="87"/>
                </a:cubicBezTo>
                <a:cubicBezTo>
                  <a:pt x="171" y="106"/>
                  <a:pt x="171" y="137"/>
                  <a:pt x="152" y="155"/>
                </a:cubicBezTo>
                <a:cubicBezTo>
                  <a:pt x="133" y="174"/>
                  <a:pt x="103" y="174"/>
                  <a:pt x="84" y="155"/>
                </a:cubicBezTo>
                <a:cubicBezTo>
                  <a:pt x="77" y="148"/>
                  <a:pt x="72" y="139"/>
                  <a:pt x="71" y="129"/>
                </a:cubicBezTo>
                <a:cubicBezTo>
                  <a:pt x="0" y="200"/>
                  <a:pt x="0" y="200"/>
                  <a:pt x="0" y="200"/>
                </a:cubicBezTo>
                <a:cubicBezTo>
                  <a:pt x="69" y="269"/>
                  <a:pt x="69" y="269"/>
                  <a:pt x="69" y="269"/>
                </a:cubicBezTo>
                <a:cubicBezTo>
                  <a:pt x="63" y="271"/>
                  <a:pt x="58" y="274"/>
                  <a:pt x="54" y="279"/>
                </a:cubicBezTo>
                <a:cubicBezTo>
                  <a:pt x="35" y="298"/>
                  <a:pt x="35" y="328"/>
                  <a:pt x="54" y="347"/>
                </a:cubicBezTo>
                <a:cubicBezTo>
                  <a:pt x="72" y="366"/>
                  <a:pt x="103" y="366"/>
                  <a:pt x="122" y="347"/>
                </a:cubicBezTo>
                <a:cubicBezTo>
                  <a:pt x="126" y="342"/>
                  <a:pt x="129" y="337"/>
                  <a:pt x="132" y="332"/>
                </a:cubicBezTo>
                <a:cubicBezTo>
                  <a:pt x="200" y="401"/>
                  <a:pt x="200" y="401"/>
                  <a:pt x="200" y="401"/>
                </a:cubicBezTo>
                <a:cubicBezTo>
                  <a:pt x="269" y="332"/>
                  <a:pt x="269" y="332"/>
                  <a:pt x="269" y="332"/>
                </a:cubicBezTo>
                <a:cubicBezTo>
                  <a:pt x="261" y="330"/>
                  <a:pt x="254" y="326"/>
                  <a:pt x="249" y="320"/>
                </a:cubicBezTo>
                <a:cubicBezTo>
                  <a:pt x="230" y="301"/>
                  <a:pt x="230" y="271"/>
                  <a:pt x="249" y="252"/>
                </a:cubicBezTo>
                <a:cubicBezTo>
                  <a:pt x="267" y="233"/>
                  <a:pt x="298" y="233"/>
                  <a:pt x="317" y="252"/>
                </a:cubicBezTo>
                <a:cubicBezTo>
                  <a:pt x="322" y="258"/>
                  <a:pt x="327" y="265"/>
                  <a:pt x="329" y="272"/>
                </a:cubicBezTo>
                <a:cubicBezTo>
                  <a:pt x="401" y="200"/>
                  <a:pt x="401" y="200"/>
                  <a:pt x="401" y="200"/>
                </a:cubicBezTo>
                <a:cubicBezTo>
                  <a:pt x="332" y="132"/>
                  <a:pt x="332" y="132"/>
                  <a:pt x="332" y="132"/>
                </a:cubicBezTo>
                <a:cubicBezTo>
                  <a:pt x="338" y="129"/>
                  <a:pt x="343" y="126"/>
                  <a:pt x="347" y="121"/>
                </a:cubicBezTo>
                <a:cubicBezTo>
                  <a:pt x="366" y="103"/>
                  <a:pt x="366" y="72"/>
                  <a:pt x="347" y="53"/>
                </a:cubicBezTo>
                <a:cubicBezTo>
                  <a:pt x="328" y="35"/>
                  <a:pt x="298" y="35"/>
                  <a:pt x="279" y="53"/>
                </a:cubicBezTo>
                <a:close/>
              </a:path>
            </a:pathLst>
          </a:custGeom>
          <a:solidFill>
            <a:schemeClr val="accent5"/>
          </a:solidFill>
          <a:ln w="25400" cap="flat">
            <a:solidFill>
              <a:srgbClr val="FFFFFF"/>
            </a:solidFill>
            <a:prstDash val="solid"/>
            <a:miter lim="800000"/>
          </a:ln>
        </p:spPr>
        <p:txBody>
          <a:bodyPr vert="horz" wrap="square" lIns="91440" tIns="45720" rIns="91440" bIns="45720" numCol="1" anchor="t" anchorCtr="0" compatLnSpc="1"/>
          <a:lstStyle/>
          <a:p>
            <a:endParaRPr lang="zh-CN" altLang="en-US">
              <a:cs typeface="+mn-ea"/>
              <a:sym typeface="+mn-lt"/>
            </a:endParaRPr>
          </a:p>
        </p:txBody>
      </p:sp>
      <p:sp>
        <p:nvSpPr>
          <p:cNvPr id="9" name="Freeform 9"/>
          <p:cNvSpPr/>
          <p:nvPr/>
        </p:nvSpPr>
        <p:spPr bwMode="auto">
          <a:xfrm>
            <a:off x="4960470" y="3677902"/>
            <a:ext cx="1638424" cy="1638637"/>
          </a:xfrm>
          <a:custGeom>
            <a:avLst/>
            <a:gdLst>
              <a:gd name="T0" fmla="*/ 347 w 401"/>
              <a:gd name="T1" fmla="*/ 279 h 401"/>
              <a:gd name="T2" fmla="*/ 332 w 401"/>
              <a:gd name="T3" fmla="*/ 269 h 401"/>
              <a:gd name="T4" fmla="*/ 401 w 401"/>
              <a:gd name="T5" fmla="*/ 201 h 401"/>
              <a:gd name="T6" fmla="*/ 326 w 401"/>
              <a:gd name="T7" fmla="*/ 126 h 401"/>
              <a:gd name="T8" fmla="*/ 313 w 401"/>
              <a:gd name="T9" fmla="*/ 152 h 401"/>
              <a:gd name="T10" fmla="*/ 245 w 401"/>
              <a:gd name="T11" fmla="*/ 152 h 401"/>
              <a:gd name="T12" fmla="*/ 245 w 401"/>
              <a:gd name="T13" fmla="*/ 84 h 401"/>
              <a:gd name="T14" fmla="*/ 271 w 401"/>
              <a:gd name="T15" fmla="*/ 71 h 401"/>
              <a:gd name="T16" fmla="*/ 200 w 401"/>
              <a:gd name="T17" fmla="*/ 0 h 401"/>
              <a:gd name="T18" fmla="*/ 132 w 401"/>
              <a:gd name="T19" fmla="*/ 69 h 401"/>
              <a:gd name="T20" fmla="*/ 122 w 401"/>
              <a:gd name="T21" fmla="*/ 54 h 401"/>
              <a:gd name="T22" fmla="*/ 54 w 401"/>
              <a:gd name="T23" fmla="*/ 54 h 401"/>
              <a:gd name="T24" fmla="*/ 54 w 401"/>
              <a:gd name="T25" fmla="*/ 122 h 401"/>
              <a:gd name="T26" fmla="*/ 69 w 401"/>
              <a:gd name="T27" fmla="*/ 132 h 401"/>
              <a:gd name="T28" fmla="*/ 0 w 401"/>
              <a:gd name="T29" fmla="*/ 201 h 401"/>
              <a:gd name="T30" fmla="*/ 68 w 401"/>
              <a:gd name="T31" fmla="*/ 269 h 401"/>
              <a:gd name="T32" fmla="*/ 80 w 401"/>
              <a:gd name="T33" fmla="*/ 249 h 401"/>
              <a:gd name="T34" fmla="*/ 148 w 401"/>
              <a:gd name="T35" fmla="*/ 249 h 401"/>
              <a:gd name="T36" fmla="*/ 148 w 401"/>
              <a:gd name="T37" fmla="*/ 317 h 401"/>
              <a:gd name="T38" fmla="*/ 128 w 401"/>
              <a:gd name="T39" fmla="*/ 329 h 401"/>
              <a:gd name="T40" fmla="*/ 200 w 401"/>
              <a:gd name="T41" fmla="*/ 401 h 401"/>
              <a:gd name="T42" fmla="*/ 269 w 401"/>
              <a:gd name="T43" fmla="*/ 332 h 401"/>
              <a:gd name="T44" fmla="*/ 279 w 401"/>
              <a:gd name="T45" fmla="*/ 347 h 401"/>
              <a:gd name="T46" fmla="*/ 347 w 401"/>
              <a:gd name="T47" fmla="*/ 347 h 401"/>
              <a:gd name="T48" fmla="*/ 347 w 401"/>
              <a:gd name="T49" fmla="*/ 279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01" h="401">
                <a:moveTo>
                  <a:pt x="347" y="279"/>
                </a:moveTo>
                <a:cubicBezTo>
                  <a:pt x="343" y="275"/>
                  <a:pt x="338" y="272"/>
                  <a:pt x="332" y="269"/>
                </a:cubicBezTo>
                <a:cubicBezTo>
                  <a:pt x="401" y="201"/>
                  <a:pt x="401" y="201"/>
                  <a:pt x="401" y="201"/>
                </a:cubicBezTo>
                <a:cubicBezTo>
                  <a:pt x="326" y="126"/>
                  <a:pt x="326" y="126"/>
                  <a:pt x="326" y="126"/>
                </a:cubicBezTo>
                <a:cubicBezTo>
                  <a:pt x="325" y="136"/>
                  <a:pt x="320" y="145"/>
                  <a:pt x="313" y="152"/>
                </a:cubicBezTo>
                <a:cubicBezTo>
                  <a:pt x="294" y="171"/>
                  <a:pt x="264" y="171"/>
                  <a:pt x="245" y="152"/>
                </a:cubicBezTo>
                <a:cubicBezTo>
                  <a:pt x="226" y="133"/>
                  <a:pt x="226" y="103"/>
                  <a:pt x="245" y="84"/>
                </a:cubicBezTo>
                <a:cubicBezTo>
                  <a:pt x="252" y="77"/>
                  <a:pt x="262" y="72"/>
                  <a:pt x="271" y="71"/>
                </a:cubicBezTo>
                <a:cubicBezTo>
                  <a:pt x="200" y="0"/>
                  <a:pt x="200" y="0"/>
                  <a:pt x="200" y="0"/>
                </a:cubicBezTo>
                <a:cubicBezTo>
                  <a:pt x="132" y="69"/>
                  <a:pt x="132" y="69"/>
                  <a:pt x="132" y="69"/>
                </a:cubicBezTo>
                <a:cubicBezTo>
                  <a:pt x="129" y="63"/>
                  <a:pt x="126" y="58"/>
                  <a:pt x="122" y="54"/>
                </a:cubicBezTo>
                <a:cubicBezTo>
                  <a:pt x="103" y="35"/>
                  <a:pt x="72" y="35"/>
                  <a:pt x="54" y="54"/>
                </a:cubicBezTo>
                <a:cubicBezTo>
                  <a:pt x="35" y="73"/>
                  <a:pt x="35" y="103"/>
                  <a:pt x="54" y="122"/>
                </a:cubicBezTo>
                <a:cubicBezTo>
                  <a:pt x="58" y="126"/>
                  <a:pt x="63" y="130"/>
                  <a:pt x="69" y="132"/>
                </a:cubicBezTo>
                <a:cubicBezTo>
                  <a:pt x="0" y="201"/>
                  <a:pt x="0" y="201"/>
                  <a:pt x="0" y="201"/>
                </a:cubicBezTo>
                <a:cubicBezTo>
                  <a:pt x="68" y="269"/>
                  <a:pt x="68" y="269"/>
                  <a:pt x="68" y="269"/>
                </a:cubicBezTo>
                <a:cubicBezTo>
                  <a:pt x="71" y="262"/>
                  <a:pt x="75" y="255"/>
                  <a:pt x="80" y="249"/>
                </a:cubicBezTo>
                <a:cubicBezTo>
                  <a:pt x="99" y="230"/>
                  <a:pt x="130" y="230"/>
                  <a:pt x="148" y="249"/>
                </a:cubicBezTo>
                <a:cubicBezTo>
                  <a:pt x="167" y="268"/>
                  <a:pt x="167" y="298"/>
                  <a:pt x="148" y="317"/>
                </a:cubicBezTo>
                <a:cubicBezTo>
                  <a:pt x="143" y="323"/>
                  <a:pt x="136" y="327"/>
                  <a:pt x="128" y="329"/>
                </a:cubicBezTo>
                <a:cubicBezTo>
                  <a:pt x="200" y="401"/>
                  <a:pt x="200" y="401"/>
                  <a:pt x="200" y="401"/>
                </a:cubicBezTo>
                <a:cubicBezTo>
                  <a:pt x="269" y="332"/>
                  <a:pt x="269" y="332"/>
                  <a:pt x="269" y="332"/>
                </a:cubicBezTo>
                <a:cubicBezTo>
                  <a:pt x="271" y="338"/>
                  <a:pt x="275" y="343"/>
                  <a:pt x="279" y="347"/>
                </a:cubicBezTo>
                <a:cubicBezTo>
                  <a:pt x="298" y="366"/>
                  <a:pt x="328" y="366"/>
                  <a:pt x="347" y="347"/>
                </a:cubicBezTo>
                <a:cubicBezTo>
                  <a:pt x="366" y="329"/>
                  <a:pt x="366" y="298"/>
                  <a:pt x="347" y="279"/>
                </a:cubicBezTo>
                <a:close/>
              </a:path>
            </a:pathLst>
          </a:custGeom>
          <a:solidFill>
            <a:schemeClr val="accent4"/>
          </a:solidFill>
          <a:ln w="25400" cap="flat">
            <a:solidFill>
              <a:srgbClr val="FFFFFF"/>
            </a:solidFill>
            <a:prstDash val="solid"/>
            <a:miter lim="800000"/>
          </a:ln>
        </p:spPr>
        <p:txBody>
          <a:bodyPr vert="horz" wrap="square" lIns="91440" tIns="45720" rIns="91440" bIns="45720" numCol="1" anchor="t" anchorCtr="0" compatLnSpc="1"/>
          <a:lstStyle/>
          <a:p>
            <a:endParaRPr lang="zh-CN" altLang="en-US">
              <a:cs typeface="+mn-ea"/>
              <a:sym typeface="+mn-lt"/>
            </a:endParaRPr>
          </a:p>
        </p:txBody>
      </p:sp>
      <p:sp>
        <p:nvSpPr>
          <p:cNvPr id="11" name="Freeform 11"/>
          <p:cNvSpPr/>
          <p:nvPr/>
        </p:nvSpPr>
        <p:spPr bwMode="auto">
          <a:xfrm>
            <a:off x="4953557" y="2068649"/>
            <a:ext cx="1636696" cy="1638637"/>
          </a:xfrm>
          <a:custGeom>
            <a:avLst/>
            <a:gdLst>
              <a:gd name="T0" fmla="*/ 54 w 401"/>
              <a:gd name="T1" fmla="*/ 121 h 401"/>
              <a:gd name="T2" fmla="*/ 69 w 401"/>
              <a:gd name="T3" fmla="*/ 132 h 401"/>
              <a:gd name="T4" fmla="*/ 0 w 401"/>
              <a:gd name="T5" fmla="*/ 200 h 401"/>
              <a:gd name="T6" fmla="*/ 74 w 401"/>
              <a:gd name="T7" fmla="*/ 274 h 401"/>
              <a:gd name="T8" fmla="*/ 88 w 401"/>
              <a:gd name="T9" fmla="*/ 249 h 401"/>
              <a:gd name="T10" fmla="*/ 156 w 401"/>
              <a:gd name="T11" fmla="*/ 249 h 401"/>
              <a:gd name="T12" fmla="*/ 156 w 401"/>
              <a:gd name="T13" fmla="*/ 317 h 401"/>
              <a:gd name="T14" fmla="*/ 130 w 401"/>
              <a:gd name="T15" fmla="*/ 330 h 401"/>
              <a:gd name="T16" fmla="*/ 201 w 401"/>
              <a:gd name="T17" fmla="*/ 401 h 401"/>
              <a:gd name="T18" fmla="*/ 269 w 401"/>
              <a:gd name="T19" fmla="*/ 332 h 401"/>
              <a:gd name="T20" fmla="*/ 279 w 401"/>
              <a:gd name="T21" fmla="*/ 347 h 401"/>
              <a:gd name="T22" fmla="*/ 347 w 401"/>
              <a:gd name="T23" fmla="*/ 347 h 401"/>
              <a:gd name="T24" fmla="*/ 347 w 401"/>
              <a:gd name="T25" fmla="*/ 279 h 401"/>
              <a:gd name="T26" fmla="*/ 332 w 401"/>
              <a:gd name="T27" fmla="*/ 269 h 401"/>
              <a:gd name="T28" fmla="*/ 401 w 401"/>
              <a:gd name="T29" fmla="*/ 200 h 401"/>
              <a:gd name="T30" fmla="*/ 333 w 401"/>
              <a:gd name="T31" fmla="*/ 132 h 401"/>
              <a:gd name="T32" fmla="*/ 320 w 401"/>
              <a:gd name="T33" fmla="*/ 152 h 401"/>
              <a:gd name="T34" fmla="*/ 252 w 401"/>
              <a:gd name="T35" fmla="*/ 152 h 401"/>
              <a:gd name="T36" fmla="*/ 252 w 401"/>
              <a:gd name="T37" fmla="*/ 84 h 401"/>
              <a:gd name="T38" fmla="*/ 273 w 401"/>
              <a:gd name="T39" fmla="*/ 72 h 401"/>
              <a:gd name="T40" fmla="*/ 201 w 401"/>
              <a:gd name="T41" fmla="*/ 0 h 401"/>
              <a:gd name="T42" fmla="*/ 132 w 401"/>
              <a:gd name="T43" fmla="*/ 68 h 401"/>
              <a:gd name="T44" fmla="*/ 122 w 401"/>
              <a:gd name="T45" fmla="*/ 53 h 401"/>
              <a:gd name="T46" fmla="*/ 54 w 401"/>
              <a:gd name="T47" fmla="*/ 53 h 401"/>
              <a:gd name="T48" fmla="*/ 54 w 401"/>
              <a:gd name="T49" fmla="*/ 12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01" h="401">
                <a:moveTo>
                  <a:pt x="54" y="121"/>
                </a:moveTo>
                <a:cubicBezTo>
                  <a:pt x="58" y="126"/>
                  <a:pt x="63" y="129"/>
                  <a:pt x="69" y="132"/>
                </a:cubicBezTo>
                <a:cubicBezTo>
                  <a:pt x="0" y="200"/>
                  <a:pt x="0" y="200"/>
                  <a:pt x="0" y="200"/>
                </a:cubicBezTo>
                <a:cubicBezTo>
                  <a:pt x="74" y="274"/>
                  <a:pt x="74" y="274"/>
                  <a:pt x="74" y="274"/>
                </a:cubicBezTo>
                <a:cubicBezTo>
                  <a:pt x="76" y="265"/>
                  <a:pt x="81" y="256"/>
                  <a:pt x="88" y="249"/>
                </a:cubicBezTo>
                <a:cubicBezTo>
                  <a:pt x="107" y="230"/>
                  <a:pt x="137" y="230"/>
                  <a:pt x="156" y="249"/>
                </a:cubicBezTo>
                <a:cubicBezTo>
                  <a:pt x="175" y="267"/>
                  <a:pt x="175" y="298"/>
                  <a:pt x="156" y="317"/>
                </a:cubicBezTo>
                <a:cubicBezTo>
                  <a:pt x="149" y="324"/>
                  <a:pt x="139" y="328"/>
                  <a:pt x="130" y="330"/>
                </a:cubicBezTo>
                <a:cubicBezTo>
                  <a:pt x="201" y="401"/>
                  <a:pt x="201" y="401"/>
                  <a:pt x="201" y="401"/>
                </a:cubicBezTo>
                <a:cubicBezTo>
                  <a:pt x="269" y="332"/>
                  <a:pt x="269" y="332"/>
                  <a:pt x="269" y="332"/>
                </a:cubicBezTo>
                <a:cubicBezTo>
                  <a:pt x="272" y="337"/>
                  <a:pt x="275" y="343"/>
                  <a:pt x="279" y="347"/>
                </a:cubicBezTo>
                <a:cubicBezTo>
                  <a:pt x="298" y="366"/>
                  <a:pt x="329" y="366"/>
                  <a:pt x="347" y="347"/>
                </a:cubicBezTo>
                <a:cubicBezTo>
                  <a:pt x="366" y="328"/>
                  <a:pt x="366" y="298"/>
                  <a:pt x="347" y="279"/>
                </a:cubicBezTo>
                <a:cubicBezTo>
                  <a:pt x="343" y="274"/>
                  <a:pt x="338" y="271"/>
                  <a:pt x="332" y="269"/>
                </a:cubicBezTo>
                <a:cubicBezTo>
                  <a:pt x="401" y="200"/>
                  <a:pt x="401" y="200"/>
                  <a:pt x="401" y="200"/>
                </a:cubicBezTo>
                <a:cubicBezTo>
                  <a:pt x="333" y="132"/>
                  <a:pt x="333" y="132"/>
                  <a:pt x="333" y="132"/>
                </a:cubicBezTo>
                <a:cubicBezTo>
                  <a:pt x="330" y="139"/>
                  <a:pt x="326" y="146"/>
                  <a:pt x="320" y="152"/>
                </a:cubicBezTo>
                <a:cubicBezTo>
                  <a:pt x="302" y="171"/>
                  <a:pt x="271" y="171"/>
                  <a:pt x="252" y="152"/>
                </a:cubicBezTo>
                <a:cubicBezTo>
                  <a:pt x="234" y="133"/>
                  <a:pt x="234" y="103"/>
                  <a:pt x="252" y="84"/>
                </a:cubicBezTo>
                <a:cubicBezTo>
                  <a:pt x="258" y="78"/>
                  <a:pt x="265" y="74"/>
                  <a:pt x="273" y="72"/>
                </a:cubicBezTo>
                <a:cubicBezTo>
                  <a:pt x="201" y="0"/>
                  <a:pt x="201" y="0"/>
                  <a:pt x="201" y="0"/>
                </a:cubicBezTo>
                <a:cubicBezTo>
                  <a:pt x="132" y="68"/>
                  <a:pt x="132" y="68"/>
                  <a:pt x="132" y="68"/>
                </a:cubicBezTo>
                <a:cubicBezTo>
                  <a:pt x="130" y="63"/>
                  <a:pt x="126" y="58"/>
                  <a:pt x="122" y="53"/>
                </a:cubicBezTo>
                <a:cubicBezTo>
                  <a:pt x="103" y="35"/>
                  <a:pt x="73" y="35"/>
                  <a:pt x="54" y="53"/>
                </a:cubicBezTo>
                <a:cubicBezTo>
                  <a:pt x="35" y="72"/>
                  <a:pt x="35" y="103"/>
                  <a:pt x="54" y="121"/>
                </a:cubicBezTo>
                <a:close/>
              </a:path>
            </a:pathLst>
          </a:custGeom>
          <a:solidFill>
            <a:schemeClr val="accent2"/>
          </a:solidFill>
          <a:ln w="25400" cap="flat">
            <a:solidFill>
              <a:srgbClr val="FFFFFF"/>
            </a:solidFill>
            <a:prstDash val="solid"/>
            <a:miter lim="800000"/>
          </a:ln>
        </p:spPr>
        <p:txBody>
          <a:bodyPr vert="horz" wrap="square" lIns="91440" tIns="45720" rIns="91440" bIns="45720" numCol="1" anchor="t" anchorCtr="0" compatLnSpc="1"/>
          <a:lstStyle/>
          <a:p>
            <a:endParaRPr lang="zh-CN" altLang="en-US">
              <a:cs typeface="+mn-ea"/>
              <a:sym typeface="+mn-lt"/>
            </a:endParaRPr>
          </a:p>
        </p:txBody>
      </p:sp>
      <p:sp>
        <p:nvSpPr>
          <p:cNvPr id="16" name="Freeform 16"/>
          <p:cNvSpPr>
            <a:spLocks noEditPoints="1"/>
          </p:cNvSpPr>
          <p:nvPr/>
        </p:nvSpPr>
        <p:spPr bwMode="auto">
          <a:xfrm>
            <a:off x="3593148" y="4614545"/>
            <a:ext cx="1175385" cy="456565"/>
          </a:xfrm>
          <a:custGeom>
            <a:avLst/>
            <a:gdLst>
              <a:gd name="T0" fmla="*/ 244 w 288"/>
              <a:gd name="T1" fmla="*/ 112 h 112"/>
              <a:gd name="T2" fmla="*/ 236 w 288"/>
              <a:gd name="T3" fmla="*/ 112 h 112"/>
              <a:gd name="T4" fmla="*/ 236 w 288"/>
              <a:gd name="T5" fmla="*/ 104 h 112"/>
              <a:gd name="T6" fmla="*/ 244 w 288"/>
              <a:gd name="T7" fmla="*/ 104 h 112"/>
              <a:gd name="T8" fmla="*/ 255 w 288"/>
              <a:gd name="T9" fmla="*/ 102 h 112"/>
              <a:gd name="T10" fmla="*/ 258 w 288"/>
              <a:gd name="T11" fmla="*/ 110 h 112"/>
              <a:gd name="T12" fmla="*/ 244 w 288"/>
              <a:gd name="T13" fmla="*/ 112 h 112"/>
              <a:gd name="T14" fmla="*/ 216 w 288"/>
              <a:gd name="T15" fmla="*/ 112 h 112"/>
              <a:gd name="T16" fmla="*/ 196 w 288"/>
              <a:gd name="T17" fmla="*/ 112 h 112"/>
              <a:gd name="T18" fmla="*/ 196 w 288"/>
              <a:gd name="T19" fmla="*/ 104 h 112"/>
              <a:gd name="T20" fmla="*/ 216 w 288"/>
              <a:gd name="T21" fmla="*/ 104 h 112"/>
              <a:gd name="T22" fmla="*/ 216 w 288"/>
              <a:gd name="T23" fmla="*/ 112 h 112"/>
              <a:gd name="T24" fmla="*/ 176 w 288"/>
              <a:gd name="T25" fmla="*/ 112 h 112"/>
              <a:gd name="T26" fmla="*/ 160 w 288"/>
              <a:gd name="T27" fmla="*/ 112 h 112"/>
              <a:gd name="T28" fmla="*/ 160 w 288"/>
              <a:gd name="T29" fmla="*/ 104 h 112"/>
              <a:gd name="T30" fmla="*/ 176 w 288"/>
              <a:gd name="T31" fmla="*/ 104 h 112"/>
              <a:gd name="T32" fmla="*/ 176 w 288"/>
              <a:gd name="T33" fmla="*/ 112 h 112"/>
              <a:gd name="T34" fmla="*/ 140 w 288"/>
              <a:gd name="T35" fmla="*/ 112 h 112"/>
              <a:gd name="T36" fmla="*/ 120 w 288"/>
              <a:gd name="T37" fmla="*/ 112 h 112"/>
              <a:gd name="T38" fmla="*/ 120 w 288"/>
              <a:gd name="T39" fmla="*/ 104 h 112"/>
              <a:gd name="T40" fmla="*/ 140 w 288"/>
              <a:gd name="T41" fmla="*/ 104 h 112"/>
              <a:gd name="T42" fmla="*/ 140 w 288"/>
              <a:gd name="T43" fmla="*/ 112 h 112"/>
              <a:gd name="T44" fmla="*/ 100 w 288"/>
              <a:gd name="T45" fmla="*/ 112 h 112"/>
              <a:gd name="T46" fmla="*/ 80 w 288"/>
              <a:gd name="T47" fmla="*/ 112 h 112"/>
              <a:gd name="T48" fmla="*/ 80 w 288"/>
              <a:gd name="T49" fmla="*/ 104 h 112"/>
              <a:gd name="T50" fmla="*/ 100 w 288"/>
              <a:gd name="T51" fmla="*/ 104 h 112"/>
              <a:gd name="T52" fmla="*/ 100 w 288"/>
              <a:gd name="T53" fmla="*/ 112 h 112"/>
              <a:gd name="T54" fmla="*/ 60 w 288"/>
              <a:gd name="T55" fmla="*/ 112 h 112"/>
              <a:gd name="T56" fmla="*/ 40 w 288"/>
              <a:gd name="T57" fmla="*/ 112 h 112"/>
              <a:gd name="T58" fmla="*/ 40 w 288"/>
              <a:gd name="T59" fmla="*/ 104 h 112"/>
              <a:gd name="T60" fmla="*/ 60 w 288"/>
              <a:gd name="T61" fmla="*/ 104 h 112"/>
              <a:gd name="T62" fmla="*/ 60 w 288"/>
              <a:gd name="T63" fmla="*/ 112 h 112"/>
              <a:gd name="T64" fmla="*/ 20 w 288"/>
              <a:gd name="T65" fmla="*/ 112 h 112"/>
              <a:gd name="T66" fmla="*/ 0 w 288"/>
              <a:gd name="T67" fmla="*/ 112 h 112"/>
              <a:gd name="T68" fmla="*/ 0 w 288"/>
              <a:gd name="T69" fmla="*/ 104 h 112"/>
              <a:gd name="T70" fmla="*/ 20 w 288"/>
              <a:gd name="T71" fmla="*/ 104 h 112"/>
              <a:gd name="T72" fmla="*/ 20 w 288"/>
              <a:gd name="T73" fmla="*/ 112 h 112"/>
              <a:gd name="T74" fmla="*/ 275 w 288"/>
              <a:gd name="T75" fmla="*/ 98 h 112"/>
              <a:gd name="T76" fmla="*/ 270 w 288"/>
              <a:gd name="T77" fmla="*/ 93 h 112"/>
              <a:gd name="T78" fmla="*/ 278 w 288"/>
              <a:gd name="T79" fmla="*/ 77 h 112"/>
              <a:gd name="T80" fmla="*/ 286 w 288"/>
              <a:gd name="T81" fmla="*/ 80 h 112"/>
              <a:gd name="T82" fmla="*/ 275 w 288"/>
              <a:gd name="T83" fmla="*/ 98 h 112"/>
              <a:gd name="T84" fmla="*/ 288 w 288"/>
              <a:gd name="T85" fmla="*/ 60 h 112"/>
              <a:gd name="T86" fmla="*/ 280 w 288"/>
              <a:gd name="T87" fmla="*/ 60 h 112"/>
              <a:gd name="T88" fmla="*/ 280 w 288"/>
              <a:gd name="T89" fmla="*/ 40 h 112"/>
              <a:gd name="T90" fmla="*/ 288 w 288"/>
              <a:gd name="T91" fmla="*/ 40 h 112"/>
              <a:gd name="T92" fmla="*/ 288 w 288"/>
              <a:gd name="T93" fmla="*/ 60 h 112"/>
              <a:gd name="T94" fmla="*/ 288 w 288"/>
              <a:gd name="T95" fmla="*/ 20 h 112"/>
              <a:gd name="T96" fmla="*/ 280 w 288"/>
              <a:gd name="T97" fmla="*/ 20 h 112"/>
              <a:gd name="T98" fmla="*/ 280 w 288"/>
              <a:gd name="T99" fmla="*/ 0 h 112"/>
              <a:gd name="T100" fmla="*/ 288 w 288"/>
              <a:gd name="T101" fmla="*/ 0 h 112"/>
              <a:gd name="T102" fmla="*/ 288 w 288"/>
              <a:gd name="T103" fmla="*/ 2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8" h="112">
                <a:moveTo>
                  <a:pt x="244" y="112"/>
                </a:moveTo>
                <a:cubicBezTo>
                  <a:pt x="236" y="112"/>
                  <a:pt x="236" y="112"/>
                  <a:pt x="236" y="112"/>
                </a:cubicBezTo>
                <a:cubicBezTo>
                  <a:pt x="236" y="104"/>
                  <a:pt x="236" y="104"/>
                  <a:pt x="236" y="104"/>
                </a:cubicBezTo>
                <a:cubicBezTo>
                  <a:pt x="244" y="104"/>
                  <a:pt x="244" y="104"/>
                  <a:pt x="244" y="104"/>
                </a:cubicBezTo>
                <a:cubicBezTo>
                  <a:pt x="248" y="104"/>
                  <a:pt x="251" y="103"/>
                  <a:pt x="255" y="102"/>
                </a:cubicBezTo>
                <a:cubicBezTo>
                  <a:pt x="258" y="110"/>
                  <a:pt x="258" y="110"/>
                  <a:pt x="258" y="110"/>
                </a:cubicBezTo>
                <a:cubicBezTo>
                  <a:pt x="253" y="111"/>
                  <a:pt x="249" y="112"/>
                  <a:pt x="244" y="112"/>
                </a:cubicBezTo>
                <a:close/>
                <a:moveTo>
                  <a:pt x="216" y="112"/>
                </a:moveTo>
                <a:cubicBezTo>
                  <a:pt x="196" y="112"/>
                  <a:pt x="196" y="112"/>
                  <a:pt x="196" y="112"/>
                </a:cubicBezTo>
                <a:cubicBezTo>
                  <a:pt x="196" y="104"/>
                  <a:pt x="196" y="104"/>
                  <a:pt x="196" y="104"/>
                </a:cubicBezTo>
                <a:cubicBezTo>
                  <a:pt x="216" y="104"/>
                  <a:pt x="216" y="104"/>
                  <a:pt x="216" y="104"/>
                </a:cubicBezTo>
                <a:lnTo>
                  <a:pt x="216" y="112"/>
                </a:lnTo>
                <a:close/>
                <a:moveTo>
                  <a:pt x="176" y="112"/>
                </a:moveTo>
                <a:cubicBezTo>
                  <a:pt x="160" y="112"/>
                  <a:pt x="160" y="112"/>
                  <a:pt x="160" y="112"/>
                </a:cubicBezTo>
                <a:cubicBezTo>
                  <a:pt x="160" y="104"/>
                  <a:pt x="160" y="104"/>
                  <a:pt x="160" y="104"/>
                </a:cubicBezTo>
                <a:cubicBezTo>
                  <a:pt x="176" y="104"/>
                  <a:pt x="176" y="104"/>
                  <a:pt x="176" y="104"/>
                </a:cubicBezTo>
                <a:lnTo>
                  <a:pt x="176" y="112"/>
                </a:lnTo>
                <a:close/>
                <a:moveTo>
                  <a:pt x="140" y="112"/>
                </a:moveTo>
                <a:cubicBezTo>
                  <a:pt x="120" y="112"/>
                  <a:pt x="120" y="112"/>
                  <a:pt x="120" y="112"/>
                </a:cubicBezTo>
                <a:cubicBezTo>
                  <a:pt x="120" y="104"/>
                  <a:pt x="120" y="104"/>
                  <a:pt x="120" y="104"/>
                </a:cubicBezTo>
                <a:cubicBezTo>
                  <a:pt x="140" y="104"/>
                  <a:pt x="140" y="104"/>
                  <a:pt x="140" y="104"/>
                </a:cubicBezTo>
                <a:lnTo>
                  <a:pt x="140" y="112"/>
                </a:lnTo>
                <a:close/>
                <a:moveTo>
                  <a:pt x="100" y="112"/>
                </a:moveTo>
                <a:cubicBezTo>
                  <a:pt x="80" y="112"/>
                  <a:pt x="80" y="112"/>
                  <a:pt x="80" y="112"/>
                </a:cubicBezTo>
                <a:cubicBezTo>
                  <a:pt x="80" y="104"/>
                  <a:pt x="80" y="104"/>
                  <a:pt x="80" y="104"/>
                </a:cubicBezTo>
                <a:cubicBezTo>
                  <a:pt x="100" y="104"/>
                  <a:pt x="100" y="104"/>
                  <a:pt x="100" y="104"/>
                </a:cubicBezTo>
                <a:lnTo>
                  <a:pt x="100" y="112"/>
                </a:lnTo>
                <a:close/>
                <a:moveTo>
                  <a:pt x="60" y="112"/>
                </a:moveTo>
                <a:cubicBezTo>
                  <a:pt x="40" y="112"/>
                  <a:pt x="40" y="112"/>
                  <a:pt x="40" y="112"/>
                </a:cubicBezTo>
                <a:cubicBezTo>
                  <a:pt x="40" y="104"/>
                  <a:pt x="40" y="104"/>
                  <a:pt x="40" y="104"/>
                </a:cubicBezTo>
                <a:cubicBezTo>
                  <a:pt x="60" y="104"/>
                  <a:pt x="60" y="104"/>
                  <a:pt x="60" y="104"/>
                </a:cubicBezTo>
                <a:lnTo>
                  <a:pt x="60" y="112"/>
                </a:lnTo>
                <a:close/>
                <a:moveTo>
                  <a:pt x="20" y="112"/>
                </a:moveTo>
                <a:cubicBezTo>
                  <a:pt x="0" y="112"/>
                  <a:pt x="0" y="112"/>
                  <a:pt x="0" y="112"/>
                </a:cubicBezTo>
                <a:cubicBezTo>
                  <a:pt x="0" y="104"/>
                  <a:pt x="0" y="104"/>
                  <a:pt x="0" y="104"/>
                </a:cubicBezTo>
                <a:cubicBezTo>
                  <a:pt x="20" y="104"/>
                  <a:pt x="20" y="104"/>
                  <a:pt x="20" y="104"/>
                </a:cubicBezTo>
                <a:lnTo>
                  <a:pt x="20" y="112"/>
                </a:lnTo>
                <a:close/>
                <a:moveTo>
                  <a:pt x="275" y="98"/>
                </a:moveTo>
                <a:cubicBezTo>
                  <a:pt x="270" y="93"/>
                  <a:pt x="270" y="93"/>
                  <a:pt x="270" y="93"/>
                </a:cubicBezTo>
                <a:cubicBezTo>
                  <a:pt x="274" y="88"/>
                  <a:pt x="277" y="83"/>
                  <a:pt x="278" y="77"/>
                </a:cubicBezTo>
                <a:cubicBezTo>
                  <a:pt x="286" y="80"/>
                  <a:pt x="286" y="80"/>
                  <a:pt x="286" y="80"/>
                </a:cubicBezTo>
                <a:cubicBezTo>
                  <a:pt x="284" y="86"/>
                  <a:pt x="280" y="93"/>
                  <a:pt x="275" y="98"/>
                </a:cubicBezTo>
                <a:close/>
                <a:moveTo>
                  <a:pt x="288" y="60"/>
                </a:moveTo>
                <a:cubicBezTo>
                  <a:pt x="280" y="60"/>
                  <a:pt x="280" y="60"/>
                  <a:pt x="280" y="60"/>
                </a:cubicBezTo>
                <a:cubicBezTo>
                  <a:pt x="280" y="40"/>
                  <a:pt x="280" y="40"/>
                  <a:pt x="280" y="40"/>
                </a:cubicBezTo>
                <a:cubicBezTo>
                  <a:pt x="288" y="40"/>
                  <a:pt x="288" y="40"/>
                  <a:pt x="288" y="40"/>
                </a:cubicBezTo>
                <a:lnTo>
                  <a:pt x="288" y="60"/>
                </a:lnTo>
                <a:close/>
                <a:moveTo>
                  <a:pt x="288" y="20"/>
                </a:moveTo>
                <a:cubicBezTo>
                  <a:pt x="280" y="20"/>
                  <a:pt x="280" y="20"/>
                  <a:pt x="280" y="20"/>
                </a:cubicBezTo>
                <a:cubicBezTo>
                  <a:pt x="280" y="0"/>
                  <a:pt x="280" y="0"/>
                  <a:pt x="280" y="0"/>
                </a:cubicBezTo>
                <a:cubicBezTo>
                  <a:pt x="288" y="0"/>
                  <a:pt x="288" y="0"/>
                  <a:pt x="288" y="0"/>
                </a:cubicBezTo>
                <a:lnTo>
                  <a:pt x="288" y="20"/>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nvGrpSpPr>
          <p:cNvPr id="4" name="组合 3"/>
          <p:cNvGrpSpPr/>
          <p:nvPr/>
        </p:nvGrpSpPr>
        <p:grpSpPr>
          <a:xfrm>
            <a:off x="2285069" y="2343484"/>
            <a:ext cx="2696140" cy="506457"/>
            <a:chOff x="2284413" y="2343483"/>
            <a:chExt cx="2696491" cy="506457"/>
          </a:xfrm>
        </p:grpSpPr>
        <p:sp>
          <p:nvSpPr>
            <p:cNvPr id="12" name="Rectangle 12"/>
            <p:cNvSpPr>
              <a:spLocks noChangeArrowheads="1"/>
            </p:cNvSpPr>
            <p:nvPr/>
          </p:nvSpPr>
          <p:spPr bwMode="auto">
            <a:xfrm>
              <a:off x="4948062" y="2343483"/>
              <a:ext cx="32842" cy="32842"/>
            </a:xfrm>
            <a:prstGeom prst="rect">
              <a:avLst/>
            </a:prstGeom>
            <a:solidFill>
              <a:srgbClr val="6495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3" name="Freeform 13"/>
            <p:cNvSpPr>
              <a:spLocks noEditPoints="1"/>
            </p:cNvSpPr>
            <p:nvPr/>
          </p:nvSpPr>
          <p:spPr bwMode="auto">
            <a:xfrm>
              <a:off x="2284413" y="2343483"/>
              <a:ext cx="2582409" cy="375089"/>
            </a:xfrm>
            <a:custGeom>
              <a:avLst/>
              <a:gdLst>
                <a:gd name="T0" fmla="*/ 0 w 632"/>
                <a:gd name="T1" fmla="*/ 92 h 92"/>
                <a:gd name="T2" fmla="*/ 8 w 632"/>
                <a:gd name="T3" fmla="*/ 72 h 92"/>
                <a:gd name="T4" fmla="*/ 8 w 632"/>
                <a:gd name="T5" fmla="*/ 52 h 92"/>
                <a:gd name="T6" fmla="*/ 0 w 632"/>
                <a:gd name="T7" fmla="*/ 44 h 92"/>
                <a:gd name="T8" fmla="*/ 9 w 632"/>
                <a:gd name="T9" fmla="*/ 34 h 92"/>
                <a:gd name="T10" fmla="*/ 8 w 632"/>
                <a:gd name="T11" fmla="*/ 52 h 92"/>
                <a:gd name="T12" fmla="*/ 13 w 632"/>
                <a:gd name="T13" fmla="*/ 13 h 92"/>
                <a:gd name="T14" fmla="*/ 34 w 632"/>
                <a:gd name="T15" fmla="*/ 9 h 92"/>
                <a:gd name="T16" fmla="*/ 632 w 632"/>
                <a:gd name="T17" fmla="*/ 8 h 92"/>
                <a:gd name="T18" fmla="*/ 612 w 632"/>
                <a:gd name="T19" fmla="*/ 0 h 92"/>
                <a:gd name="T20" fmla="*/ 632 w 632"/>
                <a:gd name="T21" fmla="*/ 8 h 92"/>
                <a:gd name="T22" fmla="*/ 572 w 632"/>
                <a:gd name="T23" fmla="*/ 8 h 92"/>
                <a:gd name="T24" fmla="*/ 592 w 632"/>
                <a:gd name="T25" fmla="*/ 0 h 92"/>
                <a:gd name="T26" fmla="*/ 552 w 632"/>
                <a:gd name="T27" fmla="*/ 8 h 92"/>
                <a:gd name="T28" fmla="*/ 532 w 632"/>
                <a:gd name="T29" fmla="*/ 0 h 92"/>
                <a:gd name="T30" fmla="*/ 552 w 632"/>
                <a:gd name="T31" fmla="*/ 8 h 92"/>
                <a:gd name="T32" fmla="*/ 492 w 632"/>
                <a:gd name="T33" fmla="*/ 8 h 92"/>
                <a:gd name="T34" fmla="*/ 512 w 632"/>
                <a:gd name="T35" fmla="*/ 0 h 92"/>
                <a:gd name="T36" fmla="*/ 472 w 632"/>
                <a:gd name="T37" fmla="*/ 8 h 92"/>
                <a:gd name="T38" fmla="*/ 452 w 632"/>
                <a:gd name="T39" fmla="*/ 0 h 92"/>
                <a:gd name="T40" fmla="*/ 472 w 632"/>
                <a:gd name="T41" fmla="*/ 8 h 92"/>
                <a:gd name="T42" fmla="*/ 412 w 632"/>
                <a:gd name="T43" fmla="*/ 8 h 92"/>
                <a:gd name="T44" fmla="*/ 432 w 632"/>
                <a:gd name="T45" fmla="*/ 0 h 92"/>
                <a:gd name="T46" fmla="*/ 392 w 632"/>
                <a:gd name="T47" fmla="*/ 8 h 92"/>
                <a:gd name="T48" fmla="*/ 372 w 632"/>
                <a:gd name="T49" fmla="*/ 0 h 92"/>
                <a:gd name="T50" fmla="*/ 392 w 632"/>
                <a:gd name="T51" fmla="*/ 8 h 92"/>
                <a:gd name="T52" fmla="*/ 332 w 632"/>
                <a:gd name="T53" fmla="*/ 8 h 92"/>
                <a:gd name="T54" fmla="*/ 352 w 632"/>
                <a:gd name="T55" fmla="*/ 0 h 92"/>
                <a:gd name="T56" fmla="*/ 312 w 632"/>
                <a:gd name="T57" fmla="*/ 8 h 92"/>
                <a:gd name="T58" fmla="*/ 292 w 632"/>
                <a:gd name="T59" fmla="*/ 0 h 92"/>
                <a:gd name="T60" fmla="*/ 312 w 632"/>
                <a:gd name="T61" fmla="*/ 8 h 92"/>
                <a:gd name="T62" fmla="*/ 252 w 632"/>
                <a:gd name="T63" fmla="*/ 8 h 92"/>
                <a:gd name="T64" fmla="*/ 272 w 632"/>
                <a:gd name="T65" fmla="*/ 0 h 92"/>
                <a:gd name="T66" fmla="*/ 232 w 632"/>
                <a:gd name="T67" fmla="*/ 8 h 92"/>
                <a:gd name="T68" fmla="*/ 212 w 632"/>
                <a:gd name="T69" fmla="*/ 0 h 92"/>
                <a:gd name="T70" fmla="*/ 232 w 632"/>
                <a:gd name="T71" fmla="*/ 8 h 92"/>
                <a:gd name="T72" fmla="*/ 172 w 632"/>
                <a:gd name="T73" fmla="*/ 8 h 92"/>
                <a:gd name="T74" fmla="*/ 192 w 632"/>
                <a:gd name="T75" fmla="*/ 0 h 92"/>
                <a:gd name="T76" fmla="*/ 152 w 632"/>
                <a:gd name="T77" fmla="*/ 8 h 92"/>
                <a:gd name="T78" fmla="*/ 132 w 632"/>
                <a:gd name="T79" fmla="*/ 0 h 92"/>
                <a:gd name="T80" fmla="*/ 152 w 632"/>
                <a:gd name="T81" fmla="*/ 8 h 92"/>
                <a:gd name="T82" fmla="*/ 92 w 632"/>
                <a:gd name="T83" fmla="*/ 8 h 92"/>
                <a:gd name="T84" fmla="*/ 112 w 632"/>
                <a:gd name="T85" fmla="*/ 0 h 92"/>
                <a:gd name="T86" fmla="*/ 72 w 632"/>
                <a:gd name="T87" fmla="*/ 8 h 92"/>
                <a:gd name="T88" fmla="*/ 52 w 632"/>
                <a:gd name="T89" fmla="*/ 0 h 92"/>
                <a:gd name="T90" fmla="*/ 72 w 632"/>
                <a:gd name="T91" fmla="*/ 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92">
                  <a:moveTo>
                    <a:pt x="8" y="92"/>
                  </a:moveTo>
                  <a:cubicBezTo>
                    <a:pt x="0" y="92"/>
                    <a:pt x="0" y="92"/>
                    <a:pt x="0" y="92"/>
                  </a:cubicBezTo>
                  <a:cubicBezTo>
                    <a:pt x="0" y="72"/>
                    <a:pt x="0" y="72"/>
                    <a:pt x="0" y="72"/>
                  </a:cubicBezTo>
                  <a:cubicBezTo>
                    <a:pt x="8" y="72"/>
                    <a:pt x="8" y="72"/>
                    <a:pt x="8" y="72"/>
                  </a:cubicBezTo>
                  <a:lnTo>
                    <a:pt x="8" y="92"/>
                  </a:lnTo>
                  <a:close/>
                  <a:moveTo>
                    <a:pt x="8" y="52"/>
                  </a:moveTo>
                  <a:cubicBezTo>
                    <a:pt x="0" y="52"/>
                    <a:pt x="0" y="52"/>
                    <a:pt x="0" y="52"/>
                  </a:cubicBezTo>
                  <a:cubicBezTo>
                    <a:pt x="0" y="44"/>
                    <a:pt x="0" y="44"/>
                    <a:pt x="0" y="44"/>
                  </a:cubicBezTo>
                  <a:cubicBezTo>
                    <a:pt x="0" y="40"/>
                    <a:pt x="1" y="36"/>
                    <a:pt x="2" y="31"/>
                  </a:cubicBezTo>
                  <a:cubicBezTo>
                    <a:pt x="9" y="34"/>
                    <a:pt x="9" y="34"/>
                    <a:pt x="9" y="34"/>
                  </a:cubicBezTo>
                  <a:cubicBezTo>
                    <a:pt x="9" y="37"/>
                    <a:pt x="8" y="41"/>
                    <a:pt x="8" y="44"/>
                  </a:cubicBezTo>
                  <a:lnTo>
                    <a:pt x="8" y="52"/>
                  </a:lnTo>
                  <a:close/>
                  <a:moveTo>
                    <a:pt x="19" y="18"/>
                  </a:moveTo>
                  <a:cubicBezTo>
                    <a:pt x="13" y="13"/>
                    <a:pt x="13" y="13"/>
                    <a:pt x="13" y="13"/>
                  </a:cubicBezTo>
                  <a:cubicBezTo>
                    <a:pt x="18" y="8"/>
                    <a:pt x="25" y="4"/>
                    <a:pt x="32" y="2"/>
                  </a:cubicBezTo>
                  <a:cubicBezTo>
                    <a:pt x="34" y="9"/>
                    <a:pt x="34" y="9"/>
                    <a:pt x="34" y="9"/>
                  </a:cubicBezTo>
                  <a:cubicBezTo>
                    <a:pt x="28" y="11"/>
                    <a:pt x="23" y="14"/>
                    <a:pt x="19" y="18"/>
                  </a:cubicBezTo>
                  <a:close/>
                  <a:moveTo>
                    <a:pt x="632" y="8"/>
                  </a:moveTo>
                  <a:cubicBezTo>
                    <a:pt x="612" y="8"/>
                    <a:pt x="612" y="8"/>
                    <a:pt x="612" y="8"/>
                  </a:cubicBezTo>
                  <a:cubicBezTo>
                    <a:pt x="612" y="0"/>
                    <a:pt x="612" y="0"/>
                    <a:pt x="612" y="0"/>
                  </a:cubicBezTo>
                  <a:cubicBezTo>
                    <a:pt x="632" y="0"/>
                    <a:pt x="632" y="0"/>
                    <a:pt x="632" y="0"/>
                  </a:cubicBezTo>
                  <a:lnTo>
                    <a:pt x="632" y="8"/>
                  </a:lnTo>
                  <a:close/>
                  <a:moveTo>
                    <a:pt x="592" y="8"/>
                  </a:moveTo>
                  <a:cubicBezTo>
                    <a:pt x="572" y="8"/>
                    <a:pt x="572" y="8"/>
                    <a:pt x="572" y="8"/>
                  </a:cubicBezTo>
                  <a:cubicBezTo>
                    <a:pt x="572" y="0"/>
                    <a:pt x="572" y="0"/>
                    <a:pt x="572" y="0"/>
                  </a:cubicBezTo>
                  <a:cubicBezTo>
                    <a:pt x="592" y="0"/>
                    <a:pt x="592" y="0"/>
                    <a:pt x="592" y="0"/>
                  </a:cubicBezTo>
                  <a:lnTo>
                    <a:pt x="592" y="8"/>
                  </a:lnTo>
                  <a:close/>
                  <a:moveTo>
                    <a:pt x="552" y="8"/>
                  </a:moveTo>
                  <a:cubicBezTo>
                    <a:pt x="532" y="8"/>
                    <a:pt x="532" y="8"/>
                    <a:pt x="532" y="8"/>
                  </a:cubicBezTo>
                  <a:cubicBezTo>
                    <a:pt x="532" y="0"/>
                    <a:pt x="532" y="0"/>
                    <a:pt x="532" y="0"/>
                  </a:cubicBezTo>
                  <a:cubicBezTo>
                    <a:pt x="552" y="0"/>
                    <a:pt x="552" y="0"/>
                    <a:pt x="552" y="0"/>
                  </a:cubicBezTo>
                  <a:lnTo>
                    <a:pt x="552" y="8"/>
                  </a:lnTo>
                  <a:close/>
                  <a:moveTo>
                    <a:pt x="512" y="8"/>
                  </a:moveTo>
                  <a:cubicBezTo>
                    <a:pt x="492" y="8"/>
                    <a:pt x="492" y="8"/>
                    <a:pt x="492" y="8"/>
                  </a:cubicBezTo>
                  <a:cubicBezTo>
                    <a:pt x="492" y="0"/>
                    <a:pt x="492" y="0"/>
                    <a:pt x="492" y="0"/>
                  </a:cubicBezTo>
                  <a:cubicBezTo>
                    <a:pt x="512" y="0"/>
                    <a:pt x="512" y="0"/>
                    <a:pt x="512" y="0"/>
                  </a:cubicBezTo>
                  <a:lnTo>
                    <a:pt x="512" y="8"/>
                  </a:lnTo>
                  <a:close/>
                  <a:moveTo>
                    <a:pt x="472" y="8"/>
                  </a:moveTo>
                  <a:cubicBezTo>
                    <a:pt x="452" y="8"/>
                    <a:pt x="452" y="8"/>
                    <a:pt x="452" y="8"/>
                  </a:cubicBezTo>
                  <a:cubicBezTo>
                    <a:pt x="452" y="0"/>
                    <a:pt x="452" y="0"/>
                    <a:pt x="452" y="0"/>
                  </a:cubicBezTo>
                  <a:cubicBezTo>
                    <a:pt x="472" y="0"/>
                    <a:pt x="472" y="0"/>
                    <a:pt x="472" y="0"/>
                  </a:cubicBezTo>
                  <a:lnTo>
                    <a:pt x="472" y="8"/>
                  </a:lnTo>
                  <a:close/>
                  <a:moveTo>
                    <a:pt x="432" y="8"/>
                  </a:moveTo>
                  <a:cubicBezTo>
                    <a:pt x="412" y="8"/>
                    <a:pt x="412" y="8"/>
                    <a:pt x="412" y="8"/>
                  </a:cubicBezTo>
                  <a:cubicBezTo>
                    <a:pt x="412" y="0"/>
                    <a:pt x="412" y="0"/>
                    <a:pt x="412" y="0"/>
                  </a:cubicBezTo>
                  <a:cubicBezTo>
                    <a:pt x="432" y="0"/>
                    <a:pt x="432" y="0"/>
                    <a:pt x="432" y="0"/>
                  </a:cubicBezTo>
                  <a:lnTo>
                    <a:pt x="432" y="8"/>
                  </a:lnTo>
                  <a:close/>
                  <a:moveTo>
                    <a:pt x="392" y="8"/>
                  </a:moveTo>
                  <a:cubicBezTo>
                    <a:pt x="372" y="8"/>
                    <a:pt x="372" y="8"/>
                    <a:pt x="372" y="8"/>
                  </a:cubicBezTo>
                  <a:cubicBezTo>
                    <a:pt x="372" y="0"/>
                    <a:pt x="372" y="0"/>
                    <a:pt x="372" y="0"/>
                  </a:cubicBezTo>
                  <a:cubicBezTo>
                    <a:pt x="392" y="0"/>
                    <a:pt x="392" y="0"/>
                    <a:pt x="392" y="0"/>
                  </a:cubicBezTo>
                  <a:lnTo>
                    <a:pt x="392" y="8"/>
                  </a:lnTo>
                  <a:close/>
                  <a:moveTo>
                    <a:pt x="352" y="8"/>
                  </a:moveTo>
                  <a:cubicBezTo>
                    <a:pt x="332" y="8"/>
                    <a:pt x="332" y="8"/>
                    <a:pt x="332" y="8"/>
                  </a:cubicBezTo>
                  <a:cubicBezTo>
                    <a:pt x="332" y="0"/>
                    <a:pt x="332" y="0"/>
                    <a:pt x="332" y="0"/>
                  </a:cubicBezTo>
                  <a:cubicBezTo>
                    <a:pt x="352" y="0"/>
                    <a:pt x="352" y="0"/>
                    <a:pt x="352" y="0"/>
                  </a:cubicBezTo>
                  <a:lnTo>
                    <a:pt x="352" y="8"/>
                  </a:lnTo>
                  <a:close/>
                  <a:moveTo>
                    <a:pt x="312" y="8"/>
                  </a:moveTo>
                  <a:cubicBezTo>
                    <a:pt x="292" y="8"/>
                    <a:pt x="292" y="8"/>
                    <a:pt x="292" y="8"/>
                  </a:cubicBezTo>
                  <a:cubicBezTo>
                    <a:pt x="292" y="0"/>
                    <a:pt x="292" y="0"/>
                    <a:pt x="292" y="0"/>
                  </a:cubicBezTo>
                  <a:cubicBezTo>
                    <a:pt x="312" y="0"/>
                    <a:pt x="312" y="0"/>
                    <a:pt x="312" y="0"/>
                  </a:cubicBezTo>
                  <a:lnTo>
                    <a:pt x="312" y="8"/>
                  </a:lnTo>
                  <a:close/>
                  <a:moveTo>
                    <a:pt x="272" y="8"/>
                  </a:moveTo>
                  <a:cubicBezTo>
                    <a:pt x="252" y="8"/>
                    <a:pt x="252" y="8"/>
                    <a:pt x="252" y="8"/>
                  </a:cubicBezTo>
                  <a:cubicBezTo>
                    <a:pt x="252" y="0"/>
                    <a:pt x="252" y="0"/>
                    <a:pt x="252" y="0"/>
                  </a:cubicBezTo>
                  <a:cubicBezTo>
                    <a:pt x="272" y="0"/>
                    <a:pt x="272" y="0"/>
                    <a:pt x="272" y="0"/>
                  </a:cubicBezTo>
                  <a:lnTo>
                    <a:pt x="272" y="8"/>
                  </a:lnTo>
                  <a:close/>
                  <a:moveTo>
                    <a:pt x="232" y="8"/>
                  </a:moveTo>
                  <a:cubicBezTo>
                    <a:pt x="212" y="8"/>
                    <a:pt x="212" y="8"/>
                    <a:pt x="212" y="8"/>
                  </a:cubicBezTo>
                  <a:cubicBezTo>
                    <a:pt x="212" y="0"/>
                    <a:pt x="212" y="0"/>
                    <a:pt x="212" y="0"/>
                  </a:cubicBezTo>
                  <a:cubicBezTo>
                    <a:pt x="232" y="0"/>
                    <a:pt x="232" y="0"/>
                    <a:pt x="232" y="0"/>
                  </a:cubicBezTo>
                  <a:lnTo>
                    <a:pt x="232" y="8"/>
                  </a:lnTo>
                  <a:close/>
                  <a:moveTo>
                    <a:pt x="192" y="8"/>
                  </a:moveTo>
                  <a:cubicBezTo>
                    <a:pt x="172" y="8"/>
                    <a:pt x="172" y="8"/>
                    <a:pt x="172" y="8"/>
                  </a:cubicBezTo>
                  <a:cubicBezTo>
                    <a:pt x="172" y="0"/>
                    <a:pt x="172" y="0"/>
                    <a:pt x="172" y="0"/>
                  </a:cubicBezTo>
                  <a:cubicBezTo>
                    <a:pt x="192" y="0"/>
                    <a:pt x="192" y="0"/>
                    <a:pt x="192" y="0"/>
                  </a:cubicBezTo>
                  <a:lnTo>
                    <a:pt x="192" y="8"/>
                  </a:lnTo>
                  <a:close/>
                  <a:moveTo>
                    <a:pt x="152" y="8"/>
                  </a:moveTo>
                  <a:cubicBezTo>
                    <a:pt x="132" y="8"/>
                    <a:pt x="132" y="8"/>
                    <a:pt x="132" y="8"/>
                  </a:cubicBezTo>
                  <a:cubicBezTo>
                    <a:pt x="132" y="0"/>
                    <a:pt x="132" y="0"/>
                    <a:pt x="132" y="0"/>
                  </a:cubicBezTo>
                  <a:cubicBezTo>
                    <a:pt x="152" y="0"/>
                    <a:pt x="152" y="0"/>
                    <a:pt x="152" y="0"/>
                  </a:cubicBezTo>
                  <a:lnTo>
                    <a:pt x="152" y="8"/>
                  </a:lnTo>
                  <a:close/>
                  <a:moveTo>
                    <a:pt x="112" y="8"/>
                  </a:moveTo>
                  <a:cubicBezTo>
                    <a:pt x="92" y="8"/>
                    <a:pt x="92" y="8"/>
                    <a:pt x="92" y="8"/>
                  </a:cubicBezTo>
                  <a:cubicBezTo>
                    <a:pt x="92" y="0"/>
                    <a:pt x="92" y="0"/>
                    <a:pt x="92" y="0"/>
                  </a:cubicBezTo>
                  <a:cubicBezTo>
                    <a:pt x="112" y="0"/>
                    <a:pt x="112" y="0"/>
                    <a:pt x="112" y="0"/>
                  </a:cubicBezTo>
                  <a:lnTo>
                    <a:pt x="112" y="8"/>
                  </a:lnTo>
                  <a:close/>
                  <a:moveTo>
                    <a:pt x="72" y="8"/>
                  </a:moveTo>
                  <a:cubicBezTo>
                    <a:pt x="52" y="8"/>
                    <a:pt x="52" y="8"/>
                    <a:pt x="52" y="8"/>
                  </a:cubicBezTo>
                  <a:cubicBezTo>
                    <a:pt x="52" y="0"/>
                    <a:pt x="52" y="0"/>
                    <a:pt x="52" y="0"/>
                  </a:cubicBezTo>
                  <a:cubicBezTo>
                    <a:pt x="72" y="0"/>
                    <a:pt x="72" y="0"/>
                    <a:pt x="72" y="0"/>
                  </a:cubicBezTo>
                  <a:lnTo>
                    <a:pt x="72" y="8"/>
                  </a:lnTo>
                  <a:close/>
                </a:path>
              </a:pathLst>
            </a:custGeom>
            <a:solidFill>
              <a:srgbClr val="6495C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4" name="Rectangle 14"/>
            <p:cNvSpPr>
              <a:spLocks noChangeArrowheads="1"/>
            </p:cNvSpPr>
            <p:nvPr/>
          </p:nvSpPr>
          <p:spPr bwMode="auto">
            <a:xfrm>
              <a:off x="2284413" y="2817098"/>
              <a:ext cx="32842" cy="32842"/>
            </a:xfrm>
            <a:prstGeom prst="rect">
              <a:avLst/>
            </a:prstGeom>
            <a:solidFill>
              <a:srgbClr val="6495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cs typeface="+mn-ea"/>
                <a:sym typeface="+mn-lt"/>
              </a:endParaRPr>
            </a:p>
          </p:txBody>
        </p:sp>
      </p:grpSp>
      <p:sp>
        <p:nvSpPr>
          <p:cNvPr id="3" name="标题 2"/>
          <p:cNvSpPr>
            <a:spLocks noGrp="1"/>
          </p:cNvSpPr>
          <p:nvPr>
            <p:ph type="title"/>
          </p:nvPr>
        </p:nvSpPr>
        <p:spPr>
          <a:xfrm>
            <a:off x="669290" y="276225"/>
            <a:ext cx="9959340" cy="594995"/>
          </a:xfrm>
        </p:spPr>
        <p:txBody>
          <a:bodyPr>
            <a:normAutofit fontScale="90000"/>
          </a:bodyPr>
          <a:lstStyle/>
          <a:p>
            <a:r>
              <a:rPr lang="zh-CN" altLang="en-US" dirty="0">
                <a:sym typeface="+mn-lt"/>
              </a:rPr>
              <a:t>包  装</a:t>
            </a:r>
            <a:endParaRPr lang="zh-CN" altLang="en-US" dirty="0">
              <a:sym typeface="+mn-lt"/>
            </a:endParaRPr>
          </a:p>
        </p:txBody>
      </p:sp>
      <p:sp>
        <p:nvSpPr>
          <p:cNvPr id="34" name="文本框 33"/>
          <p:cNvSpPr txBox="1"/>
          <p:nvPr/>
        </p:nvSpPr>
        <p:spPr>
          <a:xfrm>
            <a:off x="1665923" y="2931160"/>
            <a:ext cx="1706880" cy="1455420"/>
          </a:xfrm>
          <a:prstGeom prst="rect">
            <a:avLst/>
          </a:prstGeom>
          <a:noFill/>
        </p:spPr>
        <p:txBody>
          <a:bodyPr wrap="square" rtlCol="0">
            <a:spAutoFit/>
          </a:bodyPr>
          <a:p>
            <a:pPr indent="0" algn="just">
              <a:lnSpc>
                <a:spcPct val="150000"/>
              </a:lnSpc>
              <a:spcBef>
                <a:spcPts val="1000"/>
              </a:spcBef>
            </a:pPr>
            <a:r>
              <a:rPr lang="en-US" altLang="zh-CN" sz="1600" b="1" dirty="0" smtClean="0">
                <a:solidFill>
                  <a:schemeClr val="bg1">
                    <a:lumMod val="50000"/>
                  </a:schemeClr>
                </a:solidFill>
                <a:latin typeface="锐字工房云字库锐倩GBK" panose="02010604000000000000" charset="-122"/>
                <a:ea typeface="锐字工房云字库锐倩GBK" panose="02010604000000000000" charset="-122"/>
                <a:cs typeface="+mn-ea"/>
                <a:sym typeface="+mn-lt"/>
              </a:rPr>
              <a:t>1.</a:t>
            </a:r>
            <a:r>
              <a:rPr lang="zh-CN" altLang="en-US" sz="1600" b="1" dirty="0" smtClean="0">
                <a:solidFill>
                  <a:schemeClr val="bg1">
                    <a:lumMod val="50000"/>
                  </a:schemeClr>
                </a:solidFill>
                <a:latin typeface="锐字工房云字库锐倩GBK" panose="02010604000000000000" charset="-122"/>
                <a:ea typeface="锐字工房云字库锐倩GBK" panose="02010604000000000000" charset="-122"/>
                <a:cs typeface="+mn-ea"/>
                <a:sym typeface="+mn-lt"/>
              </a:rPr>
              <a:t>白盒包装</a:t>
            </a:r>
            <a:endParaRPr lang="zh-CN" altLang="en-US" sz="1600" b="1" dirty="0" smtClean="0">
              <a:solidFill>
                <a:schemeClr val="bg1">
                  <a:lumMod val="50000"/>
                </a:schemeClr>
              </a:solidFill>
              <a:latin typeface="锐字工房云字库锐倩GBK" panose="02010604000000000000" charset="-122"/>
              <a:ea typeface="锐字工房云字库锐倩GBK" panose="02010604000000000000" charset="-122"/>
              <a:cs typeface="+mn-ea"/>
              <a:sym typeface="+mn-lt"/>
            </a:endParaRPr>
          </a:p>
          <a:p>
            <a:pPr indent="0" algn="just">
              <a:lnSpc>
                <a:spcPct val="150000"/>
              </a:lnSpc>
              <a:spcBef>
                <a:spcPts val="1000"/>
              </a:spcBef>
            </a:pPr>
            <a:r>
              <a:rPr lang="en-US" altLang="zh-CN" sz="1600" b="1" dirty="0">
                <a:solidFill>
                  <a:schemeClr val="bg1">
                    <a:lumMod val="50000"/>
                  </a:schemeClr>
                </a:solidFill>
                <a:latin typeface="锐字工房云字库锐倩GBK" panose="02010604000000000000" charset="-122"/>
                <a:ea typeface="锐字工房云字库锐倩GBK" panose="02010604000000000000" charset="-122"/>
                <a:cs typeface="+mn-ea"/>
                <a:sym typeface="+mn-lt"/>
              </a:rPr>
              <a:t>2.</a:t>
            </a:r>
            <a:r>
              <a:rPr lang="zh-CN" altLang="en-US" sz="1600" b="1" dirty="0">
                <a:solidFill>
                  <a:schemeClr val="bg1">
                    <a:lumMod val="50000"/>
                  </a:schemeClr>
                </a:solidFill>
                <a:latin typeface="锐字工房云字库锐倩GBK" panose="02010604000000000000" charset="-122"/>
                <a:ea typeface="锐字工房云字库锐倩GBK" panose="02010604000000000000" charset="-122"/>
                <a:cs typeface="+mn-ea"/>
                <a:sym typeface="+mn-lt"/>
              </a:rPr>
              <a:t>吸塑包装</a:t>
            </a:r>
            <a:endParaRPr lang="zh-CN" altLang="en-US" sz="1600" b="1" dirty="0">
              <a:solidFill>
                <a:schemeClr val="bg1">
                  <a:lumMod val="50000"/>
                </a:schemeClr>
              </a:solidFill>
              <a:latin typeface="锐字工房云字库锐倩GBK" panose="02010604000000000000" charset="-122"/>
              <a:ea typeface="锐字工房云字库锐倩GBK" panose="02010604000000000000" charset="-122"/>
              <a:cs typeface="+mn-ea"/>
              <a:sym typeface="+mn-lt"/>
            </a:endParaRPr>
          </a:p>
          <a:p>
            <a:pPr indent="0" algn="just">
              <a:lnSpc>
                <a:spcPct val="150000"/>
              </a:lnSpc>
              <a:spcBef>
                <a:spcPts val="1000"/>
              </a:spcBef>
            </a:pPr>
            <a:r>
              <a:rPr lang="en-US" altLang="zh-CN" sz="1600" b="1" dirty="0">
                <a:solidFill>
                  <a:schemeClr val="bg1">
                    <a:lumMod val="50000"/>
                  </a:schemeClr>
                </a:solidFill>
                <a:latin typeface="锐字工房云字库锐倩GBK" panose="02010604000000000000" charset="-122"/>
                <a:ea typeface="锐字工房云字库锐倩GBK" panose="02010604000000000000" charset="-122"/>
                <a:cs typeface="+mn-ea"/>
                <a:sym typeface="+mn-lt"/>
              </a:rPr>
              <a:t>3.</a:t>
            </a:r>
            <a:r>
              <a:rPr lang="zh-CN" altLang="en-US" sz="1600" b="1" dirty="0">
                <a:solidFill>
                  <a:schemeClr val="bg1">
                    <a:lumMod val="50000"/>
                  </a:schemeClr>
                </a:solidFill>
                <a:latin typeface="锐字工房云字库锐倩GBK" panose="02010604000000000000" charset="-122"/>
                <a:ea typeface="锐字工房云字库锐倩GBK" panose="02010604000000000000" charset="-122"/>
                <a:cs typeface="+mn-ea"/>
                <a:sym typeface="+mn-lt"/>
              </a:rPr>
              <a:t>中文彩盒包装</a:t>
            </a:r>
            <a:endParaRPr lang="zh-CN" altLang="en-US" sz="1600" b="1" dirty="0">
              <a:solidFill>
                <a:schemeClr val="bg1">
                  <a:lumMod val="50000"/>
                </a:schemeClr>
              </a:solidFill>
              <a:latin typeface="锐字工房云字库锐倩GBK" panose="02010604000000000000" charset="-122"/>
              <a:ea typeface="锐字工房云字库锐倩GBK" panose="02010604000000000000" charset="-122"/>
              <a:cs typeface="+mn-ea"/>
              <a:sym typeface="+mn-lt"/>
            </a:endParaRPr>
          </a:p>
        </p:txBody>
      </p:sp>
      <p:sp>
        <p:nvSpPr>
          <p:cNvPr id="40" name="Text Box 44"/>
          <p:cNvSpPr txBox="1">
            <a:spLocks noChangeArrowheads="1"/>
          </p:cNvSpPr>
          <p:nvPr/>
        </p:nvSpPr>
        <p:spPr bwMode="auto">
          <a:xfrm>
            <a:off x="1665923" y="4860290"/>
            <a:ext cx="3201035" cy="195326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lgn="just">
              <a:lnSpc>
                <a:spcPct val="150000"/>
              </a:lnSpc>
              <a:spcBef>
                <a:spcPts val="1000"/>
              </a:spcBef>
            </a:pPr>
            <a:r>
              <a:rPr lang="en-US" altLang="zh-CN" b="1" dirty="0">
                <a:solidFill>
                  <a:srgbClr val="0070C0"/>
                </a:solidFill>
                <a:latin typeface="锐字工房云字库锐倩GBK" panose="02010604000000000000" charset="-122"/>
                <a:ea typeface="锐字工房云字库锐倩GBK" panose="02010604000000000000" charset="-122"/>
                <a:cs typeface="+mn-ea"/>
                <a:sym typeface="+mn-lt"/>
              </a:rPr>
              <a:t>4.</a:t>
            </a:r>
            <a:r>
              <a:rPr lang="zh-CN" altLang="en-US" b="1" dirty="0">
                <a:solidFill>
                  <a:srgbClr val="0070C0"/>
                </a:solidFill>
                <a:latin typeface="锐字工房云字库锐倩GBK" panose="02010604000000000000" charset="-122"/>
                <a:ea typeface="锐字工房云字库锐倩GBK" panose="02010604000000000000" charset="-122"/>
                <a:cs typeface="+mn-ea"/>
                <a:sym typeface="+mn-lt"/>
              </a:rPr>
              <a:t>黄色牛皮纸包装</a:t>
            </a:r>
            <a:endParaRPr lang="zh-CN" altLang="en-US" b="1" dirty="0">
              <a:solidFill>
                <a:srgbClr val="0070C0"/>
              </a:solidFill>
              <a:latin typeface="锐字工房云字库锐倩GBK" panose="02010604000000000000" charset="-122"/>
              <a:ea typeface="锐字工房云字库锐倩GBK" panose="02010604000000000000" charset="-122"/>
              <a:cs typeface="+mn-ea"/>
              <a:sym typeface="+mn-lt"/>
            </a:endParaRPr>
          </a:p>
          <a:p>
            <a:pPr indent="0" algn="just">
              <a:lnSpc>
                <a:spcPct val="150000"/>
              </a:lnSpc>
              <a:spcBef>
                <a:spcPts val="1000"/>
              </a:spcBef>
            </a:pPr>
            <a:r>
              <a:rPr lang="en-US" altLang="zh-CN" b="1" dirty="0">
                <a:solidFill>
                  <a:srgbClr val="0070C0"/>
                </a:solidFill>
                <a:latin typeface="锐字工房云字库锐倩GBK" panose="02010604000000000000" charset="-122"/>
                <a:ea typeface="锐字工房云字库锐倩GBK" panose="02010604000000000000" charset="-122"/>
                <a:cs typeface="+mn-ea"/>
                <a:sym typeface="+mn-lt"/>
              </a:rPr>
              <a:t>5.</a:t>
            </a:r>
            <a:r>
              <a:rPr lang="zh-CN" altLang="en-US" b="1" dirty="0">
                <a:solidFill>
                  <a:srgbClr val="0070C0"/>
                </a:solidFill>
                <a:latin typeface="锐字工房云字库锐倩GBK" panose="02010604000000000000" charset="-122"/>
                <a:ea typeface="锐字工房云字库锐倩GBK" panose="02010604000000000000" charset="-122"/>
                <a:cs typeface="+mn-ea"/>
                <a:sym typeface="+mn-lt"/>
              </a:rPr>
              <a:t>中性英文彩盒包装</a:t>
            </a:r>
            <a:endParaRPr lang="zh-CN" altLang="en-US" b="1" dirty="0">
              <a:solidFill>
                <a:srgbClr val="0070C0"/>
              </a:solidFill>
              <a:latin typeface="锐字工房云字库锐倩GBK" panose="02010604000000000000" charset="-122"/>
              <a:ea typeface="锐字工房云字库锐倩GBK" panose="02010604000000000000" charset="-122"/>
              <a:cs typeface="+mn-ea"/>
              <a:sym typeface="+mn-lt"/>
            </a:endParaRPr>
          </a:p>
          <a:p>
            <a:pPr indent="0" algn="just">
              <a:lnSpc>
                <a:spcPct val="150000"/>
              </a:lnSpc>
              <a:spcBef>
                <a:spcPts val="1000"/>
              </a:spcBef>
            </a:pPr>
            <a:r>
              <a:rPr lang="en-US" altLang="zh-CN" b="1" dirty="0">
                <a:solidFill>
                  <a:srgbClr val="0070C0"/>
                </a:solidFill>
                <a:latin typeface="锐字工房云字库锐倩GBK" panose="02010604000000000000" charset="-122"/>
                <a:ea typeface="锐字工房云字库锐倩GBK" panose="02010604000000000000" charset="-122"/>
                <a:cs typeface="+mn-ea"/>
                <a:sym typeface="+mn-lt"/>
              </a:rPr>
              <a:t>6.</a:t>
            </a:r>
            <a:r>
              <a:rPr lang="zh-CN" altLang="zh-CN" b="1" dirty="0">
                <a:solidFill>
                  <a:srgbClr val="0070C0"/>
                </a:solidFill>
                <a:latin typeface="锐字工房云字库锐倩GBK" panose="02010604000000000000" charset="-122"/>
                <a:ea typeface="锐字工房云字库锐倩GBK" panose="02010604000000000000" charset="-122"/>
                <a:cs typeface="+mn-ea"/>
                <a:sym typeface="+mn-lt"/>
              </a:rPr>
              <a:t>品牌彩盒包装</a:t>
            </a:r>
            <a:endParaRPr lang="zh-CN" altLang="zh-CN" b="1" dirty="0">
              <a:solidFill>
                <a:srgbClr val="0070C0"/>
              </a:solidFill>
              <a:latin typeface="锐字工房云字库锐倩GBK" panose="02010604000000000000" charset="-122"/>
              <a:ea typeface="锐字工房云字库锐倩GBK" panose="02010604000000000000" charset="-122"/>
              <a:cs typeface="+mn-ea"/>
              <a:sym typeface="+mn-lt"/>
            </a:endParaRPr>
          </a:p>
          <a:p>
            <a:pPr indent="0" algn="just">
              <a:lnSpc>
                <a:spcPct val="150000"/>
              </a:lnSpc>
              <a:spcBef>
                <a:spcPts val="1000"/>
              </a:spcBef>
            </a:pPr>
            <a:r>
              <a:rPr lang="en-US" altLang="zh-CN" b="1" dirty="0">
                <a:solidFill>
                  <a:srgbClr val="0070C0"/>
                </a:solidFill>
                <a:latin typeface="锐字工房云字库锐倩GBK" panose="02010604000000000000" charset="-122"/>
                <a:ea typeface="锐字工房云字库锐倩GBK" panose="02010604000000000000" charset="-122"/>
                <a:cs typeface="+mn-ea"/>
                <a:sym typeface="+mn-lt"/>
              </a:rPr>
              <a:t>7.</a:t>
            </a:r>
            <a:r>
              <a:rPr lang="zh-CN" altLang="zh-CN" b="1" dirty="0">
                <a:solidFill>
                  <a:srgbClr val="0070C0"/>
                </a:solidFill>
                <a:latin typeface="锐字工房云字库锐倩GBK" panose="02010604000000000000" charset="-122"/>
                <a:ea typeface="锐字工房云字库锐倩GBK" panose="02010604000000000000" charset="-122"/>
                <a:cs typeface="+mn-ea"/>
                <a:sym typeface="+mn-lt"/>
              </a:rPr>
              <a:t>CE </a:t>
            </a:r>
            <a:r>
              <a:rPr lang="en-US" altLang="zh-CN" b="1" dirty="0">
                <a:solidFill>
                  <a:srgbClr val="0070C0"/>
                </a:solidFill>
                <a:latin typeface="锐字工房云字库锐倩GBK" panose="02010604000000000000" charset="-122"/>
                <a:ea typeface="锐字工房云字库锐倩GBK" panose="02010604000000000000" charset="-122"/>
                <a:cs typeface="+mn-ea"/>
                <a:sym typeface="+mn-lt"/>
              </a:rPr>
              <a:t>F</a:t>
            </a:r>
            <a:r>
              <a:rPr lang="zh-CN" altLang="zh-CN" b="1" dirty="0">
                <a:solidFill>
                  <a:srgbClr val="0070C0"/>
                </a:solidFill>
                <a:latin typeface="锐字工房云字库锐倩GBK" panose="02010604000000000000" charset="-122"/>
                <a:ea typeface="锐字工房云字库锐倩GBK" panose="02010604000000000000" charset="-122"/>
                <a:cs typeface="+mn-ea"/>
                <a:sym typeface="+mn-lt"/>
              </a:rPr>
              <a:t>CC RoHS 可回收 垃圾桶</a:t>
            </a:r>
            <a:endParaRPr lang="zh-CN" altLang="zh-CN" b="1" dirty="0">
              <a:solidFill>
                <a:srgbClr val="0070C0"/>
              </a:solidFill>
              <a:latin typeface="锐字工房云字库锐倩GBK" panose="02010604000000000000" charset="-122"/>
              <a:ea typeface="锐字工房云字库锐倩GBK" panose="02010604000000000000" charset="-122"/>
              <a:cs typeface="+mn-ea"/>
              <a:sym typeface="+mn-lt"/>
            </a:endParaRPr>
          </a:p>
        </p:txBody>
      </p:sp>
      <p:pic>
        <p:nvPicPr>
          <p:cNvPr id="54" name="图片 53"/>
          <p:cNvPicPr>
            <a:picLocks noChangeAspect="1"/>
          </p:cNvPicPr>
          <p:nvPr/>
        </p:nvPicPr>
        <p:blipFill>
          <a:blip r:embed="rId1"/>
          <a:stretch>
            <a:fillRect/>
          </a:stretch>
        </p:blipFill>
        <p:spPr>
          <a:xfrm>
            <a:off x="6108383" y="1056005"/>
            <a:ext cx="1588135" cy="1487805"/>
          </a:xfrm>
          <a:prstGeom prst="rect">
            <a:avLst/>
          </a:prstGeom>
        </p:spPr>
      </p:pic>
      <p:pic>
        <p:nvPicPr>
          <p:cNvPr id="55" name="图片 54"/>
          <p:cNvPicPr>
            <a:picLocks noChangeAspect="1"/>
          </p:cNvPicPr>
          <p:nvPr/>
        </p:nvPicPr>
        <p:blipFill>
          <a:blip r:embed="rId2"/>
          <a:stretch>
            <a:fillRect/>
          </a:stretch>
        </p:blipFill>
        <p:spPr>
          <a:xfrm>
            <a:off x="6108383" y="2643505"/>
            <a:ext cx="1677670" cy="1428750"/>
          </a:xfrm>
          <a:prstGeom prst="rect">
            <a:avLst/>
          </a:prstGeom>
        </p:spPr>
      </p:pic>
      <p:pic>
        <p:nvPicPr>
          <p:cNvPr id="57" name="图片 56"/>
          <p:cNvPicPr>
            <a:picLocks noChangeAspect="1"/>
          </p:cNvPicPr>
          <p:nvPr/>
        </p:nvPicPr>
        <p:blipFill>
          <a:blip r:embed="rId3"/>
          <a:stretch>
            <a:fillRect/>
          </a:stretch>
        </p:blipFill>
        <p:spPr>
          <a:xfrm>
            <a:off x="6108383" y="5657850"/>
            <a:ext cx="618490" cy="577215"/>
          </a:xfrm>
          <a:prstGeom prst="rect">
            <a:avLst/>
          </a:prstGeom>
        </p:spPr>
      </p:pic>
      <p:pic>
        <p:nvPicPr>
          <p:cNvPr id="58" name="图片 57"/>
          <p:cNvPicPr>
            <a:picLocks noChangeAspect="1"/>
          </p:cNvPicPr>
          <p:nvPr/>
        </p:nvPicPr>
        <p:blipFill>
          <a:blip r:embed="rId4"/>
          <a:stretch>
            <a:fillRect/>
          </a:stretch>
        </p:blipFill>
        <p:spPr>
          <a:xfrm>
            <a:off x="7702233" y="5657850"/>
            <a:ext cx="535940" cy="535940"/>
          </a:xfrm>
          <a:prstGeom prst="rect">
            <a:avLst/>
          </a:prstGeom>
        </p:spPr>
      </p:pic>
      <p:pic>
        <p:nvPicPr>
          <p:cNvPr id="59" name="图片 58"/>
          <p:cNvPicPr>
            <a:picLocks noChangeAspect="1"/>
          </p:cNvPicPr>
          <p:nvPr/>
        </p:nvPicPr>
        <p:blipFill>
          <a:blip r:embed="rId5"/>
          <a:stretch>
            <a:fillRect/>
          </a:stretch>
        </p:blipFill>
        <p:spPr>
          <a:xfrm>
            <a:off x="6822123" y="5652770"/>
            <a:ext cx="880110" cy="582295"/>
          </a:xfrm>
          <a:prstGeom prst="rect">
            <a:avLst/>
          </a:prstGeom>
        </p:spPr>
      </p:pic>
      <p:pic>
        <p:nvPicPr>
          <p:cNvPr id="60" name="图片 59"/>
          <p:cNvPicPr>
            <a:picLocks noChangeAspect="1"/>
          </p:cNvPicPr>
          <p:nvPr/>
        </p:nvPicPr>
        <p:blipFill>
          <a:blip r:embed="rId6"/>
          <a:stretch>
            <a:fillRect/>
          </a:stretch>
        </p:blipFill>
        <p:spPr>
          <a:xfrm>
            <a:off x="6108383" y="6235065"/>
            <a:ext cx="618490" cy="578485"/>
          </a:xfrm>
          <a:prstGeom prst="rect">
            <a:avLst/>
          </a:prstGeom>
        </p:spPr>
      </p:pic>
      <p:pic>
        <p:nvPicPr>
          <p:cNvPr id="61" name="图片 60"/>
          <p:cNvPicPr>
            <a:picLocks noChangeAspect="1"/>
          </p:cNvPicPr>
          <p:nvPr/>
        </p:nvPicPr>
        <p:blipFill>
          <a:blip r:embed="rId7"/>
          <a:stretch>
            <a:fillRect/>
          </a:stretch>
        </p:blipFill>
        <p:spPr>
          <a:xfrm>
            <a:off x="6822123" y="6216015"/>
            <a:ext cx="555625" cy="597535"/>
          </a:xfrm>
          <a:prstGeom prst="rect">
            <a:avLst/>
          </a:prstGeom>
        </p:spPr>
      </p:pic>
      <p:pic>
        <p:nvPicPr>
          <p:cNvPr id="62" name="图片 61"/>
          <p:cNvPicPr>
            <a:picLocks noChangeAspect="1"/>
          </p:cNvPicPr>
          <p:nvPr/>
        </p:nvPicPr>
        <p:blipFill>
          <a:blip r:embed="rId8"/>
          <a:stretch>
            <a:fillRect/>
          </a:stretch>
        </p:blipFill>
        <p:spPr>
          <a:xfrm>
            <a:off x="7648893" y="6247765"/>
            <a:ext cx="589280" cy="565785"/>
          </a:xfrm>
          <a:prstGeom prst="rect">
            <a:avLst/>
          </a:prstGeom>
        </p:spPr>
      </p:pic>
      <p:pic>
        <p:nvPicPr>
          <p:cNvPr id="66" name="图片 65"/>
          <p:cNvPicPr>
            <a:picLocks noChangeAspect="1"/>
          </p:cNvPicPr>
          <p:nvPr/>
        </p:nvPicPr>
        <p:blipFill>
          <a:blip r:embed="rId9"/>
          <a:stretch>
            <a:fillRect/>
          </a:stretch>
        </p:blipFill>
        <p:spPr>
          <a:xfrm>
            <a:off x="9221153" y="1164590"/>
            <a:ext cx="1842135" cy="1379220"/>
          </a:xfrm>
          <a:prstGeom prst="rect">
            <a:avLst/>
          </a:prstGeom>
        </p:spPr>
      </p:pic>
      <p:sp>
        <p:nvSpPr>
          <p:cNvPr id="33" name="矩形 32"/>
          <p:cNvSpPr/>
          <p:nvPr/>
        </p:nvSpPr>
        <p:spPr>
          <a:xfrm rot="1620000">
            <a:off x="8074977" y="1016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pic>
        <p:nvPicPr>
          <p:cNvPr id="67" name="图片 66"/>
          <p:cNvPicPr>
            <a:picLocks noChangeAspect="1"/>
          </p:cNvPicPr>
          <p:nvPr/>
        </p:nvPicPr>
        <p:blipFill>
          <a:blip r:embed="rId10"/>
          <a:stretch>
            <a:fillRect/>
          </a:stretch>
        </p:blipFill>
        <p:spPr>
          <a:xfrm>
            <a:off x="6108383" y="4158615"/>
            <a:ext cx="1721485" cy="1404620"/>
          </a:xfrm>
          <a:prstGeom prst="rect">
            <a:avLst/>
          </a:prstGeom>
        </p:spPr>
      </p:pic>
      <p:pic>
        <p:nvPicPr>
          <p:cNvPr id="68" name="图片 67"/>
          <p:cNvPicPr>
            <a:picLocks noChangeAspect="1"/>
          </p:cNvPicPr>
          <p:nvPr/>
        </p:nvPicPr>
        <p:blipFill>
          <a:blip r:embed="rId11"/>
          <a:stretch>
            <a:fillRect/>
          </a:stretch>
        </p:blipFill>
        <p:spPr>
          <a:xfrm>
            <a:off x="9256713" y="5598795"/>
            <a:ext cx="1841500" cy="1214755"/>
          </a:xfrm>
          <a:prstGeom prst="rect">
            <a:avLst/>
          </a:prstGeom>
        </p:spPr>
      </p:pic>
      <p:pic>
        <p:nvPicPr>
          <p:cNvPr id="69" name="图片 68"/>
          <p:cNvPicPr>
            <a:picLocks noChangeAspect="1"/>
          </p:cNvPicPr>
          <p:nvPr/>
        </p:nvPicPr>
        <p:blipFill>
          <a:blip r:embed="rId12"/>
          <a:stretch>
            <a:fillRect/>
          </a:stretch>
        </p:blipFill>
        <p:spPr>
          <a:xfrm>
            <a:off x="9249728" y="4231005"/>
            <a:ext cx="1903730" cy="1259205"/>
          </a:xfrm>
          <a:prstGeom prst="rect">
            <a:avLst/>
          </a:prstGeom>
        </p:spPr>
      </p:pic>
      <p:pic>
        <p:nvPicPr>
          <p:cNvPr id="70" name="图片 69"/>
          <p:cNvPicPr>
            <a:picLocks noChangeAspect="1"/>
          </p:cNvPicPr>
          <p:nvPr/>
        </p:nvPicPr>
        <p:blipFill>
          <a:blip r:embed="rId13"/>
          <a:stretch>
            <a:fillRect/>
          </a:stretch>
        </p:blipFill>
        <p:spPr>
          <a:xfrm>
            <a:off x="9219883" y="2749550"/>
            <a:ext cx="1842770" cy="1358265"/>
          </a:xfrm>
          <a:prstGeom prst="rect">
            <a:avLst/>
          </a:prstGeom>
        </p:spPr>
      </p:pic>
      <p:sp>
        <p:nvSpPr>
          <p:cNvPr id="2" name="矩形 1"/>
          <p:cNvSpPr/>
          <p:nvPr/>
        </p:nvSpPr>
        <p:spPr>
          <a:xfrm>
            <a:off x="953" y="217070"/>
            <a:ext cx="392971" cy="71376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nvSpPr>
        <p:spPr>
          <a:xfrm rot="5400000">
            <a:off x="7697121" y="-3835434"/>
            <a:ext cx="73846" cy="891400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1000" fill="hold"/>
                                        <p:tgtEl>
                                          <p:spTgt spid="8"/>
                                        </p:tgtEl>
                                        <p:attrNameLst>
                                          <p:attrName>ppt_w</p:attrName>
                                        </p:attrNameLst>
                                      </p:cBhvr>
                                      <p:tavLst>
                                        <p:tav tm="0">
                                          <p:val>
                                            <p:fltVal val="0"/>
                                          </p:val>
                                        </p:tav>
                                        <p:tav tm="100000">
                                          <p:val>
                                            <p:strVal val="#ppt_w"/>
                                          </p:val>
                                        </p:tav>
                                      </p:tavLst>
                                    </p:anim>
                                    <p:anim calcmode="lin" valueType="num">
                                      <p:cBhvr>
                                        <p:cTn id="14" dur="1000" fill="hold"/>
                                        <p:tgtEl>
                                          <p:spTgt spid="8"/>
                                        </p:tgtEl>
                                        <p:attrNameLst>
                                          <p:attrName>ppt_h</p:attrName>
                                        </p:attrNameLst>
                                      </p:cBhvr>
                                      <p:tavLst>
                                        <p:tav tm="0">
                                          <p:val>
                                            <p:fltVal val="0"/>
                                          </p:val>
                                        </p:tav>
                                        <p:tav tm="100000">
                                          <p:val>
                                            <p:strVal val="#ppt_h"/>
                                          </p:val>
                                        </p:tav>
                                      </p:tavLst>
                                    </p:anim>
                                    <p:anim calcmode="lin" valueType="num">
                                      <p:cBhvr>
                                        <p:cTn id="15" dur="1000" fill="hold"/>
                                        <p:tgtEl>
                                          <p:spTgt spid="8"/>
                                        </p:tgtEl>
                                        <p:attrNameLst>
                                          <p:attrName>style.rotation</p:attrName>
                                        </p:attrNameLst>
                                      </p:cBhvr>
                                      <p:tavLst>
                                        <p:tav tm="0">
                                          <p:val>
                                            <p:fltVal val="90"/>
                                          </p:val>
                                        </p:tav>
                                        <p:tav tm="100000">
                                          <p:val>
                                            <p:fltVal val="0"/>
                                          </p:val>
                                        </p:tav>
                                      </p:tavLst>
                                    </p:anim>
                                    <p:animEffect transition="in" filter="fade">
                                      <p:cBhvr>
                                        <p:cTn id="16" dur="1000"/>
                                        <p:tgtEl>
                                          <p:spTgt spid="8"/>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1000" fill="hold"/>
                                        <p:tgtEl>
                                          <p:spTgt spid="11"/>
                                        </p:tgtEl>
                                        <p:attrNameLst>
                                          <p:attrName>ppt_w</p:attrName>
                                        </p:attrNameLst>
                                      </p:cBhvr>
                                      <p:tavLst>
                                        <p:tav tm="0">
                                          <p:val>
                                            <p:fltVal val="0"/>
                                          </p:val>
                                        </p:tav>
                                        <p:tav tm="100000">
                                          <p:val>
                                            <p:strVal val="#ppt_w"/>
                                          </p:val>
                                        </p:tav>
                                      </p:tavLst>
                                    </p:anim>
                                    <p:anim calcmode="lin" valueType="num">
                                      <p:cBhvr>
                                        <p:cTn id="20" dur="1000" fill="hold"/>
                                        <p:tgtEl>
                                          <p:spTgt spid="11"/>
                                        </p:tgtEl>
                                        <p:attrNameLst>
                                          <p:attrName>ppt_h</p:attrName>
                                        </p:attrNameLst>
                                      </p:cBhvr>
                                      <p:tavLst>
                                        <p:tav tm="0">
                                          <p:val>
                                            <p:fltVal val="0"/>
                                          </p:val>
                                        </p:tav>
                                        <p:tav tm="100000">
                                          <p:val>
                                            <p:strVal val="#ppt_h"/>
                                          </p:val>
                                        </p:tav>
                                      </p:tavLst>
                                    </p:anim>
                                    <p:anim calcmode="lin" valueType="num">
                                      <p:cBhvr>
                                        <p:cTn id="21" dur="1000" fill="hold"/>
                                        <p:tgtEl>
                                          <p:spTgt spid="11"/>
                                        </p:tgtEl>
                                        <p:attrNameLst>
                                          <p:attrName>style.rotation</p:attrName>
                                        </p:attrNameLst>
                                      </p:cBhvr>
                                      <p:tavLst>
                                        <p:tav tm="0">
                                          <p:val>
                                            <p:fltVal val="90"/>
                                          </p:val>
                                        </p:tav>
                                        <p:tav tm="100000">
                                          <p:val>
                                            <p:fltVal val="0"/>
                                          </p:val>
                                        </p:tav>
                                      </p:tavLst>
                                    </p:anim>
                                    <p:animEffect transition="in" filter="fade">
                                      <p:cBhvr>
                                        <p:cTn id="22" dur="1000"/>
                                        <p:tgtEl>
                                          <p:spTgt spid="11"/>
                                        </p:tgtEl>
                                      </p:cBhvr>
                                    </p:animEffect>
                                  </p:childTnLst>
                                </p:cTn>
                              </p:par>
                              <p:par>
                                <p:cTn id="23" presetID="22" presetClass="entr" presetSubtype="2" fill="hold" nodeType="withEffect">
                                  <p:stCondLst>
                                    <p:cond delay="200"/>
                                  </p:stCondLst>
                                  <p:childTnLst>
                                    <p:set>
                                      <p:cBhvr>
                                        <p:cTn id="24" dur="1" fill="hold">
                                          <p:stCondLst>
                                            <p:cond delay="0"/>
                                          </p:stCondLst>
                                        </p:cTn>
                                        <p:tgtEl>
                                          <p:spTgt spid="4"/>
                                        </p:tgtEl>
                                        <p:attrNameLst>
                                          <p:attrName>style.visibility</p:attrName>
                                        </p:attrNameLst>
                                      </p:cBhvr>
                                      <p:to>
                                        <p:strVal val="visible"/>
                                      </p:to>
                                    </p:set>
                                    <p:animEffect transition="in" filter="wipe(right)">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2"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checkerboard(across)">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4">
                                            <p:txEl>
                                              <p:pRg st="0" end="0"/>
                                            </p:txEl>
                                          </p:spTgt>
                                        </p:tgtEl>
                                        <p:attrNameLst>
                                          <p:attrName>style.visibility</p:attrName>
                                        </p:attrNameLst>
                                      </p:cBhvr>
                                      <p:to>
                                        <p:strVal val="visible"/>
                                      </p:to>
                                    </p:set>
                                    <p:animEffect transition="in" filter="blinds(horizontal)">
                                      <p:cBhvr>
                                        <p:cTn id="35" dur="500"/>
                                        <p:tgtEl>
                                          <p:spTgt spid="34">
                                            <p:txEl>
                                              <p:pRg st="0" end="0"/>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34">
                                            <p:txEl>
                                              <p:pRg st="1" end="1"/>
                                            </p:txEl>
                                          </p:spTgt>
                                        </p:tgtEl>
                                        <p:attrNameLst>
                                          <p:attrName>style.visibility</p:attrName>
                                        </p:attrNameLst>
                                      </p:cBhvr>
                                      <p:to>
                                        <p:strVal val="visible"/>
                                      </p:to>
                                    </p:set>
                                    <p:animEffect transition="in" filter="blinds(horizontal)">
                                      <p:cBhvr>
                                        <p:cTn id="38" dur="500"/>
                                        <p:tgtEl>
                                          <p:spTgt spid="34">
                                            <p:txEl>
                                              <p:pRg st="1" end="1"/>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34">
                                            <p:txEl>
                                              <p:pRg st="2" end="2"/>
                                            </p:txEl>
                                          </p:spTgt>
                                        </p:tgtEl>
                                        <p:attrNameLst>
                                          <p:attrName>style.visibility</p:attrName>
                                        </p:attrNameLst>
                                      </p:cBhvr>
                                      <p:to>
                                        <p:strVal val="visible"/>
                                      </p:to>
                                    </p:set>
                                    <p:animEffect transition="in" filter="blinds(horizontal)">
                                      <p:cBhvr>
                                        <p:cTn id="41" dur="500"/>
                                        <p:tgtEl>
                                          <p:spTgt spid="34">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54"/>
                                        </p:tgtEl>
                                        <p:attrNameLst>
                                          <p:attrName>style.visibility</p:attrName>
                                        </p:attrNameLst>
                                      </p:cBhvr>
                                      <p:to>
                                        <p:strVal val="visible"/>
                                      </p:to>
                                    </p:set>
                                    <p:anim calcmode="lin" valueType="num">
                                      <p:cBhvr additive="base">
                                        <p:cTn id="46" dur="500" fill="hold"/>
                                        <p:tgtEl>
                                          <p:spTgt spid="54"/>
                                        </p:tgtEl>
                                        <p:attrNameLst>
                                          <p:attrName>ppt_x</p:attrName>
                                        </p:attrNameLst>
                                      </p:cBhvr>
                                      <p:tavLst>
                                        <p:tav tm="0">
                                          <p:val>
                                            <p:strVal val="#ppt_x"/>
                                          </p:val>
                                        </p:tav>
                                        <p:tav tm="100000">
                                          <p:val>
                                            <p:strVal val="#ppt_x"/>
                                          </p:val>
                                        </p:tav>
                                      </p:tavLst>
                                    </p:anim>
                                    <p:anim calcmode="lin" valueType="num">
                                      <p:cBhvr additive="base">
                                        <p:cTn id="47" dur="500" fill="hold"/>
                                        <p:tgtEl>
                                          <p:spTgt spid="54"/>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66"/>
                                        </p:tgtEl>
                                        <p:attrNameLst>
                                          <p:attrName>style.visibility</p:attrName>
                                        </p:attrNameLst>
                                      </p:cBhvr>
                                      <p:to>
                                        <p:strVal val="visible"/>
                                      </p:to>
                                    </p:set>
                                    <p:anim calcmode="lin" valueType="num">
                                      <p:cBhvr additive="base">
                                        <p:cTn id="50" dur="500" fill="hold"/>
                                        <p:tgtEl>
                                          <p:spTgt spid="66"/>
                                        </p:tgtEl>
                                        <p:attrNameLst>
                                          <p:attrName>ppt_x</p:attrName>
                                        </p:attrNameLst>
                                      </p:cBhvr>
                                      <p:tavLst>
                                        <p:tav tm="0">
                                          <p:val>
                                            <p:strVal val="#ppt_x"/>
                                          </p:val>
                                        </p:tav>
                                        <p:tav tm="100000">
                                          <p:val>
                                            <p:strVal val="#ppt_x"/>
                                          </p:val>
                                        </p:tav>
                                      </p:tavLst>
                                    </p:anim>
                                    <p:anim calcmode="lin" valueType="num">
                                      <p:cBhvr additive="base">
                                        <p:cTn id="51" dur="500" fill="hold"/>
                                        <p:tgtEl>
                                          <p:spTgt spid="66"/>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55"/>
                                        </p:tgtEl>
                                        <p:attrNameLst>
                                          <p:attrName>style.visibility</p:attrName>
                                        </p:attrNameLst>
                                      </p:cBhvr>
                                      <p:to>
                                        <p:strVal val="visible"/>
                                      </p:to>
                                    </p:set>
                                    <p:anim calcmode="lin" valueType="num">
                                      <p:cBhvr additive="base">
                                        <p:cTn id="54" dur="500" fill="hold"/>
                                        <p:tgtEl>
                                          <p:spTgt spid="55"/>
                                        </p:tgtEl>
                                        <p:attrNameLst>
                                          <p:attrName>ppt_x</p:attrName>
                                        </p:attrNameLst>
                                      </p:cBhvr>
                                      <p:tavLst>
                                        <p:tav tm="0">
                                          <p:val>
                                            <p:strVal val="#ppt_x"/>
                                          </p:val>
                                        </p:tav>
                                        <p:tav tm="100000">
                                          <p:val>
                                            <p:strVal val="#ppt_x"/>
                                          </p:val>
                                        </p:tav>
                                      </p:tavLst>
                                    </p:anim>
                                    <p:anim calcmode="lin" valueType="num">
                                      <p:cBhvr additive="base">
                                        <p:cTn id="55"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40">
                                            <p:txEl>
                                              <p:pRg st="0" end="0"/>
                                            </p:txEl>
                                          </p:spTgt>
                                        </p:tgtEl>
                                        <p:attrNameLst>
                                          <p:attrName>style.visibility</p:attrName>
                                        </p:attrNameLst>
                                      </p:cBhvr>
                                      <p:to>
                                        <p:strVal val="visible"/>
                                      </p:to>
                                    </p:set>
                                    <p:animEffect transition="in" filter="blinds(horizontal)">
                                      <p:cBhvr>
                                        <p:cTn id="60" dur="500"/>
                                        <p:tgtEl>
                                          <p:spTgt spid="40">
                                            <p:txEl>
                                              <p:pRg st="0" end="0"/>
                                            </p:txEl>
                                          </p:spTgt>
                                        </p:tgtEl>
                                      </p:cBhvr>
                                    </p:animEffect>
                                  </p:childTnLst>
                                </p:cTn>
                              </p:par>
                              <p:par>
                                <p:cTn id="61" presetID="3" presetClass="entr" presetSubtype="10" fill="hold" nodeType="withEffect">
                                  <p:stCondLst>
                                    <p:cond delay="0"/>
                                  </p:stCondLst>
                                  <p:childTnLst>
                                    <p:set>
                                      <p:cBhvr>
                                        <p:cTn id="62" dur="1" fill="hold">
                                          <p:stCondLst>
                                            <p:cond delay="0"/>
                                          </p:stCondLst>
                                        </p:cTn>
                                        <p:tgtEl>
                                          <p:spTgt spid="40">
                                            <p:txEl>
                                              <p:pRg st="1" end="1"/>
                                            </p:txEl>
                                          </p:spTgt>
                                        </p:tgtEl>
                                        <p:attrNameLst>
                                          <p:attrName>style.visibility</p:attrName>
                                        </p:attrNameLst>
                                      </p:cBhvr>
                                      <p:to>
                                        <p:strVal val="visible"/>
                                      </p:to>
                                    </p:set>
                                    <p:animEffect transition="in" filter="blinds(horizontal)">
                                      <p:cBhvr>
                                        <p:cTn id="63" dur="500"/>
                                        <p:tgtEl>
                                          <p:spTgt spid="40">
                                            <p:txEl>
                                              <p:pRg st="1" end="1"/>
                                            </p:txEl>
                                          </p:spTgt>
                                        </p:tgtEl>
                                      </p:cBhvr>
                                    </p:animEffect>
                                  </p:childTnLst>
                                </p:cTn>
                              </p:par>
                              <p:par>
                                <p:cTn id="64" presetID="3" presetClass="entr" presetSubtype="10" fill="hold" nodeType="withEffect">
                                  <p:stCondLst>
                                    <p:cond delay="0"/>
                                  </p:stCondLst>
                                  <p:childTnLst>
                                    <p:set>
                                      <p:cBhvr>
                                        <p:cTn id="65" dur="1" fill="hold">
                                          <p:stCondLst>
                                            <p:cond delay="0"/>
                                          </p:stCondLst>
                                        </p:cTn>
                                        <p:tgtEl>
                                          <p:spTgt spid="40">
                                            <p:txEl>
                                              <p:pRg st="2" end="2"/>
                                            </p:txEl>
                                          </p:spTgt>
                                        </p:tgtEl>
                                        <p:attrNameLst>
                                          <p:attrName>style.visibility</p:attrName>
                                        </p:attrNameLst>
                                      </p:cBhvr>
                                      <p:to>
                                        <p:strVal val="visible"/>
                                      </p:to>
                                    </p:set>
                                    <p:animEffect transition="in" filter="blinds(horizontal)">
                                      <p:cBhvr>
                                        <p:cTn id="66" dur="500"/>
                                        <p:tgtEl>
                                          <p:spTgt spid="40">
                                            <p:txEl>
                                              <p:pRg st="2" end="2"/>
                                            </p:txEl>
                                          </p:spTgt>
                                        </p:tgtEl>
                                      </p:cBhvr>
                                    </p:animEffect>
                                  </p:childTnLst>
                                </p:cTn>
                              </p:par>
                              <p:par>
                                <p:cTn id="67" presetID="3" presetClass="entr" presetSubtype="10" fill="hold" nodeType="withEffect">
                                  <p:stCondLst>
                                    <p:cond delay="0"/>
                                  </p:stCondLst>
                                  <p:childTnLst>
                                    <p:set>
                                      <p:cBhvr>
                                        <p:cTn id="68" dur="1" fill="hold">
                                          <p:stCondLst>
                                            <p:cond delay="0"/>
                                          </p:stCondLst>
                                        </p:cTn>
                                        <p:tgtEl>
                                          <p:spTgt spid="40">
                                            <p:txEl>
                                              <p:pRg st="3" end="3"/>
                                            </p:txEl>
                                          </p:spTgt>
                                        </p:tgtEl>
                                        <p:attrNameLst>
                                          <p:attrName>style.visibility</p:attrName>
                                        </p:attrNameLst>
                                      </p:cBhvr>
                                      <p:to>
                                        <p:strVal val="visible"/>
                                      </p:to>
                                    </p:set>
                                    <p:animEffect transition="in" filter="blinds(horizontal)">
                                      <p:cBhvr>
                                        <p:cTn id="69" dur="500"/>
                                        <p:tgtEl>
                                          <p:spTgt spid="40">
                                            <p:txEl>
                                              <p:pRg st="3" end="3"/>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70"/>
                                        </p:tgtEl>
                                        <p:attrNameLst>
                                          <p:attrName>style.visibility</p:attrName>
                                        </p:attrNameLst>
                                      </p:cBhvr>
                                      <p:to>
                                        <p:strVal val="visible"/>
                                      </p:to>
                                    </p:set>
                                    <p:anim calcmode="lin" valueType="num">
                                      <p:cBhvr additive="base">
                                        <p:cTn id="74" dur="500" fill="hold"/>
                                        <p:tgtEl>
                                          <p:spTgt spid="70"/>
                                        </p:tgtEl>
                                        <p:attrNameLst>
                                          <p:attrName>ppt_x</p:attrName>
                                        </p:attrNameLst>
                                      </p:cBhvr>
                                      <p:tavLst>
                                        <p:tav tm="0">
                                          <p:val>
                                            <p:strVal val="#ppt_x"/>
                                          </p:val>
                                        </p:tav>
                                        <p:tav tm="100000">
                                          <p:val>
                                            <p:strVal val="#ppt_x"/>
                                          </p:val>
                                        </p:tav>
                                      </p:tavLst>
                                    </p:anim>
                                    <p:anim calcmode="lin" valueType="num">
                                      <p:cBhvr additive="base">
                                        <p:cTn id="75" dur="500" fill="hold"/>
                                        <p:tgtEl>
                                          <p:spTgt spid="70"/>
                                        </p:tgtEl>
                                        <p:attrNameLst>
                                          <p:attrName>ppt_y</p:attrName>
                                        </p:attrNameLst>
                                      </p:cBhvr>
                                      <p:tavLst>
                                        <p:tav tm="0">
                                          <p:val>
                                            <p:strVal val="1+#ppt_h/2"/>
                                          </p:val>
                                        </p:tav>
                                        <p:tav tm="100000">
                                          <p:val>
                                            <p:strVal val="#ppt_y"/>
                                          </p:val>
                                        </p:tav>
                                      </p:tavLst>
                                    </p:anim>
                                  </p:childTnLst>
                                </p:cTn>
                              </p:par>
                              <p:par>
                                <p:cTn id="76" presetID="2" presetClass="entr" presetSubtype="4" fill="hold" nodeType="withEffect">
                                  <p:stCondLst>
                                    <p:cond delay="0"/>
                                  </p:stCondLst>
                                  <p:childTnLst>
                                    <p:set>
                                      <p:cBhvr>
                                        <p:cTn id="77" dur="1" fill="hold">
                                          <p:stCondLst>
                                            <p:cond delay="0"/>
                                          </p:stCondLst>
                                        </p:cTn>
                                        <p:tgtEl>
                                          <p:spTgt spid="69"/>
                                        </p:tgtEl>
                                        <p:attrNameLst>
                                          <p:attrName>style.visibility</p:attrName>
                                        </p:attrNameLst>
                                      </p:cBhvr>
                                      <p:to>
                                        <p:strVal val="visible"/>
                                      </p:to>
                                    </p:set>
                                    <p:anim calcmode="lin" valueType="num">
                                      <p:cBhvr additive="base">
                                        <p:cTn id="78" dur="500" fill="hold"/>
                                        <p:tgtEl>
                                          <p:spTgt spid="69"/>
                                        </p:tgtEl>
                                        <p:attrNameLst>
                                          <p:attrName>ppt_x</p:attrName>
                                        </p:attrNameLst>
                                      </p:cBhvr>
                                      <p:tavLst>
                                        <p:tav tm="0">
                                          <p:val>
                                            <p:strVal val="#ppt_x"/>
                                          </p:val>
                                        </p:tav>
                                        <p:tav tm="100000">
                                          <p:val>
                                            <p:strVal val="#ppt_x"/>
                                          </p:val>
                                        </p:tav>
                                      </p:tavLst>
                                    </p:anim>
                                    <p:anim calcmode="lin" valueType="num">
                                      <p:cBhvr additive="base">
                                        <p:cTn id="79" dur="500" fill="hold"/>
                                        <p:tgtEl>
                                          <p:spTgt spid="69"/>
                                        </p:tgtEl>
                                        <p:attrNameLst>
                                          <p:attrName>ppt_y</p:attrName>
                                        </p:attrNameLst>
                                      </p:cBhvr>
                                      <p:tavLst>
                                        <p:tav tm="0">
                                          <p:val>
                                            <p:strVal val="1+#ppt_h/2"/>
                                          </p:val>
                                        </p:tav>
                                        <p:tav tm="100000">
                                          <p:val>
                                            <p:strVal val="#ppt_y"/>
                                          </p:val>
                                        </p:tav>
                                      </p:tavLst>
                                    </p:anim>
                                  </p:childTnLst>
                                </p:cTn>
                              </p:par>
                              <p:par>
                                <p:cTn id="80" presetID="2" presetClass="entr" presetSubtype="4" fill="hold" nodeType="withEffect">
                                  <p:stCondLst>
                                    <p:cond delay="0"/>
                                  </p:stCondLst>
                                  <p:childTnLst>
                                    <p:set>
                                      <p:cBhvr>
                                        <p:cTn id="81" dur="1" fill="hold">
                                          <p:stCondLst>
                                            <p:cond delay="0"/>
                                          </p:stCondLst>
                                        </p:cTn>
                                        <p:tgtEl>
                                          <p:spTgt spid="68"/>
                                        </p:tgtEl>
                                        <p:attrNameLst>
                                          <p:attrName>style.visibility</p:attrName>
                                        </p:attrNameLst>
                                      </p:cBhvr>
                                      <p:to>
                                        <p:strVal val="visible"/>
                                      </p:to>
                                    </p:set>
                                    <p:anim calcmode="lin" valueType="num">
                                      <p:cBhvr additive="base">
                                        <p:cTn id="82" dur="500" fill="hold"/>
                                        <p:tgtEl>
                                          <p:spTgt spid="68"/>
                                        </p:tgtEl>
                                        <p:attrNameLst>
                                          <p:attrName>ppt_x</p:attrName>
                                        </p:attrNameLst>
                                      </p:cBhvr>
                                      <p:tavLst>
                                        <p:tav tm="0">
                                          <p:val>
                                            <p:strVal val="#ppt_x"/>
                                          </p:val>
                                        </p:tav>
                                        <p:tav tm="100000">
                                          <p:val>
                                            <p:strVal val="#ppt_x"/>
                                          </p:val>
                                        </p:tav>
                                      </p:tavLst>
                                    </p:anim>
                                    <p:anim calcmode="lin" valueType="num">
                                      <p:cBhvr additive="base">
                                        <p:cTn id="83" dur="500" fill="hold"/>
                                        <p:tgtEl>
                                          <p:spTgt spid="68"/>
                                        </p:tgtEl>
                                        <p:attrNameLst>
                                          <p:attrName>ppt_y</p:attrName>
                                        </p:attrNameLst>
                                      </p:cBhvr>
                                      <p:tavLst>
                                        <p:tav tm="0">
                                          <p:val>
                                            <p:strVal val="1+#ppt_h/2"/>
                                          </p:val>
                                        </p:tav>
                                        <p:tav tm="100000">
                                          <p:val>
                                            <p:strVal val="#ppt_y"/>
                                          </p:val>
                                        </p:tav>
                                      </p:tavLst>
                                    </p:anim>
                                  </p:childTnLst>
                                </p:cTn>
                              </p:par>
                              <p:par>
                                <p:cTn id="84" presetID="2" presetClass="entr" presetSubtype="4" fill="hold" nodeType="withEffect">
                                  <p:stCondLst>
                                    <p:cond delay="0"/>
                                  </p:stCondLst>
                                  <p:childTnLst>
                                    <p:set>
                                      <p:cBhvr>
                                        <p:cTn id="85" dur="1" fill="hold">
                                          <p:stCondLst>
                                            <p:cond delay="0"/>
                                          </p:stCondLst>
                                        </p:cTn>
                                        <p:tgtEl>
                                          <p:spTgt spid="58"/>
                                        </p:tgtEl>
                                        <p:attrNameLst>
                                          <p:attrName>style.visibility</p:attrName>
                                        </p:attrNameLst>
                                      </p:cBhvr>
                                      <p:to>
                                        <p:strVal val="visible"/>
                                      </p:to>
                                    </p:set>
                                    <p:anim calcmode="lin" valueType="num">
                                      <p:cBhvr additive="base">
                                        <p:cTn id="86" dur="500" fill="hold"/>
                                        <p:tgtEl>
                                          <p:spTgt spid="58"/>
                                        </p:tgtEl>
                                        <p:attrNameLst>
                                          <p:attrName>ppt_x</p:attrName>
                                        </p:attrNameLst>
                                      </p:cBhvr>
                                      <p:tavLst>
                                        <p:tav tm="0">
                                          <p:val>
                                            <p:strVal val="#ppt_x"/>
                                          </p:val>
                                        </p:tav>
                                        <p:tav tm="100000">
                                          <p:val>
                                            <p:strVal val="#ppt_x"/>
                                          </p:val>
                                        </p:tav>
                                      </p:tavLst>
                                    </p:anim>
                                    <p:anim calcmode="lin" valueType="num">
                                      <p:cBhvr additive="base">
                                        <p:cTn id="87" dur="500" fill="hold"/>
                                        <p:tgtEl>
                                          <p:spTgt spid="58"/>
                                        </p:tgtEl>
                                        <p:attrNameLst>
                                          <p:attrName>ppt_y</p:attrName>
                                        </p:attrNameLst>
                                      </p:cBhvr>
                                      <p:tavLst>
                                        <p:tav tm="0">
                                          <p:val>
                                            <p:strVal val="1+#ppt_h/2"/>
                                          </p:val>
                                        </p:tav>
                                        <p:tav tm="100000">
                                          <p:val>
                                            <p:strVal val="#ppt_y"/>
                                          </p:val>
                                        </p:tav>
                                      </p:tavLst>
                                    </p:anim>
                                  </p:childTnLst>
                                </p:cTn>
                              </p:par>
                              <p:par>
                                <p:cTn id="88" presetID="2" presetClass="entr" presetSubtype="4" fill="hold" nodeType="withEffect">
                                  <p:stCondLst>
                                    <p:cond delay="0"/>
                                  </p:stCondLst>
                                  <p:childTnLst>
                                    <p:set>
                                      <p:cBhvr>
                                        <p:cTn id="89" dur="1" fill="hold">
                                          <p:stCondLst>
                                            <p:cond delay="0"/>
                                          </p:stCondLst>
                                        </p:cTn>
                                        <p:tgtEl>
                                          <p:spTgt spid="62"/>
                                        </p:tgtEl>
                                        <p:attrNameLst>
                                          <p:attrName>style.visibility</p:attrName>
                                        </p:attrNameLst>
                                      </p:cBhvr>
                                      <p:to>
                                        <p:strVal val="visible"/>
                                      </p:to>
                                    </p:set>
                                    <p:anim calcmode="lin" valueType="num">
                                      <p:cBhvr additive="base">
                                        <p:cTn id="90" dur="500" fill="hold"/>
                                        <p:tgtEl>
                                          <p:spTgt spid="62"/>
                                        </p:tgtEl>
                                        <p:attrNameLst>
                                          <p:attrName>ppt_x</p:attrName>
                                        </p:attrNameLst>
                                      </p:cBhvr>
                                      <p:tavLst>
                                        <p:tav tm="0">
                                          <p:val>
                                            <p:strVal val="#ppt_x"/>
                                          </p:val>
                                        </p:tav>
                                        <p:tav tm="100000">
                                          <p:val>
                                            <p:strVal val="#ppt_x"/>
                                          </p:val>
                                        </p:tav>
                                      </p:tavLst>
                                    </p:anim>
                                    <p:anim calcmode="lin" valueType="num">
                                      <p:cBhvr additive="base">
                                        <p:cTn id="91" dur="500" fill="hold"/>
                                        <p:tgtEl>
                                          <p:spTgt spid="62"/>
                                        </p:tgtEl>
                                        <p:attrNameLst>
                                          <p:attrName>ppt_y</p:attrName>
                                        </p:attrNameLst>
                                      </p:cBhvr>
                                      <p:tavLst>
                                        <p:tav tm="0">
                                          <p:val>
                                            <p:strVal val="1+#ppt_h/2"/>
                                          </p:val>
                                        </p:tav>
                                        <p:tav tm="100000">
                                          <p:val>
                                            <p:strVal val="#ppt_y"/>
                                          </p:val>
                                        </p:tav>
                                      </p:tavLst>
                                    </p:anim>
                                  </p:childTnLst>
                                </p:cTn>
                              </p:par>
                              <p:par>
                                <p:cTn id="92" presetID="2" presetClass="entr" presetSubtype="4" fill="hold" nodeType="withEffect">
                                  <p:stCondLst>
                                    <p:cond delay="0"/>
                                  </p:stCondLst>
                                  <p:childTnLst>
                                    <p:set>
                                      <p:cBhvr>
                                        <p:cTn id="93" dur="1" fill="hold">
                                          <p:stCondLst>
                                            <p:cond delay="0"/>
                                          </p:stCondLst>
                                        </p:cTn>
                                        <p:tgtEl>
                                          <p:spTgt spid="61"/>
                                        </p:tgtEl>
                                        <p:attrNameLst>
                                          <p:attrName>style.visibility</p:attrName>
                                        </p:attrNameLst>
                                      </p:cBhvr>
                                      <p:to>
                                        <p:strVal val="visible"/>
                                      </p:to>
                                    </p:set>
                                    <p:anim calcmode="lin" valueType="num">
                                      <p:cBhvr additive="base">
                                        <p:cTn id="94" dur="500" fill="hold"/>
                                        <p:tgtEl>
                                          <p:spTgt spid="61"/>
                                        </p:tgtEl>
                                        <p:attrNameLst>
                                          <p:attrName>ppt_x</p:attrName>
                                        </p:attrNameLst>
                                      </p:cBhvr>
                                      <p:tavLst>
                                        <p:tav tm="0">
                                          <p:val>
                                            <p:strVal val="#ppt_x"/>
                                          </p:val>
                                        </p:tav>
                                        <p:tav tm="100000">
                                          <p:val>
                                            <p:strVal val="#ppt_x"/>
                                          </p:val>
                                        </p:tav>
                                      </p:tavLst>
                                    </p:anim>
                                    <p:anim calcmode="lin" valueType="num">
                                      <p:cBhvr additive="base">
                                        <p:cTn id="95" dur="500" fill="hold"/>
                                        <p:tgtEl>
                                          <p:spTgt spid="61"/>
                                        </p:tgtEl>
                                        <p:attrNameLst>
                                          <p:attrName>ppt_y</p:attrName>
                                        </p:attrNameLst>
                                      </p:cBhvr>
                                      <p:tavLst>
                                        <p:tav tm="0">
                                          <p:val>
                                            <p:strVal val="1+#ppt_h/2"/>
                                          </p:val>
                                        </p:tav>
                                        <p:tav tm="100000">
                                          <p:val>
                                            <p:strVal val="#ppt_y"/>
                                          </p:val>
                                        </p:tav>
                                      </p:tavLst>
                                    </p:anim>
                                  </p:childTnLst>
                                </p:cTn>
                              </p:par>
                              <p:par>
                                <p:cTn id="96" presetID="2" presetClass="entr" presetSubtype="4" fill="hold" nodeType="withEffect">
                                  <p:stCondLst>
                                    <p:cond delay="0"/>
                                  </p:stCondLst>
                                  <p:childTnLst>
                                    <p:set>
                                      <p:cBhvr>
                                        <p:cTn id="97" dur="1" fill="hold">
                                          <p:stCondLst>
                                            <p:cond delay="0"/>
                                          </p:stCondLst>
                                        </p:cTn>
                                        <p:tgtEl>
                                          <p:spTgt spid="59"/>
                                        </p:tgtEl>
                                        <p:attrNameLst>
                                          <p:attrName>style.visibility</p:attrName>
                                        </p:attrNameLst>
                                      </p:cBhvr>
                                      <p:to>
                                        <p:strVal val="visible"/>
                                      </p:to>
                                    </p:set>
                                    <p:anim calcmode="lin" valueType="num">
                                      <p:cBhvr additive="base">
                                        <p:cTn id="98" dur="500" fill="hold"/>
                                        <p:tgtEl>
                                          <p:spTgt spid="59"/>
                                        </p:tgtEl>
                                        <p:attrNameLst>
                                          <p:attrName>ppt_x</p:attrName>
                                        </p:attrNameLst>
                                      </p:cBhvr>
                                      <p:tavLst>
                                        <p:tav tm="0">
                                          <p:val>
                                            <p:strVal val="#ppt_x"/>
                                          </p:val>
                                        </p:tav>
                                        <p:tav tm="100000">
                                          <p:val>
                                            <p:strVal val="#ppt_x"/>
                                          </p:val>
                                        </p:tav>
                                      </p:tavLst>
                                    </p:anim>
                                    <p:anim calcmode="lin" valueType="num">
                                      <p:cBhvr additive="base">
                                        <p:cTn id="99" dur="500" fill="hold"/>
                                        <p:tgtEl>
                                          <p:spTgt spid="59"/>
                                        </p:tgtEl>
                                        <p:attrNameLst>
                                          <p:attrName>ppt_y</p:attrName>
                                        </p:attrNameLst>
                                      </p:cBhvr>
                                      <p:tavLst>
                                        <p:tav tm="0">
                                          <p:val>
                                            <p:strVal val="1+#ppt_h/2"/>
                                          </p:val>
                                        </p:tav>
                                        <p:tav tm="100000">
                                          <p:val>
                                            <p:strVal val="#ppt_y"/>
                                          </p:val>
                                        </p:tav>
                                      </p:tavLst>
                                    </p:anim>
                                  </p:childTnLst>
                                </p:cTn>
                              </p:par>
                              <p:par>
                                <p:cTn id="100" presetID="2" presetClass="entr" presetSubtype="4" fill="hold" nodeType="withEffect">
                                  <p:stCondLst>
                                    <p:cond delay="0"/>
                                  </p:stCondLst>
                                  <p:childTnLst>
                                    <p:set>
                                      <p:cBhvr>
                                        <p:cTn id="101" dur="1" fill="hold">
                                          <p:stCondLst>
                                            <p:cond delay="0"/>
                                          </p:stCondLst>
                                        </p:cTn>
                                        <p:tgtEl>
                                          <p:spTgt spid="60"/>
                                        </p:tgtEl>
                                        <p:attrNameLst>
                                          <p:attrName>style.visibility</p:attrName>
                                        </p:attrNameLst>
                                      </p:cBhvr>
                                      <p:to>
                                        <p:strVal val="visible"/>
                                      </p:to>
                                    </p:set>
                                    <p:anim calcmode="lin" valueType="num">
                                      <p:cBhvr additive="base">
                                        <p:cTn id="102" dur="500" fill="hold"/>
                                        <p:tgtEl>
                                          <p:spTgt spid="60"/>
                                        </p:tgtEl>
                                        <p:attrNameLst>
                                          <p:attrName>ppt_x</p:attrName>
                                        </p:attrNameLst>
                                      </p:cBhvr>
                                      <p:tavLst>
                                        <p:tav tm="0">
                                          <p:val>
                                            <p:strVal val="#ppt_x"/>
                                          </p:val>
                                        </p:tav>
                                        <p:tav tm="100000">
                                          <p:val>
                                            <p:strVal val="#ppt_x"/>
                                          </p:val>
                                        </p:tav>
                                      </p:tavLst>
                                    </p:anim>
                                    <p:anim calcmode="lin" valueType="num">
                                      <p:cBhvr additive="base">
                                        <p:cTn id="103" dur="500" fill="hold"/>
                                        <p:tgtEl>
                                          <p:spTgt spid="60"/>
                                        </p:tgtEl>
                                        <p:attrNameLst>
                                          <p:attrName>ppt_y</p:attrName>
                                        </p:attrNameLst>
                                      </p:cBhvr>
                                      <p:tavLst>
                                        <p:tav tm="0">
                                          <p:val>
                                            <p:strVal val="1+#ppt_h/2"/>
                                          </p:val>
                                        </p:tav>
                                        <p:tav tm="100000">
                                          <p:val>
                                            <p:strVal val="#ppt_y"/>
                                          </p:val>
                                        </p:tav>
                                      </p:tavLst>
                                    </p:anim>
                                  </p:childTnLst>
                                </p:cTn>
                              </p:par>
                              <p:par>
                                <p:cTn id="104" presetID="2" presetClass="entr" presetSubtype="4" fill="hold" nodeType="withEffect">
                                  <p:stCondLst>
                                    <p:cond delay="0"/>
                                  </p:stCondLst>
                                  <p:childTnLst>
                                    <p:set>
                                      <p:cBhvr>
                                        <p:cTn id="105" dur="1" fill="hold">
                                          <p:stCondLst>
                                            <p:cond delay="0"/>
                                          </p:stCondLst>
                                        </p:cTn>
                                        <p:tgtEl>
                                          <p:spTgt spid="57"/>
                                        </p:tgtEl>
                                        <p:attrNameLst>
                                          <p:attrName>style.visibility</p:attrName>
                                        </p:attrNameLst>
                                      </p:cBhvr>
                                      <p:to>
                                        <p:strVal val="visible"/>
                                      </p:to>
                                    </p:set>
                                    <p:anim calcmode="lin" valueType="num">
                                      <p:cBhvr additive="base">
                                        <p:cTn id="106" dur="500" fill="hold"/>
                                        <p:tgtEl>
                                          <p:spTgt spid="57"/>
                                        </p:tgtEl>
                                        <p:attrNameLst>
                                          <p:attrName>ppt_x</p:attrName>
                                        </p:attrNameLst>
                                      </p:cBhvr>
                                      <p:tavLst>
                                        <p:tav tm="0">
                                          <p:val>
                                            <p:strVal val="#ppt_x"/>
                                          </p:val>
                                        </p:tav>
                                        <p:tav tm="100000">
                                          <p:val>
                                            <p:strVal val="#ppt_x"/>
                                          </p:val>
                                        </p:tav>
                                      </p:tavLst>
                                    </p:anim>
                                    <p:anim calcmode="lin" valueType="num">
                                      <p:cBhvr additive="base">
                                        <p:cTn id="107" dur="500" fill="hold"/>
                                        <p:tgtEl>
                                          <p:spTgt spid="57"/>
                                        </p:tgtEl>
                                        <p:attrNameLst>
                                          <p:attrName>ppt_y</p:attrName>
                                        </p:attrNameLst>
                                      </p:cBhvr>
                                      <p:tavLst>
                                        <p:tav tm="0">
                                          <p:val>
                                            <p:strVal val="1+#ppt_h/2"/>
                                          </p:val>
                                        </p:tav>
                                        <p:tav tm="100000">
                                          <p:val>
                                            <p:strVal val="#ppt_y"/>
                                          </p:val>
                                        </p:tav>
                                      </p:tavLst>
                                    </p:anim>
                                  </p:childTnLst>
                                </p:cTn>
                              </p:par>
                              <p:par>
                                <p:cTn id="108" presetID="2" presetClass="entr" presetSubtype="4" fill="hold" nodeType="withEffect">
                                  <p:stCondLst>
                                    <p:cond delay="0"/>
                                  </p:stCondLst>
                                  <p:childTnLst>
                                    <p:set>
                                      <p:cBhvr>
                                        <p:cTn id="109" dur="1" fill="hold">
                                          <p:stCondLst>
                                            <p:cond delay="0"/>
                                          </p:stCondLst>
                                        </p:cTn>
                                        <p:tgtEl>
                                          <p:spTgt spid="67"/>
                                        </p:tgtEl>
                                        <p:attrNameLst>
                                          <p:attrName>style.visibility</p:attrName>
                                        </p:attrNameLst>
                                      </p:cBhvr>
                                      <p:to>
                                        <p:strVal val="visible"/>
                                      </p:to>
                                    </p:set>
                                    <p:anim calcmode="lin" valueType="num">
                                      <p:cBhvr additive="base">
                                        <p:cTn id="110" dur="500" fill="hold"/>
                                        <p:tgtEl>
                                          <p:spTgt spid="67"/>
                                        </p:tgtEl>
                                        <p:attrNameLst>
                                          <p:attrName>ppt_x</p:attrName>
                                        </p:attrNameLst>
                                      </p:cBhvr>
                                      <p:tavLst>
                                        <p:tav tm="0">
                                          <p:val>
                                            <p:strVal val="#ppt_x"/>
                                          </p:val>
                                        </p:tav>
                                        <p:tav tm="100000">
                                          <p:val>
                                            <p:strVal val="#ppt_x"/>
                                          </p:val>
                                        </p:tav>
                                      </p:tavLst>
                                    </p:anim>
                                    <p:anim calcmode="lin" valueType="num">
                                      <p:cBhvr additive="base">
                                        <p:cTn id="111"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1" grpId="0" bldLvl="0" animBg="1"/>
      <p:bldP spid="16" grpId="0" animBg="1"/>
      <p:bldP spid="16" grpId="1" animBg="1"/>
      <p:bldP spid="16" grpId="2"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53" y="217070"/>
            <a:ext cx="392971" cy="71376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85014" y="75431"/>
            <a:ext cx="2550535" cy="891540"/>
          </a:xfrm>
          <a:prstGeom prst="rect">
            <a:avLst/>
          </a:prstGeom>
          <a:noFill/>
        </p:spPr>
        <p:txBody>
          <a:bodyPr wrap="square" rtlCol="0">
            <a:spAutoFit/>
            <a:scene3d>
              <a:camera prst="orthographicFront"/>
              <a:lightRig rig="threePt" dir="t"/>
            </a:scene3d>
          </a:bodyPr>
          <a:lstStyle/>
          <a:p>
            <a:pPr algn="dist">
              <a:lnSpc>
                <a:spcPct val="130000"/>
              </a:lnSpc>
            </a:pPr>
            <a:r>
              <a:rPr lang="zh-CN" altLang="en-US" sz="4000" b="1" dirty="0">
                <a:solidFill>
                  <a:schemeClr val="tx1">
                    <a:lumMod val="85000"/>
                    <a:lumOff val="15000"/>
                  </a:schemeClr>
                </a:solidFill>
                <a:latin typeface="微软雅黑" panose="020B0503020204020204" charset="-122"/>
                <a:ea typeface="微软雅黑" panose="020B0503020204020204" charset="-122"/>
                <a:sym typeface="+mn-ea"/>
              </a:rPr>
              <a:t>产品包装</a:t>
            </a:r>
            <a:endParaRPr lang="zh-CN" altLang="en-US" sz="4000" b="1" dirty="0">
              <a:solidFill>
                <a:schemeClr val="tx1">
                  <a:lumMod val="95000"/>
                  <a:lumOff val="5000"/>
                </a:schemeClr>
              </a:solidFill>
              <a:latin typeface="微软雅黑" panose="020B0503020204020204" charset="-122"/>
              <a:ea typeface="微软雅黑" panose="020B0503020204020204" charset="-122"/>
            </a:endParaRPr>
          </a:p>
        </p:txBody>
      </p:sp>
      <p:sp>
        <p:nvSpPr>
          <p:cNvPr id="6" name="矩形 5"/>
          <p:cNvSpPr/>
          <p:nvPr/>
        </p:nvSpPr>
        <p:spPr>
          <a:xfrm rot="5400000">
            <a:off x="7697121" y="-3835434"/>
            <a:ext cx="73846" cy="891400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5"/>
          <p:cNvSpPr/>
          <p:nvPr/>
        </p:nvSpPr>
        <p:spPr>
          <a:xfrm>
            <a:off x="679027" y="1491821"/>
            <a:ext cx="1193613" cy="1193613"/>
          </a:xfrm>
          <a:prstGeom prst="roundRect">
            <a:avLst>
              <a:gd name="adj" fmla="val 50000"/>
            </a:avLst>
          </a:prstGeom>
          <a:solidFill>
            <a:schemeClr val="tx1">
              <a:lumMod val="95000"/>
              <a:lumOff val="5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5" tIns="45712" rIns="91425" bIns="45712" numCol="1" spcCol="0" rtlCol="0" fromWordArt="0" anchor="ctr" anchorCtr="0" forceAA="0" compatLnSpc="1">
            <a:noAutofit/>
          </a:bodyPr>
          <a:lstStyle/>
          <a:p>
            <a:pPr algn="ctr"/>
            <a:endParaRPr lang="zh-CN" altLang="en-US"/>
          </a:p>
        </p:txBody>
      </p:sp>
      <p:grpSp>
        <p:nvGrpSpPr>
          <p:cNvPr id="20" name="组合 19"/>
          <p:cNvGrpSpPr/>
          <p:nvPr/>
        </p:nvGrpSpPr>
        <p:grpSpPr>
          <a:xfrm>
            <a:off x="138925" y="2860850"/>
            <a:ext cx="2464285" cy="948946"/>
            <a:chOff x="977174" y="3971610"/>
            <a:chExt cx="2464670" cy="949094"/>
          </a:xfrm>
        </p:grpSpPr>
        <p:sp>
          <p:nvSpPr>
            <p:cNvPr id="21" name="TextBox 54"/>
            <p:cNvSpPr txBox="1"/>
            <p:nvPr/>
          </p:nvSpPr>
          <p:spPr>
            <a:xfrm>
              <a:off x="977174" y="4645071"/>
              <a:ext cx="2464670" cy="275633"/>
            </a:xfrm>
            <a:prstGeom prst="rect">
              <a:avLst/>
            </a:prstGeom>
            <a:noFill/>
          </p:spPr>
          <p:txBody>
            <a:bodyPr wrap="square" rtlCol="0">
              <a:spAutoFit/>
            </a:bodyPr>
            <a:lstStyle/>
            <a:p>
              <a:pPr algn="ctr"/>
              <a:endParaRPr lang="en-US" altLang="zh-CN" sz="1200" dirty="0">
                <a:solidFill>
                  <a:schemeClr val="tx1">
                    <a:lumMod val="75000"/>
                    <a:lumOff val="25000"/>
                  </a:schemeClr>
                </a:solidFill>
                <a:ea typeface="微软雅黑" panose="020B0503020204020204" charset="-122"/>
                <a:cs typeface="方正兰亭细黑_GBK_M" pitchFamily="2" charset="2"/>
                <a:sym typeface="Arial" panose="020B0604020202020204" pitchFamily="34" charset="0"/>
              </a:endParaRPr>
            </a:p>
          </p:txBody>
        </p:sp>
        <p:sp>
          <p:nvSpPr>
            <p:cNvPr id="22" name="文本框 21"/>
            <p:cNvSpPr txBox="1"/>
            <p:nvPr/>
          </p:nvSpPr>
          <p:spPr>
            <a:xfrm>
              <a:off x="1326245" y="3971610"/>
              <a:ext cx="1605531" cy="337238"/>
            </a:xfrm>
            <a:prstGeom prst="rect">
              <a:avLst/>
            </a:prstGeom>
            <a:noFill/>
          </p:spPr>
          <p:txBody>
            <a:bodyPr wrap="none" rtlCol="0">
              <a:spAutoFit/>
            </a:bodyPr>
            <a:lstStyle/>
            <a:p>
              <a:pPr algn="ctr"/>
              <a:r>
                <a:rPr lang="zh-CN" altLang="en-US" sz="1600" b="1" dirty="0">
                  <a:solidFill>
                    <a:schemeClr val="tx1">
                      <a:lumMod val="95000"/>
                      <a:lumOff val="5000"/>
                    </a:schemeClr>
                  </a:solidFill>
                  <a:latin typeface="微软雅黑" panose="020B0503020204020204" charset="-122"/>
                  <a:ea typeface="微软雅黑" panose="020B0503020204020204" charset="-122"/>
                </a:rPr>
                <a:t>一，品牌售后卡</a:t>
              </a:r>
              <a:endParaRPr lang="zh-CN" altLang="en-US" sz="1600" b="1" dirty="0">
                <a:solidFill>
                  <a:schemeClr val="tx1">
                    <a:lumMod val="95000"/>
                    <a:lumOff val="5000"/>
                  </a:schemeClr>
                </a:solidFill>
                <a:latin typeface="微软雅黑" panose="020B0503020204020204" charset="-122"/>
                <a:ea typeface="微软雅黑" panose="020B0503020204020204" charset="-122"/>
              </a:endParaRPr>
            </a:p>
          </p:txBody>
        </p:sp>
      </p:grpSp>
      <p:grpSp>
        <p:nvGrpSpPr>
          <p:cNvPr id="40" name="组合 39"/>
          <p:cNvGrpSpPr/>
          <p:nvPr/>
        </p:nvGrpSpPr>
        <p:grpSpPr>
          <a:xfrm>
            <a:off x="10129774" y="2946407"/>
            <a:ext cx="423923" cy="322099"/>
            <a:chOff x="4268086" y="4221191"/>
            <a:chExt cx="509646" cy="387231"/>
          </a:xfrm>
          <a:solidFill>
            <a:schemeClr val="bg1"/>
          </a:solidFill>
        </p:grpSpPr>
        <p:sp>
          <p:nvSpPr>
            <p:cNvPr id="41" name="Freeform 20"/>
            <p:cNvSpPr>
              <a:spLocks noEditPoints="1"/>
            </p:cNvSpPr>
            <p:nvPr/>
          </p:nvSpPr>
          <p:spPr bwMode="auto">
            <a:xfrm>
              <a:off x="4268086" y="4273030"/>
              <a:ext cx="337890" cy="335392"/>
            </a:xfrm>
            <a:custGeom>
              <a:avLst/>
              <a:gdLst>
                <a:gd name="T0" fmla="*/ 229 w 229"/>
                <a:gd name="T1" fmla="*/ 128 h 227"/>
                <a:gd name="T2" fmla="*/ 229 w 229"/>
                <a:gd name="T3" fmla="*/ 98 h 227"/>
                <a:gd name="T4" fmla="*/ 206 w 229"/>
                <a:gd name="T5" fmla="*/ 93 h 227"/>
                <a:gd name="T6" fmla="*/ 200 w 229"/>
                <a:gd name="T7" fmla="*/ 76 h 227"/>
                <a:gd name="T8" fmla="*/ 216 w 229"/>
                <a:gd name="T9" fmla="*/ 58 h 227"/>
                <a:gd name="T10" fmla="*/ 198 w 229"/>
                <a:gd name="T11" fmla="*/ 34 h 227"/>
                <a:gd name="T12" fmla="*/ 176 w 229"/>
                <a:gd name="T13" fmla="*/ 44 h 227"/>
                <a:gd name="T14" fmla="*/ 161 w 229"/>
                <a:gd name="T15" fmla="*/ 33 h 227"/>
                <a:gd name="T16" fmla="*/ 164 w 229"/>
                <a:gd name="T17" fmla="*/ 9 h 227"/>
                <a:gd name="T18" fmla="*/ 135 w 229"/>
                <a:gd name="T19" fmla="*/ 0 h 227"/>
                <a:gd name="T20" fmla="*/ 123 w 229"/>
                <a:gd name="T21" fmla="*/ 20 h 227"/>
                <a:gd name="T22" fmla="*/ 114 w 229"/>
                <a:gd name="T23" fmla="*/ 20 h 227"/>
                <a:gd name="T24" fmla="*/ 105 w 229"/>
                <a:gd name="T25" fmla="*/ 20 h 227"/>
                <a:gd name="T26" fmla="*/ 93 w 229"/>
                <a:gd name="T27" fmla="*/ 0 h 227"/>
                <a:gd name="T28" fmla="*/ 65 w 229"/>
                <a:gd name="T29" fmla="*/ 9 h 227"/>
                <a:gd name="T30" fmla="*/ 67 w 229"/>
                <a:gd name="T31" fmla="*/ 33 h 227"/>
                <a:gd name="T32" fmla="*/ 52 w 229"/>
                <a:gd name="T33" fmla="*/ 44 h 227"/>
                <a:gd name="T34" fmla="*/ 30 w 229"/>
                <a:gd name="T35" fmla="*/ 34 h 227"/>
                <a:gd name="T36" fmla="*/ 13 w 229"/>
                <a:gd name="T37" fmla="*/ 58 h 227"/>
                <a:gd name="T38" fmla="*/ 29 w 229"/>
                <a:gd name="T39" fmla="*/ 76 h 227"/>
                <a:gd name="T40" fmla="*/ 23 w 229"/>
                <a:gd name="T41" fmla="*/ 94 h 227"/>
                <a:gd name="T42" fmla="*/ 0 w 229"/>
                <a:gd name="T43" fmla="*/ 98 h 227"/>
                <a:gd name="T44" fmla="*/ 0 w 229"/>
                <a:gd name="T45" fmla="*/ 128 h 227"/>
                <a:gd name="T46" fmla="*/ 23 w 229"/>
                <a:gd name="T47" fmla="*/ 133 h 227"/>
                <a:gd name="T48" fmla="*/ 29 w 229"/>
                <a:gd name="T49" fmla="*/ 151 h 227"/>
                <a:gd name="T50" fmla="*/ 13 w 229"/>
                <a:gd name="T51" fmla="*/ 169 h 227"/>
                <a:gd name="T52" fmla="*/ 31 w 229"/>
                <a:gd name="T53" fmla="*/ 193 h 227"/>
                <a:gd name="T54" fmla="*/ 52 w 229"/>
                <a:gd name="T55" fmla="*/ 183 h 227"/>
                <a:gd name="T56" fmla="*/ 67 w 229"/>
                <a:gd name="T57" fmla="*/ 194 h 227"/>
                <a:gd name="T58" fmla="*/ 65 w 229"/>
                <a:gd name="T59" fmla="*/ 218 h 227"/>
                <a:gd name="T60" fmla="*/ 93 w 229"/>
                <a:gd name="T61" fmla="*/ 227 h 227"/>
                <a:gd name="T62" fmla="*/ 105 w 229"/>
                <a:gd name="T63" fmla="*/ 206 h 227"/>
                <a:gd name="T64" fmla="*/ 114 w 229"/>
                <a:gd name="T65" fmla="*/ 207 h 227"/>
                <a:gd name="T66" fmla="*/ 124 w 229"/>
                <a:gd name="T67" fmla="*/ 206 h 227"/>
                <a:gd name="T68" fmla="*/ 135 w 229"/>
                <a:gd name="T69" fmla="*/ 227 h 227"/>
                <a:gd name="T70" fmla="*/ 164 w 229"/>
                <a:gd name="T71" fmla="*/ 217 h 227"/>
                <a:gd name="T72" fmla="*/ 161 w 229"/>
                <a:gd name="T73" fmla="*/ 194 h 227"/>
                <a:gd name="T74" fmla="*/ 176 w 229"/>
                <a:gd name="T75" fmla="*/ 183 h 227"/>
                <a:gd name="T76" fmla="*/ 198 w 229"/>
                <a:gd name="T77" fmla="*/ 193 h 227"/>
                <a:gd name="T78" fmla="*/ 216 w 229"/>
                <a:gd name="T79" fmla="*/ 168 h 227"/>
                <a:gd name="T80" fmla="*/ 200 w 229"/>
                <a:gd name="T81" fmla="*/ 151 h 227"/>
                <a:gd name="T82" fmla="*/ 206 w 229"/>
                <a:gd name="T83" fmla="*/ 133 h 227"/>
                <a:gd name="T84" fmla="*/ 229 w 229"/>
                <a:gd name="T85" fmla="*/ 128 h 227"/>
                <a:gd name="T86" fmla="*/ 114 w 229"/>
                <a:gd name="T87" fmla="*/ 180 h 227"/>
                <a:gd name="T88" fmla="*/ 47 w 229"/>
                <a:gd name="T89" fmla="*/ 113 h 227"/>
                <a:gd name="T90" fmla="*/ 114 w 229"/>
                <a:gd name="T91" fmla="*/ 46 h 227"/>
                <a:gd name="T92" fmla="*/ 181 w 229"/>
                <a:gd name="T93" fmla="*/ 113 h 227"/>
                <a:gd name="T94" fmla="*/ 114 w 229"/>
                <a:gd name="T95" fmla="*/ 18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9" h="227">
                  <a:moveTo>
                    <a:pt x="229" y="128"/>
                  </a:moveTo>
                  <a:cubicBezTo>
                    <a:pt x="229" y="98"/>
                    <a:pt x="229" y="98"/>
                    <a:pt x="229" y="98"/>
                  </a:cubicBezTo>
                  <a:cubicBezTo>
                    <a:pt x="206" y="93"/>
                    <a:pt x="206" y="93"/>
                    <a:pt x="206" y="93"/>
                  </a:cubicBezTo>
                  <a:cubicBezTo>
                    <a:pt x="204" y="87"/>
                    <a:pt x="202" y="81"/>
                    <a:pt x="200" y="76"/>
                  </a:cubicBezTo>
                  <a:cubicBezTo>
                    <a:pt x="216" y="58"/>
                    <a:pt x="216" y="58"/>
                    <a:pt x="216" y="58"/>
                  </a:cubicBezTo>
                  <a:cubicBezTo>
                    <a:pt x="198" y="34"/>
                    <a:pt x="198" y="34"/>
                    <a:pt x="198" y="34"/>
                  </a:cubicBezTo>
                  <a:cubicBezTo>
                    <a:pt x="176" y="44"/>
                    <a:pt x="176" y="44"/>
                    <a:pt x="176" y="44"/>
                  </a:cubicBezTo>
                  <a:cubicBezTo>
                    <a:pt x="172" y="39"/>
                    <a:pt x="167" y="36"/>
                    <a:pt x="161" y="33"/>
                  </a:cubicBezTo>
                  <a:cubicBezTo>
                    <a:pt x="164" y="9"/>
                    <a:pt x="164" y="9"/>
                    <a:pt x="164" y="9"/>
                  </a:cubicBezTo>
                  <a:cubicBezTo>
                    <a:pt x="135" y="0"/>
                    <a:pt x="135" y="0"/>
                    <a:pt x="135" y="0"/>
                  </a:cubicBezTo>
                  <a:cubicBezTo>
                    <a:pt x="123" y="20"/>
                    <a:pt x="123" y="20"/>
                    <a:pt x="123" y="20"/>
                  </a:cubicBezTo>
                  <a:cubicBezTo>
                    <a:pt x="120" y="20"/>
                    <a:pt x="117" y="20"/>
                    <a:pt x="114" y="20"/>
                  </a:cubicBezTo>
                  <a:cubicBezTo>
                    <a:pt x="111" y="20"/>
                    <a:pt x="108" y="20"/>
                    <a:pt x="105" y="20"/>
                  </a:cubicBezTo>
                  <a:cubicBezTo>
                    <a:pt x="93" y="0"/>
                    <a:pt x="93" y="0"/>
                    <a:pt x="93" y="0"/>
                  </a:cubicBezTo>
                  <a:cubicBezTo>
                    <a:pt x="65" y="9"/>
                    <a:pt x="65" y="9"/>
                    <a:pt x="65" y="9"/>
                  </a:cubicBezTo>
                  <a:cubicBezTo>
                    <a:pt x="67" y="33"/>
                    <a:pt x="67" y="33"/>
                    <a:pt x="67" y="33"/>
                  </a:cubicBezTo>
                  <a:cubicBezTo>
                    <a:pt x="62" y="36"/>
                    <a:pt x="57" y="39"/>
                    <a:pt x="52" y="44"/>
                  </a:cubicBezTo>
                  <a:cubicBezTo>
                    <a:pt x="30" y="34"/>
                    <a:pt x="30" y="34"/>
                    <a:pt x="30" y="34"/>
                  </a:cubicBezTo>
                  <a:cubicBezTo>
                    <a:pt x="13" y="58"/>
                    <a:pt x="13" y="58"/>
                    <a:pt x="13" y="58"/>
                  </a:cubicBezTo>
                  <a:cubicBezTo>
                    <a:pt x="29" y="76"/>
                    <a:pt x="29" y="76"/>
                    <a:pt x="29" y="76"/>
                  </a:cubicBezTo>
                  <a:cubicBezTo>
                    <a:pt x="26" y="81"/>
                    <a:pt x="24" y="87"/>
                    <a:pt x="23" y="94"/>
                  </a:cubicBezTo>
                  <a:cubicBezTo>
                    <a:pt x="0" y="98"/>
                    <a:pt x="0" y="98"/>
                    <a:pt x="0" y="98"/>
                  </a:cubicBezTo>
                  <a:cubicBezTo>
                    <a:pt x="0" y="128"/>
                    <a:pt x="0" y="128"/>
                    <a:pt x="0" y="128"/>
                  </a:cubicBezTo>
                  <a:cubicBezTo>
                    <a:pt x="23" y="133"/>
                    <a:pt x="23" y="133"/>
                    <a:pt x="23" y="133"/>
                  </a:cubicBezTo>
                  <a:cubicBezTo>
                    <a:pt x="24" y="139"/>
                    <a:pt x="26" y="145"/>
                    <a:pt x="29" y="151"/>
                  </a:cubicBezTo>
                  <a:cubicBezTo>
                    <a:pt x="13" y="169"/>
                    <a:pt x="13" y="169"/>
                    <a:pt x="13" y="169"/>
                  </a:cubicBezTo>
                  <a:cubicBezTo>
                    <a:pt x="31" y="193"/>
                    <a:pt x="31" y="193"/>
                    <a:pt x="31" y="193"/>
                  </a:cubicBezTo>
                  <a:cubicBezTo>
                    <a:pt x="52" y="183"/>
                    <a:pt x="52" y="183"/>
                    <a:pt x="52" y="183"/>
                  </a:cubicBezTo>
                  <a:cubicBezTo>
                    <a:pt x="57" y="187"/>
                    <a:pt x="62" y="191"/>
                    <a:pt x="67" y="194"/>
                  </a:cubicBezTo>
                  <a:cubicBezTo>
                    <a:pt x="65" y="218"/>
                    <a:pt x="65" y="218"/>
                    <a:pt x="65" y="218"/>
                  </a:cubicBezTo>
                  <a:cubicBezTo>
                    <a:pt x="93" y="227"/>
                    <a:pt x="93" y="227"/>
                    <a:pt x="93" y="227"/>
                  </a:cubicBezTo>
                  <a:cubicBezTo>
                    <a:pt x="105" y="206"/>
                    <a:pt x="105" y="206"/>
                    <a:pt x="105" y="206"/>
                  </a:cubicBezTo>
                  <a:cubicBezTo>
                    <a:pt x="108" y="207"/>
                    <a:pt x="111" y="207"/>
                    <a:pt x="114" y="207"/>
                  </a:cubicBezTo>
                  <a:cubicBezTo>
                    <a:pt x="117" y="207"/>
                    <a:pt x="121" y="207"/>
                    <a:pt x="124" y="206"/>
                  </a:cubicBezTo>
                  <a:cubicBezTo>
                    <a:pt x="135" y="227"/>
                    <a:pt x="135" y="227"/>
                    <a:pt x="135" y="227"/>
                  </a:cubicBezTo>
                  <a:cubicBezTo>
                    <a:pt x="164" y="217"/>
                    <a:pt x="164" y="217"/>
                    <a:pt x="164" y="217"/>
                  </a:cubicBezTo>
                  <a:cubicBezTo>
                    <a:pt x="161" y="194"/>
                    <a:pt x="161" y="194"/>
                    <a:pt x="161" y="194"/>
                  </a:cubicBezTo>
                  <a:cubicBezTo>
                    <a:pt x="167" y="191"/>
                    <a:pt x="172" y="187"/>
                    <a:pt x="176" y="183"/>
                  </a:cubicBezTo>
                  <a:cubicBezTo>
                    <a:pt x="198" y="193"/>
                    <a:pt x="198" y="193"/>
                    <a:pt x="198" y="193"/>
                  </a:cubicBezTo>
                  <a:cubicBezTo>
                    <a:pt x="216" y="168"/>
                    <a:pt x="216" y="168"/>
                    <a:pt x="216" y="168"/>
                  </a:cubicBezTo>
                  <a:cubicBezTo>
                    <a:pt x="200" y="151"/>
                    <a:pt x="200" y="151"/>
                    <a:pt x="200" y="151"/>
                  </a:cubicBezTo>
                  <a:cubicBezTo>
                    <a:pt x="202" y="145"/>
                    <a:pt x="204" y="139"/>
                    <a:pt x="206" y="133"/>
                  </a:cubicBezTo>
                  <a:lnTo>
                    <a:pt x="229" y="128"/>
                  </a:lnTo>
                  <a:close/>
                  <a:moveTo>
                    <a:pt x="114" y="180"/>
                  </a:moveTo>
                  <a:cubicBezTo>
                    <a:pt x="77" y="180"/>
                    <a:pt x="47" y="150"/>
                    <a:pt x="47" y="113"/>
                  </a:cubicBezTo>
                  <a:cubicBezTo>
                    <a:pt x="47" y="76"/>
                    <a:pt x="77" y="46"/>
                    <a:pt x="114" y="46"/>
                  </a:cubicBezTo>
                  <a:cubicBezTo>
                    <a:pt x="151" y="46"/>
                    <a:pt x="181" y="76"/>
                    <a:pt x="181" y="113"/>
                  </a:cubicBezTo>
                  <a:cubicBezTo>
                    <a:pt x="181" y="150"/>
                    <a:pt x="151" y="180"/>
                    <a:pt x="114"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sz="2000">
                <a:solidFill>
                  <a:schemeClr val="tx1">
                    <a:lumMod val="85000"/>
                    <a:lumOff val="15000"/>
                  </a:schemeClr>
                </a:solidFill>
              </a:endParaRPr>
            </a:p>
          </p:txBody>
        </p:sp>
        <p:sp>
          <p:nvSpPr>
            <p:cNvPr id="42" name="Freeform 21"/>
            <p:cNvSpPr>
              <a:spLocks noEditPoints="1"/>
            </p:cNvSpPr>
            <p:nvPr/>
          </p:nvSpPr>
          <p:spPr bwMode="auto">
            <a:xfrm>
              <a:off x="4577871" y="4221191"/>
              <a:ext cx="199861" cy="199861"/>
            </a:xfrm>
            <a:custGeom>
              <a:avLst/>
              <a:gdLst>
                <a:gd name="T0" fmla="*/ 135 w 135"/>
                <a:gd name="T1" fmla="*/ 76 h 135"/>
                <a:gd name="T2" fmla="*/ 135 w 135"/>
                <a:gd name="T3" fmla="*/ 58 h 135"/>
                <a:gd name="T4" fmla="*/ 122 w 135"/>
                <a:gd name="T5" fmla="*/ 55 h 135"/>
                <a:gd name="T6" fmla="*/ 118 w 135"/>
                <a:gd name="T7" fmla="*/ 45 h 135"/>
                <a:gd name="T8" fmla="*/ 128 w 135"/>
                <a:gd name="T9" fmla="*/ 34 h 135"/>
                <a:gd name="T10" fmla="*/ 117 w 135"/>
                <a:gd name="T11" fmla="*/ 20 h 135"/>
                <a:gd name="T12" fmla="*/ 104 w 135"/>
                <a:gd name="T13" fmla="*/ 26 h 135"/>
                <a:gd name="T14" fmla="*/ 96 w 135"/>
                <a:gd name="T15" fmla="*/ 19 h 135"/>
                <a:gd name="T16" fmla="*/ 97 w 135"/>
                <a:gd name="T17" fmla="*/ 5 h 135"/>
                <a:gd name="T18" fmla="*/ 80 w 135"/>
                <a:gd name="T19" fmla="*/ 0 h 135"/>
                <a:gd name="T20" fmla="*/ 73 w 135"/>
                <a:gd name="T21" fmla="*/ 12 h 135"/>
                <a:gd name="T22" fmla="*/ 67 w 135"/>
                <a:gd name="T23" fmla="*/ 12 h 135"/>
                <a:gd name="T24" fmla="*/ 62 w 135"/>
                <a:gd name="T25" fmla="*/ 12 h 135"/>
                <a:gd name="T26" fmla="*/ 55 w 135"/>
                <a:gd name="T27" fmla="*/ 0 h 135"/>
                <a:gd name="T28" fmla="*/ 38 w 135"/>
                <a:gd name="T29" fmla="*/ 5 h 135"/>
                <a:gd name="T30" fmla="*/ 39 w 135"/>
                <a:gd name="T31" fmla="*/ 19 h 135"/>
                <a:gd name="T32" fmla="*/ 30 w 135"/>
                <a:gd name="T33" fmla="*/ 26 h 135"/>
                <a:gd name="T34" fmla="*/ 18 w 135"/>
                <a:gd name="T35" fmla="*/ 20 h 135"/>
                <a:gd name="T36" fmla="*/ 7 w 135"/>
                <a:gd name="T37" fmla="*/ 34 h 135"/>
                <a:gd name="T38" fmla="*/ 17 w 135"/>
                <a:gd name="T39" fmla="*/ 45 h 135"/>
                <a:gd name="T40" fmla="*/ 13 w 135"/>
                <a:gd name="T41" fmla="*/ 55 h 135"/>
                <a:gd name="T42" fmla="*/ 0 w 135"/>
                <a:gd name="T43" fmla="*/ 58 h 135"/>
                <a:gd name="T44" fmla="*/ 0 w 135"/>
                <a:gd name="T45" fmla="*/ 76 h 135"/>
                <a:gd name="T46" fmla="*/ 13 w 135"/>
                <a:gd name="T47" fmla="*/ 79 h 135"/>
                <a:gd name="T48" fmla="*/ 17 w 135"/>
                <a:gd name="T49" fmla="*/ 90 h 135"/>
                <a:gd name="T50" fmla="*/ 7 w 135"/>
                <a:gd name="T51" fmla="*/ 100 h 135"/>
                <a:gd name="T52" fmla="*/ 18 w 135"/>
                <a:gd name="T53" fmla="*/ 114 h 135"/>
                <a:gd name="T54" fmla="*/ 31 w 135"/>
                <a:gd name="T55" fmla="*/ 109 h 135"/>
                <a:gd name="T56" fmla="*/ 39 w 135"/>
                <a:gd name="T57" fmla="*/ 115 h 135"/>
                <a:gd name="T58" fmla="*/ 38 w 135"/>
                <a:gd name="T59" fmla="*/ 129 h 135"/>
                <a:gd name="T60" fmla="*/ 55 w 135"/>
                <a:gd name="T61" fmla="*/ 135 h 135"/>
                <a:gd name="T62" fmla="*/ 62 w 135"/>
                <a:gd name="T63" fmla="*/ 122 h 135"/>
                <a:gd name="T64" fmla="*/ 68 w 135"/>
                <a:gd name="T65" fmla="*/ 123 h 135"/>
                <a:gd name="T66" fmla="*/ 73 w 135"/>
                <a:gd name="T67" fmla="*/ 122 h 135"/>
                <a:gd name="T68" fmla="*/ 80 w 135"/>
                <a:gd name="T69" fmla="*/ 135 h 135"/>
                <a:gd name="T70" fmla="*/ 97 w 135"/>
                <a:gd name="T71" fmla="*/ 129 h 135"/>
                <a:gd name="T72" fmla="*/ 96 w 135"/>
                <a:gd name="T73" fmla="*/ 115 h 135"/>
                <a:gd name="T74" fmla="*/ 104 w 135"/>
                <a:gd name="T75" fmla="*/ 109 h 135"/>
                <a:gd name="T76" fmla="*/ 117 w 135"/>
                <a:gd name="T77" fmla="*/ 114 h 135"/>
                <a:gd name="T78" fmla="*/ 128 w 135"/>
                <a:gd name="T79" fmla="*/ 100 h 135"/>
                <a:gd name="T80" fmla="*/ 118 w 135"/>
                <a:gd name="T81" fmla="*/ 89 h 135"/>
                <a:gd name="T82" fmla="*/ 122 w 135"/>
                <a:gd name="T83" fmla="*/ 79 h 135"/>
                <a:gd name="T84" fmla="*/ 135 w 135"/>
                <a:gd name="T85" fmla="*/ 76 h 135"/>
                <a:gd name="T86" fmla="*/ 67 w 135"/>
                <a:gd name="T87" fmla="*/ 107 h 135"/>
                <a:gd name="T88" fmla="*/ 28 w 135"/>
                <a:gd name="T89" fmla="*/ 67 h 135"/>
                <a:gd name="T90" fmla="*/ 67 w 135"/>
                <a:gd name="T91" fmla="*/ 27 h 135"/>
                <a:gd name="T92" fmla="*/ 107 w 135"/>
                <a:gd name="T93" fmla="*/ 67 h 135"/>
                <a:gd name="T94" fmla="*/ 67 w 135"/>
                <a:gd name="T95" fmla="*/ 10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5" h="135">
                  <a:moveTo>
                    <a:pt x="135" y="76"/>
                  </a:moveTo>
                  <a:cubicBezTo>
                    <a:pt x="135" y="58"/>
                    <a:pt x="135" y="58"/>
                    <a:pt x="135" y="58"/>
                  </a:cubicBezTo>
                  <a:cubicBezTo>
                    <a:pt x="122" y="55"/>
                    <a:pt x="122" y="55"/>
                    <a:pt x="122" y="55"/>
                  </a:cubicBezTo>
                  <a:cubicBezTo>
                    <a:pt x="121" y="52"/>
                    <a:pt x="120" y="48"/>
                    <a:pt x="118" y="45"/>
                  </a:cubicBezTo>
                  <a:cubicBezTo>
                    <a:pt x="128" y="34"/>
                    <a:pt x="128" y="34"/>
                    <a:pt x="128" y="34"/>
                  </a:cubicBezTo>
                  <a:cubicBezTo>
                    <a:pt x="117" y="20"/>
                    <a:pt x="117" y="20"/>
                    <a:pt x="117" y="20"/>
                  </a:cubicBezTo>
                  <a:cubicBezTo>
                    <a:pt x="104" y="26"/>
                    <a:pt x="104" y="26"/>
                    <a:pt x="104" y="26"/>
                  </a:cubicBezTo>
                  <a:cubicBezTo>
                    <a:pt x="102" y="23"/>
                    <a:pt x="99" y="21"/>
                    <a:pt x="96" y="19"/>
                  </a:cubicBezTo>
                  <a:cubicBezTo>
                    <a:pt x="97" y="5"/>
                    <a:pt x="97" y="5"/>
                    <a:pt x="97" y="5"/>
                  </a:cubicBezTo>
                  <a:cubicBezTo>
                    <a:pt x="80" y="0"/>
                    <a:pt x="80" y="0"/>
                    <a:pt x="80" y="0"/>
                  </a:cubicBezTo>
                  <a:cubicBezTo>
                    <a:pt x="73" y="12"/>
                    <a:pt x="73" y="12"/>
                    <a:pt x="73" y="12"/>
                  </a:cubicBezTo>
                  <a:cubicBezTo>
                    <a:pt x="71" y="12"/>
                    <a:pt x="69" y="12"/>
                    <a:pt x="67" y="12"/>
                  </a:cubicBezTo>
                  <a:cubicBezTo>
                    <a:pt x="66" y="12"/>
                    <a:pt x="64" y="12"/>
                    <a:pt x="62" y="12"/>
                  </a:cubicBezTo>
                  <a:cubicBezTo>
                    <a:pt x="55" y="0"/>
                    <a:pt x="55" y="0"/>
                    <a:pt x="55" y="0"/>
                  </a:cubicBezTo>
                  <a:cubicBezTo>
                    <a:pt x="38" y="5"/>
                    <a:pt x="38" y="5"/>
                    <a:pt x="38" y="5"/>
                  </a:cubicBezTo>
                  <a:cubicBezTo>
                    <a:pt x="39" y="19"/>
                    <a:pt x="39" y="19"/>
                    <a:pt x="39" y="19"/>
                  </a:cubicBezTo>
                  <a:cubicBezTo>
                    <a:pt x="36" y="21"/>
                    <a:pt x="33" y="23"/>
                    <a:pt x="30" y="26"/>
                  </a:cubicBezTo>
                  <a:cubicBezTo>
                    <a:pt x="18" y="20"/>
                    <a:pt x="18" y="20"/>
                    <a:pt x="18" y="20"/>
                  </a:cubicBezTo>
                  <a:cubicBezTo>
                    <a:pt x="7" y="34"/>
                    <a:pt x="7" y="34"/>
                    <a:pt x="7" y="34"/>
                  </a:cubicBezTo>
                  <a:cubicBezTo>
                    <a:pt x="17" y="45"/>
                    <a:pt x="17" y="45"/>
                    <a:pt x="17" y="45"/>
                  </a:cubicBezTo>
                  <a:cubicBezTo>
                    <a:pt x="15" y="48"/>
                    <a:pt x="14" y="52"/>
                    <a:pt x="13" y="55"/>
                  </a:cubicBezTo>
                  <a:cubicBezTo>
                    <a:pt x="0" y="58"/>
                    <a:pt x="0" y="58"/>
                    <a:pt x="0" y="58"/>
                  </a:cubicBezTo>
                  <a:cubicBezTo>
                    <a:pt x="0" y="76"/>
                    <a:pt x="0" y="76"/>
                    <a:pt x="0" y="76"/>
                  </a:cubicBezTo>
                  <a:cubicBezTo>
                    <a:pt x="13" y="79"/>
                    <a:pt x="13" y="79"/>
                    <a:pt x="13" y="79"/>
                  </a:cubicBezTo>
                  <a:cubicBezTo>
                    <a:pt x="14" y="83"/>
                    <a:pt x="15" y="86"/>
                    <a:pt x="17" y="90"/>
                  </a:cubicBezTo>
                  <a:cubicBezTo>
                    <a:pt x="7" y="100"/>
                    <a:pt x="7" y="100"/>
                    <a:pt x="7" y="100"/>
                  </a:cubicBezTo>
                  <a:cubicBezTo>
                    <a:pt x="18" y="114"/>
                    <a:pt x="18" y="114"/>
                    <a:pt x="18" y="114"/>
                  </a:cubicBezTo>
                  <a:cubicBezTo>
                    <a:pt x="31" y="109"/>
                    <a:pt x="31" y="109"/>
                    <a:pt x="31" y="109"/>
                  </a:cubicBezTo>
                  <a:cubicBezTo>
                    <a:pt x="33" y="111"/>
                    <a:pt x="36" y="113"/>
                    <a:pt x="39" y="115"/>
                  </a:cubicBezTo>
                  <a:cubicBezTo>
                    <a:pt x="38" y="129"/>
                    <a:pt x="38" y="129"/>
                    <a:pt x="38" y="129"/>
                  </a:cubicBezTo>
                  <a:cubicBezTo>
                    <a:pt x="55" y="135"/>
                    <a:pt x="55" y="135"/>
                    <a:pt x="55" y="135"/>
                  </a:cubicBezTo>
                  <a:cubicBezTo>
                    <a:pt x="62" y="122"/>
                    <a:pt x="62" y="122"/>
                    <a:pt x="62" y="122"/>
                  </a:cubicBezTo>
                  <a:cubicBezTo>
                    <a:pt x="64" y="123"/>
                    <a:pt x="66" y="123"/>
                    <a:pt x="68" y="123"/>
                  </a:cubicBezTo>
                  <a:cubicBezTo>
                    <a:pt x="69" y="123"/>
                    <a:pt x="71" y="123"/>
                    <a:pt x="73" y="122"/>
                  </a:cubicBezTo>
                  <a:cubicBezTo>
                    <a:pt x="80" y="135"/>
                    <a:pt x="80" y="135"/>
                    <a:pt x="80" y="135"/>
                  </a:cubicBezTo>
                  <a:cubicBezTo>
                    <a:pt x="97" y="129"/>
                    <a:pt x="97" y="129"/>
                    <a:pt x="97" y="129"/>
                  </a:cubicBezTo>
                  <a:cubicBezTo>
                    <a:pt x="96" y="115"/>
                    <a:pt x="96" y="115"/>
                    <a:pt x="96" y="115"/>
                  </a:cubicBezTo>
                  <a:cubicBezTo>
                    <a:pt x="99" y="113"/>
                    <a:pt x="102" y="111"/>
                    <a:pt x="104" y="109"/>
                  </a:cubicBezTo>
                  <a:cubicBezTo>
                    <a:pt x="117" y="114"/>
                    <a:pt x="117" y="114"/>
                    <a:pt x="117" y="114"/>
                  </a:cubicBezTo>
                  <a:cubicBezTo>
                    <a:pt x="128" y="100"/>
                    <a:pt x="128" y="100"/>
                    <a:pt x="128" y="100"/>
                  </a:cubicBezTo>
                  <a:cubicBezTo>
                    <a:pt x="118" y="89"/>
                    <a:pt x="118" y="89"/>
                    <a:pt x="118" y="89"/>
                  </a:cubicBezTo>
                  <a:cubicBezTo>
                    <a:pt x="120" y="86"/>
                    <a:pt x="121" y="83"/>
                    <a:pt x="122" y="79"/>
                  </a:cubicBezTo>
                  <a:lnTo>
                    <a:pt x="135" y="76"/>
                  </a:lnTo>
                  <a:close/>
                  <a:moveTo>
                    <a:pt x="67" y="107"/>
                  </a:moveTo>
                  <a:cubicBezTo>
                    <a:pt x="46" y="107"/>
                    <a:pt x="28" y="89"/>
                    <a:pt x="28" y="67"/>
                  </a:cubicBezTo>
                  <a:cubicBezTo>
                    <a:pt x="28" y="45"/>
                    <a:pt x="46" y="27"/>
                    <a:pt x="67" y="27"/>
                  </a:cubicBezTo>
                  <a:cubicBezTo>
                    <a:pt x="89" y="27"/>
                    <a:pt x="107" y="45"/>
                    <a:pt x="107" y="67"/>
                  </a:cubicBezTo>
                  <a:cubicBezTo>
                    <a:pt x="107" y="89"/>
                    <a:pt x="89" y="107"/>
                    <a:pt x="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sz="2000">
                <a:solidFill>
                  <a:schemeClr val="tx1">
                    <a:lumMod val="85000"/>
                    <a:lumOff val="15000"/>
                  </a:schemeClr>
                </a:solidFill>
              </a:endParaRPr>
            </a:p>
          </p:txBody>
        </p:sp>
      </p:grpSp>
      <p:grpSp>
        <p:nvGrpSpPr>
          <p:cNvPr id="3" name="组合 2"/>
          <p:cNvGrpSpPr>
            <a:grpSpLocks noChangeAspect="1"/>
          </p:cNvGrpSpPr>
          <p:nvPr/>
        </p:nvGrpSpPr>
        <p:grpSpPr>
          <a:xfrm>
            <a:off x="1123219" y="1918503"/>
            <a:ext cx="304247" cy="340249"/>
            <a:chOff x="5999255" y="3275006"/>
            <a:chExt cx="402656" cy="450303"/>
          </a:xfrm>
          <a:solidFill>
            <a:schemeClr val="bg1"/>
          </a:solidFill>
          <a:effectLst/>
        </p:grpSpPr>
        <p:sp>
          <p:nvSpPr>
            <p:cNvPr id="7" name="Freeform 108"/>
            <p:cNvSpPr>
              <a:spLocks noEditPoints="1"/>
            </p:cNvSpPr>
            <p:nvPr/>
          </p:nvSpPr>
          <p:spPr bwMode="auto">
            <a:xfrm>
              <a:off x="6068389" y="3442234"/>
              <a:ext cx="56988" cy="57923"/>
            </a:xfrm>
            <a:custGeom>
              <a:avLst/>
              <a:gdLst>
                <a:gd name="T0" fmla="*/ 13 w 26"/>
                <a:gd name="T1" fmla="*/ 0 h 26"/>
                <a:gd name="T2" fmla="*/ 0 w 26"/>
                <a:gd name="T3" fmla="*/ 13 h 26"/>
                <a:gd name="T4" fmla="*/ 13 w 26"/>
                <a:gd name="T5" fmla="*/ 26 h 26"/>
                <a:gd name="T6" fmla="*/ 26 w 26"/>
                <a:gd name="T7" fmla="*/ 13 h 26"/>
                <a:gd name="T8" fmla="*/ 13 w 26"/>
                <a:gd name="T9" fmla="*/ 0 h 26"/>
                <a:gd name="T10" fmla="*/ 13 w 26"/>
                <a:gd name="T11" fmla="*/ 23 h 26"/>
                <a:gd name="T12" fmla="*/ 3 w 26"/>
                <a:gd name="T13" fmla="*/ 13 h 26"/>
                <a:gd name="T14" fmla="*/ 13 w 26"/>
                <a:gd name="T15" fmla="*/ 3 h 26"/>
                <a:gd name="T16" fmla="*/ 23 w 26"/>
                <a:gd name="T17" fmla="*/ 13 h 26"/>
                <a:gd name="T18" fmla="*/ 13 w 26"/>
                <a:gd name="T19" fmla="*/ 2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26">
                  <a:moveTo>
                    <a:pt x="13" y="0"/>
                  </a:moveTo>
                  <a:cubicBezTo>
                    <a:pt x="6" y="0"/>
                    <a:pt x="0" y="6"/>
                    <a:pt x="0" y="13"/>
                  </a:cubicBezTo>
                  <a:cubicBezTo>
                    <a:pt x="0" y="20"/>
                    <a:pt x="6" y="26"/>
                    <a:pt x="13" y="26"/>
                  </a:cubicBezTo>
                  <a:cubicBezTo>
                    <a:pt x="20" y="26"/>
                    <a:pt x="26" y="20"/>
                    <a:pt x="26" y="13"/>
                  </a:cubicBezTo>
                  <a:cubicBezTo>
                    <a:pt x="26" y="6"/>
                    <a:pt x="20" y="0"/>
                    <a:pt x="13" y="0"/>
                  </a:cubicBezTo>
                  <a:close/>
                  <a:moveTo>
                    <a:pt x="13" y="23"/>
                  </a:moveTo>
                  <a:cubicBezTo>
                    <a:pt x="8" y="23"/>
                    <a:pt x="3" y="18"/>
                    <a:pt x="3" y="13"/>
                  </a:cubicBezTo>
                  <a:cubicBezTo>
                    <a:pt x="3" y="7"/>
                    <a:pt x="8" y="3"/>
                    <a:pt x="13" y="3"/>
                  </a:cubicBezTo>
                  <a:cubicBezTo>
                    <a:pt x="19" y="3"/>
                    <a:pt x="23" y="7"/>
                    <a:pt x="23" y="13"/>
                  </a:cubicBezTo>
                  <a:cubicBezTo>
                    <a:pt x="23" y="18"/>
                    <a:pt x="19" y="23"/>
                    <a:pt x="13"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85000"/>
                    <a:lumOff val="15000"/>
                  </a:schemeClr>
                </a:solidFill>
              </a:endParaRPr>
            </a:p>
          </p:txBody>
        </p:sp>
        <p:sp>
          <p:nvSpPr>
            <p:cNvPr id="8" name="Freeform 109"/>
            <p:cNvSpPr>
              <a:spLocks noEditPoints="1"/>
            </p:cNvSpPr>
            <p:nvPr/>
          </p:nvSpPr>
          <p:spPr bwMode="auto">
            <a:xfrm>
              <a:off x="6196380" y="3404865"/>
              <a:ext cx="48580" cy="48580"/>
            </a:xfrm>
            <a:custGeom>
              <a:avLst/>
              <a:gdLst>
                <a:gd name="T0" fmla="*/ 11 w 22"/>
                <a:gd name="T1" fmla="*/ 0 h 22"/>
                <a:gd name="T2" fmla="*/ 0 w 22"/>
                <a:gd name="T3" fmla="*/ 11 h 22"/>
                <a:gd name="T4" fmla="*/ 11 w 22"/>
                <a:gd name="T5" fmla="*/ 22 h 22"/>
                <a:gd name="T6" fmla="*/ 22 w 22"/>
                <a:gd name="T7" fmla="*/ 11 h 22"/>
                <a:gd name="T8" fmla="*/ 11 w 22"/>
                <a:gd name="T9" fmla="*/ 0 h 22"/>
                <a:gd name="T10" fmla="*/ 11 w 22"/>
                <a:gd name="T11" fmla="*/ 17 h 22"/>
                <a:gd name="T12" fmla="*/ 5 w 22"/>
                <a:gd name="T13" fmla="*/ 11 h 22"/>
                <a:gd name="T14" fmla="*/ 11 w 22"/>
                <a:gd name="T15" fmla="*/ 5 h 22"/>
                <a:gd name="T16" fmla="*/ 17 w 22"/>
                <a:gd name="T17" fmla="*/ 11 h 22"/>
                <a:gd name="T18" fmla="*/ 11 w 22"/>
                <a:gd name="T1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2">
                  <a:moveTo>
                    <a:pt x="11" y="0"/>
                  </a:moveTo>
                  <a:cubicBezTo>
                    <a:pt x="5" y="0"/>
                    <a:pt x="0" y="5"/>
                    <a:pt x="0" y="11"/>
                  </a:cubicBezTo>
                  <a:cubicBezTo>
                    <a:pt x="0" y="17"/>
                    <a:pt x="5" y="22"/>
                    <a:pt x="11" y="22"/>
                  </a:cubicBezTo>
                  <a:cubicBezTo>
                    <a:pt x="17" y="22"/>
                    <a:pt x="22" y="17"/>
                    <a:pt x="22" y="11"/>
                  </a:cubicBezTo>
                  <a:cubicBezTo>
                    <a:pt x="22" y="5"/>
                    <a:pt x="17" y="0"/>
                    <a:pt x="11" y="0"/>
                  </a:cubicBezTo>
                  <a:close/>
                  <a:moveTo>
                    <a:pt x="11" y="17"/>
                  </a:moveTo>
                  <a:cubicBezTo>
                    <a:pt x="8" y="17"/>
                    <a:pt x="5" y="14"/>
                    <a:pt x="5" y="11"/>
                  </a:cubicBezTo>
                  <a:cubicBezTo>
                    <a:pt x="5" y="8"/>
                    <a:pt x="8" y="5"/>
                    <a:pt x="11" y="5"/>
                  </a:cubicBezTo>
                  <a:cubicBezTo>
                    <a:pt x="14" y="5"/>
                    <a:pt x="17" y="8"/>
                    <a:pt x="17" y="11"/>
                  </a:cubicBezTo>
                  <a:cubicBezTo>
                    <a:pt x="17" y="14"/>
                    <a:pt x="14" y="17"/>
                    <a:pt x="1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85000"/>
                    <a:lumOff val="15000"/>
                  </a:schemeClr>
                </a:solidFill>
              </a:endParaRPr>
            </a:p>
          </p:txBody>
        </p:sp>
        <p:sp>
          <p:nvSpPr>
            <p:cNvPr id="9" name="Freeform 110"/>
            <p:cNvSpPr>
              <a:spLocks noEditPoints="1"/>
            </p:cNvSpPr>
            <p:nvPr/>
          </p:nvSpPr>
          <p:spPr bwMode="auto">
            <a:xfrm>
              <a:off x="6081468" y="3456248"/>
              <a:ext cx="30830" cy="30830"/>
            </a:xfrm>
            <a:custGeom>
              <a:avLst/>
              <a:gdLst>
                <a:gd name="T0" fmla="*/ 7 w 14"/>
                <a:gd name="T1" fmla="*/ 0 h 14"/>
                <a:gd name="T2" fmla="*/ 0 w 14"/>
                <a:gd name="T3" fmla="*/ 7 h 14"/>
                <a:gd name="T4" fmla="*/ 7 w 14"/>
                <a:gd name="T5" fmla="*/ 14 h 14"/>
                <a:gd name="T6" fmla="*/ 14 w 14"/>
                <a:gd name="T7" fmla="*/ 7 h 14"/>
                <a:gd name="T8" fmla="*/ 7 w 14"/>
                <a:gd name="T9" fmla="*/ 0 h 14"/>
                <a:gd name="T10" fmla="*/ 7 w 14"/>
                <a:gd name="T11" fmla="*/ 10 h 14"/>
                <a:gd name="T12" fmla="*/ 4 w 14"/>
                <a:gd name="T13" fmla="*/ 7 h 14"/>
                <a:gd name="T14" fmla="*/ 7 w 14"/>
                <a:gd name="T15" fmla="*/ 3 h 14"/>
                <a:gd name="T16" fmla="*/ 11 w 14"/>
                <a:gd name="T17" fmla="*/ 7 h 14"/>
                <a:gd name="T18" fmla="*/ 7 w 14"/>
                <a:gd name="T19"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4">
                  <a:moveTo>
                    <a:pt x="7" y="0"/>
                  </a:moveTo>
                  <a:cubicBezTo>
                    <a:pt x="3" y="0"/>
                    <a:pt x="0" y="3"/>
                    <a:pt x="0" y="7"/>
                  </a:cubicBezTo>
                  <a:cubicBezTo>
                    <a:pt x="0" y="11"/>
                    <a:pt x="3" y="14"/>
                    <a:pt x="7" y="14"/>
                  </a:cubicBezTo>
                  <a:cubicBezTo>
                    <a:pt x="11" y="14"/>
                    <a:pt x="14" y="11"/>
                    <a:pt x="14" y="7"/>
                  </a:cubicBezTo>
                  <a:cubicBezTo>
                    <a:pt x="14" y="3"/>
                    <a:pt x="11" y="0"/>
                    <a:pt x="7" y="0"/>
                  </a:cubicBezTo>
                  <a:close/>
                  <a:moveTo>
                    <a:pt x="7" y="10"/>
                  </a:moveTo>
                  <a:cubicBezTo>
                    <a:pt x="5" y="10"/>
                    <a:pt x="4" y="9"/>
                    <a:pt x="4" y="7"/>
                  </a:cubicBezTo>
                  <a:cubicBezTo>
                    <a:pt x="4" y="5"/>
                    <a:pt x="5" y="3"/>
                    <a:pt x="7" y="3"/>
                  </a:cubicBezTo>
                  <a:cubicBezTo>
                    <a:pt x="9" y="3"/>
                    <a:pt x="11" y="5"/>
                    <a:pt x="11" y="7"/>
                  </a:cubicBezTo>
                  <a:cubicBezTo>
                    <a:pt x="11" y="9"/>
                    <a:pt x="9" y="10"/>
                    <a:pt x="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85000"/>
                    <a:lumOff val="15000"/>
                  </a:schemeClr>
                </a:solidFill>
              </a:endParaRPr>
            </a:p>
          </p:txBody>
        </p:sp>
        <p:sp>
          <p:nvSpPr>
            <p:cNvPr id="10" name="Freeform 111"/>
            <p:cNvSpPr>
              <a:spLocks noEditPoints="1"/>
            </p:cNvSpPr>
            <p:nvPr/>
          </p:nvSpPr>
          <p:spPr bwMode="auto">
            <a:xfrm>
              <a:off x="6172089" y="3380574"/>
              <a:ext cx="97161" cy="97161"/>
            </a:xfrm>
            <a:custGeom>
              <a:avLst/>
              <a:gdLst>
                <a:gd name="T0" fmla="*/ 22 w 44"/>
                <a:gd name="T1" fmla="*/ 0 h 44"/>
                <a:gd name="T2" fmla="*/ 0 w 44"/>
                <a:gd name="T3" fmla="*/ 22 h 44"/>
                <a:gd name="T4" fmla="*/ 22 w 44"/>
                <a:gd name="T5" fmla="*/ 44 h 44"/>
                <a:gd name="T6" fmla="*/ 44 w 44"/>
                <a:gd name="T7" fmla="*/ 22 h 44"/>
                <a:gd name="T8" fmla="*/ 22 w 44"/>
                <a:gd name="T9" fmla="*/ 0 h 44"/>
                <a:gd name="T10" fmla="*/ 22 w 44"/>
                <a:gd name="T11" fmla="*/ 39 h 44"/>
                <a:gd name="T12" fmla="*/ 5 w 44"/>
                <a:gd name="T13" fmla="*/ 22 h 44"/>
                <a:gd name="T14" fmla="*/ 22 w 44"/>
                <a:gd name="T15" fmla="*/ 6 h 44"/>
                <a:gd name="T16" fmla="*/ 39 w 44"/>
                <a:gd name="T17" fmla="*/ 22 h 44"/>
                <a:gd name="T18" fmla="*/ 22 w 44"/>
                <a:gd name="T19" fmla="*/ 3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44">
                  <a:moveTo>
                    <a:pt x="22" y="0"/>
                  </a:moveTo>
                  <a:cubicBezTo>
                    <a:pt x="10" y="0"/>
                    <a:pt x="0" y="10"/>
                    <a:pt x="0" y="22"/>
                  </a:cubicBezTo>
                  <a:cubicBezTo>
                    <a:pt x="0" y="34"/>
                    <a:pt x="10" y="44"/>
                    <a:pt x="22" y="44"/>
                  </a:cubicBezTo>
                  <a:cubicBezTo>
                    <a:pt x="34" y="44"/>
                    <a:pt x="44" y="34"/>
                    <a:pt x="44" y="22"/>
                  </a:cubicBezTo>
                  <a:cubicBezTo>
                    <a:pt x="44" y="10"/>
                    <a:pt x="34" y="0"/>
                    <a:pt x="22" y="0"/>
                  </a:cubicBezTo>
                  <a:close/>
                  <a:moveTo>
                    <a:pt x="22" y="39"/>
                  </a:moveTo>
                  <a:cubicBezTo>
                    <a:pt x="13" y="39"/>
                    <a:pt x="5" y="31"/>
                    <a:pt x="5" y="22"/>
                  </a:cubicBezTo>
                  <a:cubicBezTo>
                    <a:pt x="5" y="13"/>
                    <a:pt x="13" y="6"/>
                    <a:pt x="22" y="6"/>
                  </a:cubicBezTo>
                  <a:cubicBezTo>
                    <a:pt x="31" y="6"/>
                    <a:pt x="39" y="13"/>
                    <a:pt x="39" y="22"/>
                  </a:cubicBezTo>
                  <a:cubicBezTo>
                    <a:pt x="39" y="31"/>
                    <a:pt x="31" y="39"/>
                    <a:pt x="22"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85000"/>
                    <a:lumOff val="15000"/>
                  </a:schemeClr>
                </a:solidFill>
              </a:endParaRPr>
            </a:p>
          </p:txBody>
        </p:sp>
        <p:sp>
          <p:nvSpPr>
            <p:cNvPr id="11" name="Freeform 112"/>
            <p:cNvSpPr>
              <a:spLocks noEditPoints="1"/>
            </p:cNvSpPr>
            <p:nvPr/>
          </p:nvSpPr>
          <p:spPr bwMode="auto">
            <a:xfrm>
              <a:off x="5999255" y="3275006"/>
              <a:ext cx="402656" cy="450303"/>
            </a:xfrm>
            <a:custGeom>
              <a:avLst/>
              <a:gdLst>
                <a:gd name="T0" fmla="*/ 157 w 182"/>
                <a:gd name="T1" fmla="*/ 96 h 204"/>
                <a:gd name="T2" fmla="*/ 153 w 182"/>
                <a:gd name="T3" fmla="*/ 48 h 204"/>
                <a:gd name="T4" fmla="*/ 78 w 182"/>
                <a:gd name="T5" fmla="*/ 0 h 204"/>
                <a:gd name="T6" fmla="*/ 1 w 182"/>
                <a:gd name="T7" fmla="*/ 79 h 204"/>
                <a:gd name="T8" fmla="*/ 0 w 182"/>
                <a:gd name="T9" fmla="*/ 204 h 204"/>
                <a:gd name="T10" fmla="*/ 113 w 182"/>
                <a:gd name="T11" fmla="*/ 176 h 204"/>
                <a:gd name="T12" fmla="*/ 147 w 182"/>
                <a:gd name="T13" fmla="*/ 176 h 204"/>
                <a:gd name="T14" fmla="*/ 147 w 182"/>
                <a:gd name="T15" fmla="*/ 176 h 204"/>
                <a:gd name="T16" fmla="*/ 156 w 182"/>
                <a:gd name="T17" fmla="*/ 151 h 204"/>
                <a:gd name="T18" fmla="*/ 146 w 182"/>
                <a:gd name="T19" fmla="*/ 145 h 204"/>
                <a:gd name="T20" fmla="*/ 156 w 182"/>
                <a:gd name="T21" fmla="*/ 140 h 204"/>
                <a:gd name="T22" fmla="*/ 155 w 182"/>
                <a:gd name="T23" fmla="*/ 138 h 204"/>
                <a:gd name="T24" fmla="*/ 170 w 182"/>
                <a:gd name="T25" fmla="*/ 111 h 204"/>
                <a:gd name="T26" fmla="*/ 62 w 182"/>
                <a:gd name="T27" fmla="*/ 93 h 204"/>
                <a:gd name="T28" fmla="*/ 62 w 182"/>
                <a:gd name="T29" fmla="*/ 102 h 204"/>
                <a:gd name="T30" fmla="*/ 54 w 182"/>
                <a:gd name="T31" fmla="*/ 105 h 204"/>
                <a:gd name="T32" fmla="*/ 48 w 182"/>
                <a:gd name="T33" fmla="*/ 110 h 204"/>
                <a:gd name="T34" fmla="*/ 40 w 182"/>
                <a:gd name="T35" fmla="*/ 107 h 204"/>
                <a:gd name="T36" fmla="*/ 32 w 182"/>
                <a:gd name="T37" fmla="*/ 107 h 204"/>
                <a:gd name="T38" fmla="*/ 28 w 182"/>
                <a:gd name="T39" fmla="*/ 99 h 204"/>
                <a:gd name="T40" fmla="*/ 22 w 182"/>
                <a:gd name="T41" fmla="*/ 93 h 204"/>
                <a:gd name="T42" fmla="*/ 26 w 182"/>
                <a:gd name="T43" fmla="*/ 85 h 204"/>
                <a:gd name="T44" fmla="*/ 26 w 182"/>
                <a:gd name="T45" fmla="*/ 76 h 204"/>
                <a:gd name="T46" fmla="*/ 34 w 182"/>
                <a:gd name="T47" fmla="*/ 73 h 204"/>
                <a:gd name="T48" fmla="*/ 40 w 182"/>
                <a:gd name="T49" fmla="*/ 68 h 204"/>
                <a:gd name="T50" fmla="*/ 48 w 182"/>
                <a:gd name="T51" fmla="*/ 71 h 204"/>
                <a:gd name="T52" fmla="*/ 57 w 182"/>
                <a:gd name="T53" fmla="*/ 71 h 204"/>
                <a:gd name="T54" fmla="*/ 60 w 182"/>
                <a:gd name="T55" fmla="*/ 79 h 204"/>
                <a:gd name="T56" fmla="*/ 66 w 182"/>
                <a:gd name="T57" fmla="*/ 85 h 204"/>
                <a:gd name="T58" fmla="*/ 136 w 182"/>
                <a:gd name="T59" fmla="*/ 77 h 204"/>
                <a:gd name="T60" fmla="*/ 126 w 182"/>
                <a:gd name="T61" fmla="*/ 87 h 204"/>
                <a:gd name="T62" fmla="*/ 121 w 182"/>
                <a:gd name="T63" fmla="*/ 100 h 204"/>
                <a:gd name="T64" fmla="*/ 107 w 182"/>
                <a:gd name="T65" fmla="*/ 100 h 204"/>
                <a:gd name="T66" fmla="*/ 94 w 182"/>
                <a:gd name="T67" fmla="*/ 105 h 204"/>
                <a:gd name="T68" fmla="*/ 83 w 182"/>
                <a:gd name="T69" fmla="*/ 96 h 204"/>
                <a:gd name="T70" fmla="*/ 70 w 182"/>
                <a:gd name="T71" fmla="*/ 91 h 204"/>
                <a:gd name="T72" fmla="*/ 70 w 182"/>
                <a:gd name="T73" fmla="*/ 77 h 204"/>
                <a:gd name="T74" fmla="*/ 64 w 182"/>
                <a:gd name="T75" fmla="*/ 64 h 204"/>
                <a:gd name="T76" fmla="*/ 74 w 182"/>
                <a:gd name="T77" fmla="*/ 53 h 204"/>
                <a:gd name="T78" fmla="*/ 79 w 182"/>
                <a:gd name="T79" fmla="*/ 40 h 204"/>
                <a:gd name="T80" fmla="*/ 94 w 182"/>
                <a:gd name="T81" fmla="*/ 40 h 204"/>
                <a:gd name="T82" fmla="*/ 107 w 182"/>
                <a:gd name="T83" fmla="*/ 35 h 204"/>
                <a:gd name="T84" fmla="*/ 117 w 182"/>
                <a:gd name="T85" fmla="*/ 44 h 204"/>
                <a:gd name="T86" fmla="*/ 130 w 182"/>
                <a:gd name="T87" fmla="*/ 49 h 204"/>
                <a:gd name="T88" fmla="*/ 130 w 182"/>
                <a:gd name="T89" fmla="*/ 64 h 204"/>
                <a:gd name="T90" fmla="*/ 136 w 182"/>
                <a:gd name="T91" fmla="*/ 77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2" h="204">
                  <a:moveTo>
                    <a:pt x="170" y="111"/>
                  </a:moveTo>
                  <a:cubicBezTo>
                    <a:pt x="166" y="107"/>
                    <a:pt x="160" y="102"/>
                    <a:pt x="157" y="96"/>
                  </a:cubicBezTo>
                  <a:cubicBezTo>
                    <a:pt x="153" y="87"/>
                    <a:pt x="158" y="79"/>
                    <a:pt x="157" y="70"/>
                  </a:cubicBezTo>
                  <a:cubicBezTo>
                    <a:pt x="157" y="63"/>
                    <a:pt x="155" y="54"/>
                    <a:pt x="153" y="48"/>
                  </a:cubicBezTo>
                  <a:cubicBezTo>
                    <a:pt x="149" y="37"/>
                    <a:pt x="142" y="28"/>
                    <a:pt x="133" y="21"/>
                  </a:cubicBezTo>
                  <a:cubicBezTo>
                    <a:pt x="119" y="8"/>
                    <a:pt x="100" y="0"/>
                    <a:pt x="78" y="0"/>
                  </a:cubicBezTo>
                  <a:cubicBezTo>
                    <a:pt x="35" y="0"/>
                    <a:pt x="0" y="32"/>
                    <a:pt x="0" y="71"/>
                  </a:cubicBezTo>
                  <a:cubicBezTo>
                    <a:pt x="0" y="74"/>
                    <a:pt x="0" y="77"/>
                    <a:pt x="1" y="79"/>
                  </a:cubicBezTo>
                  <a:cubicBezTo>
                    <a:pt x="1" y="96"/>
                    <a:pt x="6" y="117"/>
                    <a:pt x="22" y="139"/>
                  </a:cubicBezTo>
                  <a:cubicBezTo>
                    <a:pt x="22" y="139"/>
                    <a:pt x="43" y="182"/>
                    <a:pt x="0" y="204"/>
                  </a:cubicBezTo>
                  <a:cubicBezTo>
                    <a:pt x="95" y="204"/>
                    <a:pt x="95" y="204"/>
                    <a:pt x="95" y="204"/>
                  </a:cubicBezTo>
                  <a:cubicBezTo>
                    <a:pt x="95" y="204"/>
                    <a:pt x="102" y="176"/>
                    <a:pt x="113" y="176"/>
                  </a:cubicBezTo>
                  <a:cubicBezTo>
                    <a:pt x="123" y="176"/>
                    <a:pt x="133" y="177"/>
                    <a:pt x="142" y="176"/>
                  </a:cubicBezTo>
                  <a:cubicBezTo>
                    <a:pt x="144" y="177"/>
                    <a:pt x="146" y="176"/>
                    <a:pt x="147" y="176"/>
                  </a:cubicBezTo>
                  <a:cubicBezTo>
                    <a:pt x="147" y="176"/>
                    <a:pt x="147" y="176"/>
                    <a:pt x="147" y="176"/>
                  </a:cubicBezTo>
                  <a:cubicBezTo>
                    <a:pt x="147" y="176"/>
                    <a:pt x="147" y="176"/>
                    <a:pt x="147" y="176"/>
                  </a:cubicBezTo>
                  <a:cubicBezTo>
                    <a:pt x="154" y="173"/>
                    <a:pt x="149" y="157"/>
                    <a:pt x="149" y="157"/>
                  </a:cubicBezTo>
                  <a:cubicBezTo>
                    <a:pt x="153" y="155"/>
                    <a:pt x="156" y="153"/>
                    <a:pt x="156" y="151"/>
                  </a:cubicBezTo>
                  <a:cubicBezTo>
                    <a:pt x="156" y="150"/>
                    <a:pt x="156" y="150"/>
                    <a:pt x="156" y="150"/>
                  </a:cubicBezTo>
                  <a:cubicBezTo>
                    <a:pt x="156" y="148"/>
                    <a:pt x="152" y="146"/>
                    <a:pt x="146" y="145"/>
                  </a:cubicBezTo>
                  <a:cubicBezTo>
                    <a:pt x="149" y="145"/>
                    <a:pt x="149" y="145"/>
                    <a:pt x="149" y="145"/>
                  </a:cubicBezTo>
                  <a:cubicBezTo>
                    <a:pt x="153" y="145"/>
                    <a:pt x="156" y="143"/>
                    <a:pt x="156" y="140"/>
                  </a:cubicBezTo>
                  <a:cubicBezTo>
                    <a:pt x="156" y="140"/>
                    <a:pt x="156" y="140"/>
                    <a:pt x="156" y="140"/>
                  </a:cubicBezTo>
                  <a:cubicBezTo>
                    <a:pt x="156" y="139"/>
                    <a:pt x="156" y="138"/>
                    <a:pt x="155" y="138"/>
                  </a:cubicBezTo>
                  <a:cubicBezTo>
                    <a:pt x="156" y="135"/>
                    <a:pt x="159" y="121"/>
                    <a:pt x="160" y="121"/>
                  </a:cubicBezTo>
                  <a:cubicBezTo>
                    <a:pt x="182" y="119"/>
                    <a:pt x="170" y="111"/>
                    <a:pt x="170" y="111"/>
                  </a:cubicBezTo>
                  <a:close/>
                  <a:moveTo>
                    <a:pt x="66" y="93"/>
                  </a:moveTo>
                  <a:cubicBezTo>
                    <a:pt x="62" y="93"/>
                    <a:pt x="62" y="93"/>
                    <a:pt x="62" y="93"/>
                  </a:cubicBezTo>
                  <a:cubicBezTo>
                    <a:pt x="62" y="95"/>
                    <a:pt x="61" y="97"/>
                    <a:pt x="60" y="99"/>
                  </a:cubicBezTo>
                  <a:cubicBezTo>
                    <a:pt x="62" y="102"/>
                    <a:pt x="62" y="102"/>
                    <a:pt x="62" y="102"/>
                  </a:cubicBezTo>
                  <a:cubicBezTo>
                    <a:pt x="57" y="107"/>
                    <a:pt x="57" y="107"/>
                    <a:pt x="57" y="107"/>
                  </a:cubicBezTo>
                  <a:cubicBezTo>
                    <a:pt x="54" y="105"/>
                    <a:pt x="54" y="105"/>
                    <a:pt x="54" y="105"/>
                  </a:cubicBezTo>
                  <a:cubicBezTo>
                    <a:pt x="52" y="106"/>
                    <a:pt x="50" y="107"/>
                    <a:pt x="48" y="107"/>
                  </a:cubicBezTo>
                  <a:cubicBezTo>
                    <a:pt x="48" y="110"/>
                    <a:pt x="48" y="110"/>
                    <a:pt x="48" y="110"/>
                  </a:cubicBezTo>
                  <a:cubicBezTo>
                    <a:pt x="40" y="110"/>
                    <a:pt x="40" y="110"/>
                    <a:pt x="40" y="110"/>
                  </a:cubicBezTo>
                  <a:cubicBezTo>
                    <a:pt x="40" y="107"/>
                    <a:pt x="40" y="107"/>
                    <a:pt x="40" y="107"/>
                  </a:cubicBezTo>
                  <a:cubicBezTo>
                    <a:pt x="38" y="107"/>
                    <a:pt x="36" y="106"/>
                    <a:pt x="34" y="105"/>
                  </a:cubicBezTo>
                  <a:cubicBezTo>
                    <a:pt x="32" y="107"/>
                    <a:pt x="32" y="107"/>
                    <a:pt x="32" y="107"/>
                  </a:cubicBezTo>
                  <a:cubicBezTo>
                    <a:pt x="26" y="102"/>
                    <a:pt x="26" y="102"/>
                    <a:pt x="26" y="102"/>
                  </a:cubicBezTo>
                  <a:cubicBezTo>
                    <a:pt x="28" y="99"/>
                    <a:pt x="28" y="99"/>
                    <a:pt x="28" y="99"/>
                  </a:cubicBezTo>
                  <a:cubicBezTo>
                    <a:pt x="27" y="97"/>
                    <a:pt x="26" y="95"/>
                    <a:pt x="26" y="93"/>
                  </a:cubicBezTo>
                  <a:cubicBezTo>
                    <a:pt x="22" y="93"/>
                    <a:pt x="22" y="93"/>
                    <a:pt x="22" y="93"/>
                  </a:cubicBezTo>
                  <a:cubicBezTo>
                    <a:pt x="22" y="85"/>
                    <a:pt x="22" y="85"/>
                    <a:pt x="22" y="85"/>
                  </a:cubicBezTo>
                  <a:cubicBezTo>
                    <a:pt x="26" y="85"/>
                    <a:pt x="26" y="85"/>
                    <a:pt x="26" y="85"/>
                  </a:cubicBezTo>
                  <a:cubicBezTo>
                    <a:pt x="26" y="83"/>
                    <a:pt x="27" y="81"/>
                    <a:pt x="28" y="79"/>
                  </a:cubicBezTo>
                  <a:cubicBezTo>
                    <a:pt x="26" y="76"/>
                    <a:pt x="26" y="76"/>
                    <a:pt x="26" y="76"/>
                  </a:cubicBezTo>
                  <a:cubicBezTo>
                    <a:pt x="31" y="71"/>
                    <a:pt x="31" y="71"/>
                    <a:pt x="31" y="71"/>
                  </a:cubicBezTo>
                  <a:cubicBezTo>
                    <a:pt x="34" y="73"/>
                    <a:pt x="34" y="73"/>
                    <a:pt x="34" y="73"/>
                  </a:cubicBezTo>
                  <a:cubicBezTo>
                    <a:pt x="36" y="72"/>
                    <a:pt x="38" y="71"/>
                    <a:pt x="40" y="71"/>
                  </a:cubicBezTo>
                  <a:cubicBezTo>
                    <a:pt x="40" y="68"/>
                    <a:pt x="40" y="68"/>
                    <a:pt x="40" y="68"/>
                  </a:cubicBezTo>
                  <a:cubicBezTo>
                    <a:pt x="48" y="68"/>
                    <a:pt x="48" y="68"/>
                    <a:pt x="48" y="68"/>
                  </a:cubicBezTo>
                  <a:cubicBezTo>
                    <a:pt x="48" y="71"/>
                    <a:pt x="48" y="71"/>
                    <a:pt x="48" y="71"/>
                  </a:cubicBezTo>
                  <a:cubicBezTo>
                    <a:pt x="50" y="71"/>
                    <a:pt x="52" y="72"/>
                    <a:pt x="54" y="73"/>
                  </a:cubicBezTo>
                  <a:cubicBezTo>
                    <a:pt x="57" y="71"/>
                    <a:pt x="57" y="71"/>
                    <a:pt x="57" y="71"/>
                  </a:cubicBezTo>
                  <a:cubicBezTo>
                    <a:pt x="63" y="76"/>
                    <a:pt x="63" y="76"/>
                    <a:pt x="63" y="76"/>
                  </a:cubicBezTo>
                  <a:cubicBezTo>
                    <a:pt x="60" y="79"/>
                    <a:pt x="60" y="79"/>
                    <a:pt x="60" y="79"/>
                  </a:cubicBezTo>
                  <a:cubicBezTo>
                    <a:pt x="61" y="81"/>
                    <a:pt x="62" y="83"/>
                    <a:pt x="63" y="85"/>
                  </a:cubicBezTo>
                  <a:cubicBezTo>
                    <a:pt x="66" y="85"/>
                    <a:pt x="66" y="85"/>
                    <a:pt x="66" y="85"/>
                  </a:cubicBezTo>
                  <a:lnTo>
                    <a:pt x="66" y="93"/>
                  </a:lnTo>
                  <a:close/>
                  <a:moveTo>
                    <a:pt x="136" y="77"/>
                  </a:moveTo>
                  <a:cubicBezTo>
                    <a:pt x="130" y="77"/>
                    <a:pt x="130" y="77"/>
                    <a:pt x="130" y="77"/>
                  </a:cubicBezTo>
                  <a:cubicBezTo>
                    <a:pt x="129" y="80"/>
                    <a:pt x="128" y="84"/>
                    <a:pt x="126" y="87"/>
                  </a:cubicBezTo>
                  <a:cubicBezTo>
                    <a:pt x="130" y="91"/>
                    <a:pt x="130" y="91"/>
                    <a:pt x="130" y="91"/>
                  </a:cubicBezTo>
                  <a:cubicBezTo>
                    <a:pt x="121" y="100"/>
                    <a:pt x="121" y="100"/>
                    <a:pt x="121" y="100"/>
                  </a:cubicBezTo>
                  <a:cubicBezTo>
                    <a:pt x="117" y="96"/>
                    <a:pt x="117" y="96"/>
                    <a:pt x="117" y="96"/>
                  </a:cubicBezTo>
                  <a:cubicBezTo>
                    <a:pt x="114" y="98"/>
                    <a:pt x="110" y="99"/>
                    <a:pt x="107" y="100"/>
                  </a:cubicBezTo>
                  <a:cubicBezTo>
                    <a:pt x="107" y="105"/>
                    <a:pt x="107" y="105"/>
                    <a:pt x="107" y="105"/>
                  </a:cubicBezTo>
                  <a:cubicBezTo>
                    <a:pt x="94" y="105"/>
                    <a:pt x="94" y="105"/>
                    <a:pt x="94" y="105"/>
                  </a:cubicBezTo>
                  <a:cubicBezTo>
                    <a:pt x="94" y="100"/>
                    <a:pt x="94" y="100"/>
                    <a:pt x="94" y="100"/>
                  </a:cubicBezTo>
                  <a:cubicBezTo>
                    <a:pt x="90" y="100"/>
                    <a:pt x="86" y="98"/>
                    <a:pt x="83" y="96"/>
                  </a:cubicBezTo>
                  <a:cubicBezTo>
                    <a:pt x="79" y="100"/>
                    <a:pt x="79" y="100"/>
                    <a:pt x="79" y="100"/>
                  </a:cubicBezTo>
                  <a:cubicBezTo>
                    <a:pt x="70" y="91"/>
                    <a:pt x="70" y="91"/>
                    <a:pt x="70" y="91"/>
                  </a:cubicBezTo>
                  <a:cubicBezTo>
                    <a:pt x="74" y="87"/>
                    <a:pt x="74" y="87"/>
                    <a:pt x="74" y="87"/>
                  </a:cubicBezTo>
                  <a:cubicBezTo>
                    <a:pt x="72" y="84"/>
                    <a:pt x="71" y="81"/>
                    <a:pt x="70" y="77"/>
                  </a:cubicBezTo>
                  <a:cubicBezTo>
                    <a:pt x="64" y="77"/>
                    <a:pt x="64" y="77"/>
                    <a:pt x="64" y="77"/>
                  </a:cubicBezTo>
                  <a:cubicBezTo>
                    <a:pt x="64" y="64"/>
                    <a:pt x="64" y="64"/>
                    <a:pt x="64" y="64"/>
                  </a:cubicBezTo>
                  <a:cubicBezTo>
                    <a:pt x="70" y="64"/>
                    <a:pt x="70" y="64"/>
                    <a:pt x="70" y="64"/>
                  </a:cubicBezTo>
                  <a:cubicBezTo>
                    <a:pt x="70" y="60"/>
                    <a:pt x="72" y="56"/>
                    <a:pt x="74" y="53"/>
                  </a:cubicBezTo>
                  <a:cubicBezTo>
                    <a:pt x="70" y="49"/>
                    <a:pt x="70" y="49"/>
                    <a:pt x="70" y="49"/>
                  </a:cubicBezTo>
                  <a:cubicBezTo>
                    <a:pt x="79" y="40"/>
                    <a:pt x="79" y="40"/>
                    <a:pt x="79" y="40"/>
                  </a:cubicBezTo>
                  <a:cubicBezTo>
                    <a:pt x="83" y="44"/>
                    <a:pt x="83" y="44"/>
                    <a:pt x="83" y="44"/>
                  </a:cubicBezTo>
                  <a:cubicBezTo>
                    <a:pt x="86" y="42"/>
                    <a:pt x="90" y="41"/>
                    <a:pt x="94" y="40"/>
                  </a:cubicBezTo>
                  <a:cubicBezTo>
                    <a:pt x="94" y="35"/>
                    <a:pt x="94" y="35"/>
                    <a:pt x="94" y="35"/>
                  </a:cubicBezTo>
                  <a:cubicBezTo>
                    <a:pt x="107" y="35"/>
                    <a:pt x="107" y="35"/>
                    <a:pt x="107" y="35"/>
                  </a:cubicBezTo>
                  <a:cubicBezTo>
                    <a:pt x="107" y="40"/>
                    <a:pt x="107" y="40"/>
                    <a:pt x="107" y="40"/>
                  </a:cubicBezTo>
                  <a:cubicBezTo>
                    <a:pt x="110" y="41"/>
                    <a:pt x="114" y="42"/>
                    <a:pt x="117" y="44"/>
                  </a:cubicBezTo>
                  <a:cubicBezTo>
                    <a:pt x="121" y="40"/>
                    <a:pt x="121" y="40"/>
                    <a:pt x="121" y="40"/>
                  </a:cubicBezTo>
                  <a:cubicBezTo>
                    <a:pt x="130" y="49"/>
                    <a:pt x="130" y="49"/>
                    <a:pt x="130" y="49"/>
                  </a:cubicBezTo>
                  <a:cubicBezTo>
                    <a:pt x="126" y="53"/>
                    <a:pt x="126" y="53"/>
                    <a:pt x="126" y="53"/>
                  </a:cubicBezTo>
                  <a:cubicBezTo>
                    <a:pt x="128" y="57"/>
                    <a:pt x="130" y="60"/>
                    <a:pt x="130" y="64"/>
                  </a:cubicBezTo>
                  <a:cubicBezTo>
                    <a:pt x="136" y="64"/>
                    <a:pt x="136" y="64"/>
                    <a:pt x="136" y="64"/>
                  </a:cubicBezTo>
                  <a:lnTo>
                    <a:pt x="136"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85000"/>
                    <a:lumOff val="15000"/>
                  </a:schemeClr>
                </a:solidFill>
              </a:endParaRPr>
            </a:p>
          </p:txBody>
        </p:sp>
      </p:grpSp>
      <p:sp>
        <p:nvSpPr>
          <p:cNvPr id="44" name="椭圆 43"/>
          <p:cNvSpPr>
            <a:spLocks noChangeAspect="1"/>
          </p:cNvSpPr>
          <p:nvPr/>
        </p:nvSpPr>
        <p:spPr>
          <a:xfrm>
            <a:off x="678392" y="4093741"/>
            <a:ext cx="1193613" cy="1193613"/>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85000"/>
                  <a:lumOff val="15000"/>
                </a:schemeClr>
              </a:solidFill>
            </a:endParaRPr>
          </a:p>
        </p:txBody>
      </p:sp>
      <p:grpSp>
        <p:nvGrpSpPr>
          <p:cNvPr id="45" name="组合 44"/>
          <p:cNvGrpSpPr/>
          <p:nvPr/>
        </p:nvGrpSpPr>
        <p:grpSpPr>
          <a:xfrm>
            <a:off x="1056846" y="4508288"/>
            <a:ext cx="423923" cy="322099"/>
            <a:chOff x="4268086" y="4221191"/>
            <a:chExt cx="509646" cy="387231"/>
          </a:xfrm>
          <a:solidFill>
            <a:schemeClr val="bg1"/>
          </a:solidFill>
        </p:grpSpPr>
        <p:sp>
          <p:nvSpPr>
            <p:cNvPr id="46" name="Freeform 20"/>
            <p:cNvSpPr>
              <a:spLocks noEditPoints="1"/>
            </p:cNvSpPr>
            <p:nvPr/>
          </p:nvSpPr>
          <p:spPr bwMode="auto">
            <a:xfrm>
              <a:off x="4268086" y="4273030"/>
              <a:ext cx="337890" cy="335392"/>
            </a:xfrm>
            <a:custGeom>
              <a:avLst/>
              <a:gdLst>
                <a:gd name="T0" fmla="*/ 229 w 229"/>
                <a:gd name="T1" fmla="*/ 128 h 227"/>
                <a:gd name="T2" fmla="*/ 229 w 229"/>
                <a:gd name="T3" fmla="*/ 98 h 227"/>
                <a:gd name="T4" fmla="*/ 206 w 229"/>
                <a:gd name="T5" fmla="*/ 93 h 227"/>
                <a:gd name="T6" fmla="*/ 200 w 229"/>
                <a:gd name="T7" fmla="*/ 76 h 227"/>
                <a:gd name="T8" fmla="*/ 216 w 229"/>
                <a:gd name="T9" fmla="*/ 58 h 227"/>
                <a:gd name="T10" fmla="*/ 198 w 229"/>
                <a:gd name="T11" fmla="*/ 34 h 227"/>
                <a:gd name="T12" fmla="*/ 176 w 229"/>
                <a:gd name="T13" fmla="*/ 44 h 227"/>
                <a:gd name="T14" fmla="*/ 161 w 229"/>
                <a:gd name="T15" fmla="*/ 33 h 227"/>
                <a:gd name="T16" fmla="*/ 164 w 229"/>
                <a:gd name="T17" fmla="*/ 9 h 227"/>
                <a:gd name="T18" fmla="*/ 135 w 229"/>
                <a:gd name="T19" fmla="*/ 0 h 227"/>
                <a:gd name="T20" fmla="*/ 123 w 229"/>
                <a:gd name="T21" fmla="*/ 20 h 227"/>
                <a:gd name="T22" fmla="*/ 114 w 229"/>
                <a:gd name="T23" fmla="*/ 20 h 227"/>
                <a:gd name="T24" fmla="*/ 105 w 229"/>
                <a:gd name="T25" fmla="*/ 20 h 227"/>
                <a:gd name="T26" fmla="*/ 93 w 229"/>
                <a:gd name="T27" fmla="*/ 0 h 227"/>
                <a:gd name="T28" fmla="*/ 65 w 229"/>
                <a:gd name="T29" fmla="*/ 9 h 227"/>
                <a:gd name="T30" fmla="*/ 67 w 229"/>
                <a:gd name="T31" fmla="*/ 33 h 227"/>
                <a:gd name="T32" fmla="*/ 52 w 229"/>
                <a:gd name="T33" fmla="*/ 44 h 227"/>
                <a:gd name="T34" fmla="*/ 30 w 229"/>
                <a:gd name="T35" fmla="*/ 34 h 227"/>
                <a:gd name="T36" fmla="*/ 13 w 229"/>
                <a:gd name="T37" fmla="*/ 58 h 227"/>
                <a:gd name="T38" fmla="*/ 29 w 229"/>
                <a:gd name="T39" fmla="*/ 76 h 227"/>
                <a:gd name="T40" fmla="*/ 23 w 229"/>
                <a:gd name="T41" fmla="*/ 94 h 227"/>
                <a:gd name="T42" fmla="*/ 0 w 229"/>
                <a:gd name="T43" fmla="*/ 98 h 227"/>
                <a:gd name="T44" fmla="*/ 0 w 229"/>
                <a:gd name="T45" fmla="*/ 128 h 227"/>
                <a:gd name="T46" fmla="*/ 23 w 229"/>
                <a:gd name="T47" fmla="*/ 133 h 227"/>
                <a:gd name="T48" fmla="*/ 29 w 229"/>
                <a:gd name="T49" fmla="*/ 151 h 227"/>
                <a:gd name="T50" fmla="*/ 13 w 229"/>
                <a:gd name="T51" fmla="*/ 169 h 227"/>
                <a:gd name="T52" fmla="*/ 31 w 229"/>
                <a:gd name="T53" fmla="*/ 193 h 227"/>
                <a:gd name="T54" fmla="*/ 52 w 229"/>
                <a:gd name="T55" fmla="*/ 183 h 227"/>
                <a:gd name="T56" fmla="*/ 67 w 229"/>
                <a:gd name="T57" fmla="*/ 194 h 227"/>
                <a:gd name="T58" fmla="*/ 65 w 229"/>
                <a:gd name="T59" fmla="*/ 218 h 227"/>
                <a:gd name="T60" fmla="*/ 93 w 229"/>
                <a:gd name="T61" fmla="*/ 227 h 227"/>
                <a:gd name="T62" fmla="*/ 105 w 229"/>
                <a:gd name="T63" fmla="*/ 206 h 227"/>
                <a:gd name="T64" fmla="*/ 114 w 229"/>
                <a:gd name="T65" fmla="*/ 207 h 227"/>
                <a:gd name="T66" fmla="*/ 124 w 229"/>
                <a:gd name="T67" fmla="*/ 206 h 227"/>
                <a:gd name="T68" fmla="*/ 135 w 229"/>
                <a:gd name="T69" fmla="*/ 227 h 227"/>
                <a:gd name="T70" fmla="*/ 164 w 229"/>
                <a:gd name="T71" fmla="*/ 217 h 227"/>
                <a:gd name="T72" fmla="*/ 161 w 229"/>
                <a:gd name="T73" fmla="*/ 194 h 227"/>
                <a:gd name="T74" fmla="*/ 176 w 229"/>
                <a:gd name="T75" fmla="*/ 183 h 227"/>
                <a:gd name="T76" fmla="*/ 198 w 229"/>
                <a:gd name="T77" fmla="*/ 193 h 227"/>
                <a:gd name="T78" fmla="*/ 216 w 229"/>
                <a:gd name="T79" fmla="*/ 168 h 227"/>
                <a:gd name="T80" fmla="*/ 200 w 229"/>
                <a:gd name="T81" fmla="*/ 151 h 227"/>
                <a:gd name="T82" fmla="*/ 206 w 229"/>
                <a:gd name="T83" fmla="*/ 133 h 227"/>
                <a:gd name="T84" fmla="*/ 229 w 229"/>
                <a:gd name="T85" fmla="*/ 128 h 227"/>
                <a:gd name="T86" fmla="*/ 114 w 229"/>
                <a:gd name="T87" fmla="*/ 180 h 227"/>
                <a:gd name="T88" fmla="*/ 47 w 229"/>
                <a:gd name="T89" fmla="*/ 113 h 227"/>
                <a:gd name="T90" fmla="*/ 114 w 229"/>
                <a:gd name="T91" fmla="*/ 46 h 227"/>
                <a:gd name="T92" fmla="*/ 181 w 229"/>
                <a:gd name="T93" fmla="*/ 113 h 227"/>
                <a:gd name="T94" fmla="*/ 114 w 229"/>
                <a:gd name="T95" fmla="*/ 18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9" h="227">
                  <a:moveTo>
                    <a:pt x="229" y="128"/>
                  </a:moveTo>
                  <a:cubicBezTo>
                    <a:pt x="229" y="98"/>
                    <a:pt x="229" y="98"/>
                    <a:pt x="229" y="98"/>
                  </a:cubicBezTo>
                  <a:cubicBezTo>
                    <a:pt x="206" y="93"/>
                    <a:pt x="206" y="93"/>
                    <a:pt x="206" y="93"/>
                  </a:cubicBezTo>
                  <a:cubicBezTo>
                    <a:pt x="204" y="87"/>
                    <a:pt x="202" y="81"/>
                    <a:pt x="200" y="76"/>
                  </a:cubicBezTo>
                  <a:cubicBezTo>
                    <a:pt x="216" y="58"/>
                    <a:pt x="216" y="58"/>
                    <a:pt x="216" y="58"/>
                  </a:cubicBezTo>
                  <a:cubicBezTo>
                    <a:pt x="198" y="34"/>
                    <a:pt x="198" y="34"/>
                    <a:pt x="198" y="34"/>
                  </a:cubicBezTo>
                  <a:cubicBezTo>
                    <a:pt x="176" y="44"/>
                    <a:pt x="176" y="44"/>
                    <a:pt x="176" y="44"/>
                  </a:cubicBezTo>
                  <a:cubicBezTo>
                    <a:pt x="172" y="39"/>
                    <a:pt x="167" y="36"/>
                    <a:pt x="161" y="33"/>
                  </a:cubicBezTo>
                  <a:cubicBezTo>
                    <a:pt x="164" y="9"/>
                    <a:pt x="164" y="9"/>
                    <a:pt x="164" y="9"/>
                  </a:cubicBezTo>
                  <a:cubicBezTo>
                    <a:pt x="135" y="0"/>
                    <a:pt x="135" y="0"/>
                    <a:pt x="135" y="0"/>
                  </a:cubicBezTo>
                  <a:cubicBezTo>
                    <a:pt x="123" y="20"/>
                    <a:pt x="123" y="20"/>
                    <a:pt x="123" y="20"/>
                  </a:cubicBezTo>
                  <a:cubicBezTo>
                    <a:pt x="120" y="20"/>
                    <a:pt x="117" y="20"/>
                    <a:pt x="114" y="20"/>
                  </a:cubicBezTo>
                  <a:cubicBezTo>
                    <a:pt x="111" y="20"/>
                    <a:pt x="108" y="20"/>
                    <a:pt x="105" y="20"/>
                  </a:cubicBezTo>
                  <a:cubicBezTo>
                    <a:pt x="93" y="0"/>
                    <a:pt x="93" y="0"/>
                    <a:pt x="93" y="0"/>
                  </a:cubicBezTo>
                  <a:cubicBezTo>
                    <a:pt x="65" y="9"/>
                    <a:pt x="65" y="9"/>
                    <a:pt x="65" y="9"/>
                  </a:cubicBezTo>
                  <a:cubicBezTo>
                    <a:pt x="67" y="33"/>
                    <a:pt x="67" y="33"/>
                    <a:pt x="67" y="33"/>
                  </a:cubicBezTo>
                  <a:cubicBezTo>
                    <a:pt x="62" y="36"/>
                    <a:pt x="57" y="39"/>
                    <a:pt x="52" y="44"/>
                  </a:cubicBezTo>
                  <a:cubicBezTo>
                    <a:pt x="30" y="34"/>
                    <a:pt x="30" y="34"/>
                    <a:pt x="30" y="34"/>
                  </a:cubicBezTo>
                  <a:cubicBezTo>
                    <a:pt x="13" y="58"/>
                    <a:pt x="13" y="58"/>
                    <a:pt x="13" y="58"/>
                  </a:cubicBezTo>
                  <a:cubicBezTo>
                    <a:pt x="29" y="76"/>
                    <a:pt x="29" y="76"/>
                    <a:pt x="29" y="76"/>
                  </a:cubicBezTo>
                  <a:cubicBezTo>
                    <a:pt x="26" y="81"/>
                    <a:pt x="24" y="87"/>
                    <a:pt x="23" y="94"/>
                  </a:cubicBezTo>
                  <a:cubicBezTo>
                    <a:pt x="0" y="98"/>
                    <a:pt x="0" y="98"/>
                    <a:pt x="0" y="98"/>
                  </a:cubicBezTo>
                  <a:cubicBezTo>
                    <a:pt x="0" y="128"/>
                    <a:pt x="0" y="128"/>
                    <a:pt x="0" y="128"/>
                  </a:cubicBezTo>
                  <a:cubicBezTo>
                    <a:pt x="23" y="133"/>
                    <a:pt x="23" y="133"/>
                    <a:pt x="23" y="133"/>
                  </a:cubicBezTo>
                  <a:cubicBezTo>
                    <a:pt x="24" y="139"/>
                    <a:pt x="26" y="145"/>
                    <a:pt x="29" y="151"/>
                  </a:cubicBezTo>
                  <a:cubicBezTo>
                    <a:pt x="13" y="169"/>
                    <a:pt x="13" y="169"/>
                    <a:pt x="13" y="169"/>
                  </a:cubicBezTo>
                  <a:cubicBezTo>
                    <a:pt x="31" y="193"/>
                    <a:pt x="31" y="193"/>
                    <a:pt x="31" y="193"/>
                  </a:cubicBezTo>
                  <a:cubicBezTo>
                    <a:pt x="52" y="183"/>
                    <a:pt x="52" y="183"/>
                    <a:pt x="52" y="183"/>
                  </a:cubicBezTo>
                  <a:cubicBezTo>
                    <a:pt x="57" y="187"/>
                    <a:pt x="62" y="191"/>
                    <a:pt x="67" y="194"/>
                  </a:cubicBezTo>
                  <a:cubicBezTo>
                    <a:pt x="65" y="218"/>
                    <a:pt x="65" y="218"/>
                    <a:pt x="65" y="218"/>
                  </a:cubicBezTo>
                  <a:cubicBezTo>
                    <a:pt x="93" y="227"/>
                    <a:pt x="93" y="227"/>
                    <a:pt x="93" y="227"/>
                  </a:cubicBezTo>
                  <a:cubicBezTo>
                    <a:pt x="105" y="206"/>
                    <a:pt x="105" y="206"/>
                    <a:pt x="105" y="206"/>
                  </a:cubicBezTo>
                  <a:cubicBezTo>
                    <a:pt x="108" y="207"/>
                    <a:pt x="111" y="207"/>
                    <a:pt x="114" y="207"/>
                  </a:cubicBezTo>
                  <a:cubicBezTo>
                    <a:pt x="117" y="207"/>
                    <a:pt x="121" y="207"/>
                    <a:pt x="124" y="206"/>
                  </a:cubicBezTo>
                  <a:cubicBezTo>
                    <a:pt x="135" y="227"/>
                    <a:pt x="135" y="227"/>
                    <a:pt x="135" y="227"/>
                  </a:cubicBezTo>
                  <a:cubicBezTo>
                    <a:pt x="164" y="217"/>
                    <a:pt x="164" y="217"/>
                    <a:pt x="164" y="217"/>
                  </a:cubicBezTo>
                  <a:cubicBezTo>
                    <a:pt x="161" y="194"/>
                    <a:pt x="161" y="194"/>
                    <a:pt x="161" y="194"/>
                  </a:cubicBezTo>
                  <a:cubicBezTo>
                    <a:pt x="167" y="191"/>
                    <a:pt x="172" y="187"/>
                    <a:pt x="176" y="183"/>
                  </a:cubicBezTo>
                  <a:cubicBezTo>
                    <a:pt x="198" y="193"/>
                    <a:pt x="198" y="193"/>
                    <a:pt x="198" y="193"/>
                  </a:cubicBezTo>
                  <a:cubicBezTo>
                    <a:pt x="216" y="168"/>
                    <a:pt x="216" y="168"/>
                    <a:pt x="216" y="168"/>
                  </a:cubicBezTo>
                  <a:cubicBezTo>
                    <a:pt x="200" y="151"/>
                    <a:pt x="200" y="151"/>
                    <a:pt x="200" y="151"/>
                  </a:cubicBezTo>
                  <a:cubicBezTo>
                    <a:pt x="202" y="145"/>
                    <a:pt x="204" y="139"/>
                    <a:pt x="206" y="133"/>
                  </a:cubicBezTo>
                  <a:lnTo>
                    <a:pt x="229" y="128"/>
                  </a:lnTo>
                  <a:close/>
                  <a:moveTo>
                    <a:pt x="114" y="180"/>
                  </a:moveTo>
                  <a:cubicBezTo>
                    <a:pt x="77" y="180"/>
                    <a:pt x="47" y="150"/>
                    <a:pt x="47" y="113"/>
                  </a:cubicBezTo>
                  <a:cubicBezTo>
                    <a:pt x="47" y="76"/>
                    <a:pt x="77" y="46"/>
                    <a:pt x="114" y="46"/>
                  </a:cubicBezTo>
                  <a:cubicBezTo>
                    <a:pt x="151" y="46"/>
                    <a:pt x="181" y="76"/>
                    <a:pt x="181" y="113"/>
                  </a:cubicBezTo>
                  <a:cubicBezTo>
                    <a:pt x="181" y="150"/>
                    <a:pt x="151" y="180"/>
                    <a:pt x="114"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sz="2000">
                <a:solidFill>
                  <a:schemeClr val="tx1">
                    <a:lumMod val="85000"/>
                    <a:lumOff val="15000"/>
                  </a:schemeClr>
                </a:solidFill>
              </a:endParaRPr>
            </a:p>
          </p:txBody>
        </p:sp>
        <p:sp>
          <p:nvSpPr>
            <p:cNvPr id="47" name="Freeform 21"/>
            <p:cNvSpPr>
              <a:spLocks noEditPoints="1"/>
            </p:cNvSpPr>
            <p:nvPr/>
          </p:nvSpPr>
          <p:spPr bwMode="auto">
            <a:xfrm>
              <a:off x="4577871" y="4221191"/>
              <a:ext cx="199861" cy="199861"/>
            </a:xfrm>
            <a:custGeom>
              <a:avLst/>
              <a:gdLst>
                <a:gd name="T0" fmla="*/ 135 w 135"/>
                <a:gd name="T1" fmla="*/ 76 h 135"/>
                <a:gd name="T2" fmla="*/ 135 w 135"/>
                <a:gd name="T3" fmla="*/ 58 h 135"/>
                <a:gd name="T4" fmla="*/ 122 w 135"/>
                <a:gd name="T5" fmla="*/ 55 h 135"/>
                <a:gd name="T6" fmla="*/ 118 w 135"/>
                <a:gd name="T7" fmla="*/ 45 h 135"/>
                <a:gd name="T8" fmla="*/ 128 w 135"/>
                <a:gd name="T9" fmla="*/ 34 h 135"/>
                <a:gd name="T10" fmla="*/ 117 w 135"/>
                <a:gd name="T11" fmla="*/ 20 h 135"/>
                <a:gd name="T12" fmla="*/ 104 w 135"/>
                <a:gd name="T13" fmla="*/ 26 h 135"/>
                <a:gd name="T14" fmla="*/ 96 w 135"/>
                <a:gd name="T15" fmla="*/ 19 h 135"/>
                <a:gd name="T16" fmla="*/ 97 w 135"/>
                <a:gd name="T17" fmla="*/ 5 h 135"/>
                <a:gd name="T18" fmla="*/ 80 w 135"/>
                <a:gd name="T19" fmla="*/ 0 h 135"/>
                <a:gd name="T20" fmla="*/ 73 w 135"/>
                <a:gd name="T21" fmla="*/ 12 h 135"/>
                <a:gd name="T22" fmla="*/ 67 w 135"/>
                <a:gd name="T23" fmla="*/ 12 h 135"/>
                <a:gd name="T24" fmla="*/ 62 w 135"/>
                <a:gd name="T25" fmla="*/ 12 h 135"/>
                <a:gd name="T26" fmla="*/ 55 w 135"/>
                <a:gd name="T27" fmla="*/ 0 h 135"/>
                <a:gd name="T28" fmla="*/ 38 w 135"/>
                <a:gd name="T29" fmla="*/ 5 h 135"/>
                <a:gd name="T30" fmla="*/ 39 w 135"/>
                <a:gd name="T31" fmla="*/ 19 h 135"/>
                <a:gd name="T32" fmla="*/ 30 w 135"/>
                <a:gd name="T33" fmla="*/ 26 h 135"/>
                <a:gd name="T34" fmla="*/ 18 w 135"/>
                <a:gd name="T35" fmla="*/ 20 h 135"/>
                <a:gd name="T36" fmla="*/ 7 w 135"/>
                <a:gd name="T37" fmla="*/ 34 h 135"/>
                <a:gd name="T38" fmla="*/ 17 w 135"/>
                <a:gd name="T39" fmla="*/ 45 h 135"/>
                <a:gd name="T40" fmla="*/ 13 w 135"/>
                <a:gd name="T41" fmla="*/ 55 h 135"/>
                <a:gd name="T42" fmla="*/ 0 w 135"/>
                <a:gd name="T43" fmla="*/ 58 h 135"/>
                <a:gd name="T44" fmla="*/ 0 w 135"/>
                <a:gd name="T45" fmla="*/ 76 h 135"/>
                <a:gd name="T46" fmla="*/ 13 w 135"/>
                <a:gd name="T47" fmla="*/ 79 h 135"/>
                <a:gd name="T48" fmla="*/ 17 w 135"/>
                <a:gd name="T49" fmla="*/ 90 h 135"/>
                <a:gd name="T50" fmla="*/ 7 w 135"/>
                <a:gd name="T51" fmla="*/ 100 h 135"/>
                <a:gd name="T52" fmla="*/ 18 w 135"/>
                <a:gd name="T53" fmla="*/ 114 h 135"/>
                <a:gd name="T54" fmla="*/ 31 w 135"/>
                <a:gd name="T55" fmla="*/ 109 h 135"/>
                <a:gd name="T56" fmla="*/ 39 w 135"/>
                <a:gd name="T57" fmla="*/ 115 h 135"/>
                <a:gd name="T58" fmla="*/ 38 w 135"/>
                <a:gd name="T59" fmla="*/ 129 h 135"/>
                <a:gd name="T60" fmla="*/ 55 w 135"/>
                <a:gd name="T61" fmla="*/ 135 h 135"/>
                <a:gd name="T62" fmla="*/ 62 w 135"/>
                <a:gd name="T63" fmla="*/ 122 h 135"/>
                <a:gd name="T64" fmla="*/ 68 w 135"/>
                <a:gd name="T65" fmla="*/ 123 h 135"/>
                <a:gd name="T66" fmla="*/ 73 w 135"/>
                <a:gd name="T67" fmla="*/ 122 h 135"/>
                <a:gd name="T68" fmla="*/ 80 w 135"/>
                <a:gd name="T69" fmla="*/ 135 h 135"/>
                <a:gd name="T70" fmla="*/ 97 w 135"/>
                <a:gd name="T71" fmla="*/ 129 h 135"/>
                <a:gd name="T72" fmla="*/ 96 w 135"/>
                <a:gd name="T73" fmla="*/ 115 h 135"/>
                <a:gd name="T74" fmla="*/ 104 w 135"/>
                <a:gd name="T75" fmla="*/ 109 h 135"/>
                <a:gd name="T76" fmla="*/ 117 w 135"/>
                <a:gd name="T77" fmla="*/ 114 h 135"/>
                <a:gd name="T78" fmla="*/ 128 w 135"/>
                <a:gd name="T79" fmla="*/ 100 h 135"/>
                <a:gd name="T80" fmla="*/ 118 w 135"/>
                <a:gd name="T81" fmla="*/ 89 h 135"/>
                <a:gd name="T82" fmla="*/ 122 w 135"/>
                <a:gd name="T83" fmla="*/ 79 h 135"/>
                <a:gd name="T84" fmla="*/ 135 w 135"/>
                <a:gd name="T85" fmla="*/ 76 h 135"/>
                <a:gd name="T86" fmla="*/ 67 w 135"/>
                <a:gd name="T87" fmla="*/ 107 h 135"/>
                <a:gd name="T88" fmla="*/ 28 w 135"/>
                <a:gd name="T89" fmla="*/ 67 h 135"/>
                <a:gd name="T90" fmla="*/ 67 w 135"/>
                <a:gd name="T91" fmla="*/ 27 h 135"/>
                <a:gd name="T92" fmla="*/ 107 w 135"/>
                <a:gd name="T93" fmla="*/ 67 h 135"/>
                <a:gd name="T94" fmla="*/ 67 w 135"/>
                <a:gd name="T95" fmla="*/ 10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5" h="135">
                  <a:moveTo>
                    <a:pt x="135" y="76"/>
                  </a:moveTo>
                  <a:cubicBezTo>
                    <a:pt x="135" y="58"/>
                    <a:pt x="135" y="58"/>
                    <a:pt x="135" y="58"/>
                  </a:cubicBezTo>
                  <a:cubicBezTo>
                    <a:pt x="122" y="55"/>
                    <a:pt x="122" y="55"/>
                    <a:pt x="122" y="55"/>
                  </a:cubicBezTo>
                  <a:cubicBezTo>
                    <a:pt x="121" y="52"/>
                    <a:pt x="120" y="48"/>
                    <a:pt x="118" y="45"/>
                  </a:cubicBezTo>
                  <a:cubicBezTo>
                    <a:pt x="128" y="34"/>
                    <a:pt x="128" y="34"/>
                    <a:pt x="128" y="34"/>
                  </a:cubicBezTo>
                  <a:cubicBezTo>
                    <a:pt x="117" y="20"/>
                    <a:pt x="117" y="20"/>
                    <a:pt x="117" y="20"/>
                  </a:cubicBezTo>
                  <a:cubicBezTo>
                    <a:pt x="104" y="26"/>
                    <a:pt x="104" y="26"/>
                    <a:pt x="104" y="26"/>
                  </a:cubicBezTo>
                  <a:cubicBezTo>
                    <a:pt x="102" y="23"/>
                    <a:pt x="99" y="21"/>
                    <a:pt x="96" y="19"/>
                  </a:cubicBezTo>
                  <a:cubicBezTo>
                    <a:pt x="97" y="5"/>
                    <a:pt x="97" y="5"/>
                    <a:pt x="97" y="5"/>
                  </a:cubicBezTo>
                  <a:cubicBezTo>
                    <a:pt x="80" y="0"/>
                    <a:pt x="80" y="0"/>
                    <a:pt x="80" y="0"/>
                  </a:cubicBezTo>
                  <a:cubicBezTo>
                    <a:pt x="73" y="12"/>
                    <a:pt x="73" y="12"/>
                    <a:pt x="73" y="12"/>
                  </a:cubicBezTo>
                  <a:cubicBezTo>
                    <a:pt x="71" y="12"/>
                    <a:pt x="69" y="12"/>
                    <a:pt x="67" y="12"/>
                  </a:cubicBezTo>
                  <a:cubicBezTo>
                    <a:pt x="66" y="12"/>
                    <a:pt x="64" y="12"/>
                    <a:pt x="62" y="12"/>
                  </a:cubicBezTo>
                  <a:cubicBezTo>
                    <a:pt x="55" y="0"/>
                    <a:pt x="55" y="0"/>
                    <a:pt x="55" y="0"/>
                  </a:cubicBezTo>
                  <a:cubicBezTo>
                    <a:pt x="38" y="5"/>
                    <a:pt x="38" y="5"/>
                    <a:pt x="38" y="5"/>
                  </a:cubicBezTo>
                  <a:cubicBezTo>
                    <a:pt x="39" y="19"/>
                    <a:pt x="39" y="19"/>
                    <a:pt x="39" y="19"/>
                  </a:cubicBezTo>
                  <a:cubicBezTo>
                    <a:pt x="36" y="21"/>
                    <a:pt x="33" y="23"/>
                    <a:pt x="30" y="26"/>
                  </a:cubicBezTo>
                  <a:cubicBezTo>
                    <a:pt x="18" y="20"/>
                    <a:pt x="18" y="20"/>
                    <a:pt x="18" y="20"/>
                  </a:cubicBezTo>
                  <a:cubicBezTo>
                    <a:pt x="7" y="34"/>
                    <a:pt x="7" y="34"/>
                    <a:pt x="7" y="34"/>
                  </a:cubicBezTo>
                  <a:cubicBezTo>
                    <a:pt x="17" y="45"/>
                    <a:pt x="17" y="45"/>
                    <a:pt x="17" y="45"/>
                  </a:cubicBezTo>
                  <a:cubicBezTo>
                    <a:pt x="15" y="48"/>
                    <a:pt x="14" y="52"/>
                    <a:pt x="13" y="55"/>
                  </a:cubicBezTo>
                  <a:cubicBezTo>
                    <a:pt x="0" y="58"/>
                    <a:pt x="0" y="58"/>
                    <a:pt x="0" y="58"/>
                  </a:cubicBezTo>
                  <a:cubicBezTo>
                    <a:pt x="0" y="76"/>
                    <a:pt x="0" y="76"/>
                    <a:pt x="0" y="76"/>
                  </a:cubicBezTo>
                  <a:cubicBezTo>
                    <a:pt x="13" y="79"/>
                    <a:pt x="13" y="79"/>
                    <a:pt x="13" y="79"/>
                  </a:cubicBezTo>
                  <a:cubicBezTo>
                    <a:pt x="14" y="83"/>
                    <a:pt x="15" y="86"/>
                    <a:pt x="17" y="90"/>
                  </a:cubicBezTo>
                  <a:cubicBezTo>
                    <a:pt x="7" y="100"/>
                    <a:pt x="7" y="100"/>
                    <a:pt x="7" y="100"/>
                  </a:cubicBezTo>
                  <a:cubicBezTo>
                    <a:pt x="18" y="114"/>
                    <a:pt x="18" y="114"/>
                    <a:pt x="18" y="114"/>
                  </a:cubicBezTo>
                  <a:cubicBezTo>
                    <a:pt x="31" y="109"/>
                    <a:pt x="31" y="109"/>
                    <a:pt x="31" y="109"/>
                  </a:cubicBezTo>
                  <a:cubicBezTo>
                    <a:pt x="33" y="111"/>
                    <a:pt x="36" y="113"/>
                    <a:pt x="39" y="115"/>
                  </a:cubicBezTo>
                  <a:cubicBezTo>
                    <a:pt x="38" y="129"/>
                    <a:pt x="38" y="129"/>
                    <a:pt x="38" y="129"/>
                  </a:cubicBezTo>
                  <a:cubicBezTo>
                    <a:pt x="55" y="135"/>
                    <a:pt x="55" y="135"/>
                    <a:pt x="55" y="135"/>
                  </a:cubicBezTo>
                  <a:cubicBezTo>
                    <a:pt x="62" y="122"/>
                    <a:pt x="62" y="122"/>
                    <a:pt x="62" y="122"/>
                  </a:cubicBezTo>
                  <a:cubicBezTo>
                    <a:pt x="64" y="123"/>
                    <a:pt x="66" y="123"/>
                    <a:pt x="68" y="123"/>
                  </a:cubicBezTo>
                  <a:cubicBezTo>
                    <a:pt x="69" y="123"/>
                    <a:pt x="71" y="123"/>
                    <a:pt x="73" y="122"/>
                  </a:cubicBezTo>
                  <a:cubicBezTo>
                    <a:pt x="80" y="135"/>
                    <a:pt x="80" y="135"/>
                    <a:pt x="80" y="135"/>
                  </a:cubicBezTo>
                  <a:cubicBezTo>
                    <a:pt x="97" y="129"/>
                    <a:pt x="97" y="129"/>
                    <a:pt x="97" y="129"/>
                  </a:cubicBezTo>
                  <a:cubicBezTo>
                    <a:pt x="96" y="115"/>
                    <a:pt x="96" y="115"/>
                    <a:pt x="96" y="115"/>
                  </a:cubicBezTo>
                  <a:cubicBezTo>
                    <a:pt x="99" y="113"/>
                    <a:pt x="102" y="111"/>
                    <a:pt x="104" y="109"/>
                  </a:cubicBezTo>
                  <a:cubicBezTo>
                    <a:pt x="117" y="114"/>
                    <a:pt x="117" y="114"/>
                    <a:pt x="117" y="114"/>
                  </a:cubicBezTo>
                  <a:cubicBezTo>
                    <a:pt x="128" y="100"/>
                    <a:pt x="128" y="100"/>
                    <a:pt x="128" y="100"/>
                  </a:cubicBezTo>
                  <a:cubicBezTo>
                    <a:pt x="118" y="89"/>
                    <a:pt x="118" y="89"/>
                    <a:pt x="118" y="89"/>
                  </a:cubicBezTo>
                  <a:cubicBezTo>
                    <a:pt x="120" y="86"/>
                    <a:pt x="121" y="83"/>
                    <a:pt x="122" y="79"/>
                  </a:cubicBezTo>
                  <a:lnTo>
                    <a:pt x="135" y="76"/>
                  </a:lnTo>
                  <a:close/>
                  <a:moveTo>
                    <a:pt x="67" y="107"/>
                  </a:moveTo>
                  <a:cubicBezTo>
                    <a:pt x="46" y="107"/>
                    <a:pt x="28" y="89"/>
                    <a:pt x="28" y="67"/>
                  </a:cubicBezTo>
                  <a:cubicBezTo>
                    <a:pt x="28" y="45"/>
                    <a:pt x="46" y="27"/>
                    <a:pt x="67" y="27"/>
                  </a:cubicBezTo>
                  <a:cubicBezTo>
                    <a:pt x="89" y="27"/>
                    <a:pt x="107" y="45"/>
                    <a:pt x="107" y="67"/>
                  </a:cubicBezTo>
                  <a:cubicBezTo>
                    <a:pt x="107" y="89"/>
                    <a:pt x="89" y="107"/>
                    <a:pt x="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sz="2000">
                <a:solidFill>
                  <a:schemeClr val="tx1">
                    <a:lumMod val="85000"/>
                    <a:lumOff val="15000"/>
                  </a:schemeClr>
                </a:solidFill>
              </a:endParaRPr>
            </a:p>
          </p:txBody>
        </p:sp>
      </p:grpSp>
      <p:grpSp>
        <p:nvGrpSpPr>
          <p:cNvPr id="17" name="组合 16"/>
          <p:cNvGrpSpPr/>
          <p:nvPr/>
        </p:nvGrpSpPr>
        <p:grpSpPr>
          <a:xfrm>
            <a:off x="265906" y="3670074"/>
            <a:ext cx="4653915" cy="2085975"/>
            <a:chOff x="977174" y="4645071"/>
            <a:chExt cx="4654642" cy="2086301"/>
          </a:xfrm>
        </p:grpSpPr>
        <p:sp>
          <p:nvSpPr>
            <p:cNvPr id="18" name="TextBox 54"/>
            <p:cNvSpPr txBox="1"/>
            <p:nvPr/>
          </p:nvSpPr>
          <p:spPr>
            <a:xfrm>
              <a:off x="977174" y="4645071"/>
              <a:ext cx="2464670" cy="275633"/>
            </a:xfrm>
            <a:prstGeom prst="rect">
              <a:avLst/>
            </a:prstGeom>
            <a:noFill/>
          </p:spPr>
          <p:txBody>
            <a:bodyPr wrap="square" rtlCol="0">
              <a:spAutoFit/>
            </a:bodyPr>
            <a:p>
              <a:pPr algn="ctr"/>
              <a:endParaRPr lang="en-US" altLang="zh-CN" sz="1200" dirty="0">
                <a:solidFill>
                  <a:schemeClr val="tx1">
                    <a:lumMod val="75000"/>
                    <a:lumOff val="25000"/>
                  </a:schemeClr>
                </a:solidFill>
                <a:ea typeface="微软雅黑" panose="020B0503020204020204" charset="-122"/>
                <a:cs typeface="方正兰亭细黑_GBK_M" pitchFamily="2" charset="2"/>
                <a:sym typeface="Arial" panose="020B0604020202020204" pitchFamily="34" charset="0"/>
              </a:endParaRPr>
            </a:p>
          </p:txBody>
        </p:sp>
        <p:sp>
          <p:nvSpPr>
            <p:cNvPr id="19" name="文本框 18"/>
            <p:cNvSpPr txBox="1"/>
            <p:nvPr/>
          </p:nvSpPr>
          <p:spPr>
            <a:xfrm>
              <a:off x="1320763" y="6394134"/>
              <a:ext cx="4311053" cy="337238"/>
            </a:xfrm>
            <a:prstGeom prst="rect">
              <a:avLst/>
            </a:prstGeom>
            <a:noFill/>
          </p:spPr>
          <p:txBody>
            <a:bodyPr wrap="square" rtlCol="0">
              <a:spAutoFit/>
            </a:bodyPr>
            <a:p>
              <a:pPr algn="l"/>
              <a:r>
                <a:rPr lang="zh-CN" altLang="en-US" sz="1600" b="1" dirty="0">
                  <a:solidFill>
                    <a:schemeClr val="tx1">
                      <a:lumMod val="95000"/>
                      <a:lumOff val="5000"/>
                    </a:schemeClr>
                  </a:solidFill>
                  <a:latin typeface="微软雅黑" panose="020B0503020204020204" charset="-122"/>
                  <a:ea typeface="微软雅黑" panose="020B0503020204020204" charset="-122"/>
                </a:rPr>
                <a:t>二，说明书一定要做，特别强调客户服务体验</a:t>
              </a:r>
              <a:endParaRPr lang="en-US" altLang="zh-CN" sz="1600" b="1" dirty="0">
                <a:solidFill>
                  <a:schemeClr val="tx1">
                    <a:lumMod val="95000"/>
                    <a:lumOff val="5000"/>
                  </a:schemeClr>
                </a:solidFill>
                <a:latin typeface="微软雅黑" panose="020B0503020204020204" charset="-122"/>
                <a:ea typeface="微软雅黑" panose="020B0503020204020204" charset="-122"/>
              </a:endParaRPr>
            </a:p>
          </p:txBody>
        </p:sp>
      </p:grpSp>
      <p:sp>
        <p:nvSpPr>
          <p:cNvPr id="29" name="文本框 28"/>
          <p:cNvSpPr txBox="1"/>
          <p:nvPr/>
        </p:nvSpPr>
        <p:spPr>
          <a:xfrm>
            <a:off x="790134" y="5768609"/>
            <a:ext cx="830580" cy="922020"/>
          </a:xfrm>
          <a:prstGeom prst="rect">
            <a:avLst/>
          </a:prstGeom>
          <a:noFill/>
        </p:spPr>
        <p:txBody>
          <a:bodyPr wrap="none" rtlCol="0">
            <a:spAutoFit/>
          </a:bodyPr>
          <a:p>
            <a:pPr algn="l"/>
            <a:r>
              <a:rPr lang="en-US" altLang="zh-CN"/>
              <a:t>1.</a:t>
            </a:r>
            <a:r>
              <a:rPr lang="zh-CN" altLang="en-US"/>
              <a:t>英语</a:t>
            </a:r>
            <a:endParaRPr lang="en-US" altLang="zh-CN"/>
          </a:p>
          <a:p>
            <a:pPr algn="l"/>
            <a:r>
              <a:rPr lang="en-US" altLang="zh-CN"/>
              <a:t>2.</a:t>
            </a:r>
            <a:r>
              <a:rPr lang="zh-CN" altLang="en-US">
                <a:sym typeface="+mn-ea"/>
              </a:rPr>
              <a:t>德语</a:t>
            </a:r>
            <a:endParaRPr lang="zh-CN" altLang="en-US"/>
          </a:p>
          <a:p>
            <a:pPr algn="l"/>
            <a:r>
              <a:rPr lang="en-US" altLang="zh-CN"/>
              <a:t>3.</a:t>
            </a:r>
            <a:r>
              <a:rPr lang="zh-CN" altLang="en-US"/>
              <a:t>日语</a:t>
            </a:r>
            <a:endParaRPr lang="zh-CN" altLang="en-US"/>
          </a:p>
        </p:txBody>
      </p:sp>
      <p:pic>
        <p:nvPicPr>
          <p:cNvPr id="2" name="图片 1"/>
          <p:cNvPicPr>
            <a:picLocks noChangeAspect="1"/>
          </p:cNvPicPr>
          <p:nvPr/>
        </p:nvPicPr>
        <p:blipFill>
          <a:blip r:embed="rId1"/>
          <a:stretch>
            <a:fillRect/>
          </a:stretch>
        </p:blipFill>
        <p:spPr>
          <a:xfrm>
            <a:off x="5861368" y="359410"/>
            <a:ext cx="5747385" cy="3458210"/>
          </a:xfrm>
          <a:prstGeom prst="rect">
            <a:avLst/>
          </a:prstGeom>
        </p:spPr>
      </p:pic>
      <p:sp>
        <p:nvSpPr>
          <p:cNvPr id="13" name="矩形 12"/>
          <p:cNvSpPr/>
          <p:nvPr/>
        </p:nvSpPr>
        <p:spPr>
          <a:xfrm rot="1620000">
            <a:off x="7946736" y="889397"/>
            <a:ext cx="4204948"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pic>
        <p:nvPicPr>
          <p:cNvPr id="15" name="图片 14"/>
          <p:cNvPicPr>
            <a:picLocks noChangeAspect="1"/>
          </p:cNvPicPr>
          <p:nvPr/>
        </p:nvPicPr>
        <p:blipFill>
          <a:blip r:embed="rId2"/>
          <a:stretch>
            <a:fillRect/>
          </a:stretch>
        </p:blipFill>
        <p:spPr>
          <a:xfrm>
            <a:off x="5861368" y="3670300"/>
            <a:ext cx="5812790" cy="31559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grpSp>
        <p:nvGrpSpPr>
          <p:cNvPr id="11" name="组合 10"/>
          <p:cNvGrpSpPr/>
          <p:nvPr/>
        </p:nvGrpSpPr>
        <p:grpSpPr>
          <a:xfrm>
            <a:off x="701810" y="1306886"/>
            <a:ext cx="10906125" cy="4271985"/>
            <a:chOff x="701810" y="1306886"/>
            <a:chExt cx="10906125" cy="4271985"/>
          </a:xfrm>
        </p:grpSpPr>
        <p:sp>
          <p:nvSpPr>
            <p:cNvPr id="19" name="文本框 23"/>
            <p:cNvSpPr txBox="1">
              <a:spLocks noChangeArrowheads="1"/>
            </p:cNvSpPr>
            <p:nvPr/>
          </p:nvSpPr>
          <p:spPr bwMode="auto">
            <a:xfrm>
              <a:off x="4740776" y="3455032"/>
              <a:ext cx="2733309"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ct val="0"/>
                </a:spcBef>
                <a:buFont typeface="Arial" panose="020B0604020202020204" pitchFamily="34" charset="0"/>
                <a:buNone/>
              </a:pPr>
              <a:r>
                <a:rPr lang="zh-CN" sz="3200" b="1" dirty="0">
                  <a:solidFill>
                    <a:schemeClr val="bg1"/>
                  </a:solidFill>
                  <a:latin typeface="+mj-ea"/>
                  <a:ea typeface="+mj-ea"/>
                  <a:sym typeface="Century Gothic" panose="020B0502020202020204" pitchFamily="34" charset="0"/>
                </a:rPr>
                <a:t>业绩通知</a:t>
              </a:r>
              <a:endParaRPr lang="zh-CN" sz="3200" b="1" dirty="0">
                <a:solidFill>
                  <a:schemeClr val="bg1"/>
                </a:solidFill>
                <a:latin typeface="+mj-ea"/>
                <a:ea typeface="+mj-ea"/>
                <a:sym typeface="Century Gothic" panose="020B0502020202020204" pitchFamily="34" charset="0"/>
              </a:endParaRPr>
            </a:p>
          </p:txBody>
        </p:sp>
        <p:sp>
          <p:nvSpPr>
            <p:cNvPr id="41" name="文本框 48"/>
            <p:cNvSpPr txBox="1"/>
            <p:nvPr/>
          </p:nvSpPr>
          <p:spPr>
            <a:xfrm>
              <a:off x="7627755" y="1306886"/>
              <a:ext cx="3980180" cy="460375"/>
            </a:xfrm>
            <a:prstGeom prst="rect">
              <a:avLst/>
            </a:prstGeom>
            <a:noFill/>
          </p:spPr>
          <p:txBody>
            <a:bodyPr wrap="square" rtlCol="0">
              <a:spAutoFit/>
            </a:bodyPr>
            <a:lst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a:lstStyle>
            <a:p>
              <a:r>
                <a:rPr lang="zh-CN" altLang="en-US" sz="2400">
                  <a:solidFill>
                    <a:schemeClr val="bg1"/>
                  </a:solidFill>
                  <a:cs typeface="+mn-ea"/>
                  <a:sym typeface="+mn-lt"/>
                </a:rPr>
                <a:t>二</a:t>
              </a:r>
              <a:r>
                <a:rPr lang="en-US" altLang="zh-CN" sz="2400">
                  <a:solidFill>
                    <a:schemeClr val="bg1"/>
                  </a:solidFill>
                  <a:cs typeface="+mn-ea"/>
                  <a:sym typeface="+mn-lt"/>
                </a:rPr>
                <a:t>.</a:t>
              </a:r>
              <a:r>
                <a:rPr lang="zh-CN" altLang="en-US" sz="2400">
                  <a:solidFill>
                    <a:schemeClr val="bg1"/>
                  </a:solidFill>
                  <a:cs typeface="+mn-ea"/>
                  <a:sym typeface="+mn-lt"/>
                </a:rPr>
                <a:t>影响</a:t>
              </a:r>
              <a:r>
                <a:rPr lang="en-US" altLang="zh-CN" sz="2400">
                  <a:solidFill>
                    <a:schemeClr val="bg1"/>
                  </a:solidFill>
                  <a:cs typeface="+mn-ea"/>
                  <a:sym typeface="+mn-lt"/>
                </a:rPr>
                <a:t>Listing</a:t>
              </a:r>
              <a:r>
                <a:rPr lang="zh-CN" altLang="en-US" sz="2400">
                  <a:solidFill>
                    <a:schemeClr val="bg1"/>
                  </a:solidFill>
                  <a:cs typeface="+mn-ea"/>
                  <a:sym typeface="+mn-lt"/>
                </a:rPr>
                <a:t>冻结的警告信</a:t>
              </a:r>
              <a:endParaRPr lang="zh-CN" altLang="en-US" sz="2400">
                <a:solidFill>
                  <a:schemeClr val="bg1"/>
                </a:solidFill>
                <a:cs typeface="+mn-ea"/>
                <a:sym typeface="+mn-lt"/>
              </a:endParaRPr>
            </a:p>
          </p:txBody>
        </p:sp>
        <p:sp>
          <p:nvSpPr>
            <p:cNvPr id="42" name="文本框 49"/>
            <p:cNvSpPr txBox="1"/>
            <p:nvPr/>
          </p:nvSpPr>
          <p:spPr>
            <a:xfrm>
              <a:off x="8136390" y="1915851"/>
              <a:ext cx="3069590" cy="2245360"/>
            </a:xfrm>
            <a:prstGeom prst="rect">
              <a:avLst/>
            </a:prstGeom>
            <a:noFill/>
          </p:spPr>
          <p:txBody>
            <a:bodyPr wrap="square" rtlCol="0">
              <a:spAutoFit/>
            </a:bodyPr>
            <a:lst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a:lstStyle>
            <a:p>
              <a:r>
                <a:rPr lang="en-US" sz="1400">
                  <a:solidFill>
                    <a:schemeClr val="bg1"/>
                  </a:solidFill>
                  <a:cs typeface="+mn-ea"/>
                  <a:sym typeface="+mn-lt"/>
                </a:rPr>
                <a:t>1.</a:t>
              </a:r>
              <a:r>
                <a:rPr lang="zh-CN" altLang="en-US" sz="1400">
                  <a:solidFill>
                    <a:schemeClr val="bg1"/>
                  </a:solidFill>
                  <a:cs typeface="+mn-ea"/>
                  <a:sym typeface="+mn-lt"/>
                </a:rPr>
                <a:t>产品问题率</a:t>
              </a:r>
              <a:endParaRPr lang="zh-CN" altLang="en-US" sz="1400">
                <a:solidFill>
                  <a:schemeClr val="bg1"/>
                </a:solidFill>
                <a:cs typeface="+mn-ea"/>
                <a:sym typeface="+mn-lt"/>
              </a:endParaRPr>
            </a:p>
            <a:p>
              <a:r>
                <a:rPr lang="en-US" altLang="zh-CN" sz="1400">
                  <a:solidFill>
                    <a:schemeClr val="bg1"/>
                  </a:solidFill>
                  <a:cs typeface="+mn-ea"/>
                  <a:sym typeface="+mn-lt"/>
                </a:rPr>
                <a:t>2.</a:t>
              </a:r>
              <a:r>
                <a:rPr lang="zh-CN" altLang="en-US" sz="1400">
                  <a:solidFill>
                    <a:schemeClr val="bg1"/>
                  </a:solidFill>
                  <a:cs typeface="+mn-ea"/>
                  <a:sym typeface="+mn-lt"/>
                </a:rPr>
                <a:t>发票审核</a:t>
              </a:r>
              <a:endParaRPr lang="zh-CN" altLang="en-US" sz="1400">
                <a:solidFill>
                  <a:schemeClr val="bg1"/>
                </a:solidFill>
                <a:cs typeface="+mn-ea"/>
                <a:sym typeface="+mn-lt"/>
              </a:endParaRPr>
            </a:p>
            <a:p>
              <a:r>
                <a:rPr lang="en-US" altLang="zh-CN" sz="1400">
                  <a:solidFill>
                    <a:schemeClr val="bg1"/>
                  </a:solidFill>
                  <a:cs typeface="+mn-ea"/>
                  <a:sym typeface="+mn-lt"/>
                </a:rPr>
                <a:t>3.</a:t>
              </a:r>
              <a:r>
                <a:rPr lang="zh-CN" altLang="en-US" sz="1400">
                  <a:solidFill>
                    <a:schemeClr val="bg1"/>
                  </a:solidFill>
                  <a:cs typeface="+mn-ea"/>
                  <a:sym typeface="+mn-lt"/>
                </a:rPr>
                <a:t>图片</a:t>
              </a:r>
              <a:r>
                <a:rPr lang="en-US" altLang="zh-CN" sz="1400">
                  <a:solidFill>
                    <a:schemeClr val="bg1"/>
                  </a:solidFill>
                  <a:cs typeface="+mn-ea"/>
                  <a:sym typeface="+mn-lt"/>
                </a:rPr>
                <a:t>/</a:t>
              </a:r>
              <a:r>
                <a:rPr lang="zh-CN" altLang="en-US" sz="1400">
                  <a:solidFill>
                    <a:schemeClr val="bg1"/>
                  </a:solidFill>
                  <a:cs typeface="+mn-ea"/>
                  <a:sym typeface="+mn-lt"/>
                </a:rPr>
                <a:t>专利侵权</a:t>
              </a:r>
              <a:endParaRPr lang="zh-CN" altLang="en-US" sz="1400">
                <a:solidFill>
                  <a:schemeClr val="bg1"/>
                </a:solidFill>
                <a:cs typeface="+mn-ea"/>
                <a:sym typeface="+mn-lt"/>
              </a:endParaRPr>
            </a:p>
            <a:p>
              <a:r>
                <a:rPr lang="en-US" altLang="zh-CN" sz="1400">
                  <a:solidFill>
                    <a:schemeClr val="bg1"/>
                  </a:solidFill>
                  <a:cs typeface="+mn-ea"/>
                  <a:sym typeface="+mn-lt"/>
                </a:rPr>
                <a:t>4.</a:t>
              </a:r>
              <a:r>
                <a:rPr lang="zh-CN" altLang="en-US" sz="1400">
                  <a:solidFill>
                    <a:schemeClr val="bg1"/>
                  </a:solidFill>
                  <a:cs typeface="+mn-ea"/>
                  <a:sym typeface="+mn-lt"/>
                </a:rPr>
                <a:t>安全事故</a:t>
              </a:r>
              <a:endParaRPr lang="zh-CN" altLang="en-US" sz="1400">
                <a:solidFill>
                  <a:schemeClr val="bg1"/>
                </a:solidFill>
                <a:cs typeface="+mn-ea"/>
                <a:sym typeface="+mn-lt"/>
              </a:endParaRPr>
            </a:p>
            <a:p>
              <a:r>
                <a:rPr lang="en-US" altLang="zh-CN" sz="1400">
                  <a:solidFill>
                    <a:schemeClr val="bg1"/>
                  </a:solidFill>
                  <a:cs typeface="+mn-ea"/>
                  <a:sym typeface="+mn-lt"/>
                </a:rPr>
                <a:t>5.</a:t>
              </a:r>
              <a:r>
                <a:rPr lang="zh-CN" altLang="en-US" sz="1400">
                  <a:solidFill>
                    <a:schemeClr val="bg1"/>
                  </a:solidFill>
                  <a:cs typeface="+mn-ea"/>
                  <a:sym typeface="+mn-lt"/>
                </a:rPr>
                <a:t>订单跟踪率</a:t>
              </a:r>
              <a:r>
                <a:rPr lang="en-US" altLang="zh-CN" sz="1400">
                  <a:solidFill>
                    <a:schemeClr val="bg1"/>
                  </a:solidFill>
                  <a:cs typeface="+mn-ea"/>
                  <a:sym typeface="+mn-lt"/>
                </a:rPr>
                <a:t>(</a:t>
              </a:r>
              <a:r>
                <a:rPr lang="zh-CN" altLang="en-US" sz="1400">
                  <a:solidFill>
                    <a:schemeClr val="bg1"/>
                  </a:solidFill>
                  <a:cs typeface="+mn-ea"/>
                  <a:sym typeface="+mn-lt"/>
                </a:rPr>
                <a:t>类目</a:t>
              </a:r>
              <a:r>
                <a:rPr lang="en-US" altLang="zh-CN" sz="1400">
                  <a:solidFill>
                    <a:schemeClr val="bg1"/>
                  </a:solidFill>
                  <a:cs typeface="+mn-ea"/>
                  <a:sym typeface="+mn-lt"/>
                </a:rPr>
                <a:t>)</a:t>
              </a:r>
              <a:endParaRPr lang="zh-CN" altLang="en-US" sz="1400">
                <a:solidFill>
                  <a:schemeClr val="bg1"/>
                </a:solidFill>
                <a:cs typeface="+mn-ea"/>
                <a:sym typeface="+mn-lt"/>
              </a:endParaRPr>
            </a:p>
            <a:p>
              <a:r>
                <a:rPr lang="en-US" altLang="zh-CN" sz="1400">
                  <a:solidFill>
                    <a:schemeClr val="bg1"/>
                  </a:solidFill>
                  <a:cs typeface="+mn-ea"/>
                  <a:sym typeface="+mn-lt"/>
                </a:rPr>
                <a:t>6.</a:t>
              </a:r>
              <a:r>
                <a:rPr lang="zh-CN" altLang="en-US" sz="1400">
                  <a:solidFill>
                    <a:schemeClr val="bg1"/>
                  </a:solidFill>
                  <a:cs typeface="+mn-ea"/>
                  <a:sym typeface="+mn-lt"/>
                </a:rPr>
                <a:t>产品认证审核</a:t>
              </a:r>
              <a:endParaRPr lang="zh-CN" altLang="en-US" sz="1400">
                <a:solidFill>
                  <a:schemeClr val="bg1"/>
                </a:solidFill>
                <a:cs typeface="+mn-ea"/>
                <a:sym typeface="+mn-lt"/>
              </a:endParaRPr>
            </a:p>
            <a:p>
              <a:r>
                <a:rPr lang="en-US" altLang="zh-CN" sz="1400">
                  <a:solidFill>
                    <a:schemeClr val="bg1"/>
                  </a:solidFill>
                  <a:cs typeface="+mn-ea"/>
                  <a:sym typeface="+mn-lt"/>
                </a:rPr>
                <a:t>7.</a:t>
              </a:r>
              <a:r>
                <a:rPr lang="zh-CN" altLang="en-US" sz="1400">
                  <a:solidFill>
                    <a:schemeClr val="bg1"/>
                  </a:solidFill>
                  <a:cs typeface="+mn-ea"/>
                  <a:sym typeface="+mn-lt"/>
                </a:rPr>
                <a:t>定价错误</a:t>
              </a:r>
              <a:endParaRPr lang="zh-CN" altLang="en-US" sz="1400">
                <a:solidFill>
                  <a:schemeClr val="bg1"/>
                </a:solidFill>
                <a:cs typeface="+mn-ea"/>
                <a:sym typeface="+mn-lt"/>
              </a:endParaRPr>
            </a:p>
            <a:p>
              <a:r>
                <a:rPr lang="en-US" altLang="zh-CN" sz="1400">
                  <a:solidFill>
                    <a:schemeClr val="bg1"/>
                  </a:solidFill>
                  <a:cs typeface="+mn-ea"/>
                  <a:sym typeface="+mn-lt"/>
                </a:rPr>
                <a:t>8.</a:t>
              </a:r>
              <a:r>
                <a:rPr lang="zh-CN" altLang="en-US" sz="1400">
                  <a:solidFill>
                    <a:schemeClr val="bg1"/>
                  </a:solidFill>
                  <a:cs typeface="+mn-ea"/>
                  <a:sym typeface="+mn-lt"/>
                </a:rPr>
                <a:t>规格不相符</a:t>
              </a:r>
              <a:r>
                <a:rPr lang="en-US" altLang="zh-CN" sz="1400">
                  <a:solidFill>
                    <a:schemeClr val="bg1"/>
                  </a:solidFill>
                  <a:cs typeface="+mn-ea"/>
                  <a:sym typeface="+mn-lt"/>
                </a:rPr>
                <a:t>(</a:t>
              </a:r>
              <a:r>
                <a:rPr lang="zh-CN" altLang="en-US" sz="1400">
                  <a:solidFill>
                    <a:schemeClr val="bg1"/>
                  </a:solidFill>
                  <a:cs typeface="+mn-ea"/>
                  <a:sym typeface="+mn-lt"/>
                </a:rPr>
                <a:t>欧洲</a:t>
              </a:r>
              <a:r>
                <a:rPr lang="en-US" altLang="zh-CN" sz="1400">
                  <a:solidFill>
                    <a:schemeClr val="bg1"/>
                  </a:solidFill>
                  <a:cs typeface="+mn-ea"/>
                  <a:sym typeface="+mn-lt"/>
                </a:rPr>
                <a:t>)</a:t>
              </a:r>
              <a:endParaRPr lang="en-US" altLang="zh-CN" sz="1400">
                <a:solidFill>
                  <a:schemeClr val="bg1"/>
                </a:solidFill>
                <a:cs typeface="+mn-ea"/>
                <a:sym typeface="+mn-lt"/>
              </a:endParaRPr>
            </a:p>
            <a:p>
              <a:r>
                <a:rPr lang="en-US" altLang="zh-CN" sz="1400">
                  <a:solidFill>
                    <a:schemeClr val="bg1"/>
                  </a:solidFill>
                  <a:cs typeface="+mn-ea"/>
                  <a:sym typeface="+mn-lt"/>
                </a:rPr>
                <a:t>9.</a:t>
              </a:r>
              <a:r>
                <a:rPr lang="zh-CN" altLang="en-US" sz="1400">
                  <a:solidFill>
                    <a:schemeClr val="bg1"/>
                  </a:solidFill>
                  <a:cs typeface="+mn-ea"/>
                  <a:sym typeface="+mn-lt"/>
                </a:rPr>
                <a:t>说明书不全</a:t>
              </a:r>
              <a:r>
                <a:rPr lang="en-US" altLang="zh-CN" sz="1400">
                  <a:solidFill>
                    <a:schemeClr val="bg1"/>
                  </a:solidFill>
                  <a:cs typeface="+mn-ea"/>
                  <a:sym typeface="+mn-lt"/>
                </a:rPr>
                <a:t>(</a:t>
              </a:r>
              <a:r>
                <a:rPr lang="zh-CN" altLang="en-US" sz="1400">
                  <a:solidFill>
                    <a:schemeClr val="bg1"/>
                  </a:solidFill>
                  <a:cs typeface="+mn-ea"/>
                  <a:sym typeface="+mn-lt"/>
                </a:rPr>
                <a:t>德国 日本</a:t>
              </a:r>
              <a:r>
                <a:rPr lang="en-US" altLang="zh-CN" sz="1400">
                  <a:solidFill>
                    <a:schemeClr val="bg1"/>
                  </a:solidFill>
                  <a:cs typeface="+mn-ea"/>
                  <a:sym typeface="+mn-lt"/>
                </a:rPr>
                <a:t>)</a:t>
              </a:r>
              <a:endParaRPr lang="en-US" altLang="zh-CN" sz="1400">
                <a:solidFill>
                  <a:schemeClr val="bg1"/>
                </a:solidFill>
                <a:cs typeface="+mn-ea"/>
                <a:sym typeface="+mn-lt"/>
              </a:endParaRPr>
            </a:p>
            <a:p>
              <a:endParaRPr lang="en-US" altLang="zh-CN" sz="1400">
                <a:solidFill>
                  <a:schemeClr val="bg1"/>
                </a:solidFill>
                <a:cs typeface="+mn-ea"/>
                <a:sym typeface="+mn-lt"/>
              </a:endParaRPr>
            </a:p>
          </p:txBody>
        </p:sp>
        <p:sp>
          <p:nvSpPr>
            <p:cNvPr id="56" name="文本框 48"/>
            <p:cNvSpPr txBox="1"/>
            <p:nvPr/>
          </p:nvSpPr>
          <p:spPr>
            <a:xfrm>
              <a:off x="701810" y="1306886"/>
              <a:ext cx="3832225" cy="460375"/>
            </a:xfrm>
            <a:prstGeom prst="rect">
              <a:avLst/>
            </a:prstGeom>
            <a:noFill/>
          </p:spPr>
          <p:txBody>
            <a:bodyPr wrap="square" rtlCol="0">
              <a:spAutoFit/>
            </a:bodyPr>
            <a:lst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a:lstStyle>
            <a:p>
              <a:pPr algn="r"/>
              <a:r>
                <a:rPr lang="zh-CN" altLang="en-US" sz="2400">
                  <a:solidFill>
                    <a:schemeClr val="bg1"/>
                  </a:solidFill>
                  <a:cs typeface="+mn-ea"/>
                  <a:sym typeface="+mn-lt"/>
                </a:rPr>
                <a:t>一</a:t>
              </a:r>
              <a:r>
                <a:rPr lang="en-US" altLang="zh-CN" sz="2400">
                  <a:solidFill>
                    <a:schemeClr val="bg1"/>
                  </a:solidFill>
                  <a:cs typeface="+mn-ea"/>
                  <a:sym typeface="+mn-lt"/>
                </a:rPr>
                <a:t>.</a:t>
              </a:r>
              <a:r>
                <a:rPr lang="zh-CN" altLang="en-US" sz="2400">
                  <a:solidFill>
                    <a:schemeClr val="bg1"/>
                  </a:solidFill>
                  <a:cs typeface="+mn-ea"/>
                  <a:sym typeface="+mn-lt"/>
                </a:rPr>
                <a:t>影响店铺冻结的警告信</a:t>
              </a:r>
              <a:endParaRPr lang="zh-CN" altLang="en-US" sz="2400">
                <a:solidFill>
                  <a:schemeClr val="bg1"/>
                </a:solidFill>
                <a:cs typeface="+mn-ea"/>
                <a:sym typeface="+mn-lt"/>
              </a:endParaRPr>
            </a:p>
          </p:txBody>
        </p:sp>
        <p:sp>
          <p:nvSpPr>
            <p:cNvPr id="57" name="文本框 49"/>
            <p:cNvSpPr txBox="1"/>
            <p:nvPr/>
          </p:nvSpPr>
          <p:spPr>
            <a:xfrm>
              <a:off x="1369195" y="1915851"/>
              <a:ext cx="2724150" cy="3107690"/>
            </a:xfrm>
            <a:prstGeom prst="rect">
              <a:avLst/>
            </a:prstGeom>
            <a:noFill/>
          </p:spPr>
          <p:txBody>
            <a:bodyPr wrap="square" rtlCol="0">
              <a:spAutoFit/>
            </a:bodyPr>
            <a:lst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a:lstStyle>
            <a:p>
              <a:pPr algn="l"/>
              <a:r>
                <a:rPr lang="en-US" sz="1400">
                  <a:solidFill>
                    <a:schemeClr val="bg1"/>
                  </a:solidFill>
                  <a:cs typeface="+mn-ea"/>
                  <a:sym typeface="+mn-lt"/>
                </a:rPr>
                <a:t>1.</a:t>
              </a:r>
              <a:r>
                <a:rPr lang="zh-CN" altLang="en-US" sz="1400">
                  <a:solidFill>
                    <a:schemeClr val="bg1"/>
                  </a:solidFill>
                  <a:cs typeface="+mn-ea"/>
                  <a:sym typeface="+mn-lt"/>
                </a:rPr>
                <a:t>是否为政府相关人员</a:t>
              </a:r>
              <a:endParaRPr lang="zh-CN" altLang="en-US" sz="1400">
                <a:solidFill>
                  <a:schemeClr val="bg1"/>
                </a:solidFill>
                <a:cs typeface="+mn-ea"/>
                <a:sym typeface="+mn-lt"/>
              </a:endParaRPr>
            </a:p>
            <a:p>
              <a:pPr algn="l"/>
              <a:r>
                <a:rPr lang="en-US" altLang="zh-CN" sz="1400">
                  <a:solidFill>
                    <a:schemeClr val="bg1"/>
                  </a:solidFill>
                  <a:cs typeface="+mn-ea"/>
                  <a:sym typeface="+mn-lt"/>
                </a:rPr>
                <a:t>2.</a:t>
              </a:r>
              <a:r>
                <a:rPr lang="zh-CN" altLang="en-US" sz="1400">
                  <a:solidFill>
                    <a:schemeClr val="bg1"/>
                  </a:solidFill>
                  <a:cs typeface="+mn-ea"/>
                  <a:sym typeface="+mn-lt"/>
                </a:rPr>
                <a:t>注册公司异常</a:t>
              </a:r>
              <a:endParaRPr lang="zh-CN" altLang="en-US" sz="1400">
                <a:solidFill>
                  <a:schemeClr val="bg1"/>
                </a:solidFill>
                <a:cs typeface="+mn-ea"/>
                <a:sym typeface="+mn-lt"/>
              </a:endParaRPr>
            </a:p>
            <a:p>
              <a:pPr algn="l"/>
              <a:r>
                <a:rPr lang="en-US" altLang="zh-CN" sz="1400">
                  <a:solidFill>
                    <a:schemeClr val="bg1"/>
                  </a:solidFill>
                  <a:cs typeface="+mn-ea"/>
                  <a:sym typeface="+mn-lt"/>
                </a:rPr>
                <a:t>3.VAT</a:t>
              </a:r>
              <a:r>
                <a:rPr lang="zh-CN" altLang="en-US" sz="1400">
                  <a:solidFill>
                    <a:schemeClr val="bg1"/>
                  </a:solidFill>
                  <a:cs typeface="+mn-ea"/>
                  <a:sym typeface="+mn-lt"/>
                </a:rPr>
                <a:t>审核</a:t>
              </a:r>
              <a:endParaRPr lang="zh-CN" altLang="en-US" sz="1400">
                <a:solidFill>
                  <a:schemeClr val="bg1"/>
                </a:solidFill>
                <a:cs typeface="+mn-ea"/>
                <a:sym typeface="+mn-lt"/>
              </a:endParaRPr>
            </a:p>
            <a:p>
              <a:pPr algn="l"/>
              <a:r>
                <a:rPr lang="en-US" altLang="zh-CN" sz="1400">
                  <a:solidFill>
                    <a:schemeClr val="bg1"/>
                  </a:solidFill>
                  <a:cs typeface="+mn-ea"/>
                  <a:sym typeface="+mn-lt"/>
                </a:rPr>
                <a:t>4.KYC</a:t>
              </a:r>
              <a:r>
                <a:rPr lang="zh-CN" altLang="en-US" sz="1400">
                  <a:solidFill>
                    <a:schemeClr val="bg1"/>
                  </a:solidFill>
                  <a:cs typeface="+mn-ea"/>
                  <a:sym typeface="+mn-lt"/>
                </a:rPr>
                <a:t>审核</a:t>
              </a:r>
              <a:endParaRPr lang="zh-CN" altLang="en-US" sz="1400">
                <a:solidFill>
                  <a:schemeClr val="bg1"/>
                </a:solidFill>
                <a:cs typeface="+mn-ea"/>
                <a:sym typeface="+mn-lt"/>
              </a:endParaRPr>
            </a:p>
            <a:p>
              <a:pPr algn="l"/>
              <a:r>
                <a:rPr lang="en-US" altLang="zh-CN" sz="1400">
                  <a:solidFill>
                    <a:schemeClr val="bg1"/>
                  </a:solidFill>
                  <a:cs typeface="+mn-ea"/>
                  <a:sym typeface="+mn-lt"/>
                </a:rPr>
                <a:t>5.账号关联</a:t>
              </a:r>
              <a:endParaRPr lang="en-US" altLang="zh-CN" sz="1400">
                <a:solidFill>
                  <a:schemeClr val="bg1"/>
                </a:solidFill>
                <a:cs typeface="+mn-ea"/>
                <a:sym typeface="+mn-lt"/>
              </a:endParaRPr>
            </a:p>
            <a:p>
              <a:pPr algn="l"/>
              <a:r>
                <a:rPr lang="en-US" altLang="zh-CN" sz="1400">
                  <a:solidFill>
                    <a:schemeClr val="bg1"/>
                  </a:solidFill>
                  <a:cs typeface="+mn-ea"/>
                  <a:sym typeface="+mn-lt"/>
                </a:rPr>
                <a:t>6.</a:t>
              </a:r>
              <a:r>
                <a:rPr lang="zh-CN" altLang="en-US" sz="1400">
                  <a:solidFill>
                    <a:schemeClr val="bg1"/>
                  </a:solidFill>
                  <a:cs typeface="+mn-ea"/>
                  <a:sym typeface="+mn-lt"/>
                </a:rPr>
                <a:t>操纵评论</a:t>
              </a:r>
              <a:endParaRPr lang="zh-CN" altLang="en-US" sz="1400">
                <a:solidFill>
                  <a:schemeClr val="bg1"/>
                </a:solidFill>
                <a:cs typeface="+mn-ea"/>
                <a:sym typeface="+mn-lt"/>
              </a:endParaRPr>
            </a:p>
            <a:p>
              <a:pPr algn="l"/>
              <a:r>
                <a:rPr lang="en-US" altLang="zh-CN" sz="1400">
                  <a:solidFill>
                    <a:schemeClr val="bg1"/>
                  </a:solidFill>
                  <a:cs typeface="+mn-ea"/>
                  <a:sym typeface="+mn-lt"/>
                </a:rPr>
                <a:t>7.ODR</a:t>
              </a:r>
              <a:r>
                <a:rPr lang="zh-CN" altLang="en-US" sz="1400">
                  <a:solidFill>
                    <a:schemeClr val="bg1"/>
                  </a:solidFill>
                  <a:cs typeface="+mn-ea"/>
                  <a:sym typeface="+mn-lt"/>
                </a:rPr>
                <a:t>超标</a:t>
              </a:r>
              <a:endParaRPr lang="zh-CN" altLang="en-US" sz="1400">
                <a:solidFill>
                  <a:schemeClr val="bg1"/>
                </a:solidFill>
                <a:cs typeface="+mn-ea"/>
                <a:sym typeface="+mn-lt"/>
              </a:endParaRPr>
            </a:p>
            <a:p>
              <a:pPr algn="l"/>
              <a:r>
                <a:rPr lang="en-US" altLang="zh-CN" sz="1400">
                  <a:solidFill>
                    <a:schemeClr val="bg1"/>
                  </a:solidFill>
                  <a:cs typeface="+mn-ea"/>
                  <a:sym typeface="+mn-lt"/>
                </a:rPr>
                <a:t>8.违反退款的政策</a:t>
              </a:r>
              <a:endParaRPr lang="zh-CN" altLang="en-US" sz="1400">
                <a:solidFill>
                  <a:schemeClr val="bg1"/>
                </a:solidFill>
                <a:cs typeface="+mn-ea"/>
                <a:sym typeface="+mn-lt"/>
              </a:endParaRPr>
            </a:p>
            <a:p>
              <a:pPr algn="l"/>
              <a:r>
                <a:rPr lang="en-US" altLang="zh-CN" sz="1400">
                  <a:solidFill>
                    <a:schemeClr val="bg1"/>
                  </a:solidFill>
                  <a:cs typeface="+mn-ea"/>
                  <a:sym typeface="+mn-lt"/>
                </a:rPr>
                <a:t>9.</a:t>
              </a:r>
              <a:r>
                <a:rPr lang="zh-CN" altLang="en-US" sz="1400">
                  <a:solidFill>
                    <a:schemeClr val="bg1"/>
                  </a:solidFill>
                  <a:cs typeface="+mn-ea"/>
                  <a:sym typeface="+mn-lt"/>
                </a:rPr>
                <a:t>假货 </a:t>
              </a:r>
              <a:r>
                <a:rPr lang="en-US" altLang="zh-CN" sz="1400">
                  <a:solidFill>
                    <a:schemeClr val="bg1"/>
                  </a:solidFill>
                  <a:cs typeface="+mn-ea"/>
                  <a:sym typeface="+mn-lt"/>
                </a:rPr>
                <a:t>/ </a:t>
              </a:r>
              <a:r>
                <a:rPr lang="zh-CN" altLang="en-US" sz="1400">
                  <a:solidFill>
                    <a:schemeClr val="bg1"/>
                  </a:solidFill>
                  <a:cs typeface="+mn-ea"/>
                  <a:sym typeface="+mn-lt"/>
                </a:rPr>
                <a:t>描述不符</a:t>
              </a:r>
              <a:endParaRPr lang="en-US" altLang="zh-CN" sz="1400">
                <a:solidFill>
                  <a:schemeClr val="bg1"/>
                </a:solidFill>
                <a:cs typeface="+mn-ea"/>
                <a:sym typeface="+mn-lt"/>
              </a:endParaRPr>
            </a:p>
            <a:p>
              <a:pPr algn="l"/>
              <a:r>
                <a:rPr lang="en-US" altLang="zh-CN" sz="1400">
                  <a:solidFill>
                    <a:schemeClr val="bg1"/>
                  </a:solidFill>
                  <a:cs typeface="+mn-ea"/>
                  <a:sym typeface="+mn-lt"/>
                </a:rPr>
                <a:t>10.</a:t>
              </a:r>
              <a:r>
                <a:rPr lang="zh-CN" altLang="en-US" sz="1400">
                  <a:solidFill>
                    <a:schemeClr val="bg1"/>
                  </a:solidFill>
                  <a:cs typeface="+mn-ea"/>
                  <a:sym typeface="+mn-lt"/>
                </a:rPr>
                <a:t> 品牌侵权</a:t>
              </a:r>
              <a:endParaRPr lang="zh-CN" altLang="en-US" sz="1400">
                <a:solidFill>
                  <a:schemeClr val="bg1"/>
                </a:solidFill>
                <a:cs typeface="+mn-ea"/>
                <a:sym typeface="+mn-lt"/>
              </a:endParaRPr>
            </a:p>
            <a:p>
              <a:pPr algn="l"/>
              <a:r>
                <a:rPr lang="en-US" altLang="zh-CN" sz="1400">
                  <a:solidFill>
                    <a:schemeClr val="bg1"/>
                  </a:solidFill>
                  <a:cs typeface="+mn-ea"/>
                  <a:sym typeface="+mn-lt"/>
                </a:rPr>
                <a:t>11.</a:t>
              </a:r>
              <a:r>
                <a:rPr lang="zh-CN" altLang="en-US" sz="1400">
                  <a:solidFill>
                    <a:schemeClr val="bg1"/>
                  </a:solidFill>
                  <a:cs typeface="+mn-ea"/>
                  <a:sym typeface="+mn-lt"/>
                </a:rPr>
                <a:t>虚假发货 </a:t>
              </a:r>
              <a:r>
                <a:rPr lang="en-US" altLang="zh-CN" sz="1400">
                  <a:solidFill>
                    <a:schemeClr val="bg1"/>
                  </a:solidFill>
                  <a:cs typeface="+mn-ea"/>
                  <a:sym typeface="+mn-lt"/>
                </a:rPr>
                <a:t>/ </a:t>
              </a:r>
              <a:r>
                <a:rPr lang="zh-CN" altLang="en-US" sz="1400">
                  <a:solidFill>
                    <a:schemeClr val="bg1"/>
                  </a:solidFill>
                  <a:cs typeface="+mn-ea"/>
                  <a:sym typeface="+mn-lt"/>
                </a:rPr>
                <a:t>提前发货</a:t>
              </a:r>
              <a:endParaRPr lang="en-US" altLang="zh-CN" sz="1400">
                <a:solidFill>
                  <a:schemeClr val="bg1"/>
                </a:solidFill>
                <a:cs typeface="+mn-ea"/>
                <a:sym typeface="+mn-lt"/>
              </a:endParaRPr>
            </a:p>
            <a:p>
              <a:pPr algn="l"/>
              <a:r>
                <a:rPr lang="en-US" altLang="zh-CN" sz="1400">
                  <a:solidFill>
                    <a:schemeClr val="bg1"/>
                  </a:solidFill>
                  <a:cs typeface="+mn-ea"/>
                  <a:sym typeface="+mn-lt"/>
                </a:rPr>
                <a:t>12.</a:t>
              </a:r>
              <a:r>
                <a:rPr lang="zh-CN" altLang="en-US" sz="1400">
                  <a:solidFill>
                    <a:schemeClr val="bg1"/>
                  </a:solidFill>
                  <a:cs typeface="+mn-ea"/>
                  <a:sym typeface="+mn-lt"/>
                </a:rPr>
                <a:t>迟发率 </a:t>
              </a:r>
              <a:r>
                <a:rPr lang="en-US" altLang="zh-CN" sz="1400">
                  <a:solidFill>
                    <a:schemeClr val="bg1"/>
                  </a:solidFill>
                  <a:cs typeface="+mn-ea"/>
                  <a:sym typeface="+mn-lt"/>
                </a:rPr>
                <a:t>/ </a:t>
              </a:r>
              <a:r>
                <a:rPr lang="zh-CN" altLang="en-US" sz="1400">
                  <a:solidFill>
                    <a:schemeClr val="bg1"/>
                  </a:solidFill>
                  <a:cs typeface="+mn-ea"/>
                  <a:sym typeface="+mn-lt"/>
                </a:rPr>
                <a:t>订单取消率</a:t>
              </a:r>
              <a:endParaRPr lang="zh-CN" altLang="en-US" sz="1400">
                <a:solidFill>
                  <a:schemeClr val="bg1"/>
                </a:solidFill>
                <a:cs typeface="+mn-ea"/>
                <a:sym typeface="+mn-lt"/>
              </a:endParaRPr>
            </a:p>
            <a:p>
              <a:pPr algn="l"/>
              <a:r>
                <a:rPr lang="en-US" altLang="zh-CN" sz="1400">
                  <a:solidFill>
                    <a:schemeClr val="bg1"/>
                  </a:solidFill>
                  <a:cs typeface="+mn-ea"/>
                  <a:sym typeface="+mn-lt"/>
                </a:rPr>
                <a:t>13.</a:t>
              </a:r>
              <a:r>
                <a:rPr lang="zh-CN" altLang="en-US" sz="1400">
                  <a:solidFill>
                    <a:schemeClr val="bg1"/>
                  </a:solidFill>
                  <a:cs typeface="+mn-ea"/>
                  <a:sym typeface="+mn-lt"/>
                </a:rPr>
                <a:t>泄露客户信息</a:t>
              </a:r>
              <a:endParaRPr lang="zh-CN" altLang="en-US" sz="1400">
                <a:solidFill>
                  <a:schemeClr val="bg1"/>
                </a:solidFill>
                <a:cs typeface="+mn-ea"/>
                <a:sym typeface="+mn-lt"/>
              </a:endParaRPr>
            </a:p>
            <a:p>
              <a:pPr algn="l"/>
              <a:r>
                <a:rPr lang="en-US" altLang="zh-CN" sz="1400">
                  <a:solidFill>
                    <a:schemeClr val="bg1"/>
                  </a:solidFill>
                  <a:cs typeface="+mn-ea"/>
                  <a:sym typeface="+mn-lt"/>
                </a:rPr>
                <a:t>14.</a:t>
              </a:r>
              <a:r>
                <a:rPr lang="zh-CN" altLang="en-US" sz="1400">
                  <a:solidFill>
                    <a:schemeClr val="bg1"/>
                  </a:solidFill>
                  <a:cs typeface="+mn-ea"/>
                  <a:sym typeface="+mn-lt"/>
                </a:rPr>
                <a:t>滥用</a:t>
              </a:r>
              <a:r>
                <a:rPr lang="en-US" altLang="zh-CN" sz="1400">
                  <a:solidFill>
                    <a:schemeClr val="bg1"/>
                  </a:solidFill>
                  <a:cs typeface="+mn-ea"/>
                  <a:sym typeface="+mn-lt"/>
                </a:rPr>
                <a:t>ASIN</a:t>
              </a:r>
              <a:r>
                <a:rPr lang="zh-CN" altLang="en-US" sz="1400">
                  <a:solidFill>
                    <a:schemeClr val="bg1"/>
                  </a:solidFill>
                  <a:cs typeface="+mn-ea"/>
                  <a:sym typeface="+mn-lt"/>
                </a:rPr>
                <a:t>变体</a:t>
              </a:r>
              <a:endParaRPr lang="zh-CN" altLang="en-US" sz="1400">
                <a:solidFill>
                  <a:schemeClr val="bg1"/>
                </a:solidFill>
                <a:cs typeface="+mn-ea"/>
                <a:sym typeface="+mn-lt"/>
              </a:endParaRPr>
            </a:p>
          </p:txBody>
        </p:sp>
        <p:sp>
          <p:nvSpPr>
            <p:cNvPr id="60" name="文本框 48"/>
            <p:cNvSpPr txBox="1"/>
            <p:nvPr/>
          </p:nvSpPr>
          <p:spPr>
            <a:xfrm>
              <a:off x="7627755" y="5097836"/>
              <a:ext cx="3824605" cy="460375"/>
            </a:xfrm>
            <a:prstGeom prst="rect">
              <a:avLst/>
            </a:prstGeom>
            <a:noFill/>
          </p:spPr>
          <p:txBody>
            <a:bodyPr wrap="square" rtlCol="0">
              <a:spAutoFit/>
            </a:bodyPr>
            <a:lst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a:lstStyle>
            <a:p>
              <a:r>
                <a:rPr lang="zh-CN" altLang="en-US" sz="2400">
                  <a:solidFill>
                    <a:schemeClr val="bg1"/>
                  </a:solidFill>
                  <a:cs typeface="+mn-ea"/>
                  <a:sym typeface="+mn-lt"/>
                </a:rPr>
                <a:t>四</a:t>
              </a:r>
              <a:r>
                <a:rPr lang="en-US" altLang="zh-CN" sz="2400">
                  <a:solidFill>
                    <a:schemeClr val="bg1"/>
                  </a:solidFill>
                  <a:cs typeface="+mn-ea"/>
                  <a:sym typeface="+mn-lt"/>
                </a:rPr>
                <a:t>.</a:t>
              </a:r>
              <a:r>
                <a:rPr lang="zh-CN" altLang="en-US" sz="2400">
                  <a:solidFill>
                    <a:schemeClr val="bg1"/>
                  </a:solidFill>
                  <a:cs typeface="+mn-ea"/>
                  <a:sym typeface="+mn-lt"/>
                </a:rPr>
                <a:t>收到业绩通知怎么处理</a:t>
              </a:r>
              <a:endParaRPr lang="zh-CN" altLang="en-US" sz="2400">
                <a:solidFill>
                  <a:schemeClr val="bg1"/>
                </a:solidFill>
                <a:cs typeface="+mn-ea"/>
                <a:sym typeface="+mn-lt"/>
              </a:endParaRPr>
            </a:p>
          </p:txBody>
        </p:sp>
        <p:sp>
          <p:nvSpPr>
            <p:cNvPr id="63" name="文本框 48"/>
            <p:cNvSpPr txBox="1"/>
            <p:nvPr/>
          </p:nvSpPr>
          <p:spPr>
            <a:xfrm>
              <a:off x="701810" y="5097836"/>
              <a:ext cx="3667760" cy="460375"/>
            </a:xfrm>
            <a:prstGeom prst="rect">
              <a:avLst/>
            </a:prstGeom>
            <a:noFill/>
          </p:spPr>
          <p:txBody>
            <a:bodyPr wrap="square" rtlCol="0">
              <a:spAutoFit/>
            </a:bodyPr>
            <a:lst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a:lstStyle>
            <a:p>
              <a:pPr algn="r"/>
              <a:r>
                <a:rPr lang="zh-CN" altLang="en-US" sz="2400">
                  <a:solidFill>
                    <a:schemeClr val="bg1"/>
                  </a:solidFill>
                  <a:cs typeface="+mn-ea"/>
                  <a:sym typeface="+mn-lt"/>
                </a:rPr>
                <a:t>三</a:t>
              </a:r>
              <a:r>
                <a:rPr lang="en-US" altLang="zh-CN" sz="2400">
                  <a:solidFill>
                    <a:schemeClr val="bg1"/>
                  </a:solidFill>
                  <a:cs typeface="+mn-ea"/>
                  <a:sym typeface="+mn-lt"/>
                </a:rPr>
                <a:t>.</a:t>
              </a:r>
              <a:r>
                <a:rPr lang="zh-CN" altLang="en-US" sz="2400">
                  <a:solidFill>
                    <a:schemeClr val="bg1"/>
                  </a:solidFill>
                  <a:cs typeface="+mn-ea"/>
                  <a:sym typeface="+mn-lt"/>
                </a:rPr>
                <a:t>如何有效的避免被警告</a:t>
              </a:r>
              <a:endParaRPr lang="zh-CN" altLang="en-US" sz="2400">
                <a:solidFill>
                  <a:schemeClr val="bg1"/>
                </a:solidFill>
                <a:cs typeface="+mn-ea"/>
                <a:sym typeface="+mn-lt"/>
              </a:endParaRPr>
            </a:p>
          </p:txBody>
        </p:sp>
        <p:sp>
          <p:nvSpPr>
            <p:cNvPr id="10" name="椭圆 9"/>
            <p:cNvSpPr/>
            <p:nvPr/>
          </p:nvSpPr>
          <p:spPr>
            <a:xfrm>
              <a:off x="4276192" y="1915989"/>
              <a:ext cx="3662882" cy="366288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 name="图片 3" descr="574e9258d109b3de3ae1d1caccbf6c81800a4c31"/>
          <p:cNvPicPr>
            <a:picLocks noChangeAspect="1"/>
          </p:cNvPicPr>
          <p:nvPr/>
        </p:nvPicPr>
        <p:blipFill>
          <a:blip r:embed="rId1"/>
          <a:stretch>
            <a:fillRect/>
          </a:stretch>
        </p:blipFill>
        <p:spPr>
          <a:xfrm>
            <a:off x="-251460" y="0"/>
            <a:ext cx="1247775" cy="1247775"/>
          </a:xfrm>
          <a:prstGeom prst="rect">
            <a:avLst/>
          </a:prstGeom>
        </p:spPr>
      </p:pic>
      <p:sp>
        <p:nvSpPr>
          <p:cNvPr id="2" name="标题 1"/>
          <p:cNvSpPr>
            <a:spLocks noGrp="1"/>
          </p:cNvSpPr>
          <p:nvPr>
            <p:ph type="title"/>
          </p:nvPr>
        </p:nvSpPr>
        <p:spPr>
          <a:xfrm>
            <a:off x="964565" y="190500"/>
            <a:ext cx="10487660" cy="866775"/>
          </a:xfrm>
        </p:spPr>
        <p:txBody>
          <a:bodyPr>
            <a:normAutofit/>
          </a:bodyPr>
          <a:p>
            <a:r>
              <a:rPr lang="en-US" altLang="zh-CN">
                <a:solidFill>
                  <a:schemeClr val="bg1"/>
                </a:solidFill>
                <a:sym typeface="+mn-ea"/>
              </a:rPr>
              <a:t>Performance notifications</a:t>
            </a:r>
            <a:endParaRPr lang="zh-CN" altLang="en-US" spc="100" dirty="0" smtClean="0">
              <a:latin typeface="锐字工房云字库锐倩GBK" panose="02010604000000000000" charset="-122"/>
              <a:ea typeface="锐字工房云字库锐倩GBK" panose="02010604000000000000" charset="-122"/>
              <a:cs typeface="Lato Light" charset="0"/>
              <a:sym typeface="Lato Light" charset="0"/>
            </a:endParaRPr>
          </a:p>
        </p:txBody>
      </p:sp>
    </p:spTree>
  </p:cSld>
  <p:clrMapOvr>
    <a:masterClrMapping/>
  </p:clrMapOvr>
  <mc:AlternateContent xmlns:mc="http://schemas.openxmlformats.org/markup-compatibility/2006">
    <mc:Choice xmlns:p14="http://schemas.microsoft.com/office/powerpoint/2010/main" Requires="p14">
      <p:transition spd="slow" p14:dur="900">
        <p:random/>
      </p:transition>
    </mc:Choice>
    <mc:Fallback>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5"/>
          <p:cNvSpPr txBox="1"/>
          <p:nvPr/>
        </p:nvSpPr>
        <p:spPr>
          <a:xfrm>
            <a:off x="1563389" y="2430107"/>
            <a:ext cx="9439898" cy="1046428"/>
          </a:xfrm>
          <a:prstGeom prst="rect">
            <a:avLst/>
          </a:prstGeom>
          <a:noFill/>
        </p:spPr>
        <p:txBody>
          <a:bodyPr wrap="square" lIns="121908" tIns="60954" rIns="121908" bIns="60954" rtlCol="0">
            <a:spAutoFit/>
          </a:bodyPr>
          <a:lstStyle/>
          <a:p>
            <a:pPr algn="ctr"/>
            <a:r>
              <a:rPr lang="zh-CN" altLang="en-US" sz="6000" b="1" dirty="0" smtClean="0">
                <a:ln w="12700">
                  <a:noFill/>
                  <a:prstDash val="solid"/>
                </a:ln>
                <a:solidFill>
                  <a:srgbClr val="384B5A"/>
                </a:solidFill>
                <a:latin typeface="+mj-ea"/>
              </a:rPr>
              <a:t>感谢您的观看</a:t>
            </a:r>
            <a:endParaRPr lang="zh-CN" altLang="en-US" sz="6000" b="1" dirty="0">
              <a:ln w="12700">
                <a:noFill/>
                <a:prstDash val="solid"/>
              </a:ln>
              <a:solidFill>
                <a:srgbClr val="384B5A"/>
              </a:solidFill>
              <a:latin typeface="+mj-ea"/>
            </a:endParaRPr>
          </a:p>
        </p:txBody>
      </p:sp>
      <p:sp>
        <p:nvSpPr>
          <p:cNvPr id="4" name="矩形 3"/>
          <p:cNvSpPr/>
          <p:nvPr/>
        </p:nvSpPr>
        <p:spPr>
          <a:xfrm>
            <a:off x="1501140" y="4088765"/>
            <a:ext cx="9189720" cy="460375"/>
          </a:xfrm>
          <a:prstGeom prst="rect">
            <a:avLst/>
          </a:prstGeom>
          <a:effectLst>
            <a:outerShdw blurRad="50800" dist="38100" dir="5400000" algn="t" rotWithShape="0">
              <a:prstClr val="black">
                <a:alpha val="40000"/>
              </a:prstClr>
            </a:outerShdw>
          </a:effectLst>
        </p:spPr>
        <p:txBody>
          <a:bodyPr wrap="square">
            <a:spAutoFit/>
          </a:bodyPr>
          <a:lstStyle/>
          <a:p>
            <a:pPr algn="ctr"/>
            <a:r>
              <a:rPr lang="zh-CN" altLang="en-US" sz="2400" dirty="0">
                <a:solidFill>
                  <a:schemeClr val="tx1">
                    <a:lumMod val="75000"/>
                    <a:lumOff val="25000"/>
                  </a:schemeClr>
                </a:solidFill>
                <a:latin typeface="华文隶书" panose="02010800040101010101" charset="-122"/>
                <a:ea typeface="华文隶书" panose="02010800040101010101" charset="-122"/>
                <a:sym typeface="+mn-ea"/>
              </a:rPr>
              <a:t>Never let success get to your head,and never let failure get to your heart.</a:t>
            </a:r>
            <a:endParaRPr lang="zh-CN" altLang="en-US" sz="2400" dirty="0">
              <a:solidFill>
                <a:schemeClr val="tx1">
                  <a:lumMod val="75000"/>
                  <a:lumOff val="25000"/>
                </a:schemeClr>
              </a:solidFill>
              <a:latin typeface="华文隶书" panose="02010800040101010101" charset="-122"/>
              <a:ea typeface="华文隶书" panose="02010800040101010101" charset="-122"/>
              <a:sym typeface="+mn-ea"/>
            </a:endParaRPr>
          </a:p>
        </p:txBody>
      </p:sp>
      <p:sp>
        <p:nvSpPr>
          <p:cNvPr id="5" name="矩形 4"/>
          <p:cNvSpPr/>
          <p:nvPr/>
        </p:nvSpPr>
        <p:spPr>
          <a:xfrm rot="1620000">
            <a:off x="7947025" y="889000"/>
            <a:ext cx="4205605" cy="1198880"/>
          </a:xfrm>
          <a:prstGeom prst="rect">
            <a:avLst/>
          </a:prstGeom>
          <a:noFill/>
          <a:ln>
            <a:noFill/>
          </a:ln>
        </p:spPr>
        <p:txBody>
          <a:bodyPr wrap="square" rtlCol="0" anchor="t">
            <a:spAutoFit/>
          </a:bodyPr>
          <a:p>
            <a:pPr algn="ctr"/>
            <a:r>
              <a:rPr lang="zh-CN" altLang="en-US" sz="7200">
                <a:gradFill>
                  <a:gsLst>
                    <a:gs pos="21000">
                      <a:srgbClr val="53575C"/>
                    </a:gs>
                    <a:gs pos="88000">
                      <a:srgbClr val="C5C7CA"/>
                    </a:gs>
                  </a:gsLst>
                  <a:lin ang="5400000"/>
                </a:gradFill>
                <a:effectLst/>
                <a:sym typeface="+mn-ea"/>
              </a:rPr>
              <a:t>孟    想</a:t>
            </a:r>
            <a:endParaRPr lang="zh-CN" altLang="en-US" sz="7200">
              <a:solidFill>
                <a:schemeClr val="bg2">
                  <a:alpha val="60000"/>
                </a:schemeClr>
              </a:solidFill>
              <a:effectLst>
                <a:innerShdw blurRad="63500" dist="50800" dir="13500000">
                  <a:srgbClr val="000000">
                    <a:alpha val="50000"/>
                  </a:srgbClr>
                </a:inn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26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26000">
                                          <p:cBhvr additive="base">
                                            <p:cTn id="7" dur="750" fill="hold"/>
                                            <p:tgtEl>
                                              <p:spTgt spid="3"/>
                                            </p:tgtEl>
                                            <p:attrNameLst>
                                              <p:attrName>ppt_x</p:attrName>
                                            </p:attrNameLst>
                                          </p:cBhvr>
                                          <p:tavLst>
                                            <p:tav tm="0">
                                              <p:val>
                                                <p:strVal val="0-#ppt_w/2"/>
                                              </p:val>
                                            </p:tav>
                                            <p:tav tm="100000">
                                              <p:val>
                                                <p:strVal val="#ppt_x"/>
                                              </p:val>
                                            </p:tav>
                                          </p:tavLst>
                                        </p:anim>
                                        <p:anim calcmode="lin" valueType="num" p14:bounceEnd="26000">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ldLvl="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ldLvl="0" animBg="1"/>
        </p:bldLst>
      </p:timing>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占位符 3" descr="5"/>
          <p:cNvPicPr>
            <a:picLocks noChangeAspect="1"/>
          </p:cNvPicPr>
          <p:nvPr>
            <p:ph type="pic" sz="quarter" idx="13"/>
          </p:nvPr>
        </p:nvPicPr>
        <p:blipFill>
          <a:blip r:embed="rId1"/>
          <a:stretch>
            <a:fillRect/>
          </a:stretch>
        </p:blipFill>
        <p:spPr>
          <a:xfrm>
            <a:off x="-65405" y="-62230"/>
            <a:ext cx="12312650" cy="7696200"/>
          </a:xfrm>
          <a:prstGeom prst="rect">
            <a:avLst/>
          </a:prstGeom>
        </p:spPr>
      </p:pic>
      <p:sp>
        <p:nvSpPr>
          <p:cNvPr id="28" name="Rectangle 27"/>
          <p:cNvSpPr/>
          <p:nvPr/>
        </p:nvSpPr>
        <p:spPr>
          <a:xfrm flipH="1">
            <a:off x="10478" y="3910105"/>
            <a:ext cx="12188825" cy="2947896"/>
          </a:xfrm>
          <a:prstGeom prst="rect">
            <a:avLst/>
          </a:prstGeom>
          <a:solidFill>
            <a:srgbClr val="19232E"/>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8" tIns="60949" rIns="121898" bIns="60949" rtlCol="0" anchor="ctr"/>
          <a:lstStyle/>
          <a:p>
            <a:pPr algn="ctr"/>
            <a:endParaRPr lang="en-US" sz="900" dirty="0">
              <a:latin typeface="+mn-ea"/>
            </a:endParaRPr>
          </a:p>
        </p:txBody>
      </p:sp>
      <p:sp>
        <p:nvSpPr>
          <p:cNvPr id="52" name="Subtitle 2"/>
          <p:cNvSpPr txBox="1"/>
          <p:nvPr/>
        </p:nvSpPr>
        <p:spPr>
          <a:xfrm>
            <a:off x="452955" y="5422000"/>
            <a:ext cx="3066146" cy="1374912"/>
          </a:xfrm>
          <a:prstGeom prst="rect">
            <a:avLst/>
          </a:prstGeom>
        </p:spPr>
        <p:txBody>
          <a:bodyPr vert="horz" lIns="121898" tIns="60949" rIns="121898" bIns="60949"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1600" b="1" dirty="0">
                <a:solidFill>
                  <a:schemeClr val="accent2"/>
                </a:solidFill>
                <a:latin typeface="+mn-ea"/>
                <a:cs typeface="Lato Regular" panose="02010600030101010101"/>
                <a:sym typeface="+mn-ea"/>
              </a:rPr>
              <a:t>邮箱</a:t>
            </a:r>
            <a:endParaRPr lang="zh-CN" altLang="en-US" sz="1600" b="1" dirty="0">
              <a:solidFill>
                <a:schemeClr val="accent2"/>
              </a:solidFill>
              <a:latin typeface="+mn-ea"/>
              <a:cs typeface="Lato Regular" panose="02010600030101010101"/>
              <a:sym typeface="+mn-ea"/>
            </a:endParaRPr>
          </a:p>
          <a:p>
            <a:pPr marL="0" indent="0" algn="ctr">
              <a:buNone/>
            </a:pPr>
            <a:endParaRPr lang="zh-CN" altLang="en-US" sz="1350" dirty="0">
              <a:solidFill>
                <a:schemeClr val="bg1"/>
              </a:solidFill>
              <a:latin typeface="+mn-ea"/>
              <a:cs typeface="Calibri Light" panose="020F0302020204030204"/>
            </a:endParaRPr>
          </a:p>
          <a:p>
            <a:pPr marL="0" indent="0" algn="ctr">
              <a:buNone/>
            </a:pPr>
            <a:r>
              <a:rPr lang="en-US" sz="1350" dirty="0">
                <a:solidFill>
                  <a:schemeClr val="bg1"/>
                </a:solidFill>
                <a:latin typeface="+mn-ea"/>
                <a:cs typeface="Calibri Light" panose="020F0302020204030204"/>
              </a:rPr>
              <a:t>E</a:t>
            </a:r>
            <a:r>
              <a:rPr lang="zh-CN" altLang="en-US" sz="1350" dirty="0">
                <a:solidFill>
                  <a:schemeClr val="bg1"/>
                </a:solidFill>
                <a:latin typeface="+mn-ea"/>
                <a:cs typeface="Calibri Light" panose="020F0302020204030204"/>
              </a:rPr>
              <a:t>：</a:t>
            </a:r>
            <a:r>
              <a:rPr lang="en-US" altLang="zh-CN" sz="1350" b="1" dirty="0">
                <a:solidFill>
                  <a:schemeClr val="bg1"/>
                </a:solidFill>
                <a:latin typeface="+mn-ea"/>
                <a:cs typeface="Calibri Light" panose="020F0302020204030204"/>
              </a:rPr>
              <a:t>Whoopse</a:t>
            </a:r>
            <a:r>
              <a:rPr lang="zh-CN" altLang="en-US" sz="1350" b="1" dirty="0">
                <a:solidFill>
                  <a:schemeClr val="bg1"/>
                </a:solidFill>
                <a:latin typeface="+mn-ea"/>
                <a:cs typeface="Calibri Light" panose="020F0302020204030204"/>
              </a:rPr>
              <a:t>@</a:t>
            </a:r>
            <a:r>
              <a:rPr lang="en-US" altLang="zh-CN" sz="1350" b="1" dirty="0">
                <a:solidFill>
                  <a:schemeClr val="bg1"/>
                </a:solidFill>
                <a:latin typeface="+mn-ea"/>
                <a:cs typeface="Calibri Light" panose="020F0302020204030204"/>
              </a:rPr>
              <a:t>163</a:t>
            </a:r>
            <a:r>
              <a:rPr lang="zh-CN" altLang="en-US" sz="1350" b="1" dirty="0">
                <a:solidFill>
                  <a:schemeClr val="bg1"/>
                </a:solidFill>
                <a:latin typeface="+mn-ea"/>
                <a:cs typeface="Calibri Light" panose="020F0302020204030204"/>
              </a:rPr>
              <a:t>.com</a:t>
            </a:r>
            <a:endParaRPr lang="zh-CN" altLang="en-US" sz="1350" b="1" dirty="0">
              <a:solidFill>
                <a:schemeClr val="bg1"/>
              </a:solidFill>
              <a:latin typeface="+mn-ea"/>
              <a:cs typeface="Calibri Light" panose="020F0302020204030204"/>
            </a:endParaRPr>
          </a:p>
        </p:txBody>
      </p:sp>
      <p:sp>
        <p:nvSpPr>
          <p:cNvPr id="53" name="Subtitle 2"/>
          <p:cNvSpPr txBox="1"/>
          <p:nvPr/>
        </p:nvSpPr>
        <p:spPr>
          <a:xfrm>
            <a:off x="4557178" y="5407089"/>
            <a:ext cx="3066146" cy="1374912"/>
          </a:xfrm>
          <a:prstGeom prst="rect">
            <a:avLst/>
          </a:prstGeom>
        </p:spPr>
        <p:txBody>
          <a:bodyPr vert="horz" lIns="121898" tIns="60949" rIns="121898" bIns="60949"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1600" b="1" dirty="0">
                <a:solidFill>
                  <a:schemeClr val="accent2"/>
                </a:solidFill>
                <a:latin typeface="+mn-ea"/>
                <a:cs typeface="Lato Regular" panose="02010600030101010101"/>
              </a:rPr>
              <a:t>电话</a:t>
            </a:r>
            <a:endParaRPr lang="zh-CN" altLang="en-US" sz="1600" b="1" dirty="0">
              <a:solidFill>
                <a:schemeClr val="accent2"/>
              </a:solidFill>
              <a:latin typeface="+mn-ea"/>
              <a:cs typeface="Lato Regular" panose="02010600030101010101"/>
            </a:endParaRPr>
          </a:p>
          <a:p>
            <a:pPr marL="0" indent="0" algn="ctr">
              <a:buNone/>
            </a:pPr>
            <a:endParaRPr lang="zh-CN" altLang="en-US" sz="1600" b="1" dirty="0">
              <a:solidFill>
                <a:schemeClr val="accent2"/>
              </a:solidFill>
              <a:latin typeface="+mn-ea"/>
              <a:cs typeface="Lato Regular" panose="02010600030101010101"/>
            </a:endParaRPr>
          </a:p>
          <a:p>
            <a:pPr marL="0" indent="0" algn="ctr">
              <a:buNone/>
            </a:pPr>
            <a:r>
              <a:rPr lang="en-US" altLang="zh-CN" sz="1350" b="1" dirty="0">
                <a:solidFill>
                  <a:schemeClr val="bg1"/>
                </a:solidFill>
                <a:latin typeface="+mn-ea"/>
                <a:cs typeface="Calibri Light" panose="020F0302020204030204"/>
              </a:rPr>
              <a:t>Phone</a:t>
            </a:r>
            <a:r>
              <a:rPr lang="zh-CN" altLang="en-US" sz="1350" b="1" dirty="0">
                <a:solidFill>
                  <a:schemeClr val="bg1"/>
                </a:solidFill>
                <a:latin typeface="+mn-ea"/>
                <a:cs typeface="Calibri Light" panose="020F0302020204030204"/>
                <a:sym typeface="+mn-ea"/>
              </a:rPr>
              <a:t>:</a:t>
            </a:r>
            <a:r>
              <a:rPr lang="en-US" sz="1350" b="1" dirty="0">
                <a:solidFill>
                  <a:schemeClr val="bg1"/>
                </a:solidFill>
                <a:latin typeface="+mn-ea"/>
                <a:cs typeface="Calibri Light" panose="020F0302020204030204"/>
              </a:rPr>
              <a:t> +135-7022-2326</a:t>
            </a:r>
            <a:endParaRPr lang="en-US" altLang="zh-CN" sz="1350" b="1" dirty="0">
              <a:solidFill>
                <a:schemeClr val="bg1"/>
              </a:solidFill>
              <a:latin typeface="+mn-ea"/>
              <a:cs typeface="Calibri Light" panose="020F0302020204030204"/>
            </a:endParaRPr>
          </a:p>
          <a:p>
            <a:pPr marL="0" indent="0" algn="ctr">
              <a:buNone/>
            </a:pPr>
            <a:endParaRPr lang="en-US" sz="1350" dirty="0">
              <a:solidFill>
                <a:schemeClr val="bg1"/>
              </a:solidFill>
              <a:latin typeface="+mn-ea"/>
              <a:cs typeface="Calibri Light" panose="020F0302020204030204"/>
            </a:endParaRPr>
          </a:p>
        </p:txBody>
      </p:sp>
      <p:sp>
        <p:nvSpPr>
          <p:cNvPr id="54" name="Subtitle 2"/>
          <p:cNvSpPr txBox="1"/>
          <p:nvPr/>
        </p:nvSpPr>
        <p:spPr>
          <a:xfrm>
            <a:off x="8362508" y="5422028"/>
            <a:ext cx="3066146" cy="1374912"/>
          </a:xfrm>
          <a:prstGeom prst="rect">
            <a:avLst/>
          </a:prstGeom>
        </p:spPr>
        <p:txBody>
          <a:bodyPr vert="horz" lIns="121898" tIns="60949" rIns="121898" bIns="60949"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zh-CN" altLang="en-US" sz="1600" b="1" dirty="0">
                <a:solidFill>
                  <a:schemeClr val="accent2"/>
                </a:solidFill>
                <a:latin typeface="+mn-ea"/>
                <a:cs typeface="Lato Regular" panose="02010600030101010101"/>
              </a:rPr>
              <a:t>社交平台</a:t>
            </a:r>
            <a:endParaRPr lang="zh-CN" altLang="en-US" sz="1600" b="1" dirty="0">
              <a:solidFill>
                <a:schemeClr val="accent2"/>
              </a:solidFill>
              <a:latin typeface="+mn-ea"/>
              <a:cs typeface="Lato Regular" panose="02010600030101010101"/>
            </a:endParaRPr>
          </a:p>
          <a:p>
            <a:pPr marL="0" indent="0" algn="ctr">
              <a:buNone/>
            </a:pPr>
            <a:endParaRPr lang="en-US" altLang="zh-CN" sz="1350" dirty="0">
              <a:solidFill>
                <a:schemeClr val="bg1"/>
              </a:solidFill>
              <a:latin typeface="+mn-ea"/>
              <a:cs typeface="Calibri Light" panose="020F0302020204030204"/>
            </a:endParaRPr>
          </a:p>
          <a:p>
            <a:pPr marL="0" indent="0" algn="ctr" fontAlgn="auto">
              <a:lnSpc>
                <a:spcPts val="2500"/>
              </a:lnSpc>
              <a:spcBef>
                <a:spcPts val="0"/>
              </a:spcBef>
              <a:buNone/>
            </a:pPr>
            <a:r>
              <a:rPr lang="zh-CN" altLang="en-US" sz="1350" b="1" dirty="0">
                <a:solidFill>
                  <a:schemeClr val="bg1"/>
                </a:solidFill>
                <a:latin typeface="+mn-ea"/>
                <a:cs typeface="Calibri Light" panose="020F0302020204030204"/>
              </a:rPr>
              <a:t>  Wechat: </a:t>
            </a:r>
            <a:r>
              <a:rPr lang="en-US" altLang="zh-CN" sz="1350" b="1" dirty="0">
                <a:solidFill>
                  <a:schemeClr val="bg1"/>
                </a:solidFill>
                <a:latin typeface="+mn-ea"/>
                <a:cs typeface="Calibri Light" panose="020F0302020204030204"/>
              </a:rPr>
              <a:t>MX5180</a:t>
            </a:r>
            <a:endParaRPr lang="en-US" altLang="zh-CN" sz="1350" b="1" dirty="0">
              <a:solidFill>
                <a:schemeClr val="bg1"/>
              </a:solidFill>
              <a:latin typeface="+mn-ea"/>
              <a:cs typeface="Calibri Light" panose="020F0302020204030204"/>
            </a:endParaRPr>
          </a:p>
          <a:p>
            <a:pPr marL="0" indent="0" algn="ctr" fontAlgn="auto">
              <a:lnSpc>
                <a:spcPts val="2500"/>
              </a:lnSpc>
              <a:spcBef>
                <a:spcPts val="0"/>
              </a:spcBef>
              <a:buNone/>
            </a:pPr>
            <a:r>
              <a:rPr lang="en-US" sz="1350" b="1" dirty="0">
                <a:solidFill>
                  <a:schemeClr val="bg1"/>
                </a:solidFill>
                <a:latin typeface="+mn-ea"/>
                <a:cs typeface="Calibri Light" panose="020F0302020204030204"/>
              </a:rPr>
              <a:t>QQ</a:t>
            </a:r>
            <a:r>
              <a:rPr lang="zh-CN" altLang="en-US" sz="1350" b="1" dirty="0">
                <a:solidFill>
                  <a:schemeClr val="bg1"/>
                </a:solidFill>
                <a:latin typeface="+mn-ea"/>
                <a:cs typeface="Calibri Light" panose="020F0302020204030204"/>
                <a:sym typeface="+mn-ea"/>
              </a:rPr>
              <a:t>: </a:t>
            </a:r>
            <a:r>
              <a:rPr lang="en-US" altLang="zh-CN" sz="1350" b="1" dirty="0">
                <a:solidFill>
                  <a:schemeClr val="bg1"/>
                </a:solidFill>
                <a:latin typeface="+mn-ea"/>
                <a:cs typeface="Calibri Light" panose="020F0302020204030204"/>
              </a:rPr>
              <a:t>940109892</a:t>
            </a:r>
            <a:endParaRPr lang="en-US" altLang="zh-CN" sz="1350" b="1" dirty="0">
              <a:solidFill>
                <a:schemeClr val="bg1"/>
              </a:solidFill>
              <a:latin typeface="+mn-ea"/>
              <a:cs typeface="Calibri Light" panose="020F0302020204030204"/>
            </a:endParaRPr>
          </a:p>
        </p:txBody>
      </p:sp>
      <p:grpSp>
        <p:nvGrpSpPr>
          <p:cNvPr id="32" name="Group 31"/>
          <p:cNvGrpSpPr/>
          <p:nvPr/>
        </p:nvGrpSpPr>
        <p:grpSpPr>
          <a:xfrm>
            <a:off x="871374" y="4109168"/>
            <a:ext cx="10468769" cy="1312938"/>
            <a:chOff x="1739573" y="511491"/>
            <a:chExt cx="20937538" cy="2625876"/>
          </a:xfrm>
        </p:grpSpPr>
        <p:sp>
          <p:nvSpPr>
            <p:cNvPr id="33" name="TextBox 32"/>
            <p:cNvSpPr txBox="1"/>
            <p:nvPr/>
          </p:nvSpPr>
          <p:spPr>
            <a:xfrm>
              <a:off x="1739573" y="511491"/>
              <a:ext cx="20937538" cy="1536700"/>
            </a:xfrm>
            <a:prstGeom prst="rect">
              <a:avLst/>
            </a:prstGeom>
            <a:noFill/>
          </p:spPr>
          <p:txBody>
            <a:bodyPr wrap="square" rtlCol="0">
              <a:spAutoFit/>
            </a:bodyPr>
            <a:lstStyle/>
            <a:p>
              <a:pPr algn="ctr"/>
              <a:r>
                <a:rPr lang="en-US" altLang="zh-CN" sz="4400" dirty="0">
                  <a:solidFill>
                    <a:schemeClr val="bg1"/>
                  </a:solidFill>
                  <a:latin typeface="+mn-ea"/>
                  <a:cs typeface="Calibri Light" panose="020F0302020204030204"/>
                  <a:sym typeface="+mn-ea"/>
                </a:rPr>
                <a:t>CONTACT ME</a:t>
              </a:r>
              <a:endParaRPr lang="id-ID" sz="4400" b="1" dirty="0">
                <a:solidFill>
                  <a:schemeClr val="bg1"/>
                </a:solidFill>
                <a:latin typeface="+mn-ea"/>
                <a:cs typeface="Lato Regular" panose="02010600030101010101"/>
              </a:endParaRPr>
            </a:p>
          </p:txBody>
        </p:sp>
        <p:grpSp>
          <p:nvGrpSpPr>
            <p:cNvPr id="34" name="Group 33"/>
            <p:cNvGrpSpPr/>
            <p:nvPr/>
          </p:nvGrpSpPr>
          <p:grpSpPr>
            <a:xfrm>
              <a:off x="10842089" y="1977406"/>
              <a:ext cx="2738812" cy="73151"/>
              <a:chOff x="1775295" y="2020905"/>
              <a:chExt cx="3631535" cy="45719"/>
            </a:xfrm>
          </p:grpSpPr>
          <p:sp>
            <p:nvSpPr>
              <p:cNvPr id="36" name="Rectangle 35"/>
              <p:cNvSpPr/>
              <p:nvPr/>
            </p:nvSpPr>
            <p:spPr>
              <a:xfrm flipV="1">
                <a:off x="1775295" y="2020905"/>
                <a:ext cx="540354"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121898" tIns="60949" rIns="121898" bIns="60949" rtlCol="0" anchor="ctr"/>
              <a:lstStyle/>
              <a:p>
                <a:pPr algn="ctr"/>
                <a:endParaRPr lang="en-US" sz="900" dirty="0">
                  <a:latin typeface="+mn-ea"/>
                </a:endParaRPr>
              </a:p>
            </p:txBody>
          </p:sp>
          <p:sp>
            <p:nvSpPr>
              <p:cNvPr id="37" name="Rectangle 36"/>
              <p:cNvSpPr/>
              <p:nvPr/>
            </p:nvSpPr>
            <p:spPr>
              <a:xfrm flipV="1">
                <a:off x="2390858" y="2020905"/>
                <a:ext cx="54035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121898" tIns="60949" rIns="121898" bIns="60949" rtlCol="0" anchor="ctr"/>
              <a:lstStyle/>
              <a:p>
                <a:pPr algn="ctr"/>
                <a:endParaRPr lang="en-US" sz="900" dirty="0">
                  <a:latin typeface="+mn-ea"/>
                </a:endParaRPr>
              </a:p>
            </p:txBody>
          </p:sp>
          <p:sp>
            <p:nvSpPr>
              <p:cNvPr id="38" name="Rectangle 37"/>
              <p:cNvSpPr/>
              <p:nvPr/>
            </p:nvSpPr>
            <p:spPr>
              <a:xfrm flipV="1">
                <a:off x="3025595" y="2020905"/>
                <a:ext cx="540354" cy="45719"/>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lIns="121898" tIns="60949" rIns="121898" bIns="60949" rtlCol="0" anchor="ctr"/>
              <a:lstStyle/>
              <a:p>
                <a:pPr algn="ctr"/>
                <a:endParaRPr lang="en-US" sz="900" dirty="0">
                  <a:latin typeface="+mn-ea"/>
                </a:endParaRPr>
              </a:p>
            </p:txBody>
          </p:sp>
          <p:sp>
            <p:nvSpPr>
              <p:cNvPr id="39" name="Rectangle 38"/>
              <p:cNvSpPr/>
              <p:nvPr/>
            </p:nvSpPr>
            <p:spPr>
              <a:xfrm flipV="1">
                <a:off x="3641290" y="2020905"/>
                <a:ext cx="54035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121898" tIns="60949" rIns="121898" bIns="60949" rtlCol="0" anchor="ctr"/>
              <a:lstStyle/>
              <a:p>
                <a:pPr algn="ctr"/>
                <a:endParaRPr lang="en-US" sz="900" dirty="0">
                  <a:latin typeface="+mn-ea"/>
                </a:endParaRPr>
              </a:p>
            </p:txBody>
          </p:sp>
          <p:sp>
            <p:nvSpPr>
              <p:cNvPr id="40" name="Rectangle 39"/>
              <p:cNvSpPr/>
              <p:nvPr/>
            </p:nvSpPr>
            <p:spPr>
              <a:xfrm flipV="1">
                <a:off x="4256852" y="2020905"/>
                <a:ext cx="540354" cy="45719"/>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lIns="121898" tIns="60949" rIns="121898" bIns="60949" rtlCol="0" anchor="ctr"/>
              <a:lstStyle/>
              <a:p>
                <a:pPr algn="ctr"/>
                <a:endParaRPr lang="en-US" sz="900" dirty="0">
                  <a:latin typeface="+mn-ea"/>
                </a:endParaRPr>
              </a:p>
            </p:txBody>
          </p:sp>
          <p:sp>
            <p:nvSpPr>
              <p:cNvPr id="41" name="Rectangle 40"/>
              <p:cNvSpPr/>
              <p:nvPr/>
            </p:nvSpPr>
            <p:spPr>
              <a:xfrm flipV="1">
                <a:off x="4866476" y="2020905"/>
                <a:ext cx="540354" cy="45719"/>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lIns="121898" tIns="60949" rIns="121898" bIns="60949" rtlCol="0" anchor="ctr"/>
              <a:lstStyle/>
              <a:p>
                <a:pPr algn="ctr"/>
                <a:endParaRPr lang="en-US" sz="900" dirty="0">
                  <a:latin typeface="+mn-ea"/>
                </a:endParaRPr>
              </a:p>
            </p:txBody>
          </p:sp>
        </p:grpSp>
        <p:sp>
          <p:nvSpPr>
            <p:cNvPr id="35" name="TextBox 34"/>
            <p:cNvSpPr txBox="1"/>
            <p:nvPr/>
          </p:nvSpPr>
          <p:spPr>
            <a:xfrm>
              <a:off x="1739573" y="2370287"/>
              <a:ext cx="20937538" cy="767080"/>
            </a:xfrm>
            <a:prstGeom prst="rect">
              <a:avLst/>
            </a:prstGeom>
            <a:noFill/>
          </p:spPr>
          <p:txBody>
            <a:bodyPr wrap="square" rtlCol="0">
              <a:spAutoFit/>
            </a:bodyPr>
            <a:lstStyle/>
            <a:p>
              <a:pPr algn="ctr"/>
              <a:r>
                <a:rPr lang="en-US" altLang="zh-CN" sz="1900" b="1" dirty="0">
                  <a:solidFill>
                    <a:schemeClr val="bg1"/>
                  </a:solidFill>
                  <a:latin typeface="+mn-ea"/>
                  <a:cs typeface="Calibri Light" panose="020F0302020204030204"/>
                </a:rPr>
                <a:t>Amazon Training Lecturer</a:t>
              </a:r>
              <a:endParaRPr lang="en-US" altLang="zh-CN" sz="1900" b="1" dirty="0">
                <a:solidFill>
                  <a:schemeClr val="bg1"/>
                </a:solidFill>
                <a:latin typeface="+mn-ea"/>
                <a:cs typeface="Calibri Light" panose="020F0302020204030204"/>
              </a:endParaRPr>
            </a:p>
          </p:txBody>
        </p:sp>
      </p:grpSp>
      <p:sp>
        <p:nvSpPr>
          <p:cNvPr id="25" name="Freeform 271"/>
          <p:cNvSpPr>
            <a:spLocks noChangeArrowheads="1"/>
          </p:cNvSpPr>
          <p:nvPr/>
        </p:nvSpPr>
        <p:spPr bwMode="auto">
          <a:xfrm>
            <a:off x="732155" y="5955030"/>
            <a:ext cx="236220" cy="248285"/>
          </a:xfrm>
          <a:custGeom>
            <a:avLst/>
            <a:gdLst>
              <a:gd name="T0" fmla="*/ 23 w 909"/>
              <a:gd name="T1" fmla="*/ 292 h 916"/>
              <a:gd name="T2" fmla="*/ 23 w 909"/>
              <a:gd name="T3" fmla="*/ 292 h 916"/>
              <a:gd name="T4" fmla="*/ 0 w 909"/>
              <a:gd name="T5" fmla="*/ 332 h 916"/>
              <a:gd name="T6" fmla="*/ 0 w 909"/>
              <a:gd name="T7" fmla="*/ 863 h 916"/>
              <a:gd name="T8" fmla="*/ 51 w 909"/>
              <a:gd name="T9" fmla="*/ 915 h 916"/>
              <a:gd name="T10" fmla="*/ 862 w 909"/>
              <a:gd name="T11" fmla="*/ 915 h 916"/>
              <a:gd name="T12" fmla="*/ 908 w 909"/>
              <a:gd name="T13" fmla="*/ 863 h 916"/>
              <a:gd name="T14" fmla="*/ 908 w 909"/>
              <a:gd name="T15" fmla="*/ 332 h 916"/>
              <a:gd name="T16" fmla="*/ 885 w 909"/>
              <a:gd name="T17" fmla="*/ 292 h 916"/>
              <a:gd name="T18" fmla="*/ 480 w 909"/>
              <a:gd name="T19" fmla="*/ 12 h 916"/>
              <a:gd name="T20" fmla="*/ 434 w 909"/>
              <a:gd name="T21" fmla="*/ 12 h 916"/>
              <a:gd name="T22" fmla="*/ 23 w 909"/>
              <a:gd name="T23" fmla="*/ 292 h 916"/>
              <a:gd name="T24" fmla="*/ 74 w 909"/>
              <a:gd name="T25" fmla="*/ 429 h 916"/>
              <a:gd name="T26" fmla="*/ 74 w 909"/>
              <a:gd name="T27" fmla="*/ 429 h 916"/>
              <a:gd name="T28" fmla="*/ 314 w 909"/>
              <a:gd name="T29" fmla="*/ 595 h 916"/>
              <a:gd name="T30" fmla="*/ 74 w 909"/>
              <a:gd name="T31" fmla="*/ 755 h 916"/>
              <a:gd name="T32" fmla="*/ 74 w 909"/>
              <a:gd name="T33" fmla="*/ 429 h 916"/>
              <a:gd name="T34" fmla="*/ 377 w 909"/>
              <a:gd name="T35" fmla="*/ 549 h 916"/>
              <a:gd name="T36" fmla="*/ 377 w 909"/>
              <a:gd name="T37" fmla="*/ 549 h 916"/>
              <a:gd name="T38" fmla="*/ 74 w 909"/>
              <a:gd name="T39" fmla="*/ 343 h 916"/>
              <a:gd name="T40" fmla="*/ 457 w 909"/>
              <a:gd name="T41" fmla="*/ 81 h 916"/>
              <a:gd name="T42" fmla="*/ 840 w 909"/>
              <a:gd name="T43" fmla="*/ 338 h 916"/>
              <a:gd name="T44" fmla="*/ 537 w 909"/>
              <a:gd name="T45" fmla="*/ 549 h 916"/>
              <a:gd name="T46" fmla="*/ 480 w 909"/>
              <a:gd name="T47" fmla="*/ 509 h 916"/>
              <a:gd name="T48" fmla="*/ 434 w 909"/>
              <a:gd name="T49" fmla="*/ 509 h 916"/>
              <a:gd name="T50" fmla="*/ 377 w 909"/>
              <a:gd name="T51" fmla="*/ 549 h 916"/>
              <a:gd name="T52" fmla="*/ 600 w 909"/>
              <a:gd name="T53" fmla="*/ 595 h 916"/>
              <a:gd name="T54" fmla="*/ 600 w 909"/>
              <a:gd name="T55" fmla="*/ 595 h 916"/>
              <a:gd name="T56" fmla="*/ 840 w 909"/>
              <a:gd name="T57" fmla="*/ 423 h 916"/>
              <a:gd name="T58" fmla="*/ 840 w 909"/>
              <a:gd name="T59" fmla="*/ 760 h 916"/>
              <a:gd name="T60" fmla="*/ 600 w 909"/>
              <a:gd name="T61" fmla="*/ 595 h 916"/>
              <a:gd name="T62" fmla="*/ 840 w 909"/>
              <a:gd name="T63" fmla="*/ 840 h 916"/>
              <a:gd name="T64" fmla="*/ 840 w 909"/>
              <a:gd name="T65" fmla="*/ 840 h 916"/>
              <a:gd name="T66" fmla="*/ 457 w 909"/>
              <a:gd name="T67" fmla="*/ 583 h 916"/>
              <a:gd name="T68" fmla="*/ 74 w 909"/>
              <a:gd name="T69" fmla="*/ 840 h 916"/>
              <a:gd name="T70" fmla="*/ 840 w 909"/>
              <a:gd name="T71" fmla="*/ 840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9" h="916">
                <a:moveTo>
                  <a:pt x="23" y="292"/>
                </a:moveTo>
                <a:lnTo>
                  <a:pt x="23" y="292"/>
                </a:lnTo>
                <a:cubicBezTo>
                  <a:pt x="11" y="303"/>
                  <a:pt x="0" y="315"/>
                  <a:pt x="0" y="332"/>
                </a:cubicBezTo>
                <a:cubicBezTo>
                  <a:pt x="0" y="509"/>
                  <a:pt x="0" y="686"/>
                  <a:pt x="0" y="863"/>
                </a:cubicBezTo>
                <a:cubicBezTo>
                  <a:pt x="0" y="892"/>
                  <a:pt x="23" y="915"/>
                  <a:pt x="51" y="915"/>
                </a:cubicBezTo>
                <a:cubicBezTo>
                  <a:pt x="862" y="915"/>
                  <a:pt x="862" y="915"/>
                  <a:pt x="862" y="915"/>
                </a:cubicBezTo>
                <a:cubicBezTo>
                  <a:pt x="891" y="915"/>
                  <a:pt x="908" y="892"/>
                  <a:pt x="908" y="863"/>
                </a:cubicBezTo>
                <a:cubicBezTo>
                  <a:pt x="908" y="686"/>
                  <a:pt x="908" y="509"/>
                  <a:pt x="908" y="332"/>
                </a:cubicBezTo>
                <a:cubicBezTo>
                  <a:pt x="908" y="315"/>
                  <a:pt x="902" y="298"/>
                  <a:pt x="885" y="292"/>
                </a:cubicBezTo>
                <a:cubicBezTo>
                  <a:pt x="480" y="12"/>
                  <a:pt x="480" y="12"/>
                  <a:pt x="480" y="12"/>
                </a:cubicBezTo>
                <a:cubicBezTo>
                  <a:pt x="463" y="0"/>
                  <a:pt x="445" y="0"/>
                  <a:pt x="434" y="12"/>
                </a:cubicBezTo>
                <a:lnTo>
                  <a:pt x="23" y="292"/>
                </a:lnTo>
                <a:close/>
                <a:moveTo>
                  <a:pt x="74" y="429"/>
                </a:moveTo>
                <a:lnTo>
                  <a:pt x="74" y="429"/>
                </a:lnTo>
                <a:cubicBezTo>
                  <a:pt x="314" y="595"/>
                  <a:pt x="314" y="595"/>
                  <a:pt x="314" y="595"/>
                </a:cubicBezTo>
                <a:cubicBezTo>
                  <a:pt x="74" y="755"/>
                  <a:pt x="74" y="755"/>
                  <a:pt x="74" y="755"/>
                </a:cubicBezTo>
                <a:lnTo>
                  <a:pt x="74" y="429"/>
                </a:lnTo>
                <a:close/>
                <a:moveTo>
                  <a:pt x="377" y="549"/>
                </a:moveTo>
                <a:lnTo>
                  <a:pt x="377" y="549"/>
                </a:lnTo>
                <a:cubicBezTo>
                  <a:pt x="74" y="343"/>
                  <a:pt x="74" y="343"/>
                  <a:pt x="74" y="343"/>
                </a:cubicBezTo>
                <a:cubicBezTo>
                  <a:pt x="457" y="81"/>
                  <a:pt x="457" y="81"/>
                  <a:pt x="457" y="81"/>
                </a:cubicBezTo>
                <a:cubicBezTo>
                  <a:pt x="840" y="338"/>
                  <a:pt x="840" y="338"/>
                  <a:pt x="840" y="338"/>
                </a:cubicBezTo>
                <a:cubicBezTo>
                  <a:pt x="537" y="549"/>
                  <a:pt x="537" y="549"/>
                  <a:pt x="537" y="549"/>
                </a:cubicBezTo>
                <a:cubicBezTo>
                  <a:pt x="480" y="509"/>
                  <a:pt x="480" y="509"/>
                  <a:pt x="480" y="509"/>
                </a:cubicBezTo>
                <a:cubicBezTo>
                  <a:pt x="463" y="503"/>
                  <a:pt x="445" y="503"/>
                  <a:pt x="434" y="509"/>
                </a:cubicBezTo>
                <a:lnTo>
                  <a:pt x="377" y="549"/>
                </a:lnTo>
                <a:close/>
                <a:moveTo>
                  <a:pt x="600" y="595"/>
                </a:moveTo>
                <a:lnTo>
                  <a:pt x="600" y="595"/>
                </a:lnTo>
                <a:cubicBezTo>
                  <a:pt x="840" y="423"/>
                  <a:pt x="840" y="423"/>
                  <a:pt x="840" y="423"/>
                </a:cubicBezTo>
                <a:cubicBezTo>
                  <a:pt x="840" y="760"/>
                  <a:pt x="840" y="760"/>
                  <a:pt x="840" y="760"/>
                </a:cubicBezTo>
                <a:lnTo>
                  <a:pt x="600" y="595"/>
                </a:lnTo>
                <a:close/>
                <a:moveTo>
                  <a:pt x="840" y="840"/>
                </a:moveTo>
                <a:lnTo>
                  <a:pt x="840" y="840"/>
                </a:lnTo>
                <a:cubicBezTo>
                  <a:pt x="457" y="583"/>
                  <a:pt x="457" y="583"/>
                  <a:pt x="457" y="583"/>
                </a:cubicBezTo>
                <a:cubicBezTo>
                  <a:pt x="74" y="840"/>
                  <a:pt x="74" y="840"/>
                  <a:pt x="74" y="840"/>
                </a:cubicBezTo>
                <a:lnTo>
                  <a:pt x="840" y="840"/>
                </a:lnTo>
                <a:close/>
              </a:path>
            </a:pathLst>
          </a:custGeom>
          <a:solidFill>
            <a:schemeClr val="bg1"/>
          </a:solidFill>
          <a:ln>
            <a:noFill/>
          </a:ln>
          <a:effectLst/>
        </p:spPr>
        <p:txBody>
          <a:bodyPr wrap="none" anchor="ctr"/>
          <a:p>
            <a:endParaRPr lang="en-US" dirty="0">
              <a:latin typeface="+mn-ea"/>
            </a:endParaRPr>
          </a:p>
        </p:txBody>
      </p:sp>
      <p:grpSp>
        <p:nvGrpSpPr>
          <p:cNvPr id="65" name="组合 64"/>
          <p:cNvGrpSpPr/>
          <p:nvPr/>
        </p:nvGrpSpPr>
        <p:grpSpPr>
          <a:xfrm>
            <a:off x="8789670" y="5980430"/>
            <a:ext cx="347980" cy="309245"/>
            <a:chOff x="10034414" y="-3616830"/>
            <a:chExt cx="755584" cy="756801"/>
          </a:xfrm>
          <a:solidFill>
            <a:schemeClr val="bg1"/>
          </a:solidFill>
        </p:grpSpPr>
        <p:sp>
          <p:nvSpPr>
            <p:cNvPr id="66" name="Freeform 50"/>
            <p:cNvSpPr/>
            <p:nvPr/>
          </p:nvSpPr>
          <p:spPr bwMode="auto">
            <a:xfrm>
              <a:off x="10452966" y="-3239647"/>
              <a:ext cx="48669" cy="43802"/>
            </a:xfrm>
            <a:custGeom>
              <a:avLst/>
              <a:gdLst>
                <a:gd name="T0" fmla="*/ 12 w 28"/>
                <a:gd name="T1" fmla="*/ 0 h 25"/>
                <a:gd name="T2" fmla="*/ 0 w 28"/>
                <a:gd name="T3" fmla="*/ 13 h 25"/>
                <a:gd name="T4" fmla="*/ 12 w 28"/>
                <a:gd name="T5" fmla="*/ 25 h 25"/>
                <a:gd name="T6" fmla="*/ 28 w 28"/>
                <a:gd name="T7" fmla="*/ 13 h 25"/>
                <a:gd name="T8" fmla="*/ 12 w 28"/>
                <a:gd name="T9" fmla="*/ 0 h 25"/>
              </a:gdLst>
              <a:ahLst/>
              <a:cxnLst>
                <a:cxn ang="0">
                  <a:pos x="T0" y="T1"/>
                </a:cxn>
                <a:cxn ang="0">
                  <a:pos x="T2" y="T3"/>
                </a:cxn>
                <a:cxn ang="0">
                  <a:pos x="T4" y="T5"/>
                </a:cxn>
                <a:cxn ang="0">
                  <a:pos x="T6" y="T7"/>
                </a:cxn>
                <a:cxn ang="0">
                  <a:pos x="T8" y="T9"/>
                </a:cxn>
              </a:cxnLst>
              <a:rect l="0" t="0" r="r" b="b"/>
              <a:pathLst>
                <a:path w="28" h="25">
                  <a:moveTo>
                    <a:pt x="12" y="0"/>
                  </a:moveTo>
                  <a:cubicBezTo>
                    <a:pt x="6" y="0"/>
                    <a:pt x="0" y="7"/>
                    <a:pt x="0" y="13"/>
                  </a:cubicBezTo>
                  <a:cubicBezTo>
                    <a:pt x="0" y="19"/>
                    <a:pt x="6" y="25"/>
                    <a:pt x="12" y="25"/>
                  </a:cubicBezTo>
                  <a:cubicBezTo>
                    <a:pt x="22" y="25"/>
                    <a:pt x="28" y="19"/>
                    <a:pt x="28" y="13"/>
                  </a:cubicBezTo>
                  <a:cubicBezTo>
                    <a:pt x="28" y="7"/>
                    <a:pt x="22"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mn-ea"/>
              </a:endParaRPr>
            </a:p>
          </p:txBody>
        </p:sp>
        <p:sp>
          <p:nvSpPr>
            <p:cNvPr id="67" name="Freeform 51"/>
            <p:cNvSpPr/>
            <p:nvPr/>
          </p:nvSpPr>
          <p:spPr bwMode="auto">
            <a:xfrm>
              <a:off x="10572205" y="-3239647"/>
              <a:ext cx="48669" cy="43802"/>
            </a:xfrm>
            <a:custGeom>
              <a:avLst/>
              <a:gdLst>
                <a:gd name="T0" fmla="*/ 12 w 28"/>
                <a:gd name="T1" fmla="*/ 0 h 25"/>
                <a:gd name="T2" fmla="*/ 0 w 28"/>
                <a:gd name="T3" fmla="*/ 13 h 25"/>
                <a:gd name="T4" fmla="*/ 12 w 28"/>
                <a:gd name="T5" fmla="*/ 25 h 25"/>
                <a:gd name="T6" fmla="*/ 28 w 28"/>
                <a:gd name="T7" fmla="*/ 13 h 25"/>
                <a:gd name="T8" fmla="*/ 12 w 28"/>
                <a:gd name="T9" fmla="*/ 0 h 25"/>
              </a:gdLst>
              <a:ahLst/>
              <a:cxnLst>
                <a:cxn ang="0">
                  <a:pos x="T0" y="T1"/>
                </a:cxn>
                <a:cxn ang="0">
                  <a:pos x="T2" y="T3"/>
                </a:cxn>
                <a:cxn ang="0">
                  <a:pos x="T4" y="T5"/>
                </a:cxn>
                <a:cxn ang="0">
                  <a:pos x="T6" y="T7"/>
                </a:cxn>
                <a:cxn ang="0">
                  <a:pos x="T8" y="T9"/>
                </a:cxn>
              </a:cxnLst>
              <a:rect l="0" t="0" r="r" b="b"/>
              <a:pathLst>
                <a:path w="28" h="25">
                  <a:moveTo>
                    <a:pt x="12" y="0"/>
                  </a:moveTo>
                  <a:cubicBezTo>
                    <a:pt x="6" y="0"/>
                    <a:pt x="0" y="7"/>
                    <a:pt x="0" y="13"/>
                  </a:cubicBezTo>
                  <a:cubicBezTo>
                    <a:pt x="0" y="19"/>
                    <a:pt x="6" y="25"/>
                    <a:pt x="12" y="25"/>
                  </a:cubicBezTo>
                  <a:cubicBezTo>
                    <a:pt x="21" y="25"/>
                    <a:pt x="28" y="19"/>
                    <a:pt x="28" y="13"/>
                  </a:cubicBezTo>
                  <a:cubicBezTo>
                    <a:pt x="28" y="7"/>
                    <a:pt x="21"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mn-ea"/>
              </a:endParaRPr>
            </a:p>
          </p:txBody>
        </p:sp>
        <p:sp>
          <p:nvSpPr>
            <p:cNvPr id="68" name="Oval 52"/>
            <p:cNvSpPr>
              <a:spLocks noChangeArrowheads="1"/>
            </p:cNvSpPr>
            <p:nvPr/>
          </p:nvSpPr>
          <p:spPr bwMode="auto">
            <a:xfrm>
              <a:off x="10221789" y="-3395386"/>
              <a:ext cx="58402" cy="5353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mn-ea"/>
              </a:endParaRPr>
            </a:p>
          </p:txBody>
        </p:sp>
        <p:sp>
          <p:nvSpPr>
            <p:cNvPr id="69" name="Oval 53"/>
            <p:cNvSpPr>
              <a:spLocks noChangeArrowheads="1"/>
            </p:cNvSpPr>
            <p:nvPr/>
          </p:nvSpPr>
          <p:spPr bwMode="auto">
            <a:xfrm>
              <a:off x="10371447" y="-3395386"/>
              <a:ext cx="59619" cy="5353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mn-ea"/>
              </a:endParaRPr>
            </a:p>
          </p:txBody>
        </p:sp>
        <p:sp>
          <p:nvSpPr>
            <p:cNvPr id="70" name="Freeform 54"/>
            <p:cNvSpPr>
              <a:spLocks noEditPoints="1"/>
            </p:cNvSpPr>
            <p:nvPr/>
          </p:nvSpPr>
          <p:spPr bwMode="auto">
            <a:xfrm>
              <a:off x="10034414" y="-3616830"/>
              <a:ext cx="755584" cy="756801"/>
            </a:xfrm>
            <a:custGeom>
              <a:avLst/>
              <a:gdLst>
                <a:gd name="T0" fmla="*/ 218 w 437"/>
                <a:gd name="T1" fmla="*/ 0 h 437"/>
                <a:gd name="T2" fmla="*/ 0 w 437"/>
                <a:gd name="T3" fmla="*/ 218 h 437"/>
                <a:gd name="T4" fmla="*/ 218 w 437"/>
                <a:gd name="T5" fmla="*/ 437 h 437"/>
                <a:gd name="T6" fmla="*/ 437 w 437"/>
                <a:gd name="T7" fmla="*/ 218 h 437"/>
                <a:gd name="T8" fmla="*/ 218 w 437"/>
                <a:gd name="T9" fmla="*/ 0 h 437"/>
                <a:gd name="T10" fmla="*/ 167 w 437"/>
                <a:gd name="T11" fmla="*/ 287 h 437"/>
                <a:gd name="T12" fmla="*/ 123 w 437"/>
                <a:gd name="T13" fmla="*/ 281 h 437"/>
                <a:gd name="T14" fmla="*/ 80 w 437"/>
                <a:gd name="T15" fmla="*/ 303 h 437"/>
                <a:gd name="T16" fmla="*/ 92 w 437"/>
                <a:gd name="T17" fmla="*/ 265 h 437"/>
                <a:gd name="T18" fmla="*/ 42 w 437"/>
                <a:gd name="T19" fmla="*/ 181 h 437"/>
                <a:gd name="T20" fmla="*/ 167 w 437"/>
                <a:gd name="T21" fmla="*/ 75 h 437"/>
                <a:gd name="T22" fmla="*/ 293 w 437"/>
                <a:gd name="T23" fmla="*/ 162 h 437"/>
                <a:gd name="T24" fmla="*/ 281 w 437"/>
                <a:gd name="T25" fmla="*/ 162 h 437"/>
                <a:gd name="T26" fmla="*/ 175 w 437"/>
                <a:gd name="T27" fmla="*/ 260 h 437"/>
                <a:gd name="T28" fmla="*/ 179 w 437"/>
                <a:gd name="T29" fmla="*/ 287 h 437"/>
                <a:gd name="T30" fmla="*/ 167 w 437"/>
                <a:gd name="T31" fmla="*/ 287 h 437"/>
                <a:gd name="T32" fmla="*/ 351 w 437"/>
                <a:gd name="T33" fmla="*/ 331 h 437"/>
                <a:gd name="T34" fmla="*/ 360 w 437"/>
                <a:gd name="T35" fmla="*/ 362 h 437"/>
                <a:gd name="T36" fmla="*/ 326 w 437"/>
                <a:gd name="T37" fmla="*/ 343 h 437"/>
                <a:gd name="T38" fmla="*/ 289 w 437"/>
                <a:gd name="T39" fmla="*/ 349 h 437"/>
                <a:gd name="T40" fmla="*/ 183 w 437"/>
                <a:gd name="T41" fmla="*/ 259 h 437"/>
                <a:gd name="T42" fmla="*/ 289 w 437"/>
                <a:gd name="T43" fmla="*/ 168 h 437"/>
                <a:gd name="T44" fmla="*/ 395 w 437"/>
                <a:gd name="T45" fmla="*/ 259 h 437"/>
                <a:gd name="T46" fmla="*/ 351 w 437"/>
                <a:gd name="T47" fmla="*/ 33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37" h="437">
                  <a:moveTo>
                    <a:pt x="218" y="0"/>
                  </a:moveTo>
                  <a:cubicBezTo>
                    <a:pt x="98" y="0"/>
                    <a:pt x="0" y="98"/>
                    <a:pt x="0" y="218"/>
                  </a:cubicBezTo>
                  <a:cubicBezTo>
                    <a:pt x="0" y="339"/>
                    <a:pt x="98" y="437"/>
                    <a:pt x="218" y="437"/>
                  </a:cubicBezTo>
                  <a:cubicBezTo>
                    <a:pt x="339" y="437"/>
                    <a:pt x="437" y="339"/>
                    <a:pt x="437" y="218"/>
                  </a:cubicBezTo>
                  <a:cubicBezTo>
                    <a:pt x="437" y="98"/>
                    <a:pt x="339" y="0"/>
                    <a:pt x="218" y="0"/>
                  </a:cubicBezTo>
                  <a:close/>
                  <a:moveTo>
                    <a:pt x="167" y="287"/>
                  </a:moveTo>
                  <a:cubicBezTo>
                    <a:pt x="151" y="287"/>
                    <a:pt x="139" y="284"/>
                    <a:pt x="123" y="281"/>
                  </a:cubicBezTo>
                  <a:cubicBezTo>
                    <a:pt x="80" y="303"/>
                    <a:pt x="80" y="303"/>
                    <a:pt x="80" y="303"/>
                  </a:cubicBezTo>
                  <a:cubicBezTo>
                    <a:pt x="92" y="265"/>
                    <a:pt x="92" y="265"/>
                    <a:pt x="92" y="265"/>
                  </a:cubicBezTo>
                  <a:cubicBezTo>
                    <a:pt x="61" y="243"/>
                    <a:pt x="42" y="215"/>
                    <a:pt x="42" y="181"/>
                  </a:cubicBezTo>
                  <a:cubicBezTo>
                    <a:pt x="42" y="122"/>
                    <a:pt x="98" y="75"/>
                    <a:pt x="167" y="75"/>
                  </a:cubicBezTo>
                  <a:cubicBezTo>
                    <a:pt x="228" y="75"/>
                    <a:pt x="282" y="112"/>
                    <a:pt x="293" y="162"/>
                  </a:cubicBezTo>
                  <a:cubicBezTo>
                    <a:pt x="289" y="162"/>
                    <a:pt x="285" y="162"/>
                    <a:pt x="281" y="162"/>
                  </a:cubicBezTo>
                  <a:cubicBezTo>
                    <a:pt x="222" y="162"/>
                    <a:pt x="175" y="206"/>
                    <a:pt x="175" y="260"/>
                  </a:cubicBezTo>
                  <a:cubicBezTo>
                    <a:pt x="175" y="269"/>
                    <a:pt x="176" y="278"/>
                    <a:pt x="179" y="287"/>
                  </a:cubicBezTo>
                  <a:cubicBezTo>
                    <a:pt x="175" y="287"/>
                    <a:pt x="171" y="287"/>
                    <a:pt x="167" y="287"/>
                  </a:cubicBezTo>
                  <a:close/>
                  <a:moveTo>
                    <a:pt x="351" y="331"/>
                  </a:moveTo>
                  <a:cubicBezTo>
                    <a:pt x="360" y="362"/>
                    <a:pt x="360" y="362"/>
                    <a:pt x="360" y="362"/>
                  </a:cubicBezTo>
                  <a:cubicBezTo>
                    <a:pt x="326" y="343"/>
                    <a:pt x="326" y="343"/>
                    <a:pt x="326" y="343"/>
                  </a:cubicBezTo>
                  <a:cubicBezTo>
                    <a:pt x="314" y="346"/>
                    <a:pt x="301" y="349"/>
                    <a:pt x="289" y="349"/>
                  </a:cubicBezTo>
                  <a:cubicBezTo>
                    <a:pt x="229" y="349"/>
                    <a:pt x="183" y="309"/>
                    <a:pt x="183" y="259"/>
                  </a:cubicBezTo>
                  <a:cubicBezTo>
                    <a:pt x="183" y="209"/>
                    <a:pt x="229" y="168"/>
                    <a:pt x="289" y="168"/>
                  </a:cubicBezTo>
                  <a:cubicBezTo>
                    <a:pt x="345" y="168"/>
                    <a:pt x="395" y="209"/>
                    <a:pt x="395" y="259"/>
                  </a:cubicBezTo>
                  <a:cubicBezTo>
                    <a:pt x="395" y="287"/>
                    <a:pt x="376" y="312"/>
                    <a:pt x="351" y="3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latin typeface="+mn-ea"/>
              </a:endParaRPr>
            </a:p>
          </p:txBody>
        </p:sp>
      </p:grpSp>
      <p:sp>
        <p:nvSpPr>
          <p:cNvPr id="63" name="Freeform 44"/>
          <p:cNvSpPr>
            <a:spLocks noEditPoints="1"/>
          </p:cNvSpPr>
          <p:nvPr/>
        </p:nvSpPr>
        <p:spPr bwMode="auto">
          <a:xfrm>
            <a:off x="8789670" y="6289675"/>
            <a:ext cx="348615" cy="353060"/>
          </a:xfrm>
          <a:custGeom>
            <a:avLst/>
            <a:gdLst>
              <a:gd name="T0" fmla="*/ 358 w 452"/>
              <a:gd name="T1" fmla="*/ 283 h 452"/>
              <a:gd name="T2" fmla="*/ 367 w 452"/>
              <a:gd name="T3" fmla="*/ 302 h 452"/>
              <a:gd name="T4" fmla="*/ 361 w 452"/>
              <a:gd name="T5" fmla="*/ 308 h 452"/>
              <a:gd name="T6" fmla="*/ 355 w 452"/>
              <a:gd name="T7" fmla="*/ 311 h 452"/>
              <a:gd name="T8" fmla="*/ 348 w 452"/>
              <a:gd name="T9" fmla="*/ 298 h 452"/>
              <a:gd name="T10" fmla="*/ 341 w 452"/>
              <a:gd name="T11" fmla="*/ 290 h 452"/>
              <a:gd name="T12" fmla="*/ 329 w 452"/>
              <a:gd name="T13" fmla="*/ 316 h 452"/>
              <a:gd name="T14" fmla="*/ 322 w 452"/>
              <a:gd name="T15" fmla="*/ 328 h 452"/>
              <a:gd name="T16" fmla="*/ 344 w 452"/>
              <a:gd name="T17" fmla="*/ 342 h 452"/>
              <a:gd name="T18" fmla="*/ 334 w 452"/>
              <a:gd name="T19" fmla="*/ 352 h 452"/>
              <a:gd name="T20" fmla="*/ 343 w 452"/>
              <a:gd name="T21" fmla="*/ 360 h 452"/>
              <a:gd name="T22" fmla="*/ 329 w 452"/>
              <a:gd name="T23" fmla="*/ 368 h 452"/>
              <a:gd name="T24" fmla="*/ 308 w 452"/>
              <a:gd name="T25" fmla="*/ 371 h 452"/>
              <a:gd name="T26" fmla="*/ 278 w 452"/>
              <a:gd name="T27" fmla="*/ 371 h 452"/>
              <a:gd name="T28" fmla="*/ 246 w 452"/>
              <a:gd name="T29" fmla="*/ 364 h 452"/>
              <a:gd name="T30" fmla="*/ 231 w 452"/>
              <a:gd name="T31" fmla="*/ 359 h 452"/>
              <a:gd name="T32" fmla="*/ 212 w 452"/>
              <a:gd name="T33" fmla="*/ 368 h 452"/>
              <a:gd name="T34" fmla="*/ 189 w 452"/>
              <a:gd name="T35" fmla="*/ 374 h 452"/>
              <a:gd name="T36" fmla="*/ 155 w 452"/>
              <a:gd name="T37" fmla="*/ 373 h 452"/>
              <a:gd name="T38" fmla="*/ 131 w 452"/>
              <a:gd name="T39" fmla="*/ 368 h 452"/>
              <a:gd name="T40" fmla="*/ 118 w 452"/>
              <a:gd name="T41" fmla="*/ 360 h 452"/>
              <a:gd name="T42" fmla="*/ 106 w 452"/>
              <a:gd name="T43" fmla="*/ 352 h 452"/>
              <a:gd name="T44" fmla="*/ 114 w 452"/>
              <a:gd name="T45" fmla="*/ 343 h 452"/>
              <a:gd name="T46" fmla="*/ 123 w 452"/>
              <a:gd name="T47" fmla="*/ 335 h 452"/>
              <a:gd name="T48" fmla="*/ 133 w 452"/>
              <a:gd name="T49" fmla="*/ 331 h 452"/>
              <a:gd name="T50" fmla="*/ 130 w 452"/>
              <a:gd name="T51" fmla="*/ 329 h 452"/>
              <a:gd name="T52" fmla="*/ 126 w 452"/>
              <a:gd name="T53" fmla="*/ 315 h 452"/>
              <a:gd name="T54" fmla="*/ 115 w 452"/>
              <a:gd name="T55" fmla="*/ 298 h 452"/>
              <a:gd name="T56" fmla="*/ 110 w 452"/>
              <a:gd name="T57" fmla="*/ 287 h 452"/>
              <a:gd name="T58" fmla="*/ 108 w 452"/>
              <a:gd name="T59" fmla="*/ 288 h 452"/>
              <a:gd name="T60" fmla="*/ 98 w 452"/>
              <a:gd name="T61" fmla="*/ 301 h 452"/>
              <a:gd name="T62" fmla="*/ 86 w 452"/>
              <a:gd name="T63" fmla="*/ 299 h 452"/>
              <a:gd name="T64" fmla="*/ 82 w 452"/>
              <a:gd name="T65" fmla="*/ 300 h 452"/>
              <a:gd name="T66" fmla="*/ 75 w 452"/>
              <a:gd name="T67" fmla="*/ 278 h 452"/>
              <a:gd name="T68" fmla="*/ 86 w 452"/>
              <a:gd name="T69" fmla="*/ 256 h 452"/>
              <a:gd name="T70" fmla="*/ 100 w 452"/>
              <a:gd name="T71" fmla="*/ 232 h 452"/>
              <a:gd name="T72" fmla="*/ 115 w 452"/>
              <a:gd name="T73" fmla="*/ 217 h 452"/>
              <a:gd name="T74" fmla="*/ 106 w 452"/>
              <a:gd name="T75" fmla="*/ 204 h 452"/>
              <a:gd name="T76" fmla="*/ 114 w 452"/>
              <a:gd name="T77" fmla="*/ 189 h 452"/>
              <a:gd name="T78" fmla="*/ 129 w 452"/>
              <a:gd name="T79" fmla="*/ 174 h 452"/>
              <a:gd name="T80" fmla="*/ 131 w 452"/>
              <a:gd name="T81" fmla="*/ 161 h 452"/>
              <a:gd name="T82" fmla="*/ 139 w 452"/>
              <a:gd name="T83" fmla="*/ 137 h 452"/>
              <a:gd name="T84" fmla="*/ 150 w 452"/>
              <a:gd name="T85" fmla="*/ 119 h 452"/>
              <a:gd name="T86" fmla="*/ 171 w 452"/>
              <a:gd name="T87" fmla="*/ 97 h 452"/>
              <a:gd name="T88" fmla="*/ 194 w 452"/>
              <a:gd name="T89" fmla="*/ 84 h 452"/>
              <a:gd name="T90" fmla="*/ 223 w 452"/>
              <a:gd name="T91" fmla="*/ 81 h 452"/>
              <a:gd name="T92" fmla="*/ 255 w 452"/>
              <a:gd name="T93" fmla="*/ 80 h 452"/>
              <a:gd name="T94" fmla="*/ 285 w 452"/>
              <a:gd name="T95" fmla="*/ 88 h 452"/>
              <a:gd name="T96" fmla="*/ 306 w 452"/>
              <a:gd name="T97" fmla="*/ 102 h 452"/>
              <a:gd name="T98" fmla="*/ 321 w 452"/>
              <a:gd name="T99" fmla="*/ 121 h 452"/>
              <a:gd name="T100" fmla="*/ 331 w 452"/>
              <a:gd name="T101" fmla="*/ 144 h 452"/>
              <a:gd name="T102" fmla="*/ 337 w 452"/>
              <a:gd name="T103" fmla="*/ 172 h 452"/>
              <a:gd name="T104" fmla="*/ 344 w 452"/>
              <a:gd name="T105" fmla="*/ 185 h 452"/>
              <a:gd name="T106" fmla="*/ 334 w 452"/>
              <a:gd name="T107" fmla="*/ 200 h 452"/>
              <a:gd name="T108" fmla="*/ 339 w 452"/>
              <a:gd name="T109" fmla="*/ 212 h 452"/>
              <a:gd name="T110" fmla="*/ 359 w 452"/>
              <a:gd name="T111" fmla="*/ 237 h 452"/>
              <a:gd name="T112" fmla="*/ 368 w 452"/>
              <a:gd name="T113" fmla="*/ 260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52" h="452">
                <a:moveTo>
                  <a:pt x="226" y="0"/>
                </a:moveTo>
                <a:cubicBezTo>
                  <a:pt x="101" y="0"/>
                  <a:pt x="0" y="101"/>
                  <a:pt x="0" y="226"/>
                </a:cubicBezTo>
                <a:cubicBezTo>
                  <a:pt x="0" y="351"/>
                  <a:pt x="101" y="452"/>
                  <a:pt x="226" y="452"/>
                </a:cubicBezTo>
                <a:cubicBezTo>
                  <a:pt x="351" y="452"/>
                  <a:pt x="452" y="351"/>
                  <a:pt x="452" y="226"/>
                </a:cubicBezTo>
                <a:cubicBezTo>
                  <a:pt x="452" y="101"/>
                  <a:pt x="351" y="0"/>
                  <a:pt x="226" y="0"/>
                </a:cubicBezTo>
                <a:close/>
                <a:moveTo>
                  <a:pt x="358" y="281"/>
                </a:moveTo>
                <a:cubicBezTo>
                  <a:pt x="358" y="283"/>
                  <a:pt x="358" y="283"/>
                  <a:pt x="358" y="283"/>
                </a:cubicBezTo>
                <a:cubicBezTo>
                  <a:pt x="358" y="285"/>
                  <a:pt x="358" y="285"/>
                  <a:pt x="358" y="285"/>
                </a:cubicBezTo>
                <a:cubicBezTo>
                  <a:pt x="358" y="288"/>
                  <a:pt x="358" y="288"/>
                  <a:pt x="358" y="288"/>
                </a:cubicBezTo>
                <a:cubicBezTo>
                  <a:pt x="358" y="292"/>
                  <a:pt x="358" y="292"/>
                  <a:pt x="358" y="292"/>
                </a:cubicBezTo>
                <a:cubicBezTo>
                  <a:pt x="363" y="295"/>
                  <a:pt x="363" y="295"/>
                  <a:pt x="363" y="295"/>
                </a:cubicBezTo>
                <a:cubicBezTo>
                  <a:pt x="365" y="299"/>
                  <a:pt x="365" y="299"/>
                  <a:pt x="365" y="299"/>
                </a:cubicBezTo>
                <a:cubicBezTo>
                  <a:pt x="367" y="300"/>
                  <a:pt x="367" y="300"/>
                  <a:pt x="367" y="300"/>
                </a:cubicBezTo>
                <a:cubicBezTo>
                  <a:pt x="367" y="302"/>
                  <a:pt x="367" y="302"/>
                  <a:pt x="367" y="302"/>
                </a:cubicBezTo>
                <a:cubicBezTo>
                  <a:pt x="367" y="303"/>
                  <a:pt x="367" y="303"/>
                  <a:pt x="367" y="303"/>
                </a:cubicBezTo>
                <a:cubicBezTo>
                  <a:pt x="366" y="304"/>
                  <a:pt x="366" y="304"/>
                  <a:pt x="366" y="304"/>
                </a:cubicBezTo>
                <a:cubicBezTo>
                  <a:pt x="365" y="305"/>
                  <a:pt x="365" y="305"/>
                  <a:pt x="365" y="305"/>
                </a:cubicBezTo>
                <a:cubicBezTo>
                  <a:pt x="364" y="306"/>
                  <a:pt x="364" y="306"/>
                  <a:pt x="364" y="306"/>
                </a:cubicBezTo>
                <a:cubicBezTo>
                  <a:pt x="363" y="307"/>
                  <a:pt x="363" y="307"/>
                  <a:pt x="363" y="307"/>
                </a:cubicBezTo>
                <a:cubicBezTo>
                  <a:pt x="363" y="308"/>
                  <a:pt x="363" y="308"/>
                  <a:pt x="363" y="308"/>
                </a:cubicBezTo>
                <a:cubicBezTo>
                  <a:pt x="361" y="308"/>
                  <a:pt x="361" y="308"/>
                  <a:pt x="361" y="308"/>
                </a:cubicBezTo>
                <a:cubicBezTo>
                  <a:pt x="361" y="304"/>
                  <a:pt x="361" y="304"/>
                  <a:pt x="361" y="304"/>
                </a:cubicBezTo>
                <a:cubicBezTo>
                  <a:pt x="360" y="299"/>
                  <a:pt x="360" y="299"/>
                  <a:pt x="360" y="299"/>
                </a:cubicBezTo>
                <a:cubicBezTo>
                  <a:pt x="359" y="299"/>
                  <a:pt x="359" y="299"/>
                  <a:pt x="359" y="299"/>
                </a:cubicBezTo>
                <a:cubicBezTo>
                  <a:pt x="358" y="299"/>
                  <a:pt x="358" y="299"/>
                  <a:pt x="358" y="299"/>
                </a:cubicBezTo>
                <a:cubicBezTo>
                  <a:pt x="358" y="304"/>
                  <a:pt x="358" y="304"/>
                  <a:pt x="358" y="304"/>
                </a:cubicBezTo>
                <a:cubicBezTo>
                  <a:pt x="356" y="308"/>
                  <a:pt x="356" y="308"/>
                  <a:pt x="356" y="308"/>
                </a:cubicBezTo>
                <a:cubicBezTo>
                  <a:pt x="355" y="311"/>
                  <a:pt x="355" y="311"/>
                  <a:pt x="355" y="311"/>
                </a:cubicBezTo>
                <a:cubicBezTo>
                  <a:pt x="355" y="311"/>
                  <a:pt x="355" y="311"/>
                  <a:pt x="355" y="311"/>
                </a:cubicBezTo>
                <a:cubicBezTo>
                  <a:pt x="354" y="308"/>
                  <a:pt x="354" y="308"/>
                  <a:pt x="354" y="308"/>
                </a:cubicBezTo>
                <a:cubicBezTo>
                  <a:pt x="353" y="307"/>
                  <a:pt x="353" y="307"/>
                  <a:pt x="353" y="307"/>
                </a:cubicBezTo>
                <a:cubicBezTo>
                  <a:pt x="352" y="305"/>
                  <a:pt x="352" y="305"/>
                  <a:pt x="352" y="305"/>
                </a:cubicBezTo>
                <a:cubicBezTo>
                  <a:pt x="350" y="302"/>
                  <a:pt x="350" y="302"/>
                  <a:pt x="350" y="302"/>
                </a:cubicBezTo>
                <a:cubicBezTo>
                  <a:pt x="349" y="300"/>
                  <a:pt x="349" y="300"/>
                  <a:pt x="349" y="300"/>
                </a:cubicBezTo>
                <a:cubicBezTo>
                  <a:pt x="348" y="298"/>
                  <a:pt x="348" y="298"/>
                  <a:pt x="348" y="298"/>
                </a:cubicBezTo>
                <a:cubicBezTo>
                  <a:pt x="347" y="296"/>
                  <a:pt x="347" y="296"/>
                  <a:pt x="347" y="296"/>
                </a:cubicBezTo>
                <a:cubicBezTo>
                  <a:pt x="345" y="293"/>
                  <a:pt x="345" y="293"/>
                  <a:pt x="345" y="293"/>
                </a:cubicBezTo>
                <a:cubicBezTo>
                  <a:pt x="343" y="288"/>
                  <a:pt x="343" y="288"/>
                  <a:pt x="343" y="288"/>
                </a:cubicBezTo>
                <a:cubicBezTo>
                  <a:pt x="343" y="287"/>
                  <a:pt x="343" y="287"/>
                  <a:pt x="343" y="287"/>
                </a:cubicBezTo>
                <a:cubicBezTo>
                  <a:pt x="343" y="287"/>
                  <a:pt x="343" y="287"/>
                  <a:pt x="343" y="287"/>
                </a:cubicBezTo>
                <a:cubicBezTo>
                  <a:pt x="342" y="289"/>
                  <a:pt x="342" y="289"/>
                  <a:pt x="342" y="289"/>
                </a:cubicBezTo>
                <a:cubicBezTo>
                  <a:pt x="341" y="290"/>
                  <a:pt x="341" y="290"/>
                  <a:pt x="341" y="290"/>
                </a:cubicBezTo>
                <a:cubicBezTo>
                  <a:pt x="341" y="292"/>
                  <a:pt x="341" y="292"/>
                  <a:pt x="341" y="292"/>
                </a:cubicBezTo>
                <a:cubicBezTo>
                  <a:pt x="339" y="295"/>
                  <a:pt x="339" y="295"/>
                  <a:pt x="339" y="295"/>
                </a:cubicBezTo>
                <a:cubicBezTo>
                  <a:pt x="337" y="300"/>
                  <a:pt x="337" y="300"/>
                  <a:pt x="337" y="300"/>
                </a:cubicBezTo>
                <a:cubicBezTo>
                  <a:pt x="335" y="306"/>
                  <a:pt x="335" y="306"/>
                  <a:pt x="335" y="306"/>
                </a:cubicBezTo>
                <a:cubicBezTo>
                  <a:pt x="333" y="310"/>
                  <a:pt x="333" y="310"/>
                  <a:pt x="333" y="310"/>
                </a:cubicBezTo>
                <a:cubicBezTo>
                  <a:pt x="331" y="313"/>
                  <a:pt x="331" y="313"/>
                  <a:pt x="331" y="313"/>
                </a:cubicBezTo>
                <a:cubicBezTo>
                  <a:pt x="329" y="316"/>
                  <a:pt x="329" y="316"/>
                  <a:pt x="329" y="316"/>
                </a:cubicBezTo>
                <a:cubicBezTo>
                  <a:pt x="326" y="320"/>
                  <a:pt x="326" y="320"/>
                  <a:pt x="326" y="320"/>
                </a:cubicBezTo>
                <a:cubicBezTo>
                  <a:pt x="325" y="321"/>
                  <a:pt x="325" y="321"/>
                  <a:pt x="325" y="321"/>
                </a:cubicBezTo>
                <a:cubicBezTo>
                  <a:pt x="323" y="323"/>
                  <a:pt x="323" y="323"/>
                  <a:pt x="323" y="323"/>
                </a:cubicBezTo>
                <a:cubicBezTo>
                  <a:pt x="320" y="327"/>
                  <a:pt x="320" y="327"/>
                  <a:pt x="320" y="327"/>
                </a:cubicBezTo>
                <a:cubicBezTo>
                  <a:pt x="320" y="327"/>
                  <a:pt x="320" y="327"/>
                  <a:pt x="320" y="327"/>
                </a:cubicBezTo>
                <a:cubicBezTo>
                  <a:pt x="321" y="327"/>
                  <a:pt x="321" y="327"/>
                  <a:pt x="321" y="327"/>
                </a:cubicBezTo>
                <a:cubicBezTo>
                  <a:pt x="322" y="328"/>
                  <a:pt x="322" y="328"/>
                  <a:pt x="322" y="328"/>
                </a:cubicBezTo>
                <a:cubicBezTo>
                  <a:pt x="330" y="332"/>
                  <a:pt x="330" y="332"/>
                  <a:pt x="330" y="332"/>
                </a:cubicBezTo>
                <a:cubicBezTo>
                  <a:pt x="333" y="334"/>
                  <a:pt x="333" y="334"/>
                  <a:pt x="333" y="334"/>
                </a:cubicBezTo>
                <a:cubicBezTo>
                  <a:pt x="336" y="336"/>
                  <a:pt x="336" y="336"/>
                  <a:pt x="336" y="336"/>
                </a:cubicBezTo>
                <a:cubicBezTo>
                  <a:pt x="339" y="338"/>
                  <a:pt x="339" y="338"/>
                  <a:pt x="339" y="338"/>
                </a:cubicBezTo>
                <a:cubicBezTo>
                  <a:pt x="342" y="340"/>
                  <a:pt x="342" y="340"/>
                  <a:pt x="342" y="340"/>
                </a:cubicBezTo>
                <a:cubicBezTo>
                  <a:pt x="343" y="341"/>
                  <a:pt x="343" y="341"/>
                  <a:pt x="343" y="341"/>
                </a:cubicBezTo>
                <a:cubicBezTo>
                  <a:pt x="344" y="342"/>
                  <a:pt x="344" y="342"/>
                  <a:pt x="344" y="342"/>
                </a:cubicBezTo>
                <a:cubicBezTo>
                  <a:pt x="345" y="344"/>
                  <a:pt x="345" y="344"/>
                  <a:pt x="345" y="344"/>
                </a:cubicBezTo>
                <a:cubicBezTo>
                  <a:pt x="346" y="345"/>
                  <a:pt x="346" y="345"/>
                  <a:pt x="346" y="345"/>
                </a:cubicBezTo>
                <a:cubicBezTo>
                  <a:pt x="346" y="346"/>
                  <a:pt x="346" y="346"/>
                  <a:pt x="346" y="346"/>
                </a:cubicBezTo>
                <a:cubicBezTo>
                  <a:pt x="347" y="348"/>
                  <a:pt x="347" y="348"/>
                  <a:pt x="347" y="348"/>
                </a:cubicBezTo>
                <a:cubicBezTo>
                  <a:pt x="347" y="349"/>
                  <a:pt x="347" y="349"/>
                  <a:pt x="347" y="349"/>
                </a:cubicBezTo>
                <a:cubicBezTo>
                  <a:pt x="341" y="351"/>
                  <a:pt x="341" y="351"/>
                  <a:pt x="341" y="351"/>
                </a:cubicBezTo>
                <a:cubicBezTo>
                  <a:pt x="334" y="352"/>
                  <a:pt x="334" y="352"/>
                  <a:pt x="334" y="352"/>
                </a:cubicBezTo>
                <a:cubicBezTo>
                  <a:pt x="334" y="353"/>
                  <a:pt x="334" y="353"/>
                  <a:pt x="334" y="353"/>
                </a:cubicBezTo>
                <a:cubicBezTo>
                  <a:pt x="340" y="354"/>
                  <a:pt x="340" y="354"/>
                  <a:pt x="340" y="354"/>
                </a:cubicBezTo>
                <a:cubicBezTo>
                  <a:pt x="343" y="355"/>
                  <a:pt x="343" y="355"/>
                  <a:pt x="343" y="355"/>
                </a:cubicBezTo>
                <a:cubicBezTo>
                  <a:pt x="344" y="355"/>
                  <a:pt x="344" y="355"/>
                  <a:pt x="344" y="355"/>
                </a:cubicBezTo>
                <a:cubicBezTo>
                  <a:pt x="345" y="356"/>
                  <a:pt x="345" y="356"/>
                  <a:pt x="345" y="356"/>
                </a:cubicBezTo>
                <a:cubicBezTo>
                  <a:pt x="344" y="358"/>
                  <a:pt x="344" y="358"/>
                  <a:pt x="344" y="358"/>
                </a:cubicBezTo>
                <a:cubicBezTo>
                  <a:pt x="343" y="360"/>
                  <a:pt x="343" y="360"/>
                  <a:pt x="343" y="360"/>
                </a:cubicBezTo>
                <a:cubicBezTo>
                  <a:pt x="342" y="361"/>
                  <a:pt x="342" y="361"/>
                  <a:pt x="342" y="361"/>
                </a:cubicBezTo>
                <a:cubicBezTo>
                  <a:pt x="341" y="361"/>
                  <a:pt x="341" y="361"/>
                  <a:pt x="341" y="361"/>
                </a:cubicBezTo>
                <a:cubicBezTo>
                  <a:pt x="339" y="363"/>
                  <a:pt x="339" y="363"/>
                  <a:pt x="339" y="363"/>
                </a:cubicBezTo>
                <a:cubicBezTo>
                  <a:pt x="337" y="364"/>
                  <a:pt x="337" y="364"/>
                  <a:pt x="337" y="364"/>
                </a:cubicBezTo>
                <a:cubicBezTo>
                  <a:pt x="335" y="365"/>
                  <a:pt x="335" y="365"/>
                  <a:pt x="335" y="365"/>
                </a:cubicBezTo>
                <a:cubicBezTo>
                  <a:pt x="332" y="367"/>
                  <a:pt x="332" y="367"/>
                  <a:pt x="332" y="367"/>
                </a:cubicBezTo>
                <a:cubicBezTo>
                  <a:pt x="329" y="368"/>
                  <a:pt x="329" y="368"/>
                  <a:pt x="329" y="368"/>
                </a:cubicBezTo>
                <a:cubicBezTo>
                  <a:pt x="327" y="368"/>
                  <a:pt x="327" y="368"/>
                  <a:pt x="327" y="368"/>
                </a:cubicBezTo>
                <a:cubicBezTo>
                  <a:pt x="326" y="369"/>
                  <a:pt x="326" y="369"/>
                  <a:pt x="326" y="369"/>
                </a:cubicBezTo>
                <a:cubicBezTo>
                  <a:pt x="323" y="370"/>
                  <a:pt x="323" y="370"/>
                  <a:pt x="323" y="370"/>
                </a:cubicBezTo>
                <a:cubicBezTo>
                  <a:pt x="319" y="370"/>
                  <a:pt x="319" y="370"/>
                  <a:pt x="319" y="370"/>
                </a:cubicBezTo>
                <a:cubicBezTo>
                  <a:pt x="316" y="371"/>
                  <a:pt x="316" y="371"/>
                  <a:pt x="316" y="371"/>
                </a:cubicBezTo>
                <a:cubicBezTo>
                  <a:pt x="312" y="372"/>
                  <a:pt x="312" y="372"/>
                  <a:pt x="312" y="372"/>
                </a:cubicBezTo>
                <a:cubicBezTo>
                  <a:pt x="308" y="371"/>
                  <a:pt x="308" y="371"/>
                  <a:pt x="308" y="371"/>
                </a:cubicBezTo>
                <a:cubicBezTo>
                  <a:pt x="304" y="371"/>
                  <a:pt x="304" y="371"/>
                  <a:pt x="304" y="371"/>
                </a:cubicBezTo>
                <a:cubicBezTo>
                  <a:pt x="300" y="371"/>
                  <a:pt x="300" y="371"/>
                  <a:pt x="300" y="371"/>
                </a:cubicBezTo>
                <a:cubicBezTo>
                  <a:pt x="295" y="371"/>
                  <a:pt x="295" y="371"/>
                  <a:pt x="295" y="371"/>
                </a:cubicBezTo>
                <a:cubicBezTo>
                  <a:pt x="291" y="371"/>
                  <a:pt x="291" y="371"/>
                  <a:pt x="291" y="371"/>
                </a:cubicBezTo>
                <a:cubicBezTo>
                  <a:pt x="287" y="371"/>
                  <a:pt x="287" y="371"/>
                  <a:pt x="287" y="371"/>
                </a:cubicBezTo>
                <a:cubicBezTo>
                  <a:pt x="282" y="371"/>
                  <a:pt x="282" y="371"/>
                  <a:pt x="282" y="371"/>
                </a:cubicBezTo>
                <a:cubicBezTo>
                  <a:pt x="278" y="371"/>
                  <a:pt x="278" y="371"/>
                  <a:pt x="278" y="371"/>
                </a:cubicBezTo>
                <a:cubicBezTo>
                  <a:pt x="273" y="370"/>
                  <a:pt x="273" y="370"/>
                  <a:pt x="273" y="370"/>
                </a:cubicBezTo>
                <a:cubicBezTo>
                  <a:pt x="268" y="370"/>
                  <a:pt x="268" y="370"/>
                  <a:pt x="268" y="370"/>
                </a:cubicBezTo>
                <a:cubicBezTo>
                  <a:pt x="264" y="369"/>
                  <a:pt x="264" y="369"/>
                  <a:pt x="264" y="369"/>
                </a:cubicBezTo>
                <a:cubicBezTo>
                  <a:pt x="259" y="368"/>
                  <a:pt x="259" y="368"/>
                  <a:pt x="259" y="368"/>
                </a:cubicBezTo>
                <a:cubicBezTo>
                  <a:pt x="255" y="367"/>
                  <a:pt x="255" y="367"/>
                  <a:pt x="255" y="367"/>
                </a:cubicBezTo>
                <a:cubicBezTo>
                  <a:pt x="250" y="365"/>
                  <a:pt x="250" y="365"/>
                  <a:pt x="250" y="365"/>
                </a:cubicBezTo>
                <a:cubicBezTo>
                  <a:pt x="246" y="364"/>
                  <a:pt x="246" y="364"/>
                  <a:pt x="246" y="364"/>
                </a:cubicBezTo>
                <a:cubicBezTo>
                  <a:pt x="243" y="363"/>
                  <a:pt x="243" y="363"/>
                  <a:pt x="243" y="363"/>
                </a:cubicBezTo>
                <a:cubicBezTo>
                  <a:pt x="241" y="362"/>
                  <a:pt x="241" y="362"/>
                  <a:pt x="241" y="362"/>
                </a:cubicBezTo>
                <a:cubicBezTo>
                  <a:pt x="240" y="360"/>
                  <a:pt x="240" y="360"/>
                  <a:pt x="240" y="360"/>
                </a:cubicBezTo>
                <a:cubicBezTo>
                  <a:pt x="239" y="359"/>
                  <a:pt x="239" y="359"/>
                  <a:pt x="239" y="359"/>
                </a:cubicBezTo>
                <a:cubicBezTo>
                  <a:pt x="237" y="359"/>
                  <a:pt x="237" y="359"/>
                  <a:pt x="237" y="359"/>
                </a:cubicBezTo>
                <a:cubicBezTo>
                  <a:pt x="235" y="359"/>
                  <a:pt x="235" y="359"/>
                  <a:pt x="235" y="359"/>
                </a:cubicBezTo>
                <a:cubicBezTo>
                  <a:pt x="231" y="359"/>
                  <a:pt x="231" y="359"/>
                  <a:pt x="231" y="359"/>
                </a:cubicBezTo>
                <a:cubicBezTo>
                  <a:pt x="228" y="360"/>
                  <a:pt x="228" y="360"/>
                  <a:pt x="228" y="360"/>
                </a:cubicBezTo>
                <a:cubicBezTo>
                  <a:pt x="226" y="360"/>
                  <a:pt x="226" y="360"/>
                  <a:pt x="226" y="360"/>
                </a:cubicBezTo>
                <a:cubicBezTo>
                  <a:pt x="224" y="362"/>
                  <a:pt x="224" y="362"/>
                  <a:pt x="224" y="362"/>
                </a:cubicBezTo>
                <a:cubicBezTo>
                  <a:pt x="221" y="363"/>
                  <a:pt x="221" y="363"/>
                  <a:pt x="221" y="363"/>
                </a:cubicBezTo>
                <a:cubicBezTo>
                  <a:pt x="218" y="365"/>
                  <a:pt x="218" y="365"/>
                  <a:pt x="218" y="365"/>
                </a:cubicBezTo>
                <a:cubicBezTo>
                  <a:pt x="214" y="367"/>
                  <a:pt x="214" y="367"/>
                  <a:pt x="214" y="367"/>
                </a:cubicBezTo>
                <a:cubicBezTo>
                  <a:pt x="212" y="368"/>
                  <a:pt x="212" y="368"/>
                  <a:pt x="212" y="368"/>
                </a:cubicBezTo>
                <a:cubicBezTo>
                  <a:pt x="210" y="369"/>
                  <a:pt x="210" y="369"/>
                  <a:pt x="210" y="369"/>
                </a:cubicBezTo>
                <a:cubicBezTo>
                  <a:pt x="204" y="371"/>
                  <a:pt x="204" y="371"/>
                  <a:pt x="204" y="371"/>
                </a:cubicBezTo>
                <a:cubicBezTo>
                  <a:pt x="202" y="372"/>
                  <a:pt x="202" y="372"/>
                  <a:pt x="202" y="372"/>
                </a:cubicBezTo>
                <a:cubicBezTo>
                  <a:pt x="199" y="373"/>
                  <a:pt x="199" y="373"/>
                  <a:pt x="199" y="373"/>
                </a:cubicBezTo>
                <a:cubicBezTo>
                  <a:pt x="195" y="374"/>
                  <a:pt x="195" y="374"/>
                  <a:pt x="195" y="374"/>
                </a:cubicBezTo>
                <a:cubicBezTo>
                  <a:pt x="192" y="374"/>
                  <a:pt x="192" y="374"/>
                  <a:pt x="192" y="374"/>
                </a:cubicBezTo>
                <a:cubicBezTo>
                  <a:pt x="189" y="374"/>
                  <a:pt x="189" y="374"/>
                  <a:pt x="189" y="374"/>
                </a:cubicBezTo>
                <a:cubicBezTo>
                  <a:pt x="186" y="373"/>
                  <a:pt x="186" y="373"/>
                  <a:pt x="186" y="373"/>
                </a:cubicBezTo>
                <a:cubicBezTo>
                  <a:pt x="183" y="371"/>
                  <a:pt x="183" y="371"/>
                  <a:pt x="183" y="371"/>
                </a:cubicBezTo>
                <a:cubicBezTo>
                  <a:pt x="180" y="371"/>
                  <a:pt x="180" y="371"/>
                  <a:pt x="180" y="371"/>
                </a:cubicBezTo>
                <a:cubicBezTo>
                  <a:pt x="177" y="371"/>
                  <a:pt x="177" y="371"/>
                  <a:pt x="177" y="371"/>
                </a:cubicBezTo>
                <a:cubicBezTo>
                  <a:pt x="170" y="371"/>
                  <a:pt x="170" y="371"/>
                  <a:pt x="170" y="371"/>
                </a:cubicBezTo>
                <a:cubicBezTo>
                  <a:pt x="162" y="373"/>
                  <a:pt x="162" y="373"/>
                  <a:pt x="162" y="373"/>
                </a:cubicBezTo>
                <a:cubicBezTo>
                  <a:pt x="155" y="373"/>
                  <a:pt x="155" y="373"/>
                  <a:pt x="155" y="373"/>
                </a:cubicBezTo>
                <a:cubicBezTo>
                  <a:pt x="151" y="373"/>
                  <a:pt x="151" y="373"/>
                  <a:pt x="151" y="373"/>
                </a:cubicBezTo>
                <a:cubicBezTo>
                  <a:pt x="147" y="372"/>
                  <a:pt x="147" y="372"/>
                  <a:pt x="147" y="372"/>
                </a:cubicBezTo>
                <a:cubicBezTo>
                  <a:pt x="144" y="372"/>
                  <a:pt x="144" y="372"/>
                  <a:pt x="144" y="372"/>
                </a:cubicBezTo>
                <a:cubicBezTo>
                  <a:pt x="140" y="371"/>
                  <a:pt x="140" y="371"/>
                  <a:pt x="140" y="371"/>
                </a:cubicBezTo>
                <a:cubicBezTo>
                  <a:pt x="137" y="370"/>
                  <a:pt x="137" y="370"/>
                  <a:pt x="137" y="370"/>
                </a:cubicBezTo>
                <a:cubicBezTo>
                  <a:pt x="134" y="369"/>
                  <a:pt x="134" y="369"/>
                  <a:pt x="134" y="369"/>
                </a:cubicBezTo>
                <a:cubicBezTo>
                  <a:pt x="131" y="368"/>
                  <a:pt x="131" y="368"/>
                  <a:pt x="131" y="368"/>
                </a:cubicBezTo>
                <a:cubicBezTo>
                  <a:pt x="128" y="367"/>
                  <a:pt x="128" y="367"/>
                  <a:pt x="128" y="367"/>
                </a:cubicBezTo>
                <a:cubicBezTo>
                  <a:pt x="125" y="366"/>
                  <a:pt x="125" y="366"/>
                  <a:pt x="125" y="366"/>
                </a:cubicBezTo>
                <a:cubicBezTo>
                  <a:pt x="123" y="365"/>
                  <a:pt x="123" y="365"/>
                  <a:pt x="123" y="365"/>
                </a:cubicBezTo>
                <a:cubicBezTo>
                  <a:pt x="121" y="363"/>
                  <a:pt x="121" y="363"/>
                  <a:pt x="121" y="363"/>
                </a:cubicBezTo>
                <a:cubicBezTo>
                  <a:pt x="120" y="362"/>
                  <a:pt x="120" y="362"/>
                  <a:pt x="120" y="362"/>
                </a:cubicBezTo>
                <a:cubicBezTo>
                  <a:pt x="119" y="361"/>
                  <a:pt x="119" y="361"/>
                  <a:pt x="119" y="361"/>
                </a:cubicBezTo>
                <a:cubicBezTo>
                  <a:pt x="118" y="360"/>
                  <a:pt x="118" y="360"/>
                  <a:pt x="118" y="360"/>
                </a:cubicBezTo>
                <a:cubicBezTo>
                  <a:pt x="118" y="359"/>
                  <a:pt x="118" y="359"/>
                  <a:pt x="118" y="359"/>
                </a:cubicBezTo>
                <a:cubicBezTo>
                  <a:pt x="117" y="358"/>
                  <a:pt x="117" y="358"/>
                  <a:pt x="117" y="358"/>
                </a:cubicBezTo>
                <a:cubicBezTo>
                  <a:pt x="117" y="357"/>
                  <a:pt x="117" y="357"/>
                  <a:pt x="117" y="357"/>
                </a:cubicBezTo>
                <a:cubicBezTo>
                  <a:pt x="116" y="355"/>
                  <a:pt x="116" y="355"/>
                  <a:pt x="116" y="355"/>
                </a:cubicBezTo>
                <a:cubicBezTo>
                  <a:pt x="111" y="354"/>
                  <a:pt x="111" y="354"/>
                  <a:pt x="111" y="354"/>
                </a:cubicBezTo>
                <a:cubicBezTo>
                  <a:pt x="106" y="353"/>
                  <a:pt x="106" y="353"/>
                  <a:pt x="106" y="353"/>
                </a:cubicBezTo>
                <a:cubicBezTo>
                  <a:pt x="106" y="352"/>
                  <a:pt x="106" y="352"/>
                  <a:pt x="106" y="352"/>
                </a:cubicBezTo>
                <a:cubicBezTo>
                  <a:pt x="106" y="351"/>
                  <a:pt x="106" y="351"/>
                  <a:pt x="106" y="351"/>
                </a:cubicBezTo>
                <a:cubicBezTo>
                  <a:pt x="106" y="350"/>
                  <a:pt x="106" y="350"/>
                  <a:pt x="106" y="350"/>
                </a:cubicBezTo>
                <a:cubicBezTo>
                  <a:pt x="106" y="348"/>
                  <a:pt x="106" y="348"/>
                  <a:pt x="106" y="348"/>
                </a:cubicBezTo>
                <a:cubicBezTo>
                  <a:pt x="106" y="348"/>
                  <a:pt x="106" y="348"/>
                  <a:pt x="106" y="348"/>
                </a:cubicBezTo>
                <a:cubicBezTo>
                  <a:pt x="106" y="346"/>
                  <a:pt x="106" y="346"/>
                  <a:pt x="106" y="346"/>
                </a:cubicBezTo>
                <a:cubicBezTo>
                  <a:pt x="111" y="345"/>
                  <a:pt x="111" y="345"/>
                  <a:pt x="111" y="345"/>
                </a:cubicBezTo>
                <a:cubicBezTo>
                  <a:pt x="114" y="343"/>
                  <a:pt x="114" y="343"/>
                  <a:pt x="114" y="343"/>
                </a:cubicBezTo>
                <a:cubicBezTo>
                  <a:pt x="116" y="342"/>
                  <a:pt x="116" y="342"/>
                  <a:pt x="116" y="342"/>
                </a:cubicBezTo>
                <a:cubicBezTo>
                  <a:pt x="117" y="340"/>
                  <a:pt x="117" y="340"/>
                  <a:pt x="117" y="340"/>
                </a:cubicBezTo>
                <a:cubicBezTo>
                  <a:pt x="118" y="339"/>
                  <a:pt x="118" y="339"/>
                  <a:pt x="118" y="339"/>
                </a:cubicBezTo>
                <a:cubicBezTo>
                  <a:pt x="119" y="338"/>
                  <a:pt x="119" y="338"/>
                  <a:pt x="119" y="338"/>
                </a:cubicBezTo>
                <a:cubicBezTo>
                  <a:pt x="120" y="337"/>
                  <a:pt x="120" y="337"/>
                  <a:pt x="120" y="337"/>
                </a:cubicBezTo>
                <a:cubicBezTo>
                  <a:pt x="122" y="336"/>
                  <a:pt x="122" y="336"/>
                  <a:pt x="122" y="336"/>
                </a:cubicBezTo>
                <a:cubicBezTo>
                  <a:pt x="123" y="335"/>
                  <a:pt x="123" y="335"/>
                  <a:pt x="123" y="335"/>
                </a:cubicBezTo>
                <a:cubicBezTo>
                  <a:pt x="124" y="334"/>
                  <a:pt x="124" y="334"/>
                  <a:pt x="124" y="334"/>
                </a:cubicBezTo>
                <a:cubicBezTo>
                  <a:pt x="125" y="334"/>
                  <a:pt x="125" y="334"/>
                  <a:pt x="125" y="334"/>
                </a:cubicBezTo>
                <a:cubicBezTo>
                  <a:pt x="126" y="333"/>
                  <a:pt x="126" y="333"/>
                  <a:pt x="126" y="333"/>
                </a:cubicBezTo>
                <a:cubicBezTo>
                  <a:pt x="128" y="332"/>
                  <a:pt x="128" y="332"/>
                  <a:pt x="128" y="332"/>
                </a:cubicBezTo>
                <a:cubicBezTo>
                  <a:pt x="130" y="332"/>
                  <a:pt x="130" y="332"/>
                  <a:pt x="130" y="332"/>
                </a:cubicBezTo>
                <a:cubicBezTo>
                  <a:pt x="131" y="331"/>
                  <a:pt x="131" y="331"/>
                  <a:pt x="131" y="331"/>
                </a:cubicBezTo>
                <a:cubicBezTo>
                  <a:pt x="133" y="331"/>
                  <a:pt x="133" y="331"/>
                  <a:pt x="133" y="331"/>
                </a:cubicBezTo>
                <a:cubicBezTo>
                  <a:pt x="135" y="330"/>
                  <a:pt x="135" y="330"/>
                  <a:pt x="135" y="330"/>
                </a:cubicBezTo>
                <a:cubicBezTo>
                  <a:pt x="138" y="330"/>
                  <a:pt x="138" y="330"/>
                  <a:pt x="138" y="330"/>
                </a:cubicBezTo>
                <a:cubicBezTo>
                  <a:pt x="140" y="333"/>
                  <a:pt x="140" y="333"/>
                  <a:pt x="140" y="333"/>
                </a:cubicBezTo>
                <a:cubicBezTo>
                  <a:pt x="141" y="335"/>
                  <a:pt x="141" y="335"/>
                  <a:pt x="141" y="335"/>
                </a:cubicBezTo>
                <a:cubicBezTo>
                  <a:pt x="141" y="335"/>
                  <a:pt x="141" y="335"/>
                  <a:pt x="141" y="335"/>
                </a:cubicBezTo>
                <a:cubicBezTo>
                  <a:pt x="130" y="329"/>
                  <a:pt x="130" y="329"/>
                  <a:pt x="130" y="329"/>
                </a:cubicBezTo>
                <a:cubicBezTo>
                  <a:pt x="130" y="329"/>
                  <a:pt x="130" y="329"/>
                  <a:pt x="130" y="329"/>
                </a:cubicBezTo>
                <a:cubicBezTo>
                  <a:pt x="135" y="329"/>
                  <a:pt x="135" y="329"/>
                  <a:pt x="135" y="329"/>
                </a:cubicBezTo>
                <a:cubicBezTo>
                  <a:pt x="137" y="328"/>
                  <a:pt x="137" y="328"/>
                  <a:pt x="137" y="328"/>
                </a:cubicBezTo>
                <a:cubicBezTo>
                  <a:pt x="135" y="325"/>
                  <a:pt x="135" y="325"/>
                  <a:pt x="135" y="325"/>
                </a:cubicBezTo>
                <a:cubicBezTo>
                  <a:pt x="133" y="323"/>
                  <a:pt x="133" y="323"/>
                  <a:pt x="133" y="323"/>
                </a:cubicBezTo>
                <a:cubicBezTo>
                  <a:pt x="131" y="321"/>
                  <a:pt x="131" y="321"/>
                  <a:pt x="131" y="321"/>
                </a:cubicBezTo>
                <a:cubicBezTo>
                  <a:pt x="129" y="319"/>
                  <a:pt x="129" y="319"/>
                  <a:pt x="129" y="319"/>
                </a:cubicBezTo>
                <a:cubicBezTo>
                  <a:pt x="126" y="315"/>
                  <a:pt x="126" y="315"/>
                  <a:pt x="126" y="315"/>
                </a:cubicBezTo>
                <a:cubicBezTo>
                  <a:pt x="123" y="312"/>
                  <a:pt x="123" y="312"/>
                  <a:pt x="123" y="312"/>
                </a:cubicBezTo>
                <a:cubicBezTo>
                  <a:pt x="122" y="310"/>
                  <a:pt x="122" y="310"/>
                  <a:pt x="122" y="310"/>
                </a:cubicBezTo>
                <a:cubicBezTo>
                  <a:pt x="120" y="308"/>
                  <a:pt x="120" y="308"/>
                  <a:pt x="120" y="308"/>
                </a:cubicBezTo>
                <a:cubicBezTo>
                  <a:pt x="119" y="305"/>
                  <a:pt x="119" y="305"/>
                  <a:pt x="119" y="305"/>
                </a:cubicBezTo>
                <a:cubicBezTo>
                  <a:pt x="118" y="303"/>
                  <a:pt x="118" y="303"/>
                  <a:pt x="118" y="303"/>
                </a:cubicBezTo>
                <a:cubicBezTo>
                  <a:pt x="116" y="300"/>
                  <a:pt x="116" y="300"/>
                  <a:pt x="116" y="300"/>
                </a:cubicBezTo>
                <a:cubicBezTo>
                  <a:pt x="115" y="298"/>
                  <a:pt x="115" y="298"/>
                  <a:pt x="115" y="298"/>
                </a:cubicBezTo>
                <a:cubicBezTo>
                  <a:pt x="114" y="295"/>
                  <a:pt x="114" y="295"/>
                  <a:pt x="114" y="295"/>
                </a:cubicBezTo>
                <a:cubicBezTo>
                  <a:pt x="113" y="292"/>
                  <a:pt x="113" y="292"/>
                  <a:pt x="113" y="292"/>
                </a:cubicBezTo>
                <a:cubicBezTo>
                  <a:pt x="112" y="289"/>
                  <a:pt x="112" y="289"/>
                  <a:pt x="112" y="289"/>
                </a:cubicBezTo>
                <a:cubicBezTo>
                  <a:pt x="111" y="286"/>
                  <a:pt x="111" y="286"/>
                  <a:pt x="111" y="286"/>
                </a:cubicBezTo>
                <a:cubicBezTo>
                  <a:pt x="111" y="287"/>
                  <a:pt x="111" y="287"/>
                  <a:pt x="111" y="287"/>
                </a:cubicBezTo>
                <a:cubicBezTo>
                  <a:pt x="110" y="287"/>
                  <a:pt x="110" y="287"/>
                  <a:pt x="110" y="287"/>
                </a:cubicBezTo>
                <a:cubicBezTo>
                  <a:pt x="110" y="287"/>
                  <a:pt x="110" y="287"/>
                  <a:pt x="110" y="287"/>
                </a:cubicBezTo>
                <a:cubicBezTo>
                  <a:pt x="110" y="287"/>
                  <a:pt x="110" y="287"/>
                  <a:pt x="110" y="287"/>
                </a:cubicBezTo>
                <a:cubicBezTo>
                  <a:pt x="110" y="286"/>
                  <a:pt x="110" y="286"/>
                  <a:pt x="110" y="286"/>
                </a:cubicBezTo>
                <a:cubicBezTo>
                  <a:pt x="109" y="286"/>
                  <a:pt x="109" y="286"/>
                  <a:pt x="109" y="286"/>
                </a:cubicBezTo>
                <a:cubicBezTo>
                  <a:pt x="109" y="286"/>
                  <a:pt x="109" y="286"/>
                  <a:pt x="109" y="286"/>
                </a:cubicBezTo>
                <a:cubicBezTo>
                  <a:pt x="109" y="287"/>
                  <a:pt x="109" y="287"/>
                  <a:pt x="109" y="287"/>
                </a:cubicBezTo>
                <a:cubicBezTo>
                  <a:pt x="109" y="287"/>
                  <a:pt x="109" y="287"/>
                  <a:pt x="109" y="287"/>
                </a:cubicBezTo>
                <a:cubicBezTo>
                  <a:pt x="108" y="288"/>
                  <a:pt x="108" y="288"/>
                  <a:pt x="108" y="288"/>
                </a:cubicBezTo>
                <a:cubicBezTo>
                  <a:pt x="107" y="291"/>
                  <a:pt x="107" y="291"/>
                  <a:pt x="107" y="291"/>
                </a:cubicBezTo>
                <a:cubicBezTo>
                  <a:pt x="106" y="293"/>
                  <a:pt x="106" y="293"/>
                  <a:pt x="106" y="293"/>
                </a:cubicBezTo>
                <a:cubicBezTo>
                  <a:pt x="104" y="294"/>
                  <a:pt x="104" y="294"/>
                  <a:pt x="104" y="294"/>
                </a:cubicBezTo>
                <a:cubicBezTo>
                  <a:pt x="103" y="296"/>
                  <a:pt x="103" y="296"/>
                  <a:pt x="103" y="296"/>
                </a:cubicBezTo>
                <a:cubicBezTo>
                  <a:pt x="102" y="298"/>
                  <a:pt x="102" y="298"/>
                  <a:pt x="102" y="298"/>
                </a:cubicBezTo>
                <a:cubicBezTo>
                  <a:pt x="100" y="299"/>
                  <a:pt x="100" y="299"/>
                  <a:pt x="100" y="299"/>
                </a:cubicBezTo>
                <a:cubicBezTo>
                  <a:pt x="98" y="301"/>
                  <a:pt x="98" y="301"/>
                  <a:pt x="98" y="301"/>
                </a:cubicBezTo>
                <a:cubicBezTo>
                  <a:pt x="97" y="302"/>
                  <a:pt x="97" y="302"/>
                  <a:pt x="97" y="302"/>
                </a:cubicBezTo>
                <a:cubicBezTo>
                  <a:pt x="95" y="304"/>
                  <a:pt x="95" y="304"/>
                  <a:pt x="95" y="304"/>
                </a:cubicBezTo>
                <a:cubicBezTo>
                  <a:pt x="93" y="305"/>
                  <a:pt x="93" y="305"/>
                  <a:pt x="93" y="305"/>
                </a:cubicBezTo>
                <a:cubicBezTo>
                  <a:pt x="91" y="306"/>
                  <a:pt x="91" y="306"/>
                  <a:pt x="91" y="306"/>
                </a:cubicBezTo>
                <a:cubicBezTo>
                  <a:pt x="89" y="303"/>
                  <a:pt x="89" y="303"/>
                  <a:pt x="89" y="303"/>
                </a:cubicBezTo>
                <a:cubicBezTo>
                  <a:pt x="86" y="299"/>
                  <a:pt x="86" y="299"/>
                  <a:pt x="86" y="299"/>
                </a:cubicBezTo>
                <a:cubicBezTo>
                  <a:pt x="86" y="299"/>
                  <a:pt x="86" y="299"/>
                  <a:pt x="86" y="299"/>
                </a:cubicBezTo>
                <a:cubicBezTo>
                  <a:pt x="86" y="299"/>
                  <a:pt x="86" y="299"/>
                  <a:pt x="86" y="299"/>
                </a:cubicBezTo>
                <a:cubicBezTo>
                  <a:pt x="85" y="303"/>
                  <a:pt x="85" y="303"/>
                  <a:pt x="85" y="303"/>
                </a:cubicBezTo>
                <a:cubicBezTo>
                  <a:pt x="85" y="304"/>
                  <a:pt x="85" y="304"/>
                  <a:pt x="85" y="304"/>
                </a:cubicBezTo>
                <a:cubicBezTo>
                  <a:pt x="84" y="304"/>
                  <a:pt x="84" y="304"/>
                  <a:pt x="84" y="304"/>
                </a:cubicBezTo>
                <a:cubicBezTo>
                  <a:pt x="83" y="302"/>
                  <a:pt x="83" y="302"/>
                  <a:pt x="83" y="302"/>
                </a:cubicBezTo>
                <a:cubicBezTo>
                  <a:pt x="83" y="301"/>
                  <a:pt x="83" y="301"/>
                  <a:pt x="83" y="301"/>
                </a:cubicBezTo>
                <a:cubicBezTo>
                  <a:pt x="82" y="300"/>
                  <a:pt x="82" y="300"/>
                  <a:pt x="82" y="300"/>
                </a:cubicBezTo>
                <a:cubicBezTo>
                  <a:pt x="82" y="298"/>
                  <a:pt x="82" y="298"/>
                  <a:pt x="82" y="298"/>
                </a:cubicBezTo>
                <a:cubicBezTo>
                  <a:pt x="81" y="297"/>
                  <a:pt x="81" y="297"/>
                  <a:pt x="81" y="297"/>
                </a:cubicBezTo>
                <a:cubicBezTo>
                  <a:pt x="75" y="293"/>
                  <a:pt x="75" y="293"/>
                  <a:pt x="75" y="293"/>
                </a:cubicBezTo>
                <a:cubicBezTo>
                  <a:pt x="70" y="291"/>
                  <a:pt x="70" y="291"/>
                  <a:pt x="70" y="291"/>
                </a:cubicBezTo>
                <a:cubicBezTo>
                  <a:pt x="70" y="288"/>
                  <a:pt x="70" y="288"/>
                  <a:pt x="70" y="288"/>
                </a:cubicBezTo>
                <a:cubicBezTo>
                  <a:pt x="70" y="283"/>
                  <a:pt x="70" y="283"/>
                  <a:pt x="70" y="283"/>
                </a:cubicBezTo>
                <a:cubicBezTo>
                  <a:pt x="75" y="278"/>
                  <a:pt x="75" y="278"/>
                  <a:pt x="75" y="278"/>
                </a:cubicBezTo>
                <a:cubicBezTo>
                  <a:pt x="78" y="275"/>
                  <a:pt x="78" y="275"/>
                  <a:pt x="78" y="275"/>
                </a:cubicBezTo>
                <a:cubicBezTo>
                  <a:pt x="80" y="272"/>
                  <a:pt x="80" y="272"/>
                  <a:pt x="80" y="272"/>
                </a:cubicBezTo>
                <a:cubicBezTo>
                  <a:pt x="82" y="269"/>
                  <a:pt x="82" y="269"/>
                  <a:pt x="82" y="269"/>
                </a:cubicBezTo>
                <a:cubicBezTo>
                  <a:pt x="83" y="266"/>
                  <a:pt x="83" y="266"/>
                  <a:pt x="83" y="266"/>
                </a:cubicBezTo>
                <a:cubicBezTo>
                  <a:pt x="84" y="263"/>
                  <a:pt x="84" y="263"/>
                  <a:pt x="84" y="263"/>
                </a:cubicBezTo>
                <a:cubicBezTo>
                  <a:pt x="85" y="259"/>
                  <a:pt x="85" y="259"/>
                  <a:pt x="85" y="259"/>
                </a:cubicBezTo>
                <a:cubicBezTo>
                  <a:pt x="86" y="256"/>
                  <a:pt x="86" y="256"/>
                  <a:pt x="86" y="256"/>
                </a:cubicBezTo>
                <a:cubicBezTo>
                  <a:pt x="88" y="253"/>
                  <a:pt x="88" y="253"/>
                  <a:pt x="88" y="253"/>
                </a:cubicBezTo>
                <a:cubicBezTo>
                  <a:pt x="89" y="249"/>
                  <a:pt x="89" y="249"/>
                  <a:pt x="89" y="249"/>
                </a:cubicBezTo>
                <a:cubicBezTo>
                  <a:pt x="91" y="246"/>
                  <a:pt x="91" y="246"/>
                  <a:pt x="91" y="246"/>
                </a:cubicBezTo>
                <a:cubicBezTo>
                  <a:pt x="93" y="243"/>
                  <a:pt x="93" y="243"/>
                  <a:pt x="93" y="243"/>
                </a:cubicBezTo>
                <a:cubicBezTo>
                  <a:pt x="95" y="239"/>
                  <a:pt x="95" y="239"/>
                  <a:pt x="95" y="239"/>
                </a:cubicBezTo>
                <a:cubicBezTo>
                  <a:pt x="97" y="236"/>
                  <a:pt x="97" y="236"/>
                  <a:pt x="97" y="236"/>
                </a:cubicBezTo>
                <a:cubicBezTo>
                  <a:pt x="100" y="232"/>
                  <a:pt x="100" y="232"/>
                  <a:pt x="100" y="232"/>
                </a:cubicBezTo>
                <a:cubicBezTo>
                  <a:pt x="102" y="230"/>
                  <a:pt x="102" y="230"/>
                  <a:pt x="102" y="230"/>
                </a:cubicBezTo>
                <a:cubicBezTo>
                  <a:pt x="104" y="227"/>
                  <a:pt x="104" y="227"/>
                  <a:pt x="104" y="227"/>
                </a:cubicBezTo>
                <a:cubicBezTo>
                  <a:pt x="107" y="224"/>
                  <a:pt x="107" y="224"/>
                  <a:pt x="107" y="224"/>
                </a:cubicBezTo>
                <a:cubicBezTo>
                  <a:pt x="109" y="223"/>
                  <a:pt x="109" y="223"/>
                  <a:pt x="109" y="223"/>
                </a:cubicBezTo>
                <a:cubicBezTo>
                  <a:pt x="110" y="221"/>
                  <a:pt x="110" y="221"/>
                  <a:pt x="110" y="221"/>
                </a:cubicBezTo>
                <a:cubicBezTo>
                  <a:pt x="112" y="219"/>
                  <a:pt x="112" y="219"/>
                  <a:pt x="112" y="219"/>
                </a:cubicBezTo>
                <a:cubicBezTo>
                  <a:pt x="115" y="217"/>
                  <a:pt x="115" y="217"/>
                  <a:pt x="115" y="217"/>
                </a:cubicBezTo>
                <a:cubicBezTo>
                  <a:pt x="118" y="214"/>
                  <a:pt x="118" y="214"/>
                  <a:pt x="118" y="214"/>
                </a:cubicBezTo>
                <a:cubicBezTo>
                  <a:pt x="121" y="212"/>
                  <a:pt x="121" y="212"/>
                  <a:pt x="121" y="212"/>
                </a:cubicBezTo>
                <a:cubicBezTo>
                  <a:pt x="122" y="211"/>
                  <a:pt x="122" y="211"/>
                  <a:pt x="122" y="211"/>
                </a:cubicBezTo>
                <a:cubicBezTo>
                  <a:pt x="122" y="209"/>
                  <a:pt x="122" y="209"/>
                  <a:pt x="122" y="209"/>
                </a:cubicBezTo>
                <a:cubicBezTo>
                  <a:pt x="114" y="207"/>
                  <a:pt x="114" y="207"/>
                  <a:pt x="114" y="207"/>
                </a:cubicBezTo>
                <a:cubicBezTo>
                  <a:pt x="106" y="206"/>
                  <a:pt x="106" y="206"/>
                  <a:pt x="106" y="206"/>
                </a:cubicBezTo>
                <a:cubicBezTo>
                  <a:pt x="106" y="204"/>
                  <a:pt x="106" y="204"/>
                  <a:pt x="106" y="204"/>
                </a:cubicBezTo>
                <a:cubicBezTo>
                  <a:pt x="106" y="202"/>
                  <a:pt x="106" y="202"/>
                  <a:pt x="106" y="202"/>
                </a:cubicBezTo>
                <a:cubicBezTo>
                  <a:pt x="106" y="201"/>
                  <a:pt x="106" y="201"/>
                  <a:pt x="106" y="201"/>
                </a:cubicBezTo>
                <a:cubicBezTo>
                  <a:pt x="114" y="199"/>
                  <a:pt x="114" y="199"/>
                  <a:pt x="114" y="199"/>
                </a:cubicBezTo>
                <a:cubicBezTo>
                  <a:pt x="118" y="197"/>
                  <a:pt x="118" y="197"/>
                  <a:pt x="118" y="197"/>
                </a:cubicBezTo>
                <a:cubicBezTo>
                  <a:pt x="121" y="194"/>
                  <a:pt x="121" y="194"/>
                  <a:pt x="121" y="194"/>
                </a:cubicBezTo>
                <a:cubicBezTo>
                  <a:pt x="123" y="192"/>
                  <a:pt x="123" y="192"/>
                  <a:pt x="123" y="192"/>
                </a:cubicBezTo>
                <a:cubicBezTo>
                  <a:pt x="114" y="189"/>
                  <a:pt x="114" y="189"/>
                  <a:pt x="114" y="189"/>
                </a:cubicBezTo>
                <a:cubicBezTo>
                  <a:pt x="106" y="187"/>
                  <a:pt x="106" y="187"/>
                  <a:pt x="106" y="187"/>
                </a:cubicBezTo>
                <a:cubicBezTo>
                  <a:pt x="106" y="185"/>
                  <a:pt x="106" y="185"/>
                  <a:pt x="106" y="185"/>
                </a:cubicBezTo>
                <a:cubicBezTo>
                  <a:pt x="116" y="183"/>
                  <a:pt x="116" y="183"/>
                  <a:pt x="116" y="183"/>
                </a:cubicBezTo>
                <a:cubicBezTo>
                  <a:pt x="122" y="181"/>
                  <a:pt x="122" y="181"/>
                  <a:pt x="122" y="181"/>
                </a:cubicBezTo>
                <a:cubicBezTo>
                  <a:pt x="125" y="179"/>
                  <a:pt x="125" y="179"/>
                  <a:pt x="125" y="179"/>
                </a:cubicBezTo>
                <a:cubicBezTo>
                  <a:pt x="127" y="176"/>
                  <a:pt x="127" y="176"/>
                  <a:pt x="127" y="176"/>
                </a:cubicBezTo>
                <a:cubicBezTo>
                  <a:pt x="129" y="174"/>
                  <a:pt x="129" y="174"/>
                  <a:pt x="129" y="174"/>
                </a:cubicBezTo>
                <a:cubicBezTo>
                  <a:pt x="130" y="173"/>
                  <a:pt x="130" y="173"/>
                  <a:pt x="130" y="173"/>
                </a:cubicBezTo>
                <a:cubicBezTo>
                  <a:pt x="130" y="172"/>
                  <a:pt x="130" y="172"/>
                  <a:pt x="130" y="172"/>
                </a:cubicBezTo>
                <a:cubicBezTo>
                  <a:pt x="130" y="171"/>
                  <a:pt x="130" y="171"/>
                  <a:pt x="130" y="171"/>
                </a:cubicBezTo>
                <a:cubicBezTo>
                  <a:pt x="130" y="169"/>
                  <a:pt x="130" y="169"/>
                  <a:pt x="130" y="169"/>
                </a:cubicBezTo>
                <a:cubicBezTo>
                  <a:pt x="130" y="167"/>
                  <a:pt x="130" y="167"/>
                  <a:pt x="130" y="167"/>
                </a:cubicBezTo>
                <a:cubicBezTo>
                  <a:pt x="130" y="165"/>
                  <a:pt x="130" y="165"/>
                  <a:pt x="130" y="165"/>
                </a:cubicBezTo>
                <a:cubicBezTo>
                  <a:pt x="131" y="161"/>
                  <a:pt x="131" y="161"/>
                  <a:pt x="131" y="161"/>
                </a:cubicBezTo>
                <a:cubicBezTo>
                  <a:pt x="132" y="158"/>
                  <a:pt x="132" y="158"/>
                  <a:pt x="132" y="158"/>
                </a:cubicBezTo>
                <a:cubicBezTo>
                  <a:pt x="133" y="153"/>
                  <a:pt x="133" y="153"/>
                  <a:pt x="133" y="153"/>
                </a:cubicBezTo>
                <a:cubicBezTo>
                  <a:pt x="135" y="148"/>
                  <a:pt x="135" y="148"/>
                  <a:pt x="135" y="148"/>
                </a:cubicBezTo>
                <a:cubicBezTo>
                  <a:pt x="136" y="146"/>
                  <a:pt x="136" y="146"/>
                  <a:pt x="136" y="146"/>
                </a:cubicBezTo>
                <a:cubicBezTo>
                  <a:pt x="137" y="143"/>
                  <a:pt x="137" y="143"/>
                  <a:pt x="137" y="143"/>
                </a:cubicBezTo>
                <a:cubicBezTo>
                  <a:pt x="138" y="140"/>
                  <a:pt x="138" y="140"/>
                  <a:pt x="138" y="140"/>
                </a:cubicBezTo>
                <a:cubicBezTo>
                  <a:pt x="139" y="137"/>
                  <a:pt x="139" y="137"/>
                  <a:pt x="139" y="137"/>
                </a:cubicBezTo>
                <a:cubicBezTo>
                  <a:pt x="141" y="134"/>
                  <a:pt x="141" y="134"/>
                  <a:pt x="141" y="134"/>
                </a:cubicBezTo>
                <a:cubicBezTo>
                  <a:pt x="142" y="131"/>
                  <a:pt x="142" y="131"/>
                  <a:pt x="142" y="131"/>
                </a:cubicBezTo>
                <a:cubicBezTo>
                  <a:pt x="144" y="128"/>
                  <a:pt x="144" y="128"/>
                  <a:pt x="144" y="128"/>
                </a:cubicBezTo>
                <a:cubicBezTo>
                  <a:pt x="146" y="125"/>
                  <a:pt x="146" y="125"/>
                  <a:pt x="146" y="125"/>
                </a:cubicBezTo>
                <a:cubicBezTo>
                  <a:pt x="147" y="123"/>
                  <a:pt x="147" y="123"/>
                  <a:pt x="147" y="123"/>
                </a:cubicBezTo>
                <a:cubicBezTo>
                  <a:pt x="148" y="122"/>
                  <a:pt x="148" y="122"/>
                  <a:pt x="148" y="122"/>
                </a:cubicBezTo>
                <a:cubicBezTo>
                  <a:pt x="150" y="119"/>
                  <a:pt x="150" y="119"/>
                  <a:pt x="150" y="119"/>
                </a:cubicBezTo>
                <a:cubicBezTo>
                  <a:pt x="152" y="116"/>
                  <a:pt x="152" y="116"/>
                  <a:pt x="152" y="116"/>
                </a:cubicBezTo>
                <a:cubicBezTo>
                  <a:pt x="155" y="112"/>
                  <a:pt x="155" y="112"/>
                  <a:pt x="155" y="112"/>
                </a:cubicBezTo>
                <a:cubicBezTo>
                  <a:pt x="158" y="109"/>
                  <a:pt x="158" y="109"/>
                  <a:pt x="158" y="109"/>
                </a:cubicBezTo>
                <a:cubicBezTo>
                  <a:pt x="161" y="106"/>
                  <a:pt x="161" y="106"/>
                  <a:pt x="161" y="106"/>
                </a:cubicBezTo>
                <a:cubicBezTo>
                  <a:pt x="164" y="102"/>
                  <a:pt x="164" y="102"/>
                  <a:pt x="164" y="102"/>
                </a:cubicBezTo>
                <a:cubicBezTo>
                  <a:pt x="168" y="99"/>
                  <a:pt x="168" y="99"/>
                  <a:pt x="168" y="99"/>
                </a:cubicBezTo>
                <a:cubicBezTo>
                  <a:pt x="171" y="97"/>
                  <a:pt x="171" y="97"/>
                  <a:pt x="171" y="97"/>
                </a:cubicBezTo>
                <a:cubicBezTo>
                  <a:pt x="174" y="94"/>
                  <a:pt x="174" y="94"/>
                  <a:pt x="174" y="94"/>
                </a:cubicBezTo>
                <a:cubicBezTo>
                  <a:pt x="177" y="92"/>
                  <a:pt x="177" y="92"/>
                  <a:pt x="177" y="92"/>
                </a:cubicBezTo>
                <a:cubicBezTo>
                  <a:pt x="180" y="90"/>
                  <a:pt x="180" y="90"/>
                  <a:pt x="180" y="90"/>
                </a:cubicBezTo>
                <a:cubicBezTo>
                  <a:pt x="183" y="88"/>
                  <a:pt x="183" y="88"/>
                  <a:pt x="183" y="88"/>
                </a:cubicBezTo>
                <a:cubicBezTo>
                  <a:pt x="187" y="87"/>
                  <a:pt x="187" y="87"/>
                  <a:pt x="187" y="87"/>
                </a:cubicBezTo>
                <a:cubicBezTo>
                  <a:pt x="190" y="85"/>
                  <a:pt x="190" y="85"/>
                  <a:pt x="190" y="85"/>
                </a:cubicBezTo>
                <a:cubicBezTo>
                  <a:pt x="194" y="84"/>
                  <a:pt x="194" y="84"/>
                  <a:pt x="194" y="84"/>
                </a:cubicBezTo>
                <a:cubicBezTo>
                  <a:pt x="198" y="83"/>
                  <a:pt x="198" y="83"/>
                  <a:pt x="198" y="83"/>
                </a:cubicBezTo>
                <a:cubicBezTo>
                  <a:pt x="202" y="81"/>
                  <a:pt x="202" y="81"/>
                  <a:pt x="202" y="81"/>
                </a:cubicBezTo>
                <a:cubicBezTo>
                  <a:pt x="206" y="80"/>
                  <a:pt x="206" y="80"/>
                  <a:pt x="206" y="80"/>
                </a:cubicBezTo>
                <a:cubicBezTo>
                  <a:pt x="210" y="80"/>
                  <a:pt x="210" y="80"/>
                  <a:pt x="210" y="80"/>
                </a:cubicBezTo>
                <a:cubicBezTo>
                  <a:pt x="215" y="79"/>
                  <a:pt x="215" y="79"/>
                  <a:pt x="215" y="79"/>
                </a:cubicBezTo>
                <a:cubicBezTo>
                  <a:pt x="219" y="78"/>
                  <a:pt x="219" y="78"/>
                  <a:pt x="219" y="78"/>
                </a:cubicBezTo>
                <a:cubicBezTo>
                  <a:pt x="223" y="81"/>
                  <a:pt x="223" y="81"/>
                  <a:pt x="223" y="81"/>
                </a:cubicBezTo>
                <a:cubicBezTo>
                  <a:pt x="228" y="83"/>
                  <a:pt x="228" y="83"/>
                  <a:pt x="228" y="83"/>
                </a:cubicBezTo>
                <a:cubicBezTo>
                  <a:pt x="232" y="83"/>
                  <a:pt x="232" y="83"/>
                  <a:pt x="232" y="83"/>
                </a:cubicBezTo>
                <a:cubicBezTo>
                  <a:pt x="237" y="83"/>
                  <a:pt x="237" y="83"/>
                  <a:pt x="237" y="83"/>
                </a:cubicBezTo>
                <a:cubicBezTo>
                  <a:pt x="241" y="83"/>
                  <a:pt x="241" y="83"/>
                  <a:pt x="241" y="83"/>
                </a:cubicBezTo>
                <a:cubicBezTo>
                  <a:pt x="246" y="81"/>
                  <a:pt x="246" y="81"/>
                  <a:pt x="246" y="81"/>
                </a:cubicBezTo>
                <a:cubicBezTo>
                  <a:pt x="250" y="80"/>
                  <a:pt x="250" y="80"/>
                  <a:pt x="250" y="80"/>
                </a:cubicBezTo>
                <a:cubicBezTo>
                  <a:pt x="255" y="80"/>
                  <a:pt x="255" y="80"/>
                  <a:pt x="255" y="80"/>
                </a:cubicBezTo>
                <a:cubicBezTo>
                  <a:pt x="259" y="80"/>
                  <a:pt x="259" y="80"/>
                  <a:pt x="259" y="80"/>
                </a:cubicBezTo>
                <a:cubicBezTo>
                  <a:pt x="264" y="81"/>
                  <a:pt x="264" y="81"/>
                  <a:pt x="264" y="81"/>
                </a:cubicBezTo>
                <a:cubicBezTo>
                  <a:pt x="268" y="82"/>
                  <a:pt x="268" y="82"/>
                  <a:pt x="268" y="82"/>
                </a:cubicBezTo>
                <a:cubicBezTo>
                  <a:pt x="272" y="83"/>
                  <a:pt x="272" y="83"/>
                  <a:pt x="272" y="83"/>
                </a:cubicBezTo>
                <a:cubicBezTo>
                  <a:pt x="277" y="85"/>
                  <a:pt x="277" y="85"/>
                  <a:pt x="277" y="85"/>
                </a:cubicBezTo>
                <a:cubicBezTo>
                  <a:pt x="281" y="87"/>
                  <a:pt x="281" y="87"/>
                  <a:pt x="281" y="87"/>
                </a:cubicBezTo>
                <a:cubicBezTo>
                  <a:pt x="285" y="88"/>
                  <a:pt x="285" y="88"/>
                  <a:pt x="285" y="88"/>
                </a:cubicBezTo>
                <a:cubicBezTo>
                  <a:pt x="289" y="90"/>
                  <a:pt x="289" y="90"/>
                  <a:pt x="289" y="90"/>
                </a:cubicBezTo>
                <a:cubicBezTo>
                  <a:pt x="293" y="93"/>
                  <a:pt x="293" y="93"/>
                  <a:pt x="293" y="93"/>
                </a:cubicBezTo>
                <a:cubicBezTo>
                  <a:pt x="297" y="95"/>
                  <a:pt x="297" y="95"/>
                  <a:pt x="297" y="95"/>
                </a:cubicBezTo>
                <a:cubicBezTo>
                  <a:pt x="300" y="97"/>
                  <a:pt x="300" y="97"/>
                  <a:pt x="300" y="97"/>
                </a:cubicBezTo>
                <a:cubicBezTo>
                  <a:pt x="301" y="99"/>
                  <a:pt x="301" y="99"/>
                  <a:pt x="301" y="99"/>
                </a:cubicBezTo>
                <a:cubicBezTo>
                  <a:pt x="303" y="100"/>
                  <a:pt x="303" y="100"/>
                  <a:pt x="303" y="100"/>
                </a:cubicBezTo>
                <a:cubicBezTo>
                  <a:pt x="306" y="102"/>
                  <a:pt x="306" y="102"/>
                  <a:pt x="306" y="102"/>
                </a:cubicBezTo>
                <a:cubicBezTo>
                  <a:pt x="309" y="105"/>
                  <a:pt x="309" y="105"/>
                  <a:pt x="309" y="105"/>
                </a:cubicBezTo>
                <a:cubicBezTo>
                  <a:pt x="311" y="107"/>
                  <a:pt x="311" y="107"/>
                  <a:pt x="311" y="107"/>
                </a:cubicBezTo>
                <a:cubicBezTo>
                  <a:pt x="314" y="110"/>
                  <a:pt x="314" y="110"/>
                  <a:pt x="314" y="110"/>
                </a:cubicBezTo>
                <a:cubicBezTo>
                  <a:pt x="316" y="113"/>
                  <a:pt x="316" y="113"/>
                  <a:pt x="316" y="113"/>
                </a:cubicBezTo>
                <a:cubicBezTo>
                  <a:pt x="318" y="116"/>
                  <a:pt x="318" y="116"/>
                  <a:pt x="318" y="116"/>
                </a:cubicBezTo>
                <a:cubicBezTo>
                  <a:pt x="320" y="119"/>
                  <a:pt x="320" y="119"/>
                  <a:pt x="320" y="119"/>
                </a:cubicBezTo>
                <a:cubicBezTo>
                  <a:pt x="321" y="121"/>
                  <a:pt x="321" y="121"/>
                  <a:pt x="321" y="121"/>
                </a:cubicBezTo>
                <a:cubicBezTo>
                  <a:pt x="323" y="124"/>
                  <a:pt x="323" y="124"/>
                  <a:pt x="323" y="124"/>
                </a:cubicBezTo>
                <a:cubicBezTo>
                  <a:pt x="325" y="127"/>
                  <a:pt x="325" y="127"/>
                  <a:pt x="325" y="127"/>
                </a:cubicBezTo>
                <a:cubicBezTo>
                  <a:pt x="327" y="133"/>
                  <a:pt x="327" y="133"/>
                  <a:pt x="327" y="133"/>
                </a:cubicBezTo>
                <a:cubicBezTo>
                  <a:pt x="328" y="136"/>
                  <a:pt x="328" y="136"/>
                  <a:pt x="328" y="136"/>
                </a:cubicBezTo>
                <a:cubicBezTo>
                  <a:pt x="329" y="139"/>
                  <a:pt x="329" y="139"/>
                  <a:pt x="329" y="139"/>
                </a:cubicBezTo>
                <a:cubicBezTo>
                  <a:pt x="330" y="142"/>
                  <a:pt x="330" y="142"/>
                  <a:pt x="330" y="142"/>
                </a:cubicBezTo>
                <a:cubicBezTo>
                  <a:pt x="331" y="144"/>
                  <a:pt x="331" y="144"/>
                  <a:pt x="331" y="144"/>
                </a:cubicBezTo>
                <a:cubicBezTo>
                  <a:pt x="332" y="147"/>
                  <a:pt x="332" y="147"/>
                  <a:pt x="332" y="147"/>
                </a:cubicBezTo>
                <a:cubicBezTo>
                  <a:pt x="333" y="150"/>
                  <a:pt x="333" y="150"/>
                  <a:pt x="333" y="150"/>
                </a:cubicBezTo>
                <a:cubicBezTo>
                  <a:pt x="334" y="155"/>
                  <a:pt x="334" y="155"/>
                  <a:pt x="334" y="155"/>
                </a:cubicBezTo>
                <a:cubicBezTo>
                  <a:pt x="335" y="159"/>
                  <a:pt x="335" y="159"/>
                  <a:pt x="335" y="159"/>
                </a:cubicBezTo>
                <a:cubicBezTo>
                  <a:pt x="336" y="164"/>
                  <a:pt x="336" y="164"/>
                  <a:pt x="336" y="164"/>
                </a:cubicBezTo>
                <a:cubicBezTo>
                  <a:pt x="336" y="167"/>
                  <a:pt x="336" y="167"/>
                  <a:pt x="336" y="167"/>
                </a:cubicBezTo>
                <a:cubicBezTo>
                  <a:pt x="337" y="172"/>
                  <a:pt x="337" y="172"/>
                  <a:pt x="337" y="172"/>
                </a:cubicBezTo>
                <a:cubicBezTo>
                  <a:pt x="337" y="173"/>
                  <a:pt x="337" y="173"/>
                  <a:pt x="337" y="173"/>
                </a:cubicBezTo>
                <a:cubicBezTo>
                  <a:pt x="338" y="174"/>
                  <a:pt x="338" y="174"/>
                  <a:pt x="338" y="174"/>
                </a:cubicBezTo>
                <a:cubicBezTo>
                  <a:pt x="339" y="177"/>
                  <a:pt x="339" y="177"/>
                  <a:pt x="339" y="177"/>
                </a:cubicBezTo>
                <a:cubicBezTo>
                  <a:pt x="340" y="179"/>
                  <a:pt x="340" y="179"/>
                  <a:pt x="340" y="179"/>
                </a:cubicBezTo>
                <a:cubicBezTo>
                  <a:pt x="341" y="181"/>
                  <a:pt x="341" y="181"/>
                  <a:pt x="341" y="181"/>
                </a:cubicBezTo>
                <a:cubicBezTo>
                  <a:pt x="343" y="183"/>
                  <a:pt x="343" y="183"/>
                  <a:pt x="343" y="183"/>
                </a:cubicBezTo>
                <a:cubicBezTo>
                  <a:pt x="344" y="185"/>
                  <a:pt x="344" y="185"/>
                  <a:pt x="344" y="185"/>
                </a:cubicBezTo>
                <a:cubicBezTo>
                  <a:pt x="344" y="188"/>
                  <a:pt x="344" y="188"/>
                  <a:pt x="344" y="188"/>
                </a:cubicBezTo>
                <a:cubicBezTo>
                  <a:pt x="345" y="191"/>
                  <a:pt x="345" y="191"/>
                  <a:pt x="345" y="191"/>
                </a:cubicBezTo>
                <a:cubicBezTo>
                  <a:pt x="346" y="194"/>
                  <a:pt x="346" y="194"/>
                  <a:pt x="346" y="194"/>
                </a:cubicBezTo>
                <a:cubicBezTo>
                  <a:pt x="340" y="195"/>
                  <a:pt x="340" y="195"/>
                  <a:pt x="340" y="195"/>
                </a:cubicBezTo>
                <a:cubicBezTo>
                  <a:pt x="334" y="197"/>
                  <a:pt x="334" y="197"/>
                  <a:pt x="334" y="197"/>
                </a:cubicBezTo>
                <a:cubicBezTo>
                  <a:pt x="334" y="198"/>
                  <a:pt x="334" y="198"/>
                  <a:pt x="334" y="198"/>
                </a:cubicBezTo>
                <a:cubicBezTo>
                  <a:pt x="334" y="200"/>
                  <a:pt x="334" y="200"/>
                  <a:pt x="334" y="200"/>
                </a:cubicBezTo>
                <a:cubicBezTo>
                  <a:pt x="334" y="202"/>
                  <a:pt x="334" y="202"/>
                  <a:pt x="334" y="202"/>
                </a:cubicBezTo>
                <a:cubicBezTo>
                  <a:pt x="339" y="203"/>
                  <a:pt x="339" y="203"/>
                  <a:pt x="339" y="203"/>
                </a:cubicBezTo>
                <a:cubicBezTo>
                  <a:pt x="342" y="207"/>
                  <a:pt x="342" y="207"/>
                  <a:pt x="342" y="207"/>
                </a:cubicBezTo>
                <a:cubicBezTo>
                  <a:pt x="337" y="209"/>
                  <a:pt x="337" y="209"/>
                  <a:pt x="337" y="209"/>
                </a:cubicBezTo>
                <a:cubicBezTo>
                  <a:pt x="334" y="211"/>
                  <a:pt x="334" y="211"/>
                  <a:pt x="334" y="211"/>
                </a:cubicBezTo>
                <a:cubicBezTo>
                  <a:pt x="334" y="211"/>
                  <a:pt x="334" y="211"/>
                  <a:pt x="334" y="211"/>
                </a:cubicBezTo>
                <a:cubicBezTo>
                  <a:pt x="339" y="212"/>
                  <a:pt x="339" y="212"/>
                  <a:pt x="339" y="212"/>
                </a:cubicBezTo>
                <a:cubicBezTo>
                  <a:pt x="342" y="213"/>
                  <a:pt x="342" y="213"/>
                  <a:pt x="342" y="213"/>
                </a:cubicBezTo>
                <a:cubicBezTo>
                  <a:pt x="347" y="219"/>
                  <a:pt x="347" y="219"/>
                  <a:pt x="347" y="219"/>
                </a:cubicBezTo>
                <a:cubicBezTo>
                  <a:pt x="351" y="223"/>
                  <a:pt x="351" y="223"/>
                  <a:pt x="351" y="223"/>
                </a:cubicBezTo>
                <a:cubicBezTo>
                  <a:pt x="353" y="226"/>
                  <a:pt x="353" y="226"/>
                  <a:pt x="353" y="226"/>
                </a:cubicBezTo>
                <a:cubicBezTo>
                  <a:pt x="355" y="230"/>
                  <a:pt x="355" y="230"/>
                  <a:pt x="355" y="230"/>
                </a:cubicBezTo>
                <a:cubicBezTo>
                  <a:pt x="357" y="233"/>
                  <a:pt x="357" y="233"/>
                  <a:pt x="357" y="233"/>
                </a:cubicBezTo>
                <a:cubicBezTo>
                  <a:pt x="359" y="237"/>
                  <a:pt x="359" y="237"/>
                  <a:pt x="359" y="237"/>
                </a:cubicBezTo>
                <a:cubicBezTo>
                  <a:pt x="361" y="241"/>
                  <a:pt x="361" y="241"/>
                  <a:pt x="361" y="241"/>
                </a:cubicBezTo>
                <a:cubicBezTo>
                  <a:pt x="363" y="246"/>
                  <a:pt x="363" y="246"/>
                  <a:pt x="363" y="246"/>
                </a:cubicBezTo>
                <a:cubicBezTo>
                  <a:pt x="364" y="249"/>
                  <a:pt x="364" y="249"/>
                  <a:pt x="364" y="249"/>
                </a:cubicBezTo>
                <a:cubicBezTo>
                  <a:pt x="366" y="252"/>
                  <a:pt x="366" y="252"/>
                  <a:pt x="366" y="252"/>
                </a:cubicBezTo>
                <a:cubicBezTo>
                  <a:pt x="367" y="255"/>
                  <a:pt x="367" y="255"/>
                  <a:pt x="367" y="255"/>
                </a:cubicBezTo>
                <a:cubicBezTo>
                  <a:pt x="368" y="257"/>
                  <a:pt x="368" y="257"/>
                  <a:pt x="368" y="257"/>
                </a:cubicBezTo>
                <a:cubicBezTo>
                  <a:pt x="368" y="260"/>
                  <a:pt x="368" y="260"/>
                  <a:pt x="368" y="260"/>
                </a:cubicBezTo>
                <a:cubicBezTo>
                  <a:pt x="369" y="263"/>
                  <a:pt x="369" y="263"/>
                  <a:pt x="369" y="263"/>
                </a:cubicBezTo>
                <a:cubicBezTo>
                  <a:pt x="370" y="268"/>
                  <a:pt x="370" y="268"/>
                  <a:pt x="370" y="268"/>
                </a:cubicBezTo>
                <a:cubicBezTo>
                  <a:pt x="364" y="274"/>
                  <a:pt x="364" y="274"/>
                  <a:pt x="364" y="274"/>
                </a:cubicBezTo>
                <a:cubicBezTo>
                  <a:pt x="358" y="278"/>
                  <a:pt x="358" y="278"/>
                  <a:pt x="358" y="278"/>
                </a:cubicBezTo>
                <a:lnTo>
                  <a:pt x="358" y="281"/>
                </a:lnTo>
                <a:close/>
              </a:path>
            </a:pathLst>
          </a:custGeom>
          <a:solidFill>
            <a:schemeClr val="bg1"/>
          </a:solidFill>
          <a:ln>
            <a:noFill/>
          </a:ln>
        </p:spPr>
        <p:txBody>
          <a:bodyPr vert="horz" wrap="square" lIns="91440" tIns="45720" rIns="91440" bIns="45720" numCol="1" anchor="t" anchorCtr="0" compatLnSpc="1"/>
          <a:p>
            <a:endParaRPr lang="zh-CN" altLang="en-US">
              <a:latin typeface="+mn-ea"/>
            </a:endParaRPr>
          </a:p>
        </p:txBody>
      </p:sp>
      <p:sp>
        <p:nvSpPr>
          <p:cNvPr id="403" name="Freeform 76"/>
          <p:cNvSpPr>
            <a:spLocks noChangeArrowheads="1"/>
          </p:cNvSpPr>
          <p:nvPr/>
        </p:nvSpPr>
        <p:spPr bwMode="auto">
          <a:xfrm>
            <a:off x="4749800" y="5969635"/>
            <a:ext cx="244475" cy="320040"/>
          </a:xfrm>
          <a:custGeom>
            <a:avLst/>
            <a:gdLst>
              <a:gd name="T0" fmla="*/ 238 w 283"/>
              <a:gd name="T1" fmla="*/ 0 h 489"/>
              <a:gd name="T2" fmla="*/ 238 w 283"/>
              <a:gd name="T3" fmla="*/ 0 h 489"/>
              <a:gd name="T4" fmla="*/ 44 w 283"/>
              <a:gd name="T5" fmla="*/ 0 h 489"/>
              <a:gd name="T6" fmla="*/ 0 w 283"/>
              <a:gd name="T7" fmla="*/ 44 h 489"/>
              <a:gd name="T8" fmla="*/ 0 w 283"/>
              <a:gd name="T9" fmla="*/ 434 h 489"/>
              <a:gd name="T10" fmla="*/ 44 w 283"/>
              <a:gd name="T11" fmla="*/ 488 h 489"/>
              <a:gd name="T12" fmla="*/ 238 w 283"/>
              <a:gd name="T13" fmla="*/ 488 h 489"/>
              <a:gd name="T14" fmla="*/ 282 w 283"/>
              <a:gd name="T15" fmla="*/ 434 h 489"/>
              <a:gd name="T16" fmla="*/ 282 w 283"/>
              <a:gd name="T17" fmla="*/ 44 h 489"/>
              <a:gd name="T18" fmla="*/ 238 w 283"/>
              <a:gd name="T19" fmla="*/ 0 h 489"/>
              <a:gd name="T20" fmla="*/ 141 w 283"/>
              <a:gd name="T21" fmla="*/ 460 h 489"/>
              <a:gd name="T22" fmla="*/ 141 w 283"/>
              <a:gd name="T23" fmla="*/ 460 h 489"/>
              <a:gd name="T24" fmla="*/ 106 w 283"/>
              <a:gd name="T25" fmla="*/ 443 h 489"/>
              <a:gd name="T26" fmla="*/ 141 w 283"/>
              <a:gd name="T27" fmla="*/ 416 h 489"/>
              <a:gd name="T28" fmla="*/ 176 w 283"/>
              <a:gd name="T29" fmla="*/ 443 h 489"/>
              <a:gd name="T30" fmla="*/ 141 w 283"/>
              <a:gd name="T31" fmla="*/ 460 h 489"/>
              <a:gd name="T32" fmla="*/ 247 w 283"/>
              <a:gd name="T33" fmla="*/ 390 h 489"/>
              <a:gd name="T34" fmla="*/ 247 w 283"/>
              <a:gd name="T35" fmla="*/ 390 h 489"/>
              <a:gd name="T36" fmla="*/ 35 w 283"/>
              <a:gd name="T37" fmla="*/ 390 h 489"/>
              <a:gd name="T38" fmla="*/ 35 w 283"/>
              <a:gd name="T39" fmla="*/ 62 h 489"/>
              <a:gd name="T40" fmla="*/ 247 w 283"/>
              <a:gd name="T41" fmla="*/ 62 h 489"/>
              <a:gd name="T42" fmla="*/ 247 w 283"/>
              <a:gd name="T43" fmla="*/ 390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3" h="489">
                <a:moveTo>
                  <a:pt x="238" y="0"/>
                </a:moveTo>
                <a:lnTo>
                  <a:pt x="238" y="0"/>
                </a:lnTo>
                <a:cubicBezTo>
                  <a:pt x="44" y="0"/>
                  <a:pt x="44" y="0"/>
                  <a:pt x="44" y="0"/>
                </a:cubicBezTo>
                <a:cubicBezTo>
                  <a:pt x="17" y="0"/>
                  <a:pt x="0" y="18"/>
                  <a:pt x="0" y="44"/>
                </a:cubicBezTo>
                <a:cubicBezTo>
                  <a:pt x="0" y="434"/>
                  <a:pt x="0" y="434"/>
                  <a:pt x="0" y="434"/>
                </a:cubicBezTo>
                <a:cubicBezTo>
                  <a:pt x="0" y="460"/>
                  <a:pt x="17" y="488"/>
                  <a:pt x="44" y="488"/>
                </a:cubicBezTo>
                <a:cubicBezTo>
                  <a:pt x="238" y="488"/>
                  <a:pt x="238" y="488"/>
                  <a:pt x="238" y="488"/>
                </a:cubicBezTo>
                <a:cubicBezTo>
                  <a:pt x="265" y="488"/>
                  <a:pt x="282" y="460"/>
                  <a:pt x="282" y="434"/>
                </a:cubicBezTo>
                <a:cubicBezTo>
                  <a:pt x="282" y="44"/>
                  <a:pt x="282" y="44"/>
                  <a:pt x="282" y="44"/>
                </a:cubicBezTo>
                <a:cubicBezTo>
                  <a:pt x="282" y="18"/>
                  <a:pt x="265" y="0"/>
                  <a:pt x="238" y="0"/>
                </a:cubicBezTo>
                <a:close/>
                <a:moveTo>
                  <a:pt x="141" y="460"/>
                </a:moveTo>
                <a:lnTo>
                  <a:pt x="141" y="460"/>
                </a:lnTo>
                <a:cubicBezTo>
                  <a:pt x="123" y="460"/>
                  <a:pt x="106" y="451"/>
                  <a:pt x="106" y="443"/>
                </a:cubicBezTo>
                <a:cubicBezTo>
                  <a:pt x="106" y="425"/>
                  <a:pt x="123" y="416"/>
                  <a:pt x="141" y="416"/>
                </a:cubicBezTo>
                <a:cubicBezTo>
                  <a:pt x="159" y="416"/>
                  <a:pt x="176" y="425"/>
                  <a:pt x="176" y="443"/>
                </a:cubicBezTo>
                <a:cubicBezTo>
                  <a:pt x="176" y="451"/>
                  <a:pt x="159" y="460"/>
                  <a:pt x="141" y="460"/>
                </a:cubicBezTo>
                <a:close/>
                <a:moveTo>
                  <a:pt x="247" y="390"/>
                </a:moveTo>
                <a:lnTo>
                  <a:pt x="247" y="390"/>
                </a:lnTo>
                <a:cubicBezTo>
                  <a:pt x="35" y="390"/>
                  <a:pt x="35" y="390"/>
                  <a:pt x="35" y="390"/>
                </a:cubicBezTo>
                <a:cubicBezTo>
                  <a:pt x="35" y="62"/>
                  <a:pt x="35" y="62"/>
                  <a:pt x="35" y="62"/>
                </a:cubicBezTo>
                <a:cubicBezTo>
                  <a:pt x="247" y="62"/>
                  <a:pt x="247" y="62"/>
                  <a:pt x="247" y="62"/>
                </a:cubicBezTo>
                <a:lnTo>
                  <a:pt x="247" y="390"/>
                </a:lnTo>
                <a:close/>
              </a:path>
            </a:pathLst>
          </a:custGeom>
          <a:solidFill>
            <a:schemeClr val="bg1"/>
          </a:solidFill>
          <a:ln>
            <a:noFill/>
          </a:ln>
          <a:effectLst/>
        </p:spPr>
        <p:txBody>
          <a:bodyPr wrap="none" anchor="ctr"/>
          <a:p>
            <a:endParaRPr lang="en-US" dirty="0">
              <a:latin typeface="+mn-ea"/>
            </a:endParaRPr>
          </a:p>
        </p:txBody>
      </p:sp>
      <p:pic>
        <p:nvPicPr>
          <p:cNvPr id="2" name="图片 1"/>
          <p:cNvPicPr>
            <a:picLocks noChangeAspect="1"/>
          </p:cNvPicPr>
          <p:nvPr/>
        </p:nvPicPr>
        <p:blipFill>
          <a:blip r:embed="rId2"/>
          <a:srcRect l="499" t="1081" r="956" b="2952"/>
          <a:stretch>
            <a:fillRect/>
          </a:stretch>
        </p:blipFill>
        <p:spPr>
          <a:xfrm>
            <a:off x="3271520" y="2200910"/>
            <a:ext cx="5669915" cy="17094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anim calcmode="lin" valueType="num">
                                      <p:cBhvr>
                                        <p:cTn id="8" dur="500" fill="hold"/>
                                        <p:tgtEl>
                                          <p:spTgt spid="32"/>
                                        </p:tgtEl>
                                        <p:attrNameLst>
                                          <p:attrName>ppt_x</p:attrName>
                                        </p:attrNameLst>
                                      </p:cBhvr>
                                      <p:tavLst>
                                        <p:tav tm="0">
                                          <p:val>
                                            <p:strVal val="#ppt_x"/>
                                          </p:val>
                                        </p:tav>
                                        <p:tav tm="100000">
                                          <p:val>
                                            <p:strVal val="#ppt_x"/>
                                          </p:val>
                                        </p:tav>
                                      </p:tavLst>
                                    </p:anim>
                                    <p:anim calcmode="lin" valueType="num">
                                      <p:cBhvr>
                                        <p:cTn id="9" dur="500" fill="hold"/>
                                        <p:tgtEl>
                                          <p:spTgt spid="3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500"/>
                                        <p:tgtEl>
                                          <p:spTgt spid="5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3"/>
                                        </p:tgtEl>
                                        <p:attrNameLst>
                                          <p:attrName>style.visibility</p:attrName>
                                        </p:attrNameLst>
                                      </p:cBhvr>
                                      <p:to>
                                        <p:strVal val="visible"/>
                                      </p:to>
                                    </p:set>
                                    <p:animEffect transition="in" filter="fade">
                                      <p:cBhvr>
                                        <p:cTn id="16" dur="500"/>
                                        <p:tgtEl>
                                          <p:spTgt spid="5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500"/>
                                        <p:tgtEl>
                                          <p:spTgt spid="54"/>
                                        </p:tgtEl>
                                      </p:cBhvr>
                                    </p:animEffect>
                                  </p:childTnLst>
                                </p:cTn>
                              </p:par>
                              <p:par>
                                <p:cTn id="20" presetID="10" presetClass="entr" presetSubtype="0" fill="hold" nodeType="with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fade">
                                      <p:cBhvr>
                                        <p:cTn id="22" dur="500"/>
                                        <p:tgtEl>
                                          <p:spTgt spid="6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fade">
                                      <p:cBhvr>
                                        <p:cTn id="25" dur="500"/>
                                        <p:tgtEl>
                                          <p:spTgt spid="63"/>
                                        </p:tgtEl>
                                      </p:cBhvr>
                                    </p:animEffect>
                                  </p:childTnLst>
                                </p:cTn>
                              </p:par>
                            </p:childTnLst>
                          </p:cTn>
                        </p:par>
                        <p:par>
                          <p:cTn id="26" fill="hold">
                            <p:stCondLst>
                              <p:cond delay="1000"/>
                            </p:stCondLst>
                            <p:childTnLst>
                              <p:par>
                                <p:cTn id="27" presetID="10" presetClass="entr" presetSubtype="0" fill="hold" grpId="0" nodeType="afterEffect">
                                  <p:stCondLst>
                                    <p:cond delay="0"/>
                                  </p:stCondLst>
                                  <p:childTnLst>
                                    <p:set>
                                      <p:cBhvr>
                                        <p:cTn id="28" dur="1" fill="hold">
                                          <p:stCondLst>
                                            <p:cond delay="0"/>
                                          </p:stCondLst>
                                        </p:cTn>
                                        <p:tgtEl>
                                          <p:spTgt spid="403"/>
                                        </p:tgtEl>
                                        <p:attrNameLst>
                                          <p:attrName>style.visibility</p:attrName>
                                        </p:attrNameLst>
                                      </p:cBhvr>
                                      <p:to>
                                        <p:strVal val="visible"/>
                                      </p:to>
                                    </p:set>
                                    <p:animEffect transition="in" filter="fade">
                                      <p:cBhvr>
                                        <p:cTn id="29" dur="500"/>
                                        <p:tgtEl>
                                          <p:spTgt spid="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54" grpId="0"/>
      <p:bldP spid="63" grpId="0" bldLvl="0" animBg="1"/>
      <p:bldP spid="403" grpId="0" bldLvl="0" animBg="1"/>
    </p:bldLst>
  </p:timing>
</p:sld>
</file>

<file path=ppt/tags/tag1.xml><?xml version="1.0" encoding="utf-8"?>
<p:tagLst xmlns:p="http://schemas.openxmlformats.org/presentationml/2006/main">
  <p:tag name="GENSWF_ADVANCE_TIME" val="0.00"/>
  <p:tag name="ISPRING_SLIDE_INDENT_LEVEL" val="0"/>
  <p:tag name="ISPRING_CUSTOM_TIMING_USED" val="0"/>
</p:tagLst>
</file>

<file path=ppt/tags/tag2.xml><?xml version="1.0" encoding="utf-8"?>
<p:tagLst xmlns:p="http://schemas.openxmlformats.org/presentationml/2006/main">
  <p:tag name="GENSWF_ADVANCE_TIME" val="0.00"/>
  <p:tag name="ISPRING_SLIDE_INDENT_LEVEL" val="0"/>
  <p:tag name="ISPRING_CUSTOM_TIMING_USED" val="0"/>
</p:tagLst>
</file>

<file path=ppt/tags/tag3.xml><?xml version="1.0" encoding="utf-8"?>
<p:tagLst xmlns:p="http://schemas.openxmlformats.org/presentationml/2006/main">
  <p:tag name="PA" val="v3.0.0"/>
</p:tagLst>
</file>

<file path=ppt/tags/tag4.xml><?xml version="1.0" encoding="utf-8"?>
<p:tagLst xmlns:p="http://schemas.openxmlformats.org/presentationml/2006/main">
  <p:tag name="PA" val="v3.0.0"/>
</p:tagLst>
</file>

<file path=ppt/tags/tag5.xml><?xml version="1.0" encoding="utf-8"?>
<p:tagLst xmlns:p="http://schemas.openxmlformats.org/presentationml/2006/main">
  <p:tag name="SELECTED" val="True"/>
</p:tagLst>
</file>

<file path=ppt/theme/theme1.xml><?xml version="1.0" encoding="utf-8"?>
<a:theme xmlns:a="http://schemas.openxmlformats.org/drawingml/2006/main" name="Office 主题">
  <a:themeElements>
    <a:clrScheme name="自定义 1872">
      <a:dk1>
        <a:sysClr val="windowText" lastClr="000000"/>
      </a:dk1>
      <a:lt1>
        <a:sysClr val="window" lastClr="FFFFFF"/>
      </a:lt1>
      <a:dk2>
        <a:srgbClr val="0558CB"/>
      </a:dk2>
      <a:lt2>
        <a:srgbClr val="249264"/>
      </a:lt2>
      <a:accent1>
        <a:srgbClr val="384B5A"/>
      </a:accent1>
      <a:accent2>
        <a:srgbClr val="0558CB"/>
      </a:accent2>
      <a:accent3>
        <a:srgbClr val="249264"/>
      </a:accent3>
      <a:accent4>
        <a:srgbClr val="384B5A"/>
      </a:accent4>
      <a:accent5>
        <a:srgbClr val="0558CB"/>
      </a:accent5>
      <a:accent6>
        <a:srgbClr val="249264"/>
      </a:accent6>
      <a:hlink>
        <a:srgbClr val="0563C1"/>
      </a:hlink>
      <a:folHlink>
        <a:srgbClr val="954F72"/>
      </a:folHlink>
    </a:clrScheme>
    <a:fontScheme name="自定义 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ayas Theme Color">
    <a:dk1>
      <a:srgbClr val="5C5C5C"/>
    </a:dk1>
    <a:lt1>
      <a:sysClr val="window" lastClr="FFFFFF"/>
    </a:lt1>
    <a:dk2>
      <a:srgbClr val="3F3F3F"/>
    </a:dk2>
    <a:lt2>
      <a:srgbClr val="FCFCFC"/>
    </a:lt2>
    <a:accent1>
      <a:srgbClr val="1B6AA3"/>
    </a:accent1>
    <a:accent2>
      <a:srgbClr val="84CBC5"/>
    </a:accent2>
    <a:accent3>
      <a:srgbClr val="F8D35E"/>
    </a:accent3>
    <a:accent4>
      <a:srgbClr val="F47264"/>
    </a:accent4>
    <a:accent5>
      <a:srgbClr val="7CC8EC"/>
    </a:accent5>
    <a:accent6>
      <a:srgbClr val="868AD1"/>
    </a:accent6>
    <a:hlink>
      <a:srgbClr val="0000FF"/>
    </a:hlink>
    <a:folHlink>
      <a:srgbClr val="800080"/>
    </a:folHlink>
  </a:clrScheme>
  <a:fontScheme name="Mayas Fonts">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Mayas Theme Color">
    <a:dk1>
      <a:srgbClr val="5C5C5C"/>
    </a:dk1>
    <a:lt1>
      <a:sysClr val="window" lastClr="FFFFFF"/>
    </a:lt1>
    <a:dk2>
      <a:srgbClr val="3F3F3F"/>
    </a:dk2>
    <a:lt2>
      <a:srgbClr val="FCFCFC"/>
    </a:lt2>
    <a:accent1>
      <a:srgbClr val="1B6AA3"/>
    </a:accent1>
    <a:accent2>
      <a:srgbClr val="84CBC5"/>
    </a:accent2>
    <a:accent3>
      <a:srgbClr val="F8D35E"/>
    </a:accent3>
    <a:accent4>
      <a:srgbClr val="F47264"/>
    </a:accent4>
    <a:accent5>
      <a:srgbClr val="7CC8EC"/>
    </a:accent5>
    <a:accent6>
      <a:srgbClr val="868AD1"/>
    </a:accent6>
    <a:hlink>
      <a:srgbClr val="0000FF"/>
    </a:hlink>
    <a:folHlink>
      <a:srgbClr val="800080"/>
    </a:folHlink>
  </a:clrScheme>
  <a:fontScheme name="Mayas Fonts">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Mayas Theme Color">
    <a:dk1>
      <a:srgbClr val="5C5C5C"/>
    </a:dk1>
    <a:lt1>
      <a:sysClr val="window" lastClr="FFFFFF"/>
    </a:lt1>
    <a:dk2>
      <a:srgbClr val="3F3F3F"/>
    </a:dk2>
    <a:lt2>
      <a:srgbClr val="FCFCFC"/>
    </a:lt2>
    <a:accent1>
      <a:srgbClr val="1B6AA3"/>
    </a:accent1>
    <a:accent2>
      <a:srgbClr val="84CBC5"/>
    </a:accent2>
    <a:accent3>
      <a:srgbClr val="F8D35E"/>
    </a:accent3>
    <a:accent4>
      <a:srgbClr val="F47264"/>
    </a:accent4>
    <a:accent5>
      <a:srgbClr val="7CC8EC"/>
    </a:accent5>
    <a:accent6>
      <a:srgbClr val="868AD1"/>
    </a:accent6>
    <a:hlink>
      <a:srgbClr val="0000FF"/>
    </a:hlink>
    <a:folHlink>
      <a:srgbClr val="800080"/>
    </a:folHlink>
  </a:clrScheme>
  <a:fontScheme name="Mayas Fonts">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16247</Words>
  <Application>WPS 演示</Application>
  <PresentationFormat>宽屏</PresentationFormat>
  <Paragraphs>1480</Paragraphs>
  <Slides>58</Slides>
  <Notes>15</Notes>
  <HiddenSlides>0</HiddenSlides>
  <MMClips>1</MMClips>
  <ScaleCrop>false</ScaleCrop>
  <HeadingPairs>
    <vt:vector size="6" baseType="variant">
      <vt:variant>
        <vt:lpstr>已用的字体</vt:lpstr>
      </vt:variant>
      <vt:variant>
        <vt:i4>45</vt:i4>
      </vt:variant>
      <vt:variant>
        <vt:lpstr>主题</vt:lpstr>
      </vt:variant>
      <vt:variant>
        <vt:i4>1</vt:i4>
      </vt:variant>
      <vt:variant>
        <vt:lpstr>幻灯片标题</vt:lpstr>
      </vt:variant>
      <vt:variant>
        <vt:i4>58</vt:i4>
      </vt:variant>
    </vt:vector>
  </HeadingPairs>
  <TitlesOfParts>
    <vt:vector size="104" baseType="lpstr">
      <vt:lpstr>Arial</vt:lpstr>
      <vt:lpstr>宋体</vt:lpstr>
      <vt:lpstr>Wingdings</vt:lpstr>
      <vt:lpstr>微软雅黑</vt:lpstr>
      <vt:lpstr>Impact</vt:lpstr>
      <vt:lpstr>方正大黑简体</vt:lpstr>
      <vt:lpstr>黑体</vt:lpstr>
      <vt:lpstr>Calibri</vt:lpstr>
      <vt:lpstr>仿宋_GB2312</vt:lpstr>
      <vt:lpstr>仿宋</vt:lpstr>
      <vt:lpstr>方正兰亭中黑_GBK</vt:lpstr>
      <vt:lpstr>锐字工房云字库锐倩GBK</vt:lpstr>
      <vt:lpstr>Arial Unicode MS</vt:lpstr>
      <vt:lpstr>Arial Black</vt:lpstr>
      <vt:lpstr>Times New Roman</vt:lpstr>
      <vt:lpstr>Gill Sans</vt:lpstr>
      <vt:lpstr>Segoe Print</vt:lpstr>
      <vt:lpstr>等线</vt:lpstr>
      <vt:lpstr>Roboto</vt:lpstr>
      <vt:lpstr>ヒラギノ角ゴ ProN W3</vt:lpstr>
      <vt:lpstr>Yu Gothic</vt:lpstr>
      <vt:lpstr>方正静蕾简体</vt:lpstr>
      <vt:lpstr>方正姚体</vt:lpstr>
      <vt:lpstr>Droid Sans</vt:lpstr>
      <vt:lpstr>ヒラギノ角ゴ ProN W3</vt:lpstr>
      <vt:lpstr>Raleway</vt:lpstr>
      <vt:lpstr>Open Sans</vt:lpstr>
      <vt:lpstr>Wingdings</vt:lpstr>
      <vt:lpstr>Browallia New</vt:lpstr>
      <vt:lpstr>华文琥珀</vt:lpstr>
      <vt:lpstr>MS PGothic</vt:lpstr>
      <vt:lpstr>Comic Sans MS</vt:lpstr>
      <vt:lpstr>Lato Light</vt:lpstr>
      <vt:lpstr>Neris Thin</vt:lpstr>
      <vt:lpstr>锐字云字库魏体1.0</vt:lpstr>
      <vt:lpstr>锐字云字库美黑体1.0</vt:lpstr>
      <vt:lpstr>方正兰亭细黑_GBK_M</vt:lpstr>
      <vt:lpstr>Century Gothic</vt:lpstr>
      <vt:lpstr>华文隶书</vt:lpstr>
      <vt:lpstr>Arial</vt:lpstr>
      <vt:lpstr>Lato Regular</vt:lpstr>
      <vt:lpstr>Verdana</vt:lpstr>
      <vt:lpstr>Calibri Light</vt:lpstr>
      <vt:lpstr>DejaVu Math TeX Gyre</vt:lpstr>
      <vt:lpstr>Microsoft Sans Serif</vt:lpstr>
      <vt:lpstr>Office 主题</vt:lpstr>
      <vt:lpstr>PowerPoint 演示文稿</vt:lpstr>
      <vt:lpstr>PowerPoint 演示文稿</vt:lpstr>
      <vt:lpstr>PowerPoint 演示文稿</vt:lpstr>
      <vt:lpstr>精品模式</vt:lpstr>
      <vt:lpstr>库销比</vt:lpstr>
      <vt:lpstr>精品模式</vt:lpstr>
      <vt:lpstr>市场调研</vt:lpstr>
      <vt:lpstr>精品模式</vt:lpstr>
      <vt:lpstr>PowerPoint 演示文稿</vt:lpstr>
      <vt:lpstr>爆款驱动模型</vt:lpstr>
      <vt:lpstr>80%的操作来自于有库存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Service服务</vt:lpstr>
      <vt:lpstr>Service服务</vt:lpstr>
      <vt:lpstr>包  装</vt:lpstr>
      <vt:lpstr>PowerPoint 演示文稿</vt:lpstr>
      <vt:lpstr>Performance notifications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MICHAEL</dc:creator>
  <cp:lastModifiedBy>孤独不苦1416034621</cp:lastModifiedBy>
  <cp:revision>31</cp:revision>
  <dcterms:created xsi:type="dcterms:W3CDTF">2015-05-05T08:02:00Z</dcterms:created>
  <dcterms:modified xsi:type="dcterms:W3CDTF">2026-08-06T01:27:14Z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D4AA463079134B0E91A8CA68A6D1D429_13</vt:lpwstr>
  </property>
</Properties>
</file>