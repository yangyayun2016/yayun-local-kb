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7896" r:id="rId4"/>
    <p:sldId id="7906" r:id="rId6"/>
    <p:sldId id="7912" r:id="rId7"/>
    <p:sldId id="7908" r:id="rId8"/>
    <p:sldId id="7925" r:id="rId9"/>
    <p:sldId id="7909" r:id="rId10"/>
    <p:sldId id="7918" r:id="rId11"/>
    <p:sldId id="7910" r:id="rId12"/>
    <p:sldId id="7919" r:id="rId13"/>
    <p:sldId id="7916" r:id="rId14"/>
    <p:sldId id="792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0460"/>
    <a:srgbClr val="2B0960"/>
    <a:srgbClr val="400D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25"/>
    <p:restoredTop sz="95802"/>
  </p:normalViewPr>
  <p:slideViewPr>
    <p:cSldViewPr snapToGrid="0" snapToObjects="1">
      <p:cViewPr varScale="1">
        <p:scale>
          <a:sx n="81" d="100"/>
          <a:sy n="81" d="100"/>
        </p:scale>
        <p:origin x="192" y="7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E4DB53-EF98-184E-B7D8-1B023BF62D20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313BE2-B050-CC48-AA9D-2FAA3A09A185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211975-FC1B-AF43-A43A-739460EC5B9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211975-FC1B-AF43-A43A-739460EC5B9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0760" y="0"/>
            <a:ext cx="6854825" cy="781050"/>
          </a:xfrm>
        </p:spPr>
        <p:txBody>
          <a:bodyPr>
            <a:no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线下课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】AI Agent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亚马逊自动化运营高阶实战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Picture 8" descr="A black background with pink text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1051" y="157305"/>
            <a:ext cx="1644553" cy="507714"/>
          </a:xfrm>
          <a:prstGeom prst="rect">
            <a:avLst/>
          </a:prstGeom>
        </p:spPr>
      </p:pic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3770630" y="733425"/>
            <a:ext cx="8210550" cy="608774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zh-CN" altLang="en-US" sz="2220" b="1" kern="100" dirty="0">
                <a:solidFill>
                  <a:schemeClr val="bg1"/>
                </a:solidFill>
                <a:highlight>
                  <a:srgbClr val="80008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讲师亮点：</a:t>
            </a:r>
            <a:r>
              <a:rPr lang="en-US" altLang="zh-CN" sz="2220" b="1" kern="100" dirty="0">
                <a:solidFill>
                  <a:schemeClr val="bg1"/>
                </a:solidFill>
                <a:effectLst/>
                <a:highlight>
                  <a:srgbClr val="80008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Lucas</a:t>
            </a:r>
            <a:r>
              <a:rPr lang="en-US" altLang="zh-CN" sz="2220" b="1" kern="100" dirty="0">
                <a:solidFill>
                  <a:schemeClr val="bg1"/>
                </a:solidFill>
                <a:effectLst/>
                <a:highlight>
                  <a:srgbClr val="80008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zh-CN" altLang="en-US" sz="2220" b="1" kern="100" dirty="0">
                <a:solidFill>
                  <a:schemeClr val="bg1"/>
                </a:solidFill>
                <a:effectLst/>
                <a:highlight>
                  <a:srgbClr val="80008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跨境电商</a:t>
            </a:r>
            <a:r>
              <a:rPr lang="en-US" altLang="zh-CN" sz="2220" b="1" kern="100" dirty="0">
                <a:solidFill>
                  <a:schemeClr val="bg1"/>
                </a:solidFill>
                <a:effectLst/>
                <a:highlight>
                  <a:srgbClr val="80008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AI </a:t>
            </a:r>
            <a:r>
              <a:rPr lang="zh-CN" altLang="en-US" sz="2220" b="1" kern="100" dirty="0">
                <a:solidFill>
                  <a:schemeClr val="bg1"/>
                </a:solidFill>
                <a:effectLst/>
                <a:highlight>
                  <a:srgbClr val="80008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效能架构与实战操盘专家</a:t>
            </a:r>
            <a:endParaRPr lang="zh-CN" altLang="en-US" sz="2220" b="1" kern="100" dirty="0">
              <a:solidFill>
                <a:schemeClr val="bg1"/>
              </a:solidFill>
              <a:effectLst/>
              <a:highlight>
                <a:srgbClr val="80008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fontAlgn="auto">
              <a:lnSpc>
                <a:spcPct val="150000"/>
              </a:lnSpc>
              <a:spcBef>
                <a:spcPts val="600"/>
              </a:spcBef>
            </a:pPr>
            <a:r>
              <a:rPr lang="en-US" altLang="zh-CN" sz="20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10</a:t>
            </a:r>
            <a:r>
              <a:rPr lang="zh-CN" altLang="en-US" sz="20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年跨境电商老兵</a:t>
            </a:r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：外贸、供应链、亚马逊运营与团队管理实战经验</a:t>
            </a:r>
            <a:endParaRPr lang="zh-CN" altLang="en-US" sz="20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fontAlgn="auto">
              <a:lnSpc>
                <a:spcPct val="150000"/>
              </a:lnSpc>
              <a:spcBef>
                <a:spcPts val="600"/>
              </a:spcBef>
            </a:pPr>
            <a:r>
              <a:rPr lang="en-US" altLang="zh-CN" sz="20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AI+</a:t>
            </a:r>
            <a:r>
              <a:rPr lang="zh-CN" altLang="en-US" sz="20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自动化运用专家：</a:t>
            </a:r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擅长</a:t>
            </a:r>
            <a:r>
              <a:rPr lang="en-US" altLang="zh-CN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AI</a:t>
            </a:r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自动化工作流与标签审计系统设计</a:t>
            </a:r>
            <a:endParaRPr lang="zh-CN" altLang="en-US" sz="20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fontAlgn="auto">
              <a:lnSpc>
                <a:spcPct val="150000"/>
              </a:lnSpc>
              <a:spcBef>
                <a:spcPts val="600"/>
              </a:spcBef>
            </a:pPr>
            <a:r>
              <a:rPr lang="en-US" altLang="zh-CN" sz="20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30</a:t>
            </a:r>
            <a:r>
              <a:rPr lang="zh-CN" altLang="en-US" sz="20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亿大卖运营顾问：</a:t>
            </a:r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深耕亚马逊广告数据分析与运营效率提升</a:t>
            </a:r>
            <a:endParaRPr lang="zh-CN" altLang="en-US" sz="20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fontAlgn="auto">
              <a:lnSpc>
                <a:spcPct val="150000"/>
              </a:lnSpc>
              <a:spcBef>
                <a:spcPts val="600"/>
              </a:spcBef>
            </a:pPr>
            <a:endParaRPr lang="zh-CN" altLang="en-US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l" fontAlgn="auto">
              <a:lnSpc>
                <a:spcPct val="150000"/>
              </a:lnSpc>
              <a:spcBef>
                <a:spcPts val="600"/>
              </a:spcBef>
              <a:buClrTx/>
              <a:buSzTx/>
              <a:buNone/>
            </a:pPr>
            <a:r>
              <a:rPr lang="zh-CN" altLang="en-US" sz="2220" b="1" kern="100" dirty="0">
                <a:solidFill>
                  <a:schemeClr val="bg1"/>
                </a:solidFill>
                <a:highlight>
                  <a:srgbClr val="80008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适合谁学：</a:t>
            </a:r>
            <a:endParaRPr lang="zh-CN" altLang="en-US" sz="222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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困于写文案与报表等重复劳动的</a:t>
            </a:r>
            <a:r>
              <a:rPr lang="zh-CN" altLang="en-US" sz="20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一线运营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sz="20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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苦于人工分析海量数据盯盘的</a:t>
            </a:r>
            <a:r>
              <a:rPr lang="zh-CN" altLang="en-US" sz="20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广告投手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sz="20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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亟需突破出图效率与产能瓶颈的</a:t>
            </a:r>
            <a:r>
              <a:rPr lang="zh-CN" altLang="en-US" sz="20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电商设计管理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sz="20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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谋求沉淀业务流程与降本增效的</a:t>
            </a:r>
            <a:r>
              <a:rPr lang="zh-CN" altLang="en-US" sz="20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管理团队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sz="20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</a:t>
            </a:r>
            <a:r>
              <a:rPr lang="zh-CN" altLang="en-US" sz="20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探索前沿全自动化运营系统的跨境极客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sz="20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 descr="短图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75" y="-36830"/>
            <a:ext cx="1433195" cy="6858000"/>
          </a:xfrm>
          <a:prstGeom prst="rect">
            <a:avLst/>
          </a:prstGeom>
        </p:spPr>
      </p:pic>
      <p:pic>
        <p:nvPicPr>
          <p:cNvPr id="5" name="图片 4" descr="kyle企微码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2450" y="5416550"/>
            <a:ext cx="1432560" cy="1404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pink text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1051" y="157305"/>
            <a:ext cx="1644553" cy="50771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77895" y="699770"/>
            <a:ext cx="8629015" cy="58337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2200" b="1" kern="100" dirty="0">
                <a:solidFill>
                  <a:schemeClr val="bg1"/>
                </a:solidFill>
                <a:highlight>
                  <a:srgbClr val="80008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课程亮点：</a:t>
            </a:r>
            <a:endParaRPr lang="zh-CN" altLang="en-US" sz="2200" b="1" kern="100" dirty="0">
              <a:solidFill>
                <a:schemeClr val="bg1"/>
              </a:solidFill>
              <a:highlight>
                <a:srgbClr val="80008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285750" indent="-285750" fontAlgn="auto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不讲复杂代码和冷门工具，只学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个核心主流工具：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Codex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Hermes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Claude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OpenClaw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，主次分明、各司其职，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一套体系覆盖全部亚马逊运营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场景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fontAlgn="auto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能力分为：手动辅助、半自动跑流程、全自动无人值守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三档，使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新手能入门、中小卖家能落地、团队卖家能规模化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，精准匹配不同运营阶段；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fontAlgn="auto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手把手教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GPAI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拆解思路，将运营工作拆解为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AI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可落地执行步骤，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学会自主改造搭建适配类目的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AI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运营方案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，不止掌握当下实操，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更拥有持续迭代能力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，适配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AI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版本更新，摆脱固定模板束缚；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fontAlgn="auto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全场景实操教学搭建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Agent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智能体编排、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Skill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技能封装等，结业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带走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套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可直接运行的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智能体、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Skill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技能包、百套行业模板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，回去即可复用；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fontAlgn="auto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学会一套判断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的标准：什么场景用什么工具、哪些适合半自动、哪些值得全自动，避免盲目折腾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浪费成本，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让每一次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落地都有效果、不做无效投入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540760" y="0"/>
            <a:ext cx="6854825" cy="781050"/>
          </a:xfrm>
        </p:spPr>
        <p:txBody>
          <a:bodyPr>
            <a:no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线下课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】AI Agent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亚马逊自动化运营高阶实战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 descr="kyle企微码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175" y="4690110"/>
            <a:ext cx="1432560" cy="1404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Picture 8" descr="A black background with pink text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1051" y="157305"/>
            <a:ext cx="1644553" cy="507714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761105" y="664845"/>
            <a:ext cx="6116320" cy="632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ct val="176000"/>
              </a:lnSpc>
              <a:spcBef>
                <a:spcPts val="600"/>
              </a:spcBef>
              <a:buNone/>
            </a:pPr>
            <a:r>
              <a:rPr lang="zh-CN" altLang="en-US" sz="2000" b="1" kern="100" dirty="0">
                <a:solidFill>
                  <a:schemeClr val="bg1"/>
                </a:solidFill>
                <a:highlight>
                  <a:srgbClr val="80008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工具资料包：</a:t>
            </a:r>
            <a:endParaRPr lang="zh-CN" altLang="en-US" sz="2000" b="1" kern="100" dirty="0">
              <a:solidFill>
                <a:schemeClr val="bg1"/>
              </a:solidFill>
              <a:highlight>
                <a:srgbClr val="80008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2" name="图片 1" descr="2"/>
          <p:cNvPicPr>
            <a:picLocks noChangeAspect="1"/>
          </p:cNvPicPr>
          <p:nvPr/>
        </p:nvPicPr>
        <p:blipFill>
          <a:blip r:embed="rId2"/>
          <a:srcRect r="22607"/>
          <a:stretch>
            <a:fillRect/>
          </a:stretch>
        </p:blipFill>
        <p:spPr>
          <a:xfrm>
            <a:off x="3949065" y="1433830"/>
            <a:ext cx="6819265" cy="5424170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/>
        </p:nvSpPr>
        <p:spPr>
          <a:xfrm>
            <a:off x="3540760" y="0"/>
            <a:ext cx="6854825" cy="781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线下课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】AI Agent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亚马逊自动化运营高阶实战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 descr="kyle企微码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4615" y="5039360"/>
            <a:ext cx="1432560" cy="1404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/>
          <p:cNvGrpSpPr>
            <a:grpSpLocks noGrp="1" noRot="1" noChangeAspect="1" noMove="1" noResize="1" noUngrp="1"/>
          </p:cNvGrpSpPr>
          <p:nvPr/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25" name="Freeform: Shape 24"/>
            <p:cNvSpPr/>
            <p:nvPr/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: Shape 25"/>
            <p:cNvSpPr/>
            <p:nvPr/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: Shape 26"/>
            <p:cNvSpPr/>
            <p:nvPr/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: Shape 27"/>
            <p:cNvSpPr/>
            <p:nvPr/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: Shape 28"/>
            <p:cNvSpPr/>
            <p:nvPr/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053641"/>
            <a:ext cx="3669161" cy="2760098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28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Part One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br>
              <a:rPr lang="en-US" altLang="zh-CN" sz="4000" b="1" dirty="0">
                <a:solidFill>
                  <a:schemeClr val="tx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AI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业务拆解法】</a:t>
            </a:r>
            <a:b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业务拆解方法论与工具生态认知，精讲</a:t>
            </a: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“GPAI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四层拆解框架</a:t>
            </a: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8" name="Picture 7" descr="A black background with pink text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8998" y="249860"/>
            <a:ext cx="1904879" cy="58808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638800" y="923027"/>
            <a:ext cx="6437586" cy="556032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 fontAlgn="auto">
              <a:lnSpc>
                <a:spcPct val="216000"/>
              </a:lnSpc>
              <a:buClrTx/>
              <a:buSz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学什么：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别再被五花八门的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工具牵着鼻子走！学习一套能应对所有变化的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“GPAI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四层拆解框架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。课程将带你彻底搞懂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设定目标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到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选择工具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的底层逻辑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，看透各类主流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工具的真实底牌。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 fontAlgn="auto">
              <a:lnSpc>
                <a:spcPct val="216000"/>
              </a:lnSpc>
              <a:buClrTx/>
              <a:buSz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获得什么：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获得一张清晰的自动化进阶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路线图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具备把任何繁杂的日常运营工作，精准拆解并交给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去执行的独立思考能力。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/>
          <p:cNvGrpSpPr>
            <a:grpSpLocks noGrp="1" noRot="1" noChangeAspect="1" noMove="1" noResize="1" noUngrp="1"/>
          </p:cNvGrpSpPr>
          <p:nvPr/>
        </p:nvGrpSpPr>
        <p:grpSpPr>
          <a:xfrm>
            <a:off x="-8255" y="0"/>
            <a:ext cx="5186680" cy="6483350"/>
            <a:chOff x="-19221" y="0"/>
            <a:chExt cx="5646974" cy="6483075"/>
          </a:xfrm>
        </p:grpSpPr>
        <p:sp>
          <p:nvSpPr>
            <p:cNvPr id="25" name="Freeform: Shape 24"/>
            <p:cNvSpPr/>
            <p:nvPr/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: Shape 25"/>
            <p:cNvSpPr/>
            <p:nvPr/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: Shape 26"/>
            <p:cNvSpPr/>
            <p:nvPr/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: Shape 27"/>
            <p:cNvSpPr/>
            <p:nvPr/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: Shape 28"/>
            <p:cNvSpPr/>
            <p:nvPr/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915" y="1787525"/>
            <a:ext cx="4291330" cy="2760345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28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Part Two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br>
              <a:rPr lang="en-US" altLang="zh-CN" sz="4000" b="1" dirty="0">
                <a:solidFill>
                  <a:schemeClr val="tx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【精准指令工程】</a:t>
            </a:r>
            <a:b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深入拆解</a:t>
            </a: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Prompt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的五大核心要素，极速产出精准文案与视觉爆图</a:t>
            </a:r>
            <a:endParaRPr lang="zh-CN" altLang="en-US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8" name="Picture 7" descr="A black background with pink text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8998" y="249860"/>
            <a:ext cx="1904879" cy="58808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341620" y="1026795"/>
            <a:ext cx="6403340" cy="49993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 fontAlgn="auto">
              <a:lnSpc>
                <a:spcPct val="200000"/>
              </a:lnSpc>
              <a:buClrTx/>
              <a:buSzTx/>
              <a:buNone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学什么：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告别让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说废话！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掌握写出神级指令（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Prompt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）的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大核心要素和进阶套路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。手把手带你搭建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找词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写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Listing”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两大核心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助手，并解锁电商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高保真出图的正确姿势。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 fontAlgn="auto">
              <a:lnSpc>
                <a:spcPct val="200000"/>
              </a:lnSpc>
              <a:buClrTx/>
              <a:buSz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获得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什么：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亲手做出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个实用小助手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，现场跑出你自己的产品关键词报告和全套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Listing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文案！更可直接打包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带走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多个现成运营指令模板和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50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多个生图指令库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，即插即用！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/>
          <p:cNvGrpSpPr>
            <a:grpSpLocks noGrp="1" noRot="1" noChangeAspect="1" noMove="1" noResize="1" noUngrp="1"/>
          </p:cNvGrpSpPr>
          <p:nvPr/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25" name="Freeform: Shape 24"/>
            <p:cNvSpPr/>
            <p:nvPr/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: Shape 25"/>
            <p:cNvSpPr/>
            <p:nvPr/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: Shape 26"/>
            <p:cNvSpPr/>
            <p:nvPr/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: Shape 27"/>
            <p:cNvSpPr/>
            <p:nvPr/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: Shape 28"/>
            <p:cNvSpPr/>
            <p:nvPr/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3970" y="2053590"/>
            <a:ext cx="4933950" cy="2760345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28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Part Three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br>
              <a:rPr lang="en-US" altLang="zh-CN" sz="4000" b="1" dirty="0">
                <a:solidFill>
                  <a:schemeClr val="tx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【广告诊断自动化策略】</a:t>
            </a:r>
            <a:b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2665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搭建广告数据分析与优化</a:t>
            </a:r>
            <a:r>
              <a:rPr lang="en-US" altLang="zh-CN" sz="2665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Agent</a:t>
            </a:r>
            <a:r>
              <a:rPr lang="zh-CN" altLang="en-US" sz="2665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，让</a:t>
            </a:r>
            <a:r>
              <a:rPr lang="en-US" altLang="zh-CN" sz="2665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AI</a:t>
            </a:r>
            <a:r>
              <a:rPr lang="zh-CN" altLang="en-US" sz="2665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接管复杂的广告数据</a:t>
            </a:r>
            <a:endParaRPr lang="zh-CN" altLang="en-US" sz="2665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8" name="Picture 7" descr="A black background with pink text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8998" y="249860"/>
            <a:ext cx="1904879" cy="58808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638800" y="1071880"/>
            <a:ext cx="6416040" cy="54978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 fontAlgn="auto">
              <a:lnSpc>
                <a:spcPct val="200000"/>
              </a:lnSpc>
              <a:buClrTx/>
              <a:buSzTx/>
              <a:buNone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学什么：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直击数据分析痛点！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教你用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秒读晦涩的广告报表、精准揪出数据异常，并能根据四象限法则，自动给出靠谱的改价和预算分配建议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 fontAlgn="auto">
              <a:lnSpc>
                <a:spcPct val="200000"/>
              </a:lnSpc>
              <a:buClrTx/>
              <a:buSz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获得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什么：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成功搭建一个专属的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广告诊断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助理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，并完成一次真实店铺账户的深度体检。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让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帮你把脉广告，不浪费一分钱的冤枉预算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！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/>
          <p:cNvGrpSpPr>
            <a:grpSpLocks noGrp="1" noRot="1" noChangeAspect="1" noMove="1" noResize="1" noUngrp="1"/>
          </p:cNvGrpSpPr>
          <p:nvPr/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25" name="Freeform: Shape 24"/>
            <p:cNvSpPr/>
            <p:nvPr/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: Shape 25"/>
            <p:cNvSpPr/>
            <p:nvPr/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: Shape 26"/>
            <p:cNvSpPr/>
            <p:nvPr/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: Shape 27"/>
            <p:cNvSpPr/>
            <p:nvPr/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: Shape 28"/>
            <p:cNvSpPr/>
            <p:nvPr/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075" y="2053590"/>
            <a:ext cx="4237355" cy="2760345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28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Part Four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br>
              <a:rPr lang="en-US" altLang="zh-CN" sz="4000" b="1" dirty="0">
                <a:solidFill>
                  <a:schemeClr val="tx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【全链路多系统联调】</a:t>
            </a:r>
            <a:b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2665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智能体搭建与自动化工作流实战部署</a:t>
            </a:r>
            <a:r>
              <a:rPr lang="en-US" altLang="zh-CN" sz="2665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sz="2665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实现核心业务全天候自动流转</a:t>
            </a:r>
            <a:endParaRPr lang="zh-CN" altLang="en-US" sz="2665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8" name="Picture 7" descr="A black background with pink text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8998" y="249860"/>
            <a:ext cx="1904879" cy="58808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946140" y="1071880"/>
            <a:ext cx="5817870" cy="51409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 fontAlgn="auto">
              <a:lnSpc>
                <a:spcPct val="200000"/>
              </a:lnSpc>
              <a:buClrTx/>
              <a:buSzTx/>
              <a:buNone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学什么：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终极流水线大练兵！小组实战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找词、文案、广告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三个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助手首尾相连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，一条龙跑通新品上架。同时揭秘高级自动化平台（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Hermes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），看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如何实现定时盯盘竞品、自动改价等令人惊叹的全自动操作。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 fontAlgn="auto">
              <a:lnSpc>
                <a:spcPct val="200000"/>
              </a:lnSpc>
              <a:buClrTx/>
              <a:buSzTx/>
              <a:buNone/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获得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什么：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带着一套可以直接落地的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新产品全链路上架方案包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满载而归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！你还将获赠高阶工具的选型决策指南，以及未来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1-3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个月的持续自学路线图，不仅自己变强，还能回去带飞整个团队！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1570</Words>
  <Application>WPS 演示</Application>
  <PresentationFormat>Widescreen</PresentationFormat>
  <Paragraphs>47</Paragraphs>
  <Slides>11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Times New Roman</vt:lpstr>
      <vt:lpstr>Arial Unicode MS</vt:lpstr>
      <vt:lpstr>Calibri Light</vt:lpstr>
      <vt:lpstr>Calibri</vt:lpstr>
      <vt:lpstr>等线</vt:lpstr>
      <vt:lpstr>Office Theme</vt:lpstr>
      <vt:lpstr>1_Office Theme</vt:lpstr>
      <vt:lpstr>【线下课】AI Agent 亚马逊自动化运营高阶实战 </vt:lpstr>
      <vt:lpstr>【线下课】AI Agent 亚马逊自动化运营高阶实战 </vt:lpstr>
      <vt:lpstr>PowerPoint 演示文稿</vt:lpstr>
      <vt:lpstr>Part One： 【AI业务拆解法】 业务拆解方法论与工具生态认知，精讲“GPAI四层拆解框架”</vt:lpstr>
      <vt:lpstr>PowerPoint 演示文稿</vt:lpstr>
      <vt:lpstr>Part Two： 【精准指令工程】 深入拆解Prompt的五大核心要素，极速产出精准文案与视觉爆图</vt:lpstr>
      <vt:lpstr>PowerPoint 演示文稿</vt:lpstr>
      <vt:lpstr>Part Three： 【广告诊断自动化策略】 搭建广告数据分析与优化Agent，让AI接管复杂的广告数据</vt:lpstr>
      <vt:lpstr>PowerPoint 演示文稿</vt:lpstr>
      <vt:lpstr>Part Four： 【全链路多系统联调】 智能体搭建与自动化工作流实战部署,实现核心业务全天候自动流转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Ruize Sun</dc:creator>
  <cp:lastModifiedBy>孤独不苦1416034621</cp:lastModifiedBy>
  <cp:revision>228</cp:revision>
  <dcterms:created xsi:type="dcterms:W3CDTF">2024-06-27T15:52:00Z</dcterms:created>
  <dcterms:modified xsi:type="dcterms:W3CDTF">2026-07-20T07:25:43Z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5B39C2F36FA244158B173217132D87EA_13</vt:lpwstr>
  </property>
  <property fmtid="{D5CDD505-2E9C-101B-9397-08002B2CF9AE}" pid="3" name="KSOProductBuildVer">
    <vt:lpwstr>2052-12.1.0.26895</vt:lpwstr>
  </property>
</Properties>
</file>