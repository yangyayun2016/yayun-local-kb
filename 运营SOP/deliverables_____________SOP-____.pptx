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亚马逊新品推广计划全链路SOP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BCD2EE"/>
                </a:solidFill>
                <a:latin typeface="微软雅黑"/>
                <a:ea typeface="微软雅黑"/>
              </a:rPr>
              <a:t>思维导图 · PPT演示版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7528" y="3429000"/>
            <a:ext cx="1463040" cy="411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4038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市场调研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630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类目细分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222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模拟预估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链接准备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2406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推广计划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9983" y="3977639"/>
            <a:ext cx="1481328" cy="566928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表格说明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FB6D8"/>
                </a:solidFill>
                <a:latin typeface="微软雅黑"/>
                <a:ea typeface="微软雅黑"/>
              </a:rPr>
              <a:t>依据《亚马逊新品推广计划全链路SOP（附流程图）》整理 ｜ 上篇全链路SOP + 下篇配套表格使用说明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F3864"/>
                </a:solidFill>
                <a:latin typeface="微软雅黑"/>
                <a:ea typeface="微软雅黑"/>
              </a:rPr>
              <a:t>全链路总览 · 五步走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五大模块环环相扣，附下篇配套表格落地执行</a:t>
            </a:r>
          </a:p>
        </p:txBody>
      </p:sp>
      <p:sp>
        <p:nvSpPr>
          <p:cNvPr id="4" name="Chevron 3"/>
          <p:cNvSpPr/>
          <p:nvPr/>
        </p:nvSpPr>
        <p:spPr>
          <a:xfrm>
            <a:off x="502920" y="1965960"/>
            <a:ext cx="2212848" cy="9601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4864" tIns="0" bIns="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市场调研</a:t>
            </a:r>
          </a:p>
          <a:p>
            <a:pPr algn="ctr"/>
            <a:r>
              <a:rPr sz="1000" b="0">
                <a:solidFill>
                  <a:srgbClr val="EFF4FB"/>
                </a:solidFill>
                <a:latin typeface="微软雅黑"/>
                <a:ea typeface="微软雅黑"/>
              </a:rPr>
              <a:t>选对赛道 · 看大盘</a:t>
            </a:r>
          </a:p>
        </p:txBody>
      </p:sp>
      <p:sp>
        <p:nvSpPr>
          <p:cNvPr id="5" name="Chevron 4"/>
          <p:cNvSpPr/>
          <p:nvPr/>
        </p:nvSpPr>
        <p:spPr>
          <a:xfrm>
            <a:off x="2779776" y="1965960"/>
            <a:ext cx="2212848" cy="960120"/>
          </a:xfrm>
          <a:prstGeom prst="chevron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4864" tIns="0" bIns="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类目细分</a:t>
            </a:r>
          </a:p>
          <a:p>
            <a:pPr algn="ctr"/>
            <a:r>
              <a:rPr sz="1000" b="0">
                <a:solidFill>
                  <a:srgbClr val="EFF4FB"/>
                </a:solidFill>
                <a:latin typeface="微软雅黑"/>
                <a:ea typeface="微软雅黑"/>
              </a:rPr>
              <a:t>拆透竞品 · 定打法</a:t>
            </a:r>
          </a:p>
        </p:txBody>
      </p:sp>
      <p:sp>
        <p:nvSpPr>
          <p:cNvPr id="6" name="Chevron 5"/>
          <p:cNvSpPr/>
          <p:nvPr/>
        </p:nvSpPr>
        <p:spPr>
          <a:xfrm>
            <a:off x="5056631" y="1965960"/>
            <a:ext cx="2212848" cy="9601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4864" tIns="0" bIns="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模拟预估</a:t>
            </a:r>
          </a:p>
          <a:p>
            <a:pPr algn="ctr"/>
            <a:r>
              <a:rPr sz="1000" b="0">
                <a:solidFill>
                  <a:srgbClr val="EFF4FB"/>
                </a:solidFill>
                <a:latin typeface="微软雅黑"/>
                <a:ea typeface="微软雅黑"/>
              </a:rPr>
              <a:t>先算盈亏 · 再发货</a:t>
            </a:r>
          </a:p>
        </p:txBody>
      </p:sp>
      <p:sp>
        <p:nvSpPr>
          <p:cNvPr id="7" name="Chevron 6"/>
          <p:cNvSpPr/>
          <p:nvPr/>
        </p:nvSpPr>
        <p:spPr>
          <a:xfrm>
            <a:off x="7333488" y="1965960"/>
            <a:ext cx="2212848" cy="960120"/>
          </a:xfrm>
          <a:prstGeom prst="chevron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4864" tIns="0" bIns="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链接准备</a:t>
            </a:r>
          </a:p>
          <a:p>
            <a:pPr algn="ctr"/>
            <a:r>
              <a:rPr sz="1000" b="0">
                <a:solidFill>
                  <a:srgbClr val="EFF4FB"/>
                </a:solidFill>
                <a:latin typeface="微软雅黑"/>
                <a:ea typeface="微软雅黑"/>
              </a:rPr>
              <a:t>备齐物料 · 再上架</a:t>
            </a:r>
          </a:p>
        </p:txBody>
      </p:sp>
      <p:sp>
        <p:nvSpPr>
          <p:cNvPr id="8" name="Chevron 7"/>
          <p:cNvSpPr/>
          <p:nvPr/>
        </p:nvSpPr>
        <p:spPr>
          <a:xfrm>
            <a:off x="9610344" y="1965960"/>
            <a:ext cx="2212848" cy="96012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54864" tIns="0" bIns="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推广计划</a:t>
            </a:r>
          </a:p>
          <a:p>
            <a:pPr algn="ctr"/>
            <a:r>
              <a:rPr sz="1000" b="0">
                <a:solidFill>
                  <a:srgbClr val="EFF4FB"/>
                </a:solidFill>
                <a:latin typeface="微软雅黑"/>
                <a:ea typeface="微软雅黑"/>
              </a:rPr>
              <a:t>分周投放 · 盯数据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11183112" cy="1143000"/>
          </a:xfrm>
          <a:prstGeom prst="roundRect">
            <a:avLst>
              <a:gd name="adj" fmla="val 12000"/>
            </a:avLst>
          </a:prstGeom>
          <a:solidFill>
            <a:srgbClr val="E7E6E6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39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595959"/>
                </a:solidFill>
                <a:latin typeface="微软雅黑"/>
                <a:ea typeface="微软雅黑"/>
              </a:rPr>
              <a:t>下篇 · SOP表格使用说明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五大模块配套表格：结构化录入 + 自动化公式计算 + 可视化图表，让流程可执行、可追踪、可复盘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核心逻辑：</a:t>
            </a: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市场调研 → 类目细分 → 模拟预估 → 链接准备 → 推广计划，五大模块对应配套表格 —— 「上篇是战略蓝图，下篇是作战手册」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模块一 · 市场调研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了解市场动态 · 验证切入空间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① 类目调研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赛道选择：市场容量·竞争度·工具辅助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市场容量：整体流量/季节波动/成交量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垄断程度：前五份额＞70%警示·榜单分布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细分分支：关键词/功能/竞争/趋势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畅销榜&amp;新品榜：同款竞品与压力判断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② 产品调研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价格带分布：价格区间与定价参考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4.3星级临界点：≥4.3显示4星半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退货率：质量与满意度指标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新品竞品筛选：评论≤500·上架≤1年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③ 销售量调研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日销量分布：Top1-10/30-50/80-100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销售额与盈利能力：销售额·毛利率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④ 卖点与痛点调研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综合卖点：功能/设计材料/品牌信誉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综合痛点：功能缺陷/质量/体验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⑤ 市场趋势与预测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季节性及趋势分析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法规与政策影响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⑥ 产品生命周期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刚需 VS 潮流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知识产权风险：专利/商标/顾问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2E75B6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同质化速率：创新/体验/定制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模块二 · 类目细分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深入类目细节 · 精准定位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① 同款同类竞品拆解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Listing：标题/图片视频/A+详情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配送方式：FBA/自营/自发货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库存数量：Keepa跟踪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上架时间 · 大小类排名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价格&amp;促销 · 星级评分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日销月销 · 变体数量 · 店铺概况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② 推广策略分析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广告投放 · 社交媒体营销 · 影响者合作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③ 制定售价策略（5种）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低价竞争力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市场接受均值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区间灵活定价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差异化定价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高定价+促销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④ 卖点痛点分析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属性 · 场景 · 人群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⑤ 关键词库搭建（7项）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词频统计 · 关联度 · 关键词归类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48235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ABA排名 · 转化率 · 竞争比 · 搜索趋势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模块三 · 模拟预估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先模拟测算 · 再投入资源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① 价格策略模拟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定价模型：成本加成/竞争导向/需求导向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价格敏感度测试：A/B测试·调研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促销策略：促销组合·节日预测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② 毛利模拟盈亏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成本结构：固定/变动成本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销售收入预测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毛利率计算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盈亏平衡分析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③ 投入成本模拟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发货批次与数量（首批测品）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货值成本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国内运输/人工成本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头程物流：比价·关税保险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④ 提高转化的部署成本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评论部署：测评/Vine/直评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Q&amp;A优化 · 影响者视频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场景/模特/实拍（约3000-5000/次）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⑤ CPC模拟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广告预算分配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关键词竞价：广泛/短语/精准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ACoS优化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⑥ 阶段盈亏模拟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成本与收益全面测算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预算分配优化：广告/周期/站外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C55A11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风险控制：库存/竞争/营销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模块四 · 链接准备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物料齐全 · 内容合规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50520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/>
                <a:ea typeface="微软雅黑"/>
              </a:rPr>
              <a:t>① Listing基础信息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5015483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标题：关键词/卖点/品牌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Bullet Point：功能亮点/用户利益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详情页描述：简洁/清晰/SEO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属性：准确填写/优化显示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3716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1636" y="13716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2803" y="1554480"/>
            <a:ext cx="50520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/>
                <a:ea typeface="微软雅黑"/>
              </a:rPr>
              <a:t>② 主副图、A+素材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092" y="2029967"/>
            <a:ext cx="5015483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主图：高清/纯白底/无水印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副图：多角度/场景/细节特写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A+页面：品牌故事/视觉一致/互动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005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40005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183380"/>
            <a:ext cx="50520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/>
                <a:ea typeface="微软雅黑"/>
              </a:rPr>
              <a:t>③ 认证信息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658868"/>
            <a:ext cx="5015483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合规认证：CE/FCC/RoHS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危险品审核：分类明确/申报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4000500"/>
            <a:ext cx="5454396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1636" y="4000500"/>
            <a:ext cx="5454396" cy="822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2803" y="4183380"/>
            <a:ext cx="50520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030A0"/>
                </a:solidFill>
                <a:latin typeface="微软雅黑"/>
                <a:ea typeface="微软雅黑"/>
              </a:rPr>
              <a:t>④ 流量入口布局（7大）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4658868"/>
            <a:ext cx="5015483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视频 · 品牌故事 · 品牌旗舰店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Q&amp;A · 种子链接 · 创作者链接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7030A0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促销折扣：限时优惠/捆绑销售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模块五 · 推广计划（上）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广告架构 · 数据目标 · 动态追踪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① 广告架构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广告目的：利润/打标收录/拓词/拓流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广告分组：SKAG/多词合力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广告模式：SP（自动：紧密/宽泛/同类/关联；手动：关键词/商品）、SB、SD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广告形式：转化/排名/捡漏/关联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② 数据目标（28项）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价格利润：定价/折扣/折后价/单利润/毛利率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流量转化：曝光/点击/CTR/销售额/自然单/广告单/广告占比/CVR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广告成本：CPC/Ad Spend/ACoS/TACoS/CPA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运营指标：评论/星级/关键词排名/BSR/净利润/净利率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③ 动态追踪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28项指标按周更新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识别风险 · 指导优化动作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模块五 · 推广计划（下）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库存监控 · 8周节奏 · 备选预案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④ 库存监控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库存周期（9阶段）：0-30上市 / 31-60正常 / 61-90放缓 / 91-180滞销 / 181-270长滞销 / 271-330近一年 / 331-365超一年 / 365+清仓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库存策略：补货 / 清仓 / 重起链接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⑤ 8周推广节奏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第1周 准备：架构/素材/自动广告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第2周 优化：数据/关键词/手动广告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第3周 拓展：拓词/SB/促销/站外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第4周 评估：指标复盘/库存/反馈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第5-8周 持续优化/新品复制/新渠道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4873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⑥ 未达目标备选方案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40507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第1周：延迟启动/缩小范围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第2周：快速优化/增加投入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第3周：加大促销/站外引流/调整定位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第4周：全面复盘/紧急补救/重设目标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第5-8周：重新定位/外部支持/学习改进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65760"/>
            <a:ext cx="11183112" cy="822960"/>
          </a:xfrm>
          <a:prstGeom prst="roundRect">
            <a:avLst>
              <a:gd name="adj" fmla="val 16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18288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下篇 · SOP表格使用说明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56692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表格落地 · 让流程可执行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表格定位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五大模块映射上篇流程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结构化录入+自动公式+可视化图表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064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2064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① 市场调研模块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市场分析报告 / 类目调研 / 产品调研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1208" y="13716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1208" y="13716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2376" y="15544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② 类目细分模块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0664" y="2029967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竞品拆解 / 关键词库 / 售价策略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③ 模拟预估模块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CPC平衡测算 / 批次盈亏 / 货值预估 / 评论部署 / 站外推广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064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2064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④ 链接准备模块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Listing基础信息 / 作图需求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1208" y="4000500"/>
            <a:ext cx="3544824" cy="22448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41208" y="4000500"/>
            <a:ext cx="3544824" cy="82296"/>
          </a:xfrm>
          <a:prstGeom prst="roundRect">
            <a:avLst>
              <a:gd name="adj" fmla="val 5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2376" y="4183380"/>
            <a:ext cx="3142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95959"/>
                </a:solidFill>
                <a:latin typeface="微软雅黑"/>
                <a:ea typeface="微软雅黑"/>
              </a:rPr>
              <a:t>⑤ 推广计划模块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0664" y="4658868"/>
            <a:ext cx="3105912" cy="14218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▪ 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广告架构 / 运营追踪 / 计划目标（含备选预案）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核心要点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50408" y="2240280"/>
            <a:ext cx="1097280" cy="4114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43200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/>
                <a:ea typeface="微软雅黑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/>
                <a:ea typeface="微软雅黑"/>
              </a:rPr>
              <a:t>先想清楚，再做表格 —— 推广思路是核心，表格是运营思维的具象化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/>
                <a:ea typeface="微软雅黑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/>
                <a:ea typeface="微软雅黑"/>
              </a:rPr>
              <a:t>数据驱动，风险前置 —— 每一步都有模拟预估与备选预案兜底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114800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/>
                <a:ea typeface="微软雅黑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/>
                <a:ea typeface="微软雅黑"/>
              </a:rPr>
              <a:t>上篇是战略蓝图，下篇是作战手册 —— 双引擎驱动新品穿越冷启动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00600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8EB4E8"/>
                </a:solidFill>
                <a:latin typeface="微软雅黑"/>
                <a:ea typeface="微软雅黑"/>
              </a:rPr>
              <a:t>▪ </a:t>
            </a:r>
            <a:r>
              <a:rPr sz="1500" b="0">
                <a:solidFill>
                  <a:srgbClr val="E8EFF8"/>
                </a:solidFill>
                <a:latin typeface="微软雅黑"/>
                <a:ea typeface="微软雅黑"/>
              </a:rPr>
              <a:t>从盲目摸索到有据可依，提前识别风险，筛掉缺乏支撑的「伪爆品」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FB6D8"/>
                </a:solidFill>
                <a:latin typeface="微软雅黑"/>
                <a:ea typeface="微软雅黑"/>
              </a:rPr>
              <a:t>亚马逊新品推广计划全链路SOP · 思维导图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